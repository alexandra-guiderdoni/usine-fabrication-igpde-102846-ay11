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7"/>
  </p:notes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93" r:id="rId30"/>
    <p:sldId id="294" r:id="rId31"/>
    <p:sldId id="295" r:id="rId32"/>
    <p:sldId id="296" r:id="rId33"/>
    <p:sldId id="297" r:id="rId34"/>
    <p:sldId id="298" r:id="rId35"/>
    <p:sldId id="299" r:id="rId3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191">
          <p15:clr>
            <a:srgbClr val="A4A3A4"/>
          </p15:clr>
        </p15:guide>
        <p15:guide id="3" orient="horz" pos="978">
          <p15:clr>
            <a:srgbClr val="A4A3A4"/>
          </p15:clr>
        </p15:guide>
        <p15:guide id="4" orient="horz" pos="821">
          <p15:clr>
            <a:srgbClr val="A4A3A4"/>
          </p15:clr>
        </p15:guide>
        <p15:guide id="5" orient="horz" pos="3049">
          <p15:clr>
            <a:srgbClr val="A4A3A4"/>
          </p15:clr>
        </p15:guide>
        <p15:guide id="6" orient="horz" pos="3151">
          <p15:clr>
            <a:srgbClr val="A4A3A4"/>
          </p15:clr>
        </p15:guide>
        <p15:guide id="7" pos="2880">
          <p15:clr>
            <a:srgbClr val="A4A3A4"/>
          </p15:clr>
        </p15:guide>
        <p15:guide id="8" pos="476">
          <p15:clr>
            <a:srgbClr val="A4A3A4"/>
          </p15:clr>
        </p15:guide>
        <p15:guide id="9" pos="5193">
          <p15:clr>
            <a:srgbClr val="A4A3A4"/>
          </p15:clr>
        </p15:guide>
        <p15:guide id="10" pos="5465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jWDw1wgvw37gOlsZcmVNtWIUat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B4FEAEA-5863-4BE4-BC14-5AA124C684E0}">
  <a:tblStyle styleId="{DB4FEAEA-5863-4BE4-BC14-5AA124C684E0}" styleName="Table_0">
    <a:wholeTbl>
      <a:tcTxStyle b="off" i="off">
        <a:font>
          <a:latin typeface="Marianne"/>
          <a:ea typeface="Marianne"/>
          <a:cs typeface="Marianne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9E8"/>
          </a:solidFill>
        </a:fill>
      </a:tcStyle>
    </a:wholeTbl>
    <a:band1H>
      <a:tcTxStyle/>
      <a:tcStyle>
        <a:tcBdr/>
        <a:fill>
          <a:solidFill>
            <a:srgbClr val="CAD0C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0C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Marianne"/>
          <a:ea typeface="Marianne"/>
          <a:cs typeface="Marianne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Marianne"/>
          <a:ea typeface="Marianne"/>
          <a:cs typeface="Marianne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Marianne"/>
          <a:ea typeface="Marianne"/>
          <a:cs typeface="Marianne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Marianne"/>
          <a:ea typeface="Marianne"/>
          <a:cs typeface="Marianne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orient="horz" pos="191"/>
        <p:guide orient="horz" pos="978"/>
        <p:guide orient="horz" pos="821"/>
        <p:guide orient="horz" pos="3049"/>
        <p:guide orient="horz" pos="3151"/>
        <p:guide pos="2880"/>
        <p:guide pos="476"/>
        <p:guide pos="5193"/>
        <p:guide pos="54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andicap.agriculture.gouv.fr/les-handicaps-invisibles-a283.html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AssociationValentinHauy?__tn__=-UC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youtube.com/watch?v=TWE-bsLFyR4&amp;t=22s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11y-guidelines.orange.com/fr/web/outils/methodes-et-outils-de-test/navigation-clavier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SZ0xeXapds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youtube.com/watch?v=trfLb7xlXjQ" TargetMode="Externa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ccess-num.aveuglesdefrance.org/#/lessons/i3MVBsn_okIjx5Ddoa8OqcLIiow4g0F4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access-num.aveuglesdefrance.org/#/lessons/3F42qZTgmEDTPGaHbYPuc8JaF_G0yKGD" TargetMode="Externa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imulation-accessibilite.inria.fr/index.html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ucem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esign.numerique.gouv.fr/outils/diagnostic-flash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apei.org/publication/linformation-pour-tous-regles-europeennes-pour-une-information-facile-a-lire-et-a-comprendre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efiscience.fr/app/uploads/2022/09/13.pdf" TargetMode="Externa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accessibilite.numerique.gouv.fr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accessibilite.numerique.gouv.fr/methode/criteres-et-tests/" TargetMode="Externa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17a403e41_0_2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417a403e41_0_2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/>
              <a:t>Quoi → Qui → Pourquoi → Cadre légal → Comment</a:t>
            </a:r>
            <a:endParaRPr/>
          </a:p>
        </p:txBody>
      </p:sp>
      <p:sp>
        <p:nvSpPr>
          <p:cNvPr id="130" name="Google Shape;130;g3417a403e41_0_24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17a403e41_3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17a403e41_3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highlight>
                  <a:srgbClr val="EDF2FA"/>
                </a:highlight>
              </a:rPr>
              <a:t>Source des chiffres clés - Service d’Information du Gouvernement - SIG - Communication des 20 ans de la loi de 2005</a:t>
            </a: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1400">
                <a:highlight>
                  <a:srgbClr val="EDF2FA"/>
                </a:highlight>
              </a:rPr>
              <a:t>Selon le Ministère de l'Agriculture, environ 80% des handicaps en France ne se voient pas: dyslexie, troubles de l'attention, déficiences auditives légères...</a:t>
            </a: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u="sng">
                <a:highlight>
                  <a:srgbClr val="EDF2FA"/>
                </a:highlight>
                <a:hlinkClick r:id="rId3"/>
              </a:rPr>
              <a:t>https://handicap.agriculture.gouv.fr/les-handicaps-invisibles-a283.html</a:t>
            </a:r>
            <a:endParaRPr sz="1400">
              <a:highlight>
                <a:srgbClr val="EDF2FA"/>
              </a:highlight>
            </a:endParaRPr>
          </a:p>
        </p:txBody>
      </p:sp>
      <p:sp>
        <p:nvSpPr>
          <p:cNvPr id="167" name="Google Shape;167;g3417a403e41_3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17a403e41_0_2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417a403e41_0_2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2"/>
                </a:solidFill>
                <a:highlight>
                  <a:srgbClr val="EDF2FA"/>
                </a:highlight>
              </a:rPr>
              <a:t>Points à retenir</a:t>
            </a:r>
            <a:endParaRPr sz="18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Il existe souvent des idées reçues sur ce qu'est l'accessibilité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La définition aide à mieux comprendre le sujet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L'accessibilité rend possible l'accès à l'information et aux fonctionnalités numériques pour les personnes handicapées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Plusieurs éléments sont fondamentaux dans cette définition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La cible concerne principalement les personnes avec un handicap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On parle souvent du confort pour tous et de l'impact pour d'autres utilisateurs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L'accessibilité n'est pas perçue de la même façon selon qu'on ait un handicap ou non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Le "rendre possible" constitue le deuxième point important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On est vraiment sur une question d'accès au contenu et aux fonctionnalités</a:t>
            </a: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2"/>
                </a:solidFill>
                <a:highlight>
                  <a:srgbClr val="EDF2FA"/>
                </a:highlight>
              </a:rPr>
              <a:t>Autres définitions</a:t>
            </a:r>
            <a:endParaRPr sz="18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fr-FR" sz="1800" b="1">
                <a:solidFill>
                  <a:schemeClr val="dk2"/>
                </a:solidFill>
                <a:highlight>
                  <a:srgbClr val="EDF2FA"/>
                </a:highlight>
              </a:rPr>
              <a:t>Définition de Tim Berners-Lee</a:t>
            </a:r>
            <a:endParaRPr sz="18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1400" i="1">
                <a:highlight>
                  <a:srgbClr val="EDF2FA"/>
                </a:highlight>
              </a:rPr>
              <a:t>« Mettre le web et ses services à la disposition de tous les individus, quels que soient leur matériel ou logiciel, leur infrastructure réseau, leur langue maternelle, leur culture, leur localisation géographique, ou leurs aptitudes physiques ou mentales. [...] l’accès à l’information et à la communication est un droit universel. Le web est devenu un media majeur, et il se doit d’être accessible à tous sans discrimination. »</a:t>
            </a:r>
            <a:endParaRPr sz="1400" i="1">
              <a:highlight>
                <a:srgbClr val="EDF2FA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fr-FR" sz="1800" b="1">
                <a:solidFill>
                  <a:schemeClr val="dk2"/>
                </a:solidFill>
                <a:highlight>
                  <a:srgbClr val="EDF2FA"/>
                </a:highlight>
              </a:rPr>
              <a:t>Définition du W3C</a:t>
            </a:r>
            <a:endParaRPr sz="18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fr-FR" sz="1400" i="1">
                <a:highlight>
                  <a:srgbClr val="EDF2FA"/>
                </a:highlight>
              </a:rPr>
              <a:t>« L’accessibilité numérique signifie que les personnes handicapées peuvent utiliser le numérique. </a:t>
            </a:r>
            <a:endParaRPr sz="1400" i="1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fr-FR" sz="1400" i="1">
                <a:highlight>
                  <a:srgbClr val="EDF2FA"/>
                </a:highlight>
              </a:rPr>
              <a:t>Plus précisément qu’elles peuvent percevoir, comprendre, naviguer, interagir et contribuer. </a:t>
            </a:r>
            <a:endParaRPr sz="1400" i="1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fr-FR" sz="1400" i="1">
                <a:highlight>
                  <a:srgbClr val="EDF2FA"/>
                </a:highlight>
              </a:rPr>
              <a:t>L’accessibilité numérique bénéficie aussi à d’autres, notamment les seniors dont les capacités peuvent diminuer avec l’âge. »</a:t>
            </a:r>
            <a:endParaRPr sz="1400" i="1">
              <a:highlight>
                <a:srgbClr val="EDF2FA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fr-FR" sz="1800" b="1">
                <a:solidFill>
                  <a:schemeClr val="dk2"/>
                </a:solidFill>
                <a:highlight>
                  <a:srgbClr val="EDF2FA"/>
                </a:highlight>
              </a:rPr>
              <a:t>Définition du RGAA</a:t>
            </a:r>
            <a:endParaRPr sz="18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1400" i="1">
                <a:highlight>
                  <a:srgbClr val="EDF2FA"/>
                </a:highlight>
              </a:rPr>
              <a:t>« L’accessibilité numérique, c’est l’accès aux produits, services et aux environnements numériques sans blocage, sans entrave, sans obstacle.»</a:t>
            </a:r>
            <a:endParaRPr sz="1400" i="1">
              <a:highlight>
                <a:srgbClr val="EDF2FA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fr-FR" sz="1800" b="1">
                <a:solidFill>
                  <a:schemeClr val="dk2"/>
                </a:solidFill>
                <a:highlight>
                  <a:srgbClr val="EDF2FA"/>
                </a:highlight>
              </a:rPr>
              <a:t>Conception universelle (design for all) : </a:t>
            </a:r>
            <a:endParaRPr sz="18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fr-FR" sz="1400">
                <a:highlight>
                  <a:srgbClr val="EDF2FA"/>
                </a:highlight>
              </a:rPr>
              <a:t>Tous les produits, environnements et services doivent être conçus accessibles dès le départ.</a:t>
            </a: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1"/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3417a403e41_0_25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6e9a4e652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6e9a4e652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366e9a4e652_0_1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17a403e41_0_2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417a403e41_0_2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2"/>
                </a:solidFill>
              </a:rPr>
              <a:t>L'accessibilité touche tous les supports, pas uniquement le web</a:t>
            </a:r>
            <a:endParaRPr sz="18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Elle concerne les applications mobiles et le matériel numérique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Les distributeurs de billets sont concernés par l'accessibilité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Les bornes connectées dans restaurants pour commandes en libre-service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Les bornes dans gares pour acheter billets de train sur le quai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Il y a 20 ou 15 ans, on parlait beaucoup d'accessibilité web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 terme était limité au sujet du web à l'époque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 terme "accessibilité web" commence à disparaître aujourd'hui</a:t>
            </a:r>
            <a:endParaRPr sz="14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2"/>
                </a:solidFill>
              </a:rPr>
              <a:t>L’accessibilité numérique" est plus large et montre l'impact étendu</a:t>
            </a:r>
            <a:endParaRPr sz="18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L'électroménager pose des questions d'accessibilité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Les micro-ondes, fours, plaques à induction sont entièrement tactiles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Ces appareils posent des difficultés pour personnes aveugles ou malvoyantes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Comment identifier un bouton pour augmenter la température s'il est tactile ?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Ces sujets constituent de vraies questions d'accessibilité numérique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417a403e41_0_24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6e9a4e652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66e9a4e652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2"/>
                </a:solidFill>
              </a:rPr>
              <a:t>Faire le parallèle avec les trottoirs bateau</a:t>
            </a:r>
            <a:endParaRPr sz="1800" b="1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 sz="1800"/>
              <a:t>Les rabaissements de trottoirs aux passages piétons permettent de traverser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 sz="1800"/>
              <a:t>C'est un confort pour personnes avec poussettes ou valises à roulettes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 sz="1800"/>
              <a:t>On évite de lever la poussette ou valise quand le trottoir est au niveau de la route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 sz="1800"/>
              <a:t>C'est absolument indispensable pour personnes en fauteuil roulant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 sz="1800"/>
              <a:t>Sans rabaissement, on a une marche impossible à franchir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 sz="1800"/>
              <a:t>Les fauteuils roulants électriques ne peuvent pas se lever facilement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 sz="1800"/>
              <a:t>Même pour fauteuil manuel, lever peut être impossible</a:t>
            </a:r>
            <a:endParaRPr sz="1800"/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/>
              <a:t>→ L'impact n'est pas du tout le même selon la situation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2"/>
                </a:solidFill>
              </a:rPr>
              <a:t>L'accessibilité répond à est-ce que je peux y accéder ? Oui, non</a:t>
            </a:r>
            <a:endParaRPr sz="1800" b="1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 sz="1800"/>
              <a:t>Ce n'est pas de l'ergonomie ni une amélioration du confort</a:t>
            </a: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/>
              <a:t>→ C'est indispensable pour personnes sourdes ou malentendantes</a:t>
            </a: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/>
              <a:t>→ C'est du confort pour d'autres utilisateurs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04" name="Google Shape;204;g366e9a4e652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17a403e41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12" name="Google Shape;212;g3417a403e41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6e9a4e65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66e9a4e652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2"/>
                </a:solidFill>
              </a:rPr>
              <a:t>Quels utilisateurs sont concernés ?</a:t>
            </a:r>
            <a:endParaRPr sz="18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Les personnes ayant une déficience neurologique, mentale ou cognitive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Un trouble de l'attention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Un trouble de l'apprentissage. Exemple la dyslexie ou la dysorthographie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L'épilepsie photosensible. L'exposition des clignotements ou flash lumineux peut faire survenir une crise d'épilepsie.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Un trouble du spectre autistique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Un handicap mental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2" name="Google Shape;222;g366e9a4e652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6e9a4e652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66e9a4e652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b="1">
                <a:solidFill>
                  <a:schemeClr val="dk2"/>
                </a:solidFill>
              </a:rPr>
              <a:t>Lecteurs d'écrans</a:t>
            </a:r>
            <a:endParaRPr sz="18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Utilisation principale : par les personnes non voyantes pour décrire l'écran (voix de synthèse ou plage braille)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b="1">
                <a:solidFill>
                  <a:schemeClr val="dk2"/>
                </a:solidFill>
              </a:rPr>
              <a:t>Loupes numériques</a:t>
            </a:r>
            <a:endParaRPr sz="18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Fonction : agrandissement d'écran pour personnes malvoyantes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/>
              <a:t>Zoomtext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  Le plus déployé en entreprise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  Inconvénient : forte consommation de ressources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  Peut nécessiter une mise à jour matérielle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/>
              <a:t>Loupes intégrées d'Apple et Microsoft (solutions natives)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 Peuvent suffire selon les besoins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 Évitent l'acquisition de solutions supplémentaires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/>
              <a:t>Solutions pour troubles neuro-développementaux (DYS)</a:t>
            </a:r>
            <a:endParaRPr sz="1400" b="1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/>
              <a:t>Antidote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Correcteur orthographique et grammatical puissant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Adapté aux personnes dysorthographiques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/>
              <a:t>Dragon NaturallySpeaking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  Logiciel de dictée vocale performant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  Peut être déployé sur serveur (alternative au Cloud)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/>
              <a:t>Lexibar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Prédicteur de mots avec synthèse vocale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Double moteur : phonétique et orthographique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39" name="Google Shape;239;g366e9a4e652_0_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6e9a4e652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66e9a4e652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>
                <a:solidFill>
                  <a:schemeClr val="dk2"/>
                </a:solidFill>
                <a:highlight>
                  <a:srgbClr val="EDF2FA"/>
                </a:highlight>
              </a:rPr>
              <a:t>Les personnes ayant une déficience visuelle</a:t>
            </a:r>
            <a:endParaRPr sz="16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La déficience visuelle est très souvent abordée en accessibilité numérique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Une raison : on est dans des cas d'utilisation similaires à d'autres utilisateurs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C'est potentiellement représentatif d'autres types de handicap</a:t>
            </a: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  <a:highlight>
                  <a:srgbClr val="EDF2FA"/>
                </a:highlight>
              </a:rPr>
              <a:t>Bureautique</a:t>
            </a:r>
            <a:endParaRPr sz="14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Représente 80% du travail administratif quotidien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Montre l'importance des documents structurés (titres, listes, tableaux)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Illustre les défis avec les documents mal formatés</a:t>
            </a: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  <a:highlight>
                  <a:srgbClr val="EDF2FA"/>
                </a:highlight>
              </a:rPr>
              <a:t>Environnement de travail quotidien</a:t>
            </a:r>
            <a:endParaRPr sz="14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Poste fixe : PC Windows avec JAWS + plage braille 40 caractères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Mobile : iPhone avec VoiceOver pour déplacements professionnels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Navigation : Exclusivement au clavier, raccourcis clavier mémorisés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Vitesse de lecture : Synthèse vocale réglée à 280 mots/minute (rapide pour un utilisateur expérience)</a:t>
            </a: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  <a:highlight>
                  <a:srgbClr val="EDF2FA"/>
                </a:highlight>
              </a:rPr>
              <a:t>Défis spécifiques dans l'administration</a:t>
            </a:r>
            <a:endParaRPr sz="14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Documents PDF : Problèmes fréquents avec formulaires administratifs non balisés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Tableaux complexes : Difficultés avec données statistiques mal structurées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Images informatives : Graphiques et infographies sans descriptions alternatives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Vidéos : Contenus audiovisuels sans transcription ou audiodescription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Délais : Temps de traitement plus long pour contenus mal conçus</a:t>
            </a: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600" b="1">
                <a:solidFill>
                  <a:schemeClr val="dk2"/>
                </a:solidFill>
                <a:highlight>
                  <a:srgbClr val="EDF2FA"/>
                </a:highlight>
              </a:rPr>
              <a:t>Amir utilise un logiciel de bureautique (Word, Excel, etc.) pour rédiger ses rapports et analyser des données</a:t>
            </a:r>
            <a:endParaRPr sz="16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Expertise technique : Utilisateur expert des technologies d'assistance depuis 20 ans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Formation : Master en administration publique, formation continue en accessibilité numérique</a:t>
            </a: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  <a:highlight>
                  <a:srgbClr val="EDF2FA"/>
                </a:highlight>
              </a:rPr>
              <a:t>Il utilise ce logiciel avec un lecteur d'écran</a:t>
            </a:r>
            <a:endParaRPr sz="14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Le lecteur d'écran lit l'écran, même si c'est plutôt le code du logiciel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Il restitue sous deux formes : </a:t>
            </a:r>
            <a:r>
              <a:rPr lang="fr-FR" sz="1400" b="1">
                <a:highlight>
                  <a:srgbClr val="EDF2FA"/>
                </a:highlight>
              </a:rPr>
              <a:t>audio ou braille</a:t>
            </a:r>
            <a:r>
              <a:rPr lang="fr-FR" sz="1400">
                <a:highlight>
                  <a:srgbClr val="EDF2FA"/>
                </a:highlight>
              </a:rPr>
              <a:t> selon si la personne est brailliste</a:t>
            </a:r>
            <a:endParaRPr sz="1400">
              <a:highlight>
                <a:srgbClr val="EDF2FA"/>
              </a:highlight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fr-FR" sz="1400">
                <a:highlight>
                  <a:srgbClr val="EDF2FA"/>
                </a:highlight>
              </a:rPr>
              <a:t>NVDA est un logiciel open source disponible</a:t>
            </a:r>
            <a:endParaRPr sz="1400">
              <a:highlight>
                <a:srgbClr val="EDF2FA"/>
              </a:highlight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fr-FR" sz="1400">
                <a:highlight>
                  <a:srgbClr val="EDF2FA"/>
                </a:highlight>
              </a:rPr>
              <a:t>JAWS est un logiciel commercial très utilisé sur Windows</a:t>
            </a:r>
            <a:endParaRPr sz="1400">
              <a:highlight>
                <a:srgbClr val="EDF2FA"/>
              </a:highlight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fr-FR" sz="1400">
                <a:highlight>
                  <a:srgbClr val="EDF2FA"/>
                </a:highlight>
              </a:rPr>
              <a:t>VoiceOver est embarqué nativement dans environnements Apple</a:t>
            </a:r>
            <a:endParaRPr sz="1400">
              <a:highlight>
                <a:srgbClr val="EDF2FA"/>
              </a:highlight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fr-FR" sz="1400">
                <a:highlight>
                  <a:srgbClr val="EDF2FA"/>
                </a:highlight>
              </a:rPr>
              <a:t>TalkBack est présent sur environnements Android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Ces systèmes restituent l'information sous forme audio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On les pilote avec clavier ou gestes différents sur téléphone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Pour personnes non-voyantes et braillistes, connexion possible à plage braille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Le terminal braille affiche en braille ce qui se lit à l'écran</a:t>
            </a: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  <a:highlight>
                  <a:srgbClr val="EDF2FA"/>
                </a:highlight>
              </a:rPr>
              <a:t>Pour accéder aux contenus numériques,  Amir utilise  :</a:t>
            </a:r>
            <a:endParaRPr sz="14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Une plage braille : le contenu est restitué en braille ;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Un lecteur d’écran : logiciel qui décrit et permet de naviguer dans l’interface ;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Une synthèse vocale : le contenu est alors vocalisé.</a:t>
            </a: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  <a:highlight>
                  <a:srgbClr val="EDF2FA"/>
                </a:highlight>
              </a:rPr>
              <a:t>Témoignage Manuel Pereira - Konbini techno - Responsable du pôle accessibilité chez </a:t>
            </a:r>
            <a:r>
              <a:rPr lang="fr-FR" sz="1400" b="1">
                <a:solidFill>
                  <a:schemeClr val="dk2"/>
                </a:solidFill>
                <a:highlight>
                  <a:srgbClr val="EDF2FA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Association Valentin Haüy - AVH</a:t>
            </a:r>
            <a:endParaRPr sz="14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>
                <a:highlight>
                  <a:srgbClr val="EDF2FA"/>
                </a:highlight>
              </a:rPr>
              <a:t>Utiliser un smartphone quand on est non-voyant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Il a fait une vidéo avec Konbini Techno il y a quelques années. La vidéo commence à dater mais reste d'actualité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Il montre comment il utilise un smartphone au quotidien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Il présente les difficultés rencontrées et solutions de contournement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La démonstration sur certaines applications est intéressante</a:t>
            </a: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highlight>
                  <a:srgbClr val="EDF2FA"/>
                </a:highlight>
              </a:rPr>
              <a:t>Source vidéo :</a:t>
            </a:r>
            <a:r>
              <a:rPr lang="fr-FR" sz="1400" u="sng">
                <a:solidFill>
                  <a:schemeClr val="hlink"/>
                </a:solidFill>
                <a:highlight>
                  <a:srgbClr val="EDF2FA"/>
                </a:highlight>
                <a:hlinkClick r:id="rId4"/>
              </a:rPr>
              <a:t> https://www.youtube.com/watch?v=TWE-bsLFyR4&amp;t=22s</a:t>
            </a: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highlight>
                  <a:srgbClr val="EDF2FA"/>
                </a:highlight>
              </a:rPr>
              <a:t>Je suis non-voyant et pourtant j'utilise un smartphone, voici comment | Le Speech de Manuel Pereira</a:t>
            </a: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highlight>
                <a:srgbClr val="EDF2FA"/>
              </a:highlight>
            </a:endParaRPr>
          </a:p>
        </p:txBody>
      </p:sp>
      <p:sp>
        <p:nvSpPr>
          <p:cNvPr id="247" name="Google Shape;247;g366e9a4e652_0_6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446bda402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446bda4025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hlink"/>
                </a:solidFill>
                <a:hlinkClick r:id="rId3"/>
              </a:rPr>
              <a:t>https://a11y-guidelines.orange.com/fr/web/outils/methodes-et-outils-de-test/navigation-clavier/</a:t>
            </a:r>
            <a:endParaRPr/>
          </a:p>
        </p:txBody>
      </p:sp>
      <p:sp>
        <p:nvSpPr>
          <p:cNvPr id="259" name="Google Shape;259;g3446bda4025_1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66e9a4e652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66e9a4e652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71" name="Google Shape;271;g366e9a4e652_0_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446bda4025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446bda4025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rgbClr val="000091"/>
                </a:solidFill>
              </a:rPr>
              <a:t>Version sans audiodescription : </a:t>
            </a:r>
            <a:r>
              <a:rPr lang="fr-FR" sz="1400" u="sng">
                <a:hlinkClick r:id="rId3"/>
              </a:rPr>
              <a:t>https://www.youtube.com/watch?v=nSZ0xeXapds</a:t>
            </a:r>
            <a:endParaRPr/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rgbClr val="000091"/>
                </a:solidFill>
              </a:rPr>
              <a:t>Version avec audiodescription : </a:t>
            </a:r>
            <a:r>
              <a:rPr lang="fr-FR" sz="1400" u="sng">
                <a:hlinkClick r:id="rId4"/>
              </a:rPr>
              <a:t>https://www.youtube.com/watch?v=trfLb7xlXjQ</a:t>
            </a:r>
            <a:endParaRPr/>
          </a:p>
        </p:txBody>
      </p:sp>
      <p:sp>
        <p:nvSpPr>
          <p:cNvPr id="280" name="Google Shape;280;g3446bda4025_1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4465894e6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4465894e6a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fr-FR" sz="1400">
                <a:solidFill>
                  <a:srgbClr val="595959"/>
                </a:solidFill>
              </a:rPr>
              <a:t>Vidéo formulaire de contact : </a:t>
            </a:r>
            <a:r>
              <a:rPr lang="fr-FR" sz="1400" u="sng">
                <a:solidFill>
                  <a:schemeClr val="hlink"/>
                </a:solidFill>
                <a:hlinkClick r:id="rId3"/>
              </a:rPr>
              <a:t>https://access-num.aveuglesdefrance.org/#/lessons/i3MVBsn_okIjx5Ddoa8OqcLIiow4g0F4</a:t>
            </a:r>
            <a:endParaRPr sz="1400">
              <a:solidFill>
                <a:srgbClr val="595959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fr-FR" sz="1400">
                <a:solidFill>
                  <a:srgbClr val="595959"/>
                </a:solidFill>
              </a:rPr>
              <a:t>Document PDF - </a:t>
            </a:r>
            <a:r>
              <a:rPr lang="fr-FR" sz="1400" u="sng">
                <a:solidFill>
                  <a:schemeClr val="hlink"/>
                </a:solidFill>
                <a:hlinkClick r:id="rId4"/>
              </a:rPr>
              <a:t>https://access-num.aveuglesdefrance.org/#/lessons/3F42qZTgmEDTPGaHbYPuc8JaF_G0yKGD</a:t>
            </a:r>
            <a:endParaRPr sz="140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500"/>
              </a:spcAft>
              <a:buNone/>
            </a:pPr>
            <a:endParaRPr sz="1400">
              <a:solidFill>
                <a:srgbClr val="595959"/>
              </a:solidFill>
            </a:endParaRPr>
          </a:p>
        </p:txBody>
      </p:sp>
      <p:sp>
        <p:nvSpPr>
          <p:cNvPr id="290" name="Google Shape;290;g34465894e6a_0_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66e9a4e652_0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66e9a4e652_0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>
                <a:solidFill>
                  <a:schemeClr val="dk2"/>
                </a:solidFill>
              </a:rPr>
              <a:t>Profil détaillé d'Anaïs - utilisatrice malvoyante</a:t>
            </a:r>
            <a:endParaRPr sz="14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>
                <a:solidFill>
                  <a:schemeClr val="dk2"/>
                </a:solidFill>
              </a:rPr>
              <a:t>Contexte personnel et professionnel</a:t>
            </a:r>
            <a:endParaRPr sz="14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Âge : 42 ans, malvoyance progressive depuis 10 ans (DMLA précoce)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Profession : Gestionnaire administrative dans un service RH ministériel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Vision résiduelle : 2/10ème, vision centrale altérée, sensibilité à la lumière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Adaptation : Apprentissage progressif des outils depuis sa perte de vision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>
                <a:solidFill>
                  <a:schemeClr val="dk2"/>
                </a:solidFill>
              </a:rPr>
              <a:t>Environnement de travail adapté</a:t>
            </a:r>
            <a:endParaRPr sz="14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Écran : 27 pouces avec réglage luminosité et contraste personnalisés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Loupe logicielle : ZoomText ou loupe Windows (grossissement x4 à x8)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Clavier : Guide-doigts pour repérage tactile des touches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Souris : Pointeur surdimensionné et coloré pour meilleur repérage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Éclairage : Lampe bureau orientable pour éviter reflets sur écran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>
                <a:solidFill>
                  <a:schemeClr val="dk2"/>
                </a:solidFill>
              </a:rPr>
              <a:t>Défis spécifiques dans l'administration</a:t>
            </a:r>
            <a:endParaRPr sz="14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Formulaires web : Champs mal délimités, texte gris sur fond gris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Documents PDF : Impossibilité de modifier la taille des caractères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Tableaux Excel : Perte de repères lors du défilement horizontal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Codes couleurs : Informations transmises uniquement par rouge/vert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Captchas visuels : Impossible à déchiffrer même agrandis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>
                <a:solidFill>
                  <a:schemeClr val="dk2"/>
                </a:solidFill>
              </a:rPr>
              <a:t>Stratégies d'adaptation</a:t>
            </a:r>
            <a:endParaRPr sz="14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Paramétrage système : Mode sombre Windows, curseur jaune vif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Navigation : Utilise onglets et favoris pour éviter recherches visuelles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Impression : Imprime en très gros caractères pour relecture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Pauses : Repos visuels fréquents pour éviter fatigue oculaire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Collaboration : Demande vérification collègues pour éléments critiques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>
                <a:solidFill>
                  <a:schemeClr val="dk2"/>
                </a:solidFill>
              </a:rPr>
              <a:t>Besoins d'accessibilité prioritaires</a:t>
            </a:r>
            <a:endParaRPr sz="14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Contraste : Rapport minimum 4.5:1, idéalement 7:1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Taille : Possibilité d'agrandir jusqu'à 200% sans perte d'information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Alternatives : Informations non véhiculées uniquement par la couleur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Structuration : Interfaces claires avec zones bien délimitées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  <a:highlight>
                  <a:srgbClr val="EDF2FA"/>
                </a:highlight>
              </a:rPr>
              <a:t>Versus Saloua - Utilisatrice avec vision tubulaire</a:t>
            </a:r>
            <a:endParaRPr sz="14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Âge : 38 ans, rétinite pigmentaire diagnostiquée à 25 ans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Profession : Chef de projet digital dans une direction numérique ministérielle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Vision : Champ visuel réduit à 10° (vision centrale préservée, périphérie perdue)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Évolution : Adaptation progressive aux contraintes de la vision tubulaire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Largeur : Fenêtres redimensionnées à 800px maximum de large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Contraste : Mode sombre activé, ratio de contraste élevé (7:1 minimum)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>
                <a:highlight>
                  <a:srgbClr val="EDF2FA"/>
                </a:highlight>
              </a:rPr>
              <a:t>Vision tubulaire grossière</a:t>
            </a:r>
            <a:endParaRPr sz="1400" b="1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C'est comme regarder dans un tube avec partie périphérique non exploitable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Face à interface logicielle, on a très peu d'informations dans le champ de vision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Certaines personnes réduisent la taille de leur navigateur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Elles réduisent la largeur de fenêtre pour avoir maximum d'informations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L'objectif est d'avoir informations qui rentrent dans le champ de vision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Les contrastes deviennent importants pour cette raison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Les normes vérifient qu'un site soit responsif et s'adapte aux largeurs variables</a:t>
            </a: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highlight>
                  <a:srgbClr val="EDF2FA"/>
                </a:highlight>
              </a:rPr>
              <a:t>→ Le handicap visuel fait qu'on a parfois besoin de réduire taille et largeur</a:t>
            </a: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>
                <a:highlight>
                  <a:srgbClr val="EDF2FA"/>
                </a:highlight>
              </a:rPr>
              <a:t>Les DMLA (dégénérescences maculaires liées à l'âge) provoquent l'effet contraire</a:t>
            </a:r>
            <a:endParaRPr sz="1400" b="1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Ce sont des atteintes centrales où le champ central est dégradé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Seul le champ périphérique reste exploitable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Dans ce cas, on agrandit la taille de texte et utilise très grands écrans</a:t>
            </a:r>
            <a:endParaRPr sz="1400"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>
                <a:highlight>
                  <a:srgbClr val="EDF2FA"/>
                </a:highlight>
              </a:rPr>
              <a:t>L'objectif est d'exploiter la vision périphérique au maximum</a:t>
            </a: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highlight>
                  <a:srgbClr val="EDF2FA"/>
                </a:highlight>
              </a:rPr>
              <a:t>→ La règle d'accessibilité vérifie si l'interface s'adapte aux réglages utilisateurs</a:t>
            </a:r>
            <a:endParaRPr sz="1400"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2"/>
              </a:solidFill>
              <a:highlight>
                <a:srgbClr val="EDF2FA"/>
              </a:highlight>
            </a:endParaRPr>
          </a:p>
        </p:txBody>
      </p:sp>
      <p:sp>
        <p:nvSpPr>
          <p:cNvPr id="314" name="Google Shape;314;g366e9a4e652_0_6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417a403e41_0_2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417a403e41_0_2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3417a403e41_0_25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6e9a4e652_0_7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66e9a4e652_0_7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/>
              <a:t>Simulation INRIA : </a:t>
            </a:r>
            <a:r>
              <a:rPr lang="fr-FR" sz="1400" u="sng">
                <a:solidFill>
                  <a:schemeClr val="hlink"/>
                </a:solidFill>
                <a:hlinkClick r:id="rId3"/>
              </a:rPr>
              <a:t>https://simulation-accessibilite.inria.fr/index.html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</a:rPr>
              <a:t>Profil détaillé de Camille - utilisatrice sourde</a:t>
            </a:r>
            <a:endParaRPr sz="14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</a:rPr>
              <a:t>Contexte personnel et professionnel</a:t>
            </a:r>
            <a:endParaRPr sz="14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Âge : 28 ans, sourde de naissance (surdité congénitale profonde)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Profession : Chargée de mission égalité et diversité dans un ministère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Communication : LSF (Langue des Signes Française) langue maternelle, français écrit excellent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Communauté : Active dans la communauté sourde, militante pour les droits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</a:rPr>
              <a:t>Les déficiences incluent surdité, malentendance, acouphènes</a:t>
            </a:r>
            <a:endParaRPr sz="14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L'importance de sous-titrer ou traduire en langue des signes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La langue des signes est fondamentale dans la culture sourde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Beaucoup de personnes ont besoin de langue des signes pour l'accessibilité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D'autres ont besoin de transcription ou sous-titrage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Ces éléments sont absolument indispensables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</a:rPr>
              <a:t>Environnement de travail adapté</a:t>
            </a:r>
            <a:endParaRPr sz="14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Interprètes LSF : Réunions importantes et formations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Vélotypie : Conférences et événements longs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Écrans supplémentaires : Notifications visuelles permanentes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Applications : Roger Voice, Elioz pour transcription instantanée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Éclairage : Bureau bien éclairé pour communication LSF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</a:rPr>
              <a:t>Défis spécifiques dans l'administration</a:t>
            </a:r>
            <a:endParaRPr sz="14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Réunions impromptues : Pas d'interprète disponible immédiatement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Vidéos institutionnelles : Absence d'interprétation LSF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Formations : Contenus uniquement audio sans alternative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Urgences : Alarmes incendie uniquement sonores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Téléphone : Impossible, nécessite alternatives numériques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</a:rPr>
              <a:t>Stratégies d'adaptation professionnelle</a:t>
            </a:r>
            <a:endParaRPr sz="14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Anticipation : Réservation interprètes LSF 48h minimum à l'avance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Technologie : Utilise intensivement messageries et visioconférence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Réseau : S'appuie sur collègues pour informations orales manquées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Documentation : Transcriptions écrites systématiques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Formation : Sensibilise équipes à la culture sourde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</a:rPr>
              <a:t>Besoins d'accessibilité prioritaires</a:t>
            </a:r>
            <a:endParaRPr sz="14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Contenus vidéo : Interprétation LSF (pas seulement sous-titres)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Événements : Interprètes LSF qualifiés sur site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Interfaces : Alertes visuelles remplaçant signaux sonores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Communication : Outils de visioconférence accessibles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Signalétique : Informations visuelles complètes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  <a:highlight>
                  <a:srgbClr val="EDF2FA"/>
                </a:highlight>
              </a:rPr>
              <a:t>Expertise métier</a:t>
            </a:r>
            <a:endParaRPr sz="14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Politique inclusion : Développe stratégies d'accessibilité globales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Formation : Anime ateliers sensibilisation handicap et diversité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Réglementation : Expertise sur obligations légales d'accessibilité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Innovation : Teste nouvelles technologies d'assistance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400"/>
              <a:t>Impact positif : Son expertise transforme l'accessibilité du ministère et influence les politiques publiques d'inclusion.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solidFill>
                <a:schemeClr val="dk2"/>
              </a:solidFill>
            </a:endParaRPr>
          </a:p>
        </p:txBody>
      </p:sp>
      <p:sp>
        <p:nvSpPr>
          <p:cNvPr id="339" name="Google Shape;339;g366e9a4e652_0_7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66e9a4e652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66e9a4e652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50" name="Google Shape;350;g366e9a4e652_0_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p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66e9a4e652_0_7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66e9a4e652_0_7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</a:rPr>
              <a:t>Exemple : site Mucem avec des défilement infinis : </a:t>
            </a:r>
            <a:r>
              <a:rPr lang="fr-FR" sz="1400" b="1" u="sng">
                <a:solidFill>
                  <a:schemeClr val="hlink"/>
                </a:solidFill>
                <a:hlinkClick r:id="rId3"/>
              </a:rPr>
              <a:t>https://www.mucem.org/</a:t>
            </a:r>
            <a:endParaRPr sz="14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Quand on défile sur ce site, plein de textes défilent de gauche à droite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Ces textes transmettent messages et informations sur expositions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Ces mouvements sont appelés "mouvements perpétuels"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 texte défile sans fin, créant des gênes fortes voire bloquantes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Son besoin n'est pas forcément l'absence totale d'animation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Au minimum, il doit pouvoir les mettre en pause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Les sites doivent proposer des boutons de pause pour arrêter animations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Les vidéos ne doivent pas se lancer automatiquement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L'utilisateur doit maîtriser le lancement et la mise en pause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Il doit pouvoir personnaliser l'apparence des textes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En tant que </a:t>
            </a:r>
            <a:r>
              <a:rPr lang="fr-FR" sz="1400" b="1"/>
              <a:t>dyslexique</a:t>
            </a:r>
            <a:r>
              <a:rPr lang="fr-FR" sz="1400"/>
              <a:t>, certaines </a:t>
            </a:r>
            <a:r>
              <a:rPr lang="fr-FR" sz="1400" b="1"/>
              <a:t>polices</a:t>
            </a:r>
            <a:r>
              <a:rPr lang="fr-FR" sz="1400"/>
              <a:t> posent des difficultés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Les </a:t>
            </a:r>
            <a:r>
              <a:rPr lang="fr-FR" sz="1400" b="1"/>
              <a:t>lignes trop resserrées</a:t>
            </a:r>
            <a:r>
              <a:rPr lang="fr-FR" sz="1400"/>
              <a:t> créent des problèmes de lecture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/>
              <a:t>Il utilise des outils pour ajuster l'affichage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Des réglages existent dans système d'exploitation et navigateur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Des logiciels permettent de personnaliser l'affichage pour dyslexiques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La question est : si on change la police en Arial taille 14, les sites réagissent-ils bien ?</a:t>
            </a:r>
            <a:endParaRPr sz="1400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-FR" sz="1400"/>
              <a:t>Les textes restent-ils lisibles sans chevauchement ?</a:t>
            </a:r>
            <a:endParaRPr sz="1400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-FR" sz="1400"/>
              <a:t>L'accessibilité garantit la bonne réaction du site aux changements utilisateur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g366e9a4e652_0_7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66e9a4e652_0_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66e9a4e652_0_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>
                <a:solidFill>
                  <a:schemeClr val="dk2"/>
                </a:solidFill>
              </a:rPr>
              <a:t>Profil détaillé de Léa - utilisatrice avec déficience motrice</a:t>
            </a:r>
            <a:endParaRPr sz="14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>
                <a:solidFill>
                  <a:schemeClr val="dk2"/>
                </a:solidFill>
              </a:rPr>
              <a:t>Contexte personnel et professionnel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Âge : 29 ans, paralysie cérébrale de naissance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Profession : chargé de communication digitale dans un service ministériel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Handicap : paralysie cérébrale impactant la motricité des membres et l'élocution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Adaptation : utilise des technologies d'assistance depuis l'adolescence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</a:rPr>
              <a:t>Il  utilise des contacteurs sur son appui-tête, à gauche et à droite</a:t>
            </a:r>
            <a:endParaRPr sz="14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Ce sont de gros boutons de chaque côté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En appuyant sur ces boutons, il fait tout ce qu'on fait avec souris et clavier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L'utilisation est différente mais c'est possible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Un bouton permet de parcourir les éléments, l'autre de valider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 matériel va être très différent selon les situations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C'est souvent de l'adaptation matérielle pour handicap moteur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Les claviers guide-doigts ont des touches en creux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Quand on tremble, ça bloque le doigt et évite d'appuyer sur touches adjacentes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Certaines personnes pilotent l'ordinateur par le regard ou mouvements du visage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C'est très rare car ça demande concentration importante et c'est fatiguant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La reconnaissance vocale est très utilisée par personnes avec handicap moteur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On peut écrire du texte en parlant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On peut piloter ordinateur : demander de cliquer, fermer fenêtre, ouvrir logiciel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On peut cliquer sur boutons dans sites web par la voix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C'est une interface comme une autre pour piloter son ordinateur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La question est : est-ce que ça fonctionne sur tous les sites selon le codage ? La réponse sera non si l'accessibilité n'est pas prise en compte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>
                <a:solidFill>
                  <a:schemeClr val="dk2"/>
                </a:solidFill>
              </a:rPr>
              <a:t>Environnement de travail adapté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 b="1"/>
              <a:t>Contacteurs</a:t>
            </a:r>
            <a:r>
              <a:rPr lang="fr-FR" sz="1400"/>
              <a:t> : deux gros boutons fixés sur l'appui-tête de son fauteuil</a:t>
            </a:r>
            <a:endParaRPr sz="1400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-FR" sz="1400"/>
              <a:t>Contacteur gauche : navigation entre les éléments (liens, boutons, champs)</a:t>
            </a:r>
            <a:endParaRPr sz="1400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-FR" sz="1400"/>
              <a:t>Contacteur droit : validation/activation de l'élément sélectionné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Logiciel : </a:t>
            </a:r>
            <a:r>
              <a:rPr lang="fr-FR" sz="1400" b="1"/>
              <a:t>Dragon NaturallySpeaking</a:t>
            </a:r>
            <a:r>
              <a:rPr lang="fr-FR" sz="1400"/>
              <a:t> pour la saisie de texte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 b="1"/>
              <a:t>Convertisseur texte-parole</a:t>
            </a:r>
            <a:r>
              <a:rPr lang="fr-FR" sz="1400"/>
              <a:t> : pour améliorer la communication orale lors des réunions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Position : fauteuil électrique avec tablette ajustable pour écran et contacteurs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>
                <a:solidFill>
                  <a:schemeClr val="dk2"/>
                </a:solidFill>
              </a:rPr>
              <a:t>Défis spécifiques dans l'administration</a:t>
            </a:r>
            <a:endParaRPr sz="14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Sites mal codés : navigation clavier impossible sur certains éléments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Timeouts : délais trop courts pour remplir les formulaires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Captchas : impossible à résoudre avec les contacteurs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Menus déroulants : fermeture automatique avant validation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Éléments décoratifs : faux liens et boutons perturbent la navigation séquentielle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>
                <a:solidFill>
                  <a:schemeClr val="dk2"/>
                </a:solidFill>
              </a:rPr>
              <a:t>Méthode de navigation avec contacteurs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Parcours séquentiel : le contacteur gauche fait défiler tous les éléments interactifs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Mise en surbrillance : l'élément actuel est visuellement marqué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Validation : le contacteur droit active l'élément sélectionné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Patience requise : navigation plus lente qu'avec souris/clavier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/>
              <a:t>---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>
                <a:solidFill>
                  <a:schemeClr val="dk2"/>
                </a:solidFill>
              </a:rPr>
              <a:t>Autres utilisateurs avec déficiences motrices</a:t>
            </a:r>
            <a:endParaRPr sz="14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Marc, 45 ans : utilise un </a:t>
            </a:r>
            <a:r>
              <a:rPr lang="fr-FR" sz="1400" b="1"/>
              <a:t>clavier guide-doigts</a:t>
            </a:r>
            <a:r>
              <a:rPr lang="fr-FR" sz="1400"/>
              <a:t> (tremblements essentiels)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Sophie, 52 ans : </a:t>
            </a:r>
            <a:r>
              <a:rPr lang="fr-FR" sz="1400" b="1"/>
              <a:t>commande oculaire</a:t>
            </a:r>
            <a:r>
              <a:rPr lang="fr-FR" sz="1400"/>
              <a:t> suite à sclérose latérale amyotrophique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Thomas, 34 ans : </a:t>
            </a:r>
            <a:r>
              <a:rPr lang="fr-FR" sz="1400" b="1"/>
              <a:t>Dragon NaturallySpeaking </a:t>
            </a:r>
            <a:r>
              <a:rPr lang="fr-FR" sz="1400"/>
              <a:t>exclusivement (tétraplégie)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>
                <a:solidFill>
                  <a:schemeClr val="dk2"/>
                </a:solidFill>
              </a:rPr>
              <a:t>Besoins d'accessibilité prioritaires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Navigation clavier : tous les éléments accessibles au clavier uniquement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Ordre logique : parcours séquentiel cohérent des éléments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Zones cibles : boutons suffisamment grands (minimum 44x44px)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Temps ajustable : possibilité d'étendre les délais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Feedback visuel : indication claire de l'élément actuel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</a:rPr>
              <a:t>Expertise métier</a:t>
            </a:r>
            <a:r>
              <a:rPr lang="fr-FR" sz="1400"/>
              <a:t> : 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Son expérience en communication digitale lui permet de sensibiliser les équipes aux enjeux d'accessibilité et de tester l'utilisabilité des interfaces avec des technologies d'assistance.</a:t>
            </a:r>
            <a:endParaRPr sz="1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</a:rPr>
              <a:t>Difficultés :</a:t>
            </a:r>
            <a:endParaRPr sz="1400">
              <a:solidFill>
                <a:schemeClr val="dk2"/>
              </a:solidFill>
            </a:endParaRPr>
          </a:p>
          <a:p>
            <a:pPr marL="17145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fr-FR" sz="1400"/>
              <a:t>Problèmes de manipulation, de préhension, de « pointage », tremblement des mains.</a:t>
            </a:r>
            <a:endParaRPr sz="1400"/>
          </a:p>
          <a:p>
            <a:pPr marL="17145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fr-FR" sz="1400"/>
              <a:t>Pas de clavier ou pas de souris, voire ni l’un ni l’autre !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</a:rPr>
              <a:t>Diagnostic flash</a:t>
            </a:r>
            <a:r>
              <a:rPr lang="fr-FR" sz="1400"/>
              <a:t> - </a:t>
            </a:r>
            <a:r>
              <a:rPr lang="fr-FR" sz="1400" u="sng">
                <a:solidFill>
                  <a:schemeClr val="hlink"/>
                </a:solidFill>
                <a:hlinkClick r:id="rId3"/>
              </a:rPr>
              <a:t>https://design.numerique.gouv.fr/outils/diagnostic-flash/</a:t>
            </a:r>
            <a:endParaRPr sz="1400"/>
          </a:p>
        </p:txBody>
      </p:sp>
      <p:sp>
        <p:nvSpPr>
          <p:cNvPr id="379" name="Google Shape;379;g366e9a4e652_0_7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66e9a4e652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66e9a4e652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96" name="Google Shape;396;g366e9a4e652_0_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42238ade8f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42238ade8f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g342238ade8f_1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66e9a4e652_0_6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66e9a4e652_0_6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600" b="1">
                <a:solidFill>
                  <a:schemeClr val="dk2"/>
                </a:solidFill>
              </a:rPr>
              <a:t>Déficiences cognitives - Quels utilisateurs sont concernés ? </a:t>
            </a:r>
            <a:endParaRPr sz="1600" b="1">
              <a:solidFill>
                <a:schemeClr val="dk2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fr-FR" sz="1400"/>
              <a:t>Les personnes ayant une déficience neurologique, mentale ou cognitive</a:t>
            </a:r>
            <a:endParaRPr sz="14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1400"/>
              <a:t>Un trouble de l'attention</a:t>
            </a:r>
            <a:endParaRPr sz="14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1400"/>
              <a:t>Un trouble de l'apprentissage. Exemple la dyslexie ou la dysorthographie</a:t>
            </a:r>
            <a:endParaRPr sz="14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1400"/>
              <a:t>L'épilepsie photosensible. L'exposition des clignotements ou flash lumineux peut faire survenir une crise d'épilepsie.</a:t>
            </a:r>
            <a:endParaRPr sz="14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1400"/>
              <a:t>Un trouble du spectre autistique</a:t>
            </a:r>
            <a:endParaRPr sz="14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1400"/>
              <a:t>Un handicap mental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/>
              <a:t>Écrire en langage clair (Norme Iso européenne)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/>
              <a:t>Reprise sous le concept « FALC » (Facile À Lire et à Comprendre) .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g366e9a4e652_0_6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66e9a4e652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66e9a4e652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600" b="1">
                <a:solidFill>
                  <a:schemeClr val="dk2"/>
                </a:solidFill>
              </a:rPr>
              <a:t>Anatole est un persona effectif, représentant des situations réelles</a:t>
            </a:r>
            <a:endParaRPr sz="16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Lire lui demande beaucoup de temps et de concentration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Il comprend mieux les phrases simples, courtes, qui vont à l'essentiel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Son besoin porte sur des contenus respectant les bonnes pratiques rédactionnelles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600" b="1">
                <a:solidFill>
                  <a:schemeClr val="dk2"/>
                </a:solidFill>
              </a:rPr>
              <a:t>Les troubles de l'attention concernent certaines personnes</a:t>
            </a:r>
            <a:endParaRPr sz="16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Elles sont gênées par animations et mouvements non contrôlables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Les boutons de mise en pause de carrousel existent pour l'accessibilité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Les troubles d'apprentissage incluent dyslexie, dysorthographie, dyscalculie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Des normes existent sur mise en page, tailles de texte, polices de caractère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Les interfaces doivent pouvoir s'adapter à la largeur de fenêtre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Ces adaptations facilitent la lisibilité pour personnes dyslexiques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L'épilepsie photosensible impose des règles strictes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Certaines fréquences et clignotements sont formellement interdits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Les clignotements rapides peuvent engendrer des risques importants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Les troubles du spectre autistique nécessitent des adaptations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Les questions autour du handicap mental sont également concernées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29" name="Google Shape;429;g366e9a4e652_0_1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42238ade8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42238ade8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u="sng">
                <a:hlinkClick r:id="rId3"/>
              </a:rPr>
              <a:t>https://www.unapei.org/publication/linformation-pour-tous-regles-europeennes-pour-une-information-facile-a-lire-et-a-comprendre/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/>
              <a:t>Méthodologie pour la mise en FALC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Synthèse et transcription selon les règles européennes du FALC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Mise en page dans Word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Intégration de visuels et de pictogrammes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/>
              <a:t>Relecture en interne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/>
              <a:t>Validation "Easy to read" Facile à lire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Relecture du document par des personnes en situation de handicap mental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Ajout du logo FALC européen "Easy to read"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Finalisation et export du document sous format PDF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/>
              <a:t>Les règles FALC au format PDF - </a:t>
            </a:r>
            <a:r>
              <a:rPr lang="fr-FR" sz="1400" u="sng">
                <a:solidFill>
                  <a:schemeClr val="hlink"/>
                </a:solidFill>
                <a:hlinkClick r:id="rId4"/>
              </a:rPr>
              <a:t>https://defiscience.fr/app/uploads/2022/09/13.pdf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</p:txBody>
      </p:sp>
      <p:sp>
        <p:nvSpPr>
          <p:cNvPr id="438" name="Google Shape;438;g342238ade8f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66e9a4e652_0_5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66e9a4e652_0_5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 langage clair comprend des bonnes pratiques sur longueur des lignes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Il faut limiter les expressions et aller à l'essentiel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L'accompagnement de visuels est recommandé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48" name="Google Shape;448;g366e9a4e652_0_5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66e9a4e652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66e9a4e652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WCAG - Web Content Accessibility Guidelines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RGAA - Référentiel Général d'Amélioration de l'Accessibilité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</a:rPr>
              <a:t>Quelques autres acronymes liés à l’accessibilité :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WCAG - Web Content Accessibility Guidelines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RGAA - Référentiel Général d'Amélioration de l'Accessibilité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ARIA - Accessible Rich Internet Applications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NVDA -  Non Visual Desktop Access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1400"/>
              <a:t>a11y - Accessibility</a:t>
            </a:r>
            <a:endParaRPr sz="14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</a:rPr>
              <a:t>Cadre légal français - deux principaux textes de loi :</a:t>
            </a:r>
            <a:endParaRPr sz="14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/>
              <a:t>1. Loi n° 2005-102 du 11 février 2005 pour l'égalité des droits et des chances, la participation et la citoyenneté des personnes handicapées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/>
              <a:t>Son article 47 s'applique depuis 2019 au secteur privé (&gt; 250 millions de CA).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/>
              <a:t>2. Loi n° 2023-171 du 9 mars 2023 portant diverses dispositions d'adaptation au droit de l'Union européenne dans les domaines de l'économie, de la santé, du travail, des transports et de l'agriculture.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/>
              <a:t>Son article 16 s'appliquera à partir du 28 juin 2025 à certains produits et services.</a:t>
            </a:r>
            <a:endParaRPr sz="14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/>
              <a:t>Cet article modifie notamment des codes (consommation, monétaire, transports) pour y intégrer la prise en compte de l'accessibilité de produits et services.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</a:rPr>
              <a:t>Depuis 2023, l'ARCOM est en charge de vérifier et sanctionner le secteur public </a:t>
            </a:r>
            <a:endParaRPr sz="14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L'absence de déclaration de conformité.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L'absence de schéma pluriannuel.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L'absence de mention du niveau de conformité.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/>
              <a:t>Sanctions possibles pour ces manquements :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Mise en demeure rendue publique.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Sanction pécuniaire (jusqu'à 25 000 €) avec sanction de publicité.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/>
              <a:t>L'ARCOM peut également contrôler et sanctionner l'absence de conformité, mais uniquement pour le secteur public (sanction jusqu'à 50 000€).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 délai de mise en conformité passe de l an à 6 mois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Jusqu'à 50 000€ d'amende par outil digital non-conforme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Jusqu'à 25 000€ d'amende si les obligations complémentaires ne sont pas respectées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Si aucune mise en conformité n'est appliquée, une nouvelle sanction pourra être faite</a:t>
            </a:r>
            <a:endParaRPr sz="14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</a:rPr>
              <a:t>Obligations à compter du 28 juin 2025 - secteur privée</a:t>
            </a:r>
            <a:endParaRPr sz="14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Pour tous les produits et services fournis rentrant dans la définition légale (communication, médias, transport de voyageurs, contrats et services bancaires, commerce électronique).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Conformité à la norme européenne EN 301 549 V4.1.1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À venir en 2025 ou 2026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Mise à jour de la norme EN 301 549 V3.2.1 actuellement en vigueur.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Mise à disposition du public, sous forme accessible, des informations relatives au respect des exigences d'accessibilité par le service.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En cas de non-conformité du service, prise de mesures correctives et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information des autorités de contrôle.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Sur demande des autorités de contrôle, capacité à démontrer la conformité du service.</a:t>
            </a:r>
            <a:endParaRPr sz="14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600" b="1">
                <a:solidFill>
                  <a:schemeClr val="dk2"/>
                </a:solidFill>
              </a:rPr>
              <a:t>Sanctions encourues à partir du 28 juin 2025</a:t>
            </a:r>
            <a:endParaRPr sz="16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La DGCCRF est en charge de contrôler le respect des obligations listées précédemment avec l'appui :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De l'ARCEP pour les services de communications électroniques.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De l'ACPR et l'AMF pour les informations fournies aux consommateurs.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De la Banque de France pour les services d'authentification, signatures électroniques, paiement et de sécurité.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En cas de non-respect de l'une de ces obligations, une contravention de 5e classe est prévue (jusqu'à 7 500 € pour une personne morale).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De plus, comme pour toute infraction au code de la consommation, les risques encourus sont :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Une injonction de se conformer aux obligations.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Une astreinte journalière plafonnée à 3 000 € / jour et une somme totale de 300 000 €.</a:t>
            </a:r>
            <a:endParaRPr sz="14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400"/>
          </a:p>
        </p:txBody>
      </p:sp>
      <p:sp>
        <p:nvSpPr>
          <p:cNvPr id="509" name="Google Shape;509;g366e9a4e652_0_1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66e9a4e652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66e9a4e652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517" name="Google Shape;517;g366e9a4e652_0_1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/>
              <a:t>4 principes WCAG - Web Content Accessibility Guidelines</a:t>
            </a:r>
            <a:endParaRPr sz="1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524" name="Google Shape;52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417a403e41_0_25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417a403e41_0_25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2"/>
                </a:solidFill>
              </a:rPr>
              <a:t>Il y a trois taux de conformité :</a:t>
            </a:r>
            <a:endParaRPr sz="18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Non-conforme : site non audité ou avec un niveau inférieur à 50%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Partiellement conforme : au-dessus de 50%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Totalement conforme : 100% des critères validés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700" b="1">
                <a:solidFill>
                  <a:schemeClr val="dk2"/>
                </a:solidFill>
              </a:rPr>
              <a:t>Exemptions </a:t>
            </a:r>
            <a:endParaRPr sz="17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Fichiers bureautiques publiés avant le 23 septembre 2018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Contenus intranets et extranets publiés avant le 23 septembre 2019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Contenus audios ou vidéos publiés avant le 23 septembre 2020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Des contenus (vidéos, tiers, cartes, etc.) peuvent aussi être exemptés</a:t>
            </a:r>
            <a:endParaRPr sz="1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 b="1">
                <a:solidFill>
                  <a:schemeClr val="dk2"/>
                </a:solidFill>
              </a:rPr>
              <a:t>RGAA Référentiel Général d'Amélioration de l'Accessibilité</a:t>
            </a:r>
            <a:endParaRPr sz="14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 u="sng">
                <a:hlinkClick r:id="rId3"/>
              </a:rPr>
              <a:t>https://accessibilite.numerique.gouv.fr/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 u="sng">
                <a:hlinkClick r:id="rId4"/>
              </a:rPr>
              <a:t>https://accessibilite.numerique.gouv.fr/methode/criteres-et-tests/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700" b="1">
                <a:solidFill>
                  <a:schemeClr val="dk2"/>
                </a:solidFill>
                <a:highlight>
                  <a:srgbClr val="EDF2FA"/>
                </a:highlight>
              </a:rPr>
              <a:t>RGAA et ses critères</a:t>
            </a:r>
            <a:endParaRPr sz="1700" b="1">
              <a:solidFill>
                <a:schemeClr val="dk2"/>
              </a:solidFill>
              <a:highlight>
                <a:srgbClr val="EDF2FA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 b="1"/>
              <a:t>Exemple 1 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Les images porteuses d'informations ou en lien doivent avoir un texte alternatif.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Les images ayant un lien mais accompagnées d'un texte ne doivent pas en avoir, de même pour les images de décorations.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Image porteuse d'informations versus image décorative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 b="1"/>
              <a:t>Exemple 2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Les médias avec du son doivent avoir une alternative (sous-titrage, langues des signes) et les vidéos doivent avoir une audiodescription.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 b="1"/>
              <a:t>Exemple 3</a:t>
            </a:r>
            <a:endParaRPr sz="1400" b="1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/>
              <a:t>Plusieurs systèmes de navigation doivent être disponibles, des pages et éléments-clés sont facilement accessible et toujours au même endroit.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Menu, Plan du site, Recherche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g3417a403e41_0_25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66e9a4e652_0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1" name="Google Shape;541;g366e9a4e652_0_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fr-FR"/>
              <a:t>Le RGAA en pratique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fr-FR"/>
              <a:t>Évaluation de la conformité à la norme de référence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fr-FR"/>
              <a:t>Déclaration d’accessibilité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fr-FR"/>
              <a:t>Schéma pluriannuel de mise en accessibilité (SPAN pour 3 ans)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fr-FR"/>
              <a:t>Mentions et pages obligatoires</a:t>
            </a:r>
            <a:endParaRPr/>
          </a:p>
        </p:txBody>
      </p:sp>
      <p:sp>
        <p:nvSpPr>
          <p:cNvPr id="542" name="Google Shape;542;g366e9a4e652_0_4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66e9a4e652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66e9a4e652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La prise en compte nécessite plusieurs approches complémentaires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L'intégration doit se faire dans toute la chaîne de production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La formation des équipes constitue un prérequis essentiel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Les cahiers des charges doivent intégrer l'accessibilité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g366e9a4e652_0_1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66e9a4e652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66e9a4e652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Sujet </a:t>
            </a:r>
            <a:r>
              <a:rPr lang="fr-FR" sz="1400" b="1"/>
              <a:t>éditorial</a:t>
            </a:r>
            <a:r>
              <a:rPr lang="fr-FR" sz="1400"/>
              <a:t> qui touche les équipes créant contenus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Sujet de </a:t>
            </a:r>
            <a:r>
              <a:rPr lang="fr-FR" sz="1400" b="1"/>
              <a:t>design</a:t>
            </a:r>
            <a:r>
              <a:rPr lang="fr-FR" sz="1400"/>
              <a:t> qui touche équipes qui designent les interfaces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Sujet de </a:t>
            </a:r>
            <a:r>
              <a:rPr lang="fr-FR" sz="1400" b="1"/>
              <a:t>développement</a:t>
            </a:r>
            <a:r>
              <a:rPr lang="fr-FR" sz="1400"/>
              <a:t> qui touche équipes développant interfaces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Sujet très large devant être intégré </a:t>
            </a:r>
            <a:r>
              <a:rPr lang="fr-FR" sz="1400" b="1"/>
              <a:t>dans ensemble chaîne de production</a:t>
            </a:r>
            <a:r>
              <a:rPr lang="fr-FR" sz="1400"/>
              <a:t> Interface web, mobile ou logicielle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 b="1"/>
              <a:t>Pour ça faut former principalement les équipes :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Intégrer accessibilité dans cahiers des charges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Équipes des achats solutions logicielles pour entreprise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Si pas d'intégration clauses accessibilité dans cahiers des charges/appels d'offres, peu probable que sociétés répondant s'engagent sur ce sujet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400" b="1"/>
              <a:t>3 actions à mener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Audit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Formation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Accompagnement 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66" name="Google Shape;566;g366e9a4e652_0_2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35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 Slide" type="blank">
  <p:cSld name="BLANK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0"/>
          <p:cNvSpPr/>
          <p:nvPr/>
        </p:nvSpPr>
        <p:spPr>
          <a:xfrm>
            <a:off x="0" y="771550"/>
            <a:ext cx="9144000" cy="4356888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60"/>
          <p:cNvSpPr/>
          <p:nvPr/>
        </p:nvSpPr>
        <p:spPr>
          <a:xfrm>
            <a:off x="360000" y="4784400"/>
            <a:ext cx="8421480" cy="3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0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3 cases non hierarchisé">
  <p:cSld name="Contenu 3 cases non hierarchisé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1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1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39" name="Google Shape;39;p261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1"/>
            </a:lvl1pPr>
            <a:lvl2pPr marL="914400" lvl="1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1"/>
          <p:cNvSpPr txBox="1">
            <a:spLocks noGrp="1"/>
          </p:cNvSpPr>
          <p:nvPr>
            <p:ph type="body" idx="2"/>
          </p:nvPr>
        </p:nvSpPr>
        <p:spPr>
          <a:xfrm>
            <a:off x="359999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61"/>
          <p:cNvSpPr txBox="1">
            <a:spLocks noGrp="1"/>
          </p:cNvSpPr>
          <p:nvPr>
            <p:ph type="body" idx="3"/>
          </p:nvPr>
        </p:nvSpPr>
        <p:spPr>
          <a:xfrm>
            <a:off x="3312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1"/>
          <p:cNvSpPr txBox="1">
            <a:spLocks noGrp="1"/>
          </p:cNvSpPr>
          <p:nvPr>
            <p:ph type="body" idx="4"/>
          </p:nvPr>
        </p:nvSpPr>
        <p:spPr>
          <a:xfrm>
            <a:off x="6264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61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1"/>
          <p:cNvSpPr txBox="1">
            <a:spLocks noGrp="1"/>
          </p:cNvSpPr>
          <p:nvPr>
            <p:ph type="body" idx="5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  <a:defRPr sz="1100" b="1"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2 cases non hierarchisé">
  <p:cSld name="Contenu 2 cases non hierarchisé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2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2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48" name="Google Shape;48;p262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1"/>
            </a:lvl1pPr>
            <a:lvl2pPr marL="914400" lvl="1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62"/>
          <p:cNvSpPr txBox="1">
            <a:spLocks noGrp="1"/>
          </p:cNvSpPr>
          <p:nvPr>
            <p:ph type="body" idx="2"/>
          </p:nvPr>
        </p:nvSpPr>
        <p:spPr>
          <a:xfrm>
            <a:off x="359998" y="1836000"/>
            <a:ext cx="3995978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62"/>
          <p:cNvSpPr txBox="1">
            <a:spLocks noGrp="1"/>
          </p:cNvSpPr>
          <p:nvPr>
            <p:ph type="body" idx="3"/>
          </p:nvPr>
        </p:nvSpPr>
        <p:spPr>
          <a:xfrm>
            <a:off x="4788023" y="1836000"/>
            <a:ext cx="3995977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62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2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  <a:defRPr sz="1100" b="1"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simple">
  <p:cSld name="Contenu simp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3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63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56" name="Google Shape;56;p263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1"/>
            </a:lvl1pPr>
            <a:lvl2pPr marL="914400" lvl="1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63"/>
          <p:cNvSpPr txBox="1">
            <a:spLocks noGrp="1"/>
          </p:cNvSpPr>
          <p:nvPr>
            <p:ph type="body" idx="2"/>
          </p:nvPr>
        </p:nvSpPr>
        <p:spPr>
          <a:xfrm>
            <a:off x="359998" y="1836000"/>
            <a:ext cx="8423275" cy="2679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63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3"/>
          <p:cNvSpPr txBox="1">
            <a:spLocks noGrp="1"/>
          </p:cNvSpPr>
          <p:nvPr>
            <p:ph type="body" idx="3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  <a:defRPr sz="1100" b="1"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pleine page vertical">
  <p:cSld name="Contenu pleine page vertical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4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2555596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64"/>
          <p:cNvSpPr txBox="1">
            <a:spLocks noGrp="1"/>
          </p:cNvSpPr>
          <p:nvPr>
            <p:ph type="body" idx="1"/>
          </p:nvPr>
        </p:nvSpPr>
        <p:spPr>
          <a:xfrm>
            <a:off x="359999" y="2571750"/>
            <a:ext cx="2555597" cy="194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64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2555817" cy="951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4"/>
          <p:cNvSpPr txBox="1">
            <a:spLocks noGrp="1"/>
          </p:cNvSpPr>
          <p:nvPr>
            <p:ph type="body" idx="2"/>
          </p:nvPr>
        </p:nvSpPr>
        <p:spPr>
          <a:xfrm>
            <a:off x="360219" y="1948398"/>
            <a:ext cx="2555597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  <a:defRPr sz="1100" b="1"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64"/>
          <p:cNvSpPr/>
          <p:nvPr/>
        </p:nvSpPr>
        <p:spPr>
          <a:xfrm>
            <a:off x="2922959" y="4768136"/>
            <a:ext cx="5897513" cy="1645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64"/>
          <p:cNvSpPr txBox="1">
            <a:spLocks noGrp="1"/>
          </p:cNvSpPr>
          <p:nvPr>
            <p:ph type="body" idx="3"/>
          </p:nvPr>
        </p:nvSpPr>
        <p:spPr>
          <a:xfrm>
            <a:off x="3276600" y="180000"/>
            <a:ext cx="5256213" cy="4912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64"/>
          <p:cNvSpPr txBox="1">
            <a:spLocks noGrp="1"/>
          </p:cNvSpPr>
          <p:nvPr>
            <p:ph type="sldNum" idx="12"/>
          </p:nvPr>
        </p:nvSpPr>
        <p:spPr>
          <a:xfrm>
            <a:off x="8676456" y="4783500"/>
            <a:ext cx="4675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2 cases hierarchisé">
  <p:cSld name="Contenu 2 cases hierarchisé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5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5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71" name="Google Shape;71;p265"/>
          <p:cNvSpPr txBox="1">
            <a:spLocks noGrp="1"/>
          </p:cNvSpPr>
          <p:nvPr>
            <p:ph type="body" idx="1"/>
          </p:nvPr>
        </p:nvSpPr>
        <p:spPr>
          <a:xfrm>
            <a:off x="4788021" y="1836000"/>
            <a:ext cx="3995978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  <a:defRPr b="1"/>
            </a:lvl1pPr>
            <a:lvl2pPr marL="914400" lvl="1" indent="-2889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lphaLcPeriod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65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5"/>
          <p:cNvSpPr txBox="1">
            <a:spLocks noGrp="1"/>
          </p:cNvSpPr>
          <p:nvPr>
            <p:ph type="body" idx="2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  <a:defRPr sz="1100" b="1"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65"/>
          <p:cNvSpPr txBox="1">
            <a:spLocks noGrp="1"/>
          </p:cNvSpPr>
          <p:nvPr>
            <p:ph type="body" idx="3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1"/>
            </a:lvl1pPr>
            <a:lvl2pPr marL="914400" lvl="1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65"/>
          <p:cNvSpPr txBox="1">
            <a:spLocks noGrp="1"/>
          </p:cNvSpPr>
          <p:nvPr>
            <p:ph type="body" idx="4"/>
          </p:nvPr>
        </p:nvSpPr>
        <p:spPr>
          <a:xfrm>
            <a:off x="359998" y="1836000"/>
            <a:ext cx="3995978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  <a:defRPr b="1"/>
            </a:lvl1pPr>
            <a:lvl2pPr marL="914400" lvl="1" indent="-2889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lphaLcPeriod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illustré 2/3">
  <p:cSld name="Contenu illustré 2/3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6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6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79" name="Google Shape;79;p266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1"/>
            </a:lvl1pPr>
            <a:lvl2pPr marL="914400" lvl="1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66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6"/>
          <p:cNvSpPr txBox="1">
            <a:spLocks noGrp="1"/>
          </p:cNvSpPr>
          <p:nvPr>
            <p:ph type="body" idx="2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  <a:defRPr sz="1100" b="1"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66"/>
          <p:cNvSpPr txBox="1">
            <a:spLocks noGrp="1"/>
          </p:cNvSpPr>
          <p:nvPr>
            <p:ph type="body" idx="3"/>
          </p:nvPr>
        </p:nvSpPr>
        <p:spPr>
          <a:xfrm>
            <a:off x="359999" y="1835999"/>
            <a:ext cx="2520000" cy="282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66"/>
          <p:cNvSpPr txBox="1">
            <a:spLocks noGrp="1"/>
          </p:cNvSpPr>
          <p:nvPr>
            <p:ph type="body" idx="4"/>
          </p:nvPr>
        </p:nvSpPr>
        <p:spPr>
          <a:xfrm>
            <a:off x="2987675" y="1836738"/>
            <a:ext cx="5795963" cy="282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3 cases hierarchisé">
  <p:cSld name="Contenu 3 cases hierarchisé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67"/>
          <p:cNvSpPr txBox="1">
            <a:spLocks noGrp="1"/>
          </p:cNvSpPr>
          <p:nvPr>
            <p:ph type="body" idx="1"/>
          </p:nvPr>
        </p:nvSpPr>
        <p:spPr>
          <a:xfrm>
            <a:off x="359998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  <a:defRPr b="1"/>
            </a:lvl1pPr>
            <a:lvl2pPr marL="914400" lvl="1" indent="-2889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lphaLcPeriod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67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67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88" name="Google Shape;88;p267"/>
          <p:cNvSpPr txBox="1">
            <a:spLocks noGrp="1"/>
          </p:cNvSpPr>
          <p:nvPr>
            <p:ph type="body" idx="2"/>
          </p:nvPr>
        </p:nvSpPr>
        <p:spPr>
          <a:xfrm>
            <a:off x="3312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  <a:defRPr b="1"/>
            </a:lvl1pPr>
            <a:lvl2pPr marL="914400" lvl="1" indent="-2889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lphaLcPeriod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67"/>
          <p:cNvSpPr txBox="1">
            <a:spLocks noGrp="1"/>
          </p:cNvSpPr>
          <p:nvPr>
            <p:ph type="body" idx="3"/>
          </p:nvPr>
        </p:nvSpPr>
        <p:spPr>
          <a:xfrm>
            <a:off x="6263999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  <a:defRPr b="1"/>
            </a:lvl1pPr>
            <a:lvl2pPr marL="914400" lvl="1" indent="-2889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lphaLcPeriod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67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67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  <a:defRPr sz="1100" b="1"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67"/>
          <p:cNvSpPr txBox="1">
            <a:spLocks noGrp="1"/>
          </p:cNvSpPr>
          <p:nvPr>
            <p:ph type="body" idx="5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1"/>
            </a:lvl1pPr>
            <a:lvl2pPr marL="914400" lvl="1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itre">
  <p:cSld name="Chapitr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68"/>
          <p:cNvSpPr>
            <a:spLocks noGrp="1"/>
          </p:cNvSpPr>
          <p:nvPr>
            <p:ph type="pic" idx="2"/>
          </p:nvPr>
        </p:nvSpPr>
        <p:spPr>
          <a:xfrm>
            <a:off x="0" y="738000"/>
            <a:ext cx="9144000" cy="44064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5" name="Google Shape;95;p268"/>
          <p:cNvSpPr txBox="1">
            <a:spLocks noGrp="1"/>
          </p:cNvSpPr>
          <p:nvPr>
            <p:ph type="title"/>
          </p:nvPr>
        </p:nvSpPr>
        <p:spPr>
          <a:xfrm>
            <a:off x="359999" y="738000"/>
            <a:ext cx="8424000" cy="4046400"/>
          </a:xfrm>
          <a:prstGeom prst="rect">
            <a:avLst/>
          </a:prstGeom>
          <a:noFill/>
          <a:ln w="10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50"/>
              <a:buFont typeface="Arial"/>
              <a:buNone/>
              <a:defRPr sz="32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68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68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illustré 1/3">
  <p:cSld name="Contenu illustré 1/3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69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69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101" name="Google Shape;101;p269"/>
          <p:cNvSpPr txBox="1">
            <a:spLocks noGrp="1"/>
          </p:cNvSpPr>
          <p:nvPr>
            <p:ph type="body" idx="1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1"/>
            </a:lvl1pPr>
            <a:lvl2pPr marL="914400" lvl="1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269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69"/>
          <p:cNvSpPr txBox="1">
            <a:spLocks noGrp="1"/>
          </p:cNvSpPr>
          <p:nvPr>
            <p:ph type="body" idx="2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  <a:defRPr sz="1100" b="1"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269"/>
          <p:cNvSpPr txBox="1">
            <a:spLocks noGrp="1"/>
          </p:cNvSpPr>
          <p:nvPr>
            <p:ph type="body" idx="3"/>
          </p:nvPr>
        </p:nvSpPr>
        <p:spPr>
          <a:xfrm>
            <a:off x="359998" y="1835999"/>
            <a:ext cx="5472001" cy="282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69"/>
          <p:cNvSpPr txBox="1">
            <a:spLocks noGrp="1"/>
          </p:cNvSpPr>
          <p:nvPr>
            <p:ph type="body" idx="4"/>
          </p:nvPr>
        </p:nvSpPr>
        <p:spPr>
          <a:xfrm>
            <a:off x="6012160" y="1836738"/>
            <a:ext cx="2771478" cy="282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pleine page horizontal">
  <p:cSld name="Contenu pleine page horizontal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0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70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109" name="Google Shape;109;p270"/>
          <p:cNvSpPr txBox="1">
            <a:spLocks noGrp="1"/>
          </p:cNvSpPr>
          <p:nvPr>
            <p:ph type="body" idx="1"/>
          </p:nvPr>
        </p:nvSpPr>
        <p:spPr>
          <a:xfrm>
            <a:off x="1761561" y="124187"/>
            <a:ext cx="7020312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Arial"/>
              <a:buNone/>
              <a:defRPr sz="255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/>
            </a:lvl2pPr>
            <a:lvl3pPr marL="1371600" lvl="2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270"/>
          <p:cNvSpPr txBox="1">
            <a:spLocks noGrp="1"/>
          </p:cNvSpPr>
          <p:nvPr>
            <p:ph type="body" idx="2"/>
          </p:nvPr>
        </p:nvSpPr>
        <p:spPr>
          <a:xfrm>
            <a:off x="1761561" y="586755"/>
            <a:ext cx="7020312" cy="184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  <a:defRPr sz="1100" b="1"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270"/>
          <p:cNvSpPr txBox="1">
            <a:spLocks noGrp="1"/>
          </p:cNvSpPr>
          <p:nvPr>
            <p:ph type="body" idx="3"/>
          </p:nvPr>
        </p:nvSpPr>
        <p:spPr>
          <a:xfrm>
            <a:off x="359639" y="900000"/>
            <a:ext cx="8423999" cy="3759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onnes de texte">
  <p:cSld name="Colonnes de text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17a403e41_0_229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114" name="Google Shape;114;g3417a403e41_0_229"/>
          <p:cNvSpPr txBox="1">
            <a:spLocks noGrp="1"/>
          </p:cNvSpPr>
          <p:nvPr>
            <p:ph type="dt" idx="10"/>
          </p:nvPr>
        </p:nvSpPr>
        <p:spPr>
          <a:xfrm>
            <a:off x="323852" y="4797634"/>
            <a:ext cx="1210500" cy="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5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g3417a403e41_0_229"/>
          <p:cNvSpPr txBox="1">
            <a:spLocks noGrp="1"/>
          </p:cNvSpPr>
          <p:nvPr>
            <p:ph type="ftr" idx="11"/>
          </p:nvPr>
        </p:nvSpPr>
        <p:spPr>
          <a:xfrm>
            <a:off x="2868782" y="195486"/>
            <a:ext cx="58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75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g3417a403e41_0_229"/>
          <p:cNvSpPr txBox="1">
            <a:spLocks noGrp="1"/>
          </p:cNvSpPr>
          <p:nvPr>
            <p:ph type="body" idx="1"/>
          </p:nvPr>
        </p:nvSpPr>
        <p:spPr>
          <a:xfrm>
            <a:off x="323851" y="1275607"/>
            <a:ext cx="84246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500"/>
              <a:buFont typeface="Arial"/>
              <a:buNone/>
              <a:defRPr sz="1500" b="1">
                <a:solidFill>
                  <a:srgbClr val="7F7F7F"/>
                </a:solidFill>
              </a:defRPr>
            </a:lvl1pPr>
            <a:lvl2pPr marL="914400" lvl="1" indent="-2889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lphaLcPeriod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g3417a403e41_0_229"/>
          <p:cNvSpPr txBox="1">
            <a:spLocks noGrp="1"/>
          </p:cNvSpPr>
          <p:nvPr>
            <p:ph type="title"/>
          </p:nvPr>
        </p:nvSpPr>
        <p:spPr>
          <a:xfrm>
            <a:off x="323852" y="735616"/>
            <a:ext cx="84249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3417a403e41_0_229"/>
          <p:cNvSpPr txBox="1">
            <a:spLocks noGrp="1"/>
          </p:cNvSpPr>
          <p:nvPr>
            <p:ph type="body" idx="2"/>
          </p:nvPr>
        </p:nvSpPr>
        <p:spPr>
          <a:xfrm>
            <a:off x="323528" y="1707656"/>
            <a:ext cx="2556600" cy="28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0" rIns="3600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g3417a403e41_0_229"/>
          <p:cNvSpPr txBox="1">
            <a:spLocks noGrp="1"/>
          </p:cNvSpPr>
          <p:nvPr>
            <p:ph type="body" idx="3"/>
          </p:nvPr>
        </p:nvSpPr>
        <p:spPr>
          <a:xfrm>
            <a:off x="3275856" y="1707656"/>
            <a:ext cx="2520000" cy="28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0" rIns="3600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g3417a403e41_0_229"/>
          <p:cNvSpPr txBox="1">
            <a:spLocks noGrp="1"/>
          </p:cNvSpPr>
          <p:nvPr>
            <p:ph type="body" idx="4"/>
          </p:nvPr>
        </p:nvSpPr>
        <p:spPr>
          <a:xfrm>
            <a:off x="6228184" y="1707656"/>
            <a:ext cx="2520000" cy="28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0" rIns="3600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marL="914400" lvl="1" indent="-2889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marL="1371600" lvl="2" indent="-2825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marL="1828800" lvl="3" indent="-276225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marL="2286000" lvl="4" indent="-2730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7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Arial"/>
              <a:buNone/>
              <a:defRPr sz="25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57"/>
          <p:cNvSpPr txBox="1">
            <a:spLocks noGrp="1"/>
          </p:cNvSpPr>
          <p:nvPr>
            <p:ph type="body" idx="1"/>
          </p:nvPr>
        </p:nvSpPr>
        <p:spPr>
          <a:xfrm>
            <a:off x="359999" y="1836000"/>
            <a:ext cx="8424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89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•"/>
              <a:defRPr sz="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25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Char char="•"/>
              <a:defRPr sz="8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6225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•"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30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57"/>
          <p:cNvSpPr txBox="1">
            <a:spLocks noGrp="1"/>
          </p:cNvSpPr>
          <p:nvPr>
            <p:ph type="ftr" idx="11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57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cxnSp>
        <p:nvCxnSpPr>
          <p:cNvPr id="14" name="Google Shape;14;p257"/>
          <p:cNvCxnSpPr/>
          <p:nvPr/>
        </p:nvCxnSpPr>
        <p:spPr>
          <a:xfrm>
            <a:off x="360000" y="4784400"/>
            <a:ext cx="8424000" cy="0"/>
          </a:xfrm>
          <a:prstGeom prst="straightConnector1">
            <a:avLst/>
          </a:prstGeom>
          <a:noFill/>
          <a:ln w="10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5" name="Google Shape;15;p25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89483" y="110279"/>
            <a:ext cx="552807" cy="50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57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150474" y="182454"/>
            <a:ext cx="358447" cy="35844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SZ0xeXapd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hyperlink" Target="https://www.youtube.com/watch?v=trfLb7xlXjQ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ccess-num.aveuglesdefrance.org/#/lessons/i3MVBsn_okIjx5Ddoa8OqcLIiow4g0F4" TargetMode="External"/><Relationship Id="rId5" Type="http://schemas.openxmlformats.org/officeDocument/2006/relationships/image" Target="../media/image14.png"/><Relationship Id="rId4" Type="http://schemas.openxmlformats.org/officeDocument/2006/relationships/hyperlink" Target="https://access-num.aveuglesdefrance.org/#/lessons/3F42qZTgmEDTPGaHbYPuc8JaF_G0yKGD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talan.fr/agissons/fr/index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imulation-accessibilite.inria.fr/index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ucem.org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apei.org/publication/linformation-pour-tous-regles-europeennes-pour-une-information-facile-a-lire-et-a-comprendre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17a403e41_0_2432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  <p:sp>
        <p:nvSpPr>
          <p:cNvPr id="133" name="Google Shape;133;g3417a403e41_0_2432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highlight>
                  <a:schemeClr val="lt1"/>
                </a:highlight>
              </a:rPr>
              <a:t>L’accessibilité numérique - sensibilisation</a:t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134" name="Google Shape;134;g3417a403e41_0_2432"/>
          <p:cNvSpPr txBox="1">
            <a:spLocks noGrp="1"/>
          </p:cNvSpPr>
          <p:nvPr>
            <p:ph type="body" idx="4"/>
          </p:nvPr>
        </p:nvSpPr>
        <p:spPr>
          <a:xfrm>
            <a:off x="360000" y="1347600"/>
            <a:ext cx="8315700" cy="28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fr-FR" sz="1600">
                <a:solidFill>
                  <a:schemeClr val="dk1"/>
                </a:solidFill>
              </a:rPr>
              <a:t>Partie 1 - Initiation à l’accessibilité numérique - durée 1 heure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5" name="Google Shape;135;g3417a403e41_0_2432"/>
          <p:cNvSpPr txBox="1"/>
          <p:nvPr/>
        </p:nvSpPr>
        <p:spPr>
          <a:xfrm>
            <a:off x="360125" y="1812413"/>
            <a:ext cx="1598700" cy="1440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700">
                <a:solidFill>
                  <a:schemeClr val="dk1"/>
                </a:solidFill>
              </a:rPr>
              <a:t>L’accessibilité numérique, c’est </a:t>
            </a:r>
            <a:r>
              <a:rPr lang="fr-FR" sz="1700" b="1">
                <a:solidFill>
                  <a:schemeClr val="dk1"/>
                </a:solidFill>
              </a:rPr>
              <a:t>quoi</a:t>
            </a:r>
            <a:r>
              <a:rPr lang="fr-FR" sz="1700">
                <a:solidFill>
                  <a:schemeClr val="dk1"/>
                </a:solidFill>
              </a:rPr>
              <a:t> ?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36" name="Google Shape;136;g3417a403e41_0_2432"/>
          <p:cNvSpPr txBox="1"/>
          <p:nvPr/>
        </p:nvSpPr>
        <p:spPr>
          <a:xfrm>
            <a:off x="2018500" y="1812413"/>
            <a:ext cx="1751100" cy="1440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700">
                <a:solidFill>
                  <a:schemeClr val="dk1"/>
                </a:solidFill>
              </a:rPr>
              <a:t>L’accessibilité numérique, c’est pour </a:t>
            </a:r>
            <a:r>
              <a:rPr lang="fr-FR" sz="1700" b="1">
                <a:solidFill>
                  <a:schemeClr val="dk1"/>
                </a:solidFill>
              </a:rPr>
              <a:t>qui</a:t>
            </a:r>
            <a:r>
              <a:rPr lang="fr-FR" sz="1700">
                <a:solidFill>
                  <a:schemeClr val="dk1"/>
                </a:solidFill>
              </a:rPr>
              <a:t> ?</a:t>
            </a:r>
            <a:endParaRPr sz="17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</a:endParaRPr>
          </a:p>
        </p:txBody>
      </p:sp>
      <p:sp>
        <p:nvSpPr>
          <p:cNvPr id="137" name="Google Shape;137;g3417a403e41_0_2432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417a403e41_0_2432"/>
          <p:cNvSpPr txBox="1"/>
          <p:nvPr/>
        </p:nvSpPr>
        <p:spPr>
          <a:xfrm>
            <a:off x="3867388" y="1812425"/>
            <a:ext cx="1551900" cy="1440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700">
                <a:solidFill>
                  <a:schemeClr val="dk1"/>
                </a:solidFill>
              </a:rPr>
              <a:t>L’accessibilité numérique, </a:t>
            </a:r>
            <a:r>
              <a:rPr lang="fr-FR" sz="1700" b="1">
                <a:solidFill>
                  <a:schemeClr val="dk1"/>
                </a:solidFill>
              </a:rPr>
              <a:t>pourquoi</a:t>
            </a:r>
            <a:r>
              <a:rPr lang="fr-FR" sz="1700">
                <a:solidFill>
                  <a:schemeClr val="dk1"/>
                </a:solidFill>
              </a:rPr>
              <a:t> ?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39" name="Google Shape;139;g3417a403e41_0_2432"/>
          <p:cNvSpPr txBox="1"/>
          <p:nvPr/>
        </p:nvSpPr>
        <p:spPr>
          <a:xfrm>
            <a:off x="5502950" y="1812425"/>
            <a:ext cx="1598700" cy="1440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700">
                <a:solidFill>
                  <a:schemeClr val="dk1"/>
                </a:solidFill>
              </a:rPr>
              <a:t>L’accessibilité numérique, </a:t>
            </a:r>
            <a:r>
              <a:rPr lang="fr-FR" sz="1700" b="1">
                <a:solidFill>
                  <a:schemeClr val="dk1"/>
                </a:solidFill>
              </a:rPr>
              <a:t>quel cadre légal</a:t>
            </a:r>
            <a:r>
              <a:rPr lang="fr-FR" sz="1700">
                <a:solidFill>
                  <a:schemeClr val="dk1"/>
                </a:solidFill>
              </a:rPr>
              <a:t> ?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40" name="Google Shape;140;g3417a403e41_0_2432"/>
          <p:cNvSpPr txBox="1"/>
          <p:nvPr/>
        </p:nvSpPr>
        <p:spPr>
          <a:xfrm>
            <a:off x="7185300" y="1812425"/>
            <a:ext cx="1598700" cy="1440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700">
                <a:solidFill>
                  <a:schemeClr val="dk1"/>
                </a:solidFill>
              </a:rPr>
              <a:t>L’accessibilité numérique, c’est </a:t>
            </a:r>
            <a:r>
              <a:rPr lang="fr-FR" sz="1700" b="1">
                <a:solidFill>
                  <a:schemeClr val="dk1"/>
                </a:solidFill>
              </a:rPr>
              <a:t>comment</a:t>
            </a:r>
            <a:r>
              <a:rPr lang="fr-FR" sz="1700">
                <a:solidFill>
                  <a:schemeClr val="dk1"/>
                </a:solidFill>
              </a:rPr>
              <a:t> ?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41" name="Google Shape;141;g3417a403e41_0_24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7400" y="3322625"/>
            <a:ext cx="1551900" cy="13951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2" name="Google Shape;142;g3417a403e41_0_2432"/>
          <p:cNvSpPr txBox="1"/>
          <p:nvPr/>
        </p:nvSpPr>
        <p:spPr>
          <a:xfrm>
            <a:off x="388200" y="3351850"/>
            <a:ext cx="3381300" cy="13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17a403e41_3_34"/>
          <p:cNvSpPr txBox="1">
            <a:spLocks noGrp="1"/>
          </p:cNvSpPr>
          <p:nvPr>
            <p:ph type="body" idx="1"/>
          </p:nvPr>
        </p:nvSpPr>
        <p:spPr>
          <a:xfrm>
            <a:off x="360000" y="1836000"/>
            <a:ext cx="2520000" cy="291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3000">
                <a:solidFill>
                  <a:schemeClr val="dk2"/>
                </a:solidFill>
              </a:rPr>
              <a:t>1 sur 5</a:t>
            </a:r>
            <a:endParaRPr sz="3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0">
                <a:highlight>
                  <a:schemeClr val="lt1"/>
                </a:highlight>
              </a:rPr>
              <a:t>En </a:t>
            </a:r>
            <a:r>
              <a:rPr lang="fr-FR" sz="1400">
                <a:highlight>
                  <a:schemeClr val="lt1"/>
                </a:highlight>
              </a:rPr>
              <a:t>2021</a:t>
            </a:r>
            <a:r>
              <a:rPr lang="fr-FR" sz="1400" b="0">
                <a:highlight>
                  <a:schemeClr val="lt1"/>
                </a:highlight>
              </a:rPr>
              <a:t>, on comptait </a:t>
            </a:r>
            <a:r>
              <a:rPr lang="fr-FR" sz="1400">
                <a:highlight>
                  <a:schemeClr val="lt1"/>
                </a:highlight>
              </a:rPr>
              <a:t>12,8 millions de personnes</a:t>
            </a:r>
            <a:r>
              <a:rPr lang="fr-FR" sz="1400" b="0">
                <a:highlight>
                  <a:schemeClr val="lt1"/>
                </a:highlight>
              </a:rPr>
              <a:t> touchées par le </a:t>
            </a:r>
            <a:r>
              <a:rPr lang="fr-FR" sz="1400">
                <a:highlight>
                  <a:schemeClr val="lt1"/>
                </a:highlight>
              </a:rPr>
              <a:t>handicap</a:t>
            </a:r>
            <a:r>
              <a:rPr lang="fr-FR" sz="1400" b="0">
                <a:highlight>
                  <a:schemeClr val="lt1"/>
                </a:highlight>
              </a:rPr>
              <a:t> en </a:t>
            </a:r>
            <a:r>
              <a:rPr lang="fr-FR" sz="1400">
                <a:highlight>
                  <a:schemeClr val="lt1"/>
                </a:highlight>
              </a:rPr>
              <a:t>France</a:t>
            </a:r>
            <a:r>
              <a:rPr lang="fr-FR" sz="1400" b="0">
                <a:highlight>
                  <a:schemeClr val="lt1"/>
                </a:highlight>
              </a:rPr>
              <a:t>.</a:t>
            </a:r>
            <a:endParaRPr sz="1400" b="0"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0">
                <a:highlight>
                  <a:schemeClr val="lt1"/>
                </a:highlight>
              </a:rPr>
              <a:t>Soit près d'1 français sur 5 qui rencontre des </a:t>
            </a:r>
            <a:r>
              <a:rPr lang="fr-FR" sz="1400">
                <a:highlight>
                  <a:schemeClr val="lt1"/>
                </a:highlight>
              </a:rPr>
              <a:t>difficultés dans leur quotidien</a:t>
            </a:r>
            <a:r>
              <a:rPr lang="fr-FR" sz="1400" b="0">
                <a:highlight>
                  <a:schemeClr val="lt1"/>
                </a:highlight>
              </a:rPr>
              <a:t>, pour se déplacer, pour accéder à certains lieux, pour accéder aux services publics ...</a:t>
            </a:r>
            <a:endParaRPr sz="1400" b="0"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/>
          </a:p>
        </p:txBody>
      </p:sp>
      <p:sp>
        <p:nvSpPr>
          <p:cNvPr id="170" name="Google Shape;170;g3417a403e41_3_34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</a:t>
            </a:fld>
            <a:endParaRPr/>
          </a:p>
        </p:txBody>
      </p:sp>
      <p:sp>
        <p:nvSpPr>
          <p:cNvPr id="171" name="Google Shape;171;g3417a403e41_3_34"/>
          <p:cNvSpPr txBox="1">
            <a:spLocks noGrp="1"/>
          </p:cNvSpPr>
          <p:nvPr>
            <p:ph type="body" idx="2"/>
          </p:nvPr>
        </p:nvSpPr>
        <p:spPr>
          <a:xfrm>
            <a:off x="3312000" y="1836000"/>
            <a:ext cx="2520000" cy="257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3000">
                <a:solidFill>
                  <a:schemeClr val="dk2"/>
                </a:solidFill>
              </a:rPr>
              <a:t>80 %</a:t>
            </a:r>
            <a:endParaRPr sz="3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0"/>
              <a:t>80% des handicaps déclarés sont des </a:t>
            </a:r>
            <a:r>
              <a:rPr lang="fr-FR" sz="1400"/>
              <a:t>handicaps dits « invisibles »</a:t>
            </a:r>
            <a:r>
              <a:rPr lang="fr-FR" sz="1400" b="0"/>
              <a:t>.</a:t>
            </a:r>
            <a:endParaRPr sz="1400" b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0"/>
              <a:t>Il peut s'agir d'un trouble sensoriel, psychique, cognitif, mais aussi de troubles du neurodéveloppement et de maladies invalidantes.</a:t>
            </a:r>
            <a:endParaRPr sz="1400" b="0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/>
          </a:p>
        </p:txBody>
      </p:sp>
      <p:sp>
        <p:nvSpPr>
          <p:cNvPr id="172" name="Google Shape;172;g3417a403e41_3_34"/>
          <p:cNvSpPr txBox="1">
            <a:spLocks noGrp="1"/>
          </p:cNvSpPr>
          <p:nvPr>
            <p:ph type="body" idx="3"/>
          </p:nvPr>
        </p:nvSpPr>
        <p:spPr>
          <a:xfrm>
            <a:off x="6263999" y="1836000"/>
            <a:ext cx="2520000" cy="257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3000" dirty="0">
                <a:solidFill>
                  <a:schemeClr val="dk2"/>
                </a:solidFill>
              </a:rPr>
              <a:t>21 ans </a:t>
            </a:r>
            <a:endParaRPr sz="30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fr-FR" sz="1400" b="0" dirty="0"/>
              <a:t>L’année </a:t>
            </a:r>
            <a:r>
              <a:rPr lang="fr-FR" sz="1400" dirty="0"/>
              <a:t>2026</a:t>
            </a:r>
            <a:r>
              <a:rPr lang="fr-FR" sz="1400" b="0" dirty="0"/>
              <a:t> marque les </a:t>
            </a:r>
            <a:r>
              <a:rPr lang="fr-FR" sz="1400" dirty="0"/>
              <a:t>21 ans de la loi du 11 février 2025</a:t>
            </a:r>
            <a:r>
              <a:rPr lang="fr-FR" sz="1400" b="0" dirty="0"/>
              <a:t> pour </a:t>
            </a:r>
            <a:r>
              <a:rPr lang="fr-FR" sz="1400" dirty="0"/>
              <a:t>l'égalité des droits et des chances</a:t>
            </a:r>
            <a:r>
              <a:rPr lang="fr-FR" sz="1400" b="0" dirty="0"/>
              <a:t>, la participation et la citoyenneté des personnes handicapées.</a:t>
            </a:r>
            <a:endParaRPr dirty="0"/>
          </a:p>
        </p:txBody>
      </p:sp>
      <p:sp>
        <p:nvSpPr>
          <p:cNvPr id="173" name="Google Shape;173;g3417a403e41_3_34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</a:rPr>
              <a:t>L'urgence d'une accessibilité numérique pour tous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4" name="Google Shape;174;g3417a403e41_3_34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400" cy="28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fr-FR" sz="1400">
                <a:solidFill>
                  <a:schemeClr val="dk1"/>
                </a:solidFill>
              </a:rPr>
              <a:t>Quelques chiffres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17a403e41_0_2544"/>
          <p:cNvSpPr txBox="1">
            <a:spLocks noGrp="1"/>
          </p:cNvSpPr>
          <p:nvPr>
            <p:ph type="body" idx="1"/>
          </p:nvPr>
        </p:nvSpPr>
        <p:spPr>
          <a:xfrm>
            <a:off x="360000" y="1732000"/>
            <a:ext cx="8424000" cy="300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550">
                <a:solidFill>
                  <a:schemeClr val="dk2"/>
                </a:solidFill>
                <a:highlight>
                  <a:schemeClr val="lt1"/>
                </a:highlight>
              </a:rPr>
              <a:t>Définition</a:t>
            </a:r>
            <a:endParaRPr sz="2550"/>
          </a:p>
          <a:p>
            <a:pPr marL="0" lvl="0" indent="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800" b="0"/>
              <a:t>C'est </a:t>
            </a:r>
            <a:r>
              <a:rPr lang="fr-FR" sz="1800"/>
              <a:t>rendre possible l'accès à l'information</a:t>
            </a:r>
            <a:r>
              <a:rPr lang="fr-FR" sz="1800" b="0"/>
              <a:t> et aux </a:t>
            </a:r>
            <a:r>
              <a:rPr lang="fr-FR" sz="1800"/>
              <a:t>fonctionnalités</a:t>
            </a:r>
            <a:r>
              <a:rPr lang="fr-FR" sz="1800" b="0"/>
              <a:t> numériques aux </a:t>
            </a:r>
            <a:r>
              <a:rPr lang="fr-FR" sz="1800"/>
              <a:t>personnes en situation de handicap.</a:t>
            </a:r>
            <a:endParaRPr sz="1200"/>
          </a:p>
        </p:txBody>
      </p:sp>
      <p:sp>
        <p:nvSpPr>
          <p:cNvPr id="181" name="Google Shape;181;g3417a403e41_0_2544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  <p:sp>
        <p:nvSpPr>
          <p:cNvPr id="182" name="Google Shape;182;g3417a403e41_0_2544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highlight>
                  <a:schemeClr val="lt1"/>
                </a:highlight>
              </a:rPr>
              <a:t>L'accessibilité numérique, c'est quoi 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6e9a4e652_0_136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  <p:sp>
        <p:nvSpPr>
          <p:cNvPr id="189" name="Google Shape;189;g366e9a4e652_0_136"/>
          <p:cNvSpPr txBox="1">
            <a:spLocks noGrp="1"/>
          </p:cNvSpPr>
          <p:nvPr>
            <p:ph type="title"/>
          </p:nvPr>
        </p:nvSpPr>
        <p:spPr>
          <a:xfrm>
            <a:off x="360000" y="900000"/>
            <a:ext cx="8424000" cy="79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</a:rPr>
              <a:t>Un droit fondamental pour les personnes en situation de handicap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90" name="Google Shape;190;g366e9a4e652_0_136"/>
          <p:cNvSpPr txBox="1"/>
          <p:nvPr/>
        </p:nvSpPr>
        <p:spPr>
          <a:xfrm>
            <a:off x="360000" y="1697100"/>
            <a:ext cx="3523800" cy="2895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>
                <a:solidFill>
                  <a:schemeClr val="dk1"/>
                </a:solidFill>
              </a:rPr>
              <a:t>L'accessibilité, c'est ...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b="1">
                <a:solidFill>
                  <a:schemeClr val="dk1"/>
                </a:solidFill>
              </a:rPr>
              <a:t>1. Un droit fondamental du citoyen.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b="1">
                <a:solidFill>
                  <a:schemeClr val="dk1"/>
                </a:solidFill>
              </a:rPr>
              <a:t>2. Lutter contre la discrimination</a:t>
            </a:r>
            <a:r>
              <a:rPr lang="fr-FR" sz="1800">
                <a:solidFill>
                  <a:schemeClr val="dk1"/>
                </a:solidFill>
              </a:rPr>
              <a:t>. Par exemple, une offre d'emploi accessible permet à tout le monde d'y postuler.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</a:endParaRPr>
          </a:p>
        </p:txBody>
      </p:sp>
      <p:sp>
        <p:nvSpPr>
          <p:cNvPr id="191" name="Google Shape;191;g366e9a4e652_0_136"/>
          <p:cNvSpPr txBox="1"/>
          <p:nvPr/>
        </p:nvSpPr>
        <p:spPr>
          <a:xfrm>
            <a:off x="4093800" y="1697100"/>
            <a:ext cx="4653600" cy="2895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b="1">
                <a:solidFill>
                  <a:schemeClr val="dk1"/>
                </a:solidFill>
              </a:rPr>
              <a:t>3. Favoriser leur inclusion dans la société. </a:t>
            </a:r>
            <a:r>
              <a:rPr lang="fr-FR" sz="1800">
                <a:solidFill>
                  <a:schemeClr val="dk1"/>
                </a:solidFill>
              </a:rPr>
              <a:t>Par</a:t>
            </a:r>
            <a:r>
              <a:rPr lang="fr-FR" sz="1800" b="1">
                <a:solidFill>
                  <a:schemeClr val="dk1"/>
                </a:solidFill>
              </a:rPr>
              <a:t> </a:t>
            </a:r>
            <a:r>
              <a:rPr lang="fr-FR" sz="1800">
                <a:solidFill>
                  <a:schemeClr val="dk1"/>
                </a:solidFill>
              </a:rPr>
              <a:t>exemple, une publication accessible d'actualités de sa mairie facilite la participation à la vie sociale de la commune.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b="1">
                <a:solidFill>
                  <a:schemeClr val="dk1"/>
                </a:solidFill>
              </a:rPr>
              <a:t>4. Un gage d'autonomie</a:t>
            </a:r>
            <a:r>
              <a:rPr lang="fr-FR" sz="1800">
                <a:solidFill>
                  <a:schemeClr val="dk1"/>
                </a:solidFill>
              </a:rPr>
              <a:t>. Par exemple, un site de courses en ligne accessible permet plus d'autonomie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17a403e41_0_2499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  <p:sp>
        <p:nvSpPr>
          <p:cNvPr id="198" name="Google Shape;198;g3417a403e41_0_2499"/>
          <p:cNvSpPr txBox="1">
            <a:spLocks noGrp="1"/>
          </p:cNvSpPr>
          <p:nvPr>
            <p:ph type="body" idx="2"/>
          </p:nvPr>
        </p:nvSpPr>
        <p:spPr>
          <a:xfrm>
            <a:off x="360000" y="1707600"/>
            <a:ext cx="8315700" cy="301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800"/>
              <a:t>C’est rendre possible l'accès à tous les supports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-FR" sz="1800"/>
              <a:t>Tous les contenus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-FR" sz="1800"/>
              <a:t>Tous les supports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-FR" sz="1800"/>
              <a:t>Toutes les fonctionnalités 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-FR" sz="1800"/>
              <a:t>Tous les services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000"/>
              </a:spcBef>
              <a:spcAft>
                <a:spcPts val="500"/>
              </a:spcAft>
              <a:buNone/>
            </a:pPr>
            <a:endParaRPr sz="1400"/>
          </a:p>
        </p:txBody>
      </p:sp>
      <p:sp>
        <p:nvSpPr>
          <p:cNvPr id="199" name="Google Shape;199;g3417a403e41_0_2499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L'accessibilité numérique, c'est quoi 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417a403e41_0_2499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400" cy="28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fr-FR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6e9a4e652_0_28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6</a:t>
            </a:fld>
            <a:endParaRPr/>
          </a:p>
        </p:txBody>
      </p:sp>
      <p:sp>
        <p:nvSpPr>
          <p:cNvPr id="207" name="Google Shape;207;g366e9a4e652_0_28"/>
          <p:cNvSpPr txBox="1">
            <a:spLocks noGrp="1"/>
          </p:cNvSpPr>
          <p:nvPr>
            <p:ph type="body" idx="2"/>
          </p:nvPr>
        </p:nvSpPr>
        <p:spPr>
          <a:xfrm>
            <a:off x="360000" y="1707600"/>
            <a:ext cx="8315700" cy="301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b="1">
                <a:solidFill>
                  <a:schemeClr val="dk2"/>
                </a:solidFill>
              </a:rPr>
              <a:t>Important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fr-FR" sz="1800"/>
              <a:t>L'accessibilité est </a:t>
            </a:r>
            <a:r>
              <a:rPr lang="fr-FR" sz="1800" b="1"/>
              <a:t>utile pour tous les utilisateurs</a:t>
            </a:r>
            <a:r>
              <a:rPr lang="fr-FR" sz="1800"/>
              <a:t>, mais </a:t>
            </a:r>
            <a:r>
              <a:rPr lang="fr-FR" sz="1800" b="1"/>
              <a:t>indispensable</a:t>
            </a:r>
            <a:r>
              <a:rPr lang="fr-FR" sz="1800"/>
              <a:t> pour l</a:t>
            </a:r>
            <a:r>
              <a:rPr lang="fr-FR" sz="1800" b="1"/>
              <a:t>es personnes handicapées.</a:t>
            </a:r>
            <a:endParaRPr sz="1800"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000"/>
              </a:spcBef>
              <a:spcAft>
                <a:spcPts val="500"/>
              </a:spcAft>
              <a:buNone/>
            </a:pPr>
            <a:endParaRPr sz="1400"/>
          </a:p>
        </p:txBody>
      </p:sp>
      <p:sp>
        <p:nvSpPr>
          <p:cNvPr id="208" name="Google Shape;208;g366e9a4e652_0_28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 L'accessibilité numérique, pour qui 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66e9a4e652_0_28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400" cy="28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fr-FR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417a403e41_0_311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2555700" cy="9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Des usages et des contextes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15" name="Google Shape;215;g3417a403e41_0_311"/>
          <p:cNvSpPr txBox="1">
            <a:spLocks noGrp="1"/>
          </p:cNvSpPr>
          <p:nvPr>
            <p:ph type="body" idx="2"/>
          </p:nvPr>
        </p:nvSpPr>
        <p:spPr>
          <a:xfrm>
            <a:off x="359950" y="1684578"/>
            <a:ext cx="2555700" cy="7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 sz="1200"/>
              <a:t>Pensez aux usages avant tout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endParaRPr/>
          </a:p>
        </p:txBody>
      </p:sp>
      <p:pic>
        <p:nvPicPr>
          <p:cNvPr id="216" name="Google Shape;216;g3417a403e41_0_311"/>
          <p:cNvPicPr preferRelativeResize="0">
            <a:picLocks noGrp="1"/>
          </p:cNvPicPr>
          <p:nvPr>
            <p:ph type="body" idx="3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276601" y="573670"/>
            <a:ext cx="5256300" cy="412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417a403e41_0_311"/>
          <p:cNvSpPr txBox="1">
            <a:spLocks noGrp="1"/>
          </p:cNvSpPr>
          <p:nvPr>
            <p:ph type="sldNum" idx="12"/>
          </p:nvPr>
        </p:nvSpPr>
        <p:spPr>
          <a:xfrm>
            <a:off x="8676456" y="4783500"/>
            <a:ext cx="4674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7</a:t>
            </a:fld>
            <a:endParaRPr/>
          </a:p>
        </p:txBody>
      </p:sp>
      <p:pic>
        <p:nvPicPr>
          <p:cNvPr id="218" name="Google Shape;218;g3417a403e41_0_3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0645" y="2146157"/>
            <a:ext cx="2754306" cy="1944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6e9a4e652_0_40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8</a:t>
            </a:fld>
            <a:endParaRPr/>
          </a:p>
        </p:txBody>
      </p:sp>
      <p:sp>
        <p:nvSpPr>
          <p:cNvPr id="225" name="Google Shape;225;g366e9a4e652_0_40"/>
          <p:cNvSpPr txBox="1">
            <a:spLocks noGrp="1"/>
          </p:cNvSpPr>
          <p:nvPr>
            <p:ph type="body" idx="2"/>
          </p:nvPr>
        </p:nvSpPr>
        <p:spPr>
          <a:xfrm>
            <a:off x="360000" y="1707600"/>
            <a:ext cx="8315700" cy="301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-FR" sz="1800"/>
              <a:t>Personnes ayant une déficience visuelle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 sz="1800"/>
              <a:t>Personnes ayant une déficience auditive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 sz="1800"/>
              <a:t>Personnes ayant une déficience motrice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 sz="1800"/>
              <a:t>Personnes ayant une déficience mentale, psychique ou cognitive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 sz="1800"/>
              <a:t>Personnes polyhandicapées</a:t>
            </a:r>
            <a:endParaRPr sz="18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000"/>
              </a:spcBef>
              <a:spcAft>
                <a:spcPts val="500"/>
              </a:spcAft>
              <a:buNone/>
            </a:pPr>
            <a:endParaRPr sz="1400"/>
          </a:p>
        </p:txBody>
      </p:sp>
      <p:sp>
        <p:nvSpPr>
          <p:cNvPr id="226" name="Google Shape;226;g366e9a4e652_0_40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L'accessibilité numérique, pour qui ?</a:t>
            </a:r>
            <a:endParaRPr/>
          </a:p>
        </p:txBody>
      </p:sp>
      <p:sp>
        <p:nvSpPr>
          <p:cNvPr id="227" name="Google Shape;227;g366e9a4e652_0_40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400" cy="28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fr-FR"/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6e9a4e652_0_50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9</a:t>
            </a:fld>
            <a:endParaRPr/>
          </a:p>
        </p:txBody>
      </p:sp>
      <p:sp>
        <p:nvSpPr>
          <p:cNvPr id="242" name="Google Shape;242;g366e9a4e652_0_50"/>
          <p:cNvSpPr txBox="1">
            <a:spLocks noGrp="1"/>
          </p:cNvSpPr>
          <p:nvPr>
            <p:ph type="body" idx="2"/>
          </p:nvPr>
        </p:nvSpPr>
        <p:spPr>
          <a:xfrm>
            <a:off x="360000" y="1434513"/>
            <a:ext cx="8315700" cy="328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fr-FR" sz="1600"/>
              <a:t>Naviguer uniquement au clavier ou avec des contacteurs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1600"/>
              <a:t>Grossir ou réduire la taille des textes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1600"/>
              <a:t>Adapter les couleurs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1600"/>
              <a:t>Adapter la typographie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1600"/>
              <a:t>Utiliser une synthèse vocale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1600"/>
              <a:t>Stopper les animations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1600"/>
              <a:t>Lire les descriptions des médias visuels et/ou audios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1600"/>
              <a:t>Utiliser une commande vocale …</a:t>
            </a:r>
            <a:endParaRPr sz="16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None/>
            </a:pPr>
            <a:endParaRPr sz="1400"/>
          </a:p>
        </p:txBody>
      </p:sp>
      <p:sp>
        <p:nvSpPr>
          <p:cNvPr id="243" name="Google Shape;243;g366e9a4e652_0_50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Des utilisateurs avec des besoins différents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6e9a4e652_0_659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10</a:t>
            </a:fld>
            <a:endParaRPr/>
          </a:p>
        </p:txBody>
      </p:sp>
      <p:sp>
        <p:nvSpPr>
          <p:cNvPr id="250" name="Google Shape;250;g366e9a4e652_0_659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</a:rPr>
              <a:t>Agir pour Amir, aveugle de naissance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1" name="Google Shape;251;g366e9a4e652_0_659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400" cy="28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fr-FR" sz="1600">
                <a:solidFill>
                  <a:schemeClr val="dk1"/>
                </a:solidFill>
              </a:rPr>
              <a:t>Déficiences visuelles et lecteurs d’écran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52" name="Google Shape;252;g366e9a4e652_0_659"/>
          <p:cNvSpPr txBox="1"/>
          <p:nvPr/>
        </p:nvSpPr>
        <p:spPr>
          <a:xfrm>
            <a:off x="2499150" y="1875175"/>
            <a:ext cx="4407000" cy="2817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>
                <a:solidFill>
                  <a:schemeClr val="dk1"/>
                </a:solidFill>
              </a:rPr>
              <a:t>Profession </a:t>
            </a:r>
            <a:r>
              <a:rPr lang="fr-FR" sz="1300">
                <a:solidFill>
                  <a:schemeClr val="dk1"/>
                </a:solidFill>
              </a:rPr>
              <a:t>:  chargé d'études dans l'administration publique, utilise un logiciel de bureautique (Word, Excel, etc.) pour rédiger ses rapports et analyser des données.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1300" b="1">
                <a:solidFill>
                  <a:schemeClr val="dk1"/>
                </a:solidFill>
              </a:rPr>
              <a:t>Qu'est qu'un lecteur d'écran ?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1300">
                <a:solidFill>
                  <a:schemeClr val="dk1"/>
                </a:solidFill>
              </a:rPr>
              <a:t>C'est un logiciel qui permet de décrire et de naviguer dans une interface.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1300">
                <a:solidFill>
                  <a:schemeClr val="dk1"/>
                </a:solidFill>
              </a:rPr>
              <a:t>On l'utilise conjointement avec :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-FR" sz="1300">
                <a:solidFill>
                  <a:schemeClr val="dk1"/>
                </a:solidFill>
              </a:rPr>
              <a:t>Une synthèse vocale : le contenu sera alors vocalisé.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-FR" sz="1300">
                <a:solidFill>
                  <a:schemeClr val="dk1"/>
                </a:solidFill>
              </a:rPr>
              <a:t>Une plage braille : le contenu sera alors restitué en braille.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253" name="Google Shape;253;g366e9a4e652_0_6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9180" y="1875176"/>
            <a:ext cx="1440000" cy="1441443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4" name="Google Shape;254;g366e9a4e652_0_6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375" y="3530900"/>
            <a:ext cx="1954650" cy="1131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5" name="Google Shape;255;g366e9a4e652_0_65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94975" y="1875175"/>
            <a:ext cx="1580725" cy="2817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446bda4025_1_5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11</a:t>
            </a:fld>
            <a:endParaRPr/>
          </a:p>
        </p:txBody>
      </p:sp>
      <p:sp>
        <p:nvSpPr>
          <p:cNvPr id="262" name="Google Shape;262;g3446bda4025_1_5"/>
          <p:cNvSpPr txBox="1">
            <a:spLocks noGrp="1"/>
          </p:cNvSpPr>
          <p:nvPr>
            <p:ph type="body" idx="2"/>
          </p:nvPr>
        </p:nvSpPr>
        <p:spPr>
          <a:xfrm>
            <a:off x="360000" y="1779750"/>
            <a:ext cx="4094100" cy="29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fr-FR" sz="1300"/>
              <a:t>Les touches spécifiques suivantes permettent d’interagir de cette manière avec les contenus :</a:t>
            </a:r>
            <a:endParaRPr sz="1300"/>
          </a:p>
          <a:p>
            <a:pPr marL="457200" lvl="0" indent="-311150" algn="l" rtl="0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fr-FR" sz="1300" b="1"/>
              <a:t>La touche Tab</a:t>
            </a:r>
            <a:r>
              <a:rPr lang="fr-FR" sz="1300"/>
              <a:t> pour naviguer entre les éléments interactifs.</a:t>
            </a:r>
            <a:endParaRPr sz="1300"/>
          </a:p>
          <a:p>
            <a:pPr marL="457200" lvl="0" indent="-311150" algn="l" rtl="0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fr-FR" sz="1300" b="1"/>
              <a:t>Les touches Shift + Tab</a:t>
            </a:r>
            <a:r>
              <a:rPr lang="fr-FR" sz="1300"/>
              <a:t> pour vous déplacer dans l'ordre inverse</a:t>
            </a:r>
            <a:endParaRPr sz="1300"/>
          </a:p>
          <a:p>
            <a:pPr marL="457200" lvl="0" indent="-311150" algn="l" rtl="0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fr-FR" sz="1300" b="1"/>
              <a:t>La touche Entrée </a:t>
            </a:r>
            <a:r>
              <a:rPr lang="fr-FR" sz="1300"/>
              <a:t>ou</a:t>
            </a:r>
            <a:r>
              <a:rPr lang="fr-FR" sz="1300" b="1"/>
              <a:t> Barre d’espace</a:t>
            </a:r>
            <a:r>
              <a:rPr lang="fr-FR" sz="1300"/>
              <a:t> pour activer les sélections.</a:t>
            </a:r>
            <a:endParaRPr sz="1300"/>
          </a:p>
          <a:p>
            <a:pPr marL="457200" lvl="0" indent="-311150" algn="l" rtl="0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fr-FR" sz="1300" b="1"/>
              <a:t>Les flèches directionnelles</a:t>
            </a:r>
            <a:r>
              <a:rPr lang="fr-FR" sz="1300"/>
              <a:t> pour se déplacer au sein des menus et des listes.</a:t>
            </a:r>
            <a:endParaRPr sz="1300"/>
          </a:p>
          <a:p>
            <a:pPr marL="457200" lvl="0" indent="-311150" algn="l" rtl="0">
              <a:spcBef>
                <a:spcPts val="1000"/>
              </a:spcBef>
              <a:spcAft>
                <a:spcPts val="500"/>
              </a:spcAft>
              <a:buSzPts val="1300"/>
              <a:buChar char="●"/>
            </a:pPr>
            <a:r>
              <a:rPr lang="fr-FR" sz="1300"/>
              <a:t>La </a:t>
            </a:r>
            <a:r>
              <a:rPr lang="fr-FR" sz="1300" b="1"/>
              <a:t>touche Esc ou Échap</a:t>
            </a:r>
            <a:r>
              <a:rPr lang="fr-FR" sz="1300"/>
              <a:t> pour quitter le plein écran ou désactiver les sélections.</a:t>
            </a:r>
            <a:endParaRPr sz="1300"/>
          </a:p>
        </p:txBody>
      </p:sp>
      <p:sp>
        <p:nvSpPr>
          <p:cNvPr id="263" name="Google Shape;263;g3446bda4025_1_5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</a:rPr>
              <a:t>La navigation au clavier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4" name="Google Shape;264;g3446bda4025_1_5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400" cy="28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fr-FR" sz="1400">
                <a:solidFill>
                  <a:schemeClr val="dk1"/>
                </a:solidFill>
              </a:rPr>
              <a:t>L'interface est utilisable sans souris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265" name="Google Shape;265;g3446bda4025_1_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71778" y="1597675"/>
            <a:ext cx="4529926" cy="1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3446bda4025_1_5" descr="Touche tabulation du clavier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77575" y="3773337"/>
            <a:ext cx="1003800" cy="6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446bda4025_1_5"/>
          <p:cNvSpPr txBox="1"/>
          <p:nvPr/>
        </p:nvSpPr>
        <p:spPr>
          <a:xfrm>
            <a:off x="6619375" y="3658775"/>
            <a:ext cx="22182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-FR" sz="1050">
                <a:solidFill>
                  <a:schemeClr val="dk1"/>
                </a:solidFill>
              </a:rPr>
              <a:t>Menus déroulants</a:t>
            </a:r>
            <a:endParaRPr sz="1050">
              <a:solidFill>
                <a:schemeClr val="dk1"/>
              </a:solidFill>
            </a:endParaRPr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-FR" sz="1050">
                <a:solidFill>
                  <a:schemeClr val="dk1"/>
                </a:solidFill>
              </a:rPr>
              <a:t>Modales/popups</a:t>
            </a:r>
            <a:endParaRPr sz="1050">
              <a:solidFill>
                <a:schemeClr val="dk1"/>
              </a:solidFill>
            </a:endParaRPr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-FR" sz="1050">
                <a:solidFill>
                  <a:schemeClr val="dk1"/>
                </a:solidFill>
              </a:rPr>
              <a:t>Carrousels</a:t>
            </a:r>
            <a:endParaRPr sz="1050">
              <a:solidFill>
                <a:schemeClr val="dk1"/>
              </a:solidFill>
            </a:endParaRPr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-FR" sz="1050">
                <a:solidFill>
                  <a:schemeClr val="dk1"/>
                </a:solidFill>
              </a:rPr>
              <a:t>Formulaires complexes</a:t>
            </a:r>
            <a:endParaRPr sz="1050">
              <a:solidFill>
                <a:schemeClr val="dk1"/>
              </a:solidFill>
            </a:endParaRPr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fr-FR" sz="1050">
                <a:solidFill>
                  <a:schemeClr val="dk1"/>
                </a:solidFill>
              </a:rPr>
              <a:t>Messages d'aide</a:t>
            </a:r>
            <a:endParaRPr sz="10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6e9a4e652_0_71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12</a:t>
            </a:fld>
            <a:endParaRPr/>
          </a:p>
        </p:txBody>
      </p:sp>
      <p:sp>
        <p:nvSpPr>
          <p:cNvPr id="274" name="Google Shape;274;g366e9a4e652_0_71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400">
                <a:solidFill>
                  <a:schemeClr val="dk2"/>
                </a:solidFill>
                <a:highlight>
                  <a:schemeClr val="lt1"/>
                </a:highlight>
              </a:rPr>
              <a:t>Solutions pour malvoyant et aveugle</a:t>
            </a:r>
            <a:endParaRPr sz="24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75" name="Google Shape;275;g366e9a4e652_0_71"/>
          <p:cNvSpPr txBox="1"/>
          <p:nvPr/>
        </p:nvSpPr>
        <p:spPr>
          <a:xfrm>
            <a:off x="4572000" y="1552000"/>
            <a:ext cx="4103700" cy="298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b="1">
                <a:solidFill>
                  <a:schemeClr val="dk2"/>
                </a:solidFill>
              </a:rPr>
              <a:t>Aveugle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Difficultés</a:t>
            </a:r>
            <a:r>
              <a:rPr lang="fr-FR">
                <a:solidFill>
                  <a:schemeClr val="dk1"/>
                </a:solidFill>
              </a:rPr>
              <a:t> : inaccessibilité au visuel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Solutions</a:t>
            </a:r>
            <a:r>
              <a:rPr lang="fr-FR">
                <a:solidFill>
                  <a:schemeClr val="dk1"/>
                </a:solidFill>
              </a:rPr>
              <a:t> : remplacer par audio et/ou le tactile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Technologie d'assistance</a:t>
            </a:r>
            <a:r>
              <a:rPr lang="fr-FR">
                <a:solidFill>
                  <a:schemeClr val="dk1"/>
                </a:solidFill>
              </a:rPr>
              <a:t> : afficheurs braille, synthèse vocale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</a:endParaRPr>
          </a:p>
        </p:txBody>
      </p:sp>
      <p:sp>
        <p:nvSpPr>
          <p:cNvPr id="276" name="Google Shape;276;g366e9a4e652_0_71"/>
          <p:cNvSpPr txBox="1"/>
          <p:nvPr/>
        </p:nvSpPr>
        <p:spPr>
          <a:xfrm>
            <a:off x="402375" y="1574550"/>
            <a:ext cx="3752400" cy="2895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b="1">
                <a:solidFill>
                  <a:schemeClr val="dk2"/>
                </a:solidFill>
              </a:rPr>
              <a:t>Malvoyant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Difficultés</a:t>
            </a:r>
            <a:r>
              <a:rPr lang="fr-FR">
                <a:solidFill>
                  <a:schemeClr val="dk1"/>
                </a:solidFill>
              </a:rPr>
              <a:t> : inaccessibilité partielle au visuel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Solutions</a:t>
            </a:r>
            <a:r>
              <a:rPr lang="fr-FR">
                <a:solidFill>
                  <a:schemeClr val="dk1"/>
                </a:solidFill>
              </a:rPr>
              <a:t> : grossissement, renforcement des contrastes, adaptation de l'affichage et/ou de la luminosité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Technologie d'assistance</a:t>
            </a:r>
            <a:r>
              <a:rPr lang="fr-FR">
                <a:solidFill>
                  <a:schemeClr val="dk1"/>
                </a:solidFill>
              </a:rPr>
              <a:t> : loupe logicielle, synthèse vocale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446bda4025_1_23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13</a:t>
            </a:fld>
            <a:endParaRPr/>
          </a:p>
        </p:txBody>
      </p:sp>
      <p:sp>
        <p:nvSpPr>
          <p:cNvPr id="283" name="Google Shape;283;g3446bda4025_1_23"/>
          <p:cNvSpPr txBox="1">
            <a:spLocks noGrp="1"/>
          </p:cNvSpPr>
          <p:nvPr>
            <p:ph type="body" idx="3"/>
          </p:nvPr>
        </p:nvSpPr>
        <p:spPr>
          <a:xfrm>
            <a:off x="415625" y="1564250"/>
            <a:ext cx="4197900" cy="32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lang="fr-FR" sz="1400" b="1"/>
              <a:t>CAPTCHA : le retour au Moyen Âge</a:t>
            </a:r>
            <a:endParaRPr sz="1400"/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fr-FR" sz="1400"/>
              <a:t>Ces liens vous permettent de comparer les versions avec et sans audiodescription pour observer l'impact de l'audiodescription sur l'accessibilité des contenus visuels.</a:t>
            </a:r>
            <a:endParaRPr sz="1400" b="1"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1100"/>
              </a:spcBef>
              <a:spcAft>
                <a:spcPts val="0"/>
              </a:spcAft>
              <a:buSzPts val="1400"/>
              <a:buChar char="●"/>
            </a:pPr>
            <a:r>
              <a:rPr lang="fr-FR" sz="1400" u="sng">
                <a:solidFill>
                  <a:schemeClr val="hlink"/>
                </a:solidFill>
                <a:hlinkClick r:id="rId3"/>
              </a:rPr>
              <a:t>Version sans audiodescription</a:t>
            </a:r>
            <a:endParaRPr sz="1400"/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 u="sng">
                <a:solidFill>
                  <a:schemeClr val="hlink"/>
                </a:solidFill>
                <a:hlinkClick r:id="rId4"/>
              </a:rPr>
              <a:t>Version avec audiodescription</a:t>
            </a:r>
            <a:endParaRPr sz="1400"/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000"/>
              </a:spcBef>
              <a:spcAft>
                <a:spcPts val="500"/>
              </a:spcAft>
              <a:buNone/>
            </a:pPr>
            <a:endParaRPr/>
          </a:p>
        </p:txBody>
      </p:sp>
      <p:sp>
        <p:nvSpPr>
          <p:cNvPr id="284" name="Google Shape;284;g3446bda4025_1_23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</a:rPr>
              <a:t>CAPTCHA avec et sans audio-description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85" name="Google Shape;285;g3446bda4025_1_23" descr="CAPTCHA : le retour au Moyen Âge">
            <a:hlinkClick r:id="rId3"/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9402" y="1715974"/>
            <a:ext cx="1514603" cy="8557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86" name="Google Shape;286;g3446bda4025_1_23" descr="CAPTCHA : le retour au Moyen Âge (vidéo audiodécrite)">
            <a:hlinkClick r:id="rId4"/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9386" y="2984774"/>
            <a:ext cx="1514625" cy="855763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4465894e6a_0_58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14</a:t>
            </a:fld>
            <a:endParaRPr/>
          </a:p>
        </p:txBody>
      </p:sp>
      <p:sp>
        <p:nvSpPr>
          <p:cNvPr id="293" name="Google Shape;293;g34465894e6a_0_58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>
                <a:solidFill>
                  <a:schemeClr val="dk2"/>
                </a:solidFill>
                <a:highlight>
                  <a:schemeClr val="lt1"/>
                </a:highlight>
              </a:rPr>
              <a:t>CAPTCHAs et documents accessibles</a:t>
            </a:r>
            <a:endParaRPr b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4" name="Google Shape;294;g34465894e6a_0_58" title="Capture d’écran 2025-03-18 à 16.30.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725" y="3361887"/>
            <a:ext cx="1188575" cy="12029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95" name="Google Shape;295;g34465894e6a_0_58" title="Capture d’écran 2025-03-20 à 21.56.40.png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8675" y="2978400"/>
            <a:ext cx="1915700" cy="107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g34465894e6a_0_58" title="Capture d’écran 2025-03-20 à 21.53.15.png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02575" y="2872450"/>
            <a:ext cx="2718200" cy="169237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4465894e6a_0_58"/>
          <p:cNvSpPr txBox="1"/>
          <p:nvPr/>
        </p:nvSpPr>
        <p:spPr>
          <a:xfrm>
            <a:off x="357025" y="1652925"/>
            <a:ext cx="2214900" cy="1487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</a:rPr>
              <a:t>Un numérique non adapté au quotidien de millions de français en situation de handicap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</a:rPr>
              <a:t>Matérialisation du concept d’ inaccessibilité du quotidien.</a:t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298" name="Google Shape;298;g34465894e6a_0_58"/>
          <p:cNvSpPr txBox="1"/>
          <p:nvPr/>
        </p:nvSpPr>
        <p:spPr>
          <a:xfrm>
            <a:off x="2902575" y="1679375"/>
            <a:ext cx="2909100" cy="2928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highlight>
                  <a:schemeClr val="lt1"/>
                </a:highlight>
              </a:rPr>
              <a:t>Démonstration sur un formulaire de contact avec un captcha</a:t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299" name="Google Shape;299;g34465894e6a_0_58"/>
          <p:cNvSpPr txBox="1"/>
          <p:nvPr/>
        </p:nvSpPr>
        <p:spPr>
          <a:xfrm>
            <a:off x="6188575" y="1672775"/>
            <a:ext cx="2595300" cy="3015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highlight>
                  <a:schemeClr val="lt1"/>
                </a:highlight>
              </a:rPr>
              <a:t>Démonstration sur un formulaire de contact avec un captcha</a:t>
            </a:r>
            <a:endParaRPr sz="10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0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15</a:t>
            </a:fld>
            <a:endParaRPr/>
          </a:p>
        </p:txBody>
      </p:sp>
      <p:sp>
        <p:nvSpPr>
          <p:cNvPr id="306" name="Google Shape;306;p170"/>
          <p:cNvSpPr txBox="1">
            <a:spLocks noGrp="1"/>
          </p:cNvSpPr>
          <p:nvPr>
            <p:ph type="body" idx="3"/>
          </p:nvPr>
        </p:nvSpPr>
        <p:spPr>
          <a:xfrm>
            <a:off x="3312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sz="1400"/>
              <a:t>Exemple visuel </a:t>
            </a:r>
            <a:br>
              <a:rPr lang="fr-FR" sz="1400"/>
            </a:br>
            <a:r>
              <a:rPr lang="fr-FR" sz="1400" b="1">
                <a:solidFill>
                  <a:schemeClr val="dk2"/>
                </a:solidFill>
              </a:rPr>
              <a:t>❌ Mauvais ALT :</a:t>
            </a:r>
            <a:endParaRPr sz="1400"/>
          </a:p>
          <a:p>
            <a:pPr marL="171450" lvl="0" indent="-196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fr-FR" sz="1400"/>
              <a:t>Image 2.jpg</a:t>
            </a:r>
            <a:endParaRPr sz="1400"/>
          </a:p>
          <a:p>
            <a:pPr marL="171450" lvl="0" indent="-196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fr-FR" sz="1400"/>
              <a:t>Photo de chien</a:t>
            </a:r>
            <a:endParaRPr sz="1400"/>
          </a:p>
          <a:p>
            <a:pPr marL="171450" lvl="0" indent="-196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fr-FR" sz="1400"/>
              <a:t>Cliquez pour voir</a:t>
            </a:r>
            <a:endParaRPr sz="1400"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sz="1400"/>
              <a:t>✅ </a:t>
            </a:r>
            <a:r>
              <a:rPr lang="fr-FR" sz="1400" b="1">
                <a:solidFill>
                  <a:schemeClr val="dk2"/>
                </a:solidFill>
              </a:rPr>
              <a:t>Bon ALT 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sz="1400"/>
              <a:t>ALT : Jeune Golden Retriever en apprentissage pour être un chien guide.</a:t>
            </a:r>
            <a:endParaRPr sz="1400"/>
          </a:p>
        </p:txBody>
      </p:sp>
      <p:sp>
        <p:nvSpPr>
          <p:cNvPr id="307" name="Google Shape;307;p170"/>
          <p:cNvSpPr txBox="1">
            <a:spLocks noGrp="1"/>
          </p:cNvSpPr>
          <p:nvPr>
            <p:ph type="body" idx="4"/>
          </p:nvPr>
        </p:nvSpPr>
        <p:spPr>
          <a:xfrm>
            <a:off x="6264000" y="1836000"/>
            <a:ext cx="2520000" cy="28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fr-FR" sz="1400" b="1">
                <a:solidFill>
                  <a:schemeClr val="dk2"/>
                </a:solidFill>
              </a:rPr>
              <a:t>Les 5 règles :</a:t>
            </a:r>
            <a:endParaRPr sz="1400"/>
          </a:p>
          <a:p>
            <a:pPr marL="171450" lvl="0" indent="-196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/>
              <a:t>Être concis, mais descriptif</a:t>
            </a:r>
            <a:endParaRPr sz="1400"/>
          </a:p>
          <a:p>
            <a:pPr marL="171450" lvl="0" indent="-196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/>
              <a:t>Inclure l'information essentielle</a:t>
            </a:r>
            <a:endParaRPr sz="1400"/>
          </a:p>
          <a:p>
            <a:pPr marL="171450" lvl="0" indent="-196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/>
              <a:t>Éviter "image de" (redondant)</a:t>
            </a:r>
            <a:endParaRPr sz="1400"/>
          </a:p>
          <a:p>
            <a:pPr marL="171450" lvl="0" indent="-196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/>
              <a:t>Penser au contexte</a:t>
            </a:r>
            <a:endParaRPr sz="1400"/>
          </a:p>
          <a:p>
            <a:pPr marL="171450" lvl="0" indent="-196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/>
              <a:t>Terminer par un point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fr-FR" sz="1400"/>
              <a:t>Un bon texte alternatif favorise le référencement.</a:t>
            </a:r>
            <a:endParaRPr sz="1400"/>
          </a:p>
          <a:p>
            <a:pPr marL="171450" lvl="0" indent="-10477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308" name="Google Shape;308;p170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>
                <a:solidFill>
                  <a:schemeClr val="dk2"/>
                </a:solidFill>
                <a:highlight>
                  <a:schemeClr val="lt1"/>
                </a:highlight>
              </a:rPr>
              <a:t>Rédiger un bon texte alternatif</a:t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309" name="Google Shape;309;p170"/>
          <p:cNvSpPr txBox="1">
            <a:spLocks noGrp="1"/>
          </p:cNvSpPr>
          <p:nvPr>
            <p:ph type="body" idx="5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Les 5 règles d'or du texte alternatif</a:t>
            </a:r>
            <a:endParaRPr/>
          </a:p>
        </p:txBody>
      </p:sp>
      <p:pic>
        <p:nvPicPr>
          <p:cNvPr id="310" name="Google Shape;310;p170" descr="france3-regions.francetvinfo.f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273" y="1855359"/>
            <a:ext cx="2628479" cy="2102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66e9a4e652_0_683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16</a:t>
            </a:fld>
            <a:endParaRPr/>
          </a:p>
        </p:txBody>
      </p:sp>
      <p:sp>
        <p:nvSpPr>
          <p:cNvPr id="317" name="Google Shape;317;g366e9a4e652_0_683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Agir pour Anaïs, malvoyante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318" name="Google Shape;318;g366e9a4e652_0_683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400" cy="28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</a:rPr>
              <a:t>Malvoyance progressive depuis 10 ans (DMLA précoce)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50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319" name="Google Shape;319;g366e9a4e652_0_683"/>
          <p:cNvSpPr txBox="1"/>
          <p:nvPr/>
        </p:nvSpPr>
        <p:spPr>
          <a:xfrm>
            <a:off x="2499150" y="1875175"/>
            <a:ext cx="4407000" cy="2817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Profession :</a:t>
            </a:r>
            <a:r>
              <a:rPr lang="fr-FR">
                <a:solidFill>
                  <a:schemeClr val="dk1"/>
                </a:solidFill>
              </a:rPr>
              <a:t> gestionnaire administrative dans un service RH ministériel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Son besoin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Pouvoir agrandir la taille des textes (et plus globalement des interfaces) pour compenser sa baisse d'acuité visuelle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Les textes doivent être suffisamment contrastés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20" name="Google Shape;320;g366e9a4e652_0_6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063" y="1851741"/>
            <a:ext cx="1440000" cy="1440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21" name="Google Shape;321;g366e9a4e652_0_6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1000" y="3621037"/>
            <a:ext cx="1966976" cy="61708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2" name="Google Shape;322;g366e9a4e652_0_683"/>
          <p:cNvSpPr txBox="1"/>
          <p:nvPr/>
        </p:nvSpPr>
        <p:spPr>
          <a:xfrm>
            <a:off x="277700" y="4350500"/>
            <a:ext cx="1897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fr-FR">
                <a:solidFill>
                  <a:schemeClr val="dk1"/>
                </a:solidFill>
              </a:rPr>
              <a:t>Clavier guide-doigts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23" name="Google Shape;323;g366e9a4e652_0_6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16326" y="1875173"/>
            <a:ext cx="1596945" cy="9363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4" name="Google Shape;324;g366e9a4e652_0_683"/>
          <p:cNvSpPr txBox="1"/>
          <p:nvPr/>
        </p:nvSpPr>
        <p:spPr>
          <a:xfrm>
            <a:off x="7120825" y="2942225"/>
            <a:ext cx="1897500" cy="19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fr-FR" sz="1200">
                <a:solidFill>
                  <a:schemeClr val="dk1"/>
                </a:solidFill>
              </a:rPr>
              <a:t>Loupe logicielle ZoomText ou Loupe Windows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fr-FR" sz="1200">
                <a:solidFill>
                  <a:schemeClr val="dk1"/>
                </a:solidFill>
              </a:rPr>
              <a:t>Mode sombre Windows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fr-FR" sz="1200">
                <a:solidFill>
                  <a:schemeClr val="dk1"/>
                </a:solidFill>
              </a:rPr>
              <a:t>Contraste : Rapport minimum 4.5:1, idéalement 7:1 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417a403e41_0_2567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17</a:t>
            </a:fld>
            <a:endParaRPr/>
          </a:p>
        </p:txBody>
      </p:sp>
      <p:sp>
        <p:nvSpPr>
          <p:cNvPr id="331" name="Google Shape;331;g3417a403e41_0_2567"/>
          <p:cNvSpPr txBox="1">
            <a:spLocks noGrp="1"/>
          </p:cNvSpPr>
          <p:nvPr>
            <p:ph type="body" idx="2"/>
          </p:nvPr>
        </p:nvSpPr>
        <p:spPr>
          <a:xfrm>
            <a:off x="360000" y="1836000"/>
            <a:ext cx="4212000" cy="285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/>
              <a:t>Des exemples d’accessibilité numérique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Contrastes, polices, couleurs, vidéo …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/>
              <a:t>Testez les simulations suivantes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Daltonisme (8% d’hommes et 0,4% de femmes)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Malvoyance, exemple DMLA (dégénérescence maculaire liée à l’âge)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Cécité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Surdité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 sz="1400"/>
              <a:t>Handicap moteur</a:t>
            </a:r>
            <a:endParaRPr sz="1400"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sz="1400"/>
          </a:p>
        </p:txBody>
      </p:sp>
      <p:sp>
        <p:nvSpPr>
          <p:cNvPr id="332" name="Google Shape;332;g3417a403e41_0_2567"/>
          <p:cNvSpPr txBox="1">
            <a:spLocks noGrp="1"/>
          </p:cNvSpPr>
          <p:nvPr>
            <p:ph type="body" idx="3"/>
          </p:nvPr>
        </p:nvSpPr>
        <p:spPr>
          <a:xfrm>
            <a:off x="4788023" y="1836000"/>
            <a:ext cx="3996000" cy="257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/>
              <a:t>Rendez-vous sur le site : </a:t>
            </a:r>
            <a:endParaRPr sz="1400" b="1"/>
          </a:p>
          <a:p>
            <a:pPr marL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1400"/>
              <a:t>L’accessibilité numérique, et si nous agissions ?</a:t>
            </a:r>
            <a:endParaRPr sz="1400"/>
          </a:p>
          <a:p>
            <a:pPr marL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1400" u="sng">
                <a:solidFill>
                  <a:schemeClr val="hlink"/>
                </a:solidFill>
                <a:hlinkClick r:id="rId3"/>
              </a:rPr>
              <a:t>https://atalan.fr/agissons/fr/index.html</a:t>
            </a:r>
            <a:endParaRPr sz="1400"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/>
          </a:p>
        </p:txBody>
      </p:sp>
      <p:sp>
        <p:nvSpPr>
          <p:cNvPr id="333" name="Google Shape;333;g3417a403e41_0_2567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Comprendre pour mieux agir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3417a403e41_0_2567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400" cy="28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fr-FR" sz="1400">
                <a:solidFill>
                  <a:schemeClr val="dk1"/>
                </a:solidFill>
              </a:rPr>
              <a:t>Il ne s’agit pas de se mettre à la place de … mais de comprendre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335" name="Google Shape;335;g3417a403e41_0_25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88037" y="3380412"/>
            <a:ext cx="3817476" cy="9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66e9a4e652_0_708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18</a:t>
            </a:fld>
            <a:endParaRPr/>
          </a:p>
        </p:txBody>
      </p:sp>
      <p:sp>
        <p:nvSpPr>
          <p:cNvPr id="342" name="Google Shape;342;g366e9a4e652_0_708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</a:rPr>
              <a:t>Agir pour Justine, sourde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343" name="Google Shape;343;g366e9a4e652_0_708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400" cy="28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</a:rPr>
              <a:t>28 ans, sourde de naissance (surdité congénitale profonde)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500"/>
              </a:spcAft>
              <a:buNone/>
            </a:pPr>
            <a:r>
              <a:rPr lang="fr-FR" sz="1600">
                <a:solidFill>
                  <a:schemeClr val="dk1"/>
                </a:solidFill>
              </a:rPr>
              <a:t>2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44" name="Google Shape;344;g366e9a4e652_0_708"/>
          <p:cNvSpPr txBox="1"/>
          <p:nvPr/>
        </p:nvSpPr>
        <p:spPr>
          <a:xfrm>
            <a:off x="2940075" y="1708125"/>
            <a:ext cx="5844300" cy="303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Profession</a:t>
            </a:r>
            <a:r>
              <a:rPr lang="fr-FR">
                <a:solidFill>
                  <a:schemeClr val="dk1"/>
                </a:solidFill>
              </a:rPr>
              <a:t> : chargée de communication digitale dans un service ministériel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Ses besoins :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Sous-titres : écran avec texte en bas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Vélotypie : clavier spécialisé ou écran avec texte qui défile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Langue des signes : mains en mouvement ou silhouette d'interprète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Transcription : document texte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Simulation INRIA </a:t>
            </a:r>
            <a:r>
              <a:rPr lang="fr-FR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https://simulation-accessibilite.inria.fr/index.html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345" name="Google Shape;345;g366e9a4e652_0_70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9625" y="1833750"/>
            <a:ext cx="1531487" cy="1476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46" name="Google Shape;346;g366e9a4e652_0_70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375" y="3309750"/>
            <a:ext cx="2334509" cy="134472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6e9a4e652_0_80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19</a:t>
            </a:fld>
            <a:endParaRPr/>
          </a:p>
        </p:txBody>
      </p:sp>
      <p:sp>
        <p:nvSpPr>
          <p:cNvPr id="353" name="Google Shape;353;g366e9a4e652_0_80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400">
                <a:solidFill>
                  <a:schemeClr val="dk2"/>
                </a:solidFill>
                <a:highlight>
                  <a:schemeClr val="lt1"/>
                </a:highlight>
              </a:rPr>
              <a:t>Solutions pour malentendant et sourd</a:t>
            </a:r>
            <a:endParaRPr sz="24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354" name="Google Shape;354;g366e9a4e652_0_80"/>
          <p:cNvSpPr txBox="1"/>
          <p:nvPr/>
        </p:nvSpPr>
        <p:spPr>
          <a:xfrm>
            <a:off x="4572000" y="1552000"/>
            <a:ext cx="4103700" cy="298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2"/>
                </a:solidFill>
              </a:rPr>
              <a:t>Sourd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Difficultés</a:t>
            </a:r>
            <a:r>
              <a:rPr lang="fr-FR">
                <a:solidFill>
                  <a:schemeClr val="dk1"/>
                </a:solidFill>
              </a:rPr>
              <a:t> : inaccessibilité au visuel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Solutions</a:t>
            </a:r>
            <a:r>
              <a:rPr lang="fr-FR">
                <a:solidFill>
                  <a:schemeClr val="dk1"/>
                </a:solidFill>
              </a:rPr>
              <a:t> : remplacer par audio et/ou le tactile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Technologie d'assistance</a:t>
            </a:r>
            <a:r>
              <a:rPr lang="fr-FR">
                <a:solidFill>
                  <a:schemeClr val="dk1"/>
                </a:solidFill>
              </a:rPr>
              <a:t> : afficheurs braille, synthèse vocale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</a:endParaRPr>
          </a:p>
        </p:txBody>
      </p:sp>
      <p:sp>
        <p:nvSpPr>
          <p:cNvPr id="355" name="Google Shape;355;g366e9a4e652_0_80"/>
          <p:cNvSpPr txBox="1"/>
          <p:nvPr/>
        </p:nvSpPr>
        <p:spPr>
          <a:xfrm>
            <a:off x="360000" y="1594750"/>
            <a:ext cx="3752400" cy="2895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2"/>
                </a:solidFill>
              </a:rPr>
              <a:t>Malentendant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b="1">
                <a:solidFill>
                  <a:schemeClr val="dk1"/>
                </a:solidFill>
              </a:rPr>
              <a:t>Difficultés</a:t>
            </a:r>
            <a:r>
              <a:rPr lang="fr-FR">
                <a:solidFill>
                  <a:schemeClr val="dk1"/>
                </a:solidFill>
              </a:rPr>
              <a:t> : inaccessibilité partielle à l'audio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b="1">
                <a:solidFill>
                  <a:schemeClr val="dk1"/>
                </a:solidFill>
              </a:rPr>
              <a:t>Solutions</a:t>
            </a:r>
            <a:r>
              <a:rPr lang="fr-FR">
                <a:solidFill>
                  <a:schemeClr val="dk1"/>
                </a:solidFill>
              </a:rPr>
              <a:t> : renforcement du signal auditif remplacé par le visuel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b="1">
                <a:solidFill>
                  <a:schemeClr val="dk1"/>
                </a:solidFill>
              </a:rPr>
              <a:t>Technologie d'assistance</a:t>
            </a:r>
            <a:r>
              <a:rPr lang="fr-FR">
                <a:solidFill>
                  <a:schemeClr val="dk1"/>
                </a:solidFill>
              </a:rPr>
              <a:t> : appareil auditif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96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20</a:t>
            </a:fld>
            <a:endParaRPr/>
          </a:p>
        </p:txBody>
      </p:sp>
      <p:sp>
        <p:nvSpPr>
          <p:cNvPr id="362" name="Google Shape;362;p196"/>
          <p:cNvSpPr txBox="1">
            <a:spLocks noGrp="1"/>
          </p:cNvSpPr>
          <p:nvPr>
            <p:ph type="body" idx="3"/>
          </p:nvPr>
        </p:nvSpPr>
        <p:spPr>
          <a:xfrm>
            <a:off x="4788023" y="1836000"/>
            <a:ext cx="3995977" cy="25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/>
          </a:p>
        </p:txBody>
      </p:sp>
      <p:sp>
        <p:nvSpPr>
          <p:cNvPr id="363" name="Google Shape;363;p196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>
                <a:solidFill>
                  <a:schemeClr val="dk2"/>
                </a:solidFill>
              </a:rPr>
              <a:t>Polices et lisibilité - Charte de l’état Marianne et Spectral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64" name="Google Shape;364;p196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27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lang="fr-FR"/>
              <a:t>Choisir les bonnes polices – tableau comparatif</a:t>
            </a:r>
            <a:endParaRPr/>
          </a:p>
        </p:txBody>
      </p:sp>
      <p:graphicFrame>
        <p:nvGraphicFramePr>
          <p:cNvPr id="365" name="Google Shape;365;p196"/>
          <p:cNvGraphicFramePr/>
          <p:nvPr/>
        </p:nvGraphicFramePr>
        <p:xfrm>
          <a:off x="374088" y="1901934"/>
          <a:ext cx="3981875" cy="2681250"/>
        </p:xfrm>
        <a:graphic>
          <a:graphicData uri="http://schemas.openxmlformats.org/drawingml/2006/table">
            <a:tbl>
              <a:tblPr firstRow="1" bandRow="1">
                <a:noFill/>
                <a:tableStyleId>{DB4FEAEA-5863-4BE4-BC14-5AA124C684E0}</a:tableStyleId>
              </a:tblPr>
              <a:tblGrid>
                <a:gridCol w="99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7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i="0">
                          <a:latin typeface="Arial"/>
                          <a:ea typeface="Arial"/>
                          <a:cs typeface="Arial"/>
                          <a:sym typeface="Arial"/>
                        </a:rPr>
                        <a:t>Accessibilité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i="0">
                          <a:latin typeface="Arial"/>
                          <a:ea typeface="Arial"/>
                          <a:cs typeface="Arial"/>
                          <a:sym typeface="Arial"/>
                        </a:rPr>
                        <a:t>Exemples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i="0">
                          <a:latin typeface="Arial"/>
                          <a:ea typeface="Arial"/>
                          <a:cs typeface="Arial"/>
                          <a:sym typeface="Arial"/>
                        </a:rPr>
                        <a:t>Usage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Sans serif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+++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Arial, Helvetica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Texte principal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Avec serif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Times New Roman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À éviter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Script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---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Cursive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Jamais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Dyslexie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OpenDyslexic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 spécifiques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66" name="Google Shape;366;p196" descr="Capture d'écran des polices avec les la combinaison des lettres difficiles à lire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15379" y="1779760"/>
            <a:ext cx="4068264" cy="2820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66e9a4e652_0_733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21</a:t>
            </a:fld>
            <a:endParaRPr/>
          </a:p>
        </p:txBody>
      </p:sp>
      <p:sp>
        <p:nvSpPr>
          <p:cNvPr id="373" name="Google Shape;373;g366e9a4e652_0_733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</a:rPr>
              <a:t>Agir pour Paul, trouble de l’attention et dyslexique 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74" name="Google Shape;374;g366e9a4e652_0_733"/>
          <p:cNvSpPr txBox="1"/>
          <p:nvPr/>
        </p:nvSpPr>
        <p:spPr>
          <a:xfrm>
            <a:off x="2305875" y="1516213"/>
            <a:ext cx="6447300" cy="3088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Paul est attaché de presse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Il présente un trouble de l'attention et est dyslexique.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Pour ses revues de presse, il consulte quotidiennement des sites d'information.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Son besoin :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Pouvoir mettre en pause les animations (carrousels qui défilent, vidéo en lecture automatique ...)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Personnaliser l'apparence des textes (police d'écriture, espacements des lignes...) pour pouvoir gagner en confort de lecture.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Démonstration : </a:t>
            </a:r>
            <a:r>
              <a:rPr lang="fr-FR" b="1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https://www.mucem.org/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375" name="Google Shape;375;g366e9a4e652_0_7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525" y="1516225"/>
            <a:ext cx="1572875" cy="177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66e9a4e652_0_742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22</a:t>
            </a:fld>
            <a:endParaRPr/>
          </a:p>
        </p:txBody>
      </p:sp>
      <p:sp>
        <p:nvSpPr>
          <p:cNvPr id="382" name="Google Shape;382;g366e9a4e652_0_742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</a:rPr>
              <a:t>Agir pour Léa - utilisatrice avec déficience motrice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83" name="Google Shape;383;g366e9a4e652_0_742"/>
          <p:cNvSpPr txBox="1"/>
          <p:nvPr/>
        </p:nvSpPr>
        <p:spPr>
          <a:xfrm>
            <a:off x="2336700" y="1521438"/>
            <a:ext cx="6447300" cy="3088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Profession</a:t>
            </a:r>
            <a:r>
              <a:rPr lang="fr-FR">
                <a:solidFill>
                  <a:schemeClr val="dk1"/>
                </a:solidFill>
              </a:rPr>
              <a:t> : chargée de communication dans un service ministériel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b="1">
                <a:solidFill>
                  <a:schemeClr val="dk1"/>
                </a:solidFill>
              </a:rPr>
              <a:t>Son besoin :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Disposer de contacteurs lui permettant d'interagir avec l'interface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Utiliser un convertisseur texte-parole pour échanger de manière plus fluide avec ses interlocuteurs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84" name="Google Shape;384;g366e9a4e652_0_742" descr="Dragon Naturally Speak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904" y="3075238"/>
            <a:ext cx="1924149" cy="104780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85" name="Google Shape;385;g366e9a4e652_0_742" descr="Contracteurs&#10;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2113" y="3054575"/>
            <a:ext cx="1820125" cy="985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86" name="Google Shape;386;g366e9a4e652_0_742"/>
          <p:cNvSpPr txBox="1"/>
          <p:nvPr/>
        </p:nvSpPr>
        <p:spPr>
          <a:xfrm>
            <a:off x="150900" y="4206450"/>
            <a:ext cx="2190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Un logiciel de reconnaissance vocale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87" name="Google Shape;387;g366e9a4e652_0_742" descr="Souris avec trackball&#10;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3316">
            <a:off x="2520713" y="3076141"/>
            <a:ext cx="1261924" cy="94226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88" name="Google Shape;388;g366e9a4e652_0_742"/>
          <p:cNvSpPr txBox="1"/>
          <p:nvPr/>
        </p:nvSpPr>
        <p:spPr>
          <a:xfrm>
            <a:off x="2429451" y="4086450"/>
            <a:ext cx="2109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Souris avec trackball</a:t>
            </a:r>
            <a:endParaRPr/>
          </a:p>
        </p:txBody>
      </p:sp>
      <p:pic>
        <p:nvPicPr>
          <p:cNvPr id="389" name="Google Shape;389;g366e9a4e652_0_74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6001" y="3044950"/>
            <a:ext cx="1924150" cy="120986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90" name="Google Shape;390;g366e9a4e652_0_742" descr="Commande oculaire&#10;"/>
          <p:cNvSpPr txBox="1"/>
          <p:nvPr/>
        </p:nvSpPr>
        <p:spPr>
          <a:xfrm>
            <a:off x="6458100" y="4262600"/>
            <a:ext cx="2293500" cy="523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Commande oculaire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1" name="Google Shape;391;g366e9a4e652_0_742"/>
          <p:cNvSpPr txBox="1"/>
          <p:nvPr/>
        </p:nvSpPr>
        <p:spPr>
          <a:xfrm>
            <a:off x="4669825" y="4123050"/>
            <a:ext cx="1657200" cy="447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Contracteurs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92" name="Google Shape;392;g366e9a4e652_0_74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1687" y="1473426"/>
            <a:ext cx="1582600" cy="1476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66e9a4e652_0_90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23</a:t>
            </a:fld>
            <a:endParaRPr/>
          </a:p>
        </p:txBody>
      </p:sp>
      <p:sp>
        <p:nvSpPr>
          <p:cNvPr id="399" name="Google Shape;399;g366e9a4e652_0_90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400">
                <a:solidFill>
                  <a:schemeClr val="dk2"/>
                </a:solidFill>
                <a:highlight>
                  <a:schemeClr val="lt1"/>
                </a:highlight>
              </a:rPr>
              <a:t>Solutions - handicap moteur et dyslexique</a:t>
            </a:r>
            <a:endParaRPr sz="24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400" name="Google Shape;400;g366e9a4e652_0_90"/>
          <p:cNvSpPr txBox="1"/>
          <p:nvPr/>
        </p:nvSpPr>
        <p:spPr>
          <a:xfrm>
            <a:off x="4572000" y="1552000"/>
            <a:ext cx="4103700" cy="298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2"/>
                </a:solidFill>
              </a:rPr>
              <a:t>Dyslexique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b="1">
                <a:solidFill>
                  <a:schemeClr val="dk1"/>
                </a:solidFill>
              </a:rPr>
              <a:t>Difficultés</a:t>
            </a:r>
            <a:r>
              <a:rPr lang="fr-FR">
                <a:solidFill>
                  <a:schemeClr val="dk1"/>
                </a:solidFill>
              </a:rPr>
              <a:t> : difficultés pour lire, se repérer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b="1">
                <a:solidFill>
                  <a:schemeClr val="dk1"/>
                </a:solidFill>
              </a:rPr>
              <a:t>Solutions</a:t>
            </a:r>
            <a:r>
              <a:rPr lang="fr-FR">
                <a:solidFill>
                  <a:schemeClr val="dk1"/>
                </a:solidFill>
              </a:rPr>
              <a:t> : utiliser des polices simples, ne pas justifier les textes, respecter des règles adaptées de mise en page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b="1">
                <a:solidFill>
                  <a:schemeClr val="dk1"/>
                </a:solidFill>
              </a:rPr>
              <a:t>Technologie d'assistance</a:t>
            </a:r>
            <a:r>
              <a:rPr lang="fr-FR">
                <a:solidFill>
                  <a:schemeClr val="dk1"/>
                </a:solidFill>
              </a:rPr>
              <a:t> : dispositif de lecture audio synthèse vocale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</a:endParaRPr>
          </a:p>
        </p:txBody>
      </p:sp>
      <p:sp>
        <p:nvSpPr>
          <p:cNvPr id="401" name="Google Shape;401;g366e9a4e652_0_90"/>
          <p:cNvSpPr txBox="1"/>
          <p:nvPr/>
        </p:nvSpPr>
        <p:spPr>
          <a:xfrm>
            <a:off x="360000" y="1594750"/>
            <a:ext cx="3752400" cy="2895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2"/>
                </a:solidFill>
              </a:rPr>
              <a:t>Handicap moteur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Difficultés</a:t>
            </a:r>
            <a:r>
              <a:rPr lang="fr-FR">
                <a:solidFill>
                  <a:schemeClr val="dk1"/>
                </a:solidFill>
              </a:rPr>
              <a:t> : problèmes de manipulation, de préhension, de "pointage", tremblement des mains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Solutions</a:t>
            </a:r>
            <a:r>
              <a:rPr lang="fr-FR">
                <a:solidFill>
                  <a:schemeClr val="dk1"/>
                </a:solidFill>
              </a:rPr>
              <a:t> : possibilité de naviguer au clavier, agrandissement de la zone interactive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Technologie d'assistance</a:t>
            </a:r>
            <a:r>
              <a:rPr lang="fr-FR">
                <a:solidFill>
                  <a:schemeClr val="dk1"/>
                </a:solidFill>
              </a:rPr>
              <a:t> : dispositif de pointage, trackball, clavier virtuel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42238ade8f_1_4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24</a:t>
            </a:fld>
            <a:endParaRPr/>
          </a:p>
        </p:txBody>
      </p:sp>
      <p:sp>
        <p:nvSpPr>
          <p:cNvPr id="408" name="Google Shape;408;g342238ade8f_1_4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</a:rPr>
              <a:t>Charte d'accessibilité de la communication de l'état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409" name="Google Shape;409;g342238ade8f_1_4" title="Charte-etat-mars-20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9350" y="1456400"/>
            <a:ext cx="1399600" cy="2941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342238ade8f_1_4"/>
          <p:cNvSpPr txBox="1"/>
          <p:nvPr/>
        </p:nvSpPr>
        <p:spPr>
          <a:xfrm>
            <a:off x="4298950" y="1512550"/>
            <a:ext cx="2454900" cy="30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</a:endParaRPr>
          </a:p>
        </p:txBody>
      </p:sp>
      <p:sp>
        <p:nvSpPr>
          <p:cNvPr id="411" name="Google Shape;411;g342238ade8f_1_4"/>
          <p:cNvSpPr txBox="1"/>
          <p:nvPr/>
        </p:nvSpPr>
        <p:spPr>
          <a:xfrm>
            <a:off x="405575" y="1447175"/>
            <a:ext cx="2544300" cy="3198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600" b="1">
                <a:solidFill>
                  <a:schemeClr val="dk1"/>
                </a:solidFill>
              </a:rPr>
              <a:t>Les enjeux d’une communication accessible à tous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fr-FR" sz="1600">
                <a:solidFill>
                  <a:schemeClr val="dk1"/>
                </a:solidFill>
              </a:rPr>
              <a:t>Non compréhension 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fr-FR" sz="1600">
                <a:solidFill>
                  <a:schemeClr val="dk1"/>
                </a:solidFill>
              </a:rPr>
              <a:t>Frustration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fr-FR" sz="1600">
                <a:solidFill>
                  <a:schemeClr val="dk1"/>
                </a:solidFill>
              </a:rPr>
              <a:t>Énervement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fr-FR" sz="1600">
                <a:solidFill>
                  <a:schemeClr val="dk1"/>
                </a:solidFill>
              </a:rPr>
              <a:t>Décrochage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fr-FR" sz="1600">
                <a:solidFill>
                  <a:schemeClr val="dk1"/>
                </a:solidFill>
              </a:rPr>
              <a:t>Exclusion</a:t>
            </a:r>
            <a:endParaRPr sz="1250">
              <a:solidFill>
                <a:schemeClr val="dk1"/>
              </a:solidFill>
            </a:endParaRPr>
          </a:p>
        </p:txBody>
      </p:sp>
      <p:sp>
        <p:nvSpPr>
          <p:cNvPr id="412" name="Google Shape;412;g342238ade8f_1_4"/>
          <p:cNvSpPr txBox="1"/>
          <p:nvPr/>
        </p:nvSpPr>
        <p:spPr>
          <a:xfrm>
            <a:off x="3115600" y="1456400"/>
            <a:ext cx="2267700" cy="3198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700" b="1">
                <a:solidFill>
                  <a:schemeClr val="dk1"/>
                </a:solidFill>
              </a:rPr>
              <a:t>Pour la personne qui reçoit l’information ?</a:t>
            </a:r>
            <a:endParaRPr sz="1700" b="1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fr-FR" sz="1700">
                <a:solidFill>
                  <a:schemeClr val="dk1"/>
                </a:solidFill>
              </a:rPr>
              <a:t>Confiance en soi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fr-FR" sz="1700">
                <a:solidFill>
                  <a:schemeClr val="dk1"/>
                </a:solidFill>
              </a:rPr>
              <a:t>Autonomie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fr-FR" sz="1700">
                <a:solidFill>
                  <a:schemeClr val="dk1"/>
                </a:solidFill>
              </a:rPr>
              <a:t>Inclusion sociale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413" name="Google Shape;413;g342238ade8f_1_4"/>
          <p:cNvSpPr txBox="1"/>
          <p:nvPr/>
        </p:nvSpPr>
        <p:spPr>
          <a:xfrm>
            <a:off x="5373950" y="1474850"/>
            <a:ext cx="2166300" cy="3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</a:endParaRPr>
          </a:p>
        </p:txBody>
      </p:sp>
      <p:sp>
        <p:nvSpPr>
          <p:cNvPr id="414" name="Google Shape;414;g342238ade8f_1_4"/>
          <p:cNvSpPr txBox="1"/>
          <p:nvPr/>
        </p:nvSpPr>
        <p:spPr>
          <a:xfrm>
            <a:off x="5456675" y="1447175"/>
            <a:ext cx="2166300" cy="3198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600" b="1">
                <a:solidFill>
                  <a:schemeClr val="dk1"/>
                </a:solidFill>
              </a:rPr>
              <a:t>Avoir une communication gagnant-gagnant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fr-FR" sz="1600">
                <a:solidFill>
                  <a:schemeClr val="dk1"/>
                </a:solidFill>
              </a:rPr>
              <a:t>Accéder à l’information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fr-FR" sz="1600">
                <a:solidFill>
                  <a:schemeClr val="dk1"/>
                </a:solidFill>
              </a:rPr>
              <a:t>Comprendre 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fr-FR" sz="1600">
                <a:solidFill>
                  <a:schemeClr val="dk1"/>
                </a:solidFill>
              </a:rPr>
              <a:t>Évaluer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fr-FR" sz="1600">
                <a:solidFill>
                  <a:schemeClr val="dk1"/>
                </a:solidFill>
              </a:rPr>
              <a:t>Appliquer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66e9a4e652_0_625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25</a:t>
            </a:fld>
            <a:endParaRPr/>
          </a:p>
        </p:txBody>
      </p:sp>
      <p:sp>
        <p:nvSpPr>
          <p:cNvPr id="421" name="Google Shape;421;g366e9a4e652_0_625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</a:rPr>
              <a:t>Agir pour Anatole, handicapé mental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22" name="Google Shape;422;g366e9a4e652_0_625"/>
          <p:cNvSpPr txBox="1">
            <a:spLocks noGrp="1"/>
          </p:cNvSpPr>
          <p:nvPr>
            <p:ph type="body" idx="4"/>
          </p:nvPr>
        </p:nvSpPr>
        <p:spPr>
          <a:xfrm>
            <a:off x="360363" y="1419225"/>
            <a:ext cx="8423400" cy="28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fr-FR" sz="1600">
                <a:solidFill>
                  <a:schemeClr val="dk1"/>
                </a:solidFill>
              </a:rPr>
              <a:t>Déficiences cognitives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423" name="Google Shape;423;g366e9a4e652_0_625" descr="Photo d'Anatatole, handicapé mental, trisomiqu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378" y="1892001"/>
            <a:ext cx="1513845" cy="1476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24" name="Google Shape;424;g366e9a4e652_0_625" descr="Logo FALC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7154" y="3520145"/>
            <a:ext cx="1126232" cy="111343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25" name="Google Shape;425;g366e9a4e652_0_625"/>
          <p:cNvSpPr txBox="1"/>
          <p:nvPr/>
        </p:nvSpPr>
        <p:spPr>
          <a:xfrm>
            <a:off x="2305875" y="1875175"/>
            <a:ext cx="6447300" cy="2729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Anatole est lycéen.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Il est porteur de trisomie 21.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Lire lui demande du temps et de la concentration.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Il comprend mieux les phrases simples et courtes.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Son besoin :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Avoir accès à des contenus adaptés qui respectent certaines bonnes pratiques rédactionnelles afin de rendre les informations plus accessibles.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En France, la propagande électorale pour l'élection présidentielle doit être disponible en langage clair.</a:t>
            </a:r>
            <a:endParaRPr sz="10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66e9a4e652_0_112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26</a:t>
            </a:fld>
            <a:endParaRPr/>
          </a:p>
        </p:txBody>
      </p:sp>
      <p:sp>
        <p:nvSpPr>
          <p:cNvPr id="432" name="Google Shape;432;g366e9a4e652_0_112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400">
                <a:solidFill>
                  <a:schemeClr val="dk2"/>
                </a:solidFill>
                <a:highlight>
                  <a:schemeClr val="lt1"/>
                </a:highlight>
              </a:rPr>
              <a:t>Solutions - handicap mental TSA</a:t>
            </a:r>
            <a:endParaRPr sz="24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433" name="Google Shape;433;g366e9a4e652_0_112"/>
          <p:cNvSpPr txBox="1"/>
          <p:nvPr/>
        </p:nvSpPr>
        <p:spPr>
          <a:xfrm>
            <a:off x="4572000" y="1594750"/>
            <a:ext cx="4103700" cy="2895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</a:rPr>
              <a:t>TSA (trouble du spectre autistique)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Difficultés</a:t>
            </a:r>
            <a:r>
              <a:rPr lang="fr-FR">
                <a:solidFill>
                  <a:schemeClr val="dk1"/>
                </a:solidFill>
              </a:rPr>
              <a:t> : structuration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Solutions</a:t>
            </a:r>
            <a:r>
              <a:rPr lang="fr-FR">
                <a:solidFill>
                  <a:schemeClr val="dk1"/>
                </a:solidFill>
              </a:rPr>
              <a:t> : consignes claires, structuration documentaire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Technologie d'assistance</a:t>
            </a:r>
            <a:r>
              <a:rPr lang="fr-FR">
                <a:solidFill>
                  <a:schemeClr val="dk1"/>
                </a:solidFill>
              </a:rPr>
              <a:t> : pas de technologie d'assistance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</a:endParaRPr>
          </a:p>
        </p:txBody>
      </p:sp>
      <p:sp>
        <p:nvSpPr>
          <p:cNvPr id="434" name="Google Shape;434;g366e9a4e652_0_112"/>
          <p:cNvSpPr txBox="1"/>
          <p:nvPr/>
        </p:nvSpPr>
        <p:spPr>
          <a:xfrm>
            <a:off x="360000" y="1594750"/>
            <a:ext cx="4065000" cy="2895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</a:rPr>
              <a:t>Handicap mental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Difficultés</a:t>
            </a:r>
            <a:r>
              <a:rPr lang="fr-FR">
                <a:solidFill>
                  <a:schemeClr val="dk1"/>
                </a:solidFill>
              </a:rPr>
              <a:t> : difficultés de compréhension, défilement ou animation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Solutions</a:t>
            </a:r>
            <a:r>
              <a:rPr lang="fr-FR">
                <a:solidFill>
                  <a:schemeClr val="dk1"/>
                </a:solidFill>
              </a:rPr>
              <a:t> : simplifier les interfaces, les textes (français facile à lire et à comprendre), favoriser l'usage d'images et de pictogrammes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-FR" b="1">
                <a:solidFill>
                  <a:schemeClr val="dk1"/>
                </a:solidFill>
              </a:rPr>
              <a:t>Technologie d'assistance</a:t>
            </a:r>
            <a:r>
              <a:rPr lang="fr-FR">
                <a:solidFill>
                  <a:schemeClr val="dk1"/>
                </a:solidFill>
              </a:rPr>
              <a:t> : pas de technologie d'assistance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42238ade8f_0_23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27</a:t>
            </a:fld>
            <a:endParaRPr/>
          </a:p>
        </p:txBody>
      </p:sp>
      <p:sp>
        <p:nvSpPr>
          <p:cNvPr id="441" name="Google Shape;441;g342238ade8f_0_23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450">
                <a:solidFill>
                  <a:schemeClr val="dk2"/>
                </a:solidFill>
              </a:rPr>
              <a:t>Le Facile à Lire et à Comprendre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42" name="Google Shape;442;g342238ade8f_0_23"/>
          <p:cNvSpPr txBox="1"/>
          <p:nvPr/>
        </p:nvSpPr>
        <p:spPr>
          <a:xfrm>
            <a:off x="423925" y="1384425"/>
            <a:ext cx="3710400" cy="3335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</a:rPr>
              <a:t>Des règles</a:t>
            </a:r>
            <a:r>
              <a:rPr lang="fr-FR" sz="1800">
                <a:solidFill>
                  <a:schemeClr val="dk1"/>
                </a:solidFill>
              </a:rPr>
              <a:t> européennes pour rendre l’information accessible à tous et plus particulièrement aux personnes en situation de handicap mental.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</a:rPr>
              <a:t>Le FALC s’adresse aujourd’hui à un public plus large : des personnes dans d’autres situations de handicap, mais aussi des personnes âgées, en situation précaire, étrangères, enfant.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500"/>
              </a:spcAft>
              <a:buNone/>
            </a:pPr>
            <a:endParaRPr sz="1050">
              <a:solidFill>
                <a:schemeClr val="dk1"/>
              </a:solidFill>
            </a:endParaRPr>
          </a:p>
        </p:txBody>
      </p:sp>
      <p:sp>
        <p:nvSpPr>
          <p:cNvPr id="443" name="Google Shape;443;g342238ade8f_0_23"/>
          <p:cNvSpPr txBox="1"/>
          <p:nvPr/>
        </p:nvSpPr>
        <p:spPr>
          <a:xfrm>
            <a:off x="4419200" y="1361850"/>
            <a:ext cx="2776800" cy="3335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>
                <a:solidFill>
                  <a:schemeClr val="dk1"/>
                </a:solidFill>
              </a:rPr>
              <a:t>La démarche consiste lors de la rédaction de documents à simplifier au maximum les phrases et à proposer des pictogrammes pour faciliter la lecture.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fr-FR" sz="1800">
                <a:solidFill>
                  <a:schemeClr val="dk1"/>
                </a:solidFill>
              </a:rPr>
            </a:br>
            <a:r>
              <a:rPr lang="fr-FR" sz="1800">
                <a:solidFill>
                  <a:schemeClr val="dk1"/>
                </a:solidFill>
              </a:rPr>
              <a:t>Lien pour </a:t>
            </a:r>
            <a:r>
              <a:rPr lang="fr-FR" sz="1800" u="sng">
                <a:solidFill>
                  <a:schemeClr val="hlink"/>
                </a:solidFill>
                <a:hlinkClick r:id="rId3"/>
              </a:rPr>
              <a:t>télécharger le guide des règles</a:t>
            </a:r>
            <a:r>
              <a:rPr lang="fr-FR" sz="1800">
                <a:solidFill>
                  <a:schemeClr val="dk1"/>
                </a:solidFill>
              </a:rPr>
              <a:t> de la mise en FALC.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444" name="Google Shape;444;g342238ade8f_0_23" title="Image depuis 2021Conf_sensi-SIG-document-FALC, page 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5700" y="1384418"/>
            <a:ext cx="1350000" cy="2815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66e9a4e652_0_596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28</a:t>
            </a:fld>
            <a:endParaRPr/>
          </a:p>
        </p:txBody>
      </p:sp>
      <p:sp>
        <p:nvSpPr>
          <p:cNvPr id="451" name="Google Shape;451;g366e9a4e652_0_596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450">
                <a:solidFill>
                  <a:schemeClr val="dk2"/>
                </a:solidFill>
              </a:rPr>
              <a:t>Le langage clair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52" name="Google Shape;452;g366e9a4e652_0_596"/>
          <p:cNvSpPr txBox="1"/>
          <p:nvPr/>
        </p:nvSpPr>
        <p:spPr>
          <a:xfrm>
            <a:off x="318000" y="1448400"/>
            <a:ext cx="8424000" cy="3335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600" b="1">
                <a:solidFill>
                  <a:schemeClr val="dk1"/>
                </a:solidFill>
              </a:rPr>
              <a:t>Comment rendre une information accessible à tous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>
                <a:solidFill>
                  <a:schemeClr val="dk1"/>
                </a:solidFill>
              </a:rPr>
              <a:t>Définition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>
                <a:solidFill>
                  <a:schemeClr val="dk1"/>
                </a:solidFill>
              </a:rPr>
              <a:t>Le langage clair, c'est un ensemble de règles d'écriture qui facilitent la compréhension et la mémorisation d'un document.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>
                <a:solidFill>
                  <a:schemeClr val="dk1"/>
                </a:solidFill>
              </a:rPr>
              <a:t>Parfois, on parle aussi de FALC (Facile À Lire et à Comprendre).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>
                <a:solidFill>
                  <a:schemeClr val="dk1"/>
                </a:solidFill>
              </a:rPr>
              <a:t>Cette méthode est recommandée dans le cas de :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Documents contractuels : souscription à une mutuelle, contrat de travail ...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Documents explicatifs : notice d'utilisation, recette de cuisine, guide de visite d'un musée ...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Documents et courriers officiels : propagande électorale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66e9a4e652_0_160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29</a:t>
            </a:fld>
            <a:endParaRPr/>
          </a:p>
        </p:txBody>
      </p:sp>
      <p:sp>
        <p:nvSpPr>
          <p:cNvPr id="512" name="Google Shape;512;g366e9a4e652_0_160"/>
          <p:cNvSpPr txBox="1">
            <a:spLocks noGrp="1"/>
          </p:cNvSpPr>
          <p:nvPr>
            <p:ph type="title"/>
          </p:nvPr>
        </p:nvSpPr>
        <p:spPr>
          <a:xfrm>
            <a:off x="360000" y="900000"/>
            <a:ext cx="83157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2"/>
                </a:solidFill>
              </a:rPr>
              <a:t>En France, une obligation légale depuis 2005</a:t>
            </a:r>
            <a:endParaRPr sz="2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513" name="Google Shape;513;g366e9a4e652_0_160"/>
          <p:cNvSpPr txBox="1"/>
          <p:nvPr/>
        </p:nvSpPr>
        <p:spPr>
          <a:xfrm>
            <a:off x="360000" y="1452075"/>
            <a:ext cx="8315700" cy="2956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</a:rPr>
              <a:t>Article 47 loi du 11 février 2005 pour les organismes publics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Dernière mise à jour par décret n° 2019-768 le </a:t>
            </a:r>
            <a:r>
              <a:rPr lang="fr-FR" sz="1800" b="1">
                <a:solidFill>
                  <a:schemeClr val="dk1"/>
                </a:solidFill>
              </a:rPr>
              <a:t>24 juillet 2019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Sites internet, intranets, extranets, applications mobiles, progiciels et mobiliers urbains numériques, internes et externes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Organismes publics et organismes privés avec un chiffre d'affaires &gt; 250 millions €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Être a minima conforme avec le RGAA (ou WCAG AA)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Risque de sanctions par l'ARCOM depuis 2024.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66e9a4e652_0_171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30</a:t>
            </a:fld>
            <a:endParaRPr/>
          </a:p>
        </p:txBody>
      </p:sp>
      <p:sp>
        <p:nvSpPr>
          <p:cNvPr id="520" name="Google Shape;520;g366e9a4e652_0_171"/>
          <p:cNvSpPr txBox="1">
            <a:spLocks noGrp="1"/>
          </p:cNvSpPr>
          <p:nvPr>
            <p:ph type="title"/>
          </p:nvPr>
        </p:nvSpPr>
        <p:spPr>
          <a:xfrm>
            <a:off x="360000" y="900000"/>
            <a:ext cx="83157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2"/>
                </a:solidFill>
              </a:rPr>
              <a:t>Cadre légal européen</a:t>
            </a:r>
            <a:endParaRPr sz="2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521" name="Google Shape;521;g366e9a4e652_0_171"/>
          <p:cNvSpPr txBox="1"/>
          <p:nvPr/>
        </p:nvSpPr>
        <p:spPr>
          <a:xfrm>
            <a:off x="360000" y="1452075"/>
            <a:ext cx="8315700" cy="3210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</a:rPr>
              <a:t>Deux directives européennes</a:t>
            </a:r>
            <a:r>
              <a:rPr lang="fr-FR" sz="1800">
                <a:solidFill>
                  <a:schemeClr val="dk1"/>
                </a:solidFill>
              </a:rPr>
              <a:t> portant sur l'accessibilité numérique :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600" b="1">
                <a:solidFill>
                  <a:schemeClr val="dk1"/>
                </a:solidFill>
              </a:rPr>
              <a:t>1. Directive 2016/2102</a:t>
            </a:r>
            <a:r>
              <a:rPr lang="fr-FR" sz="1600">
                <a:solidFill>
                  <a:schemeClr val="dk1"/>
                </a:solidFill>
              </a:rPr>
              <a:t> relative à l'accessibilité des sites internet et des applications mobiles des organismes du secteur public.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</a:rPr>
              <a:t>→ Aussi appelée « Web Accessibility Directive ».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600" b="1">
                <a:solidFill>
                  <a:schemeClr val="dk1"/>
                </a:solidFill>
              </a:rPr>
              <a:t>2. Directive 2019/882 </a:t>
            </a:r>
            <a:r>
              <a:rPr lang="fr-FR" sz="1600">
                <a:solidFill>
                  <a:schemeClr val="dk1"/>
                </a:solidFill>
              </a:rPr>
              <a:t>relative aux exigences en matière d'accessibilité applicables aux produits et services.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</a:rPr>
              <a:t>→ Aussi appelée « European Accessibility Act ».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</a:rPr>
              <a:t>Cette directive s'applique à certains produits et services fournis par le secteur privé comme public.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1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31</a:t>
            </a:fld>
            <a:endParaRPr/>
          </a:p>
        </p:txBody>
      </p:sp>
      <p:sp>
        <p:nvSpPr>
          <p:cNvPr id="527" name="Google Shape;527;p31"/>
          <p:cNvSpPr txBox="1">
            <a:spLocks noGrp="1"/>
          </p:cNvSpPr>
          <p:nvPr>
            <p:ph type="body" idx="2"/>
          </p:nvPr>
        </p:nvSpPr>
        <p:spPr>
          <a:xfrm>
            <a:off x="360000" y="1373350"/>
            <a:ext cx="8424000" cy="3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/>
              <a:t>1. Perceptible</a:t>
            </a:r>
            <a:r>
              <a:rPr lang="fr-FR" sz="1600"/>
              <a:t> - Pouvez-vous le voir ? L'utilisateur doit pouvoir percevoir les informations présentées ainsi que les composants de l'interface</a:t>
            </a:r>
            <a:endParaRPr sz="16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600" b="1"/>
              <a:t>2. Utilisable </a:t>
            </a:r>
            <a:r>
              <a:rPr lang="fr-FR" sz="1600"/>
              <a:t>- Pouvez-vous l'utiliser ? L'utilisateur doit pouvoir manipuler les composants de l'interface.</a:t>
            </a:r>
            <a:endParaRPr sz="16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600" b="1"/>
              <a:t>3. Compréhensible</a:t>
            </a:r>
            <a:r>
              <a:rPr lang="fr-FR" sz="1600"/>
              <a:t> - Pouvez-vous le comprendre ? L'utilisateur doit pouvoir comprendre les informations et l'utilisation de l'interface.</a:t>
            </a:r>
            <a:endParaRPr sz="16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fr-FR" sz="1600" b="1"/>
              <a:t>4. Robuste</a:t>
            </a:r>
            <a:r>
              <a:rPr lang="fr-FR" sz="1600"/>
              <a:t> - Le contenu doit être compatible et interprété de manière fiable par une large variété de technologies d'assistance.</a:t>
            </a:r>
            <a:endParaRPr sz="1600"/>
          </a:p>
        </p:txBody>
      </p:sp>
      <p:sp>
        <p:nvSpPr>
          <p:cNvPr id="528" name="Google Shape;528;p31"/>
          <p:cNvSpPr txBox="1">
            <a:spLocks noGrp="1"/>
          </p:cNvSpPr>
          <p:nvPr>
            <p:ph type="title"/>
          </p:nvPr>
        </p:nvSpPr>
        <p:spPr>
          <a:xfrm>
            <a:off x="359999" y="726475"/>
            <a:ext cx="84240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400">
                <a:solidFill>
                  <a:schemeClr val="dk2"/>
                </a:solidFill>
                <a:highlight>
                  <a:schemeClr val="lt1"/>
                </a:highlight>
              </a:rPr>
              <a:t>Obligations légales - les 4 principes de l'accessibilité</a:t>
            </a:r>
            <a:endParaRPr sz="24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417a403e41_0_2594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32</a:t>
            </a:fld>
            <a:endParaRPr/>
          </a:p>
        </p:txBody>
      </p:sp>
      <p:sp>
        <p:nvSpPr>
          <p:cNvPr id="535" name="Google Shape;535;g3417a403e41_0_2594"/>
          <p:cNvSpPr txBox="1">
            <a:spLocks noGrp="1"/>
          </p:cNvSpPr>
          <p:nvPr>
            <p:ph type="title"/>
          </p:nvPr>
        </p:nvSpPr>
        <p:spPr>
          <a:xfrm>
            <a:off x="360000" y="900000"/>
            <a:ext cx="83157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>
                <a:solidFill>
                  <a:schemeClr val="dk2"/>
                </a:solidFill>
              </a:rPr>
              <a:t>Le RGAA - Référentiel Général d'Amélioration de l'Accessibilité</a:t>
            </a:r>
            <a:endParaRPr sz="2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536" name="Google Shape;536;g3417a403e41_0_2594"/>
          <p:cNvSpPr txBox="1"/>
          <p:nvPr/>
        </p:nvSpPr>
        <p:spPr>
          <a:xfrm>
            <a:off x="393625" y="1452075"/>
            <a:ext cx="3464100" cy="3245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</a:rPr>
              <a:t>Structuré en 2 parties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fr-FR" sz="1800">
                <a:solidFill>
                  <a:schemeClr val="dk1"/>
                </a:solidFill>
              </a:rPr>
              <a:t>Obligations légales 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fr-FR" sz="1800">
                <a:solidFill>
                  <a:schemeClr val="dk1"/>
                </a:solidFill>
              </a:rPr>
              <a:t>Méthode technique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</a:rPr>
              <a:t>Avec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13 thématiques 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106 critères au total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258 tests unitaires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537" name="Google Shape;537;g3417a403e41_0_2594"/>
          <p:cNvSpPr txBox="1"/>
          <p:nvPr/>
        </p:nvSpPr>
        <p:spPr>
          <a:xfrm>
            <a:off x="3980100" y="1478325"/>
            <a:ext cx="2396700" cy="3174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Images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Cadres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Couleurs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Multimédia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Tableaux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Liens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Scripts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</a:endParaRPr>
          </a:p>
        </p:txBody>
      </p:sp>
      <p:sp>
        <p:nvSpPr>
          <p:cNvPr id="538" name="Google Shape;538;g3417a403e41_0_2594"/>
          <p:cNvSpPr txBox="1"/>
          <p:nvPr/>
        </p:nvSpPr>
        <p:spPr>
          <a:xfrm>
            <a:off x="6499350" y="1478325"/>
            <a:ext cx="2326800" cy="3174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Éléments obligatoires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Structuration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Navigation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Présentation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Formulaires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-FR" sz="1800">
                <a:solidFill>
                  <a:schemeClr val="dk1"/>
                </a:solidFill>
              </a:rPr>
              <a:t>Consultation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66e9a4e652_0_469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33</a:t>
            </a:fld>
            <a:endParaRPr/>
          </a:p>
        </p:txBody>
      </p:sp>
      <p:sp>
        <p:nvSpPr>
          <p:cNvPr id="545" name="Google Shape;545;g366e9a4e652_0_469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>
                <a:solidFill>
                  <a:schemeClr val="dk2"/>
                </a:solidFill>
              </a:rPr>
              <a:t>Les obligations légales de mise en accessibilité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46" name="Google Shape;546;g366e9a4e652_0_469"/>
          <p:cNvSpPr txBox="1"/>
          <p:nvPr/>
        </p:nvSpPr>
        <p:spPr>
          <a:xfrm>
            <a:off x="375900" y="3201300"/>
            <a:ext cx="2311200" cy="738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 25 % des tests peuvent être automatisables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g366e9a4e652_0_469"/>
          <p:cNvSpPr txBox="1"/>
          <p:nvPr/>
        </p:nvSpPr>
        <p:spPr>
          <a:xfrm>
            <a:off x="2863375" y="2347275"/>
            <a:ext cx="5507400" cy="738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b="1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Accessibilité : partiellement conforme</a:t>
            </a:r>
            <a:endParaRPr b="1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50% à 99% des critères du RGAA sont respectés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g366e9a4e652_0_469"/>
          <p:cNvSpPr txBox="1"/>
          <p:nvPr/>
        </p:nvSpPr>
        <p:spPr>
          <a:xfrm>
            <a:off x="385500" y="1516275"/>
            <a:ext cx="2311200" cy="738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Schéma pluriannuel d’accessibilité numérique (SPAN)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g366e9a4e652_0_469"/>
          <p:cNvSpPr txBox="1"/>
          <p:nvPr/>
        </p:nvSpPr>
        <p:spPr>
          <a:xfrm>
            <a:off x="2845675" y="3178275"/>
            <a:ext cx="5507400" cy="738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Accessibilité : non conforme</a:t>
            </a:r>
            <a:endParaRPr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49% et moins des critères du RGAA sont respectés 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s’il n’existe aucun résultat d’audit en cours de validité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66e9a4e652_0_469"/>
          <p:cNvSpPr txBox="1"/>
          <p:nvPr/>
        </p:nvSpPr>
        <p:spPr>
          <a:xfrm>
            <a:off x="2863372" y="1516276"/>
            <a:ext cx="5507400" cy="738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b="1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Accessibilité : totalement conforme</a:t>
            </a:r>
            <a:endParaRPr b="1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50% à 99% des critères du RGAA sont respectés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66e9a4e652_0_469"/>
          <p:cNvSpPr txBox="1"/>
          <p:nvPr/>
        </p:nvSpPr>
        <p:spPr>
          <a:xfrm>
            <a:off x="375900" y="3993825"/>
            <a:ext cx="2311200" cy="738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100 % conforme ne veut pas forcément dire accessible.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66e9a4e652_0_469"/>
          <p:cNvSpPr txBox="1"/>
          <p:nvPr/>
        </p:nvSpPr>
        <p:spPr>
          <a:xfrm>
            <a:off x="385500" y="2285925"/>
            <a:ext cx="2311200" cy="307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 d’action annuel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66e9a4e652_0_469"/>
          <p:cNvSpPr txBox="1"/>
          <p:nvPr/>
        </p:nvSpPr>
        <p:spPr>
          <a:xfrm>
            <a:off x="385500" y="2624475"/>
            <a:ext cx="2311200" cy="523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Audit d’accessibilité RGAA en version 4.1.2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66e9a4e652_0_469"/>
          <p:cNvSpPr txBox="1"/>
          <p:nvPr/>
        </p:nvSpPr>
        <p:spPr>
          <a:xfrm>
            <a:off x="2845675" y="3993825"/>
            <a:ext cx="5507400" cy="523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moyen de contact</a:t>
            </a:r>
            <a:endParaRPr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 (Référent Accessibilité Numérique)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66e9a4e652_0_188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34</a:t>
            </a:fld>
            <a:endParaRPr/>
          </a:p>
        </p:txBody>
      </p:sp>
      <p:sp>
        <p:nvSpPr>
          <p:cNvPr id="561" name="Google Shape;561;g366e9a4e652_0_188"/>
          <p:cNvSpPr txBox="1">
            <a:spLocks noGrp="1"/>
          </p:cNvSpPr>
          <p:nvPr>
            <p:ph type="body" idx="2"/>
          </p:nvPr>
        </p:nvSpPr>
        <p:spPr>
          <a:xfrm>
            <a:off x="360000" y="1428750"/>
            <a:ext cx="8369100" cy="298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/>
              <a:t>Des règles et bonnes pratiques simples permettent de garantir l'accessibilité à toutes et tous</a:t>
            </a:r>
            <a:endParaRPr sz="1800" b="1"/>
          </a:p>
          <a:p>
            <a:pPr marL="457200" lvl="0" indent="-3429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fr-FR" sz="1800" b="1"/>
              <a:t>Se former </a:t>
            </a:r>
            <a:r>
              <a:rPr lang="fr-FR" sz="1800"/>
              <a:t>pour sensibiliser et maîtriser les règles et bonnes pratiques.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 sz="1800" b="1"/>
              <a:t>Auditer</a:t>
            </a:r>
            <a:r>
              <a:rPr lang="fr-FR" sz="1800"/>
              <a:t> pour évaluer la conformité du service numérique via les normes ou le référentiel en vigueur.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FR" sz="1800" b="1"/>
              <a:t>Contractualiser</a:t>
            </a:r>
            <a:r>
              <a:rPr lang="fr-FR" sz="1800"/>
              <a:t> pour vous assurer de la prise en compte de l'accessibilité par votre prestataire.</a:t>
            </a:r>
            <a:endParaRPr sz="1800"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/>
          </a:p>
        </p:txBody>
      </p:sp>
      <p:sp>
        <p:nvSpPr>
          <p:cNvPr id="562" name="Google Shape;562;g366e9a4e652_0_188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</a:rPr>
              <a:t>L'accessibilité numérique, comment ?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66e9a4e652_0_200"/>
          <p:cNvSpPr txBox="1">
            <a:spLocks noGrp="1"/>
          </p:cNvSpPr>
          <p:nvPr>
            <p:ph type="sldNum" idx="12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35</a:t>
            </a:fld>
            <a:endParaRPr/>
          </a:p>
        </p:txBody>
      </p:sp>
      <p:sp>
        <p:nvSpPr>
          <p:cNvPr id="569" name="Google Shape;569;g366e9a4e652_0_200"/>
          <p:cNvSpPr txBox="1">
            <a:spLocks noGrp="1"/>
          </p:cNvSpPr>
          <p:nvPr>
            <p:ph type="body" idx="2"/>
          </p:nvPr>
        </p:nvSpPr>
        <p:spPr>
          <a:xfrm>
            <a:off x="360000" y="1428750"/>
            <a:ext cx="8369100" cy="3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fr-FR" sz="1500" b="1"/>
              <a:t>Agir sur le fond </a:t>
            </a:r>
            <a:r>
              <a:rPr lang="fr-FR" sz="1500"/>
              <a:t>- exemples, renseigner une alternative textuelle à une image ou expliciter les sigles et acronymes à la première occurrence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fr-FR" sz="1500" b="1"/>
              <a:t>Agir sur la forme</a:t>
            </a:r>
            <a:r>
              <a:rPr lang="fr-FR" sz="1500"/>
              <a:t> - exemple utiliser des couleurs suffisamment contrastées ou ne pas justifier le texte.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fr-FR" sz="1500" b="1"/>
              <a:t>Permettre l'adaptation de l'affichage</a:t>
            </a:r>
            <a:r>
              <a:rPr lang="fr-FR" sz="1500"/>
              <a:t> - exemple, vérifier qu'il est possible d'agrandir la taille des textes ou personnaliser la police d'écriture et ce, sans perte d'informations ni de fonctionnalités.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fr-FR" sz="1500" b="1"/>
              <a:t>Utiliser un périphérique/outil adapté</a:t>
            </a:r>
            <a:r>
              <a:rPr lang="fr-FR" sz="1500"/>
              <a:t> - exemple, doter l'utilisateur d'un zoom physique</a:t>
            </a:r>
            <a:endParaRPr sz="1500"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sz="1400"/>
          </a:p>
        </p:txBody>
      </p:sp>
      <p:sp>
        <p:nvSpPr>
          <p:cNvPr id="570" name="Google Shape;570;g366e9a4e652_0_200"/>
          <p:cNvSpPr txBox="1">
            <a:spLocks noGrp="1"/>
          </p:cNvSpPr>
          <p:nvPr>
            <p:ph type="title"/>
          </p:nvPr>
        </p:nvSpPr>
        <p:spPr>
          <a:xfrm>
            <a:off x="359999" y="900000"/>
            <a:ext cx="8424000" cy="4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</a:rPr>
              <a:t>Comment - quels sont les leviers d'action ?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UVERNEMENT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6622</Words>
  <Application>Microsoft Macintosh PowerPoint</Application>
  <PresentationFormat>Affichage à l'écran (16:9)</PresentationFormat>
  <Paragraphs>854</Paragraphs>
  <Slides>35</Slides>
  <Notes>35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37" baseType="lpstr">
      <vt:lpstr>Arial</vt:lpstr>
      <vt:lpstr>GOUVERNEMENT</vt:lpstr>
      <vt:lpstr>L’accessibilité numérique - sensibilisation</vt:lpstr>
      <vt:lpstr>L'urgence d'une accessibilité numérique pour tous</vt:lpstr>
      <vt:lpstr>L'accessibilité numérique, c'est quoi ?</vt:lpstr>
      <vt:lpstr>Un droit fondamental pour les personnes en situation de handicap</vt:lpstr>
      <vt:lpstr>L'accessibilité numérique, c'est quoi ? </vt:lpstr>
      <vt:lpstr> L'accessibilité numérique, pour qui ? </vt:lpstr>
      <vt:lpstr>Des usages et des contextes</vt:lpstr>
      <vt:lpstr>L'accessibilité numérique, pour qui ?</vt:lpstr>
      <vt:lpstr>Des utilisateurs avec des besoins différents</vt:lpstr>
      <vt:lpstr>Agir pour Amir, aveugle de naissance</vt:lpstr>
      <vt:lpstr>La navigation au clavier</vt:lpstr>
      <vt:lpstr>Solutions pour malvoyant et aveugle</vt:lpstr>
      <vt:lpstr>CAPTCHA avec et sans audio-description</vt:lpstr>
      <vt:lpstr>CAPTCHAs et documents accessibles </vt:lpstr>
      <vt:lpstr>Rédiger un bon texte alternatif</vt:lpstr>
      <vt:lpstr>Agir pour Anaïs, malvoyante </vt:lpstr>
      <vt:lpstr>Comprendre pour mieux agir  </vt:lpstr>
      <vt:lpstr>Agir pour Justine, sourde </vt:lpstr>
      <vt:lpstr>Solutions pour malentendant et sourd</vt:lpstr>
      <vt:lpstr>Polices et lisibilité - Charte de l’état Marianne et Spectral</vt:lpstr>
      <vt:lpstr>Agir pour Paul, trouble de l’attention et dyslexique  </vt:lpstr>
      <vt:lpstr>Agir pour Léa - utilisatrice avec déficience motrice </vt:lpstr>
      <vt:lpstr>Solutions - handicap moteur et dyslexique</vt:lpstr>
      <vt:lpstr>Charte d'accessibilité de la communication de l'état</vt:lpstr>
      <vt:lpstr>Agir pour Anatole, handicapé mental</vt:lpstr>
      <vt:lpstr>Solutions - handicap mental TSA</vt:lpstr>
      <vt:lpstr>Le Facile à Lire et à Comprendre</vt:lpstr>
      <vt:lpstr>Le langage clair</vt:lpstr>
      <vt:lpstr>En France, une obligation légale depuis 2005 </vt:lpstr>
      <vt:lpstr>Cadre légal européen </vt:lpstr>
      <vt:lpstr>Obligations légales - les 4 principes de l'accessibilité</vt:lpstr>
      <vt:lpstr>Le RGAA - Référentiel Général d'Amélioration de l'Accessibilité </vt:lpstr>
      <vt:lpstr>Les obligations légales de mise en accessibilité</vt:lpstr>
      <vt:lpstr>L'accessibilité numérique, comment ?</vt:lpstr>
      <vt:lpstr>Comment - quels sont les leviers d'action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Jeudi 26 juin - L’accessibilité numérique - Travaux pratique - Deuxième partie.pdfJeudi 26 juin - L’accessibilité numérique - Travaux pratique - Deuxième partie.pdf</dc:title>
  <dc:subject>L’accessibilité numérique - sensibilisation - Première partie</dc:subject>
  <dc:creator>Alexandra Guiderdoni</dc:creator>
  <cp:lastModifiedBy>alex</cp:lastModifiedBy>
  <cp:revision>2</cp:revision>
  <dcterms:created xsi:type="dcterms:W3CDTF">2024-10-17T22:54:25Z</dcterms:created>
  <dcterms:modified xsi:type="dcterms:W3CDTF">2026-04-22T13:47:13Z</dcterms:modified>
</cp:coreProperties>
</file>