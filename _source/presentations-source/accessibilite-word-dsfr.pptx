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4"/>
  </p:normalViewPr>
  <p:slideViewPr>
    <p:cSldViewPr snapToGrid="0" snapToObjects="1">
      <p:cViewPr varScale="1">
        <p:scale>
          <a:sx n="136" d="100"/>
          <a:sy n="136" d="100"/>
        </p:scale>
        <p:origin x="216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53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Accueillir les participants, vérifier que chacun a Word ouvert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Préciser que la formation est 100 % pratique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Afficher les 2 colonnes, demander : « Lequel choisissez-vous ? » (R9)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Laisser 10 secondes puis révéler : visuellement identiques, structure différente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Ce n'est pas une compétence technique, c'est une compétence rédactionnelle (R12 — WIIFM)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Sources : 15 % = OMS, Rapport mondial sur le handicap (2011, confirmé 2023)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  80 % = DREES, enquête Handicap-Santé (handicaps non visibles)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Vous produisez déjà des documents Word — il s'agit d'utiliser les bonnes fonctionnalités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tableau est la référence visuelle, l'oral donne le fil rouge (R5 — double codage)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Chaque pilier se termine par une vérification concrète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voter à main levée pour chaque affirmation (R14)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- 1. FAUX : seuls les styles de titre comptent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- 2. FAUX : fonctionnalité Tableau obligatoire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- 3. FAUX : premier filtre utile mais incomplet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Carte mentale du parcours : « On avance pilier par pilier » (R4)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 pilier Structure représente 60 % de l'effort — c'est là qu'on commence » (R11)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Imaginez lire un livre de 50 pages sans table des matières » (R7 — analogie)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Montrer le volet de navigation en direct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Hiérarchie : Titre 1 &gt; Titre 2 &gt; Titre 3, pas de saut de niveau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Exercice en binôme (2 min) : « Ouvrez un document, Maj+F1, cliquez sur une liste » (R17)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Word auto-corrige souvent les tirets en listes — mais pas toujours, vérifier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Les retours chariot pour sauter une page : le lecteur d'écran lit chaque ligne vide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Ctrl+Entrée = 1 saut propre, invisible pour les TA, robuste au redimensionnement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Distinguer tableau de mise en page (pas d'en-têtes) et tableau de données (en-têtes)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 piège classique : copier-coller un tableau sans vérifier l'habillage » (R6)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Montrer la différence entre « Outils Image » (image de tableau) et « Outils de tableau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Répéter en tant que ligne d'en-tête » : invisible visuellement mais capital pour les TA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voter (R14). Bonne réponse : B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D est nécessaire mais pas suffisant — le format .docx est un prérequis, pas une preuve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Feedback immédiat après le vote (R19)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Si possible, projeter CCA en direct sur un extrait de document (R5 — double codage)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Les designers connaissent ce ratio — votre rôle est de vérifier » (R21)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Démonstration en direct si CCA est installé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Astuce : ajuster le gris par pas de 10 en hexadécimal jusqu'au ratio cible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La plupart du temps, il suffit de foncer légèrement le gris » (R21 — scaffolding)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Fait surprenant : 8 % des hommes daltoniens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Règle simple : « Si vous imprimez en noir et blanc, l'information est-elle compréhensible ?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Source : 8 % = Colour Blind Awareness, étude population masculine européenne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Test mental : « Si je remplace l'image par le texte alt, le document reste compréhensible ?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Exercice : montrer une image, rédiger un alt en 15 secondes, comparer (R17)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Analogie : « C'est comme un figurant au cinéma — il est là pour le décor, pas pour parler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Question au public : « Dans vos documents, combien d'images sont purement décoratives ? » (R13)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En cas de doute : décrire plutôt que marquer comme décoratif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Phrase à retenir : « Objet flottant = objet invisible » (R3 — charge cognitive réduite)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vérificateur d'accessibilité signale les objets non alignés (pilier 5)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Un utilisateur de lecteur d'écran navigue de lien en lien — imaginez entendre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  'cliquez ici, cliquez ici, cliquez ici' sans contexte » (R7 — analogie)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Pour les documents imprimés ET numériques : inclure l'URL entre parenthèses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Surprise : le filigrane que tout le monde voit est invisible pour les TA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Solution simple : une ligne au début du document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répondre individuellement puis corriger en groupe (R14 — récupération active)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Insister sur la distinction significatif/décoratif (questions 1 vs 2)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Feedback immédiat après chaque réponse (R19)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écouter une synthèse vocale lisant un mot anglais avec balisage français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La plupart de vos documents contiennent au moins un anglicisme — feedback, planning...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Court et direct — interdit absolu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C'est le seul critère binaire : un seul objet clignotant = document non accessible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Ces 5 vérifications prennent 2 minutes » (R12 — WIIFM)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titre dans les propriétés est celui que les TA annoncent à l'ouverture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Pensez au correcteur orthographique : il attrape les fautes évidentes,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  mais il ne garantit pas que votre texte est bien écrit » (R7 — analogie)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Montrer le vérificateur en direct si possible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Storytelling : Sophie est le héros, le document inaccessible est le conflit (R6)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En 7 étapes et 10 minutes, Sophie a rendu son document accessible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Demander : « Combien de ces étapes faites-vous déjà ? » (R25 — métacognition)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compter individuellement, puis partager (R14)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Parcourir chaque erreur et rappeler le critère correspondant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Si vous les avez toutes trouvées, vous avez intégré les 5 piliers » (R25)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Si vous ne retenez qu'une chose : les styles de titre. Quick win numéro 1 » (R2)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La matrice sert de feuille de route pour les semaines suivantes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Distribuer la checklist imprimée ou la partager en version numérique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Imprimez-la, collez-la à côté de votre écran » (R26 — transformation)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Demander à chaque participant de choisir SON premier réflexe (R24 — plan d'action)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3 réflexes, 30 secondes chacun, 90 % des problèmes couverts » (R15)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Clôturer avec énergie (R22 — neurones miroirs)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lang="fr-FR" sz="4000" b="1" cap="all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lang="fr-FR" sz="2800"/>
            </a:lvl1pPr>
            <a:lvl2pPr>
              <a:defRPr lang="fr-FR" sz="2400"/>
            </a:lvl2pPr>
            <a:lvl3pPr>
              <a:defRPr lang="fr-FR" sz="2000"/>
            </a:lvl3pPr>
            <a:lvl4pPr>
              <a:defRPr lang="fr-FR" sz="1800"/>
            </a:lvl4pPr>
            <a:lvl5pPr>
              <a:defRPr lang="fr-FR" sz="1800"/>
            </a:lvl5pPr>
            <a:lvl6pPr>
              <a:defRPr lang="fr-FR" sz="1800"/>
            </a:lvl6pPr>
            <a:lvl7pPr>
              <a:defRPr lang="fr-FR" sz="1800"/>
            </a:lvl7pPr>
            <a:lvl8pPr>
              <a:defRPr lang="fr-FR" sz="1800"/>
            </a:lvl8pPr>
            <a:lvl9pPr>
              <a:defRPr lang="fr-FR"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lang="fr-FR" sz="2800"/>
            </a:lvl1pPr>
            <a:lvl2pPr>
              <a:defRPr lang="fr-FR" sz="2400"/>
            </a:lvl2pPr>
            <a:lvl3pPr>
              <a:defRPr lang="fr-FR" sz="2000"/>
            </a:lvl3pPr>
            <a:lvl4pPr>
              <a:defRPr lang="fr-FR" sz="1800"/>
            </a:lvl4pPr>
            <a:lvl5pPr>
              <a:defRPr lang="fr-FR" sz="1800"/>
            </a:lvl5pPr>
            <a:lvl6pPr>
              <a:defRPr lang="fr-FR" sz="1800"/>
            </a:lvl6pPr>
            <a:lvl7pPr>
              <a:defRPr lang="fr-FR" sz="1800"/>
            </a:lvl7pPr>
            <a:lvl8pPr>
              <a:defRPr lang="fr-FR" sz="1800"/>
            </a:lvl8pPr>
            <a:lvl9pPr>
              <a:defRPr lang="fr-FR"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lang="fr-FR" sz="2400" b="1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lang="fr-FR" sz="2400"/>
            </a:lvl1pPr>
            <a:lvl2pPr>
              <a:defRPr lang="fr-FR" sz="2000"/>
            </a:lvl2pPr>
            <a:lvl3pPr>
              <a:defRPr lang="fr-FR" sz="1800"/>
            </a:lvl3pPr>
            <a:lvl4pPr>
              <a:defRPr lang="fr-FR" sz="1600"/>
            </a:lvl4pPr>
            <a:lvl5pPr>
              <a:defRPr lang="fr-FR" sz="1600"/>
            </a:lvl5pPr>
            <a:lvl6pPr>
              <a:defRPr lang="fr-FR" sz="1600"/>
            </a:lvl6pPr>
            <a:lvl7pPr>
              <a:defRPr lang="fr-FR" sz="1600"/>
            </a:lvl7pPr>
            <a:lvl8pPr>
              <a:defRPr lang="fr-FR" sz="1600"/>
            </a:lvl8pPr>
            <a:lvl9pPr>
              <a:defRPr lang="fr-FR"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lang="fr-FR" sz="2400" b="1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lang="fr-FR" sz="2400"/>
            </a:lvl1pPr>
            <a:lvl2pPr>
              <a:defRPr lang="fr-FR" sz="2000"/>
            </a:lvl2pPr>
            <a:lvl3pPr>
              <a:defRPr lang="fr-FR" sz="1800"/>
            </a:lvl3pPr>
            <a:lvl4pPr>
              <a:defRPr lang="fr-FR" sz="1600"/>
            </a:lvl4pPr>
            <a:lvl5pPr>
              <a:defRPr lang="fr-FR" sz="1600"/>
            </a:lvl5pPr>
            <a:lvl6pPr>
              <a:defRPr lang="fr-FR" sz="1600"/>
            </a:lvl6pPr>
            <a:lvl7pPr>
              <a:defRPr lang="fr-FR" sz="1600"/>
            </a:lvl7pPr>
            <a:lvl8pPr>
              <a:defRPr lang="fr-FR" sz="1600"/>
            </a:lvl8pPr>
            <a:lvl9pPr>
              <a:defRPr lang="fr-FR"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 algn="l">
              <a:defRPr lang="fr-FR" sz="2800" b="1">
                <a:solidFill>
                  <a:srgbClr val="000091"/>
                </a:solidFill>
                <a:latin typeface="Marianne"/>
              </a:defRPr>
            </a:pPr>
            <a:r>
              <a:rPr lang="fr-FR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lang="fr-FR" sz="2000" b="1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lang="fr-FR" sz="1400"/>
            </a:lvl1pPr>
            <a:lvl2pPr marL="457200" indent="0">
              <a:buNone/>
              <a:defRPr lang="fr-FR" sz="1200"/>
            </a:lvl2pPr>
            <a:lvl3pPr marL="914400" indent="0">
              <a:buNone/>
              <a:defRPr lang="fr-FR" sz="1000"/>
            </a:lvl3pPr>
            <a:lvl4pPr marL="1371600" indent="0">
              <a:buNone/>
              <a:defRPr lang="fr-FR" sz="900"/>
            </a:lvl4pPr>
            <a:lvl5pPr marL="1828800" indent="0">
              <a:buNone/>
              <a:defRPr lang="fr-FR" sz="900"/>
            </a:lvl5pPr>
            <a:lvl6pPr marL="2286000" indent="0">
              <a:buNone/>
              <a:defRPr lang="fr-FR" sz="900"/>
            </a:lvl6pPr>
            <a:lvl7pPr marL="2743200" indent="0">
              <a:buNone/>
              <a:defRPr lang="fr-FR" sz="900"/>
            </a:lvl7pPr>
            <a:lvl8pPr marL="3200400" indent="0">
              <a:buNone/>
              <a:defRPr lang="fr-FR" sz="900"/>
            </a:lvl8pPr>
            <a:lvl9pPr marL="3657600" indent="0">
              <a:buNone/>
              <a:defRPr lang="fr-FR"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lang="fr-FR" sz="2000" b="1"/>
            </a:lvl1pPr>
          </a:lstStyle>
          <a:p>
            <a:r>
              <a:rPr lang="fr-FR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lang="fr-FR" sz="32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lang="fr-FR" sz="1400"/>
            </a:lvl1pPr>
            <a:lvl2pPr marL="457200" indent="0">
              <a:buNone/>
              <a:defRPr lang="fr-FR" sz="1200"/>
            </a:lvl2pPr>
            <a:lvl3pPr marL="914400" indent="0">
              <a:buNone/>
              <a:defRPr lang="fr-FR" sz="1000"/>
            </a:lvl3pPr>
            <a:lvl4pPr marL="1371600" indent="0">
              <a:buNone/>
              <a:defRPr lang="fr-FR" sz="900"/>
            </a:lvl4pPr>
            <a:lvl5pPr marL="1828800" indent="0">
              <a:buNone/>
              <a:defRPr lang="fr-FR" sz="900"/>
            </a:lvl5pPr>
            <a:lvl6pPr marL="2286000" indent="0">
              <a:buNone/>
              <a:defRPr lang="fr-FR" sz="900"/>
            </a:lvl6pPr>
            <a:lvl7pPr marL="2743200" indent="0">
              <a:buNone/>
              <a:defRPr lang="fr-FR" sz="900"/>
            </a:lvl7pPr>
            <a:lvl8pPr marL="3200400" indent="0">
              <a:buNone/>
              <a:defRPr lang="fr-FR" sz="900"/>
            </a:lvl8pPr>
            <a:lvl9pPr marL="3657600" indent="0">
              <a:buNone/>
              <a:defRPr lang="fr-FR"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lang="fr-F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fr-FR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Rendre un document Word accessible</a:t>
            </a:r>
          </a:p>
        </p:txBody>
      </p:sp>
      <p:sp>
        <p:nvSpPr>
          <p:cNvPr id="5" name="Highlight"/>
          <p:cNvSpPr txBox="1"/>
          <p:nvPr/>
        </p:nvSpPr>
        <p:spPr>
          <a:xfrm>
            <a:off x="841248" y="1719072"/>
            <a:ext cx="1065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Guide méthodologique pas-à-pas - 22 critères en 5 piliers</a:t>
            </a:r>
          </a:p>
        </p:txBody>
      </p:sp>
      <p:sp>
        <p:nvSpPr>
          <p:cNvPr id="7" name="Callout"/>
          <p:cNvSpPr/>
          <p:nvPr/>
        </p:nvSpPr>
        <p:spPr>
          <a:xfrm>
            <a:off x="685800" y="2926080"/>
            <a:ext cx="5262372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Public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Agents publics, services communication, secrétariats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Aucun prérequis technique - juste Word</a:t>
            </a:r>
          </a:p>
        </p:txBody>
      </p:sp>
      <p:sp>
        <p:nvSpPr>
          <p:cNvPr id="9" name="Callout"/>
          <p:cNvSpPr/>
          <p:nvPr/>
        </p:nvSpPr>
        <p:spPr>
          <a:xfrm>
            <a:off x="6323076" y="2926080"/>
            <a:ext cx="5262372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Format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Alternance théorie / pratique / quiz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1/30</a:t>
            </a:r>
          </a:p>
        </p:txBody>
      </p:sp>
      <p:sp>
        <p:nvSpPr>
          <p:cNvPr id="4" name="Highlight accent décoratif"/>
          <p:cNvSpPr/>
          <p:nvPr/>
        </p:nvSpPr>
        <p:spPr>
          <a:xfrm>
            <a:off x="612648" y="164592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12648" y="292608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249924" y="292608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rPr dirty="0"/>
              <a:t>Ce document est-il accessible ?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2860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Document A - Non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Titres en gras manuellement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Image sans texte alternatif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Tableau avec cellules fusionnées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Nom : "Document1.docx"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2860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Document B - Oui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Titres avec styles Titre 1, Titre 2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Image avec description fonctionnelle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Tableau simple avec en-tête identifié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Nom : "rapport-accessibilite-2024.docx"</a:t>
            </a:r>
          </a:p>
        </p:txBody>
      </p:sp>
      <p:sp>
        <p:nvSpPr>
          <p:cNvPr id="9" name="Highlight"/>
          <p:cNvSpPr txBox="1"/>
          <p:nvPr/>
        </p:nvSpPr>
        <p:spPr>
          <a:xfrm>
            <a:off x="841248" y="3913632"/>
            <a:ext cx="1065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Visuellement identiques - mais seul le document B est lisible par un lecteur d'écran.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2860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22860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Highlight accent décoratif"/>
          <p:cNvSpPr/>
          <p:nvPr/>
        </p:nvSpPr>
        <p:spPr>
          <a:xfrm>
            <a:off x="612648" y="38404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Pourquoi ça vous concerne</a:t>
            </a:r>
          </a:p>
        </p:txBody>
      </p:sp>
      <p:sp>
        <p:nvSpPr>
          <p:cNvPr id="4" name="KPI valeur"/>
          <p:cNvSpPr/>
          <p:nvPr/>
        </p:nvSpPr>
        <p:spPr>
          <a:xfrm>
            <a:off x="612648" y="1280160"/>
            <a:ext cx="3456432" cy="877824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lang="fr-FR" sz="3200" b="1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15 %</a:t>
            </a:r>
          </a:p>
        </p:txBody>
      </p:sp>
      <p:sp>
        <p:nvSpPr>
          <p:cNvPr id="6" name="KPI valeur"/>
          <p:cNvSpPr/>
          <p:nvPr/>
        </p:nvSpPr>
        <p:spPr>
          <a:xfrm>
            <a:off x="4370831" y="1280160"/>
            <a:ext cx="3456432" cy="877824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lang="fr-FR" sz="3200" b="1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80 %</a:t>
            </a:r>
          </a:p>
        </p:txBody>
      </p:sp>
      <p:sp>
        <p:nvSpPr>
          <p:cNvPr id="8" name="KPI valeur"/>
          <p:cNvSpPr/>
          <p:nvPr/>
        </p:nvSpPr>
        <p:spPr>
          <a:xfrm>
            <a:off x="8129015" y="1280160"/>
            <a:ext cx="3456432" cy="877824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lang="fr-FR" sz="3200" b="1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0</a:t>
            </a:r>
          </a:p>
        </p:txBody>
      </p:sp>
      <p:sp>
        <p:nvSpPr>
          <p:cNvPr id="5" name="KPI label"/>
          <p:cNvSpPr/>
          <p:nvPr/>
        </p:nvSpPr>
        <p:spPr>
          <a:xfrm>
            <a:off x="612648" y="2212848"/>
            <a:ext cx="3456432" cy="585216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 la population</a:t>
            </a:r>
            <a:br/>
            <a:r>
              <a:rPr lang="fr-FR">
                <a:solidFill/>
                <a:latin typeface="Marianne"/>
              </a:rPr>
              <a:t>en situation de handicap</a:t>
            </a:r>
          </a:p>
        </p:txBody>
      </p:sp>
      <p:sp>
        <p:nvSpPr>
          <p:cNvPr id="7" name="KPI label"/>
          <p:cNvSpPr/>
          <p:nvPr/>
        </p:nvSpPr>
        <p:spPr>
          <a:xfrm>
            <a:off x="4370831" y="2212848"/>
            <a:ext cx="3456432" cy="585216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des handicaps</a:t>
            </a:r>
            <a:br/>
            <a:r>
              <a:rPr lang="fr-FR">
                <a:solidFill/>
                <a:latin typeface="Marianne"/>
              </a:rPr>
              <a:t>sont invisibles</a:t>
            </a:r>
          </a:p>
        </p:txBody>
      </p:sp>
      <p:sp>
        <p:nvSpPr>
          <p:cNvPr id="9" name="KPI label"/>
          <p:cNvSpPr/>
          <p:nvPr/>
        </p:nvSpPr>
        <p:spPr>
          <a:xfrm>
            <a:off x="8129015" y="2212848"/>
            <a:ext cx="3456432" cy="585216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ligne de code</a:t>
            </a:r>
            <a:br/>
            <a:r>
              <a:rPr lang="fr-FR">
                <a:solidFill/>
                <a:latin typeface="Marianne"/>
              </a:rPr>
              <a:t>nécessaire</a:t>
            </a:r>
          </a:p>
        </p:txBody>
      </p:sp>
      <p:sp>
        <p:nvSpPr>
          <p:cNvPr id="11" name="Highlight"/>
          <p:cNvSpPr txBox="1"/>
          <p:nvPr/>
        </p:nvSpPr>
        <p:spPr>
          <a:xfrm>
            <a:off x="841248" y="3182112"/>
            <a:ext cx="10652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L'accessibilité dans Word est 100 % éditoriale : pas de code, juste les bons réflexes dans le ruban.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3/30</a:t>
            </a:r>
          </a:p>
        </p:txBody>
      </p:sp>
      <p:sp>
        <p:nvSpPr>
          <p:cNvPr id="10" name="Highlight accent décoratif"/>
          <p:cNvSpPr/>
          <p:nvPr/>
        </p:nvSpPr>
        <p:spPr>
          <a:xfrm>
            <a:off x="612648" y="310896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rPr dirty="0"/>
              <a:t>Ce que </a:t>
            </a:r>
            <a:r>
              <a:rPr lang="fr-FR" dirty="0"/>
              <a:t>l’on va couvrir</a:t>
            </a:r>
            <a:endParaRPr dirty="0"/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Pilier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Sujets couverts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Gestes Word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Titres, listes, colonnes, sauts de page, tableaux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Styles, volet de navigation, Insertion &gt; Tableau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Couleurs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Contraste, couleur porteuse de sens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Colour Contrast Analyser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alt, liens, zones de texte, infos essentielles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de remplacement, Ctrl+K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Langue et médias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Balisage langue, transcriptions, clignotement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Révision &gt; Langue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Propriétés, nom, formulaires, vérificateur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 dirty="0">
                          <a:latin typeface="Marianne"/>
                        </a:rPr>
                        <a:t>Fichier &gt; Informations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3639312"/>
            <a:ext cx="10899648" cy="9144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Hors périmètre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Documents avec macros (.docm, .dotm), documents protégés, formulaires Word interactifs.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4/30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3639312"/>
            <a:ext cx="73152" cy="91440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vrai ou faux ?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3456432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Un texte en gras taille 16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est un titre pour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le lecteur d'écran.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4370831" y="1892807"/>
            <a:ext cx="3456432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Un tableau créé avec des tabulations est lisible par les technologies d’assistance.</a:t>
            </a:r>
          </a:p>
        </p:txBody>
      </p:sp>
      <p:sp>
        <p:nvSpPr>
          <p:cNvPr id="11" name="Étape 3"/>
          <p:cNvSpPr txBox="1"/>
          <p:nvPr/>
        </p:nvSpPr>
        <p:spPr>
          <a:xfrm>
            <a:off x="8129015" y="1892807"/>
            <a:ext cx="3456432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Le vérificateur d'accessibilité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de Word détecte tous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les problèmes.</a:t>
            </a:r>
          </a:p>
        </p:txBody>
      </p:sp>
      <p:sp>
        <p:nvSpPr>
          <p:cNvPr id="13" name="Highlight"/>
          <p:cNvSpPr txBox="1"/>
          <p:nvPr/>
        </p:nvSpPr>
        <p:spPr>
          <a:xfrm>
            <a:off x="841248" y="446227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Réponse : les trois sont FAUX. Si vous avez eu au moins un faux, cette formation va vous aider.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5/30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2089404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584758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9605772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2638044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6396227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2" name="Highlight accent décoratif"/>
          <p:cNvSpPr/>
          <p:nvPr/>
        </p:nvSpPr>
        <p:spPr>
          <a:xfrm>
            <a:off x="612648" y="438912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rPr dirty="0"/>
              <a:t>5 piliers, 22 critères</a:t>
            </a:r>
          </a:p>
        </p:txBody>
      </p:sp>
      <p:sp>
        <p:nvSpPr>
          <p:cNvPr id="5" name="Carte"/>
          <p:cNvSpPr/>
          <p:nvPr/>
        </p:nvSpPr>
        <p:spPr>
          <a:xfrm>
            <a:off x="667512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Structure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Titres, 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Listes, 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Colonnes,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Tableaux, 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Sauts de page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6 critères</a:t>
            </a:r>
          </a:p>
        </p:txBody>
      </p:sp>
      <p:sp>
        <p:nvSpPr>
          <p:cNvPr id="7" name="Carte"/>
          <p:cNvSpPr/>
          <p:nvPr/>
        </p:nvSpPr>
        <p:spPr>
          <a:xfrm>
            <a:off x="2922422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Couleurs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Contraste 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Signification visuelle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2 critères</a:t>
            </a:r>
          </a:p>
        </p:txBody>
      </p:sp>
      <p:sp>
        <p:nvSpPr>
          <p:cNvPr id="9" name="Carte"/>
          <p:cNvSpPr/>
          <p:nvPr/>
        </p:nvSpPr>
        <p:spPr>
          <a:xfrm>
            <a:off x="5177332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Contenus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Images, 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Liens,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Zones de texte,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Infos essentielles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5 critères</a:t>
            </a:r>
          </a:p>
        </p:txBody>
      </p:sp>
      <p:sp>
        <p:nvSpPr>
          <p:cNvPr id="11" name="Carte"/>
          <p:cNvSpPr/>
          <p:nvPr/>
        </p:nvSpPr>
        <p:spPr>
          <a:xfrm>
            <a:off x="7432243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Langue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et médias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Balisage linguistique,</a:t>
            </a:r>
          </a:p>
          <a:p>
            <a:pPr marL="285750" indent="-285750"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Transcriptions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4 critères</a:t>
            </a:r>
          </a:p>
        </p:txBody>
      </p:sp>
      <p:sp>
        <p:nvSpPr>
          <p:cNvPr id="13" name="Carte"/>
          <p:cNvSpPr/>
          <p:nvPr/>
        </p:nvSpPr>
        <p:spPr>
          <a:xfrm>
            <a:off x="9687153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Finalisation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Propriétés, nom,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formulaires,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vérificateur</a:t>
            </a:r>
            <a:br>
              <a:rPr dirty="0"/>
            </a:br>
            <a:r>
              <a:rPr lang="fr-FR" dirty="0">
                <a:solidFill/>
                <a:latin typeface="Marianne"/>
              </a:rPr>
              <a:t>5 critères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6/30</a:t>
            </a:r>
          </a:p>
        </p:txBody>
      </p:sp>
      <p:sp>
        <p:nvSpPr>
          <p:cNvPr id="4" name="Accent carte décoratif"/>
          <p:cNvSpPr/>
          <p:nvPr/>
        </p:nvSpPr>
        <p:spPr>
          <a:xfrm>
            <a:off x="612648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carte décoratif"/>
          <p:cNvSpPr/>
          <p:nvPr/>
        </p:nvSpPr>
        <p:spPr>
          <a:xfrm>
            <a:off x="2867558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carte décoratif"/>
          <p:cNvSpPr/>
          <p:nvPr/>
        </p:nvSpPr>
        <p:spPr>
          <a:xfrm>
            <a:off x="5122468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0" name="Accent carte décoratif"/>
          <p:cNvSpPr/>
          <p:nvPr/>
        </p:nvSpPr>
        <p:spPr>
          <a:xfrm>
            <a:off x="7377379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2" name="Accent carte décoratif"/>
          <p:cNvSpPr/>
          <p:nvPr/>
        </p:nvSpPr>
        <p:spPr>
          <a:xfrm>
            <a:off x="9632289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rPr dirty="0"/>
              <a:t>Pilier 1 </a:t>
            </a:r>
            <a:r>
              <a:rPr lang="fr-FR" dirty="0"/>
              <a:t>-</a:t>
            </a:r>
            <a:r>
              <a:rPr dirty="0"/>
              <a:t> Les styles de titre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16459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Ce que le lecteur d'écran voit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Texte, texte, texte, texte ...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Un bloc plat sans repère de navigation.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16459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Avec les styles de titre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Titre 1 : Rapport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Titre 2 : Budget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Titre 3 : Prévisions ...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Navigation par titres en quelques secondes.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3200400"/>
            <a:ext cx="10899648" cy="18288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Chemin menu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Accueil &gt; Styles &gt; Titre 1, Titre 2, Titre 3...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Raccourci : </a:t>
            </a:r>
            <a:r>
              <a:rPr lang="fr-FR" dirty="0" err="1">
                <a:solidFill/>
                <a:latin typeface="Marianne"/>
              </a:rPr>
              <a:t>Ctrl+Alt+Maj+S</a:t>
            </a:r>
            <a:r>
              <a:rPr lang="fr-FR" dirty="0">
                <a:solidFill/>
                <a:latin typeface="Marianne"/>
              </a:rPr>
              <a:t> pour ouvrir le volet Styles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Vérification : </a:t>
            </a:r>
            <a:r>
              <a:rPr lang="fr-FR" dirty="0" err="1">
                <a:solidFill/>
                <a:latin typeface="Marianne"/>
              </a:rPr>
              <a:t>Ctrl+F</a:t>
            </a:r>
            <a:r>
              <a:rPr lang="fr-FR" dirty="0">
                <a:solidFill/>
                <a:latin typeface="Marianne"/>
              </a:rPr>
              <a:t> &gt; onglet Titres (volet de navigation)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7/30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6459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16459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12648" y="320040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Listes : puces et numérotation natives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5603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 : tirets et chiffres manuels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- Premier élément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- Deuxième élément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- Troisième élément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endParaRPr lang="fr-FR">
              <a:solidFill/>
              <a:latin typeface="Marianne"/>
            </a:endParaRP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lit « tiret Premier élément » — pas une liste.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5603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 : fonctionnalité de liste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Premier élément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Deuxième élément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Troisième élément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endParaRPr lang="fr-FR">
              <a:solidFill/>
              <a:latin typeface="Marianne"/>
            </a:endParaRP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annonce « liste de 3 éléments, élément 1 sur 3 ».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411480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Chemin menu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Accueil &gt; Paragraphe &gt; Puces, Numérotation ou Liste à plusieurs niveaux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Vérification : Maj+F1 (Révéler la mise en forme) &gt; « Puces et numérotation » doit apparaître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8/30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5603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25603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12648" y="411480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Colonnes et sauts de page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Besoin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Fonctionnalité intégrée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Piège courant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Colonnes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Mise en page &gt; Colonnes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Tabulations ou espaces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Saut de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Insertion &gt; Saut de page (Ctrl+Entrée)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Retours chariot (Entrée x15)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685800" y="2596896"/>
            <a:ext cx="10899648" cy="16459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Vérification des colonnes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Curseur sur le texte en colonnes &gt; Maj+F1 (Révéler la mise en forme)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 mention « Colonnes » doit apparaître sous « Section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absente : les colonnes sont simulées avec des tabulations (inaccessible)</a:t>
            </a:r>
          </a:p>
        </p:txBody>
      </p:sp>
      <p:sp>
        <p:nvSpPr>
          <p:cNvPr id="8" name="Alerte"/>
          <p:cNvSpPr/>
          <p:nvPr/>
        </p:nvSpPr>
        <p:spPr>
          <a:xfrm>
            <a:off x="685800" y="4517136"/>
            <a:ext cx="10899648" cy="11887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Règle d'or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vous touchez à Tab, Espace ou Entrée pour simuler une mise en page,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vous créez une barrière invisible pour les technologies d'assistance.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9/30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2596896"/>
            <a:ext cx="73152" cy="16459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7" name="Accent décoratif"/>
          <p:cNvSpPr/>
          <p:nvPr/>
        </p:nvSpPr>
        <p:spPr>
          <a:xfrm>
            <a:off x="612648" y="4517136"/>
            <a:ext cx="73152" cy="118872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Tableaux de mise en page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Insertion &gt; Tableau &gt;</a:t>
            </a:r>
            <a:br/>
            <a:r>
              <a:rPr lang="fr-FR">
                <a:solidFill/>
                <a:latin typeface="Marianne"/>
              </a:rPr>
              <a:t>nombre de colonnes</a:t>
            </a:r>
            <a:br/>
            <a:r>
              <a:rPr lang="fr-FR">
                <a:solidFill/>
                <a:latin typeface="Marianne"/>
              </a:rPr>
              <a:t>et lignes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3431286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Remplir le contenu</a:t>
            </a:r>
            <a:br/>
            <a:r>
              <a:rPr lang="fr-FR">
                <a:solidFill/>
                <a:latin typeface="Marianne"/>
              </a:rPr>
              <a:t>(gauche à droite,</a:t>
            </a:r>
            <a:br/>
            <a:r>
              <a:rPr lang="fr-FR">
                <a:solidFill/>
                <a:latin typeface="Marianne"/>
              </a:rPr>
              <a:t>haut en bas)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6249924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Vérifier l'ordre :</a:t>
            </a:r>
            <a:br/>
            <a:r>
              <a:rPr lang="fr-FR">
                <a:solidFill/>
                <a:latin typeface="Marianne"/>
              </a:rPr>
              <a:t>Tab dans la 1re cellule,</a:t>
            </a:r>
            <a:br/>
            <a:r>
              <a:rPr lang="fr-FR">
                <a:solidFill/>
                <a:latin typeface="Marianne"/>
              </a:rPr>
              <a:t>parcourir avec Tab</a:t>
            </a:r>
          </a:p>
        </p:txBody>
      </p:sp>
      <p:sp>
        <p:nvSpPr>
          <p:cNvPr id="14" name="Étape 4"/>
          <p:cNvSpPr txBox="1"/>
          <p:nvPr/>
        </p:nvSpPr>
        <p:spPr>
          <a:xfrm>
            <a:off x="9068562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Vérifier l'alignement :</a:t>
            </a:r>
            <a:br/>
            <a:r>
              <a:rPr lang="fr-FR">
                <a:solidFill/>
                <a:latin typeface="Marianne"/>
              </a:rPr>
              <a:t>clic droit &gt; Propriétés &gt;</a:t>
            </a:r>
            <a:br/>
            <a:r>
              <a:rPr lang="fr-FR">
                <a:solidFill/>
                <a:latin typeface="Marianne"/>
              </a:rPr>
              <a:t>Habillage = Aucun</a:t>
            </a:r>
          </a:p>
        </p:txBody>
      </p:sp>
      <p:sp>
        <p:nvSpPr>
          <p:cNvPr id="16" name="Alerte"/>
          <p:cNvSpPr/>
          <p:nvPr/>
        </p:nvSpPr>
        <p:spPr>
          <a:xfrm>
            <a:off x="685800" y="4206240"/>
            <a:ext cx="10899648" cy="118872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Pourquoi « Aucun » ?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tableau avec habillage « Autour » flotte sur la page —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ne le lit pas au bon moment par rapport au reste du contenu.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10/30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1619631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4438269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7256906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/>
          <p:cNvSpPr/>
          <p:nvPr/>
        </p:nvSpPr>
        <p:spPr>
          <a:xfrm>
            <a:off x="10075545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2168271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4986909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1" name="Trait décoratif"/>
          <p:cNvSpPr/>
          <p:nvPr/>
        </p:nvSpPr>
        <p:spPr>
          <a:xfrm>
            <a:off x="7805547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5" name="Accent décoratif"/>
          <p:cNvSpPr/>
          <p:nvPr/>
        </p:nvSpPr>
        <p:spPr>
          <a:xfrm>
            <a:off x="612648" y="4206240"/>
            <a:ext cx="73152" cy="118872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Tableaux de données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Exigence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Comment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Créer avec l'outil intégré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Insertion &gt; Tableau (jamais d'image)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Pas de cellules fusionnées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Tableau simple uniquement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Identifier la ligne d'en-tête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Clic droit &gt; Propriétés &gt; Ligne &gt; Répéter en tant que ligne d'en-tête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Aligner avec le texte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 &gt; Tableau &gt; Habillage = Aucun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3291839"/>
            <a:ext cx="10899648" cy="146304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Limitation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Les tableaux complexes (multi-niveaux d'en-têtes, cellules fusionnées)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ne peuvent pas être rendus accessibles dans Word.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Solution : convertir en PDF accessible.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11/30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3291839"/>
            <a:ext cx="73152" cy="146304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vérifier la structure en 30 secondes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27432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Votre collègue vous envoie un document Word. Comment vérifiez-vous la structure ?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A. Vous regardez si les titres sont en gras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B. Vous ouvrez le volet de navigation (Ctrl+F) et vérifiez que les titres y apparaissent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C. Vous lancez le correcteur orthographique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D. Vous vérifiez que le fichier est en .docx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4370832"/>
            <a:ext cx="10652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Réponse : B - le volet de navigation est le test ultime de la structure.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12/30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Highlight accent décoratif"/>
          <p:cNvSpPr/>
          <p:nvPr/>
        </p:nvSpPr>
        <p:spPr>
          <a:xfrm>
            <a:off x="612648" y="42976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2 — Contraste des couleurs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Type de texte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Ratio minimum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Standard (&lt; 14 pt gras)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4,5:1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Grande taille (&gt;= 14 pt gras ou &gt;= 18 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3:1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685800" y="2596896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Outil : </a:t>
            </a:r>
            <a:r>
              <a:rPr lang="fr-FR" dirty="0" err="1">
                <a:solidFill/>
                <a:latin typeface="Marianne"/>
              </a:rPr>
              <a:t>Colour</a:t>
            </a:r>
            <a:r>
              <a:rPr lang="fr-FR" dirty="0">
                <a:solidFill/>
                <a:latin typeface="Marianne"/>
              </a:rPr>
              <a:t> </a:t>
            </a:r>
            <a:r>
              <a:rPr lang="fr-FR" dirty="0" err="1">
                <a:solidFill/>
                <a:latin typeface="Marianne"/>
              </a:rPr>
              <a:t>Contrast</a:t>
            </a:r>
            <a:r>
              <a:rPr lang="fr-FR" dirty="0">
                <a:solidFill/>
                <a:latin typeface="Marianne"/>
              </a:rPr>
              <a:t> Analyser (CCA) de </a:t>
            </a:r>
            <a:r>
              <a:rPr lang="fr-FR" dirty="0" err="1">
                <a:solidFill/>
                <a:latin typeface="Marianne"/>
              </a:rPr>
              <a:t>TPGi</a:t>
            </a:r>
            <a:endParaRPr lang="fr-FR" dirty="0">
              <a:solidFill/>
              <a:latin typeface="Marianne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Pipette premier plan (texte) + pipette arrière-plan (fond) = ratio instantané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Téléchargement gratuit, fonctionne sous Windows et </a:t>
            </a:r>
            <a:r>
              <a:rPr lang="fr-FR" dirty="0" err="1">
                <a:solidFill/>
                <a:latin typeface="Marianne"/>
              </a:rPr>
              <a:t>macOS</a:t>
            </a:r>
            <a:endParaRPr lang="fr-FR" dirty="0">
              <a:solidFill/>
              <a:latin typeface="Marianne"/>
            </a:endParaRPr>
          </a:p>
        </p:txBody>
      </p:sp>
      <p:sp>
        <p:nvSpPr>
          <p:cNvPr id="8" name="Highlight"/>
          <p:cNvSpPr txBox="1"/>
          <p:nvPr/>
        </p:nvSpPr>
        <p:spPr>
          <a:xfrm>
            <a:off x="841248" y="4315968"/>
            <a:ext cx="10652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Texte noir sur fond blanc = toujours conforme. </a:t>
            </a:r>
          </a:p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Le test ne s'applique qu'aux textes colorés.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13/30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2596896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7" name="Highlight accent décoratif"/>
          <p:cNvSpPr/>
          <p:nvPr/>
        </p:nvSpPr>
        <p:spPr>
          <a:xfrm>
            <a:off x="612648" y="4242816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Mesurer le contraste : méthode pas-à-pas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Ouvrir le Colour</a:t>
            </a:r>
            <a:br/>
            <a:r>
              <a:rPr lang="fr-FR">
                <a:solidFill/>
                <a:latin typeface="Marianne"/>
              </a:rPr>
              <a:t>Contrast Analyser</a:t>
            </a:r>
            <a:br/>
            <a:r>
              <a:rPr lang="fr-FR">
                <a:solidFill/>
                <a:latin typeface="Marianne"/>
              </a:rPr>
              <a:t>(CCA)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3431286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Pipette « Premier plan »</a:t>
            </a:r>
            <a:br/>
            <a:r>
              <a:rPr lang="fr-FR">
                <a:solidFill/>
                <a:latin typeface="Marianne"/>
              </a:rPr>
              <a:t>sur la couleur</a:t>
            </a:r>
            <a:br/>
            <a:r>
              <a:rPr lang="fr-FR">
                <a:solidFill/>
                <a:latin typeface="Marianne"/>
              </a:rPr>
              <a:t>du texte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6249924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Pipette « Arrière-plan »</a:t>
            </a:r>
            <a:br/>
            <a:r>
              <a:rPr lang="fr-FR">
                <a:solidFill/>
                <a:latin typeface="Marianne"/>
              </a:rPr>
              <a:t>sur la couleur</a:t>
            </a:r>
            <a:br/>
            <a:r>
              <a:rPr lang="fr-FR">
                <a:solidFill/>
                <a:latin typeface="Marianne"/>
              </a:rPr>
              <a:t>du fond</a:t>
            </a:r>
          </a:p>
        </p:txBody>
      </p:sp>
      <p:sp>
        <p:nvSpPr>
          <p:cNvPr id="14" name="Étape 4"/>
          <p:cNvSpPr txBox="1"/>
          <p:nvPr/>
        </p:nvSpPr>
        <p:spPr>
          <a:xfrm>
            <a:off x="9068562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Lire le ratio :</a:t>
            </a:r>
            <a:br/>
            <a:r>
              <a:rPr lang="fr-FR">
                <a:solidFill/>
                <a:latin typeface="Marianne"/>
              </a:rPr>
              <a:t>&gt;= 4,5:1 standard</a:t>
            </a:r>
            <a:br/>
            <a:r>
              <a:rPr lang="fr-FR">
                <a:solidFill/>
                <a:latin typeface="Marianne"/>
              </a:rPr>
              <a:t>&gt;= 3:1 grande taille</a:t>
            </a:r>
          </a:p>
        </p:txBody>
      </p:sp>
      <p:sp>
        <p:nvSpPr>
          <p:cNvPr id="16" name="Alerte"/>
          <p:cNvSpPr/>
          <p:nvPr/>
        </p:nvSpPr>
        <p:spPr>
          <a:xfrm>
            <a:off x="685800" y="4206240"/>
            <a:ext cx="5262372" cy="11887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Avant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gris clair (#999) sur fond blanc (#FFF)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Ratio : 2,85:1 — ÉCHEC</a:t>
            </a:r>
          </a:p>
        </p:txBody>
      </p:sp>
      <p:sp>
        <p:nvSpPr>
          <p:cNvPr id="18" name="Alerte"/>
          <p:cNvSpPr/>
          <p:nvPr/>
        </p:nvSpPr>
        <p:spPr>
          <a:xfrm>
            <a:off x="6323076" y="4206240"/>
            <a:ext cx="5262372" cy="11887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Après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gris foncé (#595959) sur fond blanc (#FFF)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Ratio : 7,0:1 — CONFORME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14/30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1619631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4438269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7256906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/>
          <p:cNvSpPr/>
          <p:nvPr/>
        </p:nvSpPr>
        <p:spPr>
          <a:xfrm>
            <a:off x="10075545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2168271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4986909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1" name="Trait décoratif"/>
          <p:cNvSpPr/>
          <p:nvPr/>
        </p:nvSpPr>
        <p:spPr>
          <a:xfrm>
            <a:off x="7805547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5" name="Accent décoratif"/>
          <p:cNvSpPr/>
          <p:nvPr/>
        </p:nvSpPr>
        <p:spPr>
          <a:xfrm>
            <a:off x="612648" y="4206240"/>
            <a:ext cx="73152" cy="11887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7" name="Accent décoratif"/>
          <p:cNvSpPr/>
          <p:nvPr/>
        </p:nvSpPr>
        <p:spPr>
          <a:xfrm>
            <a:off x="6249924" y="4206240"/>
            <a:ext cx="73152" cy="11887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La couleur ne suffit jamais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92608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Projet | Statut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Migration | (rouge)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Formation | (vert)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Audit | (jaune)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endParaRPr lang="fr-FR">
              <a:solidFill/>
              <a:latin typeface="Marianne"/>
            </a:endParaRP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daltonien voit 3 couleurs identiques.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92608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Projet | Statut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Migration | En retard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Formation | Terminé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Audit | En cours |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endParaRPr lang="fr-FR">
              <a:solidFill/>
              <a:latin typeface="Marianne"/>
            </a:endParaRP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texte porte l'information, la couleur la renforce.</a:t>
            </a:r>
          </a:p>
        </p:txBody>
      </p:sp>
      <p:sp>
        <p:nvSpPr>
          <p:cNvPr id="9" name="Highlight"/>
          <p:cNvSpPr txBox="1"/>
          <p:nvPr/>
        </p:nvSpPr>
        <p:spPr>
          <a:xfrm>
            <a:off x="841248" y="4553712"/>
            <a:ext cx="10652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 dirty="0">
                <a:solidFill/>
                <a:latin typeface="Marianne"/>
              </a:rPr>
              <a:t>8 % des hommes sont daltoniens - dans une réunion de 12 personnes, il y en a probablement un.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15/30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92608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292608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Highlight accent décoratif"/>
          <p:cNvSpPr/>
          <p:nvPr/>
        </p:nvSpPr>
        <p:spPr>
          <a:xfrm>
            <a:off x="612648" y="448056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3 — Texte alternatif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345643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Sélectionner l'image &gt;</a:t>
            </a:r>
            <a:br/>
            <a:r>
              <a:rPr lang="fr-FR">
                <a:solidFill/>
                <a:latin typeface="Marianne"/>
              </a:rPr>
              <a:t>clic droit &gt;</a:t>
            </a:r>
            <a:br/>
            <a:r>
              <a:rPr lang="fr-FR">
                <a:solidFill/>
                <a:latin typeface="Marianne"/>
              </a:rPr>
              <a:t>Format de l'image &gt;</a:t>
            </a:r>
            <a:br/>
            <a:r>
              <a:rPr lang="fr-FR">
                <a:solidFill/>
                <a:latin typeface="Marianne"/>
              </a:rPr>
              <a:t>Texte de remplacement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4370831" y="1892807"/>
            <a:ext cx="345643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significative :</a:t>
            </a:r>
            <a:br/>
            <a:r>
              <a:rPr lang="fr-FR">
                <a:solidFill/>
                <a:latin typeface="Marianne"/>
              </a:rPr>
              <a:t>décrire la FONCTION,</a:t>
            </a:r>
            <a:br/>
            <a:r>
              <a:rPr lang="fr-FR">
                <a:solidFill/>
                <a:latin typeface="Marianne"/>
              </a:rPr>
              <a:t>pas l'apparence</a:t>
            </a:r>
          </a:p>
        </p:txBody>
      </p:sp>
      <p:sp>
        <p:nvSpPr>
          <p:cNvPr id="11" name="Étape 3"/>
          <p:cNvSpPr txBox="1"/>
          <p:nvPr/>
        </p:nvSpPr>
        <p:spPr>
          <a:xfrm>
            <a:off x="8129015" y="1892807"/>
            <a:ext cx="345643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décorative :</a:t>
            </a:r>
            <a:br/>
            <a:r>
              <a:rPr lang="fr-FR">
                <a:solidFill/>
                <a:latin typeface="Marianne"/>
              </a:rPr>
              <a:t>insérer des espaces</a:t>
            </a:r>
            <a:br/>
            <a:r>
              <a:rPr lang="fr-FR">
                <a:solidFill/>
                <a:latin typeface="Marianne"/>
              </a:rPr>
              <a:t>vides dans Description</a:t>
            </a:r>
          </a:p>
        </p:txBody>
      </p:sp>
      <p:sp>
        <p:nvSpPr>
          <p:cNvPr id="13" name="Alerte"/>
          <p:cNvSpPr/>
          <p:nvPr/>
        </p:nvSpPr>
        <p:spPr>
          <a:xfrm>
            <a:off x="685800" y="3840480"/>
            <a:ext cx="5262372" cy="9144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Mauvais texte alt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"Photo d'un graphique en barres colorées"</a:t>
            </a:r>
          </a:p>
        </p:txBody>
      </p:sp>
      <p:sp>
        <p:nvSpPr>
          <p:cNvPr id="15" name="Alerte"/>
          <p:cNvSpPr/>
          <p:nvPr/>
        </p:nvSpPr>
        <p:spPr>
          <a:xfrm>
            <a:off x="6323076" y="3840480"/>
            <a:ext cx="5262372" cy="9144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Bon texte alt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"Chiffre d'affaires 2020-2024 : hausse de 15 % à 23 %"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16/30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2089404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584758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9605772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2638044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6396227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2" name="Accent décoratif"/>
          <p:cNvSpPr/>
          <p:nvPr/>
        </p:nvSpPr>
        <p:spPr>
          <a:xfrm>
            <a:off x="612648" y="3840480"/>
            <a:ext cx="73152" cy="9144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4" name="Accent décoratif"/>
          <p:cNvSpPr/>
          <p:nvPr/>
        </p:nvSpPr>
        <p:spPr>
          <a:xfrm>
            <a:off x="6249924" y="3840480"/>
            <a:ext cx="73152" cy="9144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Objets décoratifs : le silence est d'or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Qu'est-ce qu'un objet décoratif ?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Filets, séparateurs, icônes purement visuelles, images d'ambiance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Tout objet qui n'apporte aucune information que le texte ne contient pas déjà</a:t>
            </a:r>
          </a:p>
        </p:txBody>
      </p:sp>
      <p:sp>
        <p:nvSpPr>
          <p:cNvPr id="7" name="Alerte"/>
          <p:cNvSpPr/>
          <p:nvPr/>
        </p:nvSpPr>
        <p:spPr>
          <a:xfrm>
            <a:off x="685800" y="2926080"/>
            <a:ext cx="5262372" cy="22860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piège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lecteur d'écran annonce chaque image qu'il rencontre.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objet décoratif avec texte alt pollue la lecture :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"Image, image, séparateur bleu, icône, image..."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L'utilisateur perd le fil du contenu réel.</a:t>
            </a:r>
          </a:p>
        </p:txBody>
      </p:sp>
      <p:sp>
        <p:nvSpPr>
          <p:cNvPr id="9" name="Alerte"/>
          <p:cNvSpPr/>
          <p:nvPr/>
        </p:nvSpPr>
        <p:spPr>
          <a:xfrm>
            <a:off x="6323076" y="2926080"/>
            <a:ext cx="5262372" cy="22860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 solution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Clic droit &gt; Format de l'image &gt; Texte de remplacement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Insérer des espaces vides dans le champ Description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(ou cocher « Marquer comme décoratif » si disponible)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ignore l'objet silencieusement.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17/30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12648" y="2926080"/>
            <a:ext cx="73152" cy="228600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249924" y="2926080"/>
            <a:ext cx="73152" cy="22860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Alignement et zones de texte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Objet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Exigence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Chemin menu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Images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Aligné sur le texte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Outils Image &gt; Format &gt; Position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Formes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Aligné sur le texte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Zones de texte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Aligné (ou éviter)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Idem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2944368"/>
            <a:ext cx="10899648" cy="13716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Piège des zones de texte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Même alignées, les zones de texte peuvent être lues dans un ordre inattendu.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Les éviter quand c'est possible — préférer les colonnes intégrées.</a:t>
            </a:r>
          </a:p>
        </p:txBody>
      </p:sp>
      <p:sp>
        <p:nvSpPr>
          <p:cNvPr id="8" name="Highlight"/>
          <p:cNvSpPr txBox="1"/>
          <p:nvPr/>
        </p:nvSpPr>
        <p:spPr>
          <a:xfrm>
            <a:off x="841248" y="4663440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Objet flottant = objet invisible pour le lecteur d'écran.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18/30</a:t>
            </a:r>
          </a:p>
        </p:txBody>
      </p:sp>
      <p:sp>
        <p:nvSpPr>
          <p:cNvPr id="5" name="Accent décoratif"/>
          <p:cNvSpPr/>
          <p:nvPr/>
        </p:nvSpPr>
        <p:spPr>
          <a:xfrm>
            <a:off x="612648" y="2944368"/>
            <a:ext cx="73152" cy="137160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7" name="Highlight accent décoratif"/>
          <p:cNvSpPr/>
          <p:nvPr/>
        </p:nvSpPr>
        <p:spPr>
          <a:xfrm>
            <a:off x="612648" y="4590288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Liens descriptifs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18288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"Cliquez ici"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"En savoir plus"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"https://www.exemple.fr/page?id=4827&amp;ref=nav"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18288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"Consulter le guide d'accessibilité Word"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"Télécharger le rapport annuel 2024 (PDF, 2 Mo)"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"Accéder au formulaire de contact"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338328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Méthode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Sélectionner le texte descriptif &gt; clic droit &gt; Lien hypertexte (Ctrl+K)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Attention : supprimer le dernier caractère du texte d'un lien supprime le lien entier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19/30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8288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18288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12648" y="338328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Informations essentielles invisibles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6459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que les TA ne lisent pas automatiquement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En-têtes de page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Pieds de page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Filigranes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3273552"/>
            <a:ext cx="10652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une information est essentielle (« CONFIDENTIEL », « Répondre avant le 15 avril »), elle doit être reproduite dans le corps du document.</a:t>
            </a:r>
          </a:p>
        </p:txBody>
      </p:sp>
      <p:sp>
        <p:nvSpPr>
          <p:cNvPr id="9" name="Alerte"/>
          <p:cNvSpPr/>
          <p:nvPr/>
        </p:nvSpPr>
        <p:spPr>
          <a:xfrm>
            <a:off x="685800" y="4389120"/>
            <a:ext cx="10899648" cy="1463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Exemple concret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Vous mettez « CONFIDENTIEL » en filigrane pour que tout le monde le voie —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sauf que 15 % de vos lecteurs ne le voient pas du tout.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Solution : une ligne au début du document reprenant l'information.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20/30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6459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Highlight accent décoratif"/>
          <p:cNvSpPr/>
          <p:nvPr/>
        </p:nvSpPr>
        <p:spPr>
          <a:xfrm>
            <a:off x="612648" y="320040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décoratif"/>
          <p:cNvSpPr/>
          <p:nvPr/>
        </p:nvSpPr>
        <p:spPr>
          <a:xfrm>
            <a:off x="612648" y="4389120"/>
            <a:ext cx="73152" cy="146304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avez-vous les bons réflexes contenus ?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25603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Pour chaque situation, quelle est la bonne action ?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Une photo d'équipe illustre la page « Qui sommes-nous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Un filet bleu sépare deux sections du document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Un lien « En savoir plus » renvoie vers le site intranet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Le filigrane indique « BROUILLON — Ne pas diffuser »</a:t>
            </a:r>
          </a:p>
        </p:txBody>
      </p:sp>
      <p:sp>
        <p:nvSpPr>
          <p:cNvPr id="7" name="Alerte"/>
          <p:cNvSpPr/>
          <p:nvPr/>
        </p:nvSpPr>
        <p:spPr>
          <a:xfrm>
            <a:off x="685800" y="4114800"/>
            <a:ext cx="10899648" cy="18288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Réponses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Texte alt décrivant la fonction : « Équipe du service communication, 8 personnes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Marquer comme décoratif (espaces vides dans le champ Description)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Renommer en « Consulter la page intranet du projet X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Reproduire « BROUILLON — Ne pas diffuser » au début du document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21/30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12648" y="4114800"/>
            <a:ext cx="73152" cy="18288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4 — Langue et médias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5262372" cy="22860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Balisage de langue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 principale : Fichier &gt; Options &gt; Langue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Passage étranger : sélectionner &gt; Révision &gt; Langue &gt; Définir la langue de vérification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Sans balisage, le lecteur d'écran prononce "meeting" comme "mé-é-ting"</a:t>
            </a:r>
          </a:p>
        </p:txBody>
      </p:sp>
      <p:graphicFrame>
        <p:nvGraphicFramePr>
          <p:cNvPr id="6" name="Tableau"/>
          <p:cNvGraphicFramePr>
            <a:graphicFrameLocks noGrp="1"/>
          </p:cNvGraphicFramePr>
          <p:nvPr/>
        </p:nvGraphicFramePr>
        <p:xfrm>
          <a:off x="6249924" y="1280160"/>
          <a:ext cx="533552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Média intégré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Alternative requise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Audio seul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Transcription textuelle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Vidéo seule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Description textuelle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Audio + vidéo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Sous-titres ET description audio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22/30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2860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Objets clignotants : tolérance zéro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10899648" cy="22860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Interdit — aucune exception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Animations de clignotement, GIF avec flashs, vidéos avec séquences &gt; 3 Hz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endParaRPr lang="fr-FR">
              <a:solidFill/>
              <a:latin typeface="Marianne"/>
            </a:endParaRP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Risque : crise d'épilepsie.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document contenant un objet clignotant ne peut jamais être considéré comme accessible.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39136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vous hésitez sur un GIF animé : supprimez-le et remplacez-le par une image statique.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23/30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2860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Highlight accent décoratif"/>
          <p:cNvSpPr/>
          <p:nvPr/>
        </p:nvSpPr>
        <p:spPr>
          <a:xfrm>
            <a:off x="612648" y="38404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5 — Avant de publier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Propriétés :</a:t>
            </a:r>
            <a:br/>
            <a:r>
              <a:rPr lang="fr-FR">
                <a:solidFill/>
                <a:latin typeface="Marianne"/>
              </a:rPr>
              <a:t>Fichier &gt; Informations</a:t>
            </a:r>
            <a:br/>
            <a:r>
              <a:rPr lang="fr-FR">
                <a:solidFill/>
                <a:latin typeface="Marianne"/>
              </a:rPr>
              <a:t>&gt; Titre, Auteur, Objet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2867558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Nom de fichier :</a:t>
            </a:r>
            <a:br/>
            <a:r>
              <a:rPr lang="fr-FR">
                <a:solidFill/>
                <a:latin typeface="Marianne"/>
              </a:rPr>
              <a:t>descriptif + .docx</a:t>
            </a:r>
            <a:br/>
            <a:r>
              <a:rPr lang="fr-FR">
                <a:solidFill/>
                <a:latin typeface="Marianne"/>
              </a:rPr>
              <a:t>(pas « Document1 »)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5122468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Protection :</a:t>
            </a:r>
            <a:br/>
            <a:r>
              <a:rPr lang="fr-FR">
                <a:solidFill/>
                <a:latin typeface="Marianne"/>
              </a:rPr>
              <a:t>Révision &gt; Restreindre</a:t>
            </a:r>
            <a:br/>
            <a:r>
              <a:rPr lang="fr-FR">
                <a:solidFill/>
                <a:latin typeface="Marianne"/>
              </a:rPr>
              <a:t>&gt; aucune restriction</a:t>
            </a:r>
          </a:p>
        </p:txBody>
      </p:sp>
      <p:sp>
        <p:nvSpPr>
          <p:cNvPr id="15" name="Étape 4"/>
          <p:cNvSpPr txBox="1"/>
          <p:nvPr/>
        </p:nvSpPr>
        <p:spPr>
          <a:xfrm>
            <a:off x="7377379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Formulaires :</a:t>
            </a:r>
            <a:br/>
            <a:r>
              <a:rPr lang="fr-FR">
                <a:solidFill/>
                <a:latin typeface="Marianne"/>
              </a:rPr>
              <a:t>aucun champ de</a:t>
            </a:r>
            <a:br/>
            <a:r>
              <a:rPr lang="fr-FR">
                <a:solidFill/>
                <a:latin typeface="Marianne"/>
              </a:rPr>
              <a:t>formulaire Word</a:t>
            </a:r>
          </a:p>
        </p:txBody>
      </p:sp>
      <p:sp>
        <p:nvSpPr>
          <p:cNvPr id="17" name="Étape 5"/>
          <p:cNvSpPr txBox="1"/>
          <p:nvPr/>
        </p:nvSpPr>
        <p:spPr>
          <a:xfrm>
            <a:off x="9632289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Vérificateur :</a:t>
            </a:r>
            <a:br/>
            <a:r>
              <a:rPr lang="fr-FR">
                <a:solidFill/>
                <a:latin typeface="Marianne"/>
              </a:rPr>
              <a:t>Fichier &gt; Vérifier</a:t>
            </a:r>
            <a:br/>
            <a:r>
              <a:rPr lang="fr-FR">
                <a:solidFill/>
                <a:latin typeface="Marianne"/>
              </a:rPr>
              <a:t>l'accessibilité</a:t>
            </a:r>
          </a:p>
        </p:txBody>
      </p:sp>
      <p:sp>
        <p:nvSpPr>
          <p:cNvPr id="19" name="Highlight"/>
          <p:cNvSpPr txBox="1"/>
          <p:nvPr/>
        </p:nvSpPr>
        <p:spPr>
          <a:xfrm>
            <a:off x="841248" y="446227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Ces 5 vérifications prennent 2 minutes et attrapent 80 % des oublis restants.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24/30</a:t>
            </a:r>
          </a:p>
        </p:txBody>
      </p:sp>
      <p:sp>
        <p:nvSpPr>
          <p:cNvPr id="4" name="Étape 1 pastille décoratif"/>
          <p:cNvSpPr/>
          <p:nvPr/>
        </p:nvSpPr>
        <p:spPr>
          <a:xfrm>
            <a:off x="133776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/>
          <p:cNvSpPr/>
          <p:nvPr/>
        </p:nvSpPr>
        <p:spPr>
          <a:xfrm>
            <a:off x="359267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/>
          <p:cNvSpPr/>
          <p:nvPr/>
        </p:nvSpPr>
        <p:spPr>
          <a:xfrm>
            <a:off x="584758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/>
          <p:cNvSpPr/>
          <p:nvPr/>
        </p:nvSpPr>
        <p:spPr>
          <a:xfrm>
            <a:off x="810249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6" name="Étape 5 pastille décoratif"/>
          <p:cNvSpPr/>
          <p:nvPr/>
        </p:nvSpPr>
        <p:spPr>
          <a:xfrm>
            <a:off x="1035740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tlCol="0" anchor="ctr"/>
          <a:lstStyle/>
          <a:p>
            <a:pPr algn="ctr">
              <a:defRPr lang="fr-FR" sz="2000" b="1">
                <a:solidFill>
                  <a:srgbClr val="FFFFFF"/>
                </a:solidFill>
                <a:latin typeface="Marianne"/>
              </a:defRPr>
            </a:pPr>
            <a:r>
              <a:rPr lang="fr-FR" sz="2000" b="1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5" name="Trait décoratif"/>
          <p:cNvSpPr/>
          <p:nvPr/>
        </p:nvSpPr>
        <p:spPr>
          <a:xfrm>
            <a:off x="1886407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Trait décoratif"/>
          <p:cNvSpPr/>
          <p:nvPr/>
        </p:nvSpPr>
        <p:spPr>
          <a:xfrm>
            <a:off x="4141317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1" name="Trait décoratif"/>
          <p:cNvSpPr/>
          <p:nvPr/>
        </p:nvSpPr>
        <p:spPr>
          <a:xfrm>
            <a:off x="6396228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4" name="Trait décoratif"/>
          <p:cNvSpPr/>
          <p:nvPr/>
        </p:nvSpPr>
        <p:spPr>
          <a:xfrm>
            <a:off x="8651138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8" name="Highlight accent décoratif"/>
          <p:cNvSpPr/>
          <p:nvPr/>
        </p:nvSpPr>
        <p:spPr>
          <a:xfrm>
            <a:off x="612648" y="438912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Le vérificateur : allié imparfait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5603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qu'il détecte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alt manquant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Objets non alignés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Styles de titre absents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Tableaux sans en-tête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Ordre de lecture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5603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qu'il ne détecte PAS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Qualité du texte alt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Pertinence des noms de liens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Couleur porteuse de sens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 des passages étrangers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Contraste insuffisant</a:t>
            </a:r>
          </a:p>
        </p:txBody>
      </p:sp>
      <p:sp>
        <p:nvSpPr>
          <p:cNvPr id="9" name="Highlight"/>
          <p:cNvSpPr txBox="1"/>
          <p:nvPr/>
        </p:nvSpPr>
        <p:spPr>
          <a:xfrm>
            <a:off x="841248" y="418795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vérificateur est un premier filtre, pas un certificat de conformité.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25/30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25603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décoratif"/>
          <p:cNvSpPr/>
          <p:nvPr/>
        </p:nvSpPr>
        <p:spPr>
          <a:xfrm>
            <a:off x="6249924" y="1280160"/>
            <a:ext cx="73152" cy="256032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Highlight accent décoratif"/>
          <p:cNvSpPr/>
          <p:nvPr/>
        </p:nvSpPr>
        <p:spPr>
          <a:xfrm>
            <a:off x="612648" y="411480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Étude de cas : un document de A à Z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Sophie, assistante de direction, doit publier un compte rendu de réunion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document contient : 3 niveaux de titres, 2 tableaux, 1 organigramme, 1 lien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Il porte la mention « CONFIDENTIEL » en filigrane</a:t>
            </a:r>
          </a:p>
        </p:txBody>
      </p:sp>
      <p:graphicFrame>
        <p:nvGraphicFramePr>
          <p:cNvPr id="6" name="Tableau"/>
          <p:cNvGraphicFramePr>
            <a:graphicFrameLocks noGrp="1"/>
          </p:cNvGraphicFramePr>
          <p:nvPr/>
        </p:nvGraphicFramePr>
        <p:xfrm>
          <a:off x="612648" y="292608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Étape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Ce que Sophie fait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Pilier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1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Applique Titre 1, 2, 3 via Accueil &gt; Styles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Identifie la ligne d'en-tête de chaque tableau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3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Ajoute un texte alt fonctionnel sur l'organigramme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Renomme le lien « cliquez ici » en description claire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5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Ajoute « CONFIDENTIEL » au début du document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Renseigne Titre et Auteur dans Fichier &gt; Informations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7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Lance le vérificateur &gt; corrige les 2 erreurs restantes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26/30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final : trouvez les erreurs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32004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09728" rtlCol="0" anchor="ctr"/>
          <a:lstStyle/>
          <a:p>
            <a:pPr algn="ctr">
              <a:spcAft>
                <a:spcPts val="600"/>
              </a:spcAft>
              <a:defRPr lang="fr-FR" sz="1600" b="1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document Word contient :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Un titre « Introduction » mis en gras Arial 16 (sans style)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Un tableau de 3 colonnes avec la 1re ligne en gras (sans « Répéter en tant que ligne d'en-tête »)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Un lien « cliquez ici pour le formulaire »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Un filigrane « PROJET » sans mention dans le corps du document</a:t>
            </a:r>
          </a:p>
          <a:p>
            <a:pPr>
              <a:spcAft>
                <a:spcPts val="400"/>
              </a:spcAft>
              <a:defRPr lang="fr-FR" sz="14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5. Une photo de l'équipe sans texte alternatif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48280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Combien d'erreurs d'accessibilité comptez-vous ? Réponse : 5 erreurs (une par point).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27/30</a:t>
            </a:r>
          </a:p>
        </p:txBody>
      </p:sp>
      <p:sp>
        <p:nvSpPr>
          <p:cNvPr id="4" name="Accent décoratif"/>
          <p:cNvSpPr/>
          <p:nvPr/>
        </p:nvSpPr>
        <p:spPr>
          <a:xfrm>
            <a:off x="612648" y="128016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Highlight accent décoratif"/>
          <p:cNvSpPr/>
          <p:nvPr/>
        </p:nvSpPr>
        <p:spPr>
          <a:xfrm>
            <a:off x="612648" y="47548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Par où commencer ?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endParaRPr/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Effort faible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lang="fr-FR" sz="1200" b="1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Effort modéré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Impact fort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Styles de titre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Listes intégrées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Nom descriptif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 du document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alternatif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Liens descriptifs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Tableaux avec en-têtes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lang="fr-FR" sz="1200" b="1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Impact modéré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Sauts de page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Colonnes intégrées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Langue des passages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Contraste couleurs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Alignement objets</a:t>
                      </a:r>
                    </a:p>
                    <a:p>
                      <a:pPr>
                        <a:defRPr lang="fr-FR" sz="1200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Zones de texte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Highlight"/>
          <p:cNvSpPr txBox="1"/>
          <p:nvPr/>
        </p:nvSpPr>
        <p:spPr>
          <a:xfrm>
            <a:off x="841248" y="2670048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Commencez par le quadrant haut-gauche : 4 actions à effort faible qui transforment l'accessibilité.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28/30</a:t>
            </a:r>
          </a:p>
        </p:txBody>
      </p:sp>
      <p:sp>
        <p:nvSpPr>
          <p:cNvPr id="5" name="Highlight accent décoratif"/>
          <p:cNvSpPr/>
          <p:nvPr/>
        </p:nvSpPr>
        <p:spPr>
          <a:xfrm>
            <a:off x="612648" y="2596896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Checklist : vos 21 critères</a:t>
            </a:r>
          </a:p>
        </p:txBody>
      </p:sp>
      <p:sp>
        <p:nvSpPr>
          <p:cNvPr id="4" name="Encadré"/>
          <p:cNvSpPr/>
          <p:nvPr/>
        </p:nvSpPr>
        <p:spPr>
          <a:xfrm>
            <a:off x="612648" y="1280160"/>
            <a:ext cx="5335524" cy="4572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lang="fr-FR" sz="15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Structure et couleurs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Fichier .docx + nom descriptif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Document non protégé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Titres avec styles intégrés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Hiérarchie cohérente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5. Listes avec Puces/Numérotation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6. Colonnes intégrées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7. Sauts de page propres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8. Tableaux mise en page OK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9. Tableaux données + en-têtes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10. Contraste &gt;= 4,5:1 / 3:1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11. Couleur doublée en texte</a:t>
            </a:r>
          </a:p>
        </p:txBody>
      </p:sp>
      <p:sp>
        <p:nvSpPr>
          <p:cNvPr id="5" name="Encadré"/>
          <p:cNvSpPr/>
          <p:nvPr/>
        </p:nvSpPr>
        <p:spPr>
          <a:xfrm>
            <a:off x="6249924" y="1280160"/>
            <a:ext cx="5335524" cy="4572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lang="fr-FR" sz="15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Contenus, langue, finalisation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12. Texte alt sur images/objets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13. Objets alignés sur le texte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14. Liens descriptifs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15. Infos essentielles dans le corps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16. Langue des passages balisée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17. Médias avec alternatives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18. Aucun objet clignotant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19. Propriétés renseignées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20. Aucun formulaire Word</a:t>
            </a:r>
          </a:p>
          <a:p>
            <a:pPr>
              <a:spcAft>
                <a:spcPts val="200"/>
              </a:spcAft>
              <a:defRPr lang="fr-FR" sz="13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21. Vérificateur sans erreur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Demain à 9h</a:t>
            </a:r>
          </a:p>
        </p:txBody>
      </p:sp>
      <p:sp>
        <p:nvSpPr>
          <p:cNvPr id="5" name="Highlight"/>
          <p:cNvSpPr txBox="1"/>
          <p:nvPr/>
        </p:nvSpPr>
        <p:spPr>
          <a:xfrm>
            <a:off x="841248" y="1353312"/>
            <a:ext cx="10652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lang="fr-FR" sz="1800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Quelle est la première chose que vous ferez sur votre prochain document Word ?</a:t>
            </a:r>
          </a:p>
        </p:txBody>
      </p:sp>
      <p:sp>
        <p:nvSpPr>
          <p:cNvPr id="7" name="Carte"/>
          <p:cNvSpPr/>
          <p:nvPr/>
        </p:nvSpPr>
        <p:spPr>
          <a:xfrm>
            <a:off x="667512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1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Ctrl+F &gt; onglet Titres</a:t>
            </a:r>
            <a:br/>
            <a:br/>
            <a:r>
              <a:rPr lang="fr-FR">
                <a:solidFill/>
                <a:latin typeface="Marianne"/>
              </a:rPr>
              <a:t>Vérifier que tous les titres</a:t>
            </a:r>
            <a:br/>
            <a:r>
              <a:rPr lang="fr-FR">
                <a:solidFill/>
                <a:latin typeface="Marianne"/>
              </a:rPr>
              <a:t>apparaissent dans le volet</a:t>
            </a:r>
            <a:br/>
            <a:r>
              <a:rPr lang="fr-FR">
                <a:solidFill/>
                <a:latin typeface="Marianne"/>
              </a:rPr>
              <a:t>de navigation</a:t>
            </a:r>
          </a:p>
        </p:txBody>
      </p:sp>
      <p:sp>
        <p:nvSpPr>
          <p:cNvPr id="9" name="Carte"/>
          <p:cNvSpPr/>
          <p:nvPr/>
        </p:nvSpPr>
        <p:spPr>
          <a:xfrm>
            <a:off x="4425695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2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Clic droit &gt; Texte</a:t>
            </a:r>
            <a:br/>
            <a:r>
              <a:rPr lang="fr-FR">
                <a:solidFill/>
                <a:latin typeface="Marianne"/>
              </a:rPr>
              <a:t>de remplacement</a:t>
            </a:r>
            <a:br/>
            <a:br/>
            <a:r>
              <a:rPr lang="fr-FR">
                <a:solidFill/>
                <a:latin typeface="Marianne"/>
              </a:rPr>
              <a:t>Décrire la fonction</a:t>
            </a:r>
            <a:br/>
            <a:r>
              <a:rPr lang="fr-FR">
                <a:solidFill/>
                <a:latin typeface="Marianne"/>
              </a:rPr>
              <a:t>de chaque image</a:t>
            </a:r>
          </a:p>
        </p:txBody>
      </p:sp>
      <p:sp>
        <p:nvSpPr>
          <p:cNvPr id="11" name="Carte"/>
          <p:cNvSpPr/>
          <p:nvPr/>
        </p:nvSpPr>
        <p:spPr>
          <a:xfrm>
            <a:off x="8183879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>
              <a:spcAft>
                <a:spcPts val="800"/>
              </a:spcAft>
              <a:defRPr lang="fr-FR" sz="1600" b="1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3</a:t>
            </a:r>
          </a:p>
          <a:p>
            <a:pPr>
              <a:defRPr lang="fr-FR" sz="1300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Fichier &gt; Vérifier</a:t>
            </a:r>
            <a:br/>
            <a:r>
              <a:rPr lang="fr-FR">
                <a:solidFill/>
                <a:latin typeface="Marianne"/>
              </a:rPr>
              <a:t>l'accessibilité</a:t>
            </a:r>
            <a:br/>
            <a:br/>
            <a:r>
              <a:rPr lang="fr-FR">
                <a:solidFill/>
                <a:latin typeface="Marianne"/>
              </a:rPr>
              <a:t>Corriger les erreurs</a:t>
            </a:r>
            <a:br/>
            <a:r>
              <a:rPr lang="fr-FR">
                <a:solidFill/>
                <a:latin typeface="Marianne"/>
              </a:rPr>
              <a:t>avant d'envoyer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lang="fr-FR" sz="1000">
                <a:solidFill>
                  <a:srgbClr val="666666"/>
                </a:solidFill>
                <a:latin typeface="Marianne"/>
              </a:defRPr>
            </a:pPr>
            <a:r>
              <a:rPr lang="fr-FR" sz="1000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lang="fr-FR" sz="1000">
                <a:solidFill>
                  <a:srgbClr val="666666"/>
                </a:solidFill>
                <a:latin typeface="Marianne"/>
              </a:rPr>
              <a:t>30/30</a:t>
            </a:r>
          </a:p>
        </p:txBody>
      </p:sp>
      <p:sp>
        <p:nvSpPr>
          <p:cNvPr id="4" name="Highlight accent décoratif"/>
          <p:cNvSpPr/>
          <p:nvPr/>
        </p:nvSpPr>
        <p:spPr>
          <a:xfrm>
            <a:off x="612648" y="128016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6" name="Accent carte décoratif"/>
          <p:cNvSpPr/>
          <p:nvPr/>
        </p:nvSpPr>
        <p:spPr>
          <a:xfrm>
            <a:off x="612648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8" name="Accent carte décoratif"/>
          <p:cNvSpPr/>
          <p:nvPr/>
        </p:nvSpPr>
        <p:spPr>
          <a:xfrm>
            <a:off x="4370831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  <p:sp>
        <p:nvSpPr>
          <p:cNvPr id="10" name="Accent carte décoratif"/>
          <p:cNvSpPr/>
          <p:nvPr/>
        </p:nvSpPr>
        <p:spPr>
          <a:xfrm>
            <a:off x="8129015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4018</Words>
  <Application>Microsoft Macintosh PowerPoint</Application>
  <PresentationFormat>Grand écran</PresentationFormat>
  <Paragraphs>546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Calibri</vt:lpstr>
      <vt:lpstr>Marianne</vt:lpstr>
      <vt:lpstr>Office Theme</vt:lpstr>
      <vt:lpstr>Rendre un document Word accessible</vt:lpstr>
      <vt:lpstr>Ce document est-il accessible ?</vt:lpstr>
      <vt:lpstr>Pourquoi ça vous concerne</vt:lpstr>
      <vt:lpstr>Ce que l’on va couvrir</vt:lpstr>
      <vt:lpstr>Quiz : vrai ou faux ?</vt:lpstr>
      <vt:lpstr>5 piliers, 22 critères</vt:lpstr>
      <vt:lpstr>Pilier 1 - Les styles de titre</vt:lpstr>
      <vt:lpstr>Listes : puces et numérotation natives</vt:lpstr>
      <vt:lpstr>Colonnes et sauts de page</vt:lpstr>
      <vt:lpstr>Tableaux de mise en page</vt:lpstr>
      <vt:lpstr>Tableaux de données</vt:lpstr>
      <vt:lpstr>Quiz : vérifier la structure en 30 secondes</vt:lpstr>
      <vt:lpstr>Pilier 2 — Contraste des couleurs</vt:lpstr>
      <vt:lpstr>Mesurer le contraste : méthode pas-à-pas</vt:lpstr>
      <vt:lpstr>La couleur ne suffit jamais</vt:lpstr>
      <vt:lpstr>Pilier 3 — Texte alternatif</vt:lpstr>
      <vt:lpstr>Objets décoratifs : le silence est d'or</vt:lpstr>
      <vt:lpstr>Alignement et zones de texte</vt:lpstr>
      <vt:lpstr>Liens descriptifs</vt:lpstr>
      <vt:lpstr>Informations essentielles invisibles</vt:lpstr>
      <vt:lpstr>Quiz : avez-vous les bons réflexes contenus ?</vt:lpstr>
      <vt:lpstr>Pilier 4 — Langue et médias</vt:lpstr>
      <vt:lpstr>Objets clignotants : tolérance zéro</vt:lpstr>
      <vt:lpstr>Pilier 5 — Avant de publier</vt:lpstr>
      <vt:lpstr>Le vérificateur : allié imparfait</vt:lpstr>
      <vt:lpstr>Étude de cas : un document de A à Z</vt:lpstr>
      <vt:lpstr>Quiz final : trouvez les erreurs</vt:lpstr>
      <vt:lpstr>Par où commencer ?</vt:lpstr>
      <vt:lpstr>Checklist : vos 21 critères</vt:lpstr>
      <vt:lpstr>Demain à 9h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Rendre un document Word accessible</dc:title>
  <dc:subject>Formation accessibilité Word — 22 critères en 5 piliers</dc:subject>
  <dc:creator>Alex</dc:creator>
  <cp:keywords/>
  <dc:description>generated using python-pptx</dc:description>
  <cp:lastModifiedBy>alex</cp:lastModifiedBy>
  <cp:revision>4</cp:revision>
  <dcterms:created xsi:type="dcterms:W3CDTF">2013-01-27T09:14:16Z</dcterms:created>
  <dcterms:modified xsi:type="dcterms:W3CDTF">2026-04-21T12:23:11Z</dcterms:modified>
  <cp:category/>
  <dc:language>fr-FR</dc:language>
</cp:coreProperties>
</file>