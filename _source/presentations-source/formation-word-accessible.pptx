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8"/>
  </p:notesMasterIdLst>
  <p:handoutMasterIdLst>
    <p:handoutMasterId r:id="rId19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7"/>
    <p:sldId id="267" r:id="rId6"/>
    <p:sldId id="268" r:id="rId5"/>
    <p:sldId id="269" r:id="rId4"/>
    <p:sldId id="270" r:id="rId3"/>
    <p:sldId id="271" r:id="rId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969" cy="68580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mple" id="{1B2C009F-958F-4730-953E-C3BCDF6DEDF4}">
          <p14:sldIdLst>
            <p14:sldId id="342"/>
            <p14:sldId id="335"/>
            <p14:sldId id="336"/>
            <p14:sldId id="337"/>
            <p14:sldId id="348"/>
            <p14:sldId id="344"/>
            <p14:sldId id="347"/>
          </p14:sldIdLst>
        </p14:section>
        <p14:section name="IGPDE" id="{0B896E98-F45E-4768-8620-EDDF394BE181}">
          <p14:sldIdLst>
            <p14:sldId id="332"/>
            <p14:sldId id="331"/>
            <p14:sldId id="327"/>
            <p14:sldId id="340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6224" autoAdjust="0"/>
  </p:normalViewPr>
  <p:slideViewPr>
    <p:cSldViewPr showGuides="1">
      <p:cViewPr varScale="1">
        <p:scale>
          <a:sx n="135" d="100"/>
          <a:sy n="135" d="100"/>
        </p:scale>
        <p:origin x="120" y="114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-25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2" d="100"/>
        <a:sy n="172" d="100"/>
      </p:scale>
      <p:origin x="0" y="-3540"/>
    </p:cViewPr>
  </p:sorterViewPr>
  <p:notesViewPr>
    <p:cSldViewPr showGuides="1">
      <p:cViewPr varScale="1">
        <p:scale>
          <a:sx n="83" d="100"/>
          <a:sy n="83" d="100"/>
        </p:scale>
        <p:origin x="313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B2658-7BE8-4FC5-8F36-ABC54AD38E15}" type="datetimeFigureOut">
              <a:rPr lang="fr-FR" smtClean="0"/>
              <a:t>06/09/2024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3471C-61B7-441C-A48C-C1E234DDF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693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06/09/2024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Transition vers le module 2.</a:t>
            </a:r>
          </a:p>
          <a:p>
            <a:r>
              <a:rPr lang="fr-FR"/>
              <a:t>Annoncer : 24 réflexes en 5 piliers.</a:t>
            </a:r>
          </a:p>
          <a:p>
            <a:r>
              <a:rPr lang="fr-FR"/>
              <a:t>Public : communicants, pas développeurs.</a:t>
            </a:r>
          </a:p>
          <a:p>
            <a:r>
              <a:rPr lang="fr-FR"/>
              <a:t>Chaque slide = 1 réflexe actionnable.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Lire la citation à voix haute, lentement, avec des pauses.</a:t>
            </a:r>
          </a:p>
          <a:p>
            <a:r>
              <a:rPr lang="fr-FR"/>
              <a:t>Ne pas commenter.</a:t>
            </a:r>
          </a:p>
          <a:p>
            <a:r>
              <a:rPr lang="fr-FR"/>
              <a:t>Laisser le silence s'installer 5 secondes.</a:t>
            </a:r>
          </a:p>
          <a:p>
            <a:r>
              <a:rPr lang="fr-FR"/>
              <a:t>Demander : est-ce que vous avez déjà reçu un document ou un email illisible ?</a:t>
            </a:r>
          </a:p>
          <a:p>
            <a:r>
              <a:rPr lang="fr-FR"/>
              <a:t>Cette personne vivait ça tous les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Laisser 30 secondes pour que chacun vote.</a:t>
            </a:r>
          </a:p>
          <a:p>
            <a:r>
              <a:rPr lang="fr-FR"/>
              <a:t>Demander à main levée.</a:t>
            </a:r>
          </a:p>
          <a:p>
            <a:r>
              <a:rPr lang="fr-FR"/>
              <a:t>Ne pas donner la réponse maintenant - la curiosité crée l'attention.</a:t>
            </a:r>
          </a:p>
          <a:p>
            <a:r>
              <a:rPr lang="fr-FR"/>
              <a:t>Zeigarnik : la boucle ouverte maintient l'engagement.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Répondre au quiz de la slide précédente.</a:t>
            </a:r>
          </a:p>
          <a:p>
            <a:r>
              <a:rPr lang="fr-FR"/>
              <a:t>Document B - mais les deux semblent identiques à l'écran.</a:t>
            </a:r>
          </a:p>
          <a:p>
            <a:r>
              <a:rPr lang="fr-FR"/>
              <a:t>C'est l'invisible qui fait la différence. 15 % = moyenne nationale Source : OMS 2024.</a:t>
            </a:r>
          </a:p>
          <a:p>
            <a:r>
              <a:rPr lang="fr-FR"/>
              <a:t>Le chiffre 0 ligne de code est le déclencheur de confiance : tout le monde peut le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Plan de la session.</a:t>
            </a:r>
          </a:p>
          <a:p>
            <a:r>
              <a:rPr lang="fr-FR"/>
              <a:t>Pointer chaque pilier.</a:t>
            </a:r>
          </a:p>
          <a:p>
            <a:r>
              <a:rPr lang="fr-FR"/>
              <a:t>Insister : ce n'est pas une liste de règles à mémoriser, c'est un parcours.</a:t>
            </a:r>
          </a:p>
          <a:p>
            <a:r>
              <a:rPr lang="fr-FR"/>
              <a:t>On commence par le plus impactant et on finit par le plus simple à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Réponse à la question : le lecteur d'écran lit les balises HTML ou les styles Word - pas la mise en forme visuelle.</a:t>
            </a:r>
          </a:p>
          <a:p>
            <a:r>
              <a:rPr lang="fr-FR"/>
              <a:t>Un titre en gras 16pt n'est pas un titre pour un lecteur d'écran.</a:t>
            </a:r>
          </a:p>
          <a:p>
            <a:r>
              <a:rPr lang="fr-FR"/>
              <a:t>Faire la démonstration en direct si possible : ouvrir un document vierge, écrire un titre en gras, puis avec le style Titre 1.</a:t>
            </a:r>
          </a:p>
          <a:p>
            <a:r>
              <a:rPr lang="fr-FR"/>
              <a:t>La différence est invisible visuellement mais fondamentale pour l'accessibilité.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Démonstration rapide : créer une liste avec tirets manuels, passer en mode lecteur d'écran ou montrer la capture.</a:t>
            </a:r>
          </a:p>
          <a:p>
            <a:r>
              <a:rPr lang="fr-FR"/>
              <a:t>Refaire avec la fonctionnalité native.</a:t>
            </a:r>
          </a:p>
          <a:p>
            <a:r>
              <a:rPr lang="fr-FR"/>
              <a:t>L'annonce change complètement.</a:t>
            </a:r>
          </a:p>
          <a:p>
            <a:r>
              <a:rPr lang="fr-FR"/>
              <a:t>Ce réflexe s'acquiert en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Piège le plus fréquent pour les communicants : la mise en page par espaces et tabulations.</a:t>
            </a:r>
          </a:p>
          <a:p>
            <a:r>
              <a:rPr lang="fr-FR"/>
              <a:t>Montrer le mode Afficher tout (symbole paragraphe) pour révéler les espaces parasites.</a:t>
            </a:r>
          </a:p>
          <a:p>
            <a:r>
              <a:rPr lang="fr-FR"/>
              <a:t>Les zones de texte flottantes sont un piège classique dans les documents Word avec mise en page élaborée.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 contraste est le critère a11y le plus souvent échoué : 56 % des sites (WebAIM 2024).</a:t>
            </a:r>
          </a:p>
          <a:p>
            <a:r>
              <a:rPr lang="fr-FR"/>
              <a:t>Analogie : lire un SMS à 3h du matin sur un écran en plein soleil.</a:t>
            </a:r>
          </a:p>
          <a:p>
            <a:r>
              <a:rPr lang="fr-FR"/>
              <a:t>Texte noir sur fond blanc = toujours conforme.</a:t>
            </a:r>
          </a:p>
          <a:p>
            <a:r>
              <a:rPr lang="fr-FR"/>
              <a:t>Le test ne s'applique qu'aux textes colorés.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8 % des hommes = 1 personne dans une réunion de 12.</a:t>
            </a:r>
          </a:p>
          <a:p>
            <a:r>
              <a:rPr lang="fr-FR"/>
              <a:t>Dans une direction de 200 agents : 16 personnes concernées.</a:t>
            </a:r>
          </a:p>
          <a:p>
            <a:r>
              <a:rPr lang="fr-FR"/>
              <a:t>Démonstration : ouvrir un tableau de bord avec codes couleur uniquement.</a:t>
            </a:r>
          </a:p>
          <a:p>
            <a:r>
              <a:rPr lang="fr-FR"/>
              <a:t>Simuler la vision daltonienne avec un outil en ligne ou le mode de simulation de Chrome DevTools.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Décrire la FONCTION, pas l'apparence.</a:t>
            </a:r>
          </a:p>
          <a:p>
            <a:r>
              <a:rPr lang="fr-FR"/>
              <a:t>Un logo sans texte = décoratif (le lecteur annonce déjà le nom de la société dans les propriétés).</a:t>
            </a:r>
          </a:p>
          <a:p>
            <a:r>
              <a:rPr lang="fr-FR"/>
              <a:t>Un graphique = décrire les données clés, pas les couleurs des barres.</a:t>
            </a:r>
          </a:p>
          <a:p>
            <a:r>
              <a:rPr lang="fr-FR"/>
              <a:t>Objet décoratif = filets, séparateurs, icones visuelles.</a:t>
            </a:r>
          </a:p>
          <a:p>
            <a:r>
              <a:rPr lang="fr-FR"/>
              <a:t>Les marquer évite que le lecteur annonce image, image, séparateur en permanence.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Lire à voix haute les liens inaccessibles puis les accessibles.</a:t>
            </a:r>
          </a:p>
          <a:p>
            <a:r>
              <a:rPr lang="fr-FR"/>
              <a:t>La différence est immédiate.</a:t>
            </a:r>
          </a:p>
          <a:p>
            <a:r>
              <a:rPr lang="fr-FR"/>
              <a:t>Pour les filigranes : montrer un vrai document avec CONFIDENTIEL en filigrane.</a:t>
            </a:r>
          </a:p>
          <a:p>
            <a:r>
              <a:rPr lang="fr-FR"/>
              <a:t>Demander : est-ce que votre lecteur d'écran l'annonce ?</a:t>
            </a:r>
          </a:p>
          <a:p>
            <a:r>
              <a:rPr lang="fr-FR"/>
              <a:t>Non - il faut le mettre dans le corps.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Laisser 3 minutes de réflexion individuelle avant de donner la réponse.</a:t>
            </a:r>
          </a:p>
          <a:p>
            <a:r>
              <a:rPr lang="fr-FR"/>
              <a:t>Corriger dans l'ordre : structure d'abord (fondation), couleur ensuite, contenu en dernier. 3 piliers simultanément = exercice d'interleaving - force la discrimination entre les piliers. 6 minutes = temps réel, pas estime.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Exemple concret de balisage : un document français avec un titre en anglais Annual Report.</a:t>
            </a:r>
          </a:p>
          <a:p>
            <a:r>
              <a:rPr lang="fr-FR"/>
              <a:t>Sans balisage, le lecteur d'écran français prononce les mots anglais avec un accent français incompréhensible.</a:t>
            </a:r>
          </a:p>
          <a:p>
            <a:r>
              <a:rPr lang="fr-FR"/>
              <a:t>Majuscules : UN INTERNE TUE - donne le ton d'une phrase choc en majuscules, pas d'un texte en majuscules.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Les espaces parasites sont invisibles mais cassent la structure du document.</a:t>
            </a:r>
          </a:p>
          <a:p>
            <a:r>
              <a:rPr lang="fr-FR"/>
              <a:t>Montrer la différence entre Afficher tout activé et désactivé.</a:t>
            </a:r>
          </a:p>
          <a:p>
            <a:r>
              <a:rPr lang="fr-FR"/>
              <a:t>Pour les objets clignotants : c'est une règle de sécurité, pas de préférence.</a:t>
            </a:r>
          </a:p>
          <a:p>
            <a:r>
              <a:rPr lang="fr-FR"/>
              <a:t>Un seul incident suffira pour comprendre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 pilier 5 est la checklist finale avant envoi. 2 minutes maximum.</a:t>
            </a:r>
          </a:p>
          <a:p>
            <a:r>
              <a:rPr lang="fr-FR"/>
              <a:t>Le vérificateur Word est le dernier filet de sécurité - mais il ne détecte pas tout (voir slide suivante).</a:t>
            </a:r>
          </a:p>
          <a:p>
            <a:r>
              <a:rPr lang="fr-FR"/>
              <a:t>Insister sur le nom de fichier : c'est le seul identifiant visible avant d'ouvrir le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Analogie : le vérificateur d'orthographe ne détecte pas les fautes de sens (il accepte et la et à).</a:t>
            </a:r>
          </a:p>
          <a:p>
            <a:r>
              <a:rPr lang="fr-FR"/>
              <a:t>Le vérificateur d'accessibilité ne détecte pas un texte alt vide de sens.</a:t>
            </a:r>
          </a:p>
          <a:p>
            <a:r>
              <a:rPr lang="fr-FR"/>
              <a:t>Les 5 colonnes du tableau montrent la limite de l'outil.</a:t>
            </a:r>
          </a:p>
          <a:p>
            <a:r>
              <a:rPr lang="fr-FR"/>
              <a:t>Toujours faire une relecture humaine.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Sophie a tout faux, mais aucune de ses erreurs n'est due à de la mauvaise volonté - juste des habitudes.</a:t>
            </a:r>
          </a:p>
          <a:p>
            <a:r>
              <a:rPr lang="fr-FR"/>
              <a:t>Tout le monde a fait au moins 3 de ces erreurs dans sa carrière.</a:t>
            </a:r>
          </a:p>
          <a:p>
            <a:r>
              <a:rPr lang="fr-FR"/>
              <a:t>Le temps de 8 minutes est mesuré - pas estimé.</a:t>
            </a:r>
          </a:p>
          <a:p>
            <a:r>
              <a:rPr lang="fr-FR"/>
              <a:t>Proposer aux stagiaires de corriger un vrai document en 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 quadrant haut-gauche est le meilleur investissement. 4 actions qui couvrent les piliers 1, 3 et 5 - les plus impactants.</a:t>
            </a:r>
          </a:p>
          <a:p>
            <a:r>
              <a:rPr lang="fr-FR"/>
              <a:t>Retravailler un document entier est décourageant : commencer par les nouveaux documents.</a:t>
            </a:r>
          </a:p>
          <a:p>
            <a:r>
              <a:rPr lang="fr-FR"/>
              <a:t>Le contraste sur des centaines de pages = piège : traiter à la source (templates, charte graphique).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Laisser 3 minutes de réflexion individuelle.</a:t>
            </a:r>
          </a:p>
          <a:p>
            <a:r>
              <a:rPr lang="fr-FR"/>
              <a:t>Corriger en groupe, commenter les erreurs manquées.</a:t>
            </a:r>
          </a:p>
          <a:p>
            <a:r>
              <a:rPr lang="fr-FR"/>
              <a:t>Si quelqu'un trouve les 5 : féliciter et demander combien de temps il a mis.</a:t>
            </a:r>
          </a:p>
          <a:p>
            <a:r>
              <a:rPr lang="fr-FR"/>
              <a:t>Si moins de 3 : identifier quel pilier est moins bien maîtrisé et orienter vers les slides correspondantes.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Silence total pendant 2 minutes.</a:t>
            </a:r>
          </a:p>
          <a:p>
            <a:r>
              <a:rPr lang="fr-FR"/>
              <a:t>Ne pas aider.</a:t>
            </a:r>
          </a:p>
          <a:p>
            <a:r>
              <a:rPr lang="fr-FR"/>
              <a:t>Ce travail de récupération active consolide la mémoire à long terme plus efficacement que relire le support.</a:t>
            </a:r>
          </a:p>
          <a:p>
            <a:r>
              <a:rPr lang="fr-FR"/>
              <a:t>Quand tout le monde a écrit : comparer avec la réponse.</a:t>
            </a:r>
          </a:p>
          <a:p>
            <a:r>
              <a:rPr lang="fr-FR"/>
              <a:t>L'écart entre ce qu'on croit savoir et ce qu'on sait vraiment est très instructif.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Ces 3 gestes en 2 minutes sur chaque nouveau document.</a:t>
            </a:r>
          </a:p>
          <a:p>
            <a:r>
              <a:rPr lang="fr-FR"/>
              <a:t>Pas besoin de tout maîtriser d'un coup : commencer par 1, installer le réflexe, ajouter le suivant.</a:t>
            </a:r>
          </a:p>
          <a:p>
            <a:r>
              <a:rPr lang="fr-FR"/>
              <a:t>Dans 30 jours, c'est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Cette checklist est l'outil quotidien.</a:t>
            </a:r>
          </a:p>
          <a:p>
            <a:r>
              <a:rPr lang="fr-FR"/>
              <a:t>La plastifier ou la garder en favoris. 5 minutes avant d'envoyer un document : parcourir de haut en bas.</a:t>
            </a:r>
          </a:p>
          <a:p>
            <a:r>
              <a:rPr lang="fr-FR"/>
              <a:t>Ne pas tout faire d'un coup au début : commencer par les 3 premiers critères de chaque colonne.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Les répétitions espacées multiplient par 3 la rétention à long terme (Ebbinghaus, confirmé par Pashler 2007).</a:t>
            </a:r>
          </a:p>
          <a:p>
            <a:r>
              <a:rPr lang="fr-FR"/>
              <a:t>J+7 = pic de l'oubli.</a:t>
            </a:r>
          </a:p>
          <a:p>
            <a:r>
              <a:rPr lang="fr-FR"/>
              <a:t>J+30 = consolidation à long terme.</a:t>
            </a:r>
          </a:p>
          <a:p>
            <a:r>
              <a:rPr lang="fr-FR"/>
              <a:t>La phrase-clé est l'ancre : si un stagiaire ne retient qu'une chose, c'est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Dernière diapo : fermeture psychologique.</a:t>
            </a:r>
          </a:p>
          <a:p>
            <a:r>
              <a:rPr lang="fr-FR"/>
              <a:t>L'engagement explicite (« je m'engage ») crée une intention comportementale plus forte qu'une simple affirmation.</a:t>
            </a:r>
          </a:p>
          <a:p>
            <a:r>
              <a:rPr lang="fr-FR"/>
              <a:t>Laisser chaque stagiaire écrire son engagement personnel en bas de la diapo (physique ou mental).</a:t>
            </a:r>
          </a:p>
          <a:p>
            <a:r>
              <a:rPr lang="fr-FR"/>
              <a:t>La répétition J+7 et J+30 est un contrat entre le stagiaire et lui-même : respectez le calendrier, les réflexes s'installent.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59997" y="5226516"/>
            <a:ext cx="4319989" cy="1199997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Institut de la Gestion publique </a:t>
            </a:r>
            <a:br>
              <a:rPr lang="fr-FR" dirty="0"/>
            </a:br>
            <a:r>
              <a:rPr lang="fr-FR" dirty="0"/>
              <a:t>et du Développement économique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9" y="260647"/>
            <a:ext cx="4579487" cy="414909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299" y="776635"/>
            <a:ext cx="3132658" cy="31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386" userDrawn="1">
          <p15:clr>
            <a:srgbClr val="FBAE40"/>
          </p15:clr>
        </p15:guide>
        <p15:guide id="4" pos="443" userDrawn="1">
          <p15:clr>
            <a:srgbClr val="FBAE40"/>
          </p15:clr>
        </p15:guide>
        <p15:guide id="5" orient="horz" pos="30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8" y="3128053"/>
            <a:ext cx="11231971" cy="276959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7" y="212775"/>
            <a:ext cx="2143038" cy="194163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67" y="465665"/>
            <a:ext cx="1464915" cy="1464915"/>
          </a:xfrm>
          <a:prstGeom prst="rect">
            <a:avLst/>
          </a:prstGeom>
        </p:spPr>
      </p:pic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6" y="2522617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5988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77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3997"/>
            <a:ext cx="12191969" cy="5875185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983997"/>
            <a:ext cx="11231971" cy="5395186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7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5988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1979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6" y="2447993"/>
            <a:ext cx="1123197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7" y="1199997"/>
            <a:ext cx="11231971" cy="9599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7" y="2447993"/>
            <a:ext cx="11231971" cy="34319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1974" y="6377984"/>
            <a:ext cx="1559996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79998" y="6377984"/>
            <a:ext cx="7871980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1979" y="6377984"/>
            <a:ext cx="1799995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6" y="147038"/>
            <a:ext cx="737074" cy="6678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61" y="243271"/>
            <a:ext cx="477928" cy="4779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2. Documents bureautiques accessibles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bureautiques accessibles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</a:t>
            </a:r>
            <a:endParaRPr lang="fr-FR" dirty="0"/>
          </a:p>
        </p:txBody>
      </p:sp>
      <p:sp>
        <p:nvSpPr>
          <p:cNvPr id="14" name="Title-DSFR-soustitre"/>
          <p:cNvSpPr txBox="1"/>
          <p:nvPr/>
        </p:nvSpPr>
        <p:spPr>
          <a:xfrm>
            <a:off x="475488" y="2286000"/>
            <a:ext cx="1122883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 lang="fr-FR">
                <a:solidFill>
                  <a:srgbClr val="000091"/>
                </a:solidFill>
                <a:latin typeface="Marianne"/>
              </a:rPr>
              <a:t>Le lecteur d'écran en action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2103120"/>
            <a:ext cx="11155680" cy="15544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quote-texte"/>
          <p:cNvSpPr txBox="1"/>
          <p:nvPr/>
        </p:nvSpPr>
        <p:spPr>
          <a:xfrm>
            <a:off x="749808" y="2240279"/>
            <a:ext cx="1086307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 lang="fr-FR">
                <a:solidFill>
                  <a:srgbClr val="161616"/>
                </a:solidFill>
                <a:latin typeface="Marianne"/>
              </a:rPr>
              <a:t>“ Texte, texte, texte, texte, texte, texte... Pendant 4 minutes. Sans titre. Sans repère. Sans pouvoir naviguer vers la section qui le concerne. ”</a:t>
            </a:r>
          </a:p>
        </p:txBody>
      </p:sp>
      <p:sp>
        <p:nvSpPr>
          <p:cNvPr id="18" name="DSFR-quote-auteur"/>
          <p:cNvSpPr txBox="1"/>
          <p:nvPr/>
        </p:nvSpPr>
        <p:spPr>
          <a:xfrm>
            <a:off x="749808" y="3200400"/>
            <a:ext cx="1086307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000091"/>
                </a:solidFill>
                <a:latin typeface="Marianne"/>
              </a:rPr>
              <a:t>- Ce qu'entend une personne malvoyante face à votre document Word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114800"/>
            <a:ext cx="11155680" cy="13487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alert-warning-titre"/>
          <p:cNvSpPr txBox="1"/>
          <p:nvPr/>
        </p:nvSpPr>
        <p:spPr>
          <a:xfrm>
            <a:off x="704088" y="420624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15 % de vos destinataires sont concernés</a:t>
            </a:r>
          </a:p>
        </p:txBody>
      </p:sp>
      <p:sp>
        <p:nvSpPr>
          <p:cNvPr id="22" name="DSFR-alert-warning-body"/>
          <p:cNvSpPr txBox="1"/>
          <p:nvPr/>
        </p:nvSpPr>
        <p:spPr>
          <a:xfrm>
            <a:off x="704088" y="4617720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80 % de ces handicaps sont invisibles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Dans une réunion de 12 personnes : au moins 1 daltonien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Parmi 30 destinataires : 4 ou 5 ont un handicap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Contexte</a:t>
            </a:r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210312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11480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Quiz flash : lequel est accessible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760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info-titre"/>
          <p:cNvSpPr txBox="1"/>
          <p:nvPr/>
        </p:nvSpPr>
        <p:spPr>
          <a:xfrm>
            <a:off x="704088" y="21945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Document A ou document B ?</a:t>
            </a:r>
          </a:p>
        </p:txBody>
      </p:sp>
      <p:sp>
        <p:nvSpPr>
          <p:cNvPr id="11" name="DSFR-alert-info-body"/>
          <p:cNvSpPr txBox="1"/>
          <p:nvPr/>
        </p:nvSpPr>
        <p:spPr>
          <a:xfrm>
            <a:off x="704088" y="2606039"/>
            <a:ext cx="10908792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 : titres en gras Arial 16, image sans description, nom de fichier Document1.docx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B : titres avec le style Titre 1, image avec texte de remplacement, nom rapport-bilan-2024.docx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Ils sont visuellement identiques.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502920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highlight"/>
          <p:cNvSpPr txBox="1"/>
          <p:nvPr/>
        </p:nvSpPr>
        <p:spPr>
          <a:xfrm>
            <a:off x="749808" y="5120640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Réponse après la prochaine section.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Quiz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502920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Pourquoi ça vous concerne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</a:t>
            </a:r>
            <a:endParaRPr lang="fr-FR" dirty="0"/>
          </a:p>
        </p:txBody>
      </p:sp>
      <p:sp>
        <p:nvSpPr>
          <p:cNvPr id="8" name="DSFR-kpi-pave"/>
          <p:cNvSpPr/>
          <p:nvPr/>
        </p:nvSpPr>
        <p:spPr>
          <a:xfrm>
            <a:off x="475488" y="2103120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15 %</a:t>
            </a:r>
          </a:p>
        </p:txBody>
      </p:sp>
      <p:sp>
        <p:nvSpPr>
          <p:cNvPr id="9" name="DSFR-kpi-label"/>
          <p:cNvSpPr txBox="1"/>
          <p:nvPr/>
        </p:nvSpPr>
        <p:spPr>
          <a:xfrm>
            <a:off x="475488" y="3063239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de vos destinataires sont concernés par un handicap</a:t>
            </a:r>
          </a:p>
        </p:txBody>
      </p:sp>
      <p:sp>
        <p:nvSpPr>
          <p:cNvPr id="10" name="DSFR-kpi-pave"/>
          <p:cNvSpPr/>
          <p:nvPr/>
        </p:nvSpPr>
        <p:spPr>
          <a:xfrm>
            <a:off x="4319015" y="2103120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80 %</a:t>
            </a:r>
          </a:p>
        </p:txBody>
      </p:sp>
      <p:sp>
        <p:nvSpPr>
          <p:cNvPr id="11" name="DSFR-kpi-label"/>
          <p:cNvSpPr txBox="1"/>
          <p:nvPr/>
        </p:nvSpPr>
        <p:spPr>
          <a:xfrm>
            <a:off x="4319015" y="3063239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de ces handicaps sont invisibles - rien ne le montre</a:t>
            </a:r>
          </a:p>
        </p:txBody>
      </p:sp>
      <p:sp>
        <p:nvSpPr>
          <p:cNvPr id="12" name="DSFR-kpi-pave"/>
          <p:cNvSpPr/>
          <p:nvPr/>
        </p:nvSpPr>
        <p:spPr>
          <a:xfrm>
            <a:off x="8162543" y="2103120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0 ligne</a:t>
            </a:r>
          </a:p>
        </p:txBody>
      </p:sp>
      <p:sp>
        <p:nvSpPr>
          <p:cNvPr id="13" name="DSFR-kpi-label"/>
          <p:cNvSpPr txBox="1"/>
          <p:nvPr/>
        </p:nvSpPr>
        <p:spPr>
          <a:xfrm>
            <a:off x="8162543" y="3063239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de code nécessaire - uniquement des réflexes dans le ruban Word</a:t>
            </a:r>
          </a:p>
        </p:txBody>
      </p:sp>
      <p:sp>
        <p:nvSpPr>
          <p:cNvPr id="15" name="DSFR-box"/>
          <p:cNvSpPr/>
          <p:nvPr/>
        </p:nvSpPr>
        <p:spPr>
          <a:xfrm>
            <a:off x="548640" y="4754880"/>
            <a:ext cx="11155680" cy="13487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llout-titre"/>
          <p:cNvSpPr txBox="1"/>
          <p:nvPr/>
        </p:nvSpPr>
        <p:spPr>
          <a:xfrm>
            <a:off x="704088" y="484632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Réponse au quiz : Document B</a:t>
            </a:r>
          </a:p>
        </p:txBody>
      </p:sp>
      <p:sp>
        <p:nvSpPr>
          <p:cNvPr id="17" name="DSFR-callout-body"/>
          <p:cNvSpPr txBox="1"/>
          <p:nvPr/>
        </p:nvSpPr>
        <p:spPr>
          <a:xfrm>
            <a:off x="704088" y="5257800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 style Titre 1 crée une structure de navigation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 texte de remplacement décrit la fonction de l'image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 nom de fichier permet de retrouver le document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Pourquoi</a:t>
            </a:r>
          </a:p>
        </p:txBody>
      </p:sp>
      <p:sp>
        <p:nvSpPr>
          <p:cNvPr id="14" name="DSFR-accent-decoratif" descr=""/>
          <p:cNvSpPr/>
          <p:nvPr/>
        </p:nvSpPr>
        <p:spPr>
          <a:xfrm>
            <a:off x="475488" y="475488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5 piliers, 21 critères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Chaque pilier = des critères actionnables immédiatement dans le ruban Word.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5488" y="3017520"/>
          <a:ext cx="1122883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28431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Pilier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Ce que vous allez apprendre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1. Structure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Titres, listes, colonnes, tableaux, sauts de page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2. Couleurs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Contraste, couleur seule insuffisante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3. Contenus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Images, liens, zones de texte, infos essentielles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4. Langue et lisibilité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Balisage linguistique, majuscules, espaces, médias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5. Finalisation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Propriétés, nom de fichier, vérificateur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Vue d'ensemble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1 - Les styles de titre : le fondement de tout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1. Structure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Devinez : comment un lecteur d'écran repère-t-il les titres dans Word ?</a:t>
            </a:r>
          </a:p>
        </p:txBody>
      </p:sp>
      <p:sp>
        <p:nvSpPr>
          <p:cNvPr id="12" name="DSFR-box"/>
          <p:cNvSpPr/>
          <p:nvPr/>
        </p:nvSpPr>
        <p:spPr>
          <a:xfrm>
            <a:off x="548640" y="3200400"/>
            <a:ext cx="5390388" cy="1760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lert-error-titre"/>
          <p:cNvSpPr txBox="1"/>
          <p:nvPr/>
        </p:nvSpPr>
        <p:spPr>
          <a:xfrm>
            <a:off x="704088" y="329184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Sans styles de titre</a:t>
            </a:r>
          </a:p>
        </p:txBody>
      </p:sp>
      <p:sp>
        <p:nvSpPr>
          <p:cNvPr id="14" name="DSFR-alert-error-body"/>
          <p:cNvSpPr txBox="1"/>
          <p:nvPr/>
        </p:nvSpPr>
        <p:spPr>
          <a:xfrm>
            <a:off x="704088" y="3703320"/>
            <a:ext cx="5143500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Texte, texte, texte, texte...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Un bloc plat - aucun repère de navigation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4 minutes d'écoute sans pouvoir avancer</a:t>
            </a:r>
          </a:p>
        </p:txBody>
      </p:sp>
      <p:sp>
        <p:nvSpPr>
          <p:cNvPr id="16" name="DSFR-box"/>
          <p:cNvSpPr/>
          <p:nvPr/>
        </p:nvSpPr>
        <p:spPr>
          <a:xfrm>
            <a:off x="6313931" y="3200400"/>
            <a:ext cx="5390388" cy="1760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alert-success-titre"/>
          <p:cNvSpPr txBox="1"/>
          <p:nvPr/>
        </p:nvSpPr>
        <p:spPr>
          <a:xfrm>
            <a:off x="6469379" y="329184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Avec Titre 1, Titre 2, Titre 3</a:t>
            </a:r>
          </a:p>
        </p:txBody>
      </p:sp>
      <p:sp>
        <p:nvSpPr>
          <p:cNvPr id="18" name="DSFR-alert-success-body"/>
          <p:cNvSpPr txBox="1"/>
          <p:nvPr/>
        </p:nvSpPr>
        <p:spPr>
          <a:xfrm>
            <a:off x="6469379" y="3703320"/>
            <a:ext cx="5143500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Titre 1 : Rapport annuel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Titre 2 : Budget / Titre 3 : Prévisions 2025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Navigation en quelques secondes comme une table des matières interactive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5623560"/>
            <a:ext cx="11155680" cy="13487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llout-titre"/>
          <p:cNvSpPr txBox="1"/>
          <p:nvPr/>
        </p:nvSpPr>
        <p:spPr>
          <a:xfrm>
            <a:off x="704088" y="571500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Comment faire</a:t>
            </a:r>
          </a:p>
        </p:txBody>
      </p:sp>
      <p:sp>
        <p:nvSpPr>
          <p:cNvPr id="22" name="DSFR-callout-body"/>
          <p:cNvSpPr txBox="1"/>
          <p:nvPr/>
        </p:nvSpPr>
        <p:spPr>
          <a:xfrm>
            <a:off x="704088" y="6126480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Clic sur le titre &gt; Accueil &gt; Styles &gt; Titre 1, Titre 2 ou Titre 3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Raccourci volet Styles : Ctrl+Alt+Maj+S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Vérification : Ctrl+F &gt; onglet Titres - les titres apparaissent ? C'est bon.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Structure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320040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accent-decoratif" descr=""/>
          <p:cNvSpPr/>
          <p:nvPr/>
        </p:nvSpPr>
        <p:spPr>
          <a:xfrm>
            <a:off x="6240779" y="320040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562356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1 - Listes natives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1. Structure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5390388" cy="19659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success-titre"/>
          <p:cNvSpPr txBox="1"/>
          <p:nvPr/>
        </p:nvSpPr>
        <p:spPr>
          <a:xfrm>
            <a:off x="704088" y="233172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✓  Liste accessible</a:t>
            </a:r>
          </a:p>
        </p:txBody>
      </p:sp>
      <p:sp>
        <p:nvSpPr>
          <p:cNvPr id="11" name="DSFR-alert-success-body"/>
          <p:cNvSpPr txBox="1"/>
          <p:nvPr/>
        </p:nvSpPr>
        <p:spPr>
          <a:xfrm>
            <a:off x="704088" y="2743200"/>
            <a:ext cx="51435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 lecteur annonce : liste de 3 éléments, élément 1 sur 3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Navigation par élément avec les touches flèches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Créer avec : Accueil &gt; Paragraphe &gt; Puces ou Numérotation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240280"/>
            <a:ext cx="5390388" cy="19659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error-titre"/>
          <p:cNvSpPr txBox="1"/>
          <p:nvPr/>
        </p:nvSpPr>
        <p:spPr>
          <a:xfrm>
            <a:off x="6469379" y="233172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✗  Liste inaccessible</a:t>
            </a:r>
          </a:p>
        </p:txBody>
      </p:sp>
      <p:sp>
        <p:nvSpPr>
          <p:cNvPr id="15" name="DSFR-alert-error-body"/>
          <p:cNvSpPr txBox="1"/>
          <p:nvPr/>
        </p:nvSpPr>
        <p:spPr>
          <a:xfrm>
            <a:off x="6469379" y="2743200"/>
            <a:ext cx="51435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Tirets manuels : le lecteur lit tiret Premier élément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Tabulations pour simuler une numérotation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Réseaux d'espaces pour aligner visuellement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852160"/>
            <a:ext cx="11155680" cy="937259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llout-titre"/>
          <p:cNvSpPr txBox="1"/>
          <p:nvPr/>
        </p:nvSpPr>
        <p:spPr>
          <a:xfrm>
            <a:off x="704088" y="594360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Vérification</a:t>
            </a:r>
          </a:p>
        </p:txBody>
      </p:sp>
      <p:sp>
        <p:nvSpPr>
          <p:cNvPr id="19" name="DSFR-callout-body"/>
          <p:cNvSpPr txBox="1"/>
          <p:nvPr/>
        </p:nvSpPr>
        <p:spPr>
          <a:xfrm>
            <a:off x="704088" y="6355080"/>
            <a:ext cx="10908792" cy="3428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Maj+F1 (Révéler la mise en forme) &gt; Puces et numérotation doit apparaître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Structure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19659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240280"/>
            <a:ext cx="73152" cy="19659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852160"/>
            <a:ext cx="73152" cy="937259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1 - Tableaux et objets flottants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1. Structure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5544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quote-texte"/>
          <p:cNvSpPr txBox="1"/>
          <p:nvPr/>
        </p:nvSpPr>
        <p:spPr>
          <a:xfrm>
            <a:off x="749808" y="2240279"/>
            <a:ext cx="1086307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 lang="fr-FR">
                <a:solidFill>
                  <a:srgbClr val="161616"/>
                </a:solidFill>
                <a:latin typeface="Marianne"/>
              </a:rPr>
              <a:t>“ Si vous touchez à Tab, Espace ou Entrée pour simuler une mise en page, vous créez une barrière invisible pour les technologies d'assistance. ”</a:t>
            </a:r>
          </a:p>
        </p:txBody>
      </p:sp>
      <p:sp>
        <p:nvSpPr>
          <p:cNvPr id="11" name="DSFR-quote-auteur"/>
          <p:cNvSpPr txBox="1"/>
          <p:nvPr/>
        </p:nvSpPr>
        <p:spPr>
          <a:xfrm>
            <a:off x="749808" y="3200400"/>
            <a:ext cx="1086307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000091"/>
                </a:solidFill>
                <a:latin typeface="Marianne"/>
              </a:rPr>
              <a:t>- La règle d'or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3657600"/>
            <a:ext cx="11155680" cy="13487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704088" y="374903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Tableaux de mise en page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704088" y="4160520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Insertion &gt; Tableau &gt; choisir les colonnes et lignes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Habillage : clic droit &gt; Propriétés &gt; Habillage = Aucun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Un tableau flottant (Autour) n'est pas lu au bon moment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212080"/>
            <a:ext cx="11155680" cy="1143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lert-warning-titre"/>
          <p:cNvSpPr txBox="1"/>
          <p:nvPr/>
        </p:nvSpPr>
        <p:spPr>
          <a:xfrm>
            <a:off x="704088" y="530352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Objets flottants : zones de texte et images en habillage Devant le texte</a:t>
            </a:r>
          </a:p>
        </p:txBody>
      </p:sp>
      <p:sp>
        <p:nvSpPr>
          <p:cNvPr id="19" name="DSFR-alert-warning-body"/>
          <p:cNvSpPr txBox="1"/>
          <p:nvPr/>
        </p:nvSpPr>
        <p:spPr>
          <a:xfrm>
            <a:off x="704088" y="571500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Invisibles ou lus dans un ordre aléatoire par le lecteur d'écran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Solution : colonnes intégrées Word ou habillage En ligne avec le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Structure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365760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21208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2 - Contraste : un seuil chiffré, pas une opinion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2. Couleurs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9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445894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2580894" cy="20116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Ouvrir le Colour Contrast Analyser (CCA) de TPGi - gratuit Windows et macOS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4328541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3358134" y="2834640"/>
            <a:ext cx="2580894" cy="20116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Pipette Premier plan sur la couleur du texte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7211186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6240779" y="2834640"/>
            <a:ext cx="2580894" cy="20116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Pipette Arrière-plan sur la couleur du fond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10093832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8" name="DSFR-stepper-texte-4"/>
          <p:cNvSpPr txBox="1"/>
          <p:nvPr/>
        </p:nvSpPr>
        <p:spPr>
          <a:xfrm>
            <a:off x="9123426" y="2834640"/>
            <a:ext cx="2580894" cy="20116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Lire le ratio : conforme si &gt;= 4,5:1 texte normal, &gt;= 3:1 grand texte</a:t>
            </a:r>
          </a:p>
        </p:txBody>
      </p:sp>
      <p:sp>
        <p:nvSpPr>
          <p:cNvPr id="19" name="DSFR-kpi-pave"/>
          <p:cNvSpPr/>
          <p:nvPr/>
        </p:nvSpPr>
        <p:spPr>
          <a:xfrm>
            <a:off x="475488" y="5029200"/>
            <a:ext cx="5463540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4,5:1</a:t>
            </a:r>
          </a:p>
        </p:txBody>
      </p:sp>
      <p:sp>
        <p:nvSpPr>
          <p:cNvPr id="20" name="DSFR-kpi-label"/>
          <p:cNvSpPr txBox="1"/>
          <p:nvPr/>
        </p:nvSpPr>
        <p:spPr>
          <a:xfrm>
            <a:off x="475488" y="5989320"/>
            <a:ext cx="5463540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Texte normal (sous 18 pt)</a:t>
            </a:r>
          </a:p>
        </p:txBody>
      </p:sp>
      <p:sp>
        <p:nvSpPr>
          <p:cNvPr id="21" name="DSFR-kpi-pave"/>
          <p:cNvSpPr/>
          <p:nvPr/>
        </p:nvSpPr>
        <p:spPr>
          <a:xfrm>
            <a:off x="6240779" y="5029200"/>
            <a:ext cx="5463540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3:1</a:t>
            </a:r>
          </a:p>
        </p:txBody>
      </p:sp>
      <p:sp>
        <p:nvSpPr>
          <p:cNvPr id="22" name="DSFR-kpi-label"/>
          <p:cNvSpPr txBox="1"/>
          <p:nvPr/>
        </p:nvSpPr>
        <p:spPr>
          <a:xfrm>
            <a:off x="6240779" y="5989320"/>
            <a:ext cx="5463540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Texte large (18 pt+ ou 14 pt gras)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Couleurs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085975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968621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7851267" y="2404872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2 - La couleur ne suffit jamais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2. Couleurs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10</a:t>
            </a:r>
            <a:endParaRPr lang="fr-FR" dirty="0"/>
          </a:p>
        </p:txBody>
      </p:sp>
      <p:sp>
        <p:nvSpPr>
          <p:cNvPr id="8" name="DSFR-kpi-pave"/>
          <p:cNvSpPr/>
          <p:nvPr/>
        </p:nvSpPr>
        <p:spPr>
          <a:xfrm>
            <a:off x="475488" y="2103120"/>
            <a:ext cx="3200400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8 %</a:t>
            </a:r>
          </a:p>
        </p:txBody>
      </p:sp>
      <p:sp>
        <p:nvSpPr>
          <p:cNvPr id="9" name="DSFR-kpi-label"/>
          <p:cNvSpPr txBox="1"/>
          <p:nvPr/>
        </p:nvSpPr>
        <p:spPr>
          <a:xfrm>
            <a:off x="475488" y="3063239"/>
            <a:ext cx="3200400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des hommes ne distinguent pas toutes les couleurs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" y="3657600"/>
          <a:ext cx="1122883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416"/>
                <a:gridCol w="5614416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Inaccessible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Accessible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Statut : rouge / vert / jaune (couleur seule)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Statut : En retard / Terminé / En cours (texte + couleur)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Budget : zone verte = OK (couleur seule)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Budget : OK (vert) / Attention (orange) / Dépassé (rouge)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</a:tbl>
          </a:graphicData>
        </a:graphic>
      </p:graphicFrame>
      <p:sp>
        <p:nvSpPr>
          <p:cNvPr id="12" name="DSFR-box"/>
          <p:cNvSpPr/>
          <p:nvPr/>
        </p:nvSpPr>
        <p:spPr>
          <a:xfrm>
            <a:off x="548640" y="548640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highlight"/>
          <p:cNvSpPr txBox="1"/>
          <p:nvPr/>
        </p:nvSpPr>
        <p:spPr>
          <a:xfrm>
            <a:off x="749808" y="557784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Règle : le texte porte l'information, la couleur la renforce.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Couleurs</a:t>
            </a:r>
          </a:p>
        </p:txBody>
      </p:sp>
      <p:sp>
        <p:nvSpPr>
          <p:cNvPr id="11" name="DSFR-accent-decoratif" descr=""/>
          <p:cNvSpPr/>
          <p:nvPr/>
        </p:nvSpPr>
        <p:spPr>
          <a:xfrm>
            <a:off x="475488" y="548640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3 - Texte alternatif sur les images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3. Contenus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11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926335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354177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Clic droit sur l'image &gt; Format de l'image &gt; Texte de remplacement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5769863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4319015" y="2834640"/>
            <a:ext cx="354177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Image significative : décrire la fonction, pas l'apparence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9613391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5" name="DSFR-stepper-texte-3"/>
          <p:cNvSpPr txBox="1"/>
          <p:nvPr/>
        </p:nvSpPr>
        <p:spPr>
          <a:xfrm>
            <a:off x="8162543" y="2834640"/>
            <a:ext cx="354177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Image décorative : cocher Marquer comme décoratif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5488" y="4114800"/>
          <a:ext cx="1122883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199632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Mauvais texte alt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Bon texte alt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Photo d'un graphique en barres colorées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Chiffre d'affaires 2020-2024 : hausse de 15 à 23 %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Logo de l'entreprise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(vide - image décorative)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image.png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Organigramme du service : 4 équipes, 28 agents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Contenus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566416" y="240487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6409944" y="2404872"/>
            <a:ext cx="3203447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3 - Liens et informations essentielles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3. Contenus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12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03120"/>
          <a:ext cx="1122883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14032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Inaccessible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Accessible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Cliquez ici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Consulter le guide d'accessibilité Word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En savoir plus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Télécharger le rapport annuel 2024 (PDF, 2 Mo)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URL brute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Accéder au formulaire de contact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4389120"/>
            <a:ext cx="11155680" cy="13487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lert-warning-titre"/>
          <p:cNvSpPr txBox="1"/>
          <p:nvPr/>
        </p:nvSpPr>
        <p:spPr>
          <a:xfrm>
            <a:off x="704088" y="448055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Informations essentielles dans les zones non lues</a:t>
            </a:r>
          </a:p>
        </p:txBody>
      </p:sp>
      <p:sp>
        <p:nvSpPr>
          <p:cNvPr id="12" name="DSFR-alert-warning-body"/>
          <p:cNvSpPr txBox="1"/>
          <p:nvPr/>
        </p:nvSpPr>
        <p:spPr>
          <a:xfrm>
            <a:off x="704088" y="4892040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En-têtes et pieds de page : non lus automatiquement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Filigranes (CONFIDENTIEL, BROUILLON) : invisibles pour le lecteur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Solution : reproduire l'information essentielle dans le corps du document</a:t>
            </a:r>
          </a:p>
        </p:txBody>
      </p:sp>
      <p:sp>
        <p:nvSpPr>
          <p:cNvPr id="14" name="DSFR-box"/>
          <p:cNvSpPr/>
          <p:nvPr/>
        </p:nvSpPr>
        <p:spPr>
          <a:xfrm>
            <a:off x="548640" y="5943600"/>
            <a:ext cx="11155680" cy="11430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llout-titre"/>
          <p:cNvSpPr txBox="1"/>
          <p:nvPr/>
        </p:nvSpPr>
        <p:spPr>
          <a:xfrm>
            <a:off x="704088" y="603504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Pour les liens de téléchargement</a:t>
            </a:r>
          </a:p>
        </p:txBody>
      </p:sp>
      <p:sp>
        <p:nvSpPr>
          <p:cNvPr id="16" name="DSFR-callout-body"/>
          <p:cNvSpPr txBox="1"/>
          <p:nvPr/>
        </p:nvSpPr>
        <p:spPr>
          <a:xfrm>
            <a:off x="704088" y="644652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Intégrer : titre + format + poids + langue si elle diffère du document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Exemple : "Rapport annuel 2024 (PDF, 2 Mo, version anglaise)"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Contenus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438912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475488" y="594360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Exercice : les erreurs de Karine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Exercice cross-piliers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760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info-titre"/>
          <p:cNvSpPr txBox="1"/>
          <p:nvPr/>
        </p:nvSpPr>
        <p:spPr>
          <a:xfrm>
            <a:off x="704088" y="21945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Mise en situation</a:t>
            </a:r>
          </a:p>
        </p:txBody>
      </p:sp>
      <p:sp>
        <p:nvSpPr>
          <p:cNvPr id="11" name="DSFR-alert-info-body"/>
          <p:cNvSpPr txBox="1"/>
          <p:nvPr/>
        </p:nvSpPr>
        <p:spPr>
          <a:xfrm>
            <a:off x="704088" y="2606039"/>
            <a:ext cx="10908792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Karine, chargée de communication, envoie son rapport trimestriel à 40 personnes.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 document contient : un titre Introduction en gras Arial 16 / un graphique de résultats sans description / la mention URGENT écrite uniquement en rouge / un lien cliquez ici pour les annexes.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Quels piliers sont concernés ? Quelles corrections, dans quel ordre ?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5120640"/>
            <a:ext cx="11155680" cy="15544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704088" y="521207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3 piliers, 4 corrections, 6 minutes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704088" y="5623559"/>
            <a:ext cx="10908792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Pilier 1 - Appliquer le style Titre 1 sur Introduction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Pilier 2 - Doubler URGENT en texte : URGENT - Répondre avant le 15 mai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Pilier 3 - Texte alt sur le graphique : Résultats T1 2025 : hausse de 12 %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Pilier 3 - Renommer le lien : Consulter les annexes du rapport T1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Exercice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512064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4 - Langue, majuscules et lisibilité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4. Langue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3487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Balisage de langue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Langue principale : Fichier &gt; Options &gt; Langue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Passage étranger : sélectionner le texte &gt; Révision &gt; Langue &gt; Définir la langue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Sans balisage : le lecteur prononce meeting comme me-e-ting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3771900"/>
            <a:ext cx="11155680" cy="15544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704088" y="386333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Majuscules : deux problèmes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704088" y="4274820"/>
            <a:ext cx="10908792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Difficiles à lire pour les dyslexiques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Prononciation ambiguë par les lecteurs d'écran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Solution : écrire en minuscule + Accueil &gt; Police &gt; Modifier la casse &gt; MAJUSCULES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56464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highlight"/>
          <p:cNvSpPr txBox="1"/>
          <p:nvPr/>
        </p:nvSpPr>
        <p:spPr>
          <a:xfrm>
            <a:off x="749808" y="5737859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Police sans serif (Arial, Calibri), 12 pt minimum, interligne 1,15. Ne pas justifier le texte.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Langue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377190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56464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4 - Espaces et objets clignotants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4. Langue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3487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Activer les marques de formatage : Accueil &gt; Paragraphe &gt; Afficher tout (signe paragraphe)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Points = espaces successifs &gt; supprimer et ne garder qu'un seul espace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Flèches = tabulations utilisées pour simuler une mise en page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Retours à la ligne manuels = utiliser les sauts de page propres à la place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5029200"/>
            <a:ext cx="11155680" cy="13487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error-titre"/>
          <p:cNvSpPr txBox="1"/>
          <p:nvPr/>
        </p:nvSpPr>
        <p:spPr>
          <a:xfrm>
            <a:off x="704088" y="512064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Objets clignotants : tolérance zéro</a:t>
            </a:r>
          </a:p>
        </p:txBody>
      </p:sp>
      <p:sp>
        <p:nvSpPr>
          <p:cNvPr id="15" name="DSFR-alert-error-body"/>
          <p:cNvSpPr txBox="1"/>
          <p:nvPr/>
        </p:nvSpPr>
        <p:spPr>
          <a:xfrm>
            <a:off x="704088" y="5532120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Animations, GIF avec flashs, vidéos à plus de 3 Hz : interdits sans exception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Risque de crise d'épilepsie photosensible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En cas de doute sur un GIF : remplacer par une image statique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Langue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502920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5 - Avant de publier : 5 vérifications en 2 minutes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5. Finalisation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16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157630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2834640"/>
            <a:ext cx="2004364" cy="29260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Propriétés (Titre, Auteur, Objet) : Fichier &gt; Informations &gt; Propriétés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3463747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2781604" y="2834640"/>
            <a:ext cx="2004364" cy="29260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Nom de fichier descriptif en .docx (pas Document1.docx)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5769864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5087721" y="2834640"/>
            <a:ext cx="2004364" cy="29260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Protection : aucune restriction &gt; Révision &gt; Restreindre la modification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8075980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9" name="DSFR-stepper-texte-4"/>
          <p:cNvSpPr txBox="1"/>
          <p:nvPr/>
        </p:nvSpPr>
        <p:spPr>
          <a:xfrm>
            <a:off x="7393838" y="2834640"/>
            <a:ext cx="2004364" cy="29260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Formulaires : aucun champ Word interactif dans le document</a:t>
            </a:r>
          </a:p>
        </p:txBody>
      </p:sp>
      <p:sp>
        <p:nvSpPr>
          <p:cNvPr id="20" name="DSFR-stepper-pastille-5"/>
          <p:cNvSpPr/>
          <p:nvPr/>
        </p:nvSpPr>
        <p:spPr>
          <a:xfrm>
            <a:off x="10382097" y="2103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5</a:t>
            </a:r>
          </a:p>
        </p:txBody>
      </p:sp>
      <p:sp>
        <p:nvSpPr>
          <p:cNvPr id="21" name="DSFR-stepper-texte-5"/>
          <p:cNvSpPr txBox="1"/>
          <p:nvPr/>
        </p:nvSpPr>
        <p:spPr>
          <a:xfrm>
            <a:off x="9699955" y="2834640"/>
            <a:ext cx="2004364" cy="29260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Vérificateur d'accessibilité : Fichier &gt; Vérifier l'accessibilité</a:t>
            </a:r>
          </a:p>
        </p:txBody>
      </p:sp>
      <p:sp>
        <p:nvSpPr>
          <p:cNvPr id="23" name="DSFR-box"/>
          <p:cNvSpPr/>
          <p:nvPr/>
        </p:nvSpPr>
        <p:spPr>
          <a:xfrm>
            <a:off x="548640" y="603504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FR-highlight"/>
          <p:cNvSpPr txBox="1"/>
          <p:nvPr/>
        </p:nvSpPr>
        <p:spPr>
          <a:xfrm>
            <a:off x="749808" y="6126479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Ces 5 vérifications attrapent 80 % des oublis restants.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Finalisation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1797710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103827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6409944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stepper-connecteur-4-decoratif" descr=""/>
          <p:cNvSpPr/>
          <p:nvPr/>
        </p:nvSpPr>
        <p:spPr>
          <a:xfrm>
            <a:off x="8716060" y="2404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accent-decoratif" descr=""/>
          <p:cNvSpPr/>
          <p:nvPr/>
        </p:nvSpPr>
        <p:spPr>
          <a:xfrm>
            <a:off x="475488" y="603504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Pilier 5 - Le vérificateur d'accessibilité Word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5. Finalisation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17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03120"/>
          <a:ext cx="1122883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416"/>
                <a:gridCol w="5614416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Ce qu'il détecte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Ce qu'il ne détecte PAS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Texte alt manquant sur les images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Qualité du texte alt (contenu)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Styles de titre absents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Pertinence des noms de liens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Ordre de lecture problématique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Couleur porteuse de sens seule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Tableaux sans en-tête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Langue des passages étrangers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Contraste insuffisant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5486400"/>
            <a:ext cx="11155680" cy="13487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lert-warning-titre"/>
          <p:cNvSpPr txBox="1"/>
          <p:nvPr/>
        </p:nvSpPr>
        <p:spPr>
          <a:xfrm>
            <a:off x="704088" y="557784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Le vérificateur est un premier filtre, pas un certificat de conformité.</a:t>
            </a:r>
          </a:p>
        </p:txBody>
      </p:sp>
      <p:sp>
        <p:nvSpPr>
          <p:cNvPr id="12" name="DSFR-alert-warning-body"/>
          <p:cNvSpPr txBox="1"/>
          <p:nvPr/>
        </p:nvSpPr>
        <p:spPr>
          <a:xfrm>
            <a:off x="704088" y="5989320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Il signale ce qu'il peut détecter automatiquement - pas ce qui est vraiment accessible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Une absence d'erreur ne signifie pas que le document est accessible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Finalisation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548640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Étude de cas : le compte rendu de Sophie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Étude de cas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76022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1945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Sophie, assistante de direction, doit publier un compte rendu de réunion.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606039"/>
            <a:ext cx="10908792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3 niveaux de titres mis en gras manuellement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2 tableaux avec la 1re ligne en gras (sans ligne d'en-tête identifiée)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1 organigramme sans texte alternatif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1 lien cliquez ici pour le formulaire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 filigrane CONFIDENTIEL</a:t>
            </a:r>
          </a:p>
        </p:txBody>
      </p:sp>
      <p:sp>
        <p:nvSpPr>
          <p:cNvPr id="12" name="DSFR-stepper-pastille-1"/>
          <p:cNvSpPr/>
          <p:nvPr/>
        </p:nvSpPr>
        <p:spPr>
          <a:xfrm>
            <a:off x="1157630" y="4389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4" name="DSFR-stepper-texte-1"/>
          <p:cNvSpPr txBox="1"/>
          <p:nvPr/>
        </p:nvSpPr>
        <p:spPr>
          <a:xfrm>
            <a:off x="475488" y="5120640"/>
            <a:ext cx="200436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Remplacer le gras manuel par les styles Titre 1, Titre 2, Titre 3</a:t>
            </a:r>
          </a:p>
        </p:txBody>
      </p:sp>
      <p:sp>
        <p:nvSpPr>
          <p:cNvPr id="15" name="DSFR-stepper-pastille-2"/>
          <p:cNvSpPr/>
          <p:nvPr/>
        </p:nvSpPr>
        <p:spPr>
          <a:xfrm>
            <a:off x="3463747" y="4389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7" name="DSFR-stepper-texte-2"/>
          <p:cNvSpPr txBox="1"/>
          <p:nvPr/>
        </p:nvSpPr>
        <p:spPr>
          <a:xfrm>
            <a:off x="2781604" y="5120640"/>
            <a:ext cx="200436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Identifier la ligne d'en-tête dans chaque tableau (onglet Création &gt; Ligne d'en-tête)</a:t>
            </a:r>
          </a:p>
        </p:txBody>
      </p:sp>
      <p:sp>
        <p:nvSpPr>
          <p:cNvPr id="18" name="DSFR-stepper-pastille-3"/>
          <p:cNvSpPr/>
          <p:nvPr/>
        </p:nvSpPr>
        <p:spPr>
          <a:xfrm>
            <a:off x="5769864" y="4389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20" name="DSFR-stepper-texte-3"/>
          <p:cNvSpPr txBox="1"/>
          <p:nvPr/>
        </p:nvSpPr>
        <p:spPr>
          <a:xfrm>
            <a:off x="5087721" y="5120640"/>
            <a:ext cx="200436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Ajouter un texte alt sur l'organigramme : Organigramme du service - 4 équipes</a:t>
            </a:r>
          </a:p>
        </p:txBody>
      </p:sp>
      <p:sp>
        <p:nvSpPr>
          <p:cNvPr id="21" name="DSFR-stepper-pastille-4"/>
          <p:cNvSpPr/>
          <p:nvPr/>
        </p:nvSpPr>
        <p:spPr>
          <a:xfrm>
            <a:off x="8075980" y="4389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23" name="DSFR-stepper-texte-4"/>
          <p:cNvSpPr txBox="1"/>
          <p:nvPr/>
        </p:nvSpPr>
        <p:spPr>
          <a:xfrm>
            <a:off x="7393838" y="5120640"/>
            <a:ext cx="200436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Renommer le lien : Accéder au formulaire de demande</a:t>
            </a:r>
          </a:p>
        </p:txBody>
      </p:sp>
      <p:sp>
        <p:nvSpPr>
          <p:cNvPr id="24" name="DSFR-stepper-pastille-5"/>
          <p:cNvSpPr/>
          <p:nvPr/>
        </p:nvSpPr>
        <p:spPr>
          <a:xfrm>
            <a:off x="10382097" y="4389120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5</a:t>
            </a:r>
          </a:p>
        </p:txBody>
      </p:sp>
      <p:sp>
        <p:nvSpPr>
          <p:cNvPr id="25" name="DSFR-stepper-texte-5"/>
          <p:cNvSpPr txBox="1"/>
          <p:nvPr/>
        </p:nvSpPr>
        <p:spPr>
          <a:xfrm>
            <a:off x="9699955" y="5120640"/>
            <a:ext cx="2004364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Ajouter CONFIDENTIEL en première ligne du document</a:t>
            </a:r>
          </a:p>
        </p:txBody>
      </p:sp>
      <p:sp>
        <p:nvSpPr>
          <p:cNvPr id="27" name="DSFR-box"/>
          <p:cNvSpPr/>
          <p:nvPr/>
        </p:nvSpPr>
        <p:spPr>
          <a:xfrm>
            <a:off x="548640" y="635508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FR-highlight"/>
          <p:cNvSpPr txBox="1"/>
          <p:nvPr/>
        </p:nvSpPr>
        <p:spPr>
          <a:xfrm>
            <a:off x="749808" y="6446520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Temps estimé : 8 minutes.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Étude de cas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stepper-connecteur-1-decoratif" descr=""/>
          <p:cNvSpPr/>
          <p:nvPr/>
        </p:nvSpPr>
        <p:spPr>
          <a:xfrm>
            <a:off x="1797710" y="4690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stepper-connecteur-2-decoratif" descr=""/>
          <p:cNvSpPr/>
          <p:nvPr/>
        </p:nvSpPr>
        <p:spPr>
          <a:xfrm>
            <a:off x="4103827" y="4690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stepper-connecteur-3-decoratif" descr=""/>
          <p:cNvSpPr/>
          <p:nvPr/>
        </p:nvSpPr>
        <p:spPr>
          <a:xfrm>
            <a:off x="6409944" y="4690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stepper-connecteur-4-decoratif" descr=""/>
          <p:cNvSpPr/>
          <p:nvPr/>
        </p:nvSpPr>
        <p:spPr>
          <a:xfrm>
            <a:off x="8716060" y="4690872"/>
            <a:ext cx="1666036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FR-accent-decoratif" descr=""/>
          <p:cNvSpPr/>
          <p:nvPr/>
        </p:nvSpPr>
        <p:spPr>
          <a:xfrm>
            <a:off x="475488" y="635508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Par où commencer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Priorités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19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103120"/>
          <a:ext cx="1122883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553712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Effort faible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Effort élevé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Impact fort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Styles de titre + Texte alt + Nom de fichier + Vérificateur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Retravailler un document existant entier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Impact faible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Propriétés (Titre, Auteur)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Corriger le contraste sur des centaines de pages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4754880"/>
            <a:ext cx="11155680" cy="15544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llout-titre"/>
          <p:cNvSpPr txBox="1"/>
          <p:nvPr/>
        </p:nvSpPr>
        <p:spPr>
          <a:xfrm>
            <a:off x="704088" y="484632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Commencez par le quadrant haut-gauche : impact fort, effort faible</a:t>
            </a:r>
          </a:p>
        </p:txBody>
      </p:sp>
      <p:sp>
        <p:nvSpPr>
          <p:cNvPr id="12" name="DSFR-callout-body"/>
          <p:cNvSpPr txBox="1"/>
          <p:nvPr/>
        </p:nvSpPr>
        <p:spPr>
          <a:xfrm>
            <a:off x="704088" y="5257800"/>
            <a:ext cx="10908792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1. Styles de titre sur tous les titres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2. Texte alt sur chaque image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3. Lancer le vérificateur d'accessibilité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4. Vérifier les propriétés du document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Priorités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475488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Quiz final : trouvez les 5 erreurs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Quiz final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20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1760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info-titre"/>
          <p:cNvSpPr txBox="1"/>
          <p:nvPr/>
        </p:nvSpPr>
        <p:spPr>
          <a:xfrm>
            <a:off x="704088" y="21945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Un document Word contient :</a:t>
            </a:r>
          </a:p>
        </p:txBody>
      </p:sp>
      <p:sp>
        <p:nvSpPr>
          <p:cNvPr id="11" name="DSFR-alert-info-body"/>
          <p:cNvSpPr txBox="1"/>
          <p:nvPr/>
        </p:nvSpPr>
        <p:spPr>
          <a:xfrm>
            <a:off x="704088" y="2606039"/>
            <a:ext cx="10908792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1. Un titre Introduction mis en gras Arial 16 (sans style)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2. Un tableau de 3 colonnes avec la 1re ligne en gras (sans Ligne d'en-tête)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3. Un lien cliquez ici pour le formulaire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4. Un filigrane PROJET sans mention dans le corps du document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5. Une photo de l'équipe sans texte alternatif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4937760"/>
            <a:ext cx="11155680" cy="176022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704088" y="502920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5 erreurs - une par point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704088" y="5440680"/>
            <a:ext cx="10908792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1. Appliquer le style Titre 1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2. Activer la ligne d'en-tête (onglet Création)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3. Renommer : Accéder au formulaire de demande RH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4. Ajouter PROJET en première ligne du document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5. Texte alt : Équipe du service communication, 8 personnes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Quiz final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493776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Faites le point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Métacognition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2194560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Avant de regarder la réponse, notez sans relire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/>
              <a:t>1.  La règle la plus importante pour les lecteurs d'écran : 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/>
              <a:t>2.  La vérification à faire en 30 secondes sur n'importe quel document : 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"/>
            <a:ext cx="1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/>
              <a:t>3.  Le geste que vous ferez dès demain sur votre prochain document : _______________</a:t>
            </a:r>
          </a:p>
        </p:txBody>
      </p:sp>
      <p:sp>
        <p:nvSpPr>
          <p:cNvPr id="15" name="DSFR-box"/>
          <p:cNvSpPr/>
          <p:nvPr/>
        </p:nvSpPr>
        <p:spPr>
          <a:xfrm>
            <a:off x="548640" y="5486400"/>
            <a:ext cx="11155680" cy="1143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lert-success-titre"/>
          <p:cNvSpPr txBox="1"/>
          <p:nvPr/>
        </p:nvSpPr>
        <p:spPr>
          <a:xfrm>
            <a:off x="704088" y="557784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Si vous avez répondu...</a:t>
            </a:r>
          </a:p>
        </p:txBody>
      </p:sp>
      <p:sp>
        <p:nvSpPr>
          <p:cNvPr id="17" name="DSFR-alert-success-body"/>
          <p:cNvSpPr txBox="1"/>
          <p:nvPr/>
        </p:nvSpPr>
        <p:spPr>
          <a:xfrm>
            <a:off x="704088" y="598932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Styles de titre - Ctrl+F onglet Titres - et vérifier le texte alternatif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Vous avez retenu l'essentiel. Sinon : relire les piliers 1 et 3.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Métacognition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ccent-decoratif" descr=""/>
          <p:cNvSpPr/>
          <p:nvPr/>
        </p:nvSpPr>
        <p:spPr>
          <a:xfrm>
            <a:off x="475488" y="548640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Demain à 9h : vos 3 réflexes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Plan d'action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103120"/>
            <a:ext cx="3468623" cy="240601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78892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Ctrl+F &gt; onglet Titres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246120"/>
            <a:ext cx="3176016" cy="112585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Vérifier que tous les titres apparaissent dans le volet de navigation. Si le volet est vide : appliquer les styles.</a:t>
            </a:r>
          </a:p>
        </p:txBody>
      </p:sp>
      <p:sp>
        <p:nvSpPr>
          <p:cNvPr id="14" name="DSFR-box"/>
          <p:cNvSpPr/>
          <p:nvPr/>
        </p:nvSpPr>
        <p:spPr>
          <a:xfrm>
            <a:off x="4392167" y="2103120"/>
            <a:ext cx="3468623" cy="240601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4547615" y="278892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Clic droit &gt; Texte de remplacement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4547615" y="3246120"/>
            <a:ext cx="3176016" cy="112585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Décrire la fonction de chaque image. Image décorative : cocher Marquer comme décoratif.</a:t>
            </a:r>
          </a:p>
        </p:txBody>
      </p:sp>
      <p:sp>
        <p:nvSpPr>
          <p:cNvPr id="19" name="DSFR-box"/>
          <p:cNvSpPr/>
          <p:nvPr/>
        </p:nvSpPr>
        <p:spPr>
          <a:xfrm>
            <a:off x="8235695" y="2103120"/>
            <a:ext cx="3468623" cy="2406014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8391144" y="278892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Fichier &gt; Vérifier l'accessibilité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8391144" y="3246120"/>
            <a:ext cx="3176016" cy="112585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Corriger les erreurs avant d'envoyer. Zéro erreur = premier filtre passé.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Plan d'action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4547615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8391144" y="2240279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103120"/>
            <a:ext cx="73152" cy="240601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4319015" y="2103120"/>
            <a:ext cx="73152" cy="240601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8162543" y="2103120"/>
            <a:ext cx="73152" cy="2406014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Checklist : vos 21 critères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Documents accessibles | Checklist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23</a:t>
            </a:r>
            <a:endParaRPr lang="fr-FR" dirty="0"/>
          </a:p>
        </p:txBody>
      </p:sp>
      <p:sp>
        <p:nvSpPr>
          <p:cNvPr id="8" name="DSFR-checklist"/>
          <p:cNvSpPr txBox="1"/>
          <p:nvPr/>
        </p:nvSpPr>
        <p:spPr>
          <a:xfrm>
            <a:off x="475488" y="2103120"/>
            <a:ext cx="5463540" cy="48006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Fichier .docx + nom descriptif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Document non protégé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Titres avec styles intégrés (pas du gras manuel)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Hiérarchie des titres cohérente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Listes avec Puces/Numérotation (pas de tirets manuels)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Colonnes intégrées (pas de tabulations)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Sauts de page propres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Tableaux de mise en page avec habillage Aucun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Tableaux de données avec ligne d'en-tête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Contraste &gt;= 4,5:1 texte standard, &gt;= 3:1 grand texte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Couleur doublée en texte</a:t>
            </a:r>
          </a:p>
        </p:txBody>
      </p:sp>
      <p:sp>
        <p:nvSpPr>
          <p:cNvPr id="9" name="DSFR-checklist"/>
          <p:cNvSpPr txBox="1"/>
          <p:nvPr/>
        </p:nvSpPr>
        <p:spPr>
          <a:xfrm>
            <a:off x="6240779" y="2103120"/>
            <a:ext cx="546354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Texte alt sur images significatives / décoratifs marqués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Pas de zones de texte flottantes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Liens descriptifs (pas cliquez ici)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Infos essentielles dans le corps (pas seulement filigrane)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Langue principale balisée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Passages en langue étrangère balisés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Aucun objet clignotant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Propriétés renseignées (Titre, Auteur, Objet)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Aucun formulaire Word interactif</a:t>
            </a:r>
          </a:p>
          <a:p>
            <a:pPr algn="l">
              <a:lnSpc>
                <a:spcPct val="150000"/>
              </a:lnSpc>
            </a:pPr>
            <a:r>
              <a:rPr sz="15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100" lang="fr-FR">
                <a:solidFill>
                  <a:srgbClr val="161616"/>
                </a:solidFill>
                <a:latin typeface="Marianne"/>
              </a:rPr>
              <a:t>Vérificateur d'accessibilité sans erreur résiduelle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Checklist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24</a:t>
            </a:r>
            <a:endParaRPr lang="fr-FR" dirty="0"/>
          </a:p>
        </p:txBody>
      </p:sp>
      <p:sp>
        <p:nvSpPr>
          <p:cNvPr id="14" name="Title-DSFR-soustitre"/>
          <p:cNvSpPr txBox="1"/>
          <p:nvPr/>
        </p:nvSpPr>
        <p:spPr>
          <a:xfrm>
            <a:off x="475488" y="2286000"/>
            <a:ext cx="1122883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 lang="fr-FR">
                <a:solidFill>
                  <a:srgbClr val="000091"/>
                </a:solidFill>
                <a:latin typeface="Marianne"/>
              </a:rPr>
              <a:t>Revenez dans 7 jours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2103120"/>
            <a:ext cx="11155680" cy="134874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callout-titre"/>
          <p:cNvSpPr txBox="1"/>
          <p:nvPr/>
        </p:nvSpPr>
        <p:spPr>
          <a:xfrm>
            <a:off x="704088" y="21945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J+7 : refaites le quiz final sans rouvrir ce support</a:t>
            </a:r>
          </a:p>
        </p:txBody>
      </p:sp>
      <p:sp>
        <p:nvSpPr>
          <p:cNvPr id="18" name="DSFR-callout-body"/>
          <p:cNvSpPr txBox="1"/>
          <p:nvPr/>
        </p:nvSpPr>
        <p:spPr>
          <a:xfrm>
            <a:off x="704088" y="2606039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5/5 : les réflexes sont installés - passez à la checklist sur un vrai document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3-4/5 : relisez les piliers correspondant aux erreurs manquées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Moins de 3 : reprenez les piliers 1 et 3 (80 % des cas)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4389120"/>
            <a:ext cx="11155680" cy="11430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llout-titre"/>
          <p:cNvSpPr txBox="1"/>
          <p:nvPr/>
        </p:nvSpPr>
        <p:spPr>
          <a:xfrm>
            <a:off x="704088" y="448055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J+30 : ouvrez votre prochain document Word</a:t>
            </a:r>
          </a:p>
        </p:txBody>
      </p:sp>
      <p:sp>
        <p:nvSpPr>
          <p:cNvPr id="22" name="DSFR-callout-body"/>
          <p:cNvSpPr txBox="1"/>
          <p:nvPr/>
        </p:nvSpPr>
        <p:spPr>
          <a:xfrm>
            <a:off x="704088" y="489204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Parcourez la checklist de haut en bas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C'est le seul test qui compte</a:t>
            </a:r>
          </a:p>
        </p:txBody>
      </p:sp>
      <p:sp>
        <p:nvSpPr>
          <p:cNvPr id="24" name="DSFR-box"/>
          <p:cNvSpPr/>
          <p:nvPr/>
        </p:nvSpPr>
        <p:spPr>
          <a:xfrm>
            <a:off x="548640" y="585216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highlight"/>
          <p:cNvSpPr txBox="1"/>
          <p:nvPr/>
        </p:nvSpPr>
        <p:spPr>
          <a:xfrm>
            <a:off x="749808" y="594360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Phrase-clé à 6 mois : Titres avec styles, images avec texte alt, vérificateur avant d'envoyer.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Répétitions</a:t>
            </a:r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2103120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438912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475488" y="585216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25</a:t>
            </a:r>
            <a:endParaRPr lang="fr-FR" dirty="0"/>
          </a:p>
        </p:txBody>
      </p:sp>
      <p:sp>
        <p:nvSpPr>
          <p:cNvPr id="14" name="Title-DSFR-soustitre"/>
          <p:cNvSpPr txBox="1"/>
          <p:nvPr/>
        </p:nvSpPr>
        <p:spPr>
          <a:xfrm>
            <a:off x="475488" y="2286000"/>
            <a:ext cx="1122883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 lang="fr-FR">
                <a:solidFill>
                  <a:srgbClr val="000091"/>
                </a:solidFill>
                <a:latin typeface="Marianne"/>
              </a:rPr>
              <a:t>À vous de jouer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210312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highlight"/>
          <p:cNvSpPr txBox="1"/>
          <p:nvPr/>
        </p:nvSpPr>
        <p:spPr>
          <a:xfrm>
            <a:off x="749808" y="219456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Je m'engage à vérifier les styles de titre et le texte alternatif sur mon prochain document.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3657600"/>
            <a:ext cx="11155680" cy="15544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lert-info-titre"/>
          <p:cNvSpPr txBox="1"/>
          <p:nvPr/>
        </p:nvSpPr>
        <p:spPr>
          <a:xfrm>
            <a:off x="704088" y="374903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Pour continuer seul(e)</a:t>
            </a:r>
          </a:p>
        </p:txBody>
      </p:sp>
      <p:sp>
        <p:nvSpPr>
          <p:cNvPr id="21" name="DSFR-alert-info-body"/>
          <p:cNvSpPr txBox="1"/>
          <p:nvPr/>
        </p:nvSpPr>
        <p:spPr>
          <a:xfrm>
            <a:off x="704088" y="4160520"/>
            <a:ext cx="10908792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Ressources en ligne : template Word accessible sur templates.office.com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Support : guide Microsoft Rendre vos documents Word accessibles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Aide rapide : Fichier &gt; Vérifier l'accessibilité (le vérificateur détecte 80 % des oublis)</a:t>
            </a:r>
          </a:p>
        </p:txBody>
      </p:sp>
      <p:sp>
        <p:nvSpPr>
          <p:cNvPr id="23" name="DSFR-box"/>
          <p:cNvSpPr/>
          <p:nvPr/>
        </p:nvSpPr>
        <p:spPr>
          <a:xfrm>
            <a:off x="548640" y="5486400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FR-highlight"/>
          <p:cNvSpPr txBox="1"/>
          <p:nvPr/>
        </p:nvSpPr>
        <p:spPr>
          <a:xfrm>
            <a:off x="749808" y="5577840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Dans 7 jours : refaites le quiz final. Dans 30 jours : ouvrez un vrai document et appliquez la checklist.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Documents accessibles - Fin</a:t>
            </a:r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210312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365760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accent-decoratif" descr=""/>
          <p:cNvSpPr/>
          <p:nvPr/>
        </p:nvSpPr>
        <p:spPr>
          <a:xfrm>
            <a:off x="475488" y="5486400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gouvernement_marianne" id="{307D1C89-B296-4882-8ECC-2BD1C6821949}" vid="{B53EA17D-A77A-459E-979D-FA962BE90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ppt_gouvernement_arial</Template>
  <TotalTime>200</TotalTime>
  <Words>1065</Words>
  <Application>Microsoft Office PowerPoint</Application>
  <PresentationFormat>Affichage à l'écran (16:9)</PresentationFormat>
  <Paragraphs>157</Paragraphs>
  <Slides>16</Slides>
  <Notes>1</Notes>
  <HiddenSlides>3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</vt:lpstr>
      <vt:lpstr>GOUVERNEMENT</vt:lpstr>
      <vt:lpstr>XXXXX Libelle de la formation</vt:lpstr>
      <vt:lpstr>Présentation PowerPoint</vt:lpstr>
      <vt:lpstr>Le programme</vt:lpstr>
      <vt:lpstr>Présentation PowerPoint</vt:lpstr>
      <vt:lpstr>Sommaire</vt:lpstr>
      <vt:lpstr>Introduction aux réseaux informatiques</vt:lpstr>
      <vt:lpstr>Introduction </vt:lpstr>
      <vt:lpstr>Présentation PowerPoint</vt:lpstr>
      <vt:lpstr>Présentation PowerPoint</vt:lpstr>
      <vt:lpstr>Sommaire</vt:lpstr>
      <vt:lpstr>Titre de partie</vt:lpstr>
      <vt:lpstr>Lorem ipsum dolor  sit amet consectetur</vt:lpstr>
      <vt:lpstr>Lorem ipsum dolor  sit amet consectetur</vt:lpstr>
      <vt:lpstr>Réduire / Augmenter le niveau de liste</vt:lpstr>
      <vt:lpstr>Titre</vt:lpstr>
      <vt:lpstr>Copier / coller les textes</vt:lpstr>
    </vt:vector>
  </TitlesOfParts>
  <Manager>Client</Manager>
  <Company>Secrétariat Général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102638 - Accessibilité numérique</dc:title>
  <dc:subject>Support de formation IGPDE - DSFR accessible</dc:subject>
  <dc:creator>Alex Guiderdoni</dc:creator>
  <cp:lastModifiedBy>COUPLAN Carine</cp:lastModifiedBy>
  <cp:revision>15</cp:revision>
  <dcterms:created xsi:type="dcterms:W3CDTF">2020-03-06T09:47:41Z</dcterms:created>
  <dcterms:modified xsi:type="dcterms:W3CDTF">2024-09-06T15:21:48Z</dcterms:modified>
  <dc:language>fr-FR</dc:language>
</cp:coreProperties>
</file>