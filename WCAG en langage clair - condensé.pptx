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D’après le W3C, WCAG 2.2 compte 13 lignes directrices organisées sous 4 principes.</a:t>
            </a:r>
          </a:p>
          <a:p>
            <a:r>
              <a:rPr lang="fr-FR"/>
              <a:t>Les critères de succès déterminent la conformité.</a:t>
            </a:r>
          </a:p>
          <a:p>
            <a:r>
              <a:rPr lang="fr-FR"/>
              <a:t>Sources :</a:t>
            </a:r>
            <a:br/>
            <a:r>
              <a:rPr lang="fr-FR"/>
              <a:t>- AAArdvark, WCAG in Plain English : https://aaardvarkaccessibility.com/wcag-plain-english/</a:t>
            </a:r>
            <a:br/>
            <a:r>
              <a:rPr lang="fr-FR"/>
              <a:t>- WCAG 2.2 Card Deck (Figma), Johannes Lehner, CC BY-SA 4.0 : https://www.figma.com/design/jz3JeECjm0KbH3Z2ztA2bv/WCAG-2.2-Card-Deck--Community-?node-id=191-244960&amp;t=qOThv51tj0Arkga8-0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reformuler les quatre questions par les participants.</a:t>
            </a:r>
          </a:p>
          <a:p>
            <a:r>
              <a:rPr lang="fr-FR"/>
              <a:t>Insister sur le vocabulaire courant : percevoir, utiliser, comprendre, compatible.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Contenu non textuel, Contenus seulement audio et seulement vidéo (pré-enregistré), Sous-titres (pré-enregistré), Audio-description ou version de remplacement (pré-enregistré).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Sous-titres (en direct), Audio-description (pré-enregistré), Langue des signes (pré-enregistré), Audio-description étendue (pré-enregistré).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Texte sous forme d'image, Contraste (amélioré), Texte sous forme d'image (sans exception), Redistribution.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Arrière-plan sonore de faible volume ou absent, Présentation visuelle, Contraste du contenu non textuel, Espacement du texte.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Trois flashs, Animation résultant d'interactions, Parcours du focus, Fonction du lien (selon le contexte).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Contourner des blocs, Titre de page, Accès multiples, En-têtes et étiquettes.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Modalités d'entrées concurrentes, Mouvements de glissement.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Langue de la page, Langue d'un passage, Mots rares, Prononciation.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Au focus, Abréviations, Lisibilité du texte, Prévention des erreurs (toutes).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Saisie redondante, Authentification accessible (minimum), Authentification accessible (améliorée).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Descriptions inspirées du WCAG 2.2 Card Deck français.</a:t>
            </a:r>
          </a:p>
          <a:p>
            <a:r>
              <a:rPr lang="fr-FR"/>
              <a:t>Critères couverts : Analyse syntaxique (obsolète et supprimé), Nom, rôle et valeur, Messages d'état.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31369" y="260647"/>
            <a:ext cx="4579487" cy="4149096"/>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178299" y="776635"/>
            <a:ext cx="3132658" cy="3132658"/>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comprendre les principes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a:t>
            </a:r>
            <a:endParaRPr lang="fr-FR" dirty="0"/>
          </a:p>
        </p:txBody>
      </p:sp>
      <p:sp>
        <p:nvSpPr>
          <p:cNvPr id="8" name="DSFR-stepper-pastille-1"/>
          <p:cNvSpPr/>
          <p:nvPr/>
        </p:nvSpPr>
        <p:spPr>
          <a:xfrm>
            <a:off x="1445894" y="219456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926079"/>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4 principes : percevoir, utiliser, comprendre, rester compatible</a:t>
            </a:r>
          </a:p>
        </p:txBody>
      </p:sp>
      <p:sp>
        <p:nvSpPr>
          <p:cNvPr id="11" name="DSFR-stepper-pastille-2"/>
          <p:cNvSpPr/>
          <p:nvPr/>
        </p:nvSpPr>
        <p:spPr>
          <a:xfrm>
            <a:off x="4328541" y="219456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926079"/>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13 lignes directrices : les grands sujets à traiter</a:t>
            </a:r>
          </a:p>
        </p:txBody>
      </p:sp>
      <p:sp>
        <p:nvSpPr>
          <p:cNvPr id="14" name="DSFR-stepper-pastille-3"/>
          <p:cNvSpPr/>
          <p:nvPr/>
        </p:nvSpPr>
        <p:spPr>
          <a:xfrm>
            <a:off x="7211186" y="219456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926079"/>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Critères de succès : les exigences testables</a:t>
            </a:r>
          </a:p>
        </p:txBody>
      </p:sp>
      <p:sp>
        <p:nvSpPr>
          <p:cNvPr id="17" name="DSFR-stepper-pastille-4"/>
          <p:cNvSpPr/>
          <p:nvPr/>
        </p:nvSpPr>
        <p:spPr>
          <a:xfrm>
            <a:off x="10093832" y="219456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926079"/>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Preuves : test, mesure, exemple corrigé ou contenu modifié</a:t>
            </a:r>
          </a:p>
        </p:txBody>
      </p:sp>
      <p:sp>
        <p:nvSpPr>
          <p:cNvPr id="20" name="DSFR-box"/>
          <p:cNvSpPr/>
          <p:nvPr/>
        </p:nvSpPr>
        <p:spPr>
          <a:xfrm>
            <a:off x="548640" y="4251960"/>
            <a:ext cx="760437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343400"/>
            <a:ext cx="735749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bon réflexe</a:t>
            </a:r>
          </a:p>
        </p:txBody>
      </p:sp>
      <p:sp>
        <p:nvSpPr>
          <p:cNvPr id="22" name="DSFR-callout-body"/>
          <p:cNvSpPr txBox="1"/>
          <p:nvPr/>
        </p:nvSpPr>
        <p:spPr>
          <a:xfrm>
            <a:off x="704088" y="4754880"/>
            <a:ext cx="7357490"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Ne pas apprendre la liste par cœur.</a:t>
            </a:r>
          </a:p>
          <a:p>
            <a:pPr algn="l">
              <a:lnSpc>
                <a:spcPct val="125000"/>
              </a:lnSpc>
            </a:pPr>
            <a:r>
              <a:rPr sz="1400" lang="fr-FR">
                <a:solidFill>
                  <a:srgbClr val="161616"/>
                </a:solidFill>
                <a:latin typeface="Marianne"/>
              </a:rPr>
              <a:t>• </a:t>
            </a:r>
            <a:r>
              <a:rPr sz="1400" b="0" lang="fr-FR">
                <a:solidFill>
                  <a:srgbClr val="161616"/>
                </a:solidFill>
                <a:latin typeface="Marianne"/>
              </a:rPr>
              <a:t>Savoir transformer un critère en question : que doit pouvoir faire la personne ?</a:t>
            </a:r>
          </a:p>
        </p:txBody>
      </p:sp>
      <p:pic>
        <p:nvPicPr>
          <p:cNvPr id="23" name="Picture 22" descr="QR code vers WCAG in Plain English par AAArdvark"/>
          <p:cNvPicPr>
            <a:picLocks noChangeAspect="1"/>
          </p:cNvPicPr>
          <p:nvPr/>
        </p:nvPicPr>
        <p:blipFill>
          <a:blip r:embed="rId2"/>
          <a:stretch>
            <a:fillRect/>
          </a:stretch>
        </p:blipFill>
        <p:spPr>
          <a:xfrm>
            <a:off x="9485185" y="4160520"/>
            <a:ext cx="1188720" cy="1188720"/>
          </a:xfrm>
          <a:prstGeom prst="rect">
            <a:avLst/>
          </a:prstGeom>
        </p:spPr>
      </p:pic>
      <p:sp>
        <p:nvSpPr>
          <p:cNvPr id="24" name="DSFR-texte-libre"/>
          <p:cNvSpPr txBox="1"/>
          <p:nvPr/>
        </p:nvSpPr>
        <p:spPr>
          <a:xfrm>
            <a:off x="8454770" y="5376672"/>
            <a:ext cx="3249549" cy="201168"/>
          </a:xfrm>
          <a:prstGeom prst="rect">
            <a:avLst/>
          </a:prstGeom>
          <a:noFill/>
        </p:spPr>
        <p:txBody>
          <a:bodyPr wrap="square" anchor="t" lIns="73152" rIns="73152">
            <a:spAutoFit/>
          </a:bodyPr>
          <a:lstStyle/>
          <a:p>
            <a:pPr algn="ctr">
              <a:lnSpc>
                <a:spcPct val="125000"/>
              </a:lnSpc>
            </a:pPr>
            <a:r>
              <a:rPr sz="1100" b="1" i="0" lang="fr-FR">
                <a:solidFill>
                  <a:srgbClr val="000091"/>
                </a:solidFill>
                <a:latin typeface="Marianne"/>
              </a:rPr>
              <a:t>WCAG 2.2 - Mise en FALC</a:t>
            </a:r>
          </a:p>
        </p:txBody>
      </p:sp>
      <p:sp>
        <p:nvSpPr>
          <p:cNvPr id="25" name="DSFR-texte-libre"/>
          <p:cNvSpPr txBox="1"/>
          <p:nvPr/>
        </p:nvSpPr>
        <p:spPr>
          <a:xfrm>
            <a:off x="8454770" y="5577840"/>
            <a:ext cx="3249549" cy="182880"/>
          </a:xfrm>
          <a:prstGeom prst="rect">
            <a:avLst/>
          </a:prstGeom>
          <a:noFill/>
        </p:spPr>
        <p:txBody>
          <a:bodyPr wrap="square" anchor="t" lIns="73152" rIns="73152">
            <a:spAutoFit/>
          </a:bodyPr>
          <a:lstStyle/>
          <a:p>
            <a:pPr algn="ctr">
              <a:lnSpc>
                <a:spcPct val="125000"/>
              </a:lnSpc>
            </a:pPr>
            <a:r>
              <a:rPr sz="1000" b="0" i="0" lang="fr-FR">
                <a:solidFill>
                  <a:srgbClr val="000091"/>
                </a:solidFill>
                <a:latin typeface="Marianne"/>
              </a:rPr>
              <a:t>Scannez-moi !</a:t>
            </a:r>
          </a:p>
        </p:txBody>
      </p:sp>
      <p:sp>
        <p:nvSpPr>
          <p:cNvPr id="26" name="DSFR-texte-libre"/>
          <p:cNvSpPr txBox="1"/>
          <p:nvPr/>
        </p:nvSpPr>
        <p:spPr>
          <a:xfrm>
            <a:off x="8454770" y="5760720"/>
            <a:ext cx="3249549" cy="164592"/>
          </a:xfrm>
          <a:prstGeom prst="rect">
            <a:avLst/>
          </a:prstGeom>
          <a:noFill/>
        </p:spPr>
        <p:txBody>
          <a:bodyPr wrap="square" anchor="t" lIns="73152" rIns="73152">
            <a:spAutoFit/>
          </a:bodyPr>
          <a:lstStyle/>
          <a:p>
            <a:pPr algn="ctr">
              <a:lnSpc>
                <a:spcPct val="125000"/>
              </a:lnSpc>
            </a:pPr>
            <a:r>
              <a:rPr sz="800" b="0" i="0" lang="fr-FR">
                <a:solidFill>
                  <a:srgbClr val="000091"/>
                </a:solidFill>
                <a:latin typeface="Marianne"/>
              </a:rPr>
              <a:t>aaardvarkaccessibility.com/wcag-plain-english</a:t>
            </a:r>
          </a:p>
        </p:txBody>
      </p:sp>
      <p:sp>
        <p:nvSpPr>
          <p:cNvPr id="27" name="DSFR-texte-libre"/>
          <p:cNvSpPr txBox="1"/>
          <p:nvPr/>
        </p:nvSpPr>
        <p:spPr>
          <a:xfrm>
            <a:off x="8454770" y="5925312"/>
            <a:ext cx="3249549" cy="164592"/>
          </a:xfrm>
          <a:prstGeom prst="rect">
            <a:avLst/>
          </a:prstGeom>
          <a:noFill/>
        </p:spPr>
        <p:txBody>
          <a:bodyPr wrap="square" anchor="t" lIns="73152" rIns="73152">
            <a:spAutoFit/>
          </a:bodyPr>
          <a:lstStyle/>
          <a:p>
            <a:pPr algn="ctr">
              <a:lnSpc>
                <a:spcPct val="125000"/>
              </a:lnSpc>
            </a:pPr>
            <a:r>
              <a:rPr sz="700" b="0" i="0" lang="fr-FR">
                <a:solidFill>
                  <a:srgbClr val="000091"/>
                </a:solidFill>
                <a:latin typeface="Marianne"/>
              </a:rPr>
              <a:t>WCAG 2.2 Card Deck - Johannes Lehner - CC BY-SA 4.0</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Carte mentale</a:t>
            </a:r>
          </a:p>
        </p:txBody>
      </p:sp>
      <p:sp>
        <p:nvSpPr>
          <p:cNvPr id="9" name="DSFR-stepper-connecteur-1-decoratif" descr=""/>
          <p:cNvSpPr/>
          <p:nvPr/>
        </p:nvSpPr>
        <p:spPr>
          <a:xfrm>
            <a:off x="2085975" y="249631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9631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9631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2519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4 grandes questions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a:t>
            </a:r>
            <a:endParaRPr lang="fr-FR" dirty="0"/>
          </a:p>
        </p:txBody>
      </p:sp>
      <p:sp>
        <p:nvSpPr>
          <p:cNvPr id="9" name="DSFR-box"/>
          <p:cNvSpPr/>
          <p:nvPr/>
        </p:nvSpPr>
        <p:spPr>
          <a:xfrm>
            <a:off x="548640" y="2286000"/>
            <a:ext cx="5390388" cy="1828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4231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Percevoir</a:t>
            </a:r>
          </a:p>
        </p:txBody>
      </p:sp>
      <p:sp>
        <p:nvSpPr>
          <p:cNvPr id="11" name="DSFR-card-contenu"/>
          <p:cNvSpPr txBox="1"/>
          <p:nvPr/>
        </p:nvSpPr>
        <p:spPr>
          <a:xfrm>
            <a:off x="704088" y="2880360"/>
            <a:ext cx="5097779" cy="11430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L’information reste disponible si je ne vois pas ou n’entends pas comme prévu.</a:t>
            </a:r>
          </a:p>
        </p:txBody>
      </p:sp>
      <p:sp>
        <p:nvSpPr>
          <p:cNvPr id="13" name="DSFR-box"/>
          <p:cNvSpPr/>
          <p:nvPr/>
        </p:nvSpPr>
        <p:spPr>
          <a:xfrm>
            <a:off x="6313931" y="2286000"/>
            <a:ext cx="5390388" cy="1828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4231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Utiliser</a:t>
            </a:r>
          </a:p>
        </p:txBody>
      </p:sp>
      <p:sp>
        <p:nvSpPr>
          <p:cNvPr id="15" name="DSFR-card-contenu"/>
          <p:cNvSpPr txBox="1"/>
          <p:nvPr/>
        </p:nvSpPr>
        <p:spPr>
          <a:xfrm>
            <a:off x="6469379" y="2880360"/>
            <a:ext cx="5097779" cy="11430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Je peux naviguer, agir et terminer sans piège ni geste imposé.</a:t>
            </a:r>
          </a:p>
        </p:txBody>
      </p:sp>
      <p:sp>
        <p:nvSpPr>
          <p:cNvPr id="17" name="DSFR-box"/>
          <p:cNvSpPr/>
          <p:nvPr/>
        </p:nvSpPr>
        <p:spPr>
          <a:xfrm>
            <a:off x="548640" y="4352544"/>
            <a:ext cx="5390388" cy="1828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48970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Comprendre</a:t>
            </a:r>
          </a:p>
        </p:txBody>
      </p:sp>
      <p:sp>
        <p:nvSpPr>
          <p:cNvPr id="19" name="DSFR-card-contenu"/>
          <p:cNvSpPr txBox="1"/>
          <p:nvPr/>
        </p:nvSpPr>
        <p:spPr>
          <a:xfrm>
            <a:off x="704088" y="4946904"/>
            <a:ext cx="5097779" cy="114299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Les mots, formulaires et comportements restent prévisibles.</a:t>
            </a:r>
          </a:p>
        </p:txBody>
      </p:sp>
      <p:sp>
        <p:nvSpPr>
          <p:cNvPr id="21" name="DSFR-box"/>
          <p:cNvSpPr/>
          <p:nvPr/>
        </p:nvSpPr>
        <p:spPr>
          <a:xfrm>
            <a:off x="6313931" y="4352544"/>
            <a:ext cx="5390388" cy="18288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card-titre"/>
          <p:cNvSpPr txBox="1"/>
          <p:nvPr/>
        </p:nvSpPr>
        <p:spPr>
          <a:xfrm>
            <a:off x="6469379" y="448970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Compatible</a:t>
            </a:r>
          </a:p>
        </p:txBody>
      </p:sp>
      <p:sp>
        <p:nvSpPr>
          <p:cNvPr id="23" name="DSFR-card-contenu"/>
          <p:cNvSpPr txBox="1"/>
          <p:nvPr/>
        </p:nvSpPr>
        <p:spPr>
          <a:xfrm>
            <a:off x="6469379" y="4946904"/>
            <a:ext cx="5097779" cy="114299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Les aides techniques peuvent comprendre l’interface aujourd’hui et demain.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Questions</a:t>
            </a:r>
          </a:p>
        </p:txBody>
      </p:sp>
      <p:sp>
        <p:nvSpPr>
          <p:cNvPr id="8" name="DSFR-accent-decoratif" descr=""/>
          <p:cNvSpPr/>
          <p:nvPr/>
        </p:nvSpPr>
        <p:spPr>
          <a:xfrm>
            <a:off x="475488" y="2286000"/>
            <a:ext cx="73152" cy="1828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86000"/>
            <a:ext cx="73152" cy="1828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352544"/>
            <a:ext cx="73152" cy="1828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352544"/>
            <a:ext cx="73152" cy="18288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Percevoir l'information - critères (1/4)</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a:t>
            </a:r>
            <a:endParaRPr lang="fr-FR" dirty="0"/>
          </a:p>
        </p:txBody>
      </p:sp>
      <p:sp>
        <p:nvSpPr>
          <p:cNvPr id="8" name="DSFR-texte-libre"/>
          <p:cNvSpPr txBox="1"/>
          <p:nvPr/>
        </p:nvSpPr>
        <p:spPr>
          <a:xfrm>
            <a:off x="475488" y="1691640"/>
            <a:ext cx="11228832" cy="256032"/>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Les contenus doivent rester disponibles sous plusieurs formes : texte, audio, image, structure, contraste.</a:t>
            </a:r>
          </a:p>
        </p:txBody>
      </p:sp>
      <p:sp>
        <p:nvSpPr>
          <p:cNvPr id="10" name="DSFR-box"/>
          <p:cNvSpPr/>
          <p:nvPr/>
        </p:nvSpPr>
        <p:spPr>
          <a:xfrm>
            <a:off x="548640"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Contenu non textuel</a:t>
            </a:r>
          </a:p>
        </p:txBody>
      </p:sp>
      <p:sp>
        <p:nvSpPr>
          <p:cNvPr id="12" name="DSFR-card-contenu"/>
          <p:cNvSpPr txBox="1"/>
          <p:nvPr/>
        </p:nvSpPr>
        <p:spPr>
          <a:xfrm>
            <a:off x="704088"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Toutes les images et contenus non textuels (icônes, graphiques, sons, CAPTCHA, commandes) doivent être accompagnés d'une alternative textuelle décrivant leur signification. Le contenu purement esthétique peut être masqué pour les technologies d'assistance (par exemple, en utilisant un attribut alt vide).</a:t>
            </a:r>
          </a:p>
        </p:txBody>
      </p:sp>
      <p:sp>
        <p:nvSpPr>
          <p:cNvPr id="14" name="DSFR-box"/>
          <p:cNvSpPr/>
          <p:nvPr/>
        </p:nvSpPr>
        <p:spPr>
          <a:xfrm>
            <a:off x="6313931"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Contenus seulement audio et seulement vidéo (pré-enregistré)</a:t>
            </a:r>
          </a:p>
        </p:txBody>
      </p:sp>
      <p:sp>
        <p:nvSpPr>
          <p:cNvPr id="16" name="DSFR-card-contenu"/>
          <p:cNvSpPr txBox="1"/>
          <p:nvPr/>
        </p:nvSpPr>
        <p:spPr>
          <a:xfrm>
            <a:off x="6469379"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contenus seulement audio pré-enregistrés doivent disposer d'une transcription.
Les contenus seulement vidéo pré-enregistrés doivent disposer d'une description textuelle ou d'une audiodescription.</a:t>
            </a:r>
          </a:p>
        </p:txBody>
      </p:sp>
      <p:sp>
        <p:nvSpPr>
          <p:cNvPr id="18" name="DSFR-box"/>
          <p:cNvSpPr/>
          <p:nvPr/>
        </p:nvSpPr>
        <p:spPr>
          <a:xfrm>
            <a:off x="548640"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704088"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Sous-titres (pré-enregistré)</a:t>
            </a:r>
          </a:p>
        </p:txBody>
      </p:sp>
      <p:sp>
        <p:nvSpPr>
          <p:cNvPr id="20" name="DSFR-card-contenu"/>
          <p:cNvSpPr txBox="1"/>
          <p:nvPr/>
        </p:nvSpPr>
        <p:spPr>
          <a:xfrm>
            <a:off x="704088"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contenus vidéo pré-enregistrés contenant de l'audio doivent disposer de sous-titres synchronisés comprenant l'intégralité des paroles, et les sons pertinents (la musique, les alarmes ou les rires, entre autres).</a:t>
            </a:r>
          </a:p>
        </p:txBody>
      </p:sp>
      <p:sp>
        <p:nvSpPr>
          <p:cNvPr id="22" name="DSFR-box"/>
          <p:cNvSpPr/>
          <p:nvPr/>
        </p:nvSpPr>
        <p:spPr>
          <a:xfrm>
            <a:off x="6313931"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card-titre"/>
          <p:cNvSpPr txBox="1"/>
          <p:nvPr/>
        </p:nvSpPr>
        <p:spPr>
          <a:xfrm>
            <a:off x="6469379"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Audio-description ou version de remplacement (pré-enregistré)</a:t>
            </a:r>
          </a:p>
        </p:txBody>
      </p:sp>
      <p:sp>
        <p:nvSpPr>
          <p:cNvPr id="24" name="DSFR-card-contenu"/>
          <p:cNvSpPr txBox="1"/>
          <p:nvPr/>
        </p:nvSpPr>
        <p:spPr>
          <a:xfrm>
            <a:off x="6469379"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éléments visuels importants apparaissant dans des contenus vidéo pré-enregistrés doivent être décrits via une audiodescription, ou une alternative textuelle.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Percevoir l'information</a:t>
            </a:r>
          </a:p>
        </p:txBody>
      </p:sp>
      <p:sp>
        <p:nvSpPr>
          <p:cNvPr id="9" name="DSFR-accent-decoratif" descr=""/>
          <p:cNvSpPr/>
          <p:nvPr/>
        </p:nvSpPr>
        <p:spPr>
          <a:xfrm>
            <a:off x="475488"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Percevoir l'information - critères (2/4)</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a:t>
            </a:r>
            <a:endParaRPr lang="fr-FR" dirty="0"/>
          </a:p>
        </p:txBody>
      </p:sp>
      <p:sp>
        <p:nvSpPr>
          <p:cNvPr id="9" name="DSFR-box"/>
          <p:cNvSpPr/>
          <p:nvPr/>
        </p:nvSpPr>
        <p:spPr>
          <a:xfrm>
            <a:off x="548640"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Sous-titres (en direct)</a:t>
            </a:r>
          </a:p>
        </p:txBody>
      </p:sp>
      <p:sp>
        <p:nvSpPr>
          <p:cNvPr id="11" name="DSFR-card-contenu"/>
          <p:cNvSpPr txBox="1"/>
          <p:nvPr/>
        </p:nvSpPr>
        <p:spPr>
          <a:xfrm>
            <a:off x="704088"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contenus vidéo diffusés en direct contenant de l'audio doivent disposer d'un sous-titrage en temps réel reprenant les paroles, et les sons importants (la musique, les alarmes ou les rires, entre autres).</a:t>
            </a:r>
          </a:p>
        </p:txBody>
      </p:sp>
      <p:sp>
        <p:nvSpPr>
          <p:cNvPr id="13" name="DSFR-box"/>
          <p:cNvSpPr/>
          <p:nvPr/>
        </p:nvSpPr>
        <p:spPr>
          <a:xfrm>
            <a:off x="6313931"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Audio-description (pré-enregistré)</a:t>
            </a:r>
          </a:p>
        </p:txBody>
      </p:sp>
      <p:sp>
        <p:nvSpPr>
          <p:cNvPr id="15" name="DSFR-card-contenu"/>
          <p:cNvSpPr txBox="1"/>
          <p:nvPr/>
        </p:nvSpPr>
        <p:spPr>
          <a:xfrm>
            <a:off x="6469379"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éléments visuels importants apparaissant dans des contenus vidéo pré-enregistrés contenant de l'audio doivent être décrits via une audio-description, sauf s'ils sont déjà explicités dans la bande sonore principale.</a:t>
            </a:r>
          </a:p>
        </p:txBody>
      </p:sp>
      <p:sp>
        <p:nvSpPr>
          <p:cNvPr id="17" name="DSFR-box"/>
          <p:cNvSpPr/>
          <p:nvPr/>
        </p:nvSpPr>
        <p:spPr>
          <a:xfrm>
            <a:off x="548640"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Langue des signes (pré-enregistré)</a:t>
            </a:r>
          </a:p>
        </p:txBody>
      </p:sp>
      <p:sp>
        <p:nvSpPr>
          <p:cNvPr id="19" name="DSFR-card-contenu"/>
          <p:cNvSpPr txBox="1"/>
          <p:nvPr/>
        </p:nvSpPr>
        <p:spPr>
          <a:xfrm>
            <a:off x="704088"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Tous les contenus vidéo pré-enregistrés contenant de l'audio doivent disposer d'une interprétation en langue des signes.</a:t>
            </a:r>
          </a:p>
        </p:txBody>
      </p:sp>
      <p:sp>
        <p:nvSpPr>
          <p:cNvPr id="21" name="DSFR-box"/>
          <p:cNvSpPr/>
          <p:nvPr/>
        </p:nvSpPr>
        <p:spPr>
          <a:xfrm>
            <a:off x="6313931"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card-titre"/>
          <p:cNvSpPr txBox="1"/>
          <p:nvPr/>
        </p:nvSpPr>
        <p:spPr>
          <a:xfrm>
            <a:off x="6469379"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Audio-description étendue (pré-enregistré)</a:t>
            </a:r>
          </a:p>
        </p:txBody>
      </p:sp>
      <p:sp>
        <p:nvSpPr>
          <p:cNvPr id="23" name="DSFR-card-contenu"/>
          <p:cNvSpPr txBox="1"/>
          <p:nvPr/>
        </p:nvSpPr>
        <p:spPr>
          <a:xfrm>
            <a:off x="6469379"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contenus vidéo pré-enregistrés doivent disposer d'une audio-description étendue s'ils possèdent des éléments visuels importants tels que des détails visuels essentiels, du texte apparaissant à l'écran sans être prononcé à voix haute, ou des scènes dépourvues de pauses sonores et qui ne peuvent donc pas être décrites durant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Percevoir l'information</a:t>
            </a:r>
          </a:p>
        </p:txBody>
      </p:sp>
      <p:sp>
        <p:nvSpPr>
          <p:cNvPr id="8" name="DSFR-accent-decoratif" descr=""/>
          <p:cNvSpPr/>
          <p:nvPr/>
        </p:nvSpPr>
        <p:spPr>
          <a:xfrm>
            <a:off x="475488"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Percevoir l'information - critères (3/4)</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a:t>
            </a:r>
            <a:endParaRPr lang="fr-FR" dirty="0"/>
          </a:p>
        </p:txBody>
      </p:sp>
      <p:sp>
        <p:nvSpPr>
          <p:cNvPr id="9" name="DSFR-box"/>
          <p:cNvSpPr/>
          <p:nvPr/>
        </p:nvSpPr>
        <p:spPr>
          <a:xfrm>
            <a:off x="548640"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Texte sous forme d'image</a:t>
            </a:r>
          </a:p>
        </p:txBody>
      </p:sp>
      <p:sp>
        <p:nvSpPr>
          <p:cNvPr id="11" name="DSFR-card-contenu"/>
          <p:cNvSpPr txBox="1"/>
          <p:nvPr/>
        </p:nvSpPr>
        <p:spPr>
          <a:xfrm>
            <a:off x="704088"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 contenu textuel doit être codé comme du texte, et non comme des images, sauf si une représentation visuelle spécifique est indispensable (par exemple, un logo).</a:t>
            </a:r>
          </a:p>
        </p:txBody>
      </p:sp>
      <p:sp>
        <p:nvSpPr>
          <p:cNvPr id="13" name="DSFR-box"/>
          <p:cNvSpPr/>
          <p:nvPr/>
        </p:nvSpPr>
        <p:spPr>
          <a:xfrm>
            <a:off x="6313931"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Contraste (amélioré)</a:t>
            </a:r>
          </a:p>
        </p:txBody>
      </p:sp>
      <p:sp>
        <p:nvSpPr>
          <p:cNvPr id="15" name="DSFR-card-contenu"/>
          <p:cNvSpPr txBox="1"/>
          <p:nvPr/>
        </p:nvSpPr>
        <p:spPr>
          <a:xfrm>
            <a:off x="6469379"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 contraste du texte par rapport à son arrière-plan doit être d'au moins 7:1 pour un texte classique, ou 4,5:1 pour un texte de grande taille (supérieur à 24px, ou en gras et supérieur à 19px).</a:t>
            </a:r>
          </a:p>
        </p:txBody>
      </p:sp>
      <p:sp>
        <p:nvSpPr>
          <p:cNvPr id="17" name="DSFR-box"/>
          <p:cNvSpPr/>
          <p:nvPr/>
        </p:nvSpPr>
        <p:spPr>
          <a:xfrm>
            <a:off x="548640"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Texte sous forme d'image (sans exception)</a:t>
            </a:r>
          </a:p>
        </p:txBody>
      </p:sp>
      <p:sp>
        <p:nvSpPr>
          <p:cNvPr id="19" name="DSFR-card-contenu"/>
          <p:cNvSpPr txBox="1"/>
          <p:nvPr/>
        </p:nvSpPr>
        <p:spPr>
          <a:xfrm>
            <a:off x="704088"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 contenu textuel doit toujours être codé comme du texte, et non comme des images (sans exception, même pour des raisons esthétiques).</a:t>
            </a:r>
          </a:p>
        </p:txBody>
      </p:sp>
      <p:sp>
        <p:nvSpPr>
          <p:cNvPr id="21" name="DSFR-box"/>
          <p:cNvSpPr/>
          <p:nvPr/>
        </p:nvSpPr>
        <p:spPr>
          <a:xfrm>
            <a:off x="6313931"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card-titre"/>
          <p:cNvSpPr txBox="1"/>
          <p:nvPr/>
        </p:nvSpPr>
        <p:spPr>
          <a:xfrm>
            <a:off x="6469379"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Redistribution</a:t>
            </a:r>
          </a:p>
        </p:txBody>
      </p:sp>
      <p:sp>
        <p:nvSpPr>
          <p:cNvPr id="23" name="DSFR-card-contenu"/>
          <p:cNvSpPr txBox="1"/>
          <p:nvPr/>
        </p:nvSpPr>
        <p:spPr>
          <a:xfrm>
            <a:off x="6469379"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 contenu doit rester fonctionnel et lisible lorsqu'il est zoomé à 400 %, ou affiché sur une largeur de 320 px, sans recourir à aucun défilement, qu'il soit vertical ou horizontal (sauf pour les tableaux, les cartes et les contenus similaires).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Percevoir l'information</a:t>
            </a:r>
          </a:p>
        </p:txBody>
      </p:sp>
      <p:sp>
        <p:nvSpPr>
          <p:cNvPr id="8" name="DSFR-accent-decoratif" descr=""/>
          <p:cNvSpPr/>
          <p:nvPr/>
        </p:nvSpPr>
        <p:spPr>
          <a:xfrm>
            <a:off x="475488"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Percevoir l'information - critères (4/4)</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a:t>
            </a:r>
            <a:endParaRPr lang="fr-FR" dirty="0"/>
          </a:p>
        </p:txBody>
      </p:sp>
      <p:sp>
        <p:nvSpPr>
          <p:cNvPr id="9" name="DSFR-box"/>
          <p:cNvSpPr/>
          <p:nvPr/>
        </p:nvSpPr>
        <p:spPr>
          <a:xfrm>
            <a:off x="548640"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Arrière-plan sonore de faible volume ou absent</a:t>
            </a:r>
          </a:p>
        </p:txBody>
      </p:sp>
      <p:sp>
        <p:nvSpPr>
          <p:cNvPr id="11" name="DSFR-card-contenu"/>
          <p:cNvSpPr txBox="1"/>
          <p:nvPr/>
        </p:nvSpPr>
        <p:spPr>
          <a:xfrm>
            <a:off x="704088"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Pour les contenus audio pré-enregistrés contenant des paroles, tout bruit de fond doit être au minimum 20 dB plus faible que les dialogues, ou pouvoir être désactivé.</a:t>
            </a:r>
          </a:p>
        </p:txBody>
      </p:sp>
      <p:sp>
        <p:nvSpPr>
          <p:cNvPr id="13" name="DSFR-box"/>
          <p:cNvSpPr/>
          <p:nvPr/>
        </p:nvSpPr>
        <p:spPr>
          <a:xfrm>
            <a:off x="6313931"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Présentation visuelle</a:t>
            </a:r>
          </a:p>
        </p:txBody>
      </p:sp>
      <p:sp>
        <p:nvSpPr>
          <p:cNvPr id="15" name="DSFR-card-contenu"/>
          <p:cNvSpPr txBox="1"/>
          <p:nvPr/>
        </p:nvSpPr>
        <p:spPr>
          <a:xfrm>
            <a:off x="6469379"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blocs de textes (tels que les paragraphes) doivent avoir une hauteur de ligne d'au moins 1.5, ne pas être justifiés, rester limités à 80 caractères par ligne (ou 40 pour des scripts CJK), et permettre aux utilisateurs d'ajuster l'espacement et les couleurs du texte à l'aide de styles personnalisés.</a:t>
            </a:r>
          </a:p>
        </p:txBody>
      </p:sp>
      <p:sp>
        <p:nvSpPr>
          <p:cNvPr id="17" name="DSFR-box"/>
          <p:cNvSpPr/>
          <p:nvPr/>
        </p:nvSpPr>
        <p:spPr>
          <a:xfrm>
            <a:off x="548640"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Contraste du contenu non textuel</a:t>
            </a:r>
          </a:p>
        </p:txBody>
      </p:sp>
      <p:sp>
        <p:nvSpPr>
          <p:cNvPr id="19" name="DSFR-card-contenu"/>
          <p:cNvSpPr txBox="1"/>
          <p:nvPr/>
        </p:nvSpPr>
        <p:spPr>
          <a:xfrm>
            <a:off x="704088"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éléments interactifs (boutons, champs de saisie, indicateurs de focus, par exemple) et graphiques porteurs de sens (icônes, tableaux, courbes graphiques, par exemple) doivent présenter un rapport de contraste d'au moins 3:1 avec les couleurs adjacentes.</a:t>
            </a:r>
          </a:p>
        </p:txBody>
      </p:sp>
      <p:sp>
        <p:nvSpPr>
          <p:cNvPr id="21" name="DSFR-box"/>
          <p:cNvSpPr/>
          <p:nvPr/>
        </p:nvSpPr>
        <p:spPr>
          <a:xfrm>
            <a:off x="6313931"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card-titre"/>
          <p:cNvSpPr txBox="1"/>
          <p:nvPr/>
        </p:nvSpPr>
        <p:spPr>
          <a:xfrm>
            <a:off x="6469379"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Espacement du texte</a:t>
            </a:r>
          </a:p>
        </p:txBody>
      </p:sp>
      <p:sp>
        <p:nvSpPr>
          <p:cNvPr id="23" name="DSFR-card-contenu"/>
          <p:cNvSpPr txBox="1"/>
          <p:nvPr/>
        </p:nvSpPr>
        <p:spPr>
          <a:xfrm>
            <a:off x="6469379"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 texte doit rester lisible et fonctionnel lorsque l'espacement est modifié à l'aide de styles personnalisés, pour au moins 1,5x la hauteur de ligne, 2x l'espacement entre les paragraphes, 0,12x l'espacement des lettres, 0,16x l'espacement entre les mots, sans que le contenu ne soit caché ou coupé.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Percevoir l'information</a:t>
            </a:r>
          </a:p>
        </p:txBody>
      </p:sp>
      <p:sp>
        <p:nvSpPr>
          <p:cNvPr id="8" name="DSFR-accent-decoratif" descr=""/>
          <p:cNvSpPr/>
          <p:nvPr/>
        </p:nvSpPr>
        <p:spPr>
          <a:xfrm>
            <a:off x="475488"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Utiliser sans obstacle - critères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a:t>
            </a:r>
            <a:endParaRPr lang="fr-FR" dirty="0"/>
          </a:p>
        </p:txBody>
      </p:sp>
      <p:sp>
        <p:nvSpPr>
          <p:cNvPr id="8" name="DSFR-texte-libre"/>
          <p:cNvSpPr txBox="1"/>
          <p:nvPr/>
        </p:nvSpPr>
        <p:spPr>
          <a:xfrm>
            <a:off x="475488" y="1691640"/>
            <a:ext cx="11228832" cy="256032"/>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Toutes les actions doivent rester possibles sans piège : clavier, temps suffisant, navigation claire, gestes alternatifs.</a:t>
            </a:r>
          </a:p>
        </p:txBody>
      </p:sp>
      <p:sp>
        <p:nvSpPr>
          <p:cNvPr id="10" name="DSFR-box"/>
          <p:cNvSpPr/>
          <p:nvPr/>
        </p:nvSpPr>
        <p:spPr>
          <a:xfrm>
            <a:off x="548640"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Trois flashs</a:t>
            </a:r>
          </a:p>
        </p:txBody>
      </p:sp>
      <p:sp>
        <p:nvSpPr>
          <p:cNvPr id="12" name="DSFR-card-contenu"/>
          <p:cNvSpPr txBox="1"/>
          <p:nvPr/>
        </p:nvSpPr>
        <p:spPr>
          <a:xfrm>
            <a:off x="704088"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 contenu ne doit pas clignoter plus de trois fois par seconde (sans exception, même s'il respecte les seuils de sécurité).</a:t>
            </a:r>
          </a:p>
        </p:txBody>
      </p:sp>
      <p:sp>
        <p:nvSpPr>
          <p:cNvPr id="14" name="DSFR-box"/>
          <p:cNvSpPr/>
          <p:nvPr/>
        </p:nvSpPr>
        <p:spPr>
          <a:xfrm>
            <a:off x="6313931"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Animation résultant d'interactions</a:t>
            </a:r>
          </a:p>
        </p:txBody>
      </p:sp>
      <p:sp>
        <p:nvSpPr>
          <p:cNvPr id="16" name="DSFR-card-contenu"/>
          <p:cNvSpPr txBox="1"/>
          <p:nvPr/>
        </p:nvSpPr>
        <p:spPr>
          <a:xfrm>
            <a:off x="6469379"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animations déclenchées par une interaction (par exemple, un clic, un survol, un tapotement) doivent pouvoir être désactivées via les paramètres système (par exemple, "réduire les mouvements") ou désactivées via une option disponible sur le site.</a:t>
            </a:r>
          </a:p>
        </p:txBody>
      </p:sp>
      <p:sp>
        <p:nvSpPr>
          <p:cNvPr id="18" name="DSFR-box"/>
          <p:cNvSpPr/>
          <p:nvPr/>
        </p:nvSpPr>
        <p:spPr>
          <a:xfrm>
            <a:off x="548640"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704088"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Parcours du focus</a:t>
            </a:r>
          </a:p>
        </p:txBody>
      </p:sp>
      <p:sp>
        <p:nvSpPr>
          <p:cNvPr id="20" name="DSFR-card-contenu"/>
          <p:cNvSpPr txBox="1"/>
          <p:nvPr/>
        </p:nvSpPr>
        <p:spPr>
          <a:xfrm>
            <a:off x="704088"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 focus doit suivre un ordre logique qui préserve les relations et qui correspond à la façon dont la page se lit naturellement, indépendamment de la mise en page ou du sens de lecture.</a:t>
            </a:r>
          </a:p>
        </p:txBody>
      </p:sp>
      <p:sp>
        <p:nvSpPr>
          <p:cNvPr id="22" name="DSFR-box"/>
          <p:cNvSpPr/>
          <p:nvPr/>
        </p:nvSpPr>
        <p:spPr>
          <a:xfrm>
            <a:off x="6313931"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card-titre"/>
          <p:cNvSpPr txBox="1"/>
          <p:nvPr/>
        </p:nvSpPr>
        <p:spPr>
          <a:xfrm>
            <a:off x="6469379"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Fonction du lien (selon le contexte)</a:t>
            </a:r>
          </a:p>
        </p:txBody>
      </p:sp>
      <p:sp>
        <p:nvSpPr>
          <p:cNvPr id="24" name="DSFR-card-contenu"/>
          <p:cNvSpPr txBox="1"/>
          <p:nvPr/>
        </p:nvSpPr>
        <p:spPr>
          <a:xfrm>
            <a:off x="6469379"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La fonction de chaque lien doit être compréhensible à partir du texte du lien, ou du contexte environnant.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Utiliser sans obstacle</a:t>
            </a:r>
          </a:p>
        </p:txBody>
      </p:sp>
      <p:sp>
        <p:nvSpPr>
          <p:cNvPr id="9" name="DSFR-accent-decoratif" descr=""/>
          <p:cNvSpPr/>
          <p:nvPr/>
        </p:nvSpPr>
        <p:spPr>
          <a:xfrm>
            <a:off x="475488"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Utiliser sans obstacle - critères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a:t>
            </a:r>
            <a:endParaRPr lang="fr-FR" dirty="0"/>
          </a:p>
        </p:txBody>
      </p:sp>
      <p:sp>
        <p:nvSpPr>
          <p:cNvPr id="9" name="DSFR-box"/>
          <p:cNvSpPr/>
          <p:nvPr/>
        </p:nvSpPr>
        <p:spPr>
          <a:xfrm>
            <a:off x="548640"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Contourner des blocs</a:t>
            </a:r>
          </a:p>
        </p:txBody>
      </p:sp>
      <p:sp>
        <p:nvSpPr>
          <p:cNvPr id="11" name="DSFR-card-contenu"/>
          <p:cNvSpPr txBox="1"/>
          <p:nvPr/>
        </p:nvSpPr>
        <p:spPr>
          <a:xfrm>
            <a:off x="704088"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blocs de contenu répétés sur plusieurs pages doivent pouvoir être ignorés (par exemple, la navigation, l'en-tête) pour accéder directement à la partie principale de la page.</a:t>
            </a:r>
          </a:p>
        </p:txBody>
      </p:sp>
      <p:sp>
        <p:nvSpPr>
          <p:cNvPr id="13" name="DSFR-box"/>
          <p:cNvSpPr/>
          <p:nvPr/>
        </p:nvSpPr>
        <p:spPr>
          <a:xfrm>
            <a:off x="6313931"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Titre de page</a:t>
            </a:r>
          </a:p>
        </p:txBody>
      </p:sp>
      <p:sp>
        <p:nvSpPr>
          <p:cNvPr id="15" name="DSFR-card-contenu"/>
          <p:cNvSpPr txBox="1"/>
          <p:nvPr/>
        </p:nvSpPr>
        <p:spPr>
          <a:xfrm>
            <a:off x="6469379"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Chaque page doit posséder un attribut &lt;title&gt; unique et explicite qui reflète sa thématique ou son objectif.</a:t>
            </a:r>
          </a:p>
        </p:txBody>
      </p:sp>
      <p:sp>
        <p:nvSpPr>
          <p:cNvPr id="17" name="DSFR-box"/>
          <p:cNvSpPr/>
          <p:nvPr/>
        </p:nvSpPr>
        <p:spPr>
          <a:xfrm>
            <a:off x="548640"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Accès multiples</a:t>
            </a:r>
          </a:p>
        </p:txBody>
      </p:sp>
      <p:sp>
        <p:nvSpPr>
          <p:cNvPr id="19" name="DSFR-card-contenu"/>
          <p:cNvSpPr txBox="1"/>
          <p:nvPr/>
        </p:nvSpPr>
        <p:spPr>
          <a:xfrm>
            <a:off x="704088"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Il est essentiel de proposer au moins deux méthodes différentes pour accéder aux pages ou au contenu (par exemple, via des menus de navigation, des liens sur la page ou une recherche sur le site).</a:t>
            </a:r>
          </a:p>
        </p:txBody>
      </p:sp>
      <p:sp>
        <p:nvSpPr>
          <p:cNvPr id="21" name="DSFR-box"/>
          <p:cNvSpPr/>
          <p:nvPr/>
        </p:nvSpPr>
        <p:spPr>
          <a:xfrm>
            <a:off x="6313931"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card-titre"/>
          <p:cNvSpPr txBox="1"/>
          <p:nvPr/>
        </p:nvSpPr>
        <p:spPr>
          <a:xfrm>
            <a:off x="6469379"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En-têtes et étiquettes</a:t>
            </a:r>
          </a:p>
        </p:txBody>
      </p:sp>
      <p:sp>
        <p:nvSpPr>
          <p:cNvPr id="23" name="DSFR-card-contenu"/>
          <p:cNvSpPr txBox="1"/>
          <p:nvPr/>
        </p:nvSpPr>
        <p:spPr>
          <a:xfrm>
            <a:off x="6469379"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en-têtes doivent décrire le contenu qui suit.
Les étiquettes et les boutons doivent permettre d'identifier sans ambiguïté l'information à saisir ou l'action déclenchée.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Utiliser sans obstacle</a:t>
            </a:r>
          </a:p>
        </p:txBody>
      </p:sp>
      <p:sp>
        <p:nvSpPr>
          <p:cNvPr id="8" name="DSFR-accent-decoratif" descr=""/>
          <p:cNvSpPr/>
          <p:nvPr/>
        </p:nvSpPr>
        <p:spPr>
          <a:xfrm>
            <a:off x="475488"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Utiliser sans obstacle - critères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a:t>
            </a:r>
            <a:endParaRPr lang="fr-FR" dirty="0"/>
          </a:p>
        </p:txBody>
      </p:sp>
      <p:sp>
        <p:nvSpPr>
          <p:cNvPr id="9" name="DSFR-box"/>
          <p:cNvSpPr/>
          <p:nvPr/>
        </p:nvSpPr>
        <p:spPr>
          <a:xfrm>
            <a:off x="548640" y="1965960"/>
            <a:ext cx="5390388" cy="21031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Modalités d'entrées concurrentes</a:t>
            </a:r>
          </a:p>
        </p:txBody>
      </p:sp>
      <p:sp>
        <p:nvSpPr>
          <p:cNvPr id="11" name="DSFR-card-contenu"/>
          <p:cNvSpPr txBox="1"/>
          <p:nvPr/>
        </p:nvSpPr>
        <p:spPr>
          <a:xfrm>
            <a:off x="704088" y="2468879"/>
            <a:ext cx="5097779" cy="1508760"/>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Il doit être possible de passer d'une méthode de saisie à une autre (souris, clavier, écran tactile, commande vocale) tout en conservant l'accès à toutes les fonctionnalités.</a:t>
            </a:r>
          </a:p>
        </p:txBody>
      </p:sp>
      <p:sp>
        <p:nvSpPr>
          <p:cNvPr id="13" name="DSFR-box"/>
          <p:cNvSpPr/>
          <p:nvPr/>
        </p:nvSpPr>
        <p:spPr>
          <a:xfrm>
            <a:off x="6313931" y="1965960"/>
            <a:ext cx="5390388" cy="21031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Mouvements de glissement</a:t>
            </a:r>
          </a:p>
        </p:txBody>
      </p:sp>
      <p:sp>
        <p:nvSpPr>
          <p:cNvPr id="15" name="DSFR-card-contenu"/>
          <p:cNvSpPr txBox="1"/>
          <p:nvPr/>
        </p:nvSpPr>
        <p:spPr>
          <a:xfrm>
            <a:off x="6469379" y="2468879"/>
            <a:ext cx="5097779" cy="1508760"/>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actions nécessitant un glissement (comme le réarrangement d'éléments) doivent également être réalisables à l'aide de boutons ou d'une autre méthode qui ne nécessite pas de glissement.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Utiliser sans obstacle</a:t>
            </a:r>
          </a:p>
        </p:txBody>
      </p:sp>
      <p:sp>
        <p:nvSpPr>
          <p:cNvPr id="8" name="DSFR-accent-decoratif" descr=""/>
          <p:cNvSpPr/>
          <p:nvPr/>
        </p:nvSpPr>
        <p:spPr>
          <a:xfrm>
            <a:off x="475488" y="1965960"/>
            <a:ext cx="73152" cy="21031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1031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Comprendre sans effort inutile - critères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a:t>
            </a:r>
            <a:endParaRPr lang="fr-FR" dirty="0"/>
          </a:p>
        </p:txBody>
      </p:sp>
      <p:sp>
        <p:nvSpPr>
          <p:cNvPr id="8" name="DSFR-texte-libre"/>
          <p:cNvSpPr txBox="1"/>
          <p:nvPr/>
        </p:nvSpPr>
        <p:spPr>
          <a:xfrm>
            <a:off x="475488" y="1691640"/>
            <a:ext cx="11228832" cy="256032"/>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Les textes, parcours et formulaires doivent rester prévisibles, explicites et réparables en cas d’erreur.</a:t>
            </a:r>
          </a:p>
        </p:txBody>
      </p:sp>
      <p:sp>
        <p:nvSpPr>
          <p:cNvPr id="10" name="DSFR-box"/>
          <p:cNvSpPr/>
          <p:nvPr/>
        </p:nvSpPr>
        <p:spPr>
          <a:xfrm>
            <a:off x="548640"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Langue de la page</a:t>
            </a:r>
          </a:p>
        </p:txBody>
      </p:sp>
      <p:sp>
        <p:nvSpPr>
          <p:cNvPr id="12" name="DSFR-card-contenu"/>
          <p:cNvSpPr txBox="1"/>
          <p:nvPr/>
        </p:nvSpPr>
        <p:spPr>
          <a:xfrm>
            <a:off x="704088"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Chaque page doit comporter un attribut &lt;html lang=""&gt; correspondant à la langue principale de la page.</a:t>
            </a:r>
          </a:p>
        </p:txBody>
      </p:sp>
      <p:sp>
        <p:nvSpPr>
          <p:cNvPr id="14" name="DSFR-box"/>
          <p:cNvSpPr/>
          <p:nvPr/>
        </p:nvSpPr>
        <p:spPr>
          <a:xfrm>
            <a:off x="6313931"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Langue d'un passage</a:t>
            </a:r>
          </a:p>
        </p:txBody>
      </p:sp>
      <p:sp>
        <p:nvSpPr>
          <p:cNvPr id="16" name="DSFR-card-contenu"/>
          <p:cNvSpPr txBox="1"/>
          <p:nvPr/>
        </p:nvSpPr>
        <p:spPr>
          <a:xfrm>
            <a:off x="6469379"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Chaque passage d'un contenu rédigé dans une autre langue doit être notifié à l'aide de l'attribut lang approprié. Les expressions empruntées à une autre langue (comme "week-end", par exemple) n'ont pas besoin de cet attribut, sauf si la prononciation ou la compréhension est affectée.</a:t>
            </a:r>
          </a:p>
        </p:txBody>
      </p:sp>
      <p:sp>
        <p:nvSpPr>
          <p:cNvPr id="18" name="DSFR-box"/>
          <p:cNvSpPr/>
          <p:nvPr/>
        </p:nvSpPr>
        <p:spPr>
          <a:xfrm>
            <a:off x="548640"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704088"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Mots rares</a:t>
            </a:r>
          </a:p>
        </p:txBody>
      </p:sp>
      <p:sp>
        <p:nvSpPr>
          <p:cNvPr id="20" name="DSFR-card-contenu"/>
          <p:cNvSpPr txBox="1"/>
          <p:nvPr/>
        </p:nvSpPr>
        <p:spPr>
          <a:xfrm>
            <a:off x="704088"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termes utilisés de manière inhabituelle, le jargon et les expressions idiomatiques doivent être évités dans la mesure du possible, ou être expliqués dès leur première occurrence.</a:t>
            </a:r>
          </a:p>
        </p:txBody>
      </p:sp>
      <p:sp>
        <p:nvSpPr>
          <p:cNvPr id="22" name="DSFR-box"/>
          <p:cNvSpPr/>
          <p:nvPr/>
        </p:nvSpPr>
        <p:spPr>
          <a:xfrm>
            <a:off x="6313931"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card-titre"/>
          <p:cNvSpPr txBox="1"/>
          <p:nvPr/>
        </p:nvSpPr>
        <p:spPr>
          <a:xfrm>
            <a:off x="6469379"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Prononciation</a:t>
            </a:r>
          </a:p>
        </p:txBody>
      </p:sp>
      <p:sp>
        <p:nvSpPr>
          <p:cNvPr id="24" name="DSFR-card-contenu"/>
          <p:cNvSpPr txBox="1"/>
          <p:nvPr/>
        </p:nvSpPr>
        <p:spPr>
          <a:xfrm>
            <a:off x="6469379"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Lorsque la prononciation d'un mot peut varier et changer sa signification, il est nécessaire de clarifier le sens voulu pour éviter toute confusion ou ambiguïté.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Comprendre sans effort inutile</a:t>
            </a:r>
          </a:p>
        </p:txBody>
      </p:sp>
      <p:sp>
        <p:nvSpPr>
          <p:cNvPr id="9" name="DSFR-accent-decoratif" descr=""/>
          <p:cNvSpPr/>
          <p:nvPr/>
        </p:nvSpPr>
        <p:spPr>
          <a:xfrm>
            <a:off x="475488"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Comprendre sans effort inutile - critères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a:t>
            </a:r>
            <a:endParaRPr lang="fr-FR" dirty="0"/>
          </a:p>
        </p:txBody>
      </p:sp>
      <p:sp>
        <p:nvSpPr>
          <p:cNvPr id="9" name="DSFR-box"/>
          <p:cNvSpPr/>
          <p:nvPr/>
        </p:nvSpPr>
        <p:spPr>
          <a:xfrm>
            <a:off x="548640"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Au focus</a:t>
            </a:r>
          </a:p>
        </p:txBody>
      </p:sp>
      <p:sp>
        <p:nvSpPr>
          <p:cNvPr id="11" name="DSFR-card-contenu"/>
          <p:cNvSpPr txBox="1"/>
          <p:nvPr/>
        </p:nvSpPr>
        <p:spPr>
          <a:xfrm>
            <a:off x="704088"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Lorsqu'un élément reçoit le focus, aucun changement imprévu ne doit se produire (comme l'ouverture d'une fenêtre contextuelle, le déplacement du focus ou la validation d'un formulaire).</a:t>
            </a:r>
          </a:p>
        </p:txBody>
      </p:sp>
      <p:sp>
        <p:nvSpPr>
          <p:cNvPr id="13" name="DSFR-box"/>
          <p:cNvSpPr/>
          <p:nvPr/>
        </p:nvSpPr>
        <p:spPr>
          <a:xfrm>
            <a:off x="6313931"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Abréviations</a:t>
            </a:r>
          </a:p>
        </p:txBody>
      </p:sp>
      <p:sp>
        <p:nvSpPr>
          <p:cNvPr id="15" name="DSFR-card-contenu"/>
          <p:cNvSpPr txBox="1"/>
          <p:nvPr/>
        </p:nvSpPr>
        <p:spPr>
          <a:xfrm>
            <a:off x="6469379"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abréviations et acronymes doivent être évités dans la mesure du possible, ou être expliqués lors de leur première occurrence.</a:t>
            </a:r>
          </a:p>
        </p:txBody>
      </p:sp>
      <p:sp>
        <p:nvSpPr>
          <p:cNvPr id="17" name="DSFR-box"/>
          <p:cNvSpPr/>
          <p:nvPr/>
        </p:nvSpPr>
        <p:spPr>
          <a:xfrm>
            <a:off x="548640"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Lisibilité du texte</a:t>
            </a:r>
          </a:p>
        </p:txBody>
      </p:sp>
      <p:sp>
        <p:nvSpPr>
          <p:cNvPr id="19" name="DSFR-card-contenu"/>
          <p:cNvSpPr txBox="1"/>
          <p:nvPr/>
        </p:nvSpPr>
        <p:spPr>
          <a:xfrm>
            <a:off x="704088"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Si le contenu nécessite une capacité de lecture plus avancée que le premier cycle de l'enseignement secondaire (autrement dit la classe de 3e), il est essentiel de fournir une version simplifiée, un résumé, un support visuel ou une version audio pour faciliter la compréhension.</a:t>
            </a:r>
          </a:p>
        </p:txBody>
      </p:sp>
      <p:sp>
        <p:nvSpPr>
          <p:cNvPr id="21" name="DSFR-box"/>
          <p:cNvSpPr/>
          <p:nvPr/>
        </p:nvSpPr>
        <p:spPr>
          <a:xfrm>
            <a:off x="6313931"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card-titre"/>
          <p:cNvSpPr txBox="1"/>
          <p:nvPr/>
        </p:nvSpPr>
        <p:spPr>
          <a:xfrm>
            <a:off x="6469379"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Prévention des erreurs (toutes)</a:t>
            </a:r>
          </a:p>
        </p:txBody>
      </p:sp>
      <p:sp>
        <p:nvSpPr>
          <p:cNvPr id="23" name="DSFR-card-contenu"/>
          <p:cNvSpPr txBox="1"/>
          <p:nvPr/>
        </p:nvSpPr>
        <p:spPr>
          <a:xfrm>
            <a:off x="6469379"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Avant de valider l'envoi d'un formulaire, il doit être possible de vérifier les informations saisies et corriger les erreurs.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Comprendre sans effort inutile</a:t>
            </a:r>
          </a:p>
        </p:txBody>
      </p:sp>
      <p:sp>
        <p:nvSpPr>
          <p:cNvPr id="8" name="DSFR-accent-decoratif" descr=""/>
          <p:cNvSpPr/>
          <p:nvPr/>
        </p:nvSpPr>
        <p:spPr>
          <a:xfrm>
            <a:off x="475488"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Comprendre sans effort inutile - critères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a:t>
            </a:r>
            <a:endParaRPr lang="fr-FR" dirty="0"/>
          </a:p>
        </p:txBody>
      </p:sp>
      <p:sp>
        <p:nvSpPr>
          <p:cNvPr id="9" name="DSFR-box"/>
          <p:cNvSpPr/>
          <p:nvPr/>
        </p:nvSpPr>
        <p:spPr>
          <a:xfrm>
            <a:off x="548640"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Saisie redondante</a:t>
            </a:r>
          </a:p>
        </p:txBody>
      </p:sp>
      <p:sp>
        <p:nvSpPr>
          <p:cNvPr id="11" name="DSFR-card-contenu"/>
          <p:cNvSpPr txBox="1"/>
          <p:nvPr/>
        </p:nvSpPr>
        <p:spPr>
          <a:xfrm>
            <a:off x="704088"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Ne demandez pas les mêmes informations deux fois au cours d'un même processus. Proposez des champs préremplis ou des options de sélection si les informations ont déjà été fournies au préalable.</a:t>
            </a:r>
          </a:p>
        </p:txBody>
      </p:sp>
      <p:sp>
        <p:nvSpPr>
          <p:cNvPr id="13" name="DSFR-box"/>
          <p:cNvSpPr/>
          <p:nvPr/>
        </p:nvSpPr>
        <p:spPr>
          <a:xfrm>
            <a:off x="6313931" y="1965960"/>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Authentification accessible (minimum)</a:t>
            </a:r>
          </a:p>
        </p:txBody>
      </p:sp>
      <p:sp>
        <p:nvSpPr>
          <p:cNvPr id="15" name="DSFR-card-contenu"/>
          <p:cNvSpPr txBox="1"/>
          <p:nvPr/>
        </p:nvSpPr>
        <p:spPr>
          <a:xfrm>
            <a:off x="6469379" y="2468879"/>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L'authentification ne doit pas reposer uniquement sur la mémoire. Elle doit autoriser le copier-coller, les gestionnaires de mots de passe ou d'autres options (comme la vérification par e-mail).</a:t>
            </a:r>
          </a:p>
        </p:txBody>
      </p:sp>
      <p:sp>
        <p:nvSpPr>
          <p:cNvPr id="17" name="DSFR-box"/>
          <p:cNvSpPr/>
          <p:nvPr/>
        </p:nvSpPr>
        <p:spPr>
          <a:xfrm>
            <a:off x="548640" y="4174235"/>
            <a:ext cx="5390388" cy="200710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704088" y="431139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Authentification accessible (améliorée)</a:t>
            </a:r>
          </a:p>
        </p:txBody>
      </p:sp>
      <p:sp>
        <p:nvSpPr>
          <p:cNvPr id="19" name="DSFR-card-contenu"/>
          <p:cNvSpPr txBox="1"/>
          <p:nvPr/>
        </p:nvSpPr>
        <p:spPr>
          <a:xfrm>
            <a:off x="704088" y="4677155"/>
            <a:ext cx="5097779" cy="141274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L'authentification ne doit pas reposer sur la mémoire ou la reconnaissance (comme résoudre des énigmes, se souvenir d'images ou utiliser des CAPTCHA).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Comprendre sans effort inutile</a:t>
            </a:r>
          </a:p>
        </p:txBody>
      </p:sp>
      <p:sp>
        <p:nvSpPr>
          <p:cNvPr id="8" name="DSFR-accent-decoratif" descr=""/>
          <p:cNvSpPr/>
          <p:nvPr/>
        </p:nvSpPr>
        <p:spPr>
          <a:xfrm>
            <a:off x="475488"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74235"/>
            <a:ext cx="73152" cy="20071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Rester compatible -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Principes WCAG et critères condensés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a:t>
            </a:r>
            <a:endParaRPr lang="fr-FR" dirty="0"/>
          </a:p>
        </p:txBody>
      </p:sp>
      <p:sp>
        <p:nvSpPr>
          <p:cNvPr id="8" name="DSFR-texte-libre"/>
          <p:cNvSpPr txBox="1"/>
          <p:nvPr/>
        </p:nvSpPr>
        <p:spPr>
          <a:xfrm>
            <a:off x="475488" y="1691640"/>
            <a:ext cx="11228832" cy="256032"/>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L’interface doit pouvoir être comprise par les aides techniques, les navigateurs et les outils de lecture.</a:t>
            </a:r>
          </a:p>
        </p:txBody>
      </p:sp>
      <p:sp>
        <p:nvSpPr>
          <p:cNvPr id="10" name="DSFR-box"/>
          <p:cNvSpPr/>
          <p:nvPr/>
        </p:nvSpPr>
        <p:spPr>
          <a:xfrm>
            <a:off x="548640"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Analyse syntaxique (obsolète et supprimé)</a:t>
            </a:r>
          </a:p>
        </p:txBody>
      </p:sp>
      <p:sp>
        <p:nvSpPr>
          <p:cNvPr id="12" name="DSFR-card-contenu"/>
          <p:cNvSpPr txBox="1"/>
          <p:nvPr/>
        </p:nvSpPr>
        <p:spPr>
          <a:xfrm>
            <a:off x="704088"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Ce critère nécessitait un code HTML correctement structuré et sans erreurs critiques (telles que des balises manquantes ou des identifiants en double). Bien que cette exigence ait été supprimée, elle reste utile en termes de compatibilité.</a:t>
            </a:r>
          </a:p>
        </p:txBody>
      </p:sp>
      <p:sp>
        <p:nvSpPr>
          <p:cNvPr id="14" name="DSFR-box"/>
          <p:cNvSpPr/>
          <p:nvPr/>
        </p:nvSpPr>
        <p:spPr>
          <a:xfrm>
            <a:off x="6313931" y="2057400"/>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2194560"/>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Nom, rôle et valeur</a:t>
            </a:r>
          </a:p>
        </p:txBody>
      </p:sp>
      <p:sp>
        <p:nvSpPr>
          <p:cNvPr id="16" name="DSFR-card-contenu"/>
          <p:cNvSpPr txBox="1"/>
          <p:nvPr/>
        </p:nvSpPr>
        <p:spPr>
          <a:xfrm>
            <a:off x="6469379" y="2560320"/>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éléments interactifs doivent disposer d'un nom clair (ce qu'ils sont), d'un rôle approprié (ce qu'ils font), et de toute valeur ou état actuel, afin que les technologies d'assistance puissent les interpréter et interagir correctement avec eux.</a:t>
            </a:r>
          </a:p>
        </p:txBody>
      </p:sp>
      <p:sp>
        <p:nvSpPr>
          <p:cNvPr id="18" name="DSFR-box"/>
          <p:cNvSpPr/>
          <p:nvPr/>
        </p:nvSpPr>
        <p:spPr>
          <a:xfrm>
            <a:off x="548640" y="4219956"/>
            <a:ext cx="5390388" cy="196138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704088" y="4357116"/>
            <a:ext cx="5097779" cy="320040"/>
          </a:xfrm>
          <a:prstGeom prst="rect">
            <a:avLst/>
          </a:prstGeom>
          <a:noFill/>
        </p:spPr>
        <p:txBody>
          <a:bodyPr wrap="square" anchor="t" lIns="73152" rIns="73152">
            <a:spAutoFit/>
          </a:bodyPr>
          <a:lstStyle/>
          <a:p>
            <a:pPr algn="l">
              <a:lnSpc>
                <a:spcPct val="125000"/>
              </a:lnSpc>
            </a:pPr>
            <a:r>
              <a:rPr sz="1200" b="1" i="0" lang="fr-FR">
                <a:solidFill>
                  <a:srgbClr val="000091"/>
                </a:solidFill>
                <a:latin typeface="Marianne"/>
              </a:rPr>
              <a:t>Messages d'état</a:t>
            </a:r>
          </a:p>
        </p:txBody>
      </p:sp>
      <p:sp>
        <p:nvSpPr>
          <p:cNvPr id="20" name="DSFR-card-contenu"/>
          <p:cNvSpPr txBox="1"/>
          <p:nvPr/>
        </p:nvSpPr>
        <p:spPr>
          <a:xfrm>
            <a:off x="704088" y="4722876"/>
            <a:ext cx="5097779" cy="1367028"/>
          </a:xfrm>
          <a:prstGeom prst="rect">
            <a:avLst/>
          </a:prstGeom>
          <a:noFill/>
        </p:spPr>
        <p:txBody>
          <a:bodyPr wrap="square" anchor="t" lIns="73152" rIns="73152">
            <a:spAutoFit/>
          </a:bodyPr>
          <a:lstStyle/>
          <a:p>
            <a:pPr algn="l">
              <a:lnSpc>
                <a:spcPct val="125000"/>
              </a:lnSpc>
            </a:pPr>
            <a:r>
              <a:rPr sz="1200" b="0" i="0" lang="fr-FR">
                <a:solidFill>
                  <a:srgbClr val="161616"/>
                </a:solidFill>
                <a:latin typeface="Marianne"/>
              </a:rPr>
              <a:t>Les mises à jour d'état (telles que "formulaire envoyé" ou "5 articles dans le panier") doivent être codées avec des rôles appropriés (tels que role="status" ou role="alert"), être détectables par les technologies d'assistance, et ne pas nécessiter de déplacement du focus.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WCAG en langage clair / Rester compatible</a:t>
            </a:r>
          </a:p>
        </p:txBody>
      </p:sp>
      <p:sp>
        <p:nvSpPr>
          <p:cNvPr id="9" name="DSFR-accent-decoratif" descr=""/>
          <p:cNvSpPr/>
          <p:nvPr/>
        </p:nvSpPr>
        <p:spPr>
          <a:xfrm>
            <a:off x="475488"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219956"/>
            <a:ext cx="73152" cy="196138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WCAG en langage clair - condensé</dc:title>
  <dc:subject>Support de formation DSFR condensé - adaptation française de WCAG in Plain English par AAArdvark</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