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18"/>
  </p:notesMasterIdLst>
  <p:handoutMasterIdLst>
    <p:handoutMasterId r:id="rId19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7"/>
    <p:sldId id="267" r:id="rId6"/>
    <p:sldId id="268" r:id="rId5"/>
    <p:sldId id="269" r:id="rId4"/>
    <p:sldId id="270" r:id="rId3"/>
    <p:sldId id="271" r:id="rId2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969" cy="68580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mple" id="{1B2C009F-958F-4730-953E-C3BCDF6DEDF4}">
          <p14:sldIdLst>
            <p14:sldId id="342"/>
            <p14:sldId id="335"/>
            <p14:sldId id="336"/>
            <p14:sldId id="337"/>
            <p14:sldId id="348"/>
            <p14:sldId id="344"/>
            <p14:sldId id="347"/>
          </p14:sldIdLst>
        </p14:section>
        <p14:section name="IGPDE" id="{0B896E98-F45E-4768-8620-EDDF394BE181}">
          <p14:sldIdLst>
            <p14:sldId id="332"/>
            <p14:sldId id="331"/>
            <p14:sldId id="327"/>
            <p14:sldId id="340"/>
            <p14:sldId id="329"/>
            <p14:sldId id="330"/>
          </p14:sldIdLst>
        </p14:section>
        <p14:section name="MÉTHODOLOGIE" id="{EB03BDE6-D677-4574-A7BF-9721F91BDEB8}">
          <p14:sldIdLst>
            <p14:sldId id="319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4" autoAdjust="0"/>
    <p:restoredTop sz="96224" autoAdjust="0"/>
  </p:normalViewPr>
  <p:slideViewPr>
    <p:cSldViewPr showGuides="1">
      <p:cViewPr varScale="1">
        <p:scale>
          <a:sx n="135" d="100"/>
          <a:sy n="135" d="100"/>
        </p:scale>
        <p:origin x="120" y="114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outlineViewPr>
    <p:cViewPr>
      <p:scale>
        <a:sx n="33" d="100"/>
        <a:sy n="33" d="100"/>
      </p:scale>
      <p:origin x="0" y="-25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2" d="100"/>
        <a:sy n="172" d="100"/>
      </p:scale>
      <p:origin x="0" y="-3540"/>
    </p:cViewPr>
  </p:sorterViewPr>
  <p:notesViewPr>
    <p:cSldViewPr showGuides="1">
      <p:cViewPr varScale="1">
        <p:scale>
          <a:sx n="83" d="100"/>
          <a:sy n="83" d="100"/>
        </p:scale>
        <p:origin x="3132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B2658-7BE8-4FC5-8F36-ABC54AD38E15}" type="datetimeFigureOut">
              <a:rPr lang="fr-FR" smtClean="0"/>
              <a:t>06/09/2024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3471C-61B7-441C-A48C-C1E234DDF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693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06/09/2024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Accueil du groupe.</a:t>
            </a:r>
          </a:p>
          <a:p>
            <a:r>
              <a:rPr lang="fr-FR"/>
              <a:t>Préciser que ce support transforme les critères WCAG en langage clair, sans remplacer la norme officielle.</a:t>
            </a:r>
          </a:p>
          <a:p>
            <a:r>
              <a:rPr lang="fr-FR"/>
              <a:t>Source principale : AAArdvark, WCAG in Plain English, licence CC BY-SA 4.0.</a:t>
            </a:r>
          </a:p>
          <a:p>
            <a:r>
              <a:rPr lang="fr-FR"/>
              <a:t>Cette variante garde le focus sur la lecture des 4 principes et sur les titres des critères, regroupés par pages 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D’après le W3C, WCAG 2.2 compte 13 lignes directrices organisées sous 4 principes.</a:t>
            </a:r>
          </a:p>
          <a:p>
            <a:r>
              <a:rPr lang="fr-FR"/>
              <a:t>Les critères de succès déterminent la conformité.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Faire reformuler les quatre questions par les participants.</a:t>
            </a:r>
          </a:p>
          <a:p>
            <a:r>
              <a:rPr lang="fr-FR"/>
              <a:t>Insister sur le vocabulaire courant : percevoir, utiliser, comprendre, compatible.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Ouverture de section : Percevoir l’information.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Équivalents texte, Audio ou vidéo seuls, Sous-titres vidéo, Visuels décrits, Sous-titres en direct, Audiodescription.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Langue des signes, Description étendue, Alternative complète, Audio direct, Relations visibles, Ordre logique.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Pas seulement sensoriel, Orientation, Champs connus, Zones identifiables, Couleur seule, Son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Contraste texte, Zoom texte, Texte natif, Contraste renforcé, Fond sonore bas, Présentation lisible.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Aucune image de texte, Reflow, Contraste non texte, Espacement du texte, Survol et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Ouverture de section : Utiliser sans obstacle.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Tout au clavier, Pas de piège, Clavier sans exception, Raccourcis simples, Délais réglables, Mettre en pause, arrêter, masquer.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Pas de limite, Interruptions, Reconnexion, Expiration, Trois flashs max, Aucun flash risqué.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Animations, Éviter les blocs, Titre de page, Ordre du focus, Liens en contexte, Plusieurs chemins.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Titres et étiquettes, Focus visible, Localisation, Lien seul, Sections claires, Focus non masqué.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Focus entièrement visible, Apparence du focus, Gestes complexes, Annulation du clic, Nom visible repris, Mouvement appareil.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Grande cible, Entrées multiples, Glisser-déposer, Taille minimale.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Ouverture de section : Comprendre sans effort inutile.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Langue de page, Changement de langue, Mots rares, Abréviations, Lisibilité du texte, Prononciation.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Au focus, À la saisie, Navigation stable, Même fonction, même nom, Changement demandé, Aide cohérente.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Erreur identifiée, Libellés clairs, Suggestion, Actions sensibles, Aide disponible, Tous formulaires.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Pas de ressaisie, Connexion accessible, Connexion renforcée.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Ouverture de section : Rester compatible.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Version condensée : titres des critères, sans numérotation visible.</a:t>
            </a:r>
          </a:p>
          <a:p>
            <a:r>
              <a:rPr lang="fr-FR"/>
              <a:t>Critères couverts : Structure propre, Nom, rôle, valeur, Messages d’état.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59997" y="5226516"/>
            <a:ext cx="4319989" cy="1199997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dirty="0"/>
              <a:t>Institut de la Gestion publique </a:t>
            </a:r>
            <a:br>
              <a:rPr lang="fr-FR" dirty="0"/>
            </a:br>
            <a:r>
              <a:rPr lang="fr-FR" dirty="0"/>
              <a:t>et du Développement économique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69" y="260647"/>
            <a:ext cx="4579487" cy="414909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299" y="776635"/>
            <a:ext cx="3132658" cy="31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386" userDrawn="1">
          <p15:clr>
            <a:srgbClr val="FBAE40"/>
          </p15:clr>
        </p15:guide>
        <p15:guide id="4" pos="443" userDrawn="1">
          <p15:clr>
            <a:srgbClr val="FBAE40"/>
          </p15:clr>
        </p15:guide>
        <p15:guide id="5" orient="horz" pos="30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8" y="3128053"/>
            <a:ext cx="11231971" cy="2769593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27" y="212775"/>
            <a:ext cx="2143038" cy="194163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467" y="465665"/>
            <a:ext cx="1464915" cy="1464915"/>
          </a:xfrm>
          <a:prstGeom prst="rect">
            <a:avLst/>
          </a:prstGeom>
        </p:spPr>
      </p:pic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</a:t>
            </a:r>
          </a:p>
        </p:txBody>
      </p: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6" y="2522617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5988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77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3997"/>
            <a:ext cx="12191969" cy="5875185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/>
              <a:t>Sélectionner l’icône pour insérer une image, </a:t>
            </a:r>
            <a:br>
              <a:rPr lang="fr-FR" dirty="0"/>
            </a:br>
            <a:r>
              <a:rPr lang="fr-FR" dirty="0"/>
              <a:t>puis disposer l’image en arrière plan </a:t>
            </a:r>
            <a:br>
              <a:rPr lang="fr-FR" dirty="0"/>
            </a:br>
            <a:r>
              <a:rPr lang="fr-FR" dirty="0"/>
              <a:t>(Sélectionner l’image avec le bouton droit de la souris / </a:t>
            </a:r>
            <a:br>
              <a:rPr lang="fr-FR" dirty="0"/>
            </a:br>
            <a:r>
              <a:rPr lang="fr-FR" dirty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983997"/>
            <a:ext cx="11231971" cy="5395186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7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5988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1979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6" y="2447993"/>
            <a:ext cx="1123197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7" y="1199997"/>
            <a:ext cx="11231971" cy="9599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7" y="2447993"/>
            <a:ext cx="11231971" cy="34319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1974" y="6377984"/>
            <a:ext cx="1559996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79998" y="6377984"/>
            <a:ext cx="7871980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1979" y="6377984"/>
            <a:ext cx="1799995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6" y="147038"/>
            <a:ext cx="737074" cy="6678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961" y="243271"/>
            <a:ext cx="477928" cy="4779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8348472" y="6382512"/>
            <a:ext cx="1801368" cy="475488"/>
          </a:xfrm>
          <a:ln>
            <a:solidFill>
              <a:schemeClr val="tx1">
                <a:alpha val="0"/>
              </a:schemeClr>
            </a:solidFill>
          </a:ln>
        </p:spPr>
        <p:txBody>
          <a:bodyPr wrap="square" anchor="t" lIns="73152" rIns="73152"/>
          <a:lstStyle>
            <a:lvl1pPr>
              <a:defRPr sz="100" lang="fr-FR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</a:t>
            </a:r>
            <a:endParaRPr lang="fr-FR" dirty="0"/>
          </a:p>
        </p:txBody>
      </p:sp>
      <p:sp>
        <p:nvSpPr>
          <p:cNvPr id="8" name="Title-DSFR-couverture"/>
          <p:cNvSpPr txBox="1"/>
          <p:nvPr/>
        </p:nvSpPr>
        <p:spPr>
          <a:xfrm>
            <a:off x="5303520" y="4114800"/>
            <a:ext cx="649224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WCAG en langage clair</a:t>
            </a:r>
          </a:p>
        </p:txBody>
      </p:sp>
      <p:sp>
        <p:nvSpPr>
          <p:cNvPr id="9" name="DSFR-texte-libre"/>
          <p:cNvSpPr txBox="1"/>
          <p:nvPr/>
        </p:nvSpPr>
        <p:spPr>
          <a:xfrm>
            <a:off x="5303520" y="4892040"/>
            <a:ext cx="64922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1" i="0" lang="fr-FR">
                <a:solidFill>
                  <a:srgbClr val="E1000F"/>
                </a:solidFill>
                <a:latin typeface="Marianne"/>
              </a:rPr>
              <a:t>Version condensée - 4 principes et critères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10149840" y="6382512"/>
            <a:ext cx="1563624" cy="475488"/>
          </a:xfrm>
          <a:ln>
            <a:solidFill>
              <a:schemeClr val="tx1">
                <a:alpha val="0"/>
              </a:schemeClr>
            </a:solidFill>
          </a:ln>
        </p:spPr>
        <p:txBody>
          <a:bodyPr wrap="square" anchor="t" lIns="73152" rIns="73152"/>
          <a:lstStyle>
            <a:lvl1pPr>
              <a:defRPr sz="100" lang="fr-FR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475488" y="6382512"/>
            <a:ext cx="7872983" cy="475488"/>
          </a:xfrm>
        </p:spPr>
        <p:txBody>
          <a:bodyPr anchor="t" anchorCtr="0" wrap="square" lIns="73152" rIns="73152"/>
          <a:lstStyle>
            <a:lvl1pPr>
              <a:defRPr sz="1150" lang="fr-FR"/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Accueil</a:t>
            </a:r>
          </a:p>
        </p:txBody>
      </p:sp>
      <p:cxnSp>
        <p:nvCxnSpPr>
          <p:cNvPr id="7" name="IGPDE-footer-ligne-decoratif" descr=""/>
          <p:cNvCxnSpPr/>
          <p:nvPr/>
        </p:nvCxnSpPr>
        <p:spPr>
          <a:xfrm>
            <a:off x="475488" y="6373368"/>
            <a:ext cx="11228831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Comment lire les WCAG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Mode d’emploi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445894" y="21945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926079"/>
            <a:ext cx="2580894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4 principes : percevoir, utiliser, comprendre, rester compatible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4328541" y="21945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3358134" y="2926079"/>
            <a:ext cx="2580894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13 lignes directrices : les grands sujets à traiter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7211186" y="21945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6" name="DSFR-stepper-texte-3"/>
          <p:cNvSpPr txBox="1"/>
          <p:nvPr/>
        </p:nvSpPr>
        <p:spPr>
          <a:xfrm>
            <a:off x="6240779" y="2926079"/>
            <a:ext cx="2580894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Critères de succès : les exigences testables</a:t>
            </a:r>
          </a:p>
        </p:txBody>
      </p:sp>
      <p:sp>
        <p:nvSpPr>
          <p:cNvPr id="17" name="DSFR-stepper-pastille-4"/>
          <p:cNvSpPr/>
          <p:nvPr/>
        </p:nvSpPr>
        <p:spPr>
          <a:xfrm>
            <a:off x="10093832" y="21945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8" name="DSFR-stepper-texte-4"/>
          <p:cNvSpPr txBox="1"/>
          <p:nvPr/>
        </p:nvSpPr>
        <p:spPr>
          <a:xfrm>
            <a:off x="9123426" y="2926079"/>
            <a:ext cx="2580894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Preuves : test, mesure, exemple corrigé ou contenu modifié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4251960"/>
            <a:ext cx="11155680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llout-titre"/>
          <p:cNvSpPr txBox="1"/>
          <p:nvPr/>
        </p:nvSpPr>
        <p:spPr>
          <a:xfrm>
            <a:off x="704088" y="43434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 bon réflexe</a:t>
            </a:r>
          </a:p>
        </p:txBody>
      </p:sp>
      <p:sp>
        <p:nvSpPr>
          <p:cNvPr id="22" name="DSFR-callout-body"/>
          <p:cNvSpPr txBox="1"/>
          <p:nvPr/>
        </p:nvSpPr>
        <p:spPr>
          <a:xfrm>
            <a:off x="704088" y="4754880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Ne pas apprendre la liste par cœur.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Savoir transformer un critère en question : que doit pouvoir faire la personne ?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Chercher la preuve : exemple, capture, test clavier, mesure ou contenu corrigé.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Carte mentale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085975" y="249631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4968621" y="249631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3-decoratif" descr=""/>
          <p:cNvSpPr/>
          <p:nvPr/>
        </p:nvSpPr>
        <p:spPr>
          <a:xfrm>
            <a:off x="7851267" y="249631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4251960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Les 4 grandes questions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Mode d’emploi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86000"/>
            <a:ext cx="5390388" cy="1828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2316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Percevoir</a:t>
            </a:r>
          </a:p>
        </p:txBody>
      </p:sp>
      <p:sp>
        <p:nvSpPr>
          <p:cNvPr id="11" name="DSFR-card-contenu"/>
          <p:cNvSpPr txBox="1"/>
          <p:nvPr/>
        </p:nvSpPr>
        <p:spPr>
          <a:xfrm>
            <a:off x="704088" y="2880360"/>
            <a:ext cx="5097779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L’information reste disponible si je ne vois pas ou n’entends pas comme prévu.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286000"/>
            <a:ext cx="5390388" cy="1828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6469379" y="242316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Utiliser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6469379" y="2880360"/>
            <a:ext cx="5097779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Je peux naviguer, agir et terminer sans piège ni geste imposé.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352544"/>
            <a:ext cx="5390388" cy="1828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card-titre"/>
          <p:cNvSpPr txBox="1"/>
          <p:nvPr/>
        </p:nvSpPr>
        <p:spPr>
          <a:xfrm>
            <a:off x="704088" y="448970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Comprendre</a:t>
            </a:r>
          </a:p>
        </p:txBody>
      </p:sp>
      <p:sp>
        <p:nvSpPr>
          <p:cNvPr id="19" name="DSFR-card-contenu"/>
          <p:cNvSpPr txBox="1"/>
          <p:nvPr/>
        </p:nvSpPr>
        <p:spPr>
          <a:xfrm>
            <a:off x="704088" y="4946904"/>
            <a:ext cx="5097779" cy="10972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mots, formulaires et comportements restent prévisibles.</a:t>
            </a:r>
          </a:p>
        </p:txBody>
      </p:sp>
      <p:sp>
        <p:nvSpPr>
          <p:cNvPr id="21" name="DSFR-box"/>
          <p:cNvSpPr/>
          <p:nvPr/>
        </p:nvSpPr>
        <p:spPr>
          <a:xfrm>
            <a:off x="6313931" y="4352544"/>
            <a:ext cx="5390388" cy="1828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6469379" y="448970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Compatible</a:t>
            </a:r>
          </a:p>
        </p:txBody>
      </p:sp>
      <p:sp>
        <p:nvSpPr>
          <p:cNvPr id="23" name="DSFR-card-contenu"/>
          <p:cNvSpPr txBox="1"/>
          <p:nvPr/>
        </p:nvSpPr>
        <p:spPr>
          <a:xfrm>
            <a:off x="6469379" y="4946904"/>
            <a:ext cx="5097779" cy="10972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aides techniques peuvent comprendre l’interface aujourd’hui et demain.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Questions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86000"/>
            <a:ext cx="73152" cy="18288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286000"/>
            <a:ext cx="73152" cy="18288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352544"/>
            <a:ext cx="73152" cy="18288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6240779" y="4352544"/>
            <a:ext cx="73152" cy="18288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1. Percevoir l’information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Percevoir l’information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Percevoir l’information - critères (1/5)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Équivalents texte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Audio ou vidéo seuls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Sous-titres vidéo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Visuels décrits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Sous-titres en direct</a:t>
            </a:r>
          </a:p>
        </p:txBody>
      </p:sp>
      <p:sp>
        <p:nvSpPr>
          <p:cNvPr id="24" name="DSFR-box"/>
          <p:cNvSpPr/>
          <p:nvPr/>
        </p:nvSpPr>
        <p:spPr>
          <a:xfrm>
            <a:off x="8235695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8391144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Audiodescription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Percevoir l’information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8162543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Percevoir l’information - critères (2/5)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Langue des signes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Description étendue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Alternative complète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Audio direct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Relations visibles</a:t>
            </a:r>
          </a:p>
        </p:txBody>
      </p:sp>
      <p:sp>
        <p:nvSpPr>
          <p:cNvPr id="24" name="DSFR-box"/>
          <p:cNvSpPr/>
          <p:nvPr/>
        </p:nvSpPr>
        <p:spPr>
          <a:xfrm>
            <a:off x="8235695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8391144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Ordre logique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Percevoir l’information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8162543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Percevoir l’information - critères (3/5)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Pas seulement sensoriel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Orientation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Champs connus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Zones identifiables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Couleur seule</a:t>
            </a:r>
          </a:p>
        </p:txBody>
      </p:sp>
      <p:sp>
        <p:nvSpPr>
          <p:cNvPr id="24" name="DSFR-box"/>
          <p:cNvSpPr/>
          <p:nvPr/>
        </p:nvSpPr>
        <p:spPr>
          <a:xfrm>
            <a:off x="8235695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8391144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Son automatique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Percevoir l’information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8162543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Percevoir l’information - critères (4/5)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Contraste texte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Zoom texte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Texte natif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Contraste renforcé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Fond sonore bas</a:t>
            </a:r>
          </a:p>
        </p:txBody>
      </p:sp>
      <p:sp>
        <p:nvSpPr>
          <p:cNvPr id="24" name="DSFR-box"/>
          <p:cNvSpPr/>
          <p:nvPr/>
        </p:nvSpPr>
        <p:spPr>
          <a:xfrm>
            <a:off x="8235695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8391144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Présentation lisible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Percevoir l’information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8162543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Percevoir l’information - critères (5/5)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9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Aucune image de texte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Reflow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Contraste non texte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Espacement du texte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Survol et focus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Percevoir l’information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10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2. Utiliser sans obstacle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Utiliser sans obstacle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Utiliser sans obstacle - critères (1/6)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11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Tout au clavier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Pas de piège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Clavier sans exception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Raccourcis simples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Délais réglables</a:t>
            </a:r>
          </a:p>
        </p:txBody>
      </p:sp>
      <p:sp>
        <p:nvSpPr>
          <p:cNvPr id="24" name="DSFR-box"/>
          <p:cNvSpPr/>
          <p:nvPr/>
        </p:nvSpPr>
        <p:spPr>
          <a:xfrm>
            <a:off x="8235695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8391144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Mettre en pause, arrêter, masquer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Utiliser sans obstacle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8162543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Utiliser sans obstacle - critères (2/6)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Pas de limite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Interruptions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Reconnexion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Expiration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Trois flashs max</a:t>
            </a:r>
          </a:p>
        </p:txBody>
      </p:sp>
      <p:sp>
        <p:nvSpPr>
          <p:cNvPr id="24" name="DSFR-box"/>
          <p:cNvSpPr/>
          <p:nvPr/>
        </p:nvSpPr>
        <p:spPr>
          <a:xfrm>
            <a:off x="8235695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8391144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Aucun flash risqué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Utiliser sans obstacle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8162543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Utiliser sans obstacle - critères (3/6)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Animations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Éviter les blocs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Titre de page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Ordre du focus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Liens en contexte</a:t>
            </a:r>
          </a:p>
        </p:txBody>
      </p:sp>
      <p:sp>
        <p:nvSpPr>
          <p:cNvPr id="24" name="DSFR-box"/>
          <p:cNvSpPr/>
          <p:nvPr/>
        </p:nvSpPr>
        <p:spPr>
          <a:xfrm>
            <a:off x="8235695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8391144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Plusieurs chemins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Utiliser sans obstacle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8162543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Utiliser sans obstacle - critères (4/6)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14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Titres et étiquettes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Focus visible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Localisation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Lien seul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Sections claires</a:t>
            </a:r>
          </a:p>
        </p:txBody>
      </p:sp>
      <p:sp>
        <p:nvSpPr>
          <p:cNvPr id="24" name="DSFR-box"/>
          <p:cNvSpPr/>
          <p:nvPr/>
        </p:nvSpPr>
        <p:spPr>
          <a:xfrm>
            <a:off x="8235695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8391144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Focus non masqué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Utiliser sans obstacle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8162543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Utiliser sans obstacle - critères (5/6)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15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Focus entièrement visible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Apparence du focus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Gestes complexes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Annulation du clic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Nom visible repris</a:t>
            </a:r>
          </a:p>
        </p:txBody>
      </p:sp>
      <p:sp>
        <p:nvSpPr>
          <p:cNvPr id="24" name="DSFR-box"/>
          <p:cNvSpPr/>
          <p:nvPr/>
        </p:nvSpPr>
        <p:spPr>
          <a:xfrm>
            <a:off x="8235695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8391144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Mouvement appareil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Utiliser sans obstacle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8162543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Utiliser sans obstacle - critères (6/6)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Grande cible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Entrées multiples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Glisser-déposer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Taille minimale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Utiliser sans obstacle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17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3. Comprendre sans effort inutile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Comprendre sans effort inutile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Comprendre sans effort inutile - critères (1/4)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18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Langue de page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Changement de langue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Mots rares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Abréviations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Lisibilité du texte</a:t>
            </a:r>
          </a:p>
        </p:txBody>
      </p:sp>
      <p:sp>
        <p:nvSpPr>
          <p:cNvPr id="24" name="DSFR-box"/>
          <p:cNvSpPr/>
          <p:nvPr/>
        </p:nvSpPr>
        <p:spPr>
          <a:xfrm>
            <a:off x="8235695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8391144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Prononciation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Comprendre sans effort inutile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8162543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Comprendre sans effort inutile - critères (2/4)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19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 focus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À la saisie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Navigation stable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Même fonction, même nom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Changement demandé</a:t>
            </a:r>
          </a:p>
        </p:txBody>
      </p:sp>
      <p:sp>
        <p:nvSpPr>
          <p:cNvPr id="24" name="DSFR-box"/>
          <p:cNvSpPr/>
          <p:nvPr/>
        </p:nvSpPr>
        <p:spPr>
          <a:xfrm>
            <a:off x="8235695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8391144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Aide cohérente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Comprendre sans effort inutile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8162543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Comprendre sans effort inutile - critères (3/4)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20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Erreur identifiée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Libellés clairs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Suggestion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Actions sensibles</a:t>
            </a:r>
          </a:p>
        </p:txBody>
      </p:sp>
      <p:sp>
        <p:nvSpPr>
          <p:cNvPr id="21" name="DSFR-box"/>
          <p:cNvSpPr/>
          <p:nvPr/>
        </p:nvSpPr>
        <p:spPr>
          <a:xfrm>
            <a:off x="4392167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4547615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Aide disponible</a:t>
            </a:r>
          </a:p>
        </p:txBody>
      </p:sp>
      <p:sp>
        <p:nvSpPr>
          <p:cNvPr id="24" name="DSFR-box"/>
          <p:cNvSpPr/>
          <p:nvPr/>
        </p:nvSpPr>
        <p:spPr>
          <a:xfrm>
            <a:off x="8235695" y="4393692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8391144" y="4530852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Tous formulaires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Comprendre sans effort inutile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319015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8162543" y="4393692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Comprendre sans effort inutile - critères (4/4)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21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Pas de ressaisie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Connexion accessible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Connexion renforcée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Comprendre sans effort inutile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22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4. Rester compatible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Rester compatible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Rester compatible - critères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Critères condensés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Structure propre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4547615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Nom, rôle, valeur</a:t>
            </a:r>
          </a:p>
        </p:txBody>
      </p:sp>
      <p:sp>
        <p:nvSpPr>
          <p:cNvPr id="15" name="DSFR-box"/>
          <p:cNvSpPr/>
          <p:nvPr/>
        </p:nvSpPr>
        <p:spPr>
          <a:xfrm>
            <a:off x="8235695" y="2331720"/>
            <a:ext cx="3468623" cy="178765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8391144" y="24688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Messages d’état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Rester compatible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8162543" y="2331720"/>
            <a:ext cx="73152" cy="17876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UVERNEMENT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gouvernement_marianne" id="{307D1C89-B296-4882-8ECC-2BD1C6821949}" vid="{B53EA17D-A77A-459E-979D-FA962BE90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ppt_gouvernement_arial</Template>
  <TotalTime>200</TotalTime>
  <Words>1065</Words>
  <Application>Microsoft Office PowerPoint</Application>
  <PresentationFormat>Affichage à l'écran (16:9)</PresentationFormat>
  <Paragraphs>157</Paragraphs>
  <Slides>16</Slides>
  <Notes>1</Notes>
  <HiddenSlides>3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Verdana</vt:lpstr>
      <vt:lpstr>Wingdings</vt:lpstr>
      <vt:lpstr>GOUVERNEMENT</vt:lpstr>
      <vt:lpstr>XXXXX Libelle de la formation</vt:lpstr>
      <vt:lpstr>Présentation PowerPoint</vt:lpstr>
      <vt:lpstr>Le programme</vt:lpstr>
      <vt:lpstr>Présentation PowerPoint</vt:lpstr>
      <vt:lpstr>Sommaire</vt:lpstr>
      <vt:lpstr>Introduction aux réseaux informatiques</vt:lpstr>
      <vt:lpstr>Introduction </vt:lpstr>
      <vt:lpstr>Présentation PowerPoint</vt:lpstr>
      <vt:lpstr>Présentation PowerPoint</vt:lpstr>
      <vt:lpstr>Sommaire</vt:lpstr>
      <vt:lpstr>Titre de partie</vt:lpstr>
      <vt:lpstr>Lorem ipsum dolor  sit amet consectetur</vt:lpstr>
      <vt:lpstr>Lorem ipsum dolor  sit amet consectetur</vt:lpstr>
      <vt:lpstr>Réduire / Augmenter le niveau de liste</vt:lpstr>
      <vt:lpstr>Titre</vt:lpstr>
      <vt:lpstr>Copier / coller les textes</vt:lpstr>
    </vt:vector>
  </TitlesOfParts>
  <Manager>Client</Manager>
  <Company>Secrétariat Général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WCAG en langage clair - condensé</dc:title>
  <dc:subject>Support de formation DSFR condensé - adaptation française de WCAG in Plain English par AAArdvark</dc:subject>
  <dc:creator>Alex Guiderdoni</dc:creator>
  <cp:lastModifiedBy>COUPLAN Carine</cp:lastModifiedBy>
  <cp:revision>15</cp:revision>
  <dcterms:created xsi:type="dcterms:W3CDTF">2020-03-06T09:47:41Z</dcterms:created>
  <dcterms:modified xsi:type="dcterms:W3CDTF">2024-09-06T15:21:48Z</dcterms:modified>
  <dc:language>fr-FR</dc:language>
</cp:coreProperties>
</file>