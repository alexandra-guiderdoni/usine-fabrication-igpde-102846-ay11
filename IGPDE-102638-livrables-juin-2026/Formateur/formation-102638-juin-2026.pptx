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18"/>
  </p:notesMasterIdLst>
  <p:handoutMasterIdLst>
    <p:handoutMasterId r:id="rId19"/>
  </p:handout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Lst>
  <p:sldSz cx="12191969" cy="68580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mple" id="{1B2C009F-958F-4730-953E-C3BCDF6DEDF4}">
          <p14:sldIdLst>
            <p14:sldId id="342"/>
            <p14:sldId id="335"/>
            <p14:sldId id="336"/>
            <p14:sldId id="337"/>
            <p14:sldId id="348"/>
            <p14:sldId id="344"/>
            <p14:sldId id="347"/>
          </p14:sldIdLst>
        </p14:section>
        <p14:section name="IGPDE" id="{0B896E98-F45E-4768-8620-EDDF394BE181}">
          <p14:sldIdLst>
            <p14:sldId id="332"/>
            <p14:sldId id="331"/>
            <p14:sldId id="327"/>
            <p14:sldId id="340"/>
            <p14:sldId id="329"/>
            <p14:sldId id="330"/>
          </p14:sldIdLst>
        </p14:section>
        <p14:section name="MÉTHODOLOGIE" id="{EB03BDE6-D677-4574-A7BF-9721F91BDEB8}">
          <p14:sldIdLst>
            <p14:sldId id="319"/>
            <p14:sldId id="323"/>
            <p14:sldId id="324"/>
          </p14:sldIdLst>
        </p14:section>
      </p14:sectionLst>
    </p:ex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4" autoAdjust="0"/>
    <p:restoredTop sz="96224" autoAdjust="0"/>
  </p:normalViewPr>
  <p:slideViewPr>
    <p:cSldViewPr showGuides="1">
      <p:cViewPr varScale="1">
        <p:scale>
          <a:sx n="135" d="100"/>
          <a:sy n="135" d="100"/>
        </p:scale>
        <p:origin x="120" y="114"/>
      </p:cViewPr>
      <p:guideLst>
        <p:guide orient="horz" pos="1620"/>
        <p:guide orient="horz" pos="191"/>
        <p:guide orient="horz" pos="854"/>
        <p:guide orient="horz" pos="821"/>
        <p:guide orient="horz" pos="3049"/>
        <p:guide orient="horz" pos="3151"/>
        <p:guide pos="2880"/>
        <p:guide pos="476"/>
        <p:guide pos="5193"/>
        <p:guide pos="5465"/>
      </p:guideLst>
    </p:cSldViewPr>
  </p:slideViewPr>
  <p:outlineViewPr>
    <p:cViewPr>
      <p:scale>
        <a:sx n="33" d="100"/>
        <a:sy n="33" d="100"/>
      </p:scale>
      <p:origin x="0" y="-2562"/>
    </p:cViewPr>
  </p:outlineViewPr>
  <p:notesTextViewPr>
    <p:cViewPr>
      <p:scale>
        <a:sx n="100" d="100"/>
        <a:sy n="100" d="100"/>
      </p:scale>
      <p:origin x="0" y="0"/>
    </p:cViewPr>
  </p:notesTextViewPr>
  <p:sorterViewPr>
    <p:cViewPr>
      <p:scale>
        <a:sx n="172" d="100"/>
        <a:sy n="172" d="100"/>
      </p:scale>
      <p:origin x="0" y="-3540"/>
    </p:cViewPr>
  </p:sorterViewPr>
  <p:notesViewPr>
    <p:cSldViewPr showGuides="1">
      <p:cViewPr varScale="1">
        <p:scale>
          <a:sx n="83" d="100"/>
          <a:sy n="83" d="100"/>
        </p:scale>
        <p:origin x="3132"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B2658-7BE8-4FC5-8F36-ABC54AD38E15}" type="datetimeFigureOut">
              <a:rPr lang="fr-FR" smtClean="0"/>
              <a:t>06/09/2024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23471C-61B7-441C-A48C-C1E234DDF525}" type="slidenum">
              <a:rPr lang="fr-FR" smtClean="0"/>
              <a:t>‹N°›</a:t>
            </a:fld>
            <a:endParaRPr lang="fr-FR"/>
          </a:p>
        </p:txBody>
      </p:sp>
    </p:spTree>
    <p:extLst>
      <p:ext uri="{BB962C8B-B14F-4D97-AF65-F5344CB8AC3E}">
        <p14:creationId xmlns:p14="http://schemas.microsoft.com/office/powerpoint/2010/main" val="2306693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06/09/2024</a:t>
            </a:fld>
            <a:endParaRPr lang="fr-FR" dirty="0"/>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dirty="0"/>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couverture - accueil des stagiaires, tour de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Objectifs repris mot pour mot de la fiche catalogue 102638.</a:t>
            </a:r>
          </a:p>
          <a:p>
            <a:r>
              <a:rPr lang="fr-FR"/>
              <a:t>Présenter les 3 objectifs, insister sur le caractère opérationnel : cette formation débouche sur des gestes concrets, pas seulement de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Présenter les 4 modules, indiquer les horaires approximatifs.</a:t>
            </a:r>
          </a:p>
          <a:p>
            <a:r>
              <a:rPr lang="fr-FR"/>
              <a:t>Signaler que chaque module se termine par un geste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de Bertrand : parcours SIRCOM, Opquast, sensibilisation 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d'Alexandra : parcours, spécialisation accessibilité, DU-RAN.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Chaque stagiaire suit la grille à voix haute - 2 minutes maxi par personne.</a:t>
            </a:r>
          </a:p>
          <a:p>
            <a:r>
              <a:rPr lang="fr-FR"/>
              <a:t>Colonne 1 : ancre les métiers présents dans la salle (utile pour choisir les exemples).</a:t>
            </a:r>
          </a:p>
          <a:p>
            <a:r>
              <a:rPr lang="fr-FR"/>
              <a:t>Colonne 2 : révèle le niveau réel du groupe - adapter le rythme en conséquence.</a:t>
            </a:r>
          </a:p>
          <a:p>
            <a:r>
              <a:rPr lang="fr-FR"/>
              <a:t>Colonne 3 : noter les attentes au tableau, y revenir en clôture pour montrer qu'elles ont été traitées.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Constituer les binômes en mélangeant les directions si possible - éviter que deux personnes du même bureau soient ensemble (échanges plus riches entre services différents).</a:t>
            </a:r>
          </a:p>
          <a:p>
            <a:r>
              <a:rPr lang="fr-FR"/>
              <a:t>Si nombre impair : un trinôme.</a:t>
            </a:r>
          </a:p>
          <a:p>
            <a:r>
              <a:rPr lang="fr-FR"/>
              <a:t>Chaque binôme pioche une carte idée reçue puis prend 2-3 minutes pour se présenter et échanger sur leur quotidien.</a:t>
            </a:r>
          </a:p>
          <a:p>
            <a:r>
              <a:rPr lang="fr-FR"/>
              <a:t>Ensuite ils confrontent leurs cartes et préparent une courte restitution au groupe.</a:t>
            </a:r>
          </a:p>
          <a:p>
            <a:r>
              <a:rPr lang="fr-FR"/>
              <a:t>Lancer le débat ouvert après chaque présentation - laisser circuler la parole.</a:t>
            </a:r>
          </a:p>
          <a:p>
            <a:r>
              <a:rPr lang="fr-FR"/>
              <a:t>Les binômes ne sont pas imposés pour les ateliers Word/Web mais encouragés : insister sur le bénéfice mutuel (relecture croisée, explication = ancrage).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cartes ont été piochées au moment de la constitution des binômes.</a:t>
            </a:r>
          </a:p>
          <a:p>
            <a:r>
              <a:rPr lang="fr-FR"/>
              <a:t>Laisser 2-3 minutes aux binômes pour discuter entre eux de leurs cartes.</a:t>
            </a:r>
          </a:p>
          <a:p>
            <a:r>
              <a:rPr lang="fr-FR"/>
              <a:t>Puis chaque binôme présente sa carte et dit ce qu'il en pense - le reste du groupe réagit librement.</a:t>
            </a:r>
          </a:p>
          <a:p>
            <a:r>
              <a:rPr lang="fr-FR"/>
              <a:t>Ne pas corriger immédiatement - laisser le débat s'installer avant d'afficher la slide de décryptage.</a:t>
            </a:r>
          </a:p>
          <a:p>
            <a:r>
              <a:rPr lang="fr-FR"/>
              <a:t>Objectif : casser les freins avant même de commencer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 groupe répondre vrai/faux avant d'afficher le décryptage.</a:t>
            </a:r>
          </a:p>
          <a:p>
            <a:r>
              <a:rPr lang="fr-FR"/>
              <a:t>Insister : le handicap permanent n'est qu'une fraction.</a:t>
            </a:r>
          </a:p>
          <a:p>
            <a:r>
              <a:rPr lang="fr-FR"/>
              <a:t>Le handicap temporaire (bras cassé, conjonctivite) et situationnel (plein soleil sur téléphone) touchent tout le monde.</a:t>
            </a:r>
          </a:p>
          <a:p>
            <a:r>
              <a:rPr lang="fr-FR"/>
              <a:t>Analogie : l'ascenseur est utile aux personnes en fauteuil, aux parents avec poussette, aux livreurs les mains prises.</a:t>
            </a:r>
          </a:p>
          <a:p>
            <a:r>
              <a:rPr lang="fr-FR"/>
              <a:t>L'accessibilité profite à tous.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un contre-exemple si possible : un site très accessible peut être très design.</a:t>
            </a:r>
          </a:p>
          <a:p>
            <a:r>
              <a:rPr lang="fr-FR"/>
              <a:t>La contrainte de contraste 4,5:1 produit des palettes plus sereines, pas plus laides.</a:t>
            </a:r>
          </a:p>
          <a:p>
            <a:r>
              <a:rPr lang="fr-FR"/>
              <a:t>Analogie : les normes de sécurité incendie n'ont pas empêché d'architecturer de beaux bâtiments.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Bonne nouvelle pour les stagiaires : on ne peut pas tout apprendre en 1 jour.</a:t>
            </a:r>
          </a:p>
          <a:p>
            <a:r>
              <a:rPr lang="fr-FR"/>
              <a:t>L'objectif de cette formation, c'est d'ouvrir les yeux sur l'étendue du sujet et d'acquérir les réflexes sur les points les plus fréquents.</a:t>
            </a:r>
          </a:p>
          <a:p>
            <a:r>
              <a:rPr lang="fr-FR"/>
              <a:t>Le reste vient avec la pratique et les ressources (RGAA, points de contrôle rapides W3C).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idée reçue est la plus difficile à déconstruire car elle repose sur une logique réelle : il y a des spécialistes.</a:t>
            </a:r>
          </a:p>
          <a:p>
            <a:r>
              <a:rPr lang="fr-FR"/>
              <a:t>Répondre : oui, les développeurs et chefs de projet ont leurs responsabilités.</a:t>
            </a:r>
          </a:p>
          <a:p>
            <a:r>
              <a:rPr lang="fr-FR"/>
              <a:t>Mais vous aussi - c'est précisément pourquoi vous êtes là aujourd'hui.</a:t>
            </a:r>
          </a:p>
          <a:p>
            <a:r>
              <a:rPr lang="fr-FR"/>
              <a:t>Votre document Word mal structuré empêche un lecteur d'écran de lire.</a:t>
            </a:r>
          </a:p>
          <a:p>
            <a:r>
              <a:rPr lang="fr-FR"/>
              <a:t>Votre image sans texte alternatif prive un non-voyant de l'information.</a:t>
            </a:r>
          </a:p>
          <a:p>
            <a:r>
              <a:rPr lang="fr-FR"/>
              <a:t>Personne n'est exempté.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bâtiment : une rampe d'accès intégrée dès la construction coûte quelques centaines d'euros.</a:t>
            </a:r>
          </a:p>
          <a:p>
            <a:r>
              <a:rPr lang="fr-FR"/>
              <a:t>La reprise après construction, plusieurs milliers.</a:t>
            </a:r>
          </a:p>
          <a:p>
            <a:r>
              <a:rPr lang="fr-FR"/>
              <a:t>Pour les documents : appliquer les styles Titre dans Word, c'est 30 secondes de plus.</a:t>
            </a:r>
          </a:p>
          <a:p>
            <a:r>
              <a:rPr lang="fr-FR"/>
              <a:t>Corriger un PDF de 50 pages après coup, c'est des heures.</a:t>
            </a:r>
          </a:p>
          <a:p>
            <a:r>
              <a:rPr lang="fr-FR"/>
              <a:t>L'accessibilité est rentable quand elle est intégrée - c'est le message central.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idée reçue - transition naturelle vers la journée : « Aujourd'hui, on ne remet pas à la fin.</a:t>
            </a:r>
          </a:p>
          <a:p>
            <a:r>
              <a:rPr lang="fr-FR"/>
              <a:t>On commence par les bons réflexes et on les ancre maintenant. » Demander au groupe : laquelle de ces 6 idées reçues vous parlait le plus ce matin ?</a:t>
            </a:r>
          </a:p>
          <a:p>
            <a:r>
              <a:rPr lang="fr-FR"/>
              <a:t>Cette question fait le lien entre l'icebreaker et la suite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Ouverture du module 1.</a:t>
            </a:r>
          </a:p>
          <a:p>
            <a:r>
              <a:rPr lang="fr-FR"/>
              <a:t>Poser la question : si je vous dis accessibilité numérique, à quoi pensez-vous ?</a:t>
            </a:r>
          </a:p>
          <a:p>
            <a:r>
              <a:rPr lang="fr-FR"/>
              <a:t>Laisser 30 secondes de silence avant de basculer vers la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Poser la définition avant tout.</a:t>
            </a:r>
          </a:p>
          <a:p>
            <a:r>
              <a:rPr lang="fr-FR"/>
              <a:t>Insister sur le fait que l'accessibilité ne concerne pas que le web ni que le handicap lourd.</a:t>
            </a:r>
          </a:p>
          <a:p>
            <a:r>
              <a:rPr lang="fr-FR"/>
              <a:t>Faire reformuler par le groupe : quels supports produisez-vous au quotidien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fait la transition entre l'approche communication et le cadre de conformité.</a:t>
            </a:r>
          </a:p>
          <a:p>
            <a:r>
              <a:rPr lang="fr-FR"/>
              <a:t>Ne pas détailler les 106 critères maintenant : expliquer que la formation donnera des clés utilisables, puis les points de contrôle rapides permettront de repérer les problèmes les plus fréquents.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Mnemonique : PUCC (Percevoir, Utiliser, Comprendre, Compatible).</a:t>
            </a:r>
          </a:p>
          <a:p>
            <a:r>
              <a:rPr lang="fr-FR"/>
              <a:t>Faire reformuler par le groupe : 'Si je suis aveugle, quel principe est en jeu ?' (Percevoir). 'Si je ne peux pas utiliser la souris ?' (Utiliser).</a:t>
            </a:r>
          </a:p>
          <a:p>
            <a:r>
              <a:rPr lang="fr-FR"/>
              <a:t>Ces 4 principes structurent le RGAA et reviendront dans les modules suivants.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les publics concernés.</a:t>
            </a:r>
          </a:p>
          <a:p>
            <a:r>
              <a:rPr lang="fr-FR"/>
              <a:t>Avant de montrer les 4 familles, demander au groupe : à votre avis, combien de personnes sont concernées par l'accessibilité numérique en France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handicap - l'objectif est de montrer la diversité des besoins.</a:t>
            </a:r>
          </a:p>
          <a:p>
            <a:r>
              <a:rPr lang="fr-FR"/>
              <a:t>Faire le lien avec les gestes concrets vus dans les modules suivants : alt text (visuelle), sous-titres (auditive), clavier (motrice), langage clair (cognitive).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Daltonisme : environ 8 % des hommes et 0,4 % des femmes.</a:t>
            </a:r>
          </a:p>
          <a:p>
            <a:r>
              <a:rPr lang="fr-FR"/>
              <a:t>Laisser les stagiaires naviguer librement sur le site Atalan pendant 5 minutes.</a:t>
            </a:r>
          </a:p>
          <a:p>
            <a:r>
              <a:rPr lang="fr-FR"/>
              <a:t>Chaque simulation illustre un type de handicap et montre ce que nos choix de mise en forme peuvent faciliter ou bloquer.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Amir est aveugle de naissance et utilise un lecteur d'écran (NVDA ou JAWS) pour tout son travail.</a:t>
            </a:r>
          </a:p>
          <a:p>
            <a:r>
              <a:rPr lang="fr-FR"/>
              <a:t>Ce profil est central pour les communicants : chaque image sans alt, chaque tableau sans structure, chaque lien « cliquez ici » est un mur pour lui.</a:t>
            </a:r>
          </a:p>
          <a:p>
            <a:r>
              <a:rPr lang="fr-FR"/>
              <a:t>Faire la demo du lecteur d'écran sur un document mal structure vs bien structure pour marquer les esprits.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Anaïs a une DMLA précoce diagnostiquée il y a 10 ans.</a:t>
            </a:r>
          </a:p>
          <a:p>
            <a:r>
              <a:rPr lang="fr-FR"/>
              <a:t>Ce profil illustre la déficience visuelle.</a:t>
            </a:r>
          </a:p>
          <a:p>
            <a:r>
              <a:rPr lang="fr-FR"/>
              <a:t>Insister sur le fait que le contraste et la taille de texte sont des leviers que le communicant maîtrise directement dans ses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Justine est sourde de naissance.</a:t>
            </a:r>
          </a:p>
          <a:p>
            <a:r>
              <a:rPr lang="fr-FR"/>
              <a:t>Ce profil illustre la déficience auditive.</a:t>
            </a:r>
          </a:p>
          <a:p>
            <a:r>
              <a:rPr lang="fr-FR"/>
              <a:t>Le message clé pour les communicants : tout contenu audio doit avoir un équivalent textuel.</a:t>
            </a:r>
          </a:p>
          <a:p>
            <a:r>
              <a:rPr lang="fr-FR"/>
              <a:t>Les sous-titres automatiques ne suffisent pas toujours, une relecture humaine est nécessaire.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Agathe utilise un fauteuil roulant et des contacteurs adaptés.</a:t>
            </a:r>
          </a:p>
          <a:p>
            <a:r>
              <a:rPr lang="fr-FR"/>
              <a:t>Ce profil illustre la déficience motrice.</a:t>
            </a:r>
          </a:p>
          <a:p>
            <a:r>
              <a:rPr lang="fr-FR"/>
              <a:t>Pour les communicants : penser aux zones cliquables suffisamment grandes dans les PDF et formulaires, et à la navigation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Anatole illustre la déficience cognitive.</a:t>
            </a:r>
          </a:p>
          <a:p>
            <a:r>
              <a:rPr lang="fr-FR"/>
              <a:t>Pour les communicants : les règles du FALC et du langage clair ne profitent pas qu'aux personnes handicapees mentales - elles aident aussi les personnes agees, fatiguees, en situation de stress ou dont le français n'est pas la langue maternelle.</a:t>
            </a:r>
          </a:p>
          <a:p>
            <a:r>
              <a:rPr lang="fr-FR"/>
              <a:t>Faire le lien avec les slides FALC.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Paul illustre les troubles dys et le TDAH.</a:t>
            </a:r>
          </a:p>
          <a:p>
            <a:r>
              <a:rPr lang="fr-FR"/>
              <a:t>Pour les communicants : ne jamais justifier le texte dans un document Word ou PDF, privilegier les polices sans serif (Marianne, Arial), éviter les carrousels en lecture automatique sans bouton pause, et garder des paragraphes courts.</a:t>
            </a:r>
          </a:p>
          <a:p>
            <a:r>
              <a:rPr lang="fr-FR"/>
              <a:t>Ces règles beneficient a tous les lecteurs.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synthèse qui fait le lien entre les personas et les 4 principes WCAG.</a:t>
            </a:r>
          </a:p>
          <a:p>
            <a:r>
              <a:rPr lang="fr-FR"/>
              <a:t>Distribuer la fiche stagiaire a ce moment-la.</a:t>
            </a:r>
          </a:p>
          <a:p>
            <a:r>
              <a:rPr lang="fr-FR"/>
              <a:t>Dire : « Vous n'avez pas besoin de retenir tout WCAG.</a:t>
            </a:r>
          </a:p>
          <a:p>
            <a:r>
              <a:rPr lang="fr-FR"/>
              <a:t>Gardez les 4 questions sous la main.</a:t>
            </a:r>
          </a:p>
          <a:p>
            <a:r>
              <a:rPr lang="fr-FR"/>
              <a:t>A chaque anomalie Word ou web, demandez-vous : est-ce un problème pour percevoir, utiliser, comprendre ou être lu par les outils ?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les personas vus juste avant : Amir = aveugle, Anais = malvoyante, Justine = sourde.</a:t>
            </a:r>
          </a:p>
          <a:p>
            <a:r>
              <a:rPr lang="fr-FR"/>
              <a:t>Ce tableau récapitule les solutions de manière structurée.</a:t>
            </a:r>
          </a:p>
          <a:p>
            <a:r>
              <a:rPr lang="fr-FR"/>
              <a:t>La plage braille et la loupe logicielle sont des technologies d'assistance qu'on peut montrer en photo ou en vidéo courte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Agathe (motrice), Paul (dyslexie/TDAH) et Anatole (cognitif).</a:t>
            </a:r>
          </a:p>
          <a:p>
            <a:r>
              <a:rPr lang="fr-FR"/>
              <a:t>Pour le handicap mental et le TSA, insister sur le fait qu'il n'existe pas de technologie d'assistance spécifique : c'est le contenu et l'interface qui doivent s'adapter.</a:t>
            </a:r>
          </a:p>
          <a:p>
            <a:r>
              <a:rPr lang="fr-FR"/>
              <a:t>Le FALC et le langage clair sont les réponses principales.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chiffres viennent du guide Accessibiliser sa communication.</a:t>
            </a:r>
          </a:p>
          <a:p>
            <a:r>
              <a:rPr lang="fr-FR"/>
              <a:t>Ne pas transformer cette slide en cours théorique sur le validisme.</a:t>
            </a:r>
          </a:p>
          <a:p>
            <a:r>
              <a:rPr lang="fr-FR"/>
              <a:t>Objectif : faire comprendre que l'accessibilité de la communication répond à des situations nombreuses, souvent invisibles, et qu'une bonne intention ne garantit pas l'accès effectif.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schéma illustre le modèle social du handicap, opposé au modèle médical.</a:t>
            </a:r>
          </a:p>
          <a:p>
            <a:r>
              <a:rPr lang="fr-FR"/>
              <a:t>La personne en fauteuil n'est pas en situation de handicap devant un bureau adapté, mais le devient face à un escalier.</a:t>
            </a:r>
          </a:p>
          <a:p>
            <a:r>
              <a:rPr lang="fr-FR"/>
              <a:t>Transposer au numérique : un PDF non structuré = un escalier pour un lecteur d'écran.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les stagiaires découvrir le tableau.</a:t>
            </a:r>
          </a:p>
          <a:p>
            <a:r>
              <a:rPr lang="fr-FR"/>
              <a:t>Demander : dans quelle colonne vous êtes-vous déjà retrouvés ?</a:t>
            </a:r>
          </a:p>
          <a:p>
            <a:r>
              <a:rPr lang="fr-FR"/>
              <a:t>Tout le monde a déjà été en situation de handicap temporaire ou situationnel.</a:t>
            </a:r>
          </a:p>
          <a:p>
            <a:r>
              <a:rPr lang="fr-FR"/>
              <a:t>C'est là que le déclic se produit : l'accessibilité concerne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 cadre juridique.</a:t>
            </a:r>
          </a:p>
          <a:p>
            <a:r>
              <a:rPr lang="fr-FR"/>
              <a:t>Rappeler que l'accessibilité n'est pas seulement une bonne pratique, c'est une obligation légale avec des sanctions.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Chronologie en 4 étapes : montrer la progression du droit.</a:t>
            </a:r>
          </a:p>
          <a:p>
            <a:r>
              <a:rPr lang="fr-FR"/>
              <a:t>Le RGAA 4.1.2 = 106 critères regroupés en 13 thèmes.</a:t>
            </a:r>
          </a:p>
          <a:p>
            <a:r>
              <a:rPr lang="fr-FR"/>
              <a:t>Préciser : contrôle Arcom = médias audiovisuels (effectif depuis 2023).</a:t>
            </a:r>
          </a:p>
          <a:p>
            <a:r>
              <a:rPr lang="fr-FR"/>
              <a:t>Contrôle DINUM = sites publics, dispositif en cours de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directive 2016/2102 est déjà transposée et applicable.</a:t>
            </a:r>
          </a:p>
          <a:p>
            <a:r>
              <a:rPr lang="fr-FR"/>
              <a:t>L'EAA (2019/882) étend l'obligation au secteur privé depuis juin 2025.</a:t>
            </a:r>
          </a:p>
          <a:p>
            <a:r>
              <a:rPr lang="fr-FR"/>
              <a:t>Pointer que le mouvement est européen, pas seulement français : les obligations vont continuer à se renforcer.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thème : les participants les retrouveront dans les modules suivants.</a:t>
            </a:r>
          </a:p>
          <a:p>
            <a:r>
              <a:rPr lang="fr-FR"/>
              <a:t>Insister sur le SPAN : c'est le document stratégique que chaque organisme public doit publier.</a:t>
            </a:r>
          </a:p>
          <a:p>
            <a:r>
              <a:rPr lang="fr-FR"/>
              <a:t>Environ 25 % des tests RGAA sont automatisables, le reste nécessite un audit humain.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Trois taux de conformite :</a:t>
            </a:r>
          </a:p>
          <a:p>
            <a:r>
              <a:rPr lang="fr-FR"/>
              <a:t>- Non conforme : site non audite ou niveau inferieur a 50 %</a:t>
            </a:r>
          </a:p>
          <a:p>
            <a:r>
              <a:rPr lang="fr-FR"/>
              <a:t>- Partiellement conforme : de 50 % a 99 %</a:t>
            </a:r>
          </a:p>
          <a:p>
            <a:r>
              <a:rPr lang="fr-FR"/>
              <a:t>- Totalement conforme : 100 % des criteres valides</a:t>
            </a:r>
          </a:p>
          <a:p/>
          <a:p>
            <a:r>
              <a:rPr lang="fr-FR"/>
              <a:t>Exemptions :</a:t>
            </a:r>
          </a:p>
          <a:p>
            <a:r>
              <a:rPr lang="fr-FR"/>
              <a:t>- Fichiers bureautiques publies avant le 23 septembre 2018</a:t>
            </a:r>
          </a:p>
          <a:p>
            <a:r>
              <a:rPr lang="fr-FR"/>
              <a:t>- Contenus intranets/extranets publies avant le 23 septembre 2019</a:t>
            </a:r>
          </a:p>
          <a:p>
            <a:r>
              <a:rPr lang="fr-FR"/>
              <a:t>- Contenus audios/videos publies avant le 23 septembre 2020</a:t>
            </a:r>
          </a:p>
          <a:p>
            <a:r>
              <a:rPr lang="fr-FR"/>
              <a:t>- Contenus videos, tiers, cartes peuvent aussi etre exemptes</a:t>
            </a:r>
          </a:p>
          <a:p/>
          <a:p>
            <a:r>
              <a:rPr lang="fr-FR"/>
              <a:t>Exemples de criteres :</a:t>
            </a:r>
          </a:p>
          <a:p>
            <a:r>
              <a:rPr lang="fr-FR"/>
              <a:t>1.</a:t>
            </a:r>
          </a:p>
          <a:p>
            <a:r>
              <a:rPr lang="fr-FR"/>
              <a:t>Les images porteuses d'informations doivent avoir un texte alternatif.</a:t>
            </a:r>
          </a:p>
          <a:p>
            <a:r>
              <a:rPr lang="fr-FR"/>
              <a:t>Les images decoratives ne doivent pas en avoir.</a:t>
            </a:r>
            <a:br/>
            <a:r>
              <a:rPr lang="fr-FR"/>
              <a:t>2.</a:t>
            </a:r>
          </a:p>
          <a:p>
            <a:r>
              <a:rPr lang="fr-FR"/>
              <a:t>Les medias avec du son doivent avoir une alternative (sous-titrage, LSF) et les videos une audiodescription.</a:t>
            </a:r>
            <a:br/>
            <a:r>
              <a:rPr lang="fr-FR"/>
              <a:t>3.</a:t>
            </a:r>
          </a:p>
          <a:p>
            <a:r>
              <a:rPr lang="fr-FR"/>
              <a:t>Plusieurs systemes de navigation doivent etre disponibles (menu, plan du site, recherche).</a:t>
            </a:r>
          </a:p>
          <a:p>
            <a:r>
              <a:rPr lang="fr-FR"/>
              <a:t>Les elements-cles sont toujours au meme endroit.</a:t>
            </a:r>
          </a:p>
          <a:p>
            <a:r>
              <a:rPr lang="fr-FR"/>
              <a:t>Ref : https://accessibilite.numerique.gouv.fr/</a:t>
            </a:r>
            <a:br/>
            <a:r>
              <a:rPr lang="fr-FR"/>
              <a:t>Criteres : https://accessibilite.numerique.gouv.fr/methode/criteres-et-tests/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Activité individuelle 10 min + débrief collectif 5 min.</a:t>
            </a:r>
          </a:p>
          <a:p>
            <a:r>
              <a:rPr lang="fr-FR"/>
              <a:t>Faire ressortir : la plupart des structures publiques sont soumises au RGAA ; les communicants produisent des contenus concernés (PDF, vidéos, réseaux sociaux).</a:t>
            </a:r>
          </a:p>
          <a:p>
            <a:r>
              <a:rPr lang="fr-FR"/>
              <a:t>Fallback si pas de réseau : distribuer le PDF de l'arbre de décision Idéance (dans _source/références/).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5 minutes : chaque stagiaire cherche la déclaration de son propre site.</a:t>
            </a:r>
          </a:p>
          <a:p>
            <a:r>
              <a:rPr lang="fr-FR"/>
              <a:t>Si introuvable : c'est déjà une non-conformité à signaler.</a:t>
            </a:r>
          </a:p>
          <a:p>
            <a:r>
              <a:rPr lang="fr-FR"/>
              <a:t>La voie de recours = Défenseur des droits si absence de réponse en 2 mois.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Rappel : environ 25 % des tests RGAA sont automatisables, le reste necessite un audit humain.</a:t>
            </a:r>
          </a:p>
          <a:p>
            <a:r>
              <a:rPr lang="fr-FR"/>
              <a:t>Attention : 100 % conforme ne veut pas forcement dire accessible - le RGAA ne couvre pas tous les usages.</a:t>
            </a:r>
          </a:p>
          <a:p>
            <a:r>
              <a:rPr lang="fr-FR"/>
              <a:t>Le RAN est le referent accessibilite numerique, interlocuteur interne pour piloter la demarche.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Au-delà du cadre légal, pourquoi s'investir ?</a:t>
            </a:r>
          </a:p>
          <a:p>
            <a:r>
              <a:rPr lang="fr-FR"/>
              <a:t>Cette section passe du devoir à la conviction : droit fondamental, charte de l'État, bénéfice pour tous.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tableau gagnant-gagnant est tire de la Charte d'accessibilité de la communication de l'État (SIG, mars 2021).</a:t>
            </a:r>
          </a:p>
          <a:p>
            <a:r>
              <a:rPr lang="fr-FR"/>
              <a:t>Cote gauche : ce que vit la personne face a un contenu inaccessible.</a:t>
            </a:r>
          </a:p>
          <a:p>
            <a:r>
              <a:rPr lang="fr-FR"/>
              <a:t>Cote droit : ce qu'une communication accessible lui apporte.</a:t>
            </a:r>
          </a:p>
          <a:p>
            <a:r>
              <a:rPr lang="fr-FR"/>
              <a:t>Pour le communicant, une communication accessible est une communication qui atteint son objectif.</a:t>
            </a:r>
          </a:p>
          <a:p>
            <a:r>
              <a:rPr lang="fr-FR"/>
              <a:t>Montrer la couverture de la charte : c'est un document officiel du Premier Ministre.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cadrage.</a:t>
            </a:r>
          </a:p>
          <a:p>
            <a:r>
              <a:rPr lang="fr-FR"/>
              <a:t>Le guide source est une introduction utile, pas un référentiel complet ni un substitut à une formation.</a:t>
            </a:r>
          </a:p>
          <a:p>
            <a:r>
              <a:rPr lang="fr-FR"/>
              <a:t>Faire reformuler par le groupe : accessibiliser une communication, ce n'est pas seulement corriger un site web, c'est penser le support final et l'usage réel.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question du module : passer à l'action.</a:t>
            </a:r>
          </a:p>
          <a:p>
            <a:r>
              <a:rPr lang="fr-FR"/>
              <a:t>Les slides suivantes donnent les premiers outils concrets avant d'entrer dans les modules pratiques (Word, web, réseaux sociaux).</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rapidement où trouver ces réglages : Windows &gt; Paramètres &gt; Accessibilité / macOS &gt; Préférences Système &gt; Accessibilité.</a:t>
            </a:r>
          </a:p>
          <a:p>
            <a:r>
              <a:rPr lang="fr-FR"/>
              <a:t>Word et PowerPoint proposent un vérificateur d'accessibilité intégré (onglet Révision).</a:t>
            </a:r>
          </a:p>
          <a:p>
            <a:r>
              <a:rPr lang="fr-FR"/>
              <a:t>On le verra en détail dans le module 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annonce les réflexes qui seront travaillés ensuite dans Word, le web et les réseaux sociaux.</a:t>
            </a:r>
          </a:p>
          <a:p>
            <a:r>
              <a:rPr lang="fr-FR"/>
              <a:t>Ne pas entrer trop tôt dans les détails techniques : elle doit installer un filtre de lecture commun.</a:t>
            </a:r>
          </a:p>
          <a:p>
            <a:r>
              <a:rPr lang="fr-FR"/>
              <a:t>Pour les QR codes, rappeler la règle demandée : toujours ajouter le lien visible à côté et la mention Scannez-moi !</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FALC est un cadre formel européen, le langage clair est une démarche applicable à tout contenu.</a:t>
            </a:r>
          </a:p>
          <a:p>
            <a:r>
              <a:rPr lang="fr-FR"/>
              <a:t>Les deux se complètent.</a:t>
            </a:r>
          </a:p>
          <a:p>
            <a:r>
              <a:rPr lang="fr-FR"/>
              <a:t>Ne pas confondre FALC et écriture simplifiée : le FALC suit des règles précises et implique une validation par des lecteurs en situation de handicap cognitif.</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Rassurer les stagiaires : ils ne partent pas de zéro.</a:t>
            </a:r>
          </a:p>
          <a:p>
            <a:r>
              <a:rPr lang="fr-FR"/>
              <a:t>La sensibilisation d'aujourd'hui est la première étape.</a:t>
            </a:r>
          </a:p>
          <a:p>
            <a:r>
              <a:rPr lang="fr-FR"/>
              <a:t>Mentor est un parcours en ligne gratuit.</a:t>
            </a:r>
          </a:p>
          <a:p>
            <a:r>
              <a:rPr lang="fr-FR"/>
              <a:t>La formation IGPDE 102846 est le prolongement de cette journée.</a:t>
            </a:r>
          </a:p>
          <a:p>
            <a:r>
              <a:rPr lang="fr-FR"/>
              <a:t>La DINUM propose des formats plus techniques pour ceux qui veulent 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sur le fait que le FALC n'est pas juste 'ecrire simple'.</a:t>
            </a:r>
          </a:p>
          <a:p>
            <a:r>
              <a:rPr lang="fr-FR"/>
              <a:t>C'est un processus formalise avec une validation obligatoire par des personnes concernées. 'Rien pour nous sans nous' est le principe fondamental.</a:t>
            </a:r>
          </a:p>
          <a:p>
            <a:r>
              <a:rPr lang="fr-FR"/>
              <a:t>Le logo FALC ne peut pas être appose sans cette validation.</a:t>
            </a:r>
          </a:p>
          <a:p>
            <a:r>
              <a:rPr lang="fr-FR"/>
              <a:t>En pratique, contacter des associations comme l'Unapei ou des ESAT pour trouver des relecteurs.</a:t>
            </a:r>
          </a:p>
          <a:p>
            <a:r>
              <a:rPr lang="fr-FR"/>
              <a:t>Le guide Unapei 'L'information pour tous' est téléchargeable gratuitement.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les deux documents si possible.</a:t>
            </a:r>
          </a:p>
          <a:p>
            <a:r>
              <a:rPr lang="fr-FR"/>
              <a:t>Le rapport de la DIA est un bon exemple car il vient d'une institution publique et montre que le FALC n'est pas reserve aux associations.</a:t>
            </a:r>
          </a:p>
          <a:p>
            <a:r>
              <a:rPr lang="fr-FR"/>
              <a:t>Le PDF accessible et la version FALC sont complementaires : le premier est le document officiel rendu navigable, le second est une version simplifiee pour un public plus large.</a:t>
            </a:r>
          </a:p>
          <a:p>
            <a:r>
              <a:rPr lang="fr-FR"/>
              <a:t>PDF accessible : https://handicap.gouv.fr/sites/handicap/files/2025-03/delegation-interministerielle-accessibilite-rapport-activite-2024.pdf</a:t>
            </a:r>
            <a:br/>
            <a:r>
              <a:rPr lang="fr-FR"/>
              <a:t>Version FALC : https://handicap.gouv.fr/sites/handicap/files/2025-03/delegation-interministerielle-accessibilite-synthese-FLAC-rapport-activite-2024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L'escalier avec rampe intégrée est un exemple emblématique du design universel.</a:t>
            </a:r>
          </a:p>
          <a:p>
            <a:r>
              <a:rPr lang="fr-FR"/>
              <a:t>Faire le parallèle avec la communication : un document structuré dès le départ (titres, alt text, contraste) est accessible sans effort supplémentaire.</a:t>
            </a:r>
          </a:p>
          <a:p>
            <a:r>
              <a:rPr lang="fr-FR"/>
              <a:t>Le bandeau #accessibleatous rappelle que les bénéficiaires dépassent largement le public handicapé.</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Récupération active : demander à 2-3 stagiaires de citer un point retenu.</a:t>
            </a:r>
          </a:p>
          <a:p>
            <a:r>
              <a:rPr lang="fr-FR"/>
              <a:t>Faire le lien avec la suite : on part de ce cadrage général, puis on descend dans les gestes concrets sur les documents bureautiques, le web et les réseaux sociaux.</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 module 2.</a:t>
            </a:r>
          </a:p>
          <a:p>
            <a:r>
              <a:rPr lang="fr-FR"/>
              <a:t>Annoncer : 24 réflexes en 5 thèmes.</a:t>
            </a:r>
          </a:p>
          <a:p>
            <a:r>
              <a:rPr lang="fr-FR"/>
              <a:t>Public : communicants, pas développeurs.</a:t>
            </a:r>
          </a:p>
          <a:p>
            <a:r>
              <a:rPr lang="fr-FR"/>
              <a:t>Chaque slide = 1 réflexe actionnable.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citation à voix haute, lentement, avec des pauses.</a:t>
            </a:r>
          </a:p>
          <a:p>
            <a:r>
              <a:rPr lang="fr-FR"/>
              <a:t>Ne pas commenter.</a:t>
            </a:r>
          </a:p>
          <a:p>
            <a:r>
              <a:rPr lang="fr-FR"/>
              <a:t>Laisser le silence s'installer 5 secondes.</a:t>
            </a:r>
          </a:p>
          <a:p>
            <a:r>
              <a:rPr lang="fr-FR"/>
              <a:t>Demander : est-ce que vous avez déjà reçu un document ou un email illisible ?</a:t>
            </a:r>
          </a:p>
          <a:p>
            <a:r>
              <a:rPr lang="fr-FR"/>
              <a:t>Cette personne vivait ça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30 secondes pour que chacun vote.</a:t>
            </a:r>
          </a:p>
          <a:p>
            <a:r>
              <a:rPr lang="fr-FR"/>
              <a:t>Demander à main levée.</a:t>
            </a:r>
          </a:p>
          <a:p>
            <a:r>
              <a:rPr lang="fr-FR"/>
              <a:t>Ne pas donner la réponse maintenant - la curiosité crée l'attention.</a:t>
            </a:r>
          </a:p>
          <a:p>
            <a:r>
              <a:rPr lang="fr-FR"/>
              <a:t>Zeigarnik : la boucle ouverte maintient l'engagement.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Répondre au quiz de la slide précédente.</a:t>
            </a:r>
          </a:p>
          <a:p>
            <a:r>
              <a:rPr lang="fr-FR"/>
              <a:t>Document B - mais les deux semblent identiques à l'écran.</a:t>
            </a:r>
          </a:p>
          <a:p>
            <a:r>
              <a:rPr lang="fr-FR"/>
              <a:t>C'est l'invisible qui fait la différence. 15 % = moyenne nationale Source : OMS 2024.</a:t>
            </a:r>
          </a:p>
          <a:p>
            <a:r>
              <a:rPr lang="fr-FR"/>
              <a:t>Le chiffre 0 ligne de code est le déclencheur de confiance : tout le monde peut le faire.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Plan de la session.</a:t>
            </a:r>
          </a:p>
          <a:p>
            <a:r>
              <a:rPr lang="fr-FR"/>
              <a:t>Pointer chaque thème.</a:t>
            </a:r>
          </a:p>
          <a:p>
            <a:r>
              <a:rPr lang="fr-FR"/>
              <a:t>Insister : ce n'est pas une liste de règles à mémoriser, c'est un parcours.</a:t>
            </a:r>
          </a:p>
          <a:p>
            <a:r>
              <a:rPr lang="fr-FR"/>
              <a:t>On commence par le plus impactant et on finit par le plus simple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Réponse à la question : le lecteur d'écran lit les balises HTML ou les styles Word - pas la mise en forme visuelle.</a:t>
            </a:r>
          </a:p>
          <a:p>
            <a:r>
              <a:rPr lang="fr-FR"/>
              <a:t>Un titre en gras 16pt n'est pas un titre pour un lecteur d'écran.</a:t>
            </a:r>
          </a:p>
          <a:p>
            <a:r>
              <a:rPr lang="fr-FR"/>
              <a:t>Faire la démonstration en direct si possible : ouvrir un document vierge, écrire un titre en gras, puis avec le style Titre 1.</a:t>
            </a:r>
          </a:p>
          <a:p>
            <a:r>
              <a:rPr lang="fr-FR"/>
              <a:t>La différence est invisible visuellement mais fondamentale pour l'accessibilité.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Démonstration rapide : créer une liste avec tirets manuels, passer en mode lecteur d'écran ou montrer la capture.</a:t>
            </a:r>
          </a:p>
          <a:p>
            <a:r>
              <a:rPr lang="fr-FR"/>
              <a:t>Refaire avec la fonctionnalité native.</a:t>
            </a:r>
          </a:p>
          <a:p>
            <a:r>
              <a:rPr lang="fr-FR"/>
              <a:t>L'annonce change complètement.</a:t>
            </a:r>
          </a:p>
          <a:p>
            <a:r>
              <a:rPr lang="fr-FR"/>
              <a:t>Ce réflexe s'acquiert en 2 minutes.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Piège le plus fréquent pour les communicants : la mise en page par espaces et tabulations.</a:t>
            </a:r>
          </a:p>
          <a:p>
            <a:r>
              <a:rPr lang="fr-FR"/>
              <a:t>Montrer le mode Afficher tout (symbole paragraphe) pour révéler les espaces parasites.</a:t>
            </a:r>
          </a:p>
          <a:p>
            <a:r>
              <a:rPr lang="fr-FR"/>
              <a:t>Les zones de texte flottantes sont un piège classique dans les documents Word avec mise en page élaborée.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contraste est le critère a11y le plus souvent échoué : 56 % des sites (WebAIM 2024).</a:t>
            </a:r>
          </a:p>
          <a:p>
            <a:r>
              <a:rPr lang="fr-FR"/>
              <a:t>Analogie : lire un SMS à 3h du matin sur un écran en plein soleil.</a:t>
            </a:r>
          </a:p>
          <a:p>
            <a:r>
              <a:rPr lang="fr-FR"/>
              <a:t>Texte noir sur fond blanc = toujours conforme.</a:t>
            </a:r>
          </a:p>
          <a:p>
            <a:r>
              <a:rPr lang="fr-FR"/>
              <a:t>Le test ne s'applique qu'aux textes colorés.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8 % des hommes = 1 personne dans une réunion de 12.</a:t>
            </a:r>
          </a:p>
          <a:p>
            <a:r>
              <a:rPr lang="fr-FR"/>
              <a:t>Dans une direction de 200 agents : 16 personnes concernées.</a:t>
            </a:r>
          </a:p>
          <a:p>
            <a:r>
              <a:rPr lang="fr-FR"/>
              <a:t>Montrer l'image : en deutéranopie, En retard et En cours sont indiscernables.</a:t>
            </a:r>
          </a:p>
          <a:p>
            <a:r>
              <a:rPr lang="fr-FR"/>
              <a:t>Demander aux stagiaires : « Dans vos documents, utilisez-vous des codes couleur sans texte ? »</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Décrire la FONCTION, pas l'apparence.</a:t>
            </a:r>
          </a:p>
          <a:p>
            <a:r>
              <a:rPr lang="fr-FR"/>
              <a:t>Un logo sans texte = décoratif (le lecteur annonce déjà le nom de la société dans les propriétés).</a:t>
            </a:r>
          </a:p>
          <a:p>
            <a:r>
              <a:rPr lang="fr-FR"/>
              <a:t>Un graphique = décrire les données clés, pas les couleurs des barres.</a:t>
            </a:r>
          </a:p>
          <a:p>
            <a:r>
              <a:rPr lang="fr-FR"/>
              <a:t>Objet décoratif = filets, séparateurs, icones visuelles.</a:t>
            </a:r>
          </a:p>
          <a:p>
            <a:r>
              <a:rPr lang="fr-FR"/>
              <a:t>Les marquer évite que le lecteur annonce image, image, séparateur en permanence.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à voix haute les liens inaccessibles puis les accessibles.</a:t>
            </a:r>
          </a:p>
          <a:p>
            <a:r>
              <a:rPr lang="fr-FR"/>
              <a:t>La différence est immédiate.</a:t>
            </a:r>
          </a:p>
          <a:p>
            <a:r>
              <a:rPr lang="fr-FR"/>
              <a:t>Pour les filigranes : montrer un vrai document avec CONFIDENTIEL en filigrane.</a:t>
            </a:r>
          </a:p>
          <a:p>
            <a:r>
              <a:rPr lang="fr-FR"/>
              <a:t>Demander : est-ce que votre lecteur d'écran l'annonce ?</a:t>
            </a:r>
          </a:p>
          <a:p>
            <a:r>
              <a:rPr lang="fr-FR"/>
              <a:t>Non - il faut reproduire l'information dans le corps du document.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sami-doc-inaccessible.docx aux binômes.</a:t>
            </a:r>
          </a:p>
          <a:p>
            <a:r>
              <a:rPr lang="fr-FR"/>
              <a:t>Phase 1 - Identification (10 min) : « Identifiez les critères d'accessibilité qui posent problème.</a:t>
            </a:r>
          </a:p>
          <a:p>
            <a:r>
              <a:rPr lang="fr-FR"/>
              <a:t>Notez-les sans corriger. » Pas de checklist.</a:t>
            </a:r>
          </a:p>
          <a:p>
            <a:r>
              <a:rPr lang="fr-FR"/>
              <a:t>Phase 2 - Correction (15 min) : si le groupe a besoin d'un guidage, distribuer sami-doc-aide-correction.docx.</a:t>
            </a:r>
          </a:p>
          <a:p>
            <a:r>
              <a:rPr lang="fr-FR"/>
              <a:t>Les commentaires Word expliquent le problème, l'impact et la méthode sans corriger à la place des stagiaires.</a:t>
            </a:r>
          </a:p>
          <a:p>
            <a:r>
              <a:rPr lang="fr-FR"/>
              <a:t>Les binômes corrigent dans l'ordre structure &gt; couleurs &gt; contenus.</a:t>
            </a:r>
          </a:p>
          <a:p>
            <a:r>
              <a:rPr lang="fr-FR"/>
              <a:t>Le vérificateur Word sert d'outil de découverte : « Que détecte-t-il ?</a:t>
            </a:r>
          </a:p>
          <a:p>
            <a:r>
              <a:rPr lang="fr-FR"/>
              <a:t>Que rate-t-il ? »</a:t>
            </a:r>
            <a:br/>
            <a:br/>
            <a:r>
              <a:rPr lang="fr-FR"/>
              <a:t>Phase 3 - Restitution (5 min) : débriefer l'erreur de contraste (gris #767676, ratio 4,48:1) avec le Colour Contrast Analyser.</a:t>
            </a:r>
          </a:p>
          <a:p>
            <a:r>
              <a:rPr lang="fr-FR"/>
              <a:t>Question de transfert : « Sur votre dernier document, lequel de ces critères avez-vous probablement oublié ? » Tour de table rapide.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Exemple concret de balisage : un document français avec un titre en anglais Annual Report.</a:t>
            </a:r>
          </a:p>
          <a:p>
            <a:r>
              <a:rPr lang="fr-FR"/>
              <a:t>Sans balisage, le lecteur d'écran français prononce les mots anglais avec un accent français incompréhensible.</a:t>
            </a:r>
          </a:p>
          <a:p>
            <a:r>
              <a:rPr lang="fr-FR"/>
              <a:t>Majuscules : UN INTERNE TUE - donne le ton d'une phrase choc en majuscules, pas d'un texte en majuscules.</a:t>
            </a:r>
          </a:p>
          <a:p>
            <a:r>
              <a:rPr lang="fr-FR"/>
              <a:t>Pour la lisibilité, faire le lien avec les règles transversales vues en module 1 : police simple, texte aligné à gauche, paragraphes aérés, contraste mesuré et fonds non dégradés.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espaces parasites sont invisibles mais cassent la structure du document.</a:t>
            </a:r>
          </a:p>
          <a:p>
            <a:r>
              <a:rPr lang="fr-FR"/>
              <a:t>Montrer la différence entre Afficher tout activé et désactivé.</a:t>
            </a:r>
          </a:p>
          <a:p>
            <a:r>
              <a:rPr lang="fr-FR"/>
              <a:t>Pour les objets clignotants : c'est une règle de sécurité, pas de préférence.</a:t>
            </a:r>
          </a:p>
          <a:p>
            <a:r>
              <a:rPr lang="fr-FR"/>
              <a:t>Un seul incident suffira pour comprendre pourquoi.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finalisation est la checklist finale avant envoi. 2 minutes maximum.</a:t>
            </a:r>
          </a:p>
          <a:p>
            <a:r>
              <a:rPr lang="fr-FR"/>
              <a:t>Le vérificateur Word est le dernier filet de sécurité - mais il ne détecte pas tout (voir slide suivante).</a:t>
            </a:r>
          </a:p>
          <a:p>
            <a:r>
              <a:rPr lang="fr-FR"/>
              <a:t>Insister sur le nom de fichier : c'est le seul identifiant visible avant d'ouvrir le document.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le vérificateur d'orthographe ne détecte pas les fautes de sens (il accepte et la et à).</a:t>
            </a:r>
          </a:p>
          <a:p>
            <a:r>
              <a:rPr lang="fr-FR"/>
              <a:t>Le vérificateur d'accessibilité ne détecte pas un texte alt vide de sens.</a:t>
            </a:r>
          </a:p>
          <a:p>
            <a:r>
              <a:rPr lang="fr-FR"/>
              <a:t>Les 5 colonnes du tableau montrent la limite de l'outil.</a:t>
            </a:r>
          </a:p>
          <a:p>
            <a:r>
              <a:rPr lang="fr-FR"/>
              <a:t>Toujours faire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sur la règle d'or : partir d'un Word déjà accessible, puis exporter avec les balises de structure activées.</a:t>
            </a:r>
          </a:p>
          <a:p>
            <a:r>
              <a:rPr lang="fr-FR"/>
              <a:t>Le PDF balisé conserve le plan, les titres, les listes, les tableaux et l'ordre de lecture.</a:t>
            </a:r>
          </a:p>
          <a:p>
            <a:r>
              <a:rPr lang="fr-FR"/>
              <a:t>Sans balises, le lecteur d'écran ne distingue plus correctement la structure du document final.</a:t>
            </a:r>
          </a:p>
          <a:p>
            <a:r>
              <a:rPr lang="fr-FR"/>
              <a:t>Sur Mac, utiliser Fichier &gt; Enregistrer sous &gt; PDF puis choisir l'option Idéal pour la distribution électronique et l'accessibilité.</a:t>
            </a:r>
          </a:p>
          <a:p>
            <a:r>
              <a:rPr lang="fr-FR"/>
              <a:t>Word Online ne doit pas être présenté comme la voie de référence pour produire le PDF final : si le PDF est destiné à être diffusé officiellement, préférer Word bureau et tester le PDF généré avec un vérificateur PDF.</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Effet de surprise : les stagiaires pensaient avoir repéré toutes les catégories visibles à ce stade.</a:t>
            </a:r>
          </a:p>
          <a:p>
            <a:r>
              <a:rPr lang="fr-FR"/>
              <a:t>Révéler les 2 derniers critères montre que l'accessibilité a des dimensions qu'on ne voit pas sans formation.</a:t>
            </a:r>
          </a:p>
          <a:p>
            <a:r>
              <a:rPr lang="fr-FR"/>
              <a:t>Proposer aux stagiaires de rouvrir sami-doc-inaccessible.docx et de corriger ces 2 erreurs en 2 minutes.</a:t>
            </a:r>
          </a:p>
          <a:p>
            <a:r>
              <a:rPr lang="fr-FR"/>
              <a:t>Le passage anglais est dans la section Contact.</a:t>
            </a:r>
          </a:p>
          <a:p>
            <a:r>
              <a:rPr lang="fr-FR"/>
              <a:t>Les propriétés sont dans Fichier &gt; Informations.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hiérarchiser les thèmes entre eux : tous sont obligatoires.</a:t>
            </a:r>
          </a:p>
          <a:p>
            <a:r>
              <a:rPr lang="fr-FR"/>
              <a:t>La logique ici est l'effort, pas l'importance.</a:t>
            </a:r>
          </a:p>
          <a:p>
            <a:r>
              <a:rPr lang="fr-FR"/>
              <a:t>Ces 3 réflexes couvrent Structure, Contenus et Finalisation et prennent moins d'une minute chacun.</a:t>
            </a:r>
          </a:p>
          <a:p>
            <a:r>
              <a:rPr lang="fr-FR"/>
              <a:t>Le reste (contraste, langue, propriétés, listes) vient naturellement une fois que ces 3 réflexes sont installés.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Lancer le chronomètre : 3 minutes de réflexion individuelle en silence.</a:t>
            </a:r>
          </a:p>
          <a:p>
            <a:r>
              <a:rPr lang="fr-FR"/>
              <a:t>Ne pas aider - la difficulté fait partie du processus d'apprentissage.</a:t>
            </a:r>
          </a:p>
          <a:p>
            <a:r>
              <a:rPr lang="fr-FR"/>
              <a:t>Au bout des 3 minutes, demander à main levée : « Qui a trouvé 3 erreurs ? 4 erreurs ?</a:t>
            </a:r>
          </a:p>
          <a:p>
            <a:r>
              <a:rPr lang="fr-FR"/>
              <a:t>Les 5 ? » avant de passer à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Passer en revue chaque point en expliquant l'impact utilisateur (pourquoi c'est une erreur), puis la correction dans Word.</a:t>
            </a:r>
          </a:p>
          <a:p>
            <a:r>
              <a:rPr lang="fr-FR"/>
              <a:t>Si quelqu'un trouve les 5 : féliciter et demander combien de temps.</a:t>
            </a:r>
          </a:p>
          <a:p>
            <a:r>
              <a:rPr lang="fr-FR"/>
              <a:t>Si moins de 3 : identifier quel thème est moins maîtrisé et orienter vers les slides correspondantes.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Silence total pendant 2 minutes.</a:t>
            </a:r>
          </a:p>
          <a:p>
            <a:r>
              <a:rPr lang="fr-FR"/>
              <a:t>Ne pas aider.</a:t>
            </a:r>
          </a:p>
          <a:p>
            <a:r>
              <a:rPr lang="fr-FR"/>
              <a:t>La difficulté de récupération est ce qui consolide la mémoire à long terme.</a:t>
            </a:r>
          </a:p>
          <a:p>
            <a:r>
              <a:rPr lang="fr-FR"/>
              <a:t>Quand tout le monde a écrit,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Comparer avec ce que les stagiaires ont écrit.</a:t>
            </a:r>
          </a:p>
          <a:p>
            <a:r>
              <a:rPr lang="fr-FR"/>
              <a:t>L'écart entre ce qu'on croit savoir et ce qu'on sait vraiment est instructif.</a:t>
            </a:r>
          </a:p>
          <a:p>
            <a:r>
              <a:rPr lang="fr-FR"/>
              <a:t>Insister sur le raccourci Ctrl+F onglet Titres : c'est l'astuce visuelle la plus pratique pour prouver qu'un document est bien ou mal structuré.</a:t>
            </a:r>
          </a:p>
          <a:p>
            <a:r>
              <a:rPr lang="fr-FR"/>
              <a:t>Terminer sur une note positive.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Ces 3 gestes en 2 minutes sur chaque nouveau document.</a:t>
            </a:r>
          </a:p>
          <a:p>
            <a:r>
              <a:rPr lang="fr-FR"/>
              <a:t>Pas besoin de tout maîtriser d'un coup : commencer par 1, installer le réflexe, ajouter le suivant.</a:t>
            </a:r>
          </a:p>
          <a:p>
            <a:r>
              <a:rPr lang="fr-FR"/>
              <a:t>Dans 30 jours, c'est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Première moitié des critères pratiqués dans l'exercice de Sami.</a:t>
            </a:r>
          </a:p>
          <a:p>
            <a:r>
              <a:rPr lang="fr-FR"/>
              <a:t>Ce sont les fondamentaux de structure et de contenu alternatif.</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Deuxième moitié des critères pratiqués.</a:t>
            </a:r>
          </a:p>
          <a:p>
            <a:r>
              <a:rPr lang="fr-FR"/>
              <a:t>Liens, couleurs, langue et propriétés du document.</a:t>
            </a:r>
          </a:p>
          <a:p>
            <a:r>
              <a:rPr lang="fr-FR"/>
              <a:t>Demander : « Levez la main si vous êtes capables de corriger ces 10 points sans aide. »</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Ces critères n'ont pas été pratiqués dans l'exercice mais sont tout aussi obligatoires.</a:t>
            </a:r>
          </a:p>
          <a:p>
            <a:r>
              <a:rPr lang="fr-FR"/>
              <a:t>Les 3 premiers sont des critères bloquants (sécurité et accès fondamental).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Conseil : intégrer 2-3 nouveaux critères par semaine jusqu'à ce que les 21 soient automatiques.</a:t>
            </a:r>
          </a:p>
          <a:p>
            <a:r>
              <a:rPr lang="fr-FR"/>
              <a:t>Suggérer de plastifier ces 4 slides ou de les garder en favoris.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L'engagement explicite crée une intention comportementale plus forte qu'une affirmation.</a:t>
            </a:r>
          </a:p>
          <a:p>
            <a:r>
              <a:rPr lang="fr-FR"/>
              <a:t>Laisser chaque stagiaire écrire son engagement (physique ou mental).</a:t>
            </a:r>
          </a:p>
          <a:p>
            <a:r>
              <a:rPr lang="fr-FR"/>
              <a:t>J+7 = pic de l'oubli selon la courbe d'Ebbinghaus - c'est le moment critique.</a:t>
            </a:r>
          </a:p>
          <a:p>
            <a:r>
              <a:rPr lang="fr-FR"/>
              <a:t>J+30 = consolidation.</a:t>
            </a:r>
          </a:p>
          <a:p>
            <a:r>
              <a:rPr lang="fr-FR"/>
              <a:t>À 6 mois, si les 3 gestes sont devenus automatiques, la formation a atteint son objectif.</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Ouvrir par la source d’autorité : The WebAIM Million - Mise à jour 2026, https://webaim.org/projects/million/.</a:t>
            </a:r>
          </a:p>
          <a:p>
            <a:r>
              <a:rPr lang="fr-FR"/>
              <a:t>WebAIM a évalué les pages d’accueil des 1 000 000 de sites web les plus visités avec l’API WAVE autonome et des outils complémentaires de collecte technique.</a:t>
            </a:r>
          </a:p>
          <a:p>
            <a:r>
              <a:rPr lang="fr-FR"/>
              <a:t>Les points de contrôle rapides sont la trousse de secours du W3C : 13 vérifications qu’un non-spécialiste peut faire rapidement pour repérer les principaux signaux d’alerte avant un audit approfondi.</a:t>
            </a:r>
          </a:p>
          <a:p>
            <a:r>
              <a:rPr lang="fr-FR"/>
              <a:t>Annoncer le plan : 13 points de contrôle rapides, chacun traité sur 1 à 4 slides selon sa complexité.</a:t>
            </a:r>
          </a:p>
          <a:p>
            <a:r>
              <a:rPr lang="fr-FR"/>
              <a:t>À la fin du module : mission d’audit groupé sur une page de votre choix.</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WebAIM a évalué les pages d’accueil des 1 000 000 de sites web les plus visités avec l’API WAVE autonome et des outils complémentaires de collecte technique.</a:t>
            </a:r>
          </a:p>
          <a:p>
            <a:r>
              <a:rPr lang="fr-FR"/>
              <a:t>Résultats publiés à partir de données de février 2026 et dernière mise à jour indiquée au 30 mars 2026.</a:t>
            </a:r>
          </a:p>
          <a:p>
            <a:r>
              <a:rPr lang="fr-FR"/>
              <a:t>Expliquer la limite méthodologique : WAVE détecte des erreurs probables et utiles à repérer, mais un résultat automatisé ne remplace pas un audit RGAA complet.</a:t>
            </a:r>
          </a:p>
          <a:p>
            <a:r>
              <a:rPr lang="fr-FR"/>
              <a:t>Message pédagogique : l’objectif n’est pas de faire peur, mais de rendre visible un problème massif et mesurable.</a:t>
            </a:r>
          </a:p>
          <a:p>
            <a:r>
              <a:rPr lang="fr-FR"/>
              <a:t>La slide suivante montre pourquoi les points de contrôle rapides sont un bon premier filtre.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Les pourcentages indiquent la part des pages d’accueil concernées par chaque type d’erreur.</a:t>
            </a:r>
          </a:p>
          <a:p>
            <a:r>
              <a:rPr lang="fr-FR"/>
              <a:t>Faire le lien avec le programme : les stagiaires vont maintenant apprendre à repérer ces familles par des gestes simples - contraste, images, titres, clavier, langue, formulaires.</a:t>
            </a:r>
          </a:p>
          <a:p>
            <a:r>
              <a:rPr lang="fr-FR"/>
              <a:t>Préciser que les liens et boutons vides ne sont pas un Point de contrôle rapide autonome dans ce module, mais qu’ils ressortent souvent via les tests images, clavier et formulaires.</a:t>
            </a:r>
          </a:p>
          <a:p>
            <a:r>
              <a:rPr lang="fr-FR"/>
              <a:t>Insister sur la logique de pré-diagnostic : on ne remplace pas l’audit RGAA, on sait mieux quoi remonter.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Cette carte de métro, quel type ? » (complexe).</a:t>
            </a:r>
          </a:p>
          <a:p>
            <a:r>
              <a:rPr lang="fr-FR"/>
              <a:t>Insister sur le décoratif - c’est le plus mal compris.</a:t>
            </a:r>
          </a:p>
          <a:p>
            <a:r>
              <a:rPr lang="fr-FR"/>
              <a:t>Un séparateur graphique avec alt="ligne bleue" pollue le lecteur d’écran.</a:t>
            </a:r>
          </a:p>
          <a:p>
            <a:r>
              <a:rPr lang="fr-FR"/>
              <a:t>Règle mnémo : si je retire l’image, est-ce que je perds une info ?</a:t>
            </a:r>
          </a:p>
          <a:p>
            <a:r>
              <a:rPr lang="fr-FR"/>
              <a:t>Si non → alt vide.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Prédiction avant de montrer les 5 règles : « Qu’est-ce qui rend un texte alternatif vraiment utile ? » La bonne réponse n’est pas une longueur magique : c’est le contexte.</a:t>
            </a:r>
          </a:p>
          <a:p>
            <a:r>
              <a:rPr lang="fr-FR"/>
              <a:t>Exemple live : une photo du ministère avec alt="photo du ministère de Bercy prise en 2023" → refactorer en "Ministère de Bercy, façade ouest." - même info, moitié de caractères.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Masquer la colonne verdict et demander à voter pour chaque ligne.</a:t>
            </a:r>
          </a:p>
          <a:p>
            <a:r>
              <a:rPr lang="fr-FR"/>
              <a:t>Débrief rapide après chaque cas : pourquoi KO ? que rédiger à la place ?</a:t>
            </a:r>
          </a:p>
          <a:p>
            <a:r>
              <a:rPr lang="fr-FR"/>
              <a:t>Ligne 5 (loupe) est le piège le plus commun : on décrit ce qu’on voit, pas ce que l’utilisateur fera en cliquant.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ouvrir 3 onglets de sites publics, demander lequel est identifiable juste à l’étiquette.</a:t>
            </a:r>
          </a:p>
          <a:p>
            <a:r>
              <a:rPr lang="fr-FR"/>
              <a:t>Piège des CMS : beaucoup héritent du titre du template - toutes les pages « Accueil ».</a:t>
            </a:r>
          </a:p>
          <a:p>
            <a:r>
              <a:rPr lang="fr-FR"/>
              <a:t>Outil : survoler l’onglet dans le navigateur ou regarder la balise &lt;title&gt;.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 document Word où tout le texte est en gras 18 pt n’a pas de plan.</a:t>
            </a:r>
          </a:p>
          <a:p>
            <a:r>
              <a:rPr lang="fr-FR"/>
              <a:t>Même principe sur le web.</a:t>
            </a:r>
          </a:p>
          <a:p>
            <a:r>
              <a:rPr lang="fr-FR"/>
              <a:t>Prédire : « Quel est le saut de hiérarchie le plus fréquent ? » (H2 → H4, parce que H3 « n’est pas assez joli »).</a:t>
            </a:r>
          </a:p>
          <a:p>
            <a:r>
              <a:rPr lang="fr-FR"/>
              <a:t>Outil : l’extension HeadingsMap pour Chrome / Firefox affiche l’arbre des titres en un clic.</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HeadingsMap sur legifrance.gouv.fr ou service-public.fr.</a:t>
            </a:r>
          </a:p>
          <a:p>
            <a:r>
              <a:rPr lang="fr-FR"/>
              <a:t>Engagement (R24) : chaque stagiaire teste sa page d’accueil personnelle ou professionnelle ce soir et note le nombre de H1 détectés - idéalement 1, souvent 0 ou 3.</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lire un SMS à 3 h du matin sur un écran en plein soleil - c’est ce que vit un malvoyant en permanence avec un contraste trop faible.</a:t>
            </a:r>
          </a:p>
          <a:p>
            <a:r>
              <a:rPr lang="fr-FR"/>
              <a:t>Rappeler : le contraste fait partie des défauts les plus fréquents dans les observations WebAIM Million.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prendre la page d’accueil de Bercy et mesurer 3 textes au hasard.</a:t>
            </a:r>
          </a:p>
          <a:p>
            <a:r>
              <a:rPr lang="fr-FR"/>
              <a:t>Laisser les stagiaires deviner avant la mesure.</a:t>
            </a:r>
          </a:p>
          <a:p>
            <a:r>
              <a:rPr lang="fr-FR"/>
              <a:t>Engagement (R24) : choisissez votre outil préféré d’ici la fin de la session et testez 5 couleurs de votre charte dans la semaine.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l’ascenseur dans un immeuble.</a:t>
            </a:r>
          </a:p>
          <a:p>
            <a:r>
              <a:rPr lang="fr-FR"/>
              <a:t>Sans ascenseur, chacun monte les 10 étages à pied - y compris les personnes qui ne peuvent pas.</a:t>
            </a:r>
          </a:p>
          <a:p>
            <a:r>
              <a:rPr lang="fr-FR"/>
              <a:t>Faire deviner : combien de tabulations sur la page de leur intranet pour arriver au contenu ?</a:t>
            </a:r>
          </a:p>
          <a:p>
            <a:r>
              <a:rPr lang="fr-FR"/>
              <a:t>Rappel : le lien d’évitement peut être masqué visuellement mais doit apparaître au focus clavier.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 rattachement : cette séquence correspond au point de contrôle rapide n° 6 du W3C, focus et navigation clavier : visibilité du focus, parcours, activation et absence de piège (tabulation, activation, lecture).</a:t>
            </a:r>
          </a:p>
          <a:p>
            <a:r>
              <a:rPr lang="fr-FR"/>
              <a:t>Corpus de référence local : 03-easy-checks/w3c-easy-checks-fr.md.</a:t>
            </a:r>
          </a:p>
          <a:p>
            <a:r>
              <a:rPr lang="fr-FR"/>
              <a:t>Ouvrir par une question : « Posez la main loin de la souris.</a:t>
            </a:r>
          </a:p>
          <a:p>
            <a:r>
              <a:rPr lang="fr-FR"/>
              <a:t>Combien de temps tenez-vous sur votre site préféré ? » Laisser 10 secondes de silence.</a:t>
            </a:r>
          </a:p>
          <a:p>
            <a:r>
              <a:rPr lang="fr-FR"/>
              <a:t>Analogie : le clavier est le GPS de votre site - s’il ne s’allume pas, personne ne trouve la route.</a:t>
            </a:r>
          </a:p>
          <a:p>
            <a:r>
              <a:rPr lang="fr-FR"/>
              <a:t>Objectif : transformer le regard des stagiaires.</a:t>
            </a:r>
          </a:p>
          <a:p>
            <a:r>
              <a:rPr lang="fr-FR"/>
              <a:t>Après cette slide, ils ne regarderont plus une page comme avant.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avant de révéler la 3e colonne (R11) : « Devinez ce qui doit se passer quand j’appuie sur Tab ».</a:t>
            </a:r>
          </a:p>
          <a:p>
            <a:r>
              <a:rPr lang="fr-FR"/>
              <a:t>Insister sur l’indicateur de focus visible - c’est LE critère qui tombe en premier.</a:t>
            </a:r>
          </a:p>
          <a:p>
            <a:r>
              <a:rPr lang="fr-FR"/>
              <a:t>Piège fréquent : un site qui n’annonce jamais l’état d’une case à cocher (ligne Espace).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Avant de révéler les 3 cartes, demander : « Quel est le signal qui vous semble le plus grave ? » Laisser parler 2 stagiaires.</a:t>
            </a:r>
          </a:p>
          <a:p>
            <a:r>
              <a:rPr lang="fr-FR"/>
              <a:t>Rappel rassurant (R18) : détecter un de ces signaux ne sert pas à désigner un coupable, mais à prouver qu’un test clavier doit entrer dans la routine de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l’URL du site d’entraînement (fabriqué en interne, avec pièges volontaires).</a:t>
            </a:r>
          </a:p>
          <a:p>
            <a:r>
              <a:rPr lang="fr-FR"/>
              <a:t>Chronométrer 5 minutes.</a:t>
            </a:r>
          </a:p>
          <a:p>
            <a:r>
              <a:rPr lang="fr-FR"/>
              <a:t>Débriefer en collectif : quel signal a été le plus difficile à repérer ? pourquoi ?</a:t>
            </a:r>
          </a:p>
          <a:p>
            <a:r>
              <a:rPr lang="fr-FR"/>
              <a:t>Clore le module avec la question métacognitive (R25) : « Qu’est-ce qui vous aurait aidé à repérer plus vite ? » Engagement : chaque stagiaire annonce ce qu’il testera dès demain sur son propre site.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activer VoiceOver ou NVDA sur une page sans lang et comparer la prononciation.</a:t>
            </a:r>
          </a:p>
          <a:p>
            <a:r>
              <a:rPr lang="fr-FR"/>
              <a:t>Analogie : un comédien à qui on ne dit pas dans quelle langue jouer - il bute sur chaque mot.</a:t>
            </a:r>
          </a:p>
          <a:p>
            <a:r>
              <a:rPr lang="fr-FR"/>
              <a:t>Piège : un gabarit peut être visuellement français tout en oubliant lang="fr"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zoomer, c’est mettre des lunettes.</a:t>
            </a:r>
          </a:p>
          <a:p>
            <a:r>
              <a:rPr lang="fr-FR"/>
              <a:t>Votre site doit rester opérationnel avec les lunettes.</a:t>
            </a:r>
          </a:p>
          <a:p>
            <a:r>
              <a:rPr lang="fr-FR"/>
              <a:t>Test immédiat : demander à 2 stagiaires de zoomer à 200 % sur leur intranet et de tenter de remplir un formulaire.</a:t>
            </a:r>
          </a:p>
          <a:p>
            <a:r>
              <a:rPr lang="fr-FR"/>
              <a:t>Souvent, un champ ou un bouton devient inaccessible.</a:t>
            </a:r>
          </a:p>
          <a:p>
            <a:r>
              <a:rPr lang="fr-FR"/>
              <a:t>Ne pas confondre zoom navigateur (OK) et zoom tactile (mobile) - les deux doivent fonctionner.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dans un train bruyant, même un entendant lit les sous-titres.</a:t>
            </a:r>
          </a:p>
          <a:p>
            <a:r>
              <a:rPr lang="fr-FR"/>
              <a:t>Bénéficiaires (faire deviner) : personnes sourdes ou malentendantes, utilisateurs en open space, apprenants d’une langue étrangère, personnes qui préfèrent lire.</a:t>
            </a:r>
          </a:p>
          <a:p>
            <a:r>
              <a:rPr lang="fr-FR"/>
              <a:t>Nuance capitale : une transcription écrite sur la page n’est pas un sous-titre - les deux sont utiles, pas interchangeables.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Quels mots un sous-titrage auto rate le plus souvent ? » Exemple concret à projeter : une vidéo ministérielle avec sous-titres automatiques - pointer 3 erreurs.</a:t>
            </a:r>
          </a:p>
          <a:p>
            <a:r>
              <a:rPr lang="fr-FR"/>
              <a:t>Règle d’or (R18) : l’automatique est un allié pour brouillonner, mais la publication demande une relecture humaine.</a:t>
            </a:r>
          </a:p>
          <a:p>
            <a:r>
              <a:rPr lang="fr-FR"/>
              <a:t>Faire aussi vérifier le cadrage sur les formats réseaux sociaux : les interfaces peuvent masquer le bas de la vidéo.</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Différence avec les sous-titres : sous-titres = synchronisés avec la vidéo, transcription = texte autonome lisible hors vidéo.</a:t>
            </a:r>
          </a:p>
          <a:p>
            <a:r>
              <a:rPr lang="fr-FR"/>
              <a:t>Les deux coexistent pour une vidéo de référence.</a:t>
            </a:r>
          </a:p>
          <a:p>
            <a:r>
              <a:rPr lang="fr-FR"/>
              <a:t>Piège : publier une transcription brute générée automatiquement sans relecture.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montrer 30 secondes d’un film d’animation sans dialogue, puis avec audiodescription.</a:t>
            </a:r>
          </a:p>
          <a:p>
            <a:r>
              <a:rPr lang="fr-FR"/>
              <a:t>Le contraste est saisissant.</a:t>
            </a:r>
          </a:p>
          <a:p>
            <a:r>
              <a:rPr lang="fr-FR"/>
              <a:t>Exception pratique : si la vidéo est entièrement commentée en voix off (ex. reportage narré), l’audiodescription est souvent superflue - tout est déjà dit.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une synthèse, pas comme un nouveau critère.</a:t>
            </a:r>
          </a:p>
          <a:p>
            <a:r>
              <a:rPr lang="fr-FR"/>
              <a:t>Elle relie les contrôles déjà vus : alternatives textuelles, sous-titres, transcription et audiodescription.</a:t>
            </a:r>
          </a:p>
          <a:p>
            <a:r>
              <a:rPr lang="fr-FR"/>
              <a:t>Question à poser au groupe : si je coupe le son, si je ne vois pas l'image, ou si le PDF est scanné, est-ce que l'information reste accessible ?</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VSME signifie Voix, Sons, Musiques et Éléments sonores.</a:t>
            </a:r>
          </a:p>
          <a:p>
            <a:r>
              <a:rPr lang="fr-FR"/>
              <a:t>La codification classique utilise notamment : blanc pour les dialogues visibles, jaune pour le hors champ, rouge pour les bruits importants, magenta pour la musique, cyan pour les voix off ou narrations, vert pour une langue étrangère, et un astérisque quand le son vient d'un haut-parleur.</a:t>
            </a:r>
          </a:p>
          <a:p>
            <a:r>
              <a:rPr lang="fr-FR"/>
              <a:t>Ne pas demander au groupe de mémoriser les couleurs : l'objectif pédagogique est de comprendre que le son utile ne se limite pas aux dialogues.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une rue d’immeubles où les boîtes aux lettres n’ont aucun nom - impossible de distribuer.</a:t>
            </a:r>
          </a:p>
          <a:p>
            <a:r>
              <a:rPr lang="fr-FR"/>
              <a:t>Test décisif : cliquer sur le TEXTE de l’étiquette.</a:t>
            </a:r>
          </a:p>
          <a:p>
            <a:r>
              <a:rPr lang="fr-FR"/>
              <a:t>Si le curseur saute dans le champ, c’est bien balisé.</a:t>
            </a:r>
          </a:p>
          <a:p>
            <a:r>
              <a:rPr lang="fr-FR"/>
              <a:t>Sinon, l’association est cassée - même si visuellement ça semble OK.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formulaire courant (type CAF, impots.gouv) avec labels floating - zoomer à 200 % et montrer que l’étiquette disparaît derrière le texte saisi.</a:t>
            </a:r>
          </a:p>
          <a:p>
            <a:r>
              <a:rPr lang="fr-FR"/>
              <a:t>Règle pragmatique : si on doit choisir entre joli et utilisable, on choisit utilisable.</a:t>
            </a:r>
          </a:p>
          <a:p>
            <a:r>
              <a:rPr lang="fr-FR"/>
              <a:t>Les labels au-dessus du champ sont plus hauts mais clairs pour tous.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sans &lt;fieldset&gt;/&lt;legend&gt;, les radios sont comme des enfants sans nom de famille - on les entend, on ne sait pas à quelle question ils répondent.</a:t>
            </a:r>
          </a:p>
          <a:p>
            <a:r>
              <a:rPr lang="fr-FR"/>
              <a:t>Côté visuel : le fieldset se traduit souvent par une bordure ou un titre de section - le design peut l’habiller, il ne doit pas le supprimer.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Règle d'or : le contrôle 13 ne commence pas par les erreurs.</a:t>
            </a:r>
          </a:p>
          <a:p>
            <a:r>
              <a:rPr lang="fr-FR"/>
              <a:t>D'abord, vérifier que l'obligation est comprise avant l'envoi.</a:t>
            </a:r>
          </a:p>
          <a:p>
            <a:r>
              <a:rPr lang="fr-FR"/>
              <a:t>Ensuite, soumettre volontairement un formulaire vide : le message doit nommer le champ, être relié au champ et guider le focus.</a:t>
            </a:r>
          </a:p>
          <a:p>
            <a:r>
              <a:rPr lang="fr-FR"/>
              <a:t>Message à éviter : « Erreur champ 3 ».</a:t>
            </a:r>
          </a:p>
          <a:p>
            <a:r>
              <a:rPr lang="fr-FR"/>
              <a:t>Préférer : « L'adresse électronique doit respecter le format nom@domaine.fr ».</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ouvrir 03-easy-checks/grille-audit-easy-checks.xlsx.</a:t>
            </a:r>
          </a:p>
          <a:p>
            <a:r>
              <a:rPr lang="fr-FR"/>
              <a:t>Expliquer que l’objectif n’est pas seulement de dire « ça passe » ou « ça échoue ».</a:t>
            </a:r>
          </a:p>
          <a:p>
            <a:r>
              <a:rPr lang="fr-FR"/>
              <a:t>Une remontée utile doit permettre à l’équipe web de comprendre le problème, mesurer l’impact, retrouver l’endroit exact et corriger sans refaire toute l’enquête.</a:t>
            </a:r>
          </a:p>
          <a:p>
            <a:r>
              <a:rPr lang="fr-FR"/>
              <a:t>Insister sur les quatre niveaux de sévérité : bloquant, gênant, mineur, info.</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 bonus volontaire, pas comme un 14e et 15e point de contrôle.</a:t>
            </a:r>
          </a:p>
          <a:p>
            <a:r>
              <a:rPr lang="fr-FR"/>
              <a:t>Pour les liens, rappeler le principe RGAA : un lien doit être compréhensible seul ou avec son contexte immédiat.</a:t>
            </a:r>
          </a:p>
          <a:p>
            <a:r>
              <a:rPr lang="fr-FR"/>
              <a:t>La meilleure pratique reste un libellé directement explicite, surtout pour les personnes qui listent les liens avec un lecteur d'écran.</a:t>
            </a:r>
          </a:p>
          <a:p>
            <a:r>
              <a:rPr lang="fr-FR"/>
              <a:t>Pour les fichiers en téléchargement, citer la logique Opquast : indiquer le format et la taille aide l'utilisateur à décider avant de télécharger.</a:t>
            </a:r>
          </a:p>
          <a:p>
            <a:r>
              <a:rPr lang="fr-FR"/>
              <a:t>Nuance importante : ne pas transformer l'exercice en audit documentaire complet.</a:t>
            </a:r>
          </a:p>
          <a:p>
            <a:r>
              <a:rPr lang="fr-FR"/>
              <a:t>Si un PDF pose problème, le noter comme signal bonus dans la grille, puis renvoyer vers les méthodes d'audit PDF ou vers le module Word/PDF.</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la grille d’audit : 03-easy-checks/grille-audit-easy-checks.xlsx.</a:t>
            </a:r>
          </a:p>
          <a:p>
            <a:r>
              <a:rPr lang="fr-FR"/>
              <a:t>Expliquer la logique du site d’exercice : 13 pages, 13 points de contrôle, une page par point.</a:t>
            </a:r>
          </a:p>
          <a:p>
            <a:r>
              <a:rPr lang="fr-FR"/>
              <a:t>Les binômes ne doivent pas tout auditer : ils choisissent quelques points ou pages.</a:t>
            </a:r>
          </a:p>
          <a:p>
            <a:r>
              <a:rPr lang="fr-FR"/>
              <a:t>Répartir le groupe : certains binômes commencent par le début du site, d’autres par la fin, pour que les 13 points soient couverts à la restitution.</a:t>
            </a:r>
          </a:p>
          <a:p>
            <a:r>
              <a:rPr lang="fr-FR"/>
              <a:t>Règle d’audit : une seule non-conformité prouvée suffit à passer le critère en NC ; inutile de chercher toutes les non-conformités possibles d’un même critère.</a:t>
            </a:r>
          </a:p>
          <a:p>
            <a:r>
              <a:rPr lang="fr-FR"/>
              <a:t>Timing : 3 min cadrage, 15 min audit en binômes, 7 min restitution orale, 5 min comparaison avec l’aide ou le corrigé.</a:t>
            </a:r>
          </a:p>
          <a:p>
            <a:r>
              <a:rPr lang="fr-FR"/>
              <a:t>Outils autorisés : DevTools, HeadingsMap, Colour Contrast Analyser, clavier + casque audio.</a:t>
            </a:r>
          </a:p>
          <a:p>
            <a:r>
              <a:rPr lang="fr-FR"/>
              <a:t>Rappeler que le taux points de contrôle rapides n’est pas un taux de conformité RGAA publiable.</a:t>
            </a:r>
          </a:p>
          <a:p>
            <a:r>
              <a:rPr lang="fr-FR"/>
              <a:t>Restitution orale en binôme : point contrôlé, verdict, preuve, correction proposée.</a:t>
            </a:r>
          </a:p>
          <a:p>
            <a:r>
              <a:rPr lang="fr-FR"/>
              <a:t>Si un binôme trouve un lien non explicite ou un PDF problématique, le traiter comme signal bonus : utile à remonter, mais hors calcul des 13 points.</a:t>
            </a:r>
          </a:p>
          <a:p>
            <a:r>
              <a:rPr lang="fr-FR"/>
              <a:t>Clôture métacognitive (R25) : « Quel check vous a surpris ?</a:t>
            </a:r>
          </a:p>
          <a:p>
            <a:r>
              <a:rPr lang="fr-FR"/>
              <a:t>Quel est le plus facile à faire adopter dans votre équipe ? ».</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Ouverture Module 4.</a:t>
            </a:r>
          </a:p>
          <a:p>
            <a:r>
              <a:rPr lang="fr-FR"/>
              <a:t>Question d'accroche : Qui a déjà publié une photo sans texte alternatif ?</a:t>
            </a:r>
          </a:p>
          <a:p>
            <a:r>
              <a:rPr lang="fr-FR"/>
              <a:t>Toutes les mains levées - c'est le problème qu'on va résoudre.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stat des 12 millions vient de l'INSEE (enquête Handicap-Santé 2021).</a:t>
            </a:r>
          </a:p>
          <a:p>
            <a:r>
              <a:rPr lang="fr-FR"/>
              <a:t>Ne pas chercher à impressionner avec des chiffres spectaculaires - le vrai impact c'est 'quelqu'un dans votre public ne pourra pas lire ce post'.</a:t>
            </a:r>
          </a:p>
          <a:p>
            <a:r>
              <a:rPr lang="fr-FR"/>
              <a:t>Annoncer la structure : 4 gestes que vous allez voir en détail.</a:t>
            </a:r>
          </a:p>
          <a:p>
            <a:r>
              <a:rPr lang="fr-FR"/>
              <a:t>Commencer par une question : 'Sur vos 10 derniers posts, combien avaient un texte alternatif sur les images ?'</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rien dire.</a:t>
            </a:r>
          </a:p>
          <a:p>
            <a:r>
              <a:rPr lang="fr-FR"/>
              <a:t>Distribuer la consigne, laisser 2 minutes en silence.</a:t>
            </a:r>
          </a:p>
          <a:p>
            <a:r>
              <a:rPr lang="fr-FR"/>
              <a:t>Certains stagiaires vont identifier les émojis, d'autres le contraste, d'autres rien.</a:t>
            </a:r>
          </a:p>
          <a:p>
            <a:r>
              <a:rPr lang="fr-FR"/>
              <a:t>C'est exactement l'objectif : révéler que le problème n'est pas évident visuellement.</a:t>
            </a:r>
          </a:p>
          <a:p>
            <a:r>
              <a:rPr lang="fr-FR"/>
              <a:t>Recueillir les réponses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à voix haute la colonne de droite avec le ton d'un lecteur d'écran - monotone, sans pause.</a:t>
            </a:r>
          </a:p>
          <a:p>
            <a:r>
              <a:rPr lang="fr-FR"/>
              <a:t>Silence après la lecture.</a:t>
            </a:r>
          </a:p>
          <a:p>
            <a:r>
              <a:rPr lang="fr-FR"/>
              <a:t>Laisser l'absurdité s'installer.</a:t>
            </a:r>
          </a:p>
          <a:p>
            <a:r>
              <a:rPr lang="fr-FR"/>
              <a:t>L'effet de surprise est la meilleure colle mémorielle ici.</a:t>
            </a:r>
          </a:p>
          <a:p>
            <a:r>
              <a:rPr lang="fr-FR"/>
              <a:t>Ne pas commenter immédiatement - poser la question : 'Qui aurait pensé à ça en publiant ?'</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 aucune information perdue.</a:t>
            </a:r>
          </a:p>
          <a:p>
            <a:r>
              <a:rPr lang="fr-FR"/>
              <a:t>Le message est même plus clair pour tout le monde.</a:t>
            </a:r>
          </a:p>
          <a:p>
            <a:r>
              <a:rPr lang="fr-FR"/>
              <a:t>L'accessibilité améliore la qualité pour tous, pas seulement pour les personnes handicapées.</a:t>
            </a:r>
          </a:p>
          <a:p>
            <a:r>
              <a:rPr lang="fr-FR"/>
              <a:t>Question à poser : 'Combien de temps faut-il pour faire ces 3 modifications ?' - Réponse : 2 minutes.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Post à préparer avant la session : un post LinkedIn ou Twitter avec 5-6 émojis en série et un hashtag sans CamelCase.</a:t>
            </a:r>
          </a:p>
          <a:p>
            <a:r>
              <a:rPr lang="fr-FR"/>
              <a:t>L'effet est immédiatement compréhensible.</a:t>
            </a:r>
          </a:p>
          <a:p>
            <a:r>
              <a:rPr lang="fr-FR"/>
              <a:t>NVDA : Ctrl+Alt+N pour démarrer, Insert+Q pour quitter.</a:t>
            </a:r>
          </a:p>
          <a:p>
            <a:r>
              <a:rPr lang="fr-FR"/>
              <a:t>Si NVDA n'est pas disponible, utiliser Narrateur Windows (Win+Ctrl+Entrée).</a:t>
            </a:r>
          </a:p>
          <a:p>
            <a:r>
              <a:rPr lang="fr-FR"/>
              <a:t>Durée de la démo : 5 minutes max.</a:t>
            </a:r>
          </a:p>
          <a:p>
            <a:r>
              <a:rPr lang="fr-FR"/>
              <a:t>Laisser ensuite 5 minutes aux stagiaires pour tester eux-mêmes sur leur propre PC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boussole pour tout le module.</a:t>
            </a:r>
          </a:p>
          <a:p>
            <a:r>
              <a:rPr lang="fr-FR"/>
              <a:t>Y revenir à la fin.</a:t>
            </a:r>
          </a:p>
          <a:p>
            <a:r>
              <a:rPr lang="fr-FR"/>
              <a:t>Chaque réflexe sera détaillé dans les slides suivantes.</a:t>
            </a:r>
          </a:p>
          <a:p>
            <a:r>
              <a:rPr lang="fr-FR"/>
              <a:t>Le message clé : 4 actions, 2 minutes par publication, zéro compétence technique requise.</a:t>
            </a:r>
          </a:p>
          <a:p>
            <a:r>
              <a:rPr lang="fr-FR"/>
              <a:t>Verbaliser la transition : ces 4 réflexes sont le noyau dur.</a:t>
            </a:r>
          </a:p>
          <a:p>
            <a:r>
              <a:rPr lang="fr-FR"/>
              <a:t>En fin de module, ils seront replacés dans une checklist plus complète en 3 temps : anticiper, rédiger, publier.</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L'analogie du sous-titre fonctionne très bien - tout le monde comprend immédiatement.</a:t>
            </a:r>
          </a:p>
          <a:p>
            <a:r>
              <a:rPr lang="fr-FR"/>
              <a:t>Insister sur le fait que ça bénéficie AUSSI au référencement : argument qui convainc les agents qui ne sont pas sensibles à l'accessibilité pure.</a:t>
            </a:r>
          </a:p>
          <a:p>
            <a:r>
              <a:rPr lang="fr-FR"/>
              <a:t>Montrer rapidement où trouver le champ alt text sur LinkedIn (le plus utilisé en contexte pro).</a:t>
            </a:r>
          </a:p>
          <a:p>
            <a:r>
              <a:rPr lang="fr-FR"/>
              <a:t>Ne pas aller dans le détail de toutes les plateformes ici - ça sera dans le tableau comparatif.</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d'or : décrire ce qui est utile pour comprendre le message, pas ce qui est visible.</a:t>
            </a:r>
          </a:p>
          <a:p>
            <a:r>
              <a:rPr lang="fr-FR"/>
              <a:t>Une photo de groupe sans texte = "Équipe de 5 agents en réunion de travail".</a:t>
            </a:r>
          </a:p>
          <a:p>
            <a:r>
              <a:rPr lang="fr-FR"/>
              <a:t>Une infographie avec des chiffres = décrire les chiffres clés dans l'alt text OU dire que le détail est dans le texte du post.</a:t>
            </a:r>
          </a:p>
          <a:p>
            <a:r>
              <a:rPr lang="fr-FR"/>
              <a:t>Recueillir 1-2 exemples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lire le tableau ligne par ligne - il sert de mémo à imprimer ou photographier.</a:t>
            </a:r>
          </a:p>
          <a:p>
            <a:r>
              <a:rPr lang="fr-FR"/>
              <a:t>Insister : sur X/Twitter il faut le faire AVANT de publier, on ne peut pas l'ajouter après.</a:t>
            </a:r>
          </a:p>
          <a:p>
            <a:r>
              <a:rPr lang="fr-FR"/>
              <a:t>Sur LinkedIn c'est possible après coup, donc pas d'excuse.</a:t>
            </a:r>
          </a:p>
          <a:p>
            <a:r>
              <a:rPr lang="fr-FR"/>
              <a:t>Un mémo PDF plus complet sera distribué 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du test : retirer l'émoji et voir si le message tient.</a:t>
            </a:r>
          </a:p>
          <a:p>
            <a:r>
              <a:rPr lang="fr-FR"/>
              <a:t>Ajouter : vérifier le sens réel de l'émoji avant publication, car certains symboles n'ont pas le même sens selon les publics ou les plateformes.</a:t>
            </a:r>
          </a:p>
          <a:p>
            <a:r>
              <a:rPr lang="fr-FR"/>
              <a:t>Exemple : 'Rejoignez-nous mardi prochain !' vs 'Rejoignez-nous mardi prochain !📅' - le calendrier ne porte pas de sens supplémentaire ici, c'est décoratif.</a:t>
            </a:r>
          </a:p>
          <a:p>
            <a:r>
              <a:rPr lang="fr-FR"/>
              <a:t>Mais '🚨 Fermeture exceptionnelle' : l'émoji alerte sert vraiment de signal.</a:t>
            </a:r>
          </a:p>
          <a:p>
            <a:r>
              <a:rPr lang="fr-FR"/>
              <a:t>Dans ce cas il faut écrire 'ALERTE - Fermeture exceptionnelle' et mettre l'émoji après.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colonne de droite à voix haute, d'une seule traite, sans intonation.</a:t>
            </a:r>
          </a:p>
          <a:p>
            <a:r>
              <a:rPr lang="fr-FR"/>
              <a:t>L'effet est immédiat.</a:t>
            </a:r>
          </a:p>
          <a:p>
            <a:r>
              <a:rPr lang="fr-FR"/>
              <a:t>Puis lire la version accessible : nette et compréhensible.</a:t>
            </a:r>
          </a:p>
          <a:p>
            <a:r>
              <a:rPr lang="fr-FR"/>
              <a:t>Question à poser : 'Combien de temps pour corriger ce post ?' - 30 secondes.</a:t>
            </a:r>
          </a:p>
          <a:p>
            <a:r>
              <a:rPr lang="fr-FR"/>
              <a:t>L'information est la même, la lisibilité est incomparablement meilleure.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L'anecdote Susan Boyle : en 2012 le label de Susan Boyle a lancé le hashtag #susanalbumparty pour son album.</a:t>
            </a:r>
          </a:p>
          <a:p>
            <a:r>
              <a:rPr lang="fr-FR"/>
              <a:t>Sans CamelCase, le lecteur d'écran (et les humains !) lisaient quelque chose de très différent.</a:t>
            </a:r>
          </a:p>
          <a:p>
            <a:r>
              <a:rPr lang="fr-FR"/>
              <a:t>Depuis, le CamelCase est la norme sur toutes les plateformes.</a:t>
            </a:r>
          </a:p>
          <a:p>
            <a:r>
              <a:rPr lang="fr-FR"/>
              <a:t>Ajouter le critère de longueur : un hashtag trop long devient difficile à lire, à mémoriser et à comprendre à l'écoute.</a:t>
            </a:r>
          </a:p>
          <a:p>
            <a:r>
              <a:rPr lang="fr-FR"/>
              <a:t>C'est une des rares règles d'accessibilité qui est aussi devenue la norme éditoriale standard - bon exemple que l'accessibilité améliore la communication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en direct sur un smartphone : aller sur InstaFont, taper 'Bonjour', copier le résultat 'faux gras', le coller dans un post test, puis activer TalkBack (Android) ou VoiceOver (iPhone) pour écouter.</a:t>
            </a:r>
          </a:p>
          <a:p>
            <a:r>
              <a:rPr lang="fr-FR"/>
              <a:t>L'effet est immédiat.</a:t>
            </a:r>
          </a:p>
          <a:p>
            <a:r>
              <a:rPr lang="fr-FR"/>
              <a:t>La règle Opquast 14 est une référence AQW (Assurance Qualité Web) qui couvre aussi le SEO et la lisibilité IA - argument fort pour les agents qui ne sont pas encore convaincus par l'argument accessibilité seul.</a:t>
            </a:r>
          </a:p>
          <a:p>
            <a:r>
              <a:rPr lang="fr-FR"/>
              <a:t>Solution simple : utiliser le gras natif de la plateforme (LinkedIn, Facebook permettent le formatage natif).</a:t>
            </a:r>
          </a:p>
          <a:p>
            <a:r>
              <a:rPr lang="fr-FR"/>
              <a:t>Sinon, écrire en texte simple.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Introduire la communication inclusive par les images, pas par le vocabulaire.</a:t>
            </a:r>
          </a:p>
          <a:p>
            <a:r>
              <a:rPr lang="fr-FR"/>
              <a:t>Cela évite de réduire le sujet à l'écriture inclusive.</a:t>
            </a:r>
          </a:p>
          <a:p>
            <a:r>
              <a:rPr lang="fr-FR"/>
              <a:t>Expliquer que les photos, illustrations et vidéos transmettent des normes : âge, genre, handicap, origine, corpulence, situation sociale.</a:t>
            </a:r>
          </a:p>
          <a:p>
            <a:r>
              <a:rPr lang="fr-FR"/>
              <a:t>Ne pas culpabiliser les stagiaires : l'objectif est de créer un réflexe de sélection.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point délicat : éviter la représentation opportuniste.</a:t>
            </a:r>
          </a:p>
          <a:p>
            <a:r>
              <a:rPr lang="fr-FR"/>
              <a:t>Dire clairement qu'un visuel inclusif ne compense pas une organisation inaccessible.</a:t>
            </a:r>
          </a:p>
          <a:p>
            <a:r>
              <a:rPr lang="fr-FR"/>
              <a:t>Exemple : montrer une personne en fauteuil dans la communication d'un événement alors que le lieu, l'inscription ou les supports ne sont pas accessibles.</a:t>
            </a:r>
          </a:p>
          <a:p>
            <a:r>
              <a:rPr lang="fr-FR"/>
              <a:t>Faire le lien avec l'exercice : la checklist doit vérifier aussi la cohérence réelle.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Sujet sensible à traiter avec neutralité : le critère est la compréhension.</a:t>
            </a:r>
          </a:p>
          <a:p>
            <a:r>
              <a:rPr lang="fr-FR"/>
              <a:t>Les synthèses vocales et les usages évoluent rapidement ; une forme mal acceptée aujourd'hui peut devenir plus lisible demain.</a:t>
            </a:r>
          </a:p>
          <a:p>
            <a:r>
              <a:rPr lang="fr-FR"/>
              <a:t>En revanche, la charge de lecture reste un vrai sujet pour les personnes dyslexiques ou fatiguées cognitivement.</a:t>
            </a:r>
          </a:p>
          <a:p>
            <a:r>
              <a:rPr lang="fr-FR"/>
              <a:t>Conseil pratique : privilégier d'abord les formules épicènes et les mots collectifs, puis la double flexion si le contexte exige de nommer explicitement les genres.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Former des binômes.</a:t>
            </a:r>
          </a:p>
          <a:p>
            <a:r>
              <a:rPr lang="fr-FR"/>
              <a:t>Si les stagiaires n'ont pas de publication sous la main, proposer un post exemple préparé par le formateur.</a:t>
            </a:r>
          </a:p>
          <a:p>
            <a:r>
              <a:rPr lang="fr-FR"/>
              <a:t>La consigne limite volontairement à 2 améliorations : on cherche la priorisation, pas l'exhaustivité.</a:t>
            </a:r>
          </a:p>
          <a:p>
            <a:r>
              <a:rPr lang="fr-FR"/>
              <a:t>Encourager les binômes à choisir au moins un point lié aux représentations si le post contient un visuel.</a:t>
            </a:r>
          </a:p>
          <a:p>
            <a:r>
              <a:rPr lang="fr-FR"/>
              <a:t>Pendant l'exercice, circuler et donner un feedback immédiat sur les arbitrages.</a:t>
            </a:r>
          </a:p>
          <a:p>
            <a:r>
              <a:rPr lang="fr-FR"/>
              <a:t>La restitution orale active l'apprentissage social : chaque binôme enseigne un point au groupe.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première checklist est un support d'exercice.</a:t>
            </a:r>
          </a:p>
          <a:p>
            <a:r>
              <a:rPr lang="fr-FR"/>
              <a:t>Les binômes cochent uniquement ce qu'ils peuvent vérifier sur leur publication.</a:t>
            </a:r>
          </a:p>
          <a:p>
            <a:r>
              <a:rPr lang="fr-FR"/>
              <a:t>Le point représentation doit être traité sans procès d'intention : on évalue le choix éditorial et sa cohérence avec l'action réelle.</a:t>
            </a:r>
          </a:p>
          <a:p>
            <a:r>
              <a:rPr lang="fr-FR"/>
              <a:t>L'objectif est d'éviter le piège classique : tenter de réparer à la publication un visuel qui porte toute l'information.</a:t>
            </a:r>
          </a:p>
          <a:p>
            <a:r>
              <a:rPr lang="fr-FR"/>
              <a:t>Faire le lien avec Word : comme pour un document, on gagne du temps quand l'accessibilité est pensée avant la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transforme les règles vues une par une en routine éditoriale.</a:t>
            </a:r>
          </a:p>
          <a:p>
            <a:r>
              <a:rPr lang="fr-FR"/>
              <a:t>Demander aux binômes de cocher les cinq points sur le post choisi, puis de sélectionner un seul problème prioritaire.</a:t>
            </a:r>
          </a:p>
          <a:p>
            <a:r>
              <a:rPr lang="fr-FR"/>
              <a:t>Pour le langage inclusif, demander : est-ce que la phrase reste claire à l'écoute et à la lecture rapide ?</a:t>
            </a:r>
          </a:p>
          <a:p>
            <a:r>
              <a:rPr lang="fr-FR"/>
              <a:t>Le test UX est simple : si le sens disparaît quand on retire les effets, le post dépend trop de sa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checklist de l'exercice.</a:t>
            </a:r>
          </a:p>
          <a:p>
            <a:r>
              <a:rPr lang="fr-FR"/>
              <a:t>Demander aux binômes de vérifier les alternatives qui manquent vraiment sur leur publication.</a:t>
            </a:r>
          </a:p>
          <a:p>
            <a:r>
              <a:rPr lang="fr-FR"/>
              <a:t>Insister sur la logique d'accès multiple : une information importante ne doit jamais dépendre d'un seul canal.</a:t>
            </a:r>
          </a:p>
          <a:p>
            <a:r>
              <a:rPr lang="fr-FR"/>
              <a:t>Pour les QR codes, rappeler la règle corrigée dans le deck : le QR code aide, mais le lien visible reste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Quiz à main levée - poser chaque question, laisser les réponses s'exprimer avant de révéler.</a:t>
            </a:r>
          </a:p>
          <a:p>
            <a:r>
              <a:rPr lang="fr-FR"/>
              <a:t>La slide doit rester une slide-question, sans correction visible.</a:t>
            </a:r>
          </a:p>
          <a:p>
            <a:r>
              <a:rPr lang="fr-FR"/>
              <a:t>Interleaving (R14 neuropédagogie) : les 4 questions couvrent la rédaction, les alternatives, les QR codes et la communication inclusive.</a:t>
            </a:r>
          </a:p>
          <a:p>
            <a:r>
              <a:rPr lang="fr-FR"/>
              <a:t>Si des stagiaires se trompent sur Q3 (alt vide) : c'est normal, c'est le point le plus contre-intuitif.</a:t>
            </a:r>
          </a:p>
          <a:p>
            <a:r>
              <a:rPr lang="fr-FR"/>
              <a:t>Prendre 1 minute pour expliquer la distinction image décorative vs informative.</a:t>
            </a:r>
          </a:p>
          <a:p>
            <a:r>
              <a:rPr lang="fr-FR"/>
              <a:t>Pour Q2, rappeler que le QR code aide, mais ne peut jamais être le seul accès.</a:t>
            </a:r>
          </a:p>
          <a:p>
            <a:r>
              <a:rPr lang="fr-FR"/>
              <a:t>Pour Q4, rappeler qu'une représentation inclusive doit être cohérente avec les espaces, événements et pratiques réels.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Clôture du module.</a:t>
            </a:r>
          </a:p>
          <a:p>
            <a:r>
              <a:rPr lang="fr-FR"/>
              <a:t>Laisser 2 minutes aux stagiaires pour noter leur engagement personnel (1 seul geste concret pour demain).</a:t>
            </a:r>
          </a:p>
          <a:p>
            <a:r>
              <a:rPr lang="fr-FR"/>
              <a:t>La restitution orale de ces engagements crée une responsabilisation sociale (R24 neuropédagogie - plan d'action + pair learning).</a:t>
            </a:r>
          </a:p>
          <a:p>
            <a:r>
              <a:rPr lang="fr-FR"/>
              <a:t>Annoncer : un mémo PDF 'Réseaux sociaux accessibles' sera envoyé par mail après la formation avec la checklist, le tableau des plateformes et les points de vigilance sur la communication inclusive.</a:t>
            </a:r>
          </a:p>
          <a:p>
            <a:r>
              <a:rPr lang="fr-FR"/>
              <a:t>Remercier les stagiaires pour leur participation et leur attention sur un sujet qui impacte directement les millions d'usagers de leurs services.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un temps pour les questions.</a:t>
            </a:r>
          </a:p>
          <a:p>
            <a:r>
              <a:rPr lang="fr-FR"/>
              <a:t>Rappeler que les stagiaires peuvent nous contacter par mail pour toute question post-formation.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r>
              <a:rPr lang="fr-FR"/>
              <a:t>XX/XX/XXXX</a:t>
            </a:r>
            <a:endParaRPr lang="fr-FR" dirty="0"/>
          </a:p>
        </p:txBody>
      </p:sp>
      <p:sp>
        <p:nvSpPr>
          <p:cNvPr id="5" name="Espace réservé du pied de page 4"/>
          <p:cNvSpPr>
            <a:spLocks noGrp="1"/>
          </p:cNvSpPr>
          <p:nvPr>
            <p:ph type="ftr" sz="quarter" idx="11"/>
          </p:nvPr>
        </p:nvSpPr>
        <p:spPr bwMode="gray">
          <a:xfrm>
            <a:off x="959997" y="5226516"/>
            <a:ext cx="4319989" cy="1199997"/>
          </a:xfrm>
        </p:spPr>
        <p:txBody>
          <a:bodyPr anchor="b" anchorCtr="0"/>
          <a:lstStyle>
            <a:lvl1pPr>
              <a:defRPr sz="1150"/>
            </a:lvl1pPr>
          </a:lstStyle>
          <a:p>
            <a:r>
              <a:rPr lang="fr-FR" dirty="0"/>
              <a:t>Institut de la Gestion publique </a:t>
            </a:r>
            <a:br>
              <a:rPr lang="fr-FR" dirty="0"/>
            </a:br>
            <a:r>
              <a:rPr lang="fr-FR" dirty="0"/>
              <a:t>et du Développement économique</a:t>
            </a:r>
          </a:p>
        </p:txBody>
      </p:sp>
      <p:sp>
        <p:nvSpPr>
          <p:cNvPr id="6" name="Espace réservé du numéro de diapositive 5"/>
          <p:cNvSpPr>
            <a:spLocks noGrp="1"/>
          </p:cNvSpPr>
          <p:nvPr>
            <p:ph type="sldNum" sz="quarter" idx="12"/>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88" y="320040"/>
            <a:ext cx="2560320" cy="2319695"/>
          </a:xfrm>
          <a:prstGeom prst="rect">
            <a:avLst/>
          </a:prstGeom>
        </p:spPr>
      </p:pic>
      <p:pic>
        <p:nvPicPr>
          <p:cNvPr id="9" name="Imag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75520" y="777240"/>
            <a:ext cx="1828800" cy="1828800"/>
          </a:xfrm>
          <a:prstGeom prst="rect">
            <a:avLst/>
          </a:prstGeom>
        </p:spPr>
      </p:pic>
    </p:spTree>
    <p:extLst>
      <p:ext uri="{BB962C8B-B14F-4D97-AF65-F5344CB8AC3E}">
        <p14:creationId xmlns:p14="http://schemas.microsoft.com/office/powerpoint/2010/main" val="343261095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386" userDrawn="1">
          <p15:clr>
            <a:srgbClr val="FBAE40"/>
          </p15:clr>
        </p15:guide>
        <p15:guide id="4" pos="443" userDrawn="1">
          <p15:clr>
            <a:srgbClr val="FBAE40"/>
          </p15:clr>
        </p15:guide>
        <p15:guide id="5" orient="horz" pos="303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p:txBody>
          <a:bodyPr/>
          <a:lstStyle/>
          <a:p>
            <a:pPr algn="r"/>
            <a:r>
              <a:rPr lang="fr-FR" cap="all"/>
              <a:t>XX/XX/XXXX</a:t>
            </a:r>
            <a:endParaRPr lang="fr-FR" cap="all" dirty="0"/>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79998" y="3128053"/>
            <a:ext cx="11231971" cy="2769593"/>
          </a:xfrm>
        </p:spPr>
        <p:txBody>
          <a:bodyPr/>
          <a:lstStyle>
            <a:lvl1pPr>
              <a:lnSpc>
                <a:spcPct val="90000"/>
              </a:lnSpc>
              <a:spcAft>
                <a:spcPts val="0"/>
              </a:spcAft>
              <a:defRPr sz="3250" b="1" cap="all" baseline="0"/>
            </a:lvl1pPr>
            <a:lvl2pPr marL="0" indent="0">
              <a:spcBef>
                <a:spcPts val="500"/>
              </a:spcBef>
              <a:spcAft>
                <a:spcPts val="0"/>
              </a:spcAft>
              <a:buNone/>
              <a:defRPr sz="1850"/>
            </a:lvl2pPr>
          </a:lstStyle>
          <a:p>
            <a:pPr lvl="0"/>
            <a:r>
              <a:rPr lang="fr-FR" dirty="0"/>
              <a:t>Titre</a:t>
            </a:r>
          </a:p>
          <a:p>
            <a:pPr lvl="1"/>
            <a:r>
              <a:rPr lang="fr-FR" dirty="0"/>
              <a:t>Sous-titre</a:t>
            </a:r>
          </a:p>
        </p:txBody>
      </p:sp>
      <p:cxnSp>
        <p:nvCxnSpPr>
          <p:cNvPr id="12" name="Connecteur droit 11"/>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227" y="212775"/>
            <a:ext cx="2143038" cy="1941631"/>
          </a:xfrm>
          <a:prstGeom prst="rect">
            <a:avLst/>
          </a:prstGeom>
        </p:spPr>
      </p:pic>
      <p:pic>
        <p:nvPicPr>
          <p:cNvPr id="10" name="Imag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04467" y="465665"/>
            <a:ext cx="1464915" cy="1464915"/>
          </a:xfrm>
          <a:prstGeom prst="rect">
            <a:avLst/>
          </a:prstGeom>
        </p:spPr>
      </p:pic>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a:lstStyle/>
          <a:p>
            <a:r>
              <a:rPr lang="fr-FR" dirty="0"/>
              <a:t>Institut de la Gestion publique et du Développement économique</a:t>
            </a:r>
          </a:p>
        </p:txBody>
      </p:sp>
    </p:spTree>
    <p:extLst>
      <p:ext uri="{BB962C8B-B14F-4D97-AF65-F5344CB8AC3E}">
        <p14:creationId xmlns:p14="http://schemas.microsoft.com/office/powerpoint/2010/main" val="34839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8" name="Espace réservé du texte 7"/>
          <p:cNvSpPr>
            <a:spLocks noGrp="1"/>
          </p:cNvSpPr>
          <p:nvPr>
            <p:ph type="body" sz="quarter" idx="13" hasCustomPrompt="1"/>
          </p:nvPr>
        </p:nvSpPr>
        <p:spPr bwMode="gray">
          <a:xfrm>
            <a:off x="479996" y="2522617"/>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5988"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77"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Tree>
    <p:extLst>
      <p:ext uri="{BB962C8B-B14F-4D97-AF65-F5344CB8AC3E}">
        <p14:creationId xmlns:p14="http://schemas.microsoft.com/office/powerpoint/2010/main" val="16410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3997"/>
            <a:ext cx="12191969" cy="5875185"/>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479997" y="983997"/>
            <a:ext cx="11231971" cy="5395186"/>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396000" indent="-396000">
              <a:buFont typeface="+mj-lt"/>
              <a:buAutoNum type="arabicPeriod"/>
              <a:defRPr sz="3250"/>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90859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0"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79997"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4415988"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8351979"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Tree>
    <p:extLst>
      <p:ext uri="{BB962C8B-B14F-4D97-AF65-F5344CB8AC3E}">
        <p14:creationId xmlns:p14="http://schemas.microsoft.com/office/powerpoint/2010/main" val="384045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7" y="1199997"/>
            <a:ext cx="11231971" cy="959997"/>
          </a:xfrm>
        </p:spPr>
        <p:txBody>
          <a:bodyPr/>
          <a:lstStyle/>
          <a:p>
            <a:r>
              <a:rPr lang="fr-FR" noProof="0" dirty="0"/>
              <a:t>Titre</a:t>
            </a:r>
            <a:endParaRPr lang="fr-FR" dirty="0"/>
          </a:p>
        </p:txBody>
      </p:sp>
      <p:sp>
        <p:nvSpPr>
          <p:cNvPr id="5" name="Espace réservé de la date 4"/>
          <p:cNvSpPr>
            <a:spLocks noGrp="1"/>
          </p:cNvSpPr>
          <p:nvPr>
            <p:ph type="dt" sz="half" idx="10"/>
          </p:nvPr>
        </p:nvSpPr>
        <p:spPr bwMode="gray"/>
        <p:txBody>
          <a:bodyPr/>
          <a:lstStyle/>
          <a:p>
            <a:pPr algn="r"/>
            <a:r>
              <a:rPr lang="fr-FR" cap="all"/>
              <a:t>XX/XX/XXXX</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a:lstStyle/>
          <a:p>
            <a:r>
              <a:rPr lang="fr-FR" dirty="0"/>
              <a:t>Institut de la Gestion publique et du Développement économique / titre du diaporama</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9" name="Espace réservé du contenu 8"/>
          <p:cNvSpPr>
            <a:spLocks noGrp="1"/>
          </p:cNvSpPr>
          <p:nvPr>
            <p:ph sz="quarter" idx="14" hasCustomPrompt="1"/>
          </p:nvPr>
        </p:nvSpPr>
        <p:spPr bwMode="gray">
          <a:xfrm>
            <a:off x="479996" y="2447993"/>
            <a:ext cx="11231971" cy="3431991"/>
          </a:xfrm>
        </p:spPr>
        <p:txBody>
          <a:bodyPr/>
          <a:lstStyle>
            <a:lvl1pPr>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5"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g"/><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7" y="1199997"/>
            <a:ext cx="11231971" cy="959997"/>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479997" y="2447993"/>
            <a:ext cx="11231971" cy="3431991"/>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 name="Espace réservé de la date 3"/>
          <p:cNvSpPr>
            <a:spLocks noGrp="1"/>
          </p:cNvSpPr>
          <p:nvPr>
            <p:ph type="dt" sz="half" idx="2"/>
          </p:nvPr>
        </p:nvSpPr>
        <p:spPr bwMode="gray">
          <a:xfrm>
            <a:off x="10151974" y="6377984"/>
            <a:ext cx="1559996" cy="479998"/>
          </a:xfrm>
          <a:prstGeom prst="rect">
            <a:avLst/>
          </a:prstGeom>
        </p:spPr>
        <p:txBody>
          <a:bodyPr vert="horz" lIns="0" tIns="0" rIns="0" bIns="0" rtlCol="0" anchor="ctr" anchorCtr="0">
            <a:noAutofit/>
          </a:bodyPr>
          <a:lstStyle>
            <a:lvl1pPr algn="ctr">
              <a:defRPr sz="750" b="1">
                <a:solidFill>
                  <a:schemeClr val="tx1"/>
                </a:solidFill>
              </a:defRPr>
            </a:lvl1pPr>
          </a:lstStyle>
          <a:p>
            <a:pPr algn="r"/>
            <a:r>
              <a:rPr lang="fr-FR" cap="all"/>
              <a:t>XX/XX/XXXX</a:t>
            </a:r>
            <a:endParaRPr lang="fr-FR" cap="all" dirty="0"/>
          </a:p>
        </p:txBody>
      </p:sp>
      <p:sp>
        <p:nvSpPr>
          <p:cNvPr id="5" name="Espace réservé du pied de page 4"/>
          <p:cNvSpPr>
            <a:spLocks noGrp="1"/>
          </p:cNvSpPr>
          <p:nvPr>
            <p:ph type="ftr" sz="quarter" idx="3"/>
          </p:nvPr>
        </p:nvSpPr>
        <p:spPr bwMode="gray">
          <a:xfrm>
            <a:off x="479998" y="6377984"/>
            <a:ext cx="7871980" cy="479998"/>
          </a:xfrm>
          <a:prstGeom prst="rect">
            <a:avLst/>
          </a:prstGeom>
        </p:spPr>
        <p:txBody>
          <a:bodyPr vert="horz" lIns="0" tIns="0" rIns="0" bIns="0" rtlCol="0" anchor="ctr" anchorCtr="0">
            <a:noAutofit/>
          </a:bodyPr>
          <a:lstStyle>
            <a:lvl1pPr algn="l">
              <a:defRPr sz="750" b="1">
                <a:solidFill>
                  <a:schemeClr val="tx1"/>
                </a:solidFill>
              </a:defRPr>
            </a:lvl1pPr>
          </a:lstStyle>
          <a:p>
            <a:r>
              <a:rPr lang="fr-FR" dirty="0"/>
              <a:t>Institut de la Gestion publique et du Développement économique / titre du diaporama</a:t>
            </a:r>
          </a:p>
        </p:txBody>
      </p:sp>
      <p:sp>
        <p:nvSpPr>
          <p:cNvPr id="6" name="Espace réservé du numéro de diapositive 5"/>
          <p:cNvSpPr>
            <a:spLocks noGrp="1"/>
          </p:cNvSpPr>
          <p:nvPr>
            <p:ph type="sldNum" sz="quarter" idx="4"/>
          </p:nvPr>
        </p:nvSpPr>
        <p:spPr bwMode="gray">
          <a:xfrm>
            <a:off x="8351979" y="6377984"/>
            <a:ext cx="1799995" cy="479998"/>
          </a:xfrm>
          <a:prstGeom prst="rect">
            <a:avLst/>
          </a:prstGeom>
        </p:spPr>
        <p:txBody>
          <a:bodyPr vert="horz" lIns="0" tIns="0" rIns="0" bIns="0" rtlCol="0" anchor="ctr" anchorCtr="0">
            <a:noAutofit/>
          </a:bodyPr>
          <a:lstStyle>
            <a:lvl1pPr algn="r">
              <a:defRPr sz="750" b="1">
                <a:solidFill>
                  <a:schemeClr val="tx1"/>
                </a:solidFill>
              </a:defRPr>
            </a:lvl1pPr>
          </a:lstStyle>
          <a:p>
            <a:fld id="{733122C9-A0B9-462F-8757-0847AD287B63}" type="slidenum">
              <a:rPr lang="fr-FR" smtClean="0"/>
              <a:pPr/>
              <a:t>‹N°›</a:t>
            </a:fld>
            <a:endParaRPr lang="fr-FR" dirty="0"/>
          </a:p>
        </p:txBody>
      </p:sp>
      <p:cxnSp>
        <p:nvCxnSpPr>
          <p:cNvPr id="10" name="Connecteur droit 9"/>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85976" y="147038"/>
            <a:ext cx="737074" cy="667800"/>
          </a:xfrm>
          <a:prstGeom prst="rect">
            <a:avLst/>
          </a:prstGeom>
        </p:spPr>
      </p:pic>
      <p:pic>
        <p:nvPicPr>
          <p:cNvPr id="11" name="Image 1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533961" y="243271"/>
            <a:ext cx="477928" cy="477928"/>
          </a:xfrm>
          <a:prstGeom prst="rect">
            <a:avLst/>
          </a:prstGeom>
        </p:spPr>
      </p:pic>
    </p:spTree>
  </p:cSld>
  <p:clrMap bg1="lt1" tx1="dk1" bg2="lt2" tx2="dk2" accent1="accent1" accent2="accent2" accent3="accent3" accent4="accent4" accent5="accent5" accent6="accent6" hlink="hlink" folHlink="folHlink"/>
  <p:sldLayoutIdLst>
    <p:sldLayoutId id="2147483808" r:id="rId1"/>
    <p:sldLayoutId id="2147483812" r:id="rId2"/>
    <p:sldLayoutId id="2147483810" r:id="rId3"/>
    <p:sldLayoutId id="2147483811" r:id="rId4"/>
    <p:sldLayoutId id="2147483809" r:id="rId5"/>
    <p:sldLayoutId id="2147483798" r:id="rId6"/>
  </p:sldLayoutIdLst>
  <p:hf hdr="0"/>
  <p:txStyles>
    <p:titleStyle>
      <a:lvl1pPr algn="l" defTabSz="914400" rtl="0" eaLnBrk="1" latinLnBrk="0" hangingPunct="1">
        <a:lnSpc>
          <a:spcPct val="90000"/>
        </a:lnSpc>
        <a:spcBef>
          <a:spcPct val="0"/>
        </a:spcBef>
        <a:buNone/>
        <a:defRPr sz="255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info.gouv.fr/accessibilite"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hyperlink" Target="mailto:bertrand.matge@finances.gouv.fr"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hyperlink" Target="mailto:alexandra.guiderdoni@finances.gouv.fr"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atalan.fr/agissons/fr/index.html"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hyperlink" Target="https://obligations-legales-accessibilite-numerique.fr/fr/" TargetMode="External"/><Relationship Id="rId4" Type="http://schemas.openxmlformats.org/officeDocument/2006/relationships/hyperlink" Target="https://obligations-legales-accessibilite-numerique.fr/fr/simulation/" TargetMode="External"/><Relationship Id="rId5" Type="http://schemas.openxmlformats.org/officeDocument/2006/relationships/hyperlink" Target="https://obligations-legales-accessibilite-numerique.fr/fr/comprendre/" TargetMode="Externa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hyperlink" Target="https://handicap.gouv.fr/sites/handicap/files/2025-03/delegation-interministerielle-accessibilite-rapport-activite-2024.pdf" TargetMode="External"/><Relationship Id="rId5" Type="http://schemas.openxmlformats.org/officeDocument/2006/relationships/hyperlink" Target="https://handicap.gouv.fr/sites/handicap/files/2025-03/delegation-interministerielle-accessibilite-synthese-FLAC-rapport-activite-2024" TargetMode="Externa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jpg"/><Relationship Id="rId3" Type="http://schemas.openxmlformats.org/officeDocument/2006/relationships/image" Target="../media/image3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hyperlink" Target="https://vispero.com/lp/color-contrast-checker/" TargetMode="Externa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hecklists.opquast.com/fr/qualite-numerique/les-contenus-ne-detournent-pas-de-caracteres-pour-simuler-une-mise-en-forme-visuelle" TargetMode="Externa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Espace réservé du numéro de diapositive 5"/>
          <p:cNvSpPr>
            <a:spLocks noGrp="1"/>
          </p:cNvSpPr>
          <p:nvPr>
            <p:ph type="sldNum" sz="quarter" idx="12"/>
          </p:nvPr>
        </p:nvSpPr>
        <p:spPr bwMode="gray">
          <a:xfrm>
            <a:off x="8348472" y="6382512"/>
            <a:ext cx="1801368"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Marianne"/>
              </a:rPr>
              <a:t>1</a:t>
            </a:r>
            <a:endParaRPr lang="fr-FR" dirty="0"/>
          </a:p>
        </p:txBody>
      </p:sp>
      <p:sp>
        <p:nvSpPr>
          <p:cNvPr id="8" name="Title-DSFR-couverture"/>
          <p:cNvSpPr txBox="1"/>
          <p:nvPr/>
        </p:nvSpPr>
        <p:spPr>
          <a:xfrm>
            <a:off x="5303520" y="4114800"/>
            <a:ext cx="6492240" cy="1188720"/>
          </a:xfrm>
          <a:prstGeom prst="rect">
            <a:avLst/>
          </a:prstGeom>
          <a:noFill/>
        </p:spPr>
        <p:txBody>
          <a:bodyPr wrap="square" anchor="t" lIns="73152" rIns="73152">
            <a:spAutoFit/>
          </a:bodyPr>
          <a:lstStyle/>
          <a:p>
            <a:pPr algn="r">
              <a:lnSpc>
                <a:spcPct val="125000"/>
              </a:lnSpc>
            </a:pPr>
            <a:r>
              <a:rPr sz="3200" b="1" i="0" lang="fr-FR">
                <a:solidFill>
                  <a:srgbClr val="000091"/>
                </a:solidFill>
                <a:latin typeface="Marianne"/>
              </a:rPr>
              <a:t>Accessibilité numérique</a:t>
            </a:r>
          </a:p>
        </p:txBody>
      </p:sp>
      <p:sp>
        <p:nvSpPr>
          <p:cNvPr id="9" name="DSFR-couverture-soustitre"/>
          <p:cNvSpPr txBox="1"/>
          <p:nvPr/>
        </p:nvSpPr>
        <p:spPr>
          <a:xfrm>
            <a:off x="5303520" y="4846320"/>
            <a:ext cx="6492240" cy="320040"/>
          </a:xfrm>
          <a:prstGeom prst="rect">
            <a:avLst/>
          </a:prstGeom>
          <a:noFill/>
        </p:spPr>
        <p:txBody>
          <a:bodyPr wrap="square" anchor="t" lIns="73152" rIns="73152">
            <a:spAutoFit/>
          </a:bodyPr>
          <a:lstStyle/>
          <a:p>
            <a:pPr algn="r">
              <a:lnSpc>
                <a:spcPct val="125000"/>
              </a:lnSpc>
            </a:pPr>
            <a:r>
              <a:rPr sz="1400" b="1" i="0" lang="fr-FR">
                <a:solidFill>
                  <a:srgbClr val="000091"/>
                </a:solidFill>
                <a:latin typeface="Marianne"/>
              </a:rPr>
              <a:t>Formation 102638 | Bureautique et web</a:t>
            </a:r>
          </a:p>
        </p:txBody>
      </p:sp>
      <p:sp>
        <p:nvSpPr>
          <p:cNvPr id="4" name="Espace réservé de la date 3"/>
          <p:cNvSpPr>
            <a:spLocks noGrp="1"/>
          </p:cNvSpPr>
          <p:nvPr>
            <p:ph type="dt" sz="half" idx="10"/>
          </p:nvPr>
        </p:nvSpPr>
        <p:spPr bwMode="gray">
          <a:xfrm>
            <a:off x="10149840" y="6382512"/>
            <a:ext cx="1563624"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Marianne"/>
              </a:rPr>
              <a:t>4 juin 2026</a:t>
            </a:r>
            <a:endParaRPr lang="fr-FR" dirty="0"/>
          </a:p>
        </p:txBody>
      </p:sp>
      <p:sp>
        <p:nvSpPr>
          <p:cNvPr id="5" name="Espace réservé du pied de page 4"/>
          <p:cNvSpPr>
            <a:spLocks noGrp="1"/>
          </p:cNvSpPr>
          <p:nvPr>
            <p:ph type="ftr" sz="quarter" idx="11"/>
          </p:nvPr>
        </p:nvSpPr>
        <p:spPr bwMode="gray">
          <a:xfrm>
            <a:off x="475488" y="6382512"/>
            <a:ext cx="7872983" cy="475488"/>
          </a:xfrm>
        </p:spPr>
        <p:txBody>
          <a:bodyPr anchor="t" anchorCtr="0" wrap="square" lIns="73152" rIns="73152"/>
          <a:lstStyle>
            <a:lvl1pPr>
              <a:defRPr sz="1150" lang="fr-FR"/>
            </a:lvl1pPr>
          </a:lstStyle>
          <a:p>
            <a:pPr algn="l">
              <a:lnSpc>
                <a:spcPct val="125000"/>
              </a:lnSpc>
            </a:pPr>
            <a:r>
              <a:rPr sz="1000" b="0" i="0" lang="fr-FR">
                <a:solidFill>
                  <a:srgbClr val="666666"/>
                </a:solidFill>
                <a:latin typeface="Marianne"/>
              </a:rPr>
              <a:t>Institut de la Gestion publique et du Développement économique</a:t>
            </a:r>
          </a:p>
        </p:txBody>
      </p:sp>
      <p:cxnSp>
        <p:nvCxnSpPr>
          <p:cNvPr id="7" name="IGPDE-footer-ligne-decoratif" descr=""/>
          <p:cNvCxnSpPr/>
          <p:nvPr/>
        </p:nvCxnSpPr>
        <p:spPr>
          <a:xfrm>
            <a:off x="475488" y="6373368"/>
            <a:ext cx="11228831" cy="0"/>
          </a:xfrm>
          <a:prstGeom prst="line">
            <a:avLst/>
          </a:prstGeom>
          <a:ln w="6350">
            <a:solidFill>
              <a:srgbClr val="99999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Espace réservé du numéro de diapositive 7"/>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a:t>
            </a:r>
            <a:endParaRPr lang="fr-FR" dirty="0"/>
          </a:p>
        </p:txBody>
      </p:sp>
      <p:sp>
        <p:nvSpPr>
          <p:cNvPr id="14" name="Title-DSFR-soustitre"/>
          <p:cNvSpPr txBox="1"/>
          <p:nvPr/>
        </p:nvSpPr>
        <p:spPr>
          <a:xfrm>
            <a:off x="475488" y="2286000"/>
            <a:ext cx="11228832" cy="1005840"/>
          </a:xfrm>
          <a:prstGeom prst="rect">
            <a:avLst/>
          </a:prstGeom>
          <a:noFill/>
        </p:spPr>
        <p:txBody>
          <a:bodyPr wrap="square" anchor="t" lIns="73152" rIns="73152">
            <a:spAutoFit/>
          </a:bodyPr>
          <a:lstStyle/>
          <a:p>
            <a:pPr algn="l">
              <a:lnSpc>
                <a:spcPct val="125000"/>
              </a:lnSpc>
            </a:pPr>
            <a:r>
              <a:rPr sz="3600" b="1" i="0" lang="fr-FR">
                <a:solidFill>
                  <a:srgbClr val="000091"/>
                </a:solidFill>
                <a:latin typeface="Marianne"/>
              </a:rPr>
              <a:t>Objectifs pédagogiques</a:t>
            </a:r>
          </a:p>
        </p:txBody>
      </p:sp>
      <p:sp>
        <p:nvSpPr>
          <p:cNvPr id="16" name="DSFR-box"/>
          <p:cNvSpPr/>
          <p:nvPr/>
        </p:nvSpPr>
        <p:spPr>
          <a:xfrm>
            <a:off x="548640" y="2103120"/>
            <a:ext cx="5390388" cy="274777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Cette formation vous permettra de :</a:t>
            </a:r>
          </a:p>
        </p:txBody>
      </p:sp>
      <p:sp>
        <p:nvSpPr>
          <p:cNvPr id="18" name="DSFR-callout-body"/>
          <p:cNvSpPr txBox="1"/>
          <p:nvPr/>
        </p:nvSpPr>
        <p:spPr>
          <a:xfrm>
            <a:off x="704088" y="2606039"/>
            <a:ext cx="5143500" cy="215341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Expliquer les enjeux de l'accessibilité numérique et son cadre légal dans le contexte de la communication</a:t>
            </a:r>
          </a:p>
          <a:p>
            <a:pPr algn="l">
              <a:lnSpc>
                <a:spcPct val="150000"/>
              </a:lnSpc>
            </a:pPr>
            <a:r>
              <a:rPr sz="1400" lang="fr-FR">
                <a:solidFill>
                  <a:srgbClr val="161616"/>
                </a:solidFill>
                <a:latin typeface="Marianne"/>
              </a:rPr>
              <a:t>• </a:t>
            </a:r>
            <a:r>
              <a:rPr sz="1400" b="0" lang="fr-FR">
                <a:solidFill>
                  <a:srgbClr val="161616"/>
                </a:solidFill>
                <a:latin typeface="Marianne"/>
              </a:rPr>
              <a:t>Identifier et évaluer les principales erreurs d'accessibilité</a:t>
            </a:r>
          </a:p>
          <a:p>
            <a:pPr algn="l">
              <a:lnSpc>
                <a:spcPct val="150000"/>
              </a:lnSpc>
            </a:pPr>
            <a:r>
              <a:rPr sz="1400" lang="fr-FR">
                <a:solidFill>
                  <a:srgbClr val="161616"/>
                </a:solidFill>
                <a:latin typeface="Marianne"/>
              </a:rPr>
              <a:t>• </a:t>
            </a:r>
            <a:r>
              <a:rPr sz="1400" b="0" lang="fr-FR">
                <a:solidFill>
                  <a:srgbClr val="161616"/>
                </a:solidFill>
                <a:latin typeface="Marianne"/>
              </a:rPr>
              <a:t>Rendre des contenus numériques accessibles</a:t>
            </a:r>
          </a:p>
        </p:txBody>
      </p:sp>
      <p:pic>
        <p:nvPicPr>
          <p:cNvPr id="19" name="Picture 18" descr="Affiche du SIG pour les 20 ans de la loi handicap. Imaginez un quotidien où rien n'est vraiment pensé pour vous. Ordinateur avec un écran inversé."/>
          <p:cNvPicPr>
            <a:picLocks noChangeAspect="1"/>
          </p:cNvPicPr>
          <p:nvPr/>
        </p:nvPicPr>
        <p:blipFill>
          <a:blip r:embed="rId2"/>
          <a:stretch>
            <a:fillRect/>
          </a:stretch>
        </p:blipFill>
        <p:spPr>
          <a:xfrm>
            <a:off x="6885432" y="1920240"/>
            <a:ext cx="3493008" cy="4167097"/>
          </a:xfrm>
          <a:prstGeom prst="rect">
            <a:avLst/>
          </a:prstGeom>
        </p:spPr>
      </p:pic>
      <p:pic>
        <p:nvPicPr>
          <p:cNvPr id="20" name="DSFR-qrcode" descr="QR code : https://www.info.gouv.fr/accessibilite"/>
          <p:cNvPicPr>
            <a:picLocks noChangeAspect="1"/>
          </p:cNvPicPr>
          <p:nvPr/>
        </p:nvPicPr>
        <p:blipFill>
          <a:blip r:embed="rId3"/>
          <a:stretch>
            <a:fillRect/>
          </a:stretch>
        </p:blipFill>
        <p:spPr>
          <a:xfrm>
            <a:off x="475488" y="4736592"/>
            <a:ext cx="1024128" cy="1024128"/>
          </a:xfrm>
          <a:prstGeom prst="rect">
            <a:avLst/>
          </a:prstGeom>
        </p:spPr>
      </p:pic>
      <p:sp>
        <p:nvSpPr>
          <p:cNvPr id="21" name="DSFR-qrcode-cta"/>
          <p:cNvSpPr txBox="1"/>
          <p:nvPr/>
        </p:nvSpPr>
        <p:spPr>
          <a:xfrm>
            <a:off x="1627632" y="4809744"/>
            <a:ext cx="4311396"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22" name="DSFR-qrcode-url-visible"/>
          <p:cNvSpPr txBox="1"/>
          <p:nvPr/>
        </p:nvSpPr>
        <p:spPr>
          <a:xfrm>
            <a:off x="1627632" y="5102352"/>
            <a:ext cx="4311396" cy="749808"/>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4"/>
              </a:rPr>
              <a:t>https://www.info.gouv.fr/accessibilite</a:t>
            </a:r>
          </a:p>
        </p:txBody>
      </p:sp>
      <p:sp>
        <p:nvSpPr>
          <p:cNvPr id="2" name="Espace réservé de la date 1"/>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Objectifs</a:t>
            </a:r>
          </a:p>
        </p:txBody>
      </p:sp>
      <p:sp>
        <p:nvSpPr>
          <p:cNvPr id="15" name="DSFR-accent-decoratif" descr=""/>
          <p:cNvSpPr/>
          <p:nvPr/>
        </p:nvSpPr>
        <p:spPr>
          <a:xfrm>
            <a:off x="475488" y="2103120"/>
            <a:ext cx="73152" cy="274777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Programme de la journée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a:t>
            </a:r>
            <a:endParaRPr lang="fr-FR" dirty="0"/>
          </a:p>
        </p:txBody>
      </p:sp>
      <p:sp>
        <p:nvSpPr>
          <p:cNvPr id="9" name="DSFR-box"/>
          <p:cNvSpPr/>
          <p:nvPr/>
        </p:nvSpPr>
        <p:spPr>
          <a:xfrm>
            <a:off x="548640" y="1623059"/>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30885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Accessibilité et cadre légal</a:t>
            </a:r>
          </a:p>
        </p:txBody>
      </p:sp>
      <p:sp>
        <p:nvSpPr>
          <p:cNvPr id="12" name="DSFR-card-contenu"/>
          <p:cNvSpPr txBox="1"/>
          <p:nvPr/>
        </p:nvSpPr>
        <p:spPr>
          <a:xfrm>
            <a:off x="704088" y="2766059"/>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Enjeux et obligations des acteurs publics</a:t>
            </a:r>
          </a:p>
          <a:p>
            <a:pPr algn="l">
              <a:lnSpc>
                <a:spcPct val="150000"/>
              </a:lnSpc>
            </a:pPr>
            <a:r>
              <a:rPr sz="1400" lang="fr-FR">
                <a:solidFill>
                  <a:srgbClr val="161616"/>
                </a:solidFill>
                <a:latin typeface="Marianne"/>
              </a:rPr>
              <a:t>• </a:t>
            </a:r>
            <a:r>
              <a:rPr sz="1400" b="0" lang="fr-FR">
                <a:solidFill>
                  <a:srgbClr val="161616"/>
                </a:solidFill>
                <a:latin typeface="Marianne"/>
              </a:rPr>
              <a:t>Déclaration d'accessibilité</a:t>
            </a:r>
          </a:p>
        </p:txBody>
      </p:sp>
      <p:sp>
        <p:nvSpPr>
          <p:cNvPr id="14" name="DSFR-box"/>
          <p:cNvSpPr/>
          <p:nvPr/>
        </p:nvSpPr>
        <p:spPr>
          <a:xfrm>
            <a:off x="6313931" y="1623059"/>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30885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Bureautique accessible</a:t>
            </a:r>
          </a:p>
        </p:txBody>
      </p:sp>
      <p:sp>
        <p:nvSpPr>
          <p:cNvPr id="17" name="DSFR-card-contenu"/>
          <p:cNvSpPr txBox="1"/>
          <p:nvPr/>
        </p:nvSpPr>
        <p:spPr>
          <a:xfrm>
            <a:off x="6469379" y="2766059"/>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Documents Word et LibreOffice</a:t>
            </a:r>
          </a:p>
          <a:p>
            <a:pPr algn="l">
              <a:lnSpc>
                <a:spcPct val="150000"/>
              </a:lnSpc>
            </a:pPr>
            <a:r>
              <a:rPr sz="1400" lang="fr-FR">
                <a:solidFill>
                  <a:srgbClr val="161616"/>
                </a:solidFill>
                <a:latin typeface="Marianne"/>
              </a:rPr>
              <a:t>• </a:t>
            </a:r>
            <a:r>
              <a:rPr sz="1400" b="0" lang="fr-FR">
                <a:solidFill>
                  <a:srgbClr val="161616"/>
                </a:solidFill>
                <a:latin typeface="Marianne"/>
              </a:rPr>
              <a:t>Export PDF accessible</a:t>
            </a:r>
          </a:p>
        </p:txBody>
      </p:sp>
      <p:sp>
        <p:nvSpPr>
          <p:cNvPr id="19" name="DSFR-box"/>
          <p:cNvSpPr/>
          <p:nvPr/>
        </p:nvSpPr>
        <p:spPr>
          <a:xfrm>
            <a:off x="548640" y="3989070"/>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67487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points de contrôle rapides W3C</a:t>
            </a:r>
          </a:p>
        </p:txBody>
      </p:sp>
      <p:sp>
        <p:nvSpPr>
          <p:cNvPr id="22" name="DSFR-card-contenu"/>
          <p:cNvSpPr txBox="1"/>
          <p:nvPr/>
        </p:nvSpPr>
        <p:spPr>
          <a:xfrm>
            <a:off x="704088" y="5132070"/>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13 vérifications rapides W3C WAI</a:t>
            </a:r>
          </a:p>
          <a:p>
            <a:pPr algn="l">
              <a:lnSpc>
                <a:spcPct val="150000"/>
              </a:lnSpc>
            </a:pPr>
            <a:r>
              <a:rPr sz="1400" lang="fr-FR">
                <a:solidFill>
                  <a:srgbClr val="161616"/>
                </a:solidFill>
                <a:latin typeface="Marianne"/>
              </a:rPr>
              <a:t>• </a:t>
            </a:r>
            <a:r>
              <a:rPr sz="1400" b="0" lang="fr-FR">
                <a:solidFill>
                  <a:srgbClr val="161616"/>
                </a:solidFill>
                <a:latin typeface="Marianne"/>
              </a:rPr>
              <a:t>Démonstration et exercice pratique</a:t>
            </a:r>
          </a:p>
        </p:txBody>
      </p:sp>
      <p:sp>
        <p:nvSpPr>
          <p:cNvPr id="24" name="DSFR-box"/>
          <p:cNvSpPr/>
          <p:nvPr/>
        </p:nvSpPr>
        <p:spPr>
          <a:xfrm>
            <a:off x="6313931" y="3989070"/>
            <a:ext cx="5390388" cy="21831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67487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Réseaux sociaux</a:t>
            </a:r>
          </a:p>
        </p:txBody>
      </p:sp>
      <p:sp>
        <p:nvSpPr>
          <p:cNvPr id="27" name="DSFR-card-contenu"/>
          <p:cNvSpPr txBox="1"/>
          <p:nvPr/>
        </p:nvSpPr>
        <p:spPr>
          <a:xfrm>
            <a:off x="6469379" y="5132070"/>
            <a:ext cx="5097779" cy="94869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Enjeux et obligations</a:t>
            </a:r>
          </a:p>
          <a:p>
            <a:pPr algn="l">
              <a:lnSpc>
                <a:spcPct val="150000"/>
              </a:lnSpc>
            </a:pPr>
            <a:r>
              <a:rPr sz="1400" lang="fr-FR">
                <a:solidFill>
                  <a:srgbClr val="161616"/>
                </a:solidFill>
                <a:latin typeface="Marianne"/>
              </a:rPr>
              <a:t>• </a:t>
            </a:r>
            <a:r>
              <a:rPr sz="1400" b="0" lang="fr-FR">
                <a:solidFill>
                  <a:srgbClr val="161616"/>
                </a:solidFill>
                <a:latin typeface="Marianne"/>
              </a:rPr>
              <a:t>Alt text, hashtags, émojis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Programme</a:t>
            </a:r>
          </a:p>
        </p:txBody>
      </p:sp>
      <p:sp>
        <p:nvSpPr>
          <p:cNvPr id="10" name="DSFR-card-numero"/>
          <p:cNvSpPr/>
          <p:nvPr/>
        </p:nvSpPr>
        <p:spPr>
          <a:xfrm>
            <a:off x="704088" y="176021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6469379" y="176021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704088" y="412623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5" name="DSFR-card-numero"/>
          <p:cNvSpPr/>
          <p:nvPr/>
        </p:nvSpPr>
        <p:spPr>
          <a:xfrm>
            <a:off x="6469379" y="412623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1623059"/>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1623059"/>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3989070"/>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3989070"/>
            <a:ext cx="73152" cy="21831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Bertrand Matge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a:t>
            </a:r>
            <a:endParaRPr lang="fr-FR" dirty="0"/>
          </a:p>
        </p:txBody>
      </p:sp>
      <p:pic>
        <p:nvPicPr>
          <p:cNvPr id="8" name="Picture 7" descr="Photo Bertrand Matge"/>
          <p:cNvPicPr>
            <a:picLocks noChangeAspect="1"/>
          </p:cNvPicPr>
          <p:nvPr/>
        </p:nvPicPr>
        <p:blipFill>
          <a:blip r:embed="rId2"/>
          <a:stretch>
            <a:fillRect/>
          </a:stretch>
        </p:blipFill>
        <p:spPr>
          <a:xfrm>
            <a:off x="649224" y="2194560"/>
            <a:ext cx="2185416" cy="2185416"/>
          </a:xfrm>
          <a:prstGeom prst="rect">
            <a:avLst/>
          </a:prstGeom>
        </p:spPr>
      </p:pic>
      <p:sp>
        <p:nvSpPr>
          <p:cNvPr id="10" name="DSFR-box"/>
          <p:cNvSpPr/>
          <p:nvPr/>
        </p:nvSpPr>
        <p:spPr>
          <a:xfrm>
            <a:off x="4005072" y="2194560"/>
            <a:ext cx="7699248" cy="319582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Responsable pôle support web - Mission Ingénierie du Web, SG-SNUM</a:t>
            </a:r>
          </a:p>
        </p:txBody>
      </p:sp>
      <p:sp>
        <p:nvSpPr>
          <p:cNvPr id="12" name="DSFR-callout-body"/>
          <p:cNvSpPr txBox="1"/>
          <p:nvPr/>
        </p:nvSpPr>
        <p:spPr>
          <a:xfrm>
            <a:off x="4160520" y="2857500"/>
            <a:ext cx="7452360" cy="244144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Formateur Opquast certifié, référent Assurance Qualité Web</a:t>
            </a:r>
          </a:p>
          <a:p>
            <a:pPr algn="l">
              <a:lnSpc>
                <a:spcPct val="150000"/>
              </a:lnSpc>
            </a:pPr>
            <a:r>
              <a:rPr sz="1400" lang="fr-FR">
                <a:solidFill>
                  <a:srgbClr val="161616"/>
                </a:solidFill>
                <a:latin typeface="Marianne"/>
              </a:rPr>
              <a:t>• </a:t>
            </a:r>
            <a:r>
              <a:rPr sz="1400" b="0" lang="fr-FR">
                <a:solidFill>
                  <a:srgbClr val="161616"/>
                </a:solidFill>
                <a:latin typeface="Marianne"/>
              </a:rPr>
              <a:t>Forme et sensibilise à l'accessibilité depuis plusieurs années</a:t>
            </a:r>
          </a:p>
          <a:p>
            <a:pPr algn="l">
              <a:lnSpc>
                <a:spcPct val="150000"/>
              </a:lnSpc>
            </a:pPr>
            <a:r>
              <a:rPr sz="1400" lang="fr-FR">
                <a:solidFill>
                  <a:srgbClr val="161616"/>
                </a:solidFill>
                <a:latin typeface="Marianne"/>
              </a:rPr>
              <a:t>• </a:t>
            </a:r>
            <a:r>
              <a:rPr sz="1400" b="0" lang="fr-FR">
                <a:solidFill>
                  <a:srgbClr val="161616"/>
                </a:solidFill>
                <a:latin typeface="Marianne"/>
              </a:rPr>
              <a:t>Passionné par la conception inclusive et l'expérience utilisateur</a:t>
            </a:r>
          </a:p>
          <a:p>
            <a:pPr algn="l">
              <a:lnSpc>
                <a:spcPct val="150000"/>
              </a:lnSpc>
            </a:pPr>
            <a:r>
              <a:rPr sz="1400" lang="fr-FR">
                <a:solidFill>
                  <a:srgbClr val="161616"/>
                </a:solidFill>
                <a:latin typeface="Marianne"/>
              </a:rPr>
              <a:t>• </a:t>
            </a:r>
            <a:r>
              <a:rPr sz="1400" b="0" lang="fr-FR">
                <a:solidFill>
                  <a:srgbClr val="161616"/>
                </a:solidFill>
                <a:latin typeface="Marianne"/>
              </a:rPr>
              <a:t>Formé à l'audit d'accessibilité numérique</a:t>
            </a:r>
          </a:p>
          <a:p>
            <a:pPr algn="l">
              <a:lnSpc>
                <a:spcPct val="150000"/>
              </a:lnSpc>
            </a:pPr>
            <a:r>
              <a:rPr sz="1400" lang="fr-FR">
                <a:solidFill>
                  <a:srgbClr val="161616"/>
                </a:solidFill>
                <a:latin typeface="Marianne"/>
              </a:rPr>
              <a:t>• </a:t>
            </a:r>
            <a:r>
              <a:rPr sz="1400" b="0" u="sng" lang="fr-FR">
                <a:solidFill>
                  <a:srgbClr val="000091"/>
                </a:solidFill>
                <a:latin typeface="Marianne"/>
                <a:hlinkClick r:id="rId3"/>
              </a:rPr>
              <a:t>Email : bertrand.matge@finances.gouv.fr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Intervenants</a:t>
            </a:r>
          </a:p>
        </p:txBody>
      </p:sp>
      <p:sp>
        <p:nvSpPr>
          <p:cNvPr id="9" name="DSFR-accent-decoratif" descr=""/>
          <p:cNvSpPr/>
          <p:nvPr/>
        </p:nvSpPr>
        <p:spPr>
          <a:xfrm>
            <a:off x="3931920" y="2194560"/>
            <a:ext cx="73152" cy="31958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Alexandra Guiderdoni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a:t>
            </a:r>
            <a:endParaRPr lang="fr-FR" dirty="0"/>
          </a:p>
        </p:txBody>
      </p:sp>
      <p:pic>
        <p:nvPicPr>
          <p:cNvPr id="8" name="Picture 7" descr="Photo Alexandra Guiderdoni"/>
          <p:cNvPicPr>
            <a:picLocks noChangeAspect="1"/>
          </p:cNvPicPr>
          <p:nvPr/>
        </p:nvPicPr>
        <p:blipFill>
          <a:blip r:embed="rId2"/>
          <a:stretch>
            <a:fillRect/>
          </a:stretch>
        </p:blipFill>
        <p:spPr>
          <a:xfrm>
            <a:off x="649224" y="2194560"/>
            <a:ext cx="2185416" cy="2809821"/>
          </a:xfrm>
          <a:prstGeom prst="rect">
            <a:avLst/>
          </a:prstGeom>
        </p:spPr>
      </p:pic>
      <p:sp>
        <p:nvSpPr>
          <p:cNvPr id="10" name="DSFR-box"/>
          <p:cNvSpPr/>
          <p:nvPr/>
        </p:nvSpPr>
        <p:spPr>
          <a:xfrm>
            <a:off x="4005072" y="2194560"/>
            <a:ext cx="7699248" cy="33238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Chef de projet - Mission Ingénierie du Web, SG-SNUM</a:t>
            </a:r>
          </a:p>
        </p:txBody>
      </p:sp>
      <p:sp>
        <p:nvSpPr>
          <p:cNvPr id="12" name="DSFR-callout-body"/>
          <p:cNvSpPr txBox="1"/>
          <p:nvPr/>
        </p:nvSpPr>
        <p:spPr>
          <a:xfrm>
            <a:off x="4160520" y="2697479"/>
            <a:ext cx="7452360" cy="2729484"/>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Spécialisée dans les technologies web et l'accessibilité numérique</a:t>
            </a:r>
          </a:p>
          <a:p>
            <a:pPr algn="l">
              <a:lnSpc>
                <a:spcPct val="150000"/>
              </a:lnSpc>
            </a:pPr>
            <a:r>
              <a:rPr sz="1400" lang="fr-FR">
                <a:solidFill>
                  <a:srgbClr val="161616"/>
                </a:solidFill>
                <a:latin typeface="Marianne"/>
              </a:rPr>
              <a:t>• </a:t>
            </a:r>
            <a:r>
              <a:rPr sz="1400" b="0" lang="fr-FR">
                <a:solidFill>
                  <a:srgbClr val="161616"/>
                </a:solidFill>
                <a:latin typeface="Marianne"/>
              </a:rPr>
              <a:t>Expérience : Ministère des affaires étrangères, ESN</a:t>
            </a:r>
          </a:p>
          <a:p>
            <a:pPr algn="l">
              <a:lnSpc>
                <a:spcPct val="150000"/>
              </a:lnSpc>
            </a:pPr>
            <a:r>
              <a:rPr sz="1400" lang="fr-FR">
                <a:solidFill>
                  <a:srgbClr val="161616"/>
                </a:solidFill>
                <a:latin typeface="Marianne"/>
              </a:rPr>
              <a:t>• </a:t>
            </a:r>
            <a:r>
              <a:rPr sz="1400" b="0" lang="fr-FR">
                <a:solidFill>
                  <a:srgbClr val="161616"/>
                </a:solidFill>
                <a:latin typeface="Marianne"/>
              </a:rPr>
              <a:t>DU-RAN (diplôme universitaire référent accessibilité numérique), 1re session 2024</a:t>
            </a:r>
          </a:p>
          <a:p>
            <a:pPr algn="l">
              <a:lnSpc>
                <a:spcPct val="150000"/>
              </a:lnSpc>
            </a:pPr>
            <a:r>
              <a:rPr sz="1400" lang="fr-FR">
                <a:solidFill>
                  <a:srgbClr val="161616"/>
                </a:solidFill>
                <a:latin typeface="Marianne"/>
              </a:rPr>
              <a:t>• </a:t>
            </a:r>
            <a:r>
              <a:rPr sz="1400" b="0" lang="fr-FR">
                <a:solidFill>
                  <a:srgbClr val="161616"/>
                </a:solidFill>
                <a:latin typeface="Marianne"/>
              </a:rPr>
              <a:t>Formée à l'audit d'accessibilité numérique RGAA</a:t>
            </a:r>
          </a:p>
          <a:p>
            <a:pPr algn="l">
              <a:lnSpc>
                <a:spcPct val="150000"/>
              </a:lnSpc>
            </a:pPr>
            <a:r>
              <a:rPr sz="1400" lang="fr-FR">
                <a:solidFill>
                  <a:srgbClr val="161616"/>
                </a:solidFill>
                <a:latin typeface="Marianne"/>
              </a:rPr>
              <a:t>• </a:t>
            </a:r>
            <a:r>
              <a:rPr sz="1400" b="0" lang="fr-FR">
                <a:solidFill>
                  <a:srgbClr val="161616"/>
                </a:solidFill>
                <a:latin typeface="Marianne"/>
              </a:rPr>
              <a:t>Formatrice et Référente en Assurance Qualité pour le Web - Opquast</a:t>
            </a:r>
          </a:p>
          <a:p>
            <a:pPr algn="l">
              <a:lnSpc>
                <a:spcPct val="150000"/>
              </a:lnSpc>
            </a:pPr>
            <a:r>
              <a:rPr sz="1400" lang="fr-FR">
                <a:solidFill>
                  <a:srgbClr val="161616"/>
                </a:solidFill>
                <a:latin typeface="Marianne"/>
              </a:rPr>
              <a:t>• </a:t>
            </a:r>
            <a:r>
              <a:rPr sz="1400" b="0" u="sng" lang="fr-FR">
                <a:solidFill>
                  <a:srgbClr val="000091"/>
                </a:solidFill>
                <a:latin typeface="Marianne"/>
                <a:hlinkClick r:id="rId3"/>
              </a:rPr>
              <a:t>Email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Intervenants</a:t>
            </a:r>
          </a:p>
        </p:txBody>
      </p:sp>
      <p:sp>
        <p:nvSpPr>
          <p:cNvPr id="9" name="DSFR-accent-decoratif" descr=""/>
          <p:cNvSpPr/>
          <p:nvPr/>
        </p:nvSpPr>
        <p:spPr>
          <a:xfrm>
            <a:off x="3931920" y="2194560"/>
            <a:ext cx="73152" cy="33238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Présentez-vous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a:t>
            </a:r>
            <a:endParaRPr lang="fr-FR" dirty="0"/>
          </a:p>
        </p:txBody>
      </p:sp>
      <p:sp>
        <p:nvSpPr>
          <p:cNvPr id="9" name="DSFR-box"/>
          <p:cNvSpPr/>
          <p:nvPr/>
        </p:nvSpPr>
        <p:spPr>
          <a:xfrm>
            <a:off x="548640" y="2103120"/>
            <a:ext cx="3468623" cy="4069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Qui êtes-vous ?</a:t>
            </a:r>
          </a:p>
        </p:txBody>
      </p:sp>
      <p:sp>
        <p:nvSpPr>
          <p:cNvPr id="11" name="DSFR-card-contenu"/>
          <p:cNvSpPr txBox="1"/>
          <p:nvPr/>
        </p:nvSpPr>
        <p:spPr>
          <a:xfrm>
            <a:off x="704088" y="2697479"/>
            <a:ext cx="3176016" cy="338328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Bonjour, je m'appelle [prénom]
Je suis [métier / fonction]
chez [direction / service]
depuis [durée]</a:t>
            </a:r>
          </a:p>
        </p:txBody>
      </p:sp>
      <p:sp>
        <p:nvSpPr>
          <p:cNvPr id="13" name="DSFR-box"/>
          <p:cNvSpPr/>
          <p:nvPr/>
        </p:nvSpPr>
        <p:spPr>
          <a:xfrm>
            <a:off x="4392167" y="2103120"/>
            <a:ext cx="3468623" cy="4069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4547615"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Mon rapport à l'accessibilité</a:t>
            </a:r>
          </a:p>
        </p:txBody>
      </p:sp>
      <p:sp>
        <p:nvSpPr>
          <p:cNvPr id="15" name="DSFR-card-contenu"/>
          <p:cNvSpPr txBox="1"/>
          <p:nvPr/>
        </p:nvSpPr>
        <p:spPr>
          <a:xfrm>
            <a:off x="4547615" y="2697479"/>
            <a:ext cx="3176016" cy="338328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Quand j'entends « accessibilité numérique », je pense à [premier mot]
Je me situe plutôt :
[ ] Complet débutant
[ ] J'en ai entendu parler
[ ] J'ai déjà appliqué quelques règles</a:t>
            </a:r>
          </a:p>
        </p:txBody>
      </p:sp>
      <p:sp>
        <p:nvSpPr>
          <p:cNvPr id="17" name="DSFR-box"/>
          <p:cNvSpPr/>
          <p:nvPr/>
        </p:nvSpPr>
        <p:spPr>
          <a:xfrm>
            <a:off x="8235695" y="2103120"/>
            <a:ext cx="3468623" cy="4069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8391144"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j'attends</a:t>
            </a:r>
          </a:p>
        </p:txBody>
      </p:sp>
      <p:sp>
        <p:nvSpPr>
          <p:cNvPr id="19" name="DSFR-card-contenu"/>
          <p:cNvSpPr txBox="1"/>
          <p:nvPr/>
        </p:nvSpPr>
        <p:spPr>
          <a:xfrm>
            <a:off x="8391144" y="2697479"/>
            <a:ext cx="3176016" cy="338328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Je produis principalement [type de contenu]
Pour un usage :
[ ] Interne   [ ] Grand public
Ce que j'espère retirer :
J'aimerais [objectif personnel]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8" name="DSFR-accent-decoratif" descr=""/>
          <p:cNvSpPr/>
          <p:nvPr/>
        </p:nvSpPr>
        <p:spPr>
          <a:xfrm>
            <a:off x="475488" y="2103120"/>
            <a:ext cx="73152" cy="4069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319015" y="2103120"/>
            <a:ext cx="73152" cy="4069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8162543" y="2103120"/>
            <a:ext cx="73152" cy="4069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Organisation des activités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a:t>
            </a:r>
            <a:endParaRPr lang="fr-FR" dirty="0"/>
          </a:p>
        </p:txBody>
      </p:sp>
      <p:sp>
        <p:nvSpPr>
          <p:cNvPr id="9" name="DSFR-box"/>
          <p:cNvSpPr/>
          <p:nvPr/>
        </p:nvSpPr>
        <p:spPr>
          <a:xfrm>
            <a:off x="548640" y="2103120"/>
            <a:ext cx="5390388" cy="265176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Activité idées reçues</a:t>
            </a:r>
          </a:p>
        </p:txBody>
      </p:sp>
      <p:sp>
        <p:nvSpPr>
          <p:cNvPr id="11" name="DSFR-callout-body"/>
          <p:cNvSpPr txBox="1"/>
          <p:nvPr/>
        </p:nvSpPr>
        <p:spPr>
          <a:xfrm>
            <a:off x="704088" y="2606039"/>
            <a:ext cx="5143500" cy="205740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Mettez-vous par deux et piochez une carte idée reçue</a:t>
            </a:r>
          </a:p>
          <a:p>
            <a:pPr algn="l">
              <a:lnSpc>
                <a:spcPct val="125000"/>
              </a:lnSpc>
            </a:pPr>
            <a:r>
              <a:rPr sz="1400" lang="fr-FR">
                <a:solidFill>
                  <a:srgbClr val="161616"/>
                </a:solidFill>
                <a:latin typeface="Marianne"/>
              </a:rPr>
              <a:t>• </a:t>
            </a:r>
            <a:r>
              <a:rPr sz="1400" b="0" lang="fr-FR">
                <a:solidFill>
                  <a:srgbClr val="161616"/>
                </a:solidFill>
                <a:latin typeface="Marianne"/>
              </a:rPr>
              <a:t>Présentez-vous et échangez sur votre quotidien</a:t>
            </a:r>
          </a:p>
          <a:p>
            <a:pPr algn="l">
              <a:lnSpc>
                <a:spcPct val="125000"/>
              </a:lnSpc>
            </a:pPr>
            <a:r>
              <a:rPr sz="1400" lang="fr-FR">
                <a:solidFill>
                  <a:srgbClr val="161616"/>
                </a:solidFill>
                <a:latin typeface="Marianne"/>
              </a:rPr>
              <a:t>• </a:t>
            </a:r>
            <a:r>
              <a:rPr sz="1400" b="0" lang="fr-FR">
                <a:solidFill>
                  <a:srgbClr val="161616"/>
                </a:solidFill>
                <a:latin typeface="Marianne"/>
              </a:rPr>
              <a:t>Confrontez vos cartes : qu'en pensez-vous ?</a:t>
            </a:r>
          </a:p>
          <a:p>
            <a:pPr algn="l">
              <a:lnSpc>
                <a:spcPct val="125000"/>
              </a:lnSpc>
            </a:pPr>
            <a:r>
              <a:rPr sz="1400" lang="fr-FR">
                <a:solidFill>
                  <a:srgbClr val="161616"/>
                </a:solidFill>
                <a:latin typeface="Marianne"/>
              </a:rPr>
              <a:t>• </a:t>
            </a:r>
            <a:r>
              <a:rPr sz="1400" b="0" lang="fr-FR">
                <a:solidFill>
                  <a:srgbClr val="161616"/>
                </a:solidFill>
                <a:latin typeface="Marianne"/>
              </a:rPr>
              <a:t>Présentez vos réflexions au groupe - débat ouvert</a:t>
            </a:r>
          </a:p>
        </p:txBody>
      </p:sp>
      <p:sp>
        <p:nvSpPr>
          <p:cNvPr id="13" name="DSFR-box"/>
          <p:cNvSpPr/>
          <p:nvPr/>
        </p:nvSpPr>
        <p:spPr>
          <a:xfrm>
            <a:off x="6313931" y="210312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info-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 les ateliers Word et Web</a:t>
            </a:r>
          </a:p>
        </p:txBody>
      </p:sp>
      <p:sp>
        <p:nvSpPr>
          <p:cNvPr id="15" name="DSFR-alert-info-body"/>
          <p:cNvSpPr txBox="1"/>
          <p:nvPr/>
        </p:nvSpPr>
        <p:spPr>
          <a:xfrm>
            <a:off x="6469379" y="2606039"/>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N'hésitez pas à travailler en binôme</a:t>
            </a:r>
          </a:p>
          <a:p>
            <a:pPr algn="l">
              <a:lnSpc>
                <a:spcPct val="150000"/>
              </a:lnSpc>
            </a:pPr>
            <a:r>
              <a:rPr sz="1400" lang="fr-FR">
                <a:solidFill>
                  <a:srgbClr val="161616"/>
                </a:solidFill>
                <a:latin typeface="Marianne"/>
              </a:rPr>
              <a:t>• </a:t>
            </a:r>
            <a:r>
              <a:rPr sz="1400" b="0" lang="fr-FR">
                <a:solidFill>
                  <a:srgbClr val="161616"/>
                </a:solidFill>
                <a:latin typeface="Marianne"/>
              </a:rPr>
              <a:t>Deux regards repèrent ce qu'un seul ne voit pas</a:t>
            </a:r>
          </a:p>
          <a:p>
            <a:pPr algn="l">
              <a:lnSpc>
                <a:spcPct val="150000"/>
              </a:lnSpc>
            </a:pPr>
            <a:r>
              <a:rPr sz="1400" lang="fr-FR">
                <a:solidFill>
                  <a:srgbClr val="161616"/>
                </a:solidFill>
                <a:latin typeface="Marianne"/>
              </a:rPr>
              <a:t>• </a:t>
            </a:r>
            <a:r>
              <a:rPr sz="1400" b="0" lang="fr-FR">
                <a:solidFill>
                  <a:srgbClr val="161616"/>
                </a:solidFill>
                <a:latin typeface="Marianne"/>
              </a:rPr>
              <a:t>Expliquer à quelqu'un consolide l'apprentissage</a:t>
            </a:r>
          </a:p>
        </p:txBody>
      </p:sp>
      <p:sp>
        <p:nvSpPr>
          <p:cNvPr id="17" name="DSFR-box"/>
          <p:cNvSpPr/>
          <p:nvPr/>
        </p:nvSpPr>
        <p:spPr>
          <a:xfrm>
            <a:off x="548640" y="5367528"/>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458968"/>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Première étape : trouvez votre binôme et piochez votre carte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8" name="DSFR-accent-decoratif" descr=""/>
          <p:cNvSpPr/>
          <p:nvPr/>
        </p:nvSpPr>
        <p:spPr>
          <a:xfrm>
            <a:off x="475488" y="2103120"/>
            <a:ext cx="73152" cy="26517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367528"/>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Ensemble, faisons tomber les préjugés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numérique, ça fait peur ... mais souvent pour de mauvaises raisons.</a:t>
            </a:r>
          </a:p>
        </p:txBody>
      </p:sp>
      <p:sp>
        <p:nvSpPr>
          <p:cNvPr id="12" name="DSFR-box"/>
          <p:cNvSpPr/>
          <p:nvPr/>
        </p:nvSpPr>
        <p:spPr>
          <a:xfrm>
            <a:off x="548640" y="326898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3604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Activité : vrai ou faux ?</a:t>
            </a:r>
          </a:p>
        </p:txBody>
      </p:sp>
      <p:sp>
        <p:nvSpPr>
          <p:cNvPr id="14" name="DSFR-alert-info-body"/>
          <p:cNvSpPr txBox="1"/>
          <p:nvPr/>
        </p:nvSpPr>
        <p:spPr>
          <a:xfrm>
            <a:off x="704088" y="377190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En binôme, confrontez vos cartes : vrai ou faux ?</a:t>
            </a:r>
          </a:p>
          <a:p>
            <a:pPr algn="l">
              <a:lnSpc>
                <a:spcPct val="150000"/>
              </a:lnSpc>
            </a:pPr>
            <a:r>
              <a:rPr sz="1400" lang="fr-FR">
                <a:solidFill>
                  <a:srgbClr val="161616"/>
                </a:solidFill>
                <a:latin typeface="Marianne"/>
              </a:rPr>
              <a:t>• </a:t>
            </a:r>
            <a:r>
              <a:rPr sz="1400" b="0" lang="fr-FR">
                <a:solidFill>
                  <a:srgbClr val="161616"/>
                </a:solidFill>
                <a:latin typeface="Marianne"/>
              </a:rPr>
              <a:t>Échangez vos arguments, préparez votre position</a:t>
            </a:r>
          </a:p>
          <a:p>
            <a:pPr algn="l">
              <a:lnSpc>
                <a:spcPct val="150000"/>
              </a:lnSpc>
            </a:pPr>
            <a:r>
              <a:rPr sz="1400" lang="fr-FR">
                <a:solidFill>
                  <a:srgbClr val="161616"/>
                </a:solidFill>
                <a:latin typeface="Marianne"/>
              </a:rPr>
              <a:t>• </a:t>
            </a:r>
            <a:r>
              <a:rPr sz="1400" b="0" lang="fr-FR">
                <a:solidFill>
                  <a:srgbClr val="161616"/>
                </a:solidFill>
                <a:latin typeface="Marianne"/>
              </a:rPr>
              <a:t>Chaque binôme présente sa carte au groupe - débat ouvert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6898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1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a:t>
            </a:r>
            <a:endParaRPr lang="fr-FR" dirty="0"/>
          </a:p>
        </p:txBody>
      </p:sp>
      <p:sp>
        <p:nvSpPr>
          <p:cNvPr id="9" name="DSFR-box"/>
          <p:cNvSpPr/>
          <p:nvPr/>
        </p:nvSpPr>
        <p:spPr>
          <a:xfrm>
            <a:off x="548640" y="2103120"/>
            <a:ext cx="5390388" cy="24981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26370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Ça ne concerne qu'une minorité de personnes »</a:t>
            </a:r>
          </a:p>
        </p:txBody>
      </p:sp>
      <p:sp>
        <p:nvSpPr>
          <p:cNvPr id="14" name="DSFR-box"/>
          <p:cNvSpPr/>
          <p:nvPr/>
        </p:nvSpPr>
        <p:spPr>
          <a:xfrm>
            <a:off x="6313931" y="2103120"/>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1 milliard+ de personnes dans le monde vivent avec un handicap (OMS)</a:t>
            </a:r>
          </a:p>
          <a:p>
            <a:pPr algn="l">
              <a:lnSpc>
                <a:spcPct val="115000"/>
              </a:lnSpc>
            </a:pPr>
            <a:r>
              <a:rPr sz="1400" lang="fr-FR">
                <a:solidFill>
                  <a:srgbClr val="161616"/>
                </a:solidFill>
                <a:latin typeface="Marianne"/>
              </a:rPr>
              <a:t>• </a:t>
            </a:r>
            <a:r>
              <a:rPr sz="1400" b="0" lang="fr-FR">
                <a:solidFill>
                  <a:srgbClr val="161616"/>
                </a:solidFill>
                <a:latin typeface="Marianne"/>
              </a:rPr>
              <a:t>Soit 15 % de la population mondiale - 1 personne sur 6</a:t>
            </a:r>
          </a:p>
          <a:p>
            <a:pPr algn="l">
              <a:lnSpc>
                <a:spcPct val="115000"/>
              </a:lnSpc>
            </a:pPr>
            <a:r>
              <a:rPr sz="1400" lang="fr-FR">
                <a:solidFill>
                  <a:srgbClr val="161616"/>
                </a:solidFill>
                <a:latin typeface="Marianne"/>
              </a:rPr>
              <a:t>• </a:t>
            </a:r>
            <a:r>
              <a:rPr sz="1400" b="0" lang="fr-FR">
                <a:solidFill>
                  <a:srgbClr val="161616"/>
                </a:solidFill>
                <a:latin typeface="Marianne"/>
              </a:rPr>
              <a:t>En France : 12 millions de personnes en situation de handicap</a:t>
            </a:r>
          </a:p>
          <a:p>
            <a:pPr algn="l">
              <a:lnSpc>
                <a:spcPct val="115000"/>
              </a:lnSpc>
            </a:pPr>
            <a:r>
              <a:rPr sz="1400" lang="fr-FR">
                <a:solidFill>
                  <a:srgbClr val="161616"/>
                </a:solidFill>
                <a:latin typeface="Marianne"/>
              </a:rPr>
              <a:t>• </a:t>
            </a:r>
            <a:r>
              <a:rPr sz="1400" b="0" lang="fr-FR">
                <a:solidFill>
                  <a:srgbClr val="161616"/>
                </a:solidFill>
                <a:latin typeface="Marianne"/>
              </a:rPr>
              <a:t>Et chacun sera concerné un jour : âge, accident, maladie temporaire</a:t>
            </a:r>
          </a:p>
        </p:txBody>
      </p:sp>
      <p:pic>
        <p:nvPicPr>
          <p:cNvPr id="17" name="DSFR-qrcode" descr="QR code : https://ideance.net/blog/4602/idees-recues-a11y"/>
          <p:cNvPicPr>
            <a:picLocks noChangeAspect="1"/>
          </p:cNvPicPr>
          <p:nvPr/>
        </p:nvPicPr>
        <p:blipFill>
          <a:blip r:embed="rId2"/>
          <a:stretch>
            <a:fillRect/>
          </a:stretch>
        </p:blipFill>
        <p:spPr>
          <a:xfrm>
            <a:off x="6240779" y="4690872"/>
            <a:ext cx="868680" cy="868680"/>
          </a:xfrm>
          <a:prstGeom prst="rect">
            <a:avLst/>
          </a:prstGeom>
        </p:spPr>
      </p:pic>
      <p:sp>
        <p:nvSpPr>
          <p:cNvPr id="18" name="DSFR-qrcode-cta"/>
          <p:cNvSpPr txBox="1"/>
          <p:nvPr/>
        </p:nvSpPr>
        <p:spPr>
          <a:xfrm>
            <a:off x="7237475" y="4764024"/>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056632"/>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8" name="DSFR-accent-decoratif" descr=""/>
          <p:cNvSpPr/>
          <p:nvPr/>
        </p:nvSpPr>
        <p:spPr>
          <a:xfrm>
            <a:off x="475488" y="2103120"/>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2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a:t>
            </a:r>
            <a:endParaRPr lang="fr-FR" dirty="0"/>
          </a:p>
        </p:txBody>
      </p:sp>
      <p:sp>
        <p:nvSpPr>
          <p:cNvPr id="9" name="DSFR-box"/>
          <p:cNvSpPr/>
          <p:nvPr/>
        </p:nvSpPr>
        <p:spPr>
          <a:xfrm>
            <a:off x="548640" y="2103120"/>
            <a:ext cx="5390388" cy="316062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926183"/>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La créativité et l'UX seront dégradées »</a:t>
            </a:r>
          </a:p>
        </p:txBody>
      </p:sp>
      <p:sp>
        <p:nvSpPr>
          <p:cNvPr id="14" name="DSFR-box"/>
          <p:cNvSpPr/>
          <p:nvPr/>
        </p:nvSpPr>
        <p:spPr>
          <a:xfrm>
            <a:off x="6313931" y="2103120"/>
            <a:ext cx="5390388" cy="316062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566263"/>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L'accessibilité n'impose pas un design archaïque, austère ou sans inspiration</a:t>
            </a:r>
          </a:p>
          <a:p>
            <a:pPr algn="l">
              <a:lnSpc>
                <a:spcPct val="115000"/>
              </a:lnSpc>
            </a:pPr>
            <a:r>
              <a:rPr sz="1400" lang="fr-FR">
                <a:solidFill>
                  <a:srgbClr val="161616"/>
                </a:solidFill>
                <a:latin typeface="Marianne"/>
              </a:rPr>
              <a:t>• </a:t>
            </a:r>
            <a:r>
              <a:rPr sz="1400" b="0" lang="fr-FR">
                <a:solidFill>
                  <a:srgbClr val="161616"/>
                </a:solidFill>
                <a:latin typeface="Marianne"/>
              </a:rPr>
              <a:t>Les contraintes sont des leviers de créativité, pas des freins</a:t>
            </a:r>
          </a:p>
          <a:p>
            <a:pPr algn="l">
              <a:lnSpc>
                <a:spcPct val="115000"/>
              </a:lnSpc>
            </a:pPr>
            <a:r>
              <a:rPr sz="1400" lang="fr-FR">
                <a:solidFill>
                  <a:srgbClr val="161616"/>
                </a:solidFill>
                <a:latin typeface="Marianne"/>
              </a:rPr>
              <a:t>• </a:t>
            </a:r>
            <a:r>
              <a:rPr sz="1400" b="0" lang="fr-FR">
                <a:solidFill>
                  <a:srgbClr val="161616"/>
                </a:solidFill>
                <a:latin typeface="Marianne"/>
              </a:rPr>
              <a:t>Les interfaces les plus accessibles sont souvent les plus claires et élégantes</a:t>
            </a:r>
          </a:p>
          <a:p>
            <a:pPr algn="l">
              <a:lnSpc>
                <a:spcPct val="115000"/>
              </a:lnSpc>
            </a:pPr>
            <a:r>
              <a:rPr sz="1400" lang="fr-FR">
                <a:solidFill>
                  <a:srgbClr val="161616"/>
                </a:solidFill>
                <a:latin typeface="Marianne"/>
              </a:rPr>
              <a:t>• </a:t>
            </a:r>
            <a:r>
              <a:rPr sz="1400" b="0" lang="fr-FR">
                <a:solidFill>
                  <a:srgbClr val="161616"/>
                </a:solidFill>
                <a:latin typeface="Marianne"/>
              </a:rPr>
              <a:t>Exemple : le DSFR (Design System de l'État) est à la fois accessible et soigné</a:t>
            </a:r>
          </a:p>
        </p:txBody>
      </p:sp>
      <p:pic>
        <p:nvPicPr>
          <p:cNvPr id="17" name="DSFR-qrcode" descr="QR code : https://ideance.net/blog/4602/idees-recues-a11y"/>
          <p:cNvPicPr>
            <a:picLocks noChangeAspect="1"/>
          </p:cNvPicPr>
          <p:nvPr/>
        </p:nvPicPr>
        <p:blipFill>
          <a:blip r:embed="rId2"/>
          <a:stretch>
            <a:fillRect/>
          </a:stretch>
        </p:blipFill>
        <p:spPr>
          <a:xfrm>
            <a:off x="6240779" y="5358384"/>
            <a:ext cx="868680" cy="868680"/>
          </a:xfrm>
          <a:prstGeom prst="rect">
            <a:avLst/>
          </a:prstGeom>
        </p:spPr>
      </p:pic>
      <p:sp>
        <p:nvSpPr>
          <p:cNvPr id="18" name="DSFR-qrcode-cta"/>
          <p:cNvSpPr txBox="1"/>
          <p:nvPr/>
        </p:nvSpPr>
        <p:spPr>
          <a:xfrm>
            <a:off x="7237475" y="54315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7241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8" name="DSFR-accent-decoratif" descr=""/>
          <p:cNvSpPr/>
          <p:nvPr/>
        </p:nvSpPr>
        <p:spPr>
          <a:xfrm>
            <a:off x="475488"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3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a:t>
            </a:r>
            <a:endParaRPr lang="fr-FR" dirty="0"/>
          </a:p>
        </p:txBody>
      </p:sp>
      <p:sp>
        <p:nvSpPr>
          <p:cNvPr id="9" name="DSFR-box"/>
          <p:cNvSpPr/>
          <p:nvPr/>
        </p:nvSpPr>
        <p:spPr>
          <a:xfrm>
            <a:off x="548640" y="2103120"/>
            <a:ext cx="5390388" cy="316062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926183"/>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C'est juste du contraste et des images décrites »</a:t>
            </a:r>
          </a:p>
        </p:txBody>
      </p:sp>
      <p:sp>
        <p:nvSpPr>
          <p:cNvPr id="14" name="DSFR-box"/>
          <p:cNvSpPr/>
          <p:nvPr/>
        </p:nvSpPr>
        <p:spPr>
          <a:xfrm>
            <a:off x="6313931" y="2103120"/>
            <a:ext cx="5390388" cy="316062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566263"/>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Le contraste et les textes alternatifs ne sont que 2 exigences sur des centaines</a:t>
            </a:r>
          </a:p>
          <a:p>
            <a:pPr algn="l">
              <a:lnSpc>
                <a:spcPct val="115000"/>
              </a:lnSpc>
            </a:pPr>
            <a:r>
              <a:rPr sz="1400" lang="fr-FR">
                <a:solidFill>
                  <a:srgbClr val="161616"/>
                </a:solidFill>
                <a:latin typeface="Marianne"/>
              </a:rPr>
              <a:t>• </a:t>
            </a:r>
            <a:r>
              <a:rPr sz="1400" b="0" lang="fr-FR">
                <a:solidFill>
                  <a:srgbClr val="161616"/>
                </a:solidFill>
                <a:latin typeface="Marianne"/>
              </a:rPr>
              <a:t>Le RGAA compte 106 critères, les WCAG 2.1 en comptent 78</a:t>
            </a:r>
          </a:p>
          <a:p>
            <a:pPr algn="l">
              <a:lnSpc>
                <a:spcPct val="115000"/>
              </a:lnSpc>
            </a:pPr>
            <a:r>
              <a:rPr sz="1400" lang="fr-FR">
                <a:solidFill>
                  <a:srgbClr val="161616"/>
                </a:solidFill>
                <a:latin typeface="Marianne"/>
              </a:rPr>
              <a:t>• </a:t>
            </a:r>
            <a:r>
              <a:rPr sz="1400" b="0" lang="fr-FR">
                <a:solidFill>
                  <a:srgbClr val="161616"/>
                </a:solidFill>
                <a:latin typeface="Marianne"/>
              </a:rPr>
              <a:t>Titres, liens, tableaux, formulaires, langue, ordre de lecture ... autant de dimensions</a:t>
            </a:r>
          </a:p>
          <a:p>
            <a:pPr algn="l">
              <a:lnSpc>
                <a:spcPct val="115000"/>
              </a:lnSpc>
            </a:pPr>
            <a:r>
              <a:rPr sz="1400" lang="fr-FR">
                <a:solidFill>
                  <a:srgbClr val="161616"/>
                </a:solidFill>
                <a:latin typeface="Marianne"/>
              </a:rPr>
              <a:t>• </a:t>
            </a:r>
            <a:r>
              <a:rPr sz="1400" b="0" lang="fr-FR">
                <a:solidFill>
                  <a:srgbClr val="161616"/>
                </a:solidFill>
                <a:latin typeface="Marianne"/>
              </a:rPr>
              <a:t>L'accessibilité touche toute la chaîne : rédaction, mise en forme, export, publication</a:t>
            </a:r>
          </a:p>
        </p:txBody>
      </p:sp>
      <p:pic>
        <p:nvPicPr>
          <p:cNvPr id="17" name="DSFR-qrcode" descr="QR code : https://ideance.net/blog/4602/idees-recues-a11y"/>
          <p:cNvPicPr>
            <a:picLocks noChangeAspect="1"/>
          </p:cNvPicPr>
          <p:nvPr/>
        </p:nvPicPr>
        <p:blipFill>
          <a:blip r:embed="rId2"/>
          <a:stretch>
            <a:fillRect/>
          </a:stretch>
        </p:blipFill>
        <p:spPr>
          <a:xfrm>
            <a:off x="6240779" y="5358384"/>
            <a:ext cx="868680" cy="868680"/>
          </a:xfrm>
          <a:prstGeom prst="rect">
            <a:avLst/>
          </a:prstGeom>
        </p:spPr>
      </p:pic>
      <p:sp>
        <p:nvSpPr>
          <p:cNvPr id="18" name="DSFR-qrcode-cta"/>
          <p:cNvSpPr txBox="1"/>
          <p:nvPr/>
        </p:nvSpPr>
        <p:spPr>
          <a:xfrm>
            <a:off x="7237475" y="54315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7241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4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a:t>
            </a:r>
            <a:endParaRPr lang="fr-FR" dirty="0"/>
          </a:p>
        </p:txBody>
      </p:sp>
      <p:sp>
        <p:nvSpPr>
          <p:cNvPr id="9" name="DSFR-box"/>
          <p:cNvSpPr/>
          <p:nvPr/>
        </p:nvSpPr>
        <p:spPr>
          <a:xfrm>
            <a:off x="548640" y="2103120"/>
            <a:ext cx="5390388" cy="316062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926183"/>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Ce n'est pas de mon ressort »</a:t>
            </a:r>
          </a:p>
        </p:txBody>
      </p:sp>
      <p:sp>
        <p:nvSpPr>
          <p:cNvPr id="14" name="DSFR-box"/>
          <p:cNvSpPr/>
          <p:nvPr/>
        </p:nvSpPr>
        <p:spPr>
          <a:xfrm>
            <a:off x="6313931" y="2103120"/>
            <a:ext cx="5390388" cy="316062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566263"/>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L'accessibilité ne peut pas être portée par une seule équipe ou une seule personne</a:t>
            </a:r>
          </a:p>
          <a:p>
            <a:pPr algn="l">
              <a:lnSpc>
                <a:spcPct val="115000"/>
              </a:lnSpc>
            </a:pPr>
            <a:r>
              <a:rPr sz="1400" lang="fr-FR">
                <a:solidFill>
                  <a:srgbClr val="161616"/>
                </a:solidFill>
                <a:latin typeface="Marianne"/>
              </a:rPr>
              <a:t>• </a:t>
            </a:r>
            <a:r>
              <a:rPr sz="1400" b="0" lang="fr-FR">
                <a:solidFill>
                  <a:srgbClr val="161616"/>
                </a:solidFill>
                <a:latin typeface="Marianne"/>
              </a:rPr>
              <a:t>Elle implique tous les producteurs de contenu : rédacteurs, communicants, designers ...</a:t>
            </a:r>
          </a:p>
          <a:p>
            <a:pPr algn="l">
              <a:lnSpc>
                <a:spcPct val="115000"/>
              </a:lnSpc>
            </a:pPr>
            <a:r>
              <a:rPr sz="1400" lang="fr-FR">
                <a:solidFill>
                  <a:srgbClr val="161616"/>
                </a:solidFill>
                <a:latin typeface="Marianne"/>
              </a:rPr>
              <a:t>• </a:t>
            </a:r>
            <a:r>
              <a:rPr sz="1400" b="0" lang="fr-FR">
                <a:solidFill>
                  <a:srgbClr val="161616"/>
                </a:solidFill>
                <a:latin typeface="Marianne"/>
              </a:rPr>
              <a:t>Chaque document Word, chaque image publiée engage une responsabilité</a:t>
            </a:r>
          </a:p>
          <a:p>
            <a:pPr algn="l">
              <a:lnSpc>
                <a:spcPct val="115000"/>
              </a:lnSpc>
            </a:pPr>
            <a:r>
              <a:rPr sz="1400" lang="fr-FR">
                <a:solidFill>
                  <a:srgbClr val="161616"/>
                </a:solidFill>
                <a:latin typeface="Marianne"/>
              </a:rPr>
              <a:t>• </a:t>
            </a:r>
            <a:r>
              <a:rPr sz="1400" b="0" lang="fr-FR">
                <a:solidFill>
                  <a:srgbClr val="161616"/>
                </a:solidFill>
                <a:latin typeface="Marianne"/>
              </a:rPr>
              <a:t>La loi de 2005 et la directive européenne 2016/2102 s'appliquent à tous les agents publics</a:t>
            </a:r>
          </a:p>
        </p:txBody>
      </p:sp>
      <p:pic>
        <p:nvPicPr>
          <p:cNvPr id="17" name="DSFR-qrcode" descr="QR code : https://ideance.net/blog/4602/idees-recues-a11y"/>
          <p:cNvPicPr>
            <a:picLocks noChangeAspect="1"/>
          </p:cNvPicPr>
          <p:nvPr/>
        </p:nvPicPr>
        <p:blipFill>
          <a:blip r:embed="rId2"/>
          <a:stretch>
            <a:fillRect/>
          </a:stretch>
        </p:blipFill>
        <p:spPr>
          <a:xfrm>
            <a:off x="6240779" y="5358384"/>
            <a:ext cx="868680" cy="868680"/>
          </a:xfrm>
          <a:prstGeom prst="rect">
            <a:avLst/>
          </a:prstGeom>
        </p:spPr>
      </p:pic>
      <p:sp>
        <p:nvSpPr>
          <p:cNvPr id="18" name="DSFR-qrcode-cta"/>
          <p:cNvSpPr txBox="1"/>
          <p:nvPr/>
        </p:nvSpPr>
        <p:spPr>
          <a:xfrm>
            <a:off x="7237475" y="54315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7241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16062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5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a:t>
            </a:r>
            <a:endParaRPr lang="fr-FR" dirty="0"/>
          </a:p>
        </p:txBody>
      </p:sp>
      <p:sp>
        <p:nvSpPr>
          <p:cNvPr id="9" name="DSFR-box"/>
          <p:cNvSpPr/>
          <p:nvPr/>
        </p:nvSpPr>
        <p:spPr>
          <a:xfrm>
            <a:off x="548640" y="2103120"/>
            <a:ext cx="5390388" cy="29397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7053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Ça coûte trop cher »</a:t>
            </a:r>
          </a:p>
        </p:txBody>
      </p:sp>
      <p:sp>
        <p:nvSpPr>
          <p:cNvPr id="14" name="DSFR-box"/>
          <p:cNvSpPr/>
          <p:nvPr/>
        </p:nvSpPr>
        <p:spPr>
          <a:xfrm>
            <a:off x="6313931" y="2103120"/>
            <a:ext cx="5390388" cy="29397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345436"/>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Oui - si l'accessibilité est traitée comme un ajustement en fin de projet</a:t>
            </a:r>
          </a:p>
          <a:p>
            <a:pPr algn="l">
              <a:lnSpc>
                <a:spcPct val="115000"/>
              </a:lnSpc>
            </a:pPr>
            <a:r>
              <a:rPr sz="1400" lang="fr-FR">
                <a:solidFill>
                  <a:srgbClr val="161616"/>
                </a:solidFill>
                <a:latin typeface="Marianne"/>
              </a:rPr>
              <a:t>• </a:t>
            </a:r>
            <a:r>
              <a:rPr sz="1400" b="0" lang="fr-FR">
                <a:solidFill>
                  <a:srgbClr val="161616"/>
                </a:solidFill>
                <a:latin typeface="Marianne"/>
              </a:rPr>
              <a:t>Non - si elle est intégrée dès la conception (approche « shift left »)</a:t>
            </a:r>
          </a:p>
          <a:p>
            <a:pPr algn="l">
              <a:lnSpc>
                <a:spcPct val="115000"/>
              </a:lnSpc>
            </a:pPr>
            <a:r>
              <a:rPr sz="1400" lang="fr-FR">
                <a:solidFill>
                  <a:srgbClr val="161616"/>
                </a:solidFill>
                <a:latin typeface="Marianne"/>
              </a:rPr>
              <a:t>• </a:t>
            </a:r>
            <a:r>
              <a:rPr sz="1400" b="0" lang="fr-FR">
                <a:solidFill>
                  <a:srgbClr val="161616"/>
                </a:solidFill>
                <a:latin typeface="Marianne"/>
              </a:rPr>
              <a:t>Corriger un document Word après publication : 10 fois plus cher que le faire d'emblée</a:t>
            </a:r>
          </a:p>
          <a:p>
            <a:pPr algn="l">
              <a:lnSpc>
                <a:spcPct val="115000"/>
              </a:lnSpc>
            </a:pPr>
            <a:r>
              <a:rPr sz="1400" lang="fr-FR">
                <a:solidFill>
                  <a:srgbClr val="161616"/>
                </a:solidFill>
                <a:latin typeface="Marianne"/>
              </a:rPr>
              <a:t>• </a:t>
            </a:r>
            <a:r>
              <a:rPr sz="1400" b="0" lang="fr-FR">
                <a:solidFill>
                  <a:srgbClr val="161616"/>
                </a:solidFill>
                <a:latin typeface="Marianne"/>
              </a:rPr>
              <a:t>Les réflexes appris aujourd'hui ne coûtent rien : juste un changement d'habitude</a:t>
            </a:r>
          </a:p>
        </p:txBody>
      </p:sp>
      <p:pic>
        <p:nvPicPr>
          <p:cNvPr id="17" name="DSFR-qrcode" descr="QR code : https://ideance.net/blog/4602/idees-recues-a11y"/>
          <p:cNvPicPr>
            <a:picLocks noChangeAspect="1"/>
          </p:cNvPicPr>
          <p:nvPr/>
        </p:nvPicPr>
        <p:blipFill>
          <a:blip r:embed="rId2"/>
          <a:stretch>
            <a:fillRect/>
          </a:stretch>
        </p:blipFill>
        <p:spPr>
          <a:xfrm>
            <a:off x="6240779" y="5129784"/>
            <a:ext cx="868680" cy="868680"/>
          </a:xfrm>
          <a:prstGeom prst="rect">
            <a:avLst/>
          </a:prstGeom>
        </p:spPr>
      </p:pic>
      <p:sp>
        <p:nvSpPr>
          <p:cNvPr id="18" name="DSFR-qrcode-cta"/>
          <p:cNvSpPr txBox="1"/>
          <p:nvPr/>
        </p:nvSpPr>
        <p:spPr>
          <a:xfrm>
            <a:off x="7237475" y="52029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4955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5</a:t>
            </a:r>
          </a:p>
        </p:txBody>
      </p:sp>
      <p:sp>
        <p:nvSpPr>
          <p:cNvPr id="8" name="DSFR-accent-decoratif" descr=""/>
          <p:cNvSpPr/>
          <p:nvPr/>
        </p:nvSpPr>
        <p:spPr>
          <a:xfrm>
            <a:off x="475488"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Idée reçue 6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14</a:t>
            </a:r>
            <a:endParaRPr lang="fr-FR" dirty="0"/>
          </a:p>
        </p:txBody>
      </p:sp>
      <p:sp>
        <p:nvSpPr>
          <p:cNvPr id="9" name="DSFR-box"/>
          <p:cNvSpPr/>
          <p:nvPr/>
        </p:nvSpPr>
        <p:spPr>
          <a:xfrm>
            <a:off x="548640" y="2103120"/>
            <a:ext cx="5390388" cy="29397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Idée reçue</a:t>
            </a:r>
          </a:p>
        </p:txBody>
      </p:sp>
      <p:sp>
        <p:nvSpPr>
          <p:cNvPr id="12" name="DSFR-card-contenu"/>
          <p:cNvSpPr txBox="1"/>
          <p:nvPr/>
        </p:nvSpPr>
        <p:spPr>
          <a:xfrm>
            <a:off x="704088" y="3246120"/>
            <a:ext cx="5097779" cy="17053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 On s'en occupe à la fin ! »</a:t>
            </a:r>
          </a:p>
        </p:txBody>
      </p:sp>
      <p:sp>
        <p:nvSpPr>
          <p:cNvPr id="14" name="DSFR-box"/>
          <p:cNvSpPr/>
          <p:nvPr/>
        </p:nvSpPr>
        <p:spPr>
          <a:xfrm>
            <a:off x="6313931" y="2103120"/>
            <a:ext cx="5390388" cy="29397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Décryptage</a:t>
            </a:r>
          </a:p>
        </p:txBody>
      </p:sp>
      <p:sp>
        <p:nvSpPr>
          <p:cNvPr id="16" name="DSFR-callout-body"/>
          <p:cNvSpPr txBox="1"/>
          <p:nvPr/>
        </p:nvSpPr>
        <p:spPr>
          <a:xfrm>
            <a:off x="6469379" y="2606039"/>
            <a:ext cx="5143500" cy="2345436"/>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Prise en compte tardive = grosses corrections après coup</a:t>
            </a:r>
          </a:p>
          <a:p>
            <a:pPr algn="l">
              <a:lnSpc>
                <a:spcPct val="115000"/>
              </a:lnSpc>
            </a:pPr>
            <a:r>
              <a:rPr sz="1400" lang="fr-FR">
                <a:solidFill>
                  <a:srgbClr val="161616"/>
                </a:solidFill>
                <a:latin typeface="Marianne"/>
              </a:rPr>
              <a:t>• </a:t>
            </a:r>
            <a:r>
              <a:rPr sz="1400" b="0" lang="fr-FR">
                <a:solidFill>
                  <a:srgbClr val="161616"/>
                </a:solidFill>
                <a:latin typeface="Marianne"/>
              </a:rPr>
              <a:t>Cela pèse sur l'efficacité des projets et génère de la frustration pour les équipes</a:t>
            </a:r>
          </a:p>
          <a:p>
            <a:pPr algn="l">
              <a:lnSpc>
                <a:spcPct val="115000"/>
              </a:lnSpc>
            </a:pPr>
            <a:r>
              <a:rPr sz="1400" lang="fr-FR">
                <a:solidFill>
                  <a:srgbClr val="161616"/>
                </a:solidFill>
                <a:latin typeface="Marianne"/>
              </a:rPr>
              <a:t>• </a:t>
            </a:r>
            <a:r>
              <a:rPr sz="1400" b="0" lang="fr-FR">
                <a:solidFill>
                  <a:srgbClr val="161616"/>
                </a:solidFill>
                <a:latin typeface="Marianne"/>
              </a:rPr>
              <a:t>L'accessibilité « à la fin » est souvent l'accessibilité jamais faite</a:t>
            </a:r>
          </a:p>
          <a:p>
            <a:pPr algn="l">
              <a:lnSpc>
                <a:spcPct val="115000"/>
              </a:lnSpc>
            </a:pPr>
            <a:r>
              <a:rPr sz="1400" lang="fr-FR">
                <a:solidFill>
                  <a:srgbClr val="161616"/>
                </a:solidFill>
                <a:latin typeface="Marianne"/>
              </a:rPr>
              <a:t>• </a:t>
            </a:r>
            <a:r>
              <a:rPr sz="1400" b="0" lang="fr-FR">
                <a:solidFill>
                  <a:srgbClr val="161616"/>
                </a:solidFill>
                <a:latin typeface="Marianne"/>
              </a:rPr>
              <a:t>Solution : intégrer les bons réflexes à chaque étape, pas les accumuler en sprint final</a:t>
            </a:r>
          </a:p>
        </p:txBody>
      </p:sp>
      <p:pic>
        <p:nvPicPr>
          <p:cNvPr id="17" name="DSFR-qrcode" descr="QR code : https://ideance.net/blog/4602/idees-recues-a11y"/>
          <p:cNvPicPr>
            <a:picLocks noChangeAspect="1"/>
          </p:cNvPicPr>
          <p:nvPr/>
        </p:nvPicPr>
        <p:blipFill>
          <a:blip r:embed="rId2"/>
          <a:stretch>
            <a:fillRect/>
          </a:stretch>
        </p:blipFill>
        <p:spPr>
          <a:xfrm>
            <a:off x="6240779" y="5129784"/>
            <a:ext cx="868680" cy="868680"/>
          </a:xfrm>
          <a:prstGeom prst="rect">
            <a:avLst/>
          </a:prstGeom>
        </p:spPr>
      </p:pic>
      <p:sp>
        <p:nvSpPr>
          <p:cNvPr id="18" name="DSFR-qrcode-cta"/>
          <p:cNvSpPr txBox="1"/>
          <p:nvPr/>
        </p:nvSpPr>
        <p:spPr>
          <a:xfrm>
            <a:off x="7237475" y="5202936"/>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19" name="DSFR-qrcode-url-visible"/>
          <p:cNvSpPr txBox="1"/>
          <p:nvPr/>
        </p:nvSpPr>
        <p:spPr>
          <a:xfrm>
            <a:off x="7237475" y="5495544"/>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6</a:t>
            </a:r>
          </a:p>
        </p:txBody>
      </p:sp>
      <p:sp>
        <p:nvSpPr>
          <p:cNvPr id="8" name="DSFR-accent-decoratif" descr=""/>
          <p:cNvSpPr/>
          <p:nvPr/>
        </p:nvSpPr>
        <p:spPr>
          <a:xfrm>
            <a:off x="475488"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1. L'accessibilité numérique, c'est 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L'accessibilité numérique, c'est quoi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Q1 - C'est quoi | Définition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16</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Rendre possible l'accès à l'information et aux fonctionnalités numériques aux personnes en situation de handicap, quels que soient leur matériel, leur logiciel ou leur situation.</a:t>
            </a:r>
          </a:p>
        </p:txBody>
      </p:sp>
      <p:sp>
        <p:nvSpPr>
          <p:cNvPr id="12" name="DSFR-box"/>
          <p:cNvSpPr/>
          <p:nvPr/>
        </p:nvSpPr>
        <p:spPr>
          <a:xfrm>
            <a:off x="548640" y="3302812"/>
            <a:ext cx="5390388" cy="211409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Tous les contenus sont concernés</a:t>
            </a:r>
          </a:p>
        </p:txBody>
      </p:sp>
      <p:sp>
        <p:nvSpPr>
          <p:cNvPr id="14" name="DSFR-callout-body"/>
          <p:cNvSpPr txBox="1"/>
          <p:nvPr/>
        </p:nvSpPr>
        <p:spPr>
          <a:xfrm>
            <a:off x="704088" y="380573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Sites web, applications, newsletters, courriels</a:t>
            </a:r>
          </a:p>
          <a:p>
            <a:pPr algn="l">
              <a:lnSpc>
                <a:spcPct val="120000"/>
              </a:lnSpc>
            </a:pPr>
            <a:r>
              <a:rPr sz="1400" lang="fr-FR">
                <a:solidFill>
                  <a:srgbClr val="161616"/>
                </a:solidFill>
                <a:latin typeface="Marianne"/>
              </a:rPr>
              <a:t>• </a:t>
            </a:r>
            <a:r>
              <a:rPr sz="1400" b="0" lang="fr-FR">
                <a:solidFill>
                  <a:srgbClr val="161616"/>
                </a:solidFill>
                <a:latin typeface="Marianne"/>
              </a:rPr>
              <a:t>Vidéos, podcasts, visuels animés</a:t>
            </a:r>
          </a:p>
          <a:p>
            <a:pPr algn="l">
              <a:lnSpc>
                <a:spcPct val="120000"/>
              </a:lnSpc>
            </a:pPr>
            <a:r>
              <a:rPr sz="1400" lang="fr-FR">
                <a:solidFill>
                  <a:srgbClr val="161616"/>
                </a:solidFill>
                <a:latin typeface="Marianne"/>
              </a:rPr>
              <a:t>• </a:t>
            </a:r>
            <a:r>
              <a:rPr sz="1400" b="0" lang="fr-FR">
                <a:solidFill>
                  <a:srgbClr val="161616"/>
                </a:solidFill>
                <a:latin typeface="Marianne"/>
              </a:rPr>
              <a:t>Documents bureautiques, PDF, formulaires</a:t>
            </a:r>
          </a:p>
          <a:p>
            <a:pPr algn="l">
              <a:lnSpc>
                <a:spcPct val="120000"/>
              </a:lnSpc>
            </a:pPr>
            <a:r>
              <a:rPr sz="1400" lang="fr-FR">
                <a:solidFill>
                  <a:srgbClr val="161616"/>
                </a:solidFill>
                <a:latin typeface="Marianne"/>
              </a:rPr>
              <a:t>• </a:t>
            </a:r>
            <a:r>
              <a:rPr sz="1400" b="0" lang="fr-FR">
                <a:solidFill>
                  <a:srgbClr val="161616"/>
                </a:solidFill>
                <a:latin typeface="Marianne"/>
              </a:rPr>
              <a:t>Affiches, flyers, plans, QR codes</a:t>
            </a:r>
          </a:p>
        </p:txBody>
      </p:sp>
      <p:sp>
        <p:nvSpPr>
          <p:cNvPr id="16" name="DSFR-box"/>
          <p:cNvSpPr/>
          <p:nvPr/>
        </p:nvSpPr>
        <p:spPr>
          <a:xfrm>
            <a:off x="6313931" y="3302812"/>
            <a:ext cx="5390388" cy="273497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Utile pour tous, indispensable pour certains</a:t>
            </a:r>
          </a:p>
        </p:txBody>
      </p:sp>
      <p:sp>
        <p:nvSpPr>
          <p:cNvPr id="18" name="DSFR-callout-body"/>
          <p:cNvSpPr txBox="1"/>
          <p:nvPr/>
        </p:nvSpPr>
        <p:spPr>
          <a:xfrm>
            <a:off x="6469379" y="3965752"/>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Handicap permanent, temporaire ou situationnel</a:t>
            </a:r>
          </a:p>
          <a:p>
            <a:pPr algn="l">
              <a:lnSpc>
                <a:spcPct val="120000"/>
              </a:lnSpc>
            </a:pPr>
            <a:r>
              <a:rPr sz="1400" lang="fr-FR">
                <a:solidFill>
                  <a:srgbClr val="161616"/>
                </a:solidFill>
                <a:latin typeface="Marianne"/>
              </a:rPr>
              <a:t>• </a:t>
            </a:r>
            <a:r>
              <a:rPr sz="1400" b="0" lang="fr-FR">
                <a:solidFill>
                  <a:srgbClr val="161616"/>
                </a:solidFill>
                <a:latin typeface="Marianne"/>
              </a:rPr>
              <a:t>Matériel ancien, connexion lente, écran petit</a:t>
            </a:r>
          </a:p>
          <a:p>
            <a:pPr algn="l">
              <a:lnSpc>
                <a:spcPct val="120000"/>
              </a:lnSpc>
            </a:pPr>
            <a:r>
              <a:rPr sz="1400" lang="fr-FR">
                <a:solidFill>
                  <a:srgbClr val="161616"/>
                </a:solidFill>
                <a:latin typeface="Marianne"/>
              </a:rPr>
              <a:t>• </a:t>
            </a:r>
            <a:r>
              <a:rPr sz="1400" b="0" lang="fr-FR">
                <a:solidFill>
                  <a:srgbClr val="161616"/>
                </a:solidFill>
                <a:latin typeface="Marianne"/>
              </a:rPr>
              <a:t>Environnement bruyant, lumineux ou contraint</a:t>
            </a:r>
          </a:p>
          <a:p>
            <a:pPr algn="l">
              <a:lnSpc>
                <a:spcPct val="120000"/>
              </a:lnSpc>
            </a:pPr>
            <a:r>
              <a:rPr sz="1400" lang="fr-FR">
                <a:solidFill>
                  <a:srgbClr val="161616"/>
                </a:solidFill>
                <a:latin typeface="Marianne"/>
              </a:rPr>
              <a:t>• </a:t>
            </a:r>
            <a:r>
              <a:rPr sz="1400" b="0" lang="fr-FR">
                <a:solidFill>
                  <a:srgbClr val="161616"/>
                </a:solidFill>
                <a:latin typeface="Marianne"/>
              </a:rPr>
              <a:t>Langue étrangère, faible littératie numérique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27349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Point sur l'accessibilité numérique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Q1 - C'est quoi | WCAG et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17</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numérique permet d'accéder à l'information quel que soit le support, l'outil ou la situation.</a:t>
            </a:r>
          </a:p>
        </p:txBody>
      </p:sp>
      <p:sp>
        <p:nvSpPr>
          <p:cNvPr id="11" name="DSFR-kpi-pave"/>
          <p:cNvSpPr/>
          <p:nvPr/>
        </p:nvSpPr>
        <p:spPr>
          <a:xfrm>
            <a:off x="475488"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WCAG</a:t>
            </a:r>
          </a:p>
        </p:txBody>
      </p:sp>
      <p:sp>
        <p:nvSpPr>
          <p:cNvPr id="12" name="DSFR-kpi-label"/>
          <p:cNvSpPr txBox="1"/>
          <p:nvPr/>
        </p:nvSpPr>
        <p:spPr>
          <a:xfrm>
            <a:off x="475488"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référence internationale
du W3C.</a:t>
            </a:r>
          </a:p>
        </p:txBody>
      </p:sp>
      <p:sp>
        <p:nvSpPr>
          <p:cNvPr id="13" name="DSFR-kpi-pave"/>
          <p:cNvSpPr/>
          <p:nvPr/>
        </p:nvSpPr>
        <p:spPr>
          <a:xfrm>
            <a:off x="4319015"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RGAA</a:t>
            </a:r>
          </a:p>
        </p:txBody>
      </p:sp>
      <p:sp>
        <p:nvSpPr>
          <p:cNvPr id="14" name="DSFR-kpi-label"/>
          <p:cNvSpPr txBox="1"/>
          <p:nvPr/>
        </p:nvSpPr>
        <p:spPr>
          <a:xfrm>
            <a:off x="4319015"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référentiel français
publié par la DINUM.</a:t>
            </a:r>
          </a:p>
        </p:txBody>
      </p:sp>
      <p:sp>
        <p:nvSpPr>
          <p:cNvPr id="15" name="DSFR-kpi-pave"/>
          <p:cNvSpPr/>
          <p:nvPr/>
        </p:nvSpPr>
        <p:spPr>
          <a:xfrm>
            <a:off x="8162543"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106</a:t>
            </a:r>
          </a:p>
        </p:txBody>
      </p:sp>
      <p:sp>
        <p:nvSpPr>
          <p:cNvPr id="16" name="DSFR-kpi-label"/>
          <p:cNvSpPr txBox="1"/>
          <p:nvPr/>
        </p:nvSpPr>
        <p:spPr>
          <a:xfrm>
            <a:off x="8162543"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critères regroupés
en 13 thématiques.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4 principes pour tout retenir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Q1 - C'est quoi | 4 principes WCAG</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18</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WCAG reposent sur 4 principes. Chacun se résume en une question à poser devant tout contenu.</a:t>
            </a:r>
          </a:p>
        </p:txBody>
      </p:sp>
      <p:sp>
        <p:nvSpPr>
          <p:cNvPr id="12" name="DSFR-box"/>
          <p:cNvSpPr/>
          <p:nvPr/>
        </p:nvSpPr>
        <p:spPr>
          <a:xfrm>
            <a:off x="548640"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Percevoir</a:t>
            </a:r>
          </a:p>
        </p:txBody>
      </p:sp>
      <p:sp>
        <p:nvSpPr>
          <p:cNvPr id="15" name="DSFR-card-contenu"/>
          <p:cNvSpPr txBox="1"/>
          <p:nvPr/>
        </p:nvSpPr>
        <p:spPr>
          <a:xfrm>
            <a:off x="704088"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L'information reste-t-elle disponible si je ne vois pas ou n'entends pas ?</a:t>
            </a:r>
          </a:p>
        </p:txBody>
      </p:sp>
      <p:sp>
        <p:nvSpPr>
          <p:cNvPr id="17" name="DSFR-box"/>
          <p:cNvSpPr/>
          <p:nvPr/>
        </p:nvSpPr>
        <p:spPr>
          <a:xfrm>
            <a:off x="3431286"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86734"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Utiliser</a:t>
            </a:r>
          </a:p>
        </p:txBody>
      </p:sp>
      <p:sp>
        <p:nvSpPr>
          <p:cNvPr id="20" name="DSFR-card-contenu"/>
          <p:cNvSpPr txBox="1"/>
          <p:nvPr/>
        </p:nvSpPr>
        <p:spPr>
          <a:xfrm>
            <a:off x="3586734"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Puis-je naviguer et agir sans souris, sans geste impose ?</a:t>
            </a:r>
          </a:p>
        </p:txBody>
      </p:sp>
      <p:sp>
        <p:nvSpPr>
          <p:cNvPr id="22" name="DSFR-box"/>
          <p:cNvSpPr/>
          <p:nvPr/>
        </p:nvSpPr>
        <p:spPr>
          <a:xfrm>
            <a:off x="6313931"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69379"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Comprendre</a:t>
            </a:r>
          </a:p>
        </p:txBody>
      </p:sp>
      <p:sp>
        <p:nvSpPr>
          <p:cNvPr id="25" name="DSFR-card-contenu"/>
          <p:cNvSpPr txBox="1"/>
          <p:nvPr/>
        </p:nvSpPr>
        <p:spPr>
          <a:xfrm>
            <a:off x="6469379"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Les mots, formulaires et comportements sont-ils previsibles ?</a:t>
            </a:r>
          </a:p>
        </p:txBody>
      </p:sp>
      <p:sp>
        <p:nvSpPr>
          <p:cNvPr id="27" name="DSFR-box"/>
          <p:cNvSpPr/>
          <p:nvPr/>
        </p:nvSpPr>
        <p:spPr>
          <a:xfrm>
            <a:off x="9196578" y="3616452"/>
            <a:ext cx="2507741" cy="25603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52026" y="4302252"/>
            <a:ext cx="2215134" cy="411480"/>
          </a:xfrm>
          <a:prstGeom prst="rect">
            <a:avLst/>
          </a:prstGeom>
          <a:noFill/>
        </p:spPr>
        <p:txBody>
          <a:bodyPr wrap="square" anchor="t" lIns="73152" rIns="73152">
            <a:spAutoFit/>
          </a:bodyPr>
          <a:lstStyle/>
          <a:p>
            <a:pPr algn="l">
              <a:lnSpc>
                <a:spcPct val="125000"/>
              </a:lnSpc>
            </a:pPr>
            <a:r>
              <a:rPr sz="1300" b="1" i="0" lang="fr-FR">
                <a:solidFill>
                  <a:srgbClr val="000091"/>
                </a:solidFill>
                <a:latin typeface="Marianne"/>
              </a:rPr>
              <a:t>Compatible</a:t>
            </a:r>
          </a:p>
        </p:txBody>
      </p:sp>
      <p:sp>
        <p:nvSpPr>
          <p:cNvPr id="30" name="DSFR-card-contenu"/>
          <p:cNvSpPr txBox="1"/>
          <p:nvPr/>
        </p:nvSpPr>
        <p:spPr>
          <a:xfrm>
            <a:off x="9352026" y="4759452"/>
            <a:ext cx="2215134" cy="1325879"/>
          </a:xfrm>
          <a:prstGeom prst="rect">
            <a:avLst/>
          </a:prstGeom>
          <a:noFill/>
        </p:spPr>
        <p:txBody>
          <a:bodyPr wrap="square" anchor="t" lIns="73152" rIns="73152">
            <a:spAutoFit/>
          </a:bodyPr>
          <a:lstStyle/>
          <a:p>
            <a:pPr algn="l">
              <a:lnSpc>
                <a:spcPct val="125000"/>
              </a:lnSpc>
            </a:pPr>
            <a:r>
              <a:rPr sz="1300" b="0" i="0" lang="fr-FR">
                <a:solidFill>
                  <a:srgbClr val="161616"/>
                </a:solidFill>
                <a:latin typeface="Marianne"/>
              </a:rPr>
              <a:t>Les aides techniques peuvent-elles interpreter l'interface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13" name="DSFR-card-numero"/>
          <p:cNvSpPr/>
          <p:nvPr/>
        </p:nvSpPr>
        <p:spPr>
          <a:xfrm>
            <a:off x="704088"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8" name="DSFR-card-numero"/>
          <p:cNvSpPr/>
          <p:nvPr/>
        </p:nvSpPr>
        <p:spPr>
          <a:xfrm>
            <a:off x="3586734"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3" name="DSFR-card-numero"/>
          <p:cNvSpPr/>
          <p:nvPr/>
        </p:nvSpPr>
        <p:spPr>
          <a:xfrm>
            <a:off x="6469379"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8" name="DSFR-card-numero"/>
          <p:cNvSpPr/>
          <p:nvPr/>
        </p:nvSpPr>
        <p:spPr>
          <a:xfrm>
            <a:off x="9352026"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58134"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123426" y="3616452"/>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19</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2. L'accessibilité numérique, c'est pour qui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C'est pour qui ? 4 familles de besoins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4 familles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type de handicap implique des besoins concrets que vos contenus doivent prendre en compte.</a:t>
            </a:r>
          </a:p>
        </p:txBody>
      </p:sp>
      <p:sp>
        <p:nvSpPr>
          <p:cNvPr id="12" name="DSFR-box"/>
          <p:cNvSpPr/>
          <p:nvPr/>
        </p:nvSpPr>
        <p:spPr>
          <a:xfrm>
            <a:off x="548640"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Visuelle</a:t>
            </a:r>
          </a:p>
        </p:txBody>
      </p:sp>
      <p:sp>
        <p:nvSpPr>
          <p:cNvPr id="14" name="DSFR-card-contenu"/>
          <p:cNvSpPr txBox="1"/>
          <p:nvPr/>
        </p:nvSpPr>
        <p:spPr>
          <a:xfrm>
            <a:off x="704088"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Lecteur d'écran, loupe, contraste</a:t>
            </a:r>
          </a:p>
          <a:p>
            <a:pPr algn="l">
              <a:lnSpc>
                <a:spcPct val="150000"/>
              </a:lnSpc>
            </a:pPr>
            <a:r>
              <a:rPr sz="1400" lang="fr-FR">
                <a:solidFill>
                  <a:srgbClr val="161616"/>
                </a:solidFill>
                <a:latin typeface="Marianne"/>
              </a:rPr>
              <a:t>• </a:t>
            </a:r>
            <a:r>
              <a:rPr sz="1400" b="0" lang="fr-FR">
                <a:solidFill>
                  <a:srgbClr val="161616"/>
                </a:solidFill>
                <a:latin typeface="Marianne"/>
              </a:rPr>
              <a:t>Alt text, structure, couleurs</a:t>
            </a:r>
          </a:p>
        </p:txBody>
      </p:sp>
      <p:sp>
        <p:nvSpPr>
          <p:cNvPr id="16" name="DSFR-box"/>
          <p:cNvSpPr/>
          <p:nvPr/>
        </p:nvSpPr>
        <p:spPr>
          <a:xfrm>
            <a:off x="3431286"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3586734"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Auditive</a:t>
            </a:r>
          </a:p>
        </p:txBody>
      </p:sp>
      <p:sp>
        <p:nvSpPr>
          <p:cNvPr id="18" name="DSFR-card-contenu"/>
          <p:cNvSpPr txBox="1"/>
          <p:nvPr/>
        </p:nvSpPr>
        <p:spPr>
          <a:xfrm>
            <a:off x="3586734"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Sous-titres, transcription, LSF</a:t>
            </a:r>
          </a:p>
          <a:p>
            <a:pPr algn="l">
              <a:lnSpc>
                <a:spcPct val="150000"/>
              </a:lnSpc>
            </a:pPr>
            <a:r>
              <a:rPr sz="1400" lang="fr-FR">
                <a:solidFill>
                  <a:srgbClr val="161616"/>
                </a:solidFill>
                <a:latin typeface="Marianne"/>
              </a:rPr>
              <a:t>• </a:t>
            </a:r>
            <a:r>
              <a:rPr sz="1400" b="0" lang="fr-FR">
                <a:solidFill>
                  <a:srgbClr val="161616"/>
                </a:solidFill>
                <a:latin typeface="Marianne"/>
              </a:rPr>
              <a:t>Alertes visuelles, pas que sonores</a:t>
            </a:r>
          </a:p>
        </p:txBody>
      </p:sp>
      <p:sp>
        <p:nvSpPr>
          <p:cNvPr id="20" name="DSFR-box"/>
          <p:cNvSpPr/>
          <p:nvPr/>
        </p:nvSpPr>
        <p:spPr>
          <a:xfrm>
            <a:off x="6313931"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6469379"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Motrice</a:t>
            </a:r>
          </a:p>
        </p:txBody>
      </p:sp>
      <p:sp>
        <p:nvSpPr>
          <p:cNvPr id="22" name="DSFR-card-contenu"/>
          <p:cNvSpPr txBox="1"/>
          <p:nvPr/>
        </p:nvSpPr>
        <p:spPr>
          <a:xfrm>
            <a:off x="6469379"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Clavier seul, contacteur, voix</a:t>
            </a:r>
          </a:p>
          <a:p>
            <a:pPr algn="l">
              <a:lnSpc>
                <a:spcPct val="150000"/>
              </a:lnSpc>
            </a:pPr>
            <a:r>
              <a:rPr sz="1400" lang="fr-FR">
                <a:solidFill>
                  <a:srgbClr val="161616"/>
                </a:solidFill>
                <a:latin typeface="Marianne"/>
              </a:rPr>
              <a:t>• </a:t>
            </a:r>
            <a:r>
              <a:rPr sz="1400" b="0" lang="fr-FR">
                <a:solidFill>
                  <a:srgbClr val="161616"/>
                </a:solidFill>
                <a:latin typeface="Marianne"/>
              </a:rPr>
              <a:t>Cibles larges, pas de geste imposé</a:t>
            </a:r>
          </a:p>
        </p:txBody>
      </p:sp>
      <p:sp>
        <p:nvSpPr>
          <p:cNvPr id="24" name="DSFR-box"/>
          <p:cNvSpPr/>
          <p:nvPr/>
        </p:nvSpPr>
        <p:spPr>
          <a:xfrm>
            <a:off x="9196578" y="2994660"/>
            <a:ext cx="2507741"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card-titre"/>
          <p:cNvSpPr txBox="1"/>
          <p:nvPr/>
        </p:nvSpPr>
        <p:spPr>
          <a:xfrm>
            <a:off x="9352026"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Cognitive</a:t>
            </a:r>
          </a:p>
        </p:txBody>
      </p:sp>
      <p:sp>
        <p:nvSpPr>
          <p:cNvPr id="26" name="DSFR-card-contenu"/>
          <p:cNvSpPr txBox="1"/>
          <p:nvPr/>
        </p:nvSpPr>
        <p:spPr>
          <a:xfrm>
            <a:off x="9352026" y="3589020"/>
            <a:ext cx="2215134"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Langage clair, mise en page aérée</a:t>
            </a:r>
          </a:p>
          <a:p>
            <a:pPr algn="l">
              <a:lnSpc>
                <a:spcPct val="150000"/>
              </a:lnSpc>
            </a:pPr>
            <a:r>
              <a:rPr sz="1400" lang="fr-FR">
                <a:solidFill>
                  <a:srgbClr val="161616"/>
                </a:solidFill>
                <a:latin typeface="Marianne"/>
              </a:rPr>
              <a:t>• </a:t>
            </a:r>
            <a:r>
              <a:rPr sz="1400" b="0" lang="fr-FR">
                <a:solidFill>
                  <a:srgbClr val="161616"/>
                </a:solidFill>
                <a:latin typeface="Marianne"/>
              </a:rPr>
              <a:t>Navigation prévisible, pas de surcharge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3358134"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6240779"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9123426" y="299466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Comprendre pour mieux agir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Comprendre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21</a:t>
            </a:r>
            <a:endParaRPr lang="fr-FR" dirty="0"/>
          </a:p>
        </p:txBody>
      </p:sp>
      <p:sp>
        <p:nvSpPr>
          <p:cNvPr id="9" name="DSFR-box"/>
          <p:cNvSpPr/>
          <p:nvPr/>
        </p:nvSpPr>
        <p:spPr>
          <a:xfrm>
            <a:off x="548640" y="2103120"/>
            <a:ext cx="5390388" cy="18173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5097779" cy="163449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Il ne s’agit pas de se mettre à la place d’une personne handicapée, mais d’observer ce que nos choix numériques peuvent faciliter ou bloquer.</a:t>
            </a:r>
          </a:p>
        </p:txBody>
      </p:sp>
      <p:sp>
        <p:nvSpPr>
          <p:cNvPr id="12" name="DSFR-box"/>
          <p:cNvSpPr/>
          <p:nvPr/>
        </p:nvSpPr>
        <p:spPr>
          <a:xfrm>
            <a:off x="548640" y="4148632"/>
            <a:ext cx="5390388"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424007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Testez les simulations suivantes</a:t>
            </a:r>
          </a:p>
        </p:txBody>
      </p:sp>
      <p:sp>
        <p:nvSpPr>
          <p:cNvPr id="14" name="DSFR-callout-body"/>
          <p:cNvSpPr txBox="1"/>
          <p:nvPr/>
        </p:nvSpPr>
        <p:spPr>
          <a:xfrm>
            <a:off x="704088" y="4651552"/>
            <a:ext cx="5143500"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Daltonisme</a:t>
            </a:r>
          </a:p>
          <a:p>
            <a:pPr algn="l">
              <a:lnSpc>
                <a:spcPct val="125000"/>
              </a:lnSpc>
            </a:pPr>
            <a:r>
              <a:rPr sz="1400" lang="fr-FR">
                <a:solidFill>
                  <a:srgbClr val="161616"/>
                </a:solidFill>
                <a:latin typeface="Marianne"/>
              </a:rPr>
              <a:t>• </a:t>
            </a:r>
            <a:r>
              <a:rPr sz="1400" b="0" lang="fr-FR">
                <a:solidFill>
                  <a:srgbClr val="161616"/>
                </a:solidFill>
                <a:latin typeface="Marianne"/>
              </a:rPr>
              <a:t>Malvoyance</a:t>
            </a:r>
          </a:p>
          <a:p>
            <a:pPr algn="l">
              <a:lnSpc>
                <a:spcPct val="125000"/>
              </a:lnSpc>
            </a:pPr>
            <a:r>
              <a:rPr sz="1400" lang="fr-FR">
                <a:solidFill>
                  <a:srgbClr val="161616"/>
                </a:solidFill>
                <a:latin typeface="Marianne"/>
              </a:rPr>
              <a:t>• </a:t>
            </a:r>
            <a:r>
              <a:rPr sz="1400" b="0" lang="fr-FR">
                <a:solidFill>
                  <a:srgbClr val="161616"/>
                </a:solidFill>
                <a:latin typeface="Marianne"/>
              </a:rPr>
              <a:t>Cécité</a:t>
            </a:r>
          </a:p>
          <a:p>
            <a:pPr algn="l">
              <a:lnSpc>
                <a:spcPct val="125000"/>
              </a:lnSpc>
            </a:pPr>
            <a:r>
              <a:rPr sz="1400" lang="fr-FR">
                <a:solidFill>
                  <a:srgbClr val="161616"/>
                </a:solidFill>
                <a:latin typeface="Marianne"/>
              </a:rPr>
              <a:t>• </a:t>
            </a:r>
            <a:r>
              <a:rPr sz="1400" b="0" lang="fr-FR">
                <a:solidFill>
                  <a:srgbClr val="161616"/>
                </a:solidFill>
                <a:latin typeface="Marianne"/>
              </a:rPr>
              <a:t>Surdité</a:t>
            </a:r>
          </a:p>
          <a:p>
            <a:pPr algn="l">
              <a:lnSpc>
                <a:spcPct val="125000"/>
              </a:lnSpc>
            </a:pPr>
            <a:r>
              <a:rPr sz="1400" lang="fr-FR">
                <a:solidFill>
                  <a:srgbClr val="161616"/>
                </a:solidFill>
                <a:latin typeface="Marianne"/>
              </a:rPr>
              <a:t>• </a:t>
            </a:r>
            <a:r>
              <a:rPr sz="1400" b="0" lang="fr-FR">
                <a:solidFill>
                  <a:srgbClr val="161616"/>
                </a:solidFill>
                <a:latin typeface="Marianne"/>
              </a:rPr>
              <a:t>Handicap moteur</a:t>
            </a:r>
          </a:p>
        </p:txBody>
      </p:sp>
      <p:pic>
        <p:nvPicPr>
          <p:cNvPr id="15" name="Picture 14" descr="Page d'accueil du site Atalan - L'accessibilité numérique, et si nous agissions ?"/>
          <p:cNvPicPr>
            <a:picLocks noChangeAspect="1"/>
          </p:cNvPicPr>
          <p:nvPr/>
        </p:nvPicPr>
        <p:blipFill>
          <a:blip r:embed="rId2"/>
          <a:stretch>
            <a:fillRect/>
          </a:stretch>
        </p:blipFill>
        <p:spPr>
          <a:xfrm>
            <a:off x="6240779" y="2103120"/>
            <a:ext cx="5463540" cy="3017520"/>
          </a:xfrm>
          <a:prstGeom prst="rect">
            <a:avLst/>
          </a:prstGeom>
        </p:spPr>
      </p:pic>
      <p:sp>
        <p:nvSpPr>
          <p:cNvPr id="16" name="DSFR-texte-libre"/>
          <p:cNvSpPr txBox="1"/>
          <p:nvPr/>
        </p:nvSpPr>
        <p:spPr>
          <a:xfrm>
            <a:off x="6240779" y="5303520"/>
            <a:ext cx="5463540" cy="457200"/>
          </a:xfrm>
          <a:prstGeom prst="rect">
            <a:avLst/>
          </a:prstGeom>
          <a:noFill/>
        </p:spPr>
        <p:txBody>
          <a:bodyPr wrap="square">
            <a:spAutoFit/>
          </a:bodyPr>
          <a:lstStyle/>
          <a:p>
            <a:pPr algn="ctr"/>
            <a:r>
              <a:rPr sz="1400" b="1" u="sng" lang="fr-FR">
                <a:hlinkClick r:id="rId3"/>
              </a:rPr>
              <a:t>L'accessibilité numérique, et si nous agissions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2103120"/>
            <a:ext cx="73152" cy="18173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4148632"/>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Amir, charge d'études - cécité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Amir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22</a:t>
            </a:r>
            <a:endParaRPr lang="fr-FR" dirty="0"/>
          </a:p>
        </p:txBody>
      </p:sp>
      <p:pic>
        <p:nvPicPr>
          <p:cNvPr id="8" name="Picture 7" descr="Portrait illustratif - Amir"/>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300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1135684"/>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Alternative textuelle sur chaque image (attribut alt)</a:t>
            </a:r>
          </a:p>
          <a:p>
            <a:pPr algn="l">
              <a:lnSpc>
                <a:spcPct val="130000"/>
              </a:lnSpc>
            </a:pPr>
            <a:r>
              <a:rPr sz="1400" lang="fr-FR">
                <a:solidFill>
                  <a:srgbClr val="161616"/>
                </a:solidFill>
                <a:latin typeface="Marianne"/>
              </a:rPr>
              <a:t>• </a:t>
            </a:r>
            <a:r>
              <a:rPr sz="1400" b="0" lang="fr-FR">
                <a:solidFill>
                  <a:srgbClr val="161616"/>
                </a:solidFill>
                <a:latin typeface="Marianne"/>
              </a:rPr>
              <a:t>Structure logique du document (titres, listes, tableaux)</a:t>
            </a:r>
          </a:p>
          <a:p>
            <a:pPr algn="l">
              <a:lnSpc>
                <a:spcPct val="130000"/>
              </a:lnSpc>
            </a:pPr>
            <a:r>
              <a:rPr sz="1400" lang="fr-FR">
                <a:solidFill>
                  <a:srgbClr val="161616"/>
                </a:solidFill>
                <a:latin typeface="Marianne"/>
              </a:rPr>
              <a:t>• </a:t>
            </a:r>
            <a:r>
              <a:rPr sz="1400" b="0" lang="fr-FR">
                <a:solidFill>
                  <a:srgbClr val="161616"/>
                </a:solidFill>
                <a:latin typeface="Marianne"/>
              </a:rPr>
              <a:t>Liens explicites (pas de « cliquez ici »)</a:t>
            </a:r>
          </a:p>
          <a:p>
            <a:pPr algn="l">
              <a:lnSpc>
                <a:spcPct val="130000"/>
              </a:lnSpc>
            </a:pPr>
            <a:r>
              <a:rPr sz="1400" lang="fr-FR">
                <a:solidFill>
                  <a:srgbClr val="161616"/>
                </a:solidFill>
                <a:latin typeface="Marianne"/>
              </a:rPr>
              <a:t>• </a:t>
            </a:r>
            <a:r>
              <a:rPr sz="1400" b="0" lang="fr-FR">
                <a:solidFill>
                  <a:srgbClr val="161616"/>
                </a:solidFill>
                <a:latin typeface="Marianne"/>
              </a:rPr>
              <a:t>Formulaires avec des étiquettes associées aux champs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Marianne"/>
              </a:rPr>
              <a:t>Percevoir + Compatible</a:t>
            </a:r>
          </a:p>
        </p:txBody>
      </p:sp>
      <p:pic>
        <p:nvPicPr>
          <p:cNvPr id="16" name="Picture 15" descr="Lecteurs d'écran"/>
          <p:cNvPicPr>
            <a:picLocks noChangeAspect="1"/>
          </p:cNvPicPr>
          <p:nvPr/>
        </p:nvPicPr>
        <p:blipFill>
          <a:blip r:embed="rId3"/>
          <a:stretch>
            <a:fillRect/>
          </a:stretch>
        </p:blipFill>
        <p:spPr>
          <a:xfrm>
            <a:off x="1918000" y="4617720"/>
            <a:ext cx="656751" cy="1201020"/>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Lecteurs d'écran</a:t>
            </a:r>
          </a:p>
        </p:txBody>
      </p:sp>
      <p:pic>
        <p:nvPicPr>
          <p:cNvPr id="18" name="Picture 17" descr="Plage braille"/>
          <p:cNvPicPr>
            <a:picLocks noChangeAspect="1"/>
          </p:cNvPicPr>
          <p:nvPr/>
        </p:nvPicPr>
        <p:blipFill>
          <a:blip r:embed="rId4"/>
          <a:stretch>
            <a:fillRect/>
          </a:stretch>
        </p:blipFill>
        <p:spPr>
          <a:xfrm>
            <a:off x="5065145" y="4617720"/>
            <a:ext cx="2049517" cy="1358919"/>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Plage braille</a:t>
            </a:r>
          </a:p>
        </p:txBody>
      </p:sp>
      <p:pic>
        <p:nvPicPr>
          <p:cNvPr id="20" name="Picture 19" descr="Synthèse vocale"/>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Synthèse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2761488" y="2011680"/>
            <a:ext cx="73152" cy="17300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Anaïs, gestionnaire RH - malvoyance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Anaïs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23</a:t>
            </a:r>
            <a:endParaRPr lang="fr-FR" dirty="0"/>
          </a:p>
        </p:txBody>
      </p:sp>
      <p:pic>
        <p:nvPicPr>
          <p:cNvPr id="8" name="Picture 7" descr="Portrait illustratif - Anaïs"/>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8041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886053"/>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Agrandir la taille des textes et des interfaces</a:t>
            </a:r>
          </a:p>
          <a:p>
            <a:pPr algn="l">
              <a:lnSpc>
                <a:spcPct val="130000"/>
              </a:lnSpc>
            </a:pPr>
            <a:r>
              <a:rPr sz="1400" lang="fr-FR">
                <a:solidFill>
                  <a:srgbClr val="161616"/>
                </a:solidFill>
                <a:latin typeface="Marianne"/>
              </a:rPr>
              <a:t>• </a:t>
            </a:r>
            <a:r>
              <a:rPr sz="1400" b="0" lang="fr-FR">
                <a:solidFill>
                  <a:srgbClr val="161616"/>
                </a:solidFill>
                <a:latin typeface="Marianne"/>
              </a:rPr>
              <a:t>Contraste suffisant entre texte et fond (ratio 4.5:1 minimum)</a:t>
            </a:r>
          </a:p>
          <a:p>
            <a:pPr algn="l">
              <a:lnSpc>
                <a:spcPct val="130000"/>
              </a:lnSpc>
            </a:pPr>
            <a:r>
              <a:rPr sz="1400" lang="fr-FR">
                <a:solidFill>
                  <a:srgbClr val="161616"/>
                </a:solidFill>
                <a:latin typeface="Marianne"/>
              </a:rPr>
              <a:t>• </a:t>
            </a:r>
            <a:r>
              <a:rPr sz="1400" b="0" lang="fr-FR">
                <a:solidFill>
                  <a:srgbClr val="161616"/>
                </a:solidFill>
                <a:latin typeface="Marianne"/>
              </a:rPr>
              <a:t>Pouvoir naviguer sans dépendre uniquement des couleurs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Marianne"/>
              </a:rPr>
              <a:t>Percevoir</a:t>
            </a:r>
          </a:p>
        </p:txBody>
      </p:sp>
      <p:pic>
        <p:nvPicPr>
          <p:cNvPr id="16" name="Picture 15" descr="Clavier adapté"/>
          <p:cNvPicPr>
            <a:picLocks noChangeAspect="1"/>
          </p:cNvPicPr>
          <p:nvPr/>
        </p:nvPicPr>
        <p:blipFill>
          <a:blip r:embed="rId3"/>
          <a:stretch>
            <a:fillRect/>
          </a:stretch>
        </p:blipFill>
        <p:spPr>
          <a:xfrm>
            <a:off x="1453895" y="4617720"/>
            <a:ext cx="1584960" cy="1187938"/>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Clavier adapté</a:t>
            </a:r>
          </a:p>
        </p:txBody>
      </p:sp>
      <p:pic>
        <p:nvPicPr>
          <p:cNvPr id="18" name="Picture 17" descr="Clavier guide-doigts"/>
          <p:cNvPicPr>
            <a:picLocks noChangeAspect="1"/>
          </p:cNvPicPr>
          <p:nvPr/>
        </p:nvPicPr>
        <p:blipFill>
          <a:blip r:embed="rId4"/>
          <a:stretch>
            <a:fillRect/>
          </a:stretch>
        </p:blipFill>
        <p:spPr>
          <a:xfrm>
            <a:off x="4410455" y="4617720"/>
            <a:ext cx="3358895" cy="1057920"/>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Clavier guide-doigts</a:t>
            </a:r>
          </a:p>
        </p:txBody>
      </p:sp>
      <p:pic>
        <p:nvPicPr>
          <p:cNvPr id="20" name="Picture 19" descr="Paramètres accessibilité"/>
          <p:cNvPicPr>
            <a:picLocks noChangeAspect="1"/>
          </p:cNvPicPr>
          <p:nvPr/>
        </p:nvPicPr>
        <p:blipFill>
          <a:blip r:embed="rId5"/>
          <a:stretch>
            <a:fillRect/>
          </a:stretch>
        </p:blipFill>
        <p:spPr>
          <a:xfrm>
            <a:off x="8668836" y="4617720"/>
            <a:ext cx="2529191" cy="748185"/>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Paramètres accessibilité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2761488" y="2011680"/>
            <a:ext cx="73152" cy="148041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Justine, chargée de communication - surdité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Justine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24</a:t>
            </a:r>
            <a:endParaRPr lang="fr-FR" dirty="0"/>
          </a:p>
        </p:txBody>
      </p:sp>
      <p:pic>
        <p:nvPicPr>
          <p:cNvPr id="8" name="Picture 7" descr="Portrait illustratif - Justin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8041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886053"/>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Sous-titres sur toutes les vidéos et contenus audio</a:t>
            </a:r>
          </a:p>
          <a:p>
            <a:pPr algn="l">
              <a:lnSpc>
                <a:spcPct val="130000"/>
              </a:lnSpc>
            </a:pPr>
            <a:r>
              <a:rPr sz="1400" lang="fr-FR">
                <a:solidFill>
                  <a:srgbClr val="161616"/>
                </a:solidFill>
                <a:latin typeface="Marianne"/>
              </a:rPr>
              <a:t>• </a:t>
            </a:r>
            <a:r>
              <a:rPr sz="1400" b="0" lang="fr-FR">
                <a:solidFill>
                  <a:srgbClr val="161616"/>
                </a:solidFill>
                <a:latin typeface="Marianne"/>
              </a:rPr>
              <a:t>Transcription textuelle des podcasts et webinaires</a:t>
            </a:r>
          </a:p>
          <a:p>
            <a:pPr algn="l">
              <a:lnSpc>
                <a:spcPct val="130000"/>
              </a:lnSpc>
            </a:pPr>
            <a:r>
              <a:rPr sz="1400" lang="fr-FR">
                <a:solidFill>
                  <a:srgbClr val="161616"/>
                </a:solidFill>
                <a:latin typeface="Marianne"/>
              </a:rPr>
              <a:t>• </a:t>
            </a:r>
            <a:r>
              <a:rPr sz="1400" b="0" lang="fr-FR">
                <a:solidFill>
                  <a:srgbClr val="161616"/>
                </a:solidFill>
                <a:latin typeface="Marianne"/>
              </a:rPr>
              <a:t>Alertes visuelles, jamais uniquement sonores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Marianne"/>
              </a:rPr>
              <a:t>Percevoir</a:t>
            </a:r>
          </a:p>
        </p:txBody>
      </p:sp>
      <p:pic>
        <p:nvPicPr>
          <p:cNvPr id="16" name="Picture 15" descr="Transcription"/>
          <p:cNvPicPr>
            <a:picLocks noChangeAspect="1"/>
          </p:cNvPicPr>
          <p:nvPr/>
        </p:nvPicPr>
        <p:blipFill>
          <a:blip r:embed="rId3"/>
          <a:stretch>
            <a:fillRect/>
          </a:stretch>
        </p:blipFill>
        <p:spPr>
          <a:xfrm>
            <a:off x="1652016" y="4617720"/>
            <a:ext cx="1188720" cy="1188720"/>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Transcription</a:t>
            </a:r>
          </a:p>
        </p:txBody>
      </p:sp>
      <p:pic>
        <p:nvPicPr>
          <p:cNvPr id="18" name="Picture 17" descr="Vérificateur accessibilité"/>
          <p:cNvPicPr>
            <a:picLocks noChangeAspect="1"/>
          </p:cNvPicPr>
          <p:nvPr/>
        </p:nvPicPr>
        <p:blipFill>
          <a:blip r:embed="rId4"/>
          <a:stretch>
            <a:fillRect/>
          </a:stretch>
        </p:blipFill>
        <p:spPr>
          <a:xfrm>
            <a:off x="4825308" y="4617720"/>
            <a:ext cx="2529191" cy="428442"/>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Vérificateur accessibilité</a:t>
            </a:r>
          </a:p>
        </p:txBody>
      </p:sp>
      <p:pic>
        <p:nvPicPr>
          <p:cNvPr id="20" name="Picture 19" descr="NVDA - lecteur d'écran"/>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NVDA - lecteur d'écran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2761488" y="2011680"/>
            <a:ext cx="73152" cy="148041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Agathe, chargée de mission - déficience motrice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Agathe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25</a:t>
            </a:r>
            <a:endParaRPr lang="fr-FR" dirty="0"/>
          </a:p>
        </p:txBody>
      </p:sp>
      <p:pic>
        <p:nvPicPr>
          <p:cNvPr id="8" name="Picture 7" descr="Portrait illustratif - Agath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80413"/>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886053"/>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Naviguer sans souris, avec des contacteurs adaptés</a:t>
            </a:r>
          </a:p>
          <a:p>
            <a:pPr algn="l">
              <a:lnSpc>
                <a:spcPct val="130000"/>
              </a:lnSpc>
            </a:pPr>
            <a:r>
              <a:rPr sz="1400" lang="fr-FR">
                <a:solidFill>
                  <a:srgbClr val="161616"/>
                </a:solidFill>
                <a:latin typeface="Marianne"/>
              </a:rPr>
              <a:t>• </a:t>
            </a:r>
            <a:r>
              <a:rPr sz="1400" b="0" lang="fr-FR">
                <a:solidFill>
                  <a:srgbClr val="161616"/>
                </a:solidFill>
                <a:latin typeface="Marianne"/>
              </a:rPr>
              <a:t>Cibles cliquables suffisamment larges (44 x 44 px minimum)</a:t>
            </a:r>
          </a:p>
          <a:p>
            <a:pPr algn="l">
              <a:lnSpc>
                <a:spcPct val="130000"/>
              </a:lnSpc>
            </a:pPr>
            <a:r>
              <a:rPr sz="1400" lang="fr-FR">
                <a:solidFill>
                  <a:srgbClr val="161616"/>
                </a:solidFill>
                <a:latin typeface="Marianne"/>
              </a:rPr>
              <a:t>• </a:t>
            </a:r>
            <a:r>
              <a:rPr sz="1400" b="0" lang="fr-FR">
                <a:solidFill>
                  <a:srgbClr val="161616"/>
                </a:solidFill>
                <a:latin typeface="Marianne"/>
              </a:rPr>
              <a:t>Convertisseur texte-parole pour communiquer plus facilement</a:t>
            </a:r>
          </a:p>
        </p:txBody>
      </p:sp>
      <p:sp>
        <p:nvSpPr>
          <p:cNvPr id="14" name="DSFR-box"/>
          <p:cNvSpPr/>
          <p:nvPr/>
        </p:nvSpPr>
        <p:spPr>
          <a:xfrm>
            <a:off x="548640" y="4041648"/>
            <a:ext cx="1938528" cy="41148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Marianne"/>
              </a:rPr>
              <a:t>Utiliser</a:t>
            </a:r>
          </a:p>
        </p:txBody>
      </p:sp>
      <p:pic>
        <p:nvPicPr>
          <p:cNvPr id="16" name="Picture 15" descr="Souris trackball"/>
          <p:cNvPicPr>
            <a:picLocks noChangeAspect="1"/>
          </p:cNvPicPr>
          <p:nvPr/>
        </p:nvPicPr>
        <p:blipFill>
          <a:blip r:embed="rId3"/>
          <a:stretch>
            <a:fillRect/>
          </a:stretch>
        </p:blipFill>
        <p:spPr>
          <a:xfrm>
            <a:off x="1453895" y="4617720"/>
            <a:ext cx="1584960" cy="1186806"/>
          </a:xfrm>
          <a:prstGeom prst="rect">
            <a:avLst/>
          </a:prstGeom>
        </p:spPr>
      </p:pic>
      <p:sp>
        <p:nvSpPr>
          <p:cNvPr id="17" name="DSFR-texte-libre"/>
          <p:cNvSpPr txBox="1"/>
          <p:nvPr/>
        </p:nvSpPr>
        <p:spPr>
          <a:xfrm>
            <a:off x="475488"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Souris trackball</a:t>
            </a:r>
          </a:p>
        </p:txBody>
      </p:sp>
      <p:pic>
        <p:nvPicPr>
          <p:cNvPr id="18" name="Picture 17" descr="Plage braille / contacteurs"/>
          <p:cNvPicPr>
            <a:picLocks noChangeAspect="1"/>
          </p:cNvPicPr>
          <p:nvPr/>
        </p:nvPicPr>
        <p:blipFill>
          <a:blip r:embed="rId4"/>
          <a:stretch>
            <a:fillRect/>
          </a:stretch>
        </p:blipFill>
        <p:spPr>
          <a:xfrm>
            <a:off x="4989237" y="4617720"/>
            <a:ext cx="2201333" cy="1189311"/>
          </a:xfrm>
          <a:prstGeom prst="rect">
            <a:avLst/>
          </a:prstGeom>
        </p:spPr>
      </p:pic>
      <p:sp>
        <p:nvSpPr>
          <p:cNvPr id="19" name="DSFR-texte-libre"/>
          <p:cNvSpPr txBox="1"/>
          <p:nvPr/>
        </p:nvSpPr>
        <p:spPr>
          <a:xfrm>
            <a:off x="4319015"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Plage braille / contacteurs</a:t>
            </a:r>
          </a:p>
        </p:txBody>
      </p:sp>
      <p:pic>
        <p:nvPicPr>
          <p:cNvPr id="20" name="Picture 19" descr="Contrôle vocal"/>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2004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Contrôle vocal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2761488" y="2011680"/>
            <a:ext cx="73152" cy="1480413"/>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Anatole, lyceen - handicap cognitif</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Anatole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26</a:t>
            </a:r>
            <a:endParaRPr lang="fr-FR" dirty="0"/>
          </a:p>
        </p:txBody>
      </p:sp>
      <p:pic>
        <p:nvPicPr>
          <p:cNvPr id="8" name="Picture 7" descr="Portrait illustratif - Anatol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300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1135684"/>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Phrases courtes et simples, sans double négation</a:t>
            </a:r>
          </a:p>
          <a:p>
            <a:pPr algn="l">
              <a:lnSpc>
                <a:spcPct val="130000"/>
              </a:lnSpc>
            </a:pPr>
            <a:r>
              <a:rPr sz="1400" lang="fr-FR">
                <a:solidFill>
                  <a:srgbClr val="161616"/>
                </a:solidFill>
                <a:latin typeface="Marianne"/>
              </a:rPr>
              <a:t>• </a:t>
            </a:r>
            <a:r>
              <a:rPr sz="1400" b="0" lang="fr-FR">
                <a:solidFill>
                  <a:srgbClr val="161616"/>
                </a:solidFill>
                <a:latin typeface="Marianne"/>
              </a:rPr>
              <a:t>Mise en page aérée, une idee par paragraphe</a:t>
            </a:r>
          </a:p>
          <a:p>
            <a:pPr algn="l">
              <a:lnSpc>
                <a:spcPct val="130000"/>
              </a:lnSpc>
            </a:pPr>
            <a:r>
              <a:rPr sz="1400" lang="fr-FR">
                <a:solidFill>
                  <a:srgbClr val="161616"/>
                </a:solidFill>
                <a:latin typeface="Marianne"/>
              </a:rPr>
              <a:t>• </a:t>
            </a:r>
            <a:r>
              <a:rPr sz="1400" b="0" lang="fr-FR">
                <a:solidFill>
                  <a:srgbClr val="161616"/>
                </a:solidFill>
                <a:latin typeface="Marianne"/>
              </a:rPr>
              <a:t>Pictogrammes pour accompagner le texte</a:t>
            </a:r>
          </a:p>
          <a:p>
            <a:pPr algn="l">
              <a:lnSpc>
                <a:spcPct val="130000"/>
              </a:lnSpc>
            </a:pPr>
            <a:r>
              <a:rPr sz="1400" lang="fr-FR">
                <a:solidFill>
                  <a:srgbClr val="161616"/>
                </a:solidFill>
                <a:latin typeface="Marianne"/>
              </a:rPr>
              <a:t>• </a:t>
            </a:r>
            <a:r>
              <a:rPr sz="1400" b="0" lang="fr-FR">
                <a:solidFill>
                  <a:srgbClr val="161616"/>
                </a:solidFill>
                <a:latin typeface="Marianne"/>
              </a:rPr>
              <a:t>Navigation prévisible, sans changements inattendus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Marianne"/>
              </a:rPr>
              <a:t>Comprendre</a:t>
            </a:r>
          </a:p>
        </p:txBody>
      </p:sp>
      <p:sp>
        <p:nvSpPr>
          <p:cNvPr id="17" name="DSFR-box"/>
          <p:cNvSpPr/>
          <p:nvPr/>
        </p:nvSpPr>
        <p:spPr>
          <a:xfrm>
            <a:off x="548640" y="4498848"/>
            <a:ext cx="11155680" cy="165323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59028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Profil</a:t>
            </a:r>
          </a:p>
        </p:txBody>
      </p:sp>
      <p:sp>
        <p:nvSpPr>
          <p:cNvPr id="19" name="DSFR-callout-body"/>
          <p:cNvSpPr txBox="1"/>
          <p:nvPr/>
        </p:nvSpPr>
        <p:spPr>
          <a:xfrm>
            <a:off x="704088" y="5001768"/>
            <a:ext cx="10908792" cy="1058875"/>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Porteur de trisomie 21</a:t>
            </a:r>
          </a:p>
          <a:p>
            <a:pPr algn="l">
              <a:lnSpc>
                <a:spcPct val="120000"/>
              </a:lnSpc>
            </a:pPr>
            <a:r>
              <a:rPr sz="1400" lang="fr-FR">
                <a:solidFill>
                  <a:srgbClr val="161616"/>
                </a:solidFill>
                <a:latin typeface="Marianne"/>
              </a:rPr>
              <a:t>• </a:t>
            </a:r>
            <a:r>
              <a:rPr sz="1400" b="0" lang="fr-FR">
                <a:solidFill>
                  <a:srgbClr val="161616"/>
                </a:solidFill>
                <a:latin typeface="Marianne"/>
              </a:rPr>
              <a:t>Lire lui demande du temps et de la concentration</a:t>
            </a:r>
          </a:p>
          <a:p>
            <a:pPr algn="l">
              <a:lnSpc>
                <a:spcPct val="120000"/>
              </a:lnSpc>
            </a:pPr>
            <a:r>
              <a:rPr sz="1400" lang="fr-FR">
                <a:solidFill>
                  <a:srgbClr val="161616"/>
                </a:solidFill>
                <a:latin typeface="Marianne"/>
              </a:rPr>
              <a:t>• </a:t>
            </a:r>
            <a:r>
              <a:rPr sz="1400" b="0" lang="fr-FR">
                <a:solidFill>
                  <a:srgbClr val="161616"/>
                </a:solidFill>
                <a:latin typeface="Marianne"/>
              </a:rPr>
              <a:t>Il comprend mieux les phrases simples et courtes</a:t>
            </a:r>
          </a:p>
          <a:p>
            <a:pPr algn="l">
              <a:lnSpc>
                <a:spcPct val="120000"/>
              </a:lnSpc>
            </a:pPr>
            <a:r>
              <a:rPr sz="1400" lang="fr-FR">
                <a:solidFill>
                  <a:srgbClr val="161616"/>
                </a:solidFill>
                <a:latin typeface="Marianne"/>
              </a:rPr>
              <a:t>• </a:t>
            </a:r>
            <a:r>
              <a:rPr sz="1400" b="0" lang="fr-FR">
                <a:solidFill>
                  <a:srgbClr val="161616"/>
                </a:solidFill>
                <a:latin typeface="Marianne"/>
              </a:rPr>
              <a:t>Le langage clair et le FALC lui sont indispensables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2761488" y="2011680"/>
            <a:ext cx="73152" cy="17300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98848"/>
            <a:ext cx="73152" cy="165323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Paul, attache de presse - TDAH et dyslexie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Paul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27</a:t>
            </a:r>
            <a:endParaRPr lang="fr-FR" dirty="0"/>
          </a:p>
        </p:txBody>
      </p:sp>
      <p:pic>
        <p:nvPicPr>
          <p:cNvPr id="8" name="Picture 7" descr="Portrait illustratif - Paul"/>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300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Ses besoins au quotidien</a:t>
            </a:r>
          </a:p>
        </p:txBody>
      </p:sp>
      <p:sp>
        <p:nvSpPr>
          <p:cNvPr id="12" name="DSFR-callout-body"/>
          <p:cNvSpPr txBox="1"/>
          <p:nvPr/>
        </p:nvSpPr>
        <p:spPr>
          <a:xfrm>
            <a:off x="2990088" y="2514600"/>
            <a:ext cx="8622792" cy="1135684"/>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Mettre en pause les animations (carrousels, vidéo autoplay)</a:t>
            </a:r>
          </a:p>
          <a:p>
            <a:pPr algn="l">
              <a:lnSpc>
                <a:spcPct val="130000"/>
              </a:lnSpc>
            </a:pPr>
            <a:r>
              <a:rPr sz="1400" lang="fr-FR">
                <a:solidFill>
                  <a:srgbClr val="161616"/>
                </a:solidFill>
                <a:latin typeface="Marianne"/>
              </a:rPr>
              <a:t>• </a:t>
            </a:r>
            <a:r>
              <a:rPr sz="1400" b="0" lang="fr-FR">
                <a:solidFill>
                  <a:srgbClr val="161616"/>
                </a:solidFill>
                <a:latin typeface="Marianne"/>
              </a:rPr>
              <a:t>Textes non justifies, avec un espacement suffisant</a:t>
            </a:r>
          </a:p>
          <a:p>
            <a:pPr algn="l">
              <a:lnSpc>
                <a:spcPct val="130000"/>
              </a:lnSpc>
            </a:pPr>
            <a:r>
              <a:rPr sz="1400" lang="fr-FR">
                <a:solidFill>
                  <a:srgbClr val="161616"/>
                </a:solidFill>
                <a:latin typeface="Marianne"/>
              </a:rPr>
              <a:t>• </a:t>
            </a:r>
            <a:r>
              <a:rPr sz="1400" b="0" lang="fr-FR">
                <a:solidFill>
                  <a:srgbClr val="161616"/>
                </a:solidFill>
                <a:latin typeface="Marianne"/>
              </a:rPr>
              <a:t>Polices lisibles, sans empattement (sans serif)</a:t>
            </a:r>
          </a:p>
          <a:p>
            <a:pPr algn="l">
              <a:lnSpc>
                <a:spcPct val="130000"/>
              </a:lnSpc>
            </a:pPr>
            <a:r>
              <a:rPr sz="1400" lang="fr-FR">
                <a:solidFill>
                  <a:srgbClr val="161616"/>
                </a:solidFill>
                <a:latin typeface="Marianne"/>
              </a:rPr>
              <a:t>• </a:t>
            </a:r>
            <a:r>
              <a:rPr sz="1400" b="0" lang="fr-FR">
                <a:solidFill>
                  <a:srgbClr val="161616"/>
                </a:solidFill>
                <a:latin typeface="Marianne"/>
              </a:rPr>
              <a:t>Mise en page aérée, paragraphes courts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Marianne"/>
              </a:rPr>
              <a:t>Comprendre + Percevoir</a:t>
            </a:r>
          </a:p>
        </p:txBody>
      </p:sp>
      <p:sp>
        <p:nvSpPr>
          <p:cNvPr id="17" name="DSFR-box"/>
          <p:cNvSpPr/>
          <p:nvPr/>
        </p:nvSpPr>
        <p:spPr>
          <a:xfrm>
            <a:off x="548640" y="4572000"/>
            <a:ext cx="11155680" cy="142280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Profil</a:t>
            </a:r>
          </a:p>
        </p:txBody>
      </p:sp>
      <p:sp>
        <p:nvSpPr>
          <p:cNvPr id="19" name="DSFR-callout-body"/>
          <p:cNvSpPr txBox="1"/>
          <p:nvPr/>
        </p:nvSpPr>
        <p:spPr>
          <a:xfrm>
            <a:off x="704088" y="5074920"/>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Consulte quotidiennement des sites d'info pour ses revues de presse</a:t>
            </a:r>
          </a:p>
          <a:p>
            <a:pPr algn="l">
              <a:lnSpc>
                <a:spcPct val="120000"/>
              </a:lnSpc>
            </a:pPr>
            <a:r>
              <a:rPr sz="1400" lang="fr-FR">
                <a:solidFill>
                  <a:srgbClr val="161616"/>
                </a:solidFill>
                <a:latin typeface="Marianne"/>
              </a:rPr>
              <a:t>• </a:t>
            </a:r>
            <a:r>
              <a:rPr sz="1400" b="0" lang="fr-FR">
                <a:solidFill>
                  <a:srgbClr val="161616"/>
                </a:solidFill>
                <a:latin typeface="Marianne"/>
              </a:rPr>
              <a:t>Trouble de l'attention : les animations non contrôlables le déconcentrent</a:t>
            </a:r>
          </a:p>
          <a:p>
            <a:pPr algn="l">
              <a:lnSpc>
                <a:spcPct val="120000"/>
              </a:lnSpc>
            </a:pPr>
            <a:r>
              <a:rPr sz="1400" lang="fr-FR">
                <a:solidFill>
                  <a:srgbClr val="161616"/>
                </a:solidFill>
                <a:latin typeface="Marianne"/>
              </a:rPr>
              <a:t>• </a:t>
            </a:r>
            <a:r>
              <a:rPr sz="1400" b="0" lang="fr-FR">
                <a:solidFill>
                  <a:srgbClr val="161616"/>
                </a:solidFill>
                <a:latin typeface="Marianne"/>
              </a:rPr>
              <a:t>Dyslexie : le texte justifié et les polices a empattement ralentissent sa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2761488" y="2011680"/>
            <a:ext cx="73152" cy="17300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572000"/>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6 profils, 4 questions - votre boussole WCAG</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Synthèse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28</a:t>
            </a:r>
            <a:endParaRPr lang="fr-FR" dirty="0"/>
          </a:p>
        </p:txBody>
      </p:sp>
      <p:graphicFrame>
        <p:nvGraphicFramePr>
          <p:cNvPr id="8" name="Table 7"/>
          <p:cNvGraphicFramePr>
            <a:graphicFrameLocks noGrp="1"/>
          </p:cNvGraphicFramePr>
          <p:nvPr/>
        </p:nvGraphicFramePr>
        <p:xfrm>
          <a:off x="475488" y="2103120"/>
          <a:ext cx="11228832" cy="2880360"/>
        </p:xfrm>
        <a:graphic>
          <a:graphicData uri="http://schemas.openxmlformats.org/drawingml/2006/table">
            <a:tbl>
              <a:tblPr firstRow="1" bandRow="1">
                <a:tableStyleId>{5C22544A-7EE6-4342-B048-85BDC9FD1C3A}</a:tableStyleId>
              </a:tblPr>
              <a:tblGrid>
                <a:gridCol w="2560320"/>
                <a:gridCol w="2377440"/>
                <a:gridCol w="2377440"/>
                <a:gridCol w="2377440"/>
                <a:gridCol w="1536192"/>
              </a:tblGrid>
              <a:tr h="411480">
                <a:tc>
                  <a:txBody>
                    <a:bodyPr wrap="square" anchor="ctr" lIns="73152" rIns="73152"/>
                    <a:lstStyle/>
                    <a:p>
                      <a:pPr algn="l">
                        <a:lnSpc>
                          <a:spcPct val="125000"/>
                        </a:lnSpc>
                      </a:pPr>
                      <a:r>
                        <a:rPr sz="1400" b="1" i="0" lang="fr-FR">
                          <a:solidFill>
                            <a:srgbClr val="FFFFFF"/>
                          </a:solidFill>
                          <a:latin typeface="Marianne"/>
                        </a:rPr>
                        <a:t>Persona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Percevoir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Utiliser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Comprendre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Compatible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Amir (aveugle)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 text, structure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Lecteur d'écran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Anais (malvoyante)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Contrastes, taille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Justine (sourde)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Sous-titres, transcription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Agathe (motrice)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Clavier, cibles 44px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Anatole (cognitif)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FALC, phrases courtes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Paul (TDAH, dyslexie)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Polices lisibles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Pas de justification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Solutions par type de déficience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29</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déficience appelle des solutions et des technologies d'assistance spécifiques.</a:t>
            </a:r>
          </a:p>
        </p:txBody>
      </p:sp>
      <p:graphicFrame>
        <p:nvGraphicFramePr>
          <p:cNvPr id="11" name="Table 10"/>
          <p:cNvGraphicFramePr>
            <a:graphicFrameLocks noGrp="1"/>
          </p:cNvGraphicFramePr>
          <p:nvPr/>
        </p:nvGraphicFramePr>
        <p:xfrm>
          <a:off x="475488" y="276606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Aveugle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Malvoyant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au visuel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partielle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Remplacer par audio et tactile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Grossissement, contrastes, luminosité</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Plage braille, synthèse vocale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Loupe logicielle, synthèse vocale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631436"/>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Sourd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Malentendant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à l'audio</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Inaccessibilité partielle à l'audio</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Remplacer par le visuel (sous-titres, LSF)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Renforcement du signal auditif, visuel</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Sous-titrage, velotypie, LSF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Appareil auditif, boucle magnétique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Solutions par type de déficience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30</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déficiences motrices et cognitives impliquent des réponses différentes, mais un principe commun : simplifier l'interaction.</a:t>
            </a:r>
          </a:p>
        </p:txBody>
      </p:sp>
      <p:graphicFrame>
        <p:nvGraphicFramePr>
          <p:cNvPr id="11" name="Table 10"/>
          <p:cNvGraphicFramePr>
            <a:graphicFrameLocks noGrp="1"/>
          </p:cNvGraphicFramePr>
          <p:nvPr/>
        </p:nvGraphicFramePr>
        <p:xfrm>
          <a:off x="475488" y="276606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Handicap moteur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Dyslexie / troubles dys</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Manipulation, préhension, pointage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Lecture, repérage, décodage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Navigation clavier, zones cliquables larges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Polices simples, texte non justifié, mise en page aérée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Trackball, clavier virtuel, commande oculaire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Synthèse vocale, règle de lecture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631436"/>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Handicap mental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TSA</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Compréhension, défilement, animation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Structuration, repérage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Interfaces simples, FALC, pictogrammes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Consignes claires, structure documentaire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Pas de technologie d'assistance spécifique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Pas de technologie d'assistance spécifique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Handicap : sortir de l'angle mort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Chiffres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n'est pas une faveur : c'est une condition d'accès équitable à l'information.</a:t>
            </a:r>
          </a:p>
        </p:txBody>
      </p:sp>
      <p:sp>
        <p:nvSpPr>
          <p:cNvPr id="11" name="DSFR-kpi-pave"/>
          <p:cNvSpPr/>
          <p:nvPr/>
        </p:nvSpPr>
        <p:spPr>
          <a:xfrm>
            <a:off x="475488" y="29946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 sur 5</a:t>
            </a:r>
          </a:p>
        </p:txBody>
      </p:sp>
      <p:sp>
        <p:nvSpPr>
          <p:cNvPr id="12" name="DSFR-kpi-label"/>
          <p:cNvSpPr txBox="1"/>
          <p:nvPr/>
        </p:nvSpPr>
        <p:spPr>
          <a:xfrm>
            <a:off x="475488" y="39547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personne en situation
de handicap ou trouble invalidant.</a:t>
            </a:r>
          </a:p>
        </p:txBody>
      </p:sp>
      <p:sp>
        <p:nvSpPr>
          <p:cNvPr id="13" name="DSFR-kpi-pave"/>
          <p:cNvSpPr/>
          <p:nvPr/>
        </p:nvSpPr>
        <p:spPr>
          <a:xfrm>
            <a:off x="4319015" y="29946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85 %</a:t>
            </a:r>
          </a:p>
        </p:txBody>
      </p:sp>
      <p:sp>
        <p:nvSpPr>
          <p:cNvPr id="14" name="DSFR-kpi-label"/>
          <p:cNvSpPr txBox="1"/>
          <p:nvPr/>
        </p:nvSpPr>
        <p:spPr>
          <a:xfrm>
            <a:off x="4319015" y="39547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des handicaps sont acquis
au cours de la vie.</a:t>
            </a:r>
          </a:p>
        </p:txBody>
      </p:sp>
      <p:sp>
        <p:nvSpPr>
          <p:cNvPr id="15" name="DSFR-kpi-pave"/>
          <p:cNvSpPr/>
          <p:nvPr/>
        </p:nvSpPr>
        <p:spPr>
          <a:xfrm>
            <a:off x="8162543" y="29946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1er</a:t>
            </a:r>
          </a:p>
        </p:txBody>
      </p:sp>
      <p:sp>
        <p:nvSpPr>
          <p:cNvPr id="16" name="DSFR-kpi-label"/>
          <p:cNvSpPr txBox="1"/>
          <p:nvPr/>
        </p:nvSpPr>
        <p:spPr>
          <a:xfrm>
            <a:off x="8162543" y="39547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facteur de discrimination
selon le Défenseur des droits.</a:t>
            </a:r>
          </a:p>
        </p:txBody>
      </p:sp>
      <p:sp>
        <p:nvSpPr>
          <p:cNvPr id="18" name="DSFR-box"/>
          <p:cNvSpPr/>
          <p:nvPr/>
        </p:nvSpPr>
        <p:spPr>
          <a:xfrm>
            <a:off x="548640" y="4594860"/>
            <a:ext cx="11155680" cy="142280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Validisme : le piège à déconstruire</a:t>
            </a:r>
          </a:p>
        </p:txBody>
      </p:sp>
      <p:sp>
        <p:nvSpPr>
          <p:cNvPr id="20" name="DSFR-callout-body"/>
          <p:cNvSpPr txBox="1"/>
          <p:nvPr/>
        </p:nvSpPr>
        <p:spPr>
          <a:xfrm>
            <a:off x="704088" y="5097780"/>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Penser le public comme valide par défaut</a:t>
            </a:r>
          </a:p>
          <a:p>
            <a:pPr algn="l">
              <a:lnSpc>
                <a:spcPct val="120000"/>
              </a:lnSpc>
            </a:pPr>
            <a:r>
              <a:rPr sz="1400" lang="fr-FR">
                <a:solidFill>
                  <a:srgbClr val="161616"/>
                </a:solidFill>
                <a:latin typeface="Marianne"/>
              </a:rPr>
              <a:t>• </a:t>
            </a:r>
            <a:r>
              <a:rPr sz="1400" b="0" lang="fr-FR">
                <a:solidFill>
                  <a:srgbClr val="161616"/>
                </a:solidFill>
                <a:latin typeface="Marianne"/>
              </a:rPr>
              <a:t>Confondre bonne intention et accès réel</a:t>
            </a:r>
          </a:p>
          <a:p>
            <a:pPr algn="l">
              <a:lnSpc>
                <a:spcPct val="120000"/>
              </a:lnSpc>
            </a:pPr>
            <a:r>
              <a:rPr sz="1400" lang="fr-FR">
                <a:solidFill>
                  <a:srgbClr val="161616"/>
                </a:solidFill>
                <a:latin typeface="Marianne"/>
              </a:rPr>
              <a:t>• </a:t>
            </a:r>
            <a:r>
              <a:rPr sz="1400" b="0" lang="fr-FR">
                <a:solidFill>
                  <a:srgbClr val="161616"/>
                </a:solidFill>
                <a:latin typeface="Marianne"/>
              </a:rPr>
              <a:t>Oublier les handicaps invisibles, acquis ou temporaires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594860"/>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Déficience n'est pas situation de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Déficience vs situation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32</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handicap n'est pas un état fixe : c'est la rencontre entre une déficience et un environnement inadapté.</a:t>
            </a:r>
          </a:p>
        </p:txBody>
      </p:sp>
      <p:pic>
        <p:nvPicPr>
          <p:cNvPr id="11" name="Picture 10" descr="Schéma montrant 3 situations : une personne en fauteuil devant un bureau adapté (pas de handicap), en fauteuil seul (état de déficience), en fauteuil face à un escalier (situation de handicap)"/>
          <p:cNvPicPr>
            <a:picLocks noChangeAspect="1"/>
          </p:cNvPicPr>
          <p:nvPr/>
        </p:nvPicPr>
        <p:blipFill>
          <a:blip r:embed="rId2"/>
          <a:stretch>
            <a:fillRect/>
          </a:stretch>
        </p:blipFill>
        <p:spPr>
          <a:xfrm>
            <a:off x="475488" y="2994660"/>
            <a:ext cx="5029200" cy="2743200"/>
          </a:xfrm>
          <a:prstGeom prst="rect">
            <a:avLst/>
          </a:prstGeom>
        </p:spPr>
      </p:pic>
      <p:sp>
        <p:nvSpPr>
          <p:cNvPr id="13" name="DSFR-box"/>
          <p:cNvSpPr/>
          <p:nvPr/>
        </p:nvSpPr>
        <p:spPr>
          <a:xfrm>
            <a:off x="5897880" y="2994660"/>
            <a:ext cx="5806440" cy="222930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053328" y="3086100"/>
            <a:ext cx="55595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ça change pour vous</a:t>
            </a:r>
          </a:p>
        </p:txBody>
      </p:sp>
      <p:sp>
        <p:nvSpPr>
          <p:cNvPr id="15" name="DSFR-callout-body"/>
          <p:cNvSpPr txBox="1"/>
          <p:nvPr/>
        </p:nvSpPr>
        <p:spPr>
          <a:xfrm>
            <a:off x="6053328" y="3497579"/>
            <a:ext cx="5559552" cy="1634947"/>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C'est l'environnement qui crée le handicap, pas la personne</a:t>
            </a:r>
          </a:p>
          <a:p>
            <a:pPr algn="l">
              <a:lnSpc>
                <a:spcPct val="130000"/>
              </a:lnSpc>
            </a:pPr>
            <a:r>
              <a:rPr sz="1400" lang="fr-FR">
                <a:solidFill>
                  <a:srgbClr val="161616"/>
                </a:solidFill>
                <a:latin typeface="Marianne"/>
              </a:rPr>
              <a:t>• </a:t>
            </a:r>
            <a:r>
              <a:rPr sz="1400" b="0" lang="fr-FR">
                <a:solidFill>
                  <a:srgbClr val="161616"/>
                </a:solidFill>
                <a:latin typeface="Marianne"/>
              </a:rPr>
              <a:t>Un document inaccessible = une barrière que vous pouvez lever</a:t>
            </a:r>
          </a:p>
          <a:p>
            <a:pPr algn="l">
              <a:lnSpc>
                <a:spcPct val="130000"/>
              </a:lnSpc>
            </a:pPr>
            <a:r>
              <a:rPr sz="1400" lang="fr-FR">
                <a:solidFill>
                  <a:srgbClr val="161616"/>
                </a:solidFill>
                <a:latin typeface="Marianne"/>
              </a:rPr>
              <a:t>• </a:t>
            </a:r>
            <a:r>
              <a:rPr sz="1400" b="0" lang="fr-FR">
                <a:solidFill>
                  <a:srgbClr val="161616"/>
                </a:solidFill>
                <a:latin typeface="Marianne"/>
              </a:rPr>
              <a:t>Accessibiliser votre communication supprime la situation de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5824728" y="2994660"/>
            <a:ext cx="73152" cy="22293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spectre du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Q2 - Pour qui | Spectre du handicap</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handicap n'est pas binaire. Il peut être permanent, temporaire, situationnel ou lié au vieillissement.</a:t>
            </a:r>
          </a:p>
        </p:txBody>
      </p:sp>
      <p:pic>
        <p:nvPicPr>
          <p:cNvPr id="11" name="Picture 10" descr="Tableau à 5 colonnes (permanent, temporaire, situationnel, vieillissement) et 4 lignes (manipulation, vision, cognition, mobilité). Exemples : une seule main, bras cassé, bébé dans les bras, douleurs ; visibilité faible, oeil gonflé, lumière tamisée, vue qui baisse ; amnésie, fatigue, première utilisation, Alzheimer ; fauteuil roulant, jambe cassée, chaussures inconfortables, canne."/>
          <p:cNvPicPr>
            <a:picLocks noChangeAspect="1"/>
          </p:cNvPicPr>
          <p:nvPr/>
        </p:nvPicPr>
        <p:blipFill>
          <a:blip r:embed="rId2"/>
          <a:stretch>
            <a:fillRect/>
          </a:stretch>
        </p:blipFill>
        <p:spPr>
          <a:xfrm>
            <a:off x="4032504" y="3040380"/>
            <a:ext cx="4114800" cy="322612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34</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3. L'accessibilité numérique, quel cadre légal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cadre légal : de 2005 à aujourd'hui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Jalons législatifs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35</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Loi Handicap 2005 : 1re obligation d'accessibilité</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Directive européenne 2016 : extension au secteur public</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RGAA 4.1.2 (décret 2019-768) : référentiel opposable</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Contrôle Arcom effectif - contrôle DINUM en cours de mise en place</a:t>
            </a:r>
          </a:p>
        </p:txBody>
      </p:sp>
      <p:sp>
        <p:nvSpPr>
          <p:cNvPr id="20" name="DSFR-box"/>
          <p:cNvSpPr/>
          <p:nvPr/>
        </p:nvSpPr>
        <p:spPr>
          <a:xfrm>
            <a:off x="548640" y="41148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062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Qui est concerné ?</a:t>
            </a:r>
          </a:p>
        </p:txBody>
      </p:sp>
      <p:sp>
        <p:nvSpPr>
          <p:cNvPr id="22" name="DSFR-alert-info-body"/>
          <p:cNvSpPr txBox="1"/>
          <p:nvPr/>
        </p:nvSpPr>
        <p:spPr>
          <a:xfrm>
            <a:off x="704088" y="46177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État, collectivités, établissements publics</a:t>
            </a:r>
          </a:p>
          <a:p>
            <a:pPr algn="l">
              <a:lnSpc>
                <a:spcPct val="150000"/>
              </a:lnSpc>
            </a:pPr>
            <a:r>
              <a:rPr sz="1400" lang="fr-FR">
                <a:solidFill>
                  <a:srgbClr val="161616"/>
                </a:solidFill>
                <a:latin typeface="Marianne"/>
              </a:rPr>
              <a:t>• </a:t>
            </a:r>
            <a:r>
              <a:rPr sz="1400" b="0" lang="fr-FR">
                <a:solidFill>
                  <a:srgbClr val="161616"/>
                </a:solidFill>
                <a:latin typeface="Marianne"/>
              </a:rPr>
              <a:t>Entreprises privées gérant un service public ou CA &gt; 250 M EUR</a:t>
            </a:r>
          </a:p>
          <a:p>
            <a:pPr algn="l">
              <a:lnSpc>
                <a:spcPct val="150000"/>
              </a:lnSpc>
            </a:pPr>
            <a:r>
              <a:rPr sz="1400" lang="fr-FR">
                <a:solidFill>
                  <a:srgbClr val="161616"/>
                </a:solidFill>
                <a:latin typeface="Marianne"/>
              </a:rPr>
              <a:t>• </a:t>
            </a:r>
            <a:r>
              <a:rPr sz="1400" b="0" lang="fr-FR">
                <a:solidFill>
                  <a:srgbClr val="161616"/>
                </a:solidFill>
                <a:latin typeface="Marianne"/>
              </a:rPr>
              <a:t>Pénalité jusqu'à 25 000 EUR par service non conforme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148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cadre européen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Directives européennes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36</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Deux directives européennes structurent l'obligation d'accessibilité numérique en France.</a:t>
            </a:r>
          </a:p>
        </p:txBody>
      </p:sp>
      <p:sp>
        <p:nvSpPr>
          <p:cNvPr id="12" name="DSFR-box"/>
          <p:cNvSpPr/>
          <p:nvPr/>
        </p:nvSpPr>
        <p:spPr>
          <a:xfrm>
            <a:off x="548640" y="2994660"/>
            <a:ext cx="5390388" cy="234452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Directive 2016/2102 - secteur public</a:t>
            </a:r>
          </a:p>
        </p:txBody>
      </p:sp>
      <p:sp>
        <p:nvSpPr>
          <p:cNvPr id="14" name="DSFR-callout-body"/>
          <p:cNvSpPr txBox="1"/>
          <p:nvPr/>
        </p:nvSpPr>
        <p:spPr>
          <a:xfrm>
            <a:off x="704088" y="3497579"/>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Sites web et applications mobiles du secteur public</a:t>
            </a:r>
          </a:p>
          <a:p>
            <a:pPr algn="l">
              <a:lnSpc>
                <a:spcPct val="120000"/>
              </a:lnSpc>
            </a:pPr>
            <a:r>
              <a:rPr sz="1400" lang="fr-FR">
                <a:solidFill>
                  <a:srgbClr val="161616"/>
                </a:solidFill>
                <a:latin typeface="Marianne"/>
              </a:rPr>
              <a:t>• </a:t>
            </a:r>
            <a:r>
              <a:rPr sz="1400" b="0" lang="fr-FR">
                <a:solidFill>
                  <a:srgbClr val="161616"/>
                </a:solidFill>
                <a:latin typeface="Marianne"/>
              </a:rPr>
              <a:t>Transposée en droit français par le décret 2019-768</a:t>
            </a:r>
          </a:p>
          <a:p>
            <a:pPr algn="l">
              <a:lnSpc>
                <a:spcPct val="120000"/>
              </a:lnSpc>
            </a:pPr>
            <a:r>
              <a:rPr sz="1400" lang="fr-FR">
                <a:solidFill>
                  <a:srgbClr val="161616"/>
                </a:solidFill>
                <a:latin typeface="Marianne"/>
              </a:rPr>
              <a:t>• </a:t>
            </a:r>
            <a:r>
              <a:rPr sz="1400" b="0" lang="fr-FR">
                <a:solidFill>
                  <a:srgbClr val="161616"/>
                </a:solidFill>
                <a:latin typeface="Marianne"/>
              </a:rPr>
              <a:t>Obligation de déclaration d'accessibilité</a:t>
            </a:r>
          </a:p>
          <a:p>
            <a:pPr algn="l">
              <a:lnSpc>
                <a:spcPct val="120000"/>
              </a:lnSpc>
            </a:pPr>
            <a:r>
              <a:rPr sz="1400" lang="fr-FR">
                <a:solidFill>
                  <a:srgbClr val="161616"/>
                </a:solidFill>
                <a:latin typeface="Marianne"/>
              </a:rPr>
              <a:t>• </a:t>
            </a:r>
            <a:r>
              <a:rPr sz="1400" b="0" lang="fr-FR">
                <a:solidFill>
                  <a:srgbClr val="161616"/>
                </a:solidFill>
                <a:latin typeface="Marianne"/>
              </a:rPr>
              <a:t>Base du RGAA actuel</a:t>
            </a:r>
          </a:p>
        </p:txBody>
      </p:sp>
      <p:sp>
        <p:nvSpPr>
          <p:cNvPr id="16" name="DSFR-box"/>
          <p:cNvSpPr/>
          <p:nvPr/>
        </p:nvSpPr>
        <p:spPr>
          <a:xfrm>
            <a:off x="6313931" y="2994660"/>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Directive 2019/882 - secteur privé</a:t>
            </a:r>
          </a:p>
        </p:txBody>
      </p:sp>
      <p:sp>
        <p:nvSpPr>
          <p:cNvPr id="18" name="DSFR-alert-warning-body"/>
          <p:cNvSpPr txBox="1"/>
          <p:nvPr/>
        </p:nvSpPr>
        <p:spPr>
          <a:xfrm>
            <a:off x="6469379" y="3497579"/>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Acte européen d'accessibilité (EAA)</a:t>
            </a:r>
          </a:p>
          <a:p>
            <a:pPr algn="l">
              <a:lnSpc>
                <a:spcPct val="120000"/>
              </a:lnSpc>
            </a:pPr>
            <a:r>
              <a:rPr sz="1400" lang="fr-FR">
                <a:solidFill>
                  <a:srgbClr val="161616"/>
                </a:solidFill>
                <a:latin typeface="Marianne"/>
              </a:rPr>
              <a:t>• </a:t>
            </a:r>
            <a:r>
              <a:rPr sz="1400" b="0" lang="fr-FR">
                <a:solidFill>
                  <a:srgbClr val="161616"/>
                </a:solidFill>
                <a:latin typeface="Marianne"/>
              </a:rPr>
              <a:t>Applicable à partir du 28 juin 2025</a:t>
            </a:r>
          </a:p>
          <a:p>
            <a:pPr algn="l">
              <a:lnSpc>
                <a:spcPct val="120000"/>
              </a:lnSpc>
            </a:pPr>
            <a:r>
              <a:rPr sz="1400" lang="fr-FR">
                <a:solidFill>
                  <a:srgbClr val="161616"/>
                </a:solidFill>
                <a:latin typeface="Marianne"/>
              </a:rPr>
              <a:t>• </a:t>
            </a:r>
            <a:r>
              <a:rPr sz="1400" b="0" lang="fr-FR">
                <a:solidFill>
                  <a:srgbClr val="161616"/>
                </a:solidFill>
                <a:latin typeface="Marianne"/>
              </a:rPr>
              <a:t>Commerce en ligne, banque, transport, télécom</a:t>
            </a:r>
          </a:p>
          <a:p>
            <a:pPr algn="l">
              <a:lnSpc>
                <a:spcPct val="120000"/>
              </a:lnSpc>
            </a:pPr>
            <a:r>
              <a:rPr sz="1400" lang="fr-FR">
                <a:solidFill>
                  <a:srgbClr val="161616"/>
                </a:solidFill>
                <a:latin typeface="Marianne"/>
              </a:rPr>
              <a:t>• </a:t>
            </a:r>
            <a:r>
              <a:rPr sz="1400" b="0" lang="fr-FR">
                <a:solidFill>
                  <a:srgbClr val="161616"/>
                </a:solidFill>
                <a:latin typeface="Marianne"/>
              </a:rPr>
              <a:t>Élargit l'obligation au-delà du secteur public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RGAA : 13 thèmes, 3 niveaux de conformité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13 thèmes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37</a:t>
            </a:r>
            <a:endParaRPr lang="fr-FR" dirty="0"/>
          </a:p>
        </p:txBody>
      </p:sp>
      <p:graphicFrame>
        <p:nvGraphicFramePr>
          <p:cNvPr id="8" name="Table 7"/>
          <p:cNvGraphicFramePr>
            <a:graphicFrameLocks noGrp="1"/>
          </p:cNvGraphicFramePr>
          <p:nvPr/>
        </p:nvGraphicFramePr>
        <p:xfrm>
          <a:off x="475488" y="1828800"/>
          <a:ext cx="10927080" cy="2194560"/>
        </p:xfrm>
        <a:graphic>
          <a:graphicData uri="http://schemas.openxmlformats.org/drawingml/2006/table">
            <a:tbl>
              <a:tblPr firstRow="1" bandRow="1">
                <a:tableStyleId>{5C22544A-7EE6-4342-B048-85BDC9FD1C3A}</a:tableStyleId>
              </a:tblPr>
              <a:tblGrid>
                <a:gridCol w="5463540"/>
                <a:gridCol w="5463540"/>
              </a:tblGrid>
              <a:tr h="274320">
                <a:tc>
                  <a:txBody>
                    <a:bodyPr wrap="square" anchor="ctr" lIns="73152" rIns="73152"/>
                    <a:lstStyle/>
                    <a:p>
                      <a:pPr algn="l">
                        <a:lnSpc>
                          <a:spcPct val="125000"/>
                        </a:lnSpc>
                      </a:pPr>
                      <a:r>
                        <a:rPr sz="1400" b="1" i="0" lang="fr-FR">
                          <a:solidFill>
                            <a:srgbClr val="FFFFFF"/>
                          </a:solidFill>
                          <a:latin typeface="Marianne"/>
                        </a:rPr>
                        <a:t>Les 13 thèmes du RGAA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
                      </a:r>
                    </a:p>
                  </a:txBody>
                  <a:tcPr marL="91440" marR="91440" marT="45720" marB="45720">
                    <a:solidFill>
                      <a:srgbClr val="000091"/>
                    </a:solidFill>
                  </a:tcPr>
                </a:tc>
              </a:tr>
              <a:tr h="274320">
                <a:tc>
                  <a:txBody>
                    <a:bodyPr wrap="square" anchor="ctr" lIns="73152" rIns="73152"/>
                    <a:lstStyle/>
                    <a:p>
                      <a:pPr algn="l">
                        <a:lnSpc>
                          <a:spcPct val="125000"/>
                        </a:lnSpc>
                      </a:pPr>
                      <a:r>
                        <a:rPr sz="1400" b="0" i="0" lang="fr-FR">
                          <a:solidFill>
                            <a:srgbClr val="161616"/>
                          </a:solidFill>
                          <a:latin typeface="Marianne"/>
                        </a:rPr>
                        <a:t>1. Images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8. Éléments obligatoires</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Marianne"/>
                        </a:rPr>
                        <a:t>2. Cadres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9. Structuration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Marianne"/>
                        </a:rPr>
                        <a:t>3. Couleurs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10. Présentation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Marianne"/>
                        </a:rPr>
                        <a:t>4. Multimédia</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11. Formulaires</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Marianne"/>
                        </a:rPr>
                        <a:t>5. Tableaux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12. Navigation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Marianne"/>
                        </a:rPr>
                        <a:t>6. Liens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13. Consultation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Marianne"/>
                        </a:rPr>
                        <a:t>7. Scripts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r>
            </a:tbl>
          </a:graphicData>
        </a:graphic>
      </p:graphicFrame>
      <p:sp>
        <p:nvSpPr>
          <p:cNvPr id="10" name="DSFR-box"/>
          <p:cNvSpPr/>
          <p:nvPr/>
        </p:nvSpPr>
        <p:spPr>
          <a:xfrm>
            <a:off x="548640" y="4297680"/>
            <a:ext cx="11155680" cy="165323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3891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Obligations de publication</a:t>
            </a:r>
          </a:p>
        </p:txBody>
      </p:sp>
      <p:sp>
        <p:nvSpPr>
          <p:cNvPr id="12" name="DSFR-alert-warning-body"/>
          <p:cNvSpPr txBox="1"/>
          <p:nvPr/>
        </p:nvSpPr>
        <p:spPr>
          <a:xfrm>
            <a:off x="704088" y="4800600"/>
            <a:ext cx="10908792" cy="1058875"/>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Schéma pluriannuel d'accessibilité (SPAN) sur 3 ans</a:t>
            </a:r>
          </a:p>
          <a:p>
            <a:pPr algn="l">
              <a:lnSpc>
                <a:spcPct val="120000"/>
              </a:lnSpc>
            </a:pPr>
            <a:r>
              <a:rPr sz="1400" lang="fr-FR">
                <a:solidFill>
                  <a:srgbClr val="161616"/>
                </a:solidFill>
                <a:latin typeface="Marianne"/>
              </a:rPr>
              <a:t>• </a:t>
            </a:r>
            <a:r>
              <a:rPr sz="1400" b="0" lang="fr-FR">
                <a:solidFill>
                  <a:srgbClr val="161616"/>
                </a:solidFill>
                <a:latin typeface="Marianne"/>
              </a:rPr>
              <a:t>Non conforme : moins de 50 % des critères</a:t>
            </a:r>
          </a:p>
          <a:p>
            <a:pPr algn="l">
              <a:lnSpc>
                <a:spcPct val="120000"/>
              </a:lnSpc>
            </a:pPr>
            <a:r>
              <a:rPr sz="1400" lang="fr-FR">
                <a:solidFill>
                  <a:srgbClr val="161616"/>
                </a:solidFill>
                <a:latin typeface="Marianne"/>
              </a:rPr>
              <a:t>• </a:t>
            </a:r>
            <a:r>
              <a:rPr sz="1400" b="0" lang="fr-FR">
                <a:solidFill>
                  <a:srgbClr val="161616"/>
                </a:solidFill>
                <a:latin typeface="Marianne"/>
              </a:rPr>
              <a:t>Partiellement conforme : de 50 % à 99 %</a:t>
            </a:r>
          </a:p>
          <a:p>
            <a:pPr algn="l">
              <a:lnSpc>
                <a:spcPct val="120000"/>
              </a:lnSpc>
            </a:pPr>
            <a:r>
              <a:rPr sz="1400" lang="fr-FR">
                <a:solidFill>
                  <a:srgbClr val="161616"/>
                </a:solidFill>
                <a:latin typeface="Marianne"/>
              </a:rPr>
              <a:t>• </a:t>
            </a:r>
            <a:r>
              <a:rPr sz="1400" b="0" lang="fr-FR">
                <a:solidFill>
                  <a:srgbClr val="161616"/>
                </a:solidFill>
                <a:latin typeface="Marianne"/>
              </a:rPr>
              <a:t>Totalement conforme : 100 % des critères applicables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475488" y="4297680"/>
            <a:ext cx="73152" cy="165323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RGAA - Referentiel General d'Amelioration de l'Accessibilite</a:t>
            </a:r>
          </a:p>
        </p:txBody>
      </p:sp>
      <p:sp>
        <p:nvSpPr>
          <p:cNvPr id="3" name="Text Placeholder 2"/>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legal | RGAA detail</a:t>
            </a:r>
          </a:p>
        </p:txBody>
      </p:sp>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38</a:t>
            </a:r>
            <a:endParaRPr lang="fr-FR" dirty="0"/>
          </a:p>
        </p:txBody>
      </p:sp>
      <p:sp>
        <p:nvSpPr>
          <p:cNvPr id="7" name="DSFR-box"/>
          <p:cNvSpPr/>
          <p:nvPr/>
        </p:nvSpPr>
        <p:spPr>
          <a:xfrm>
            <a:off x="548640" y="2103120"/>
            <a:ext cx="3468623" cy="21717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callout-titre"/>
          <p:cNvSpPr txBox="1"/>
          <p:nvPr/>
        </p:nvSpPr>
        <p:spPr>
          <a:xfrm>
            <a:off x="704088"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Structure en 2 parties</a:t>
            </a:r>
          </a:p>
        </p:txBody>
      </p:sp>
      <p:sp>
        <p:nvSpPr>
          <p:cNvPr id="9" name="DSFR-callout-body"/>
          <p:cNvSpPr txBox="1"/>
          <p:nvPr/>
        </p:nvSpPr>
        <p:spPr>
          <a:xfrm>
            <a:off x="704088" y="2606039"/>
            <a:ext cx="3221735" cy="157734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Obligations legales</a:t>
            </a:r>
          </a:p>
          <a:p>
            <a:pPr algn="l">
              <a:lnSpc>
                <a:spcPct val="125000"/>
              </a:lnSpc>
            </a:pPr>
            <a:r>
              <a:rPr sz="1400" lang="fr-FR">
                <a:solidFill>
                  <a:srgbClr val="161616"/>
                </a:solidFill>
                <a:latin typeface="Marianne"/>
              </a:rPr>
              <a:t>• </a:t>
            </a:r>
            <a:r>
              <a:rPr sz="1400" b="0" lang="fr-FR">
                <a:solidFill>
                  <a:srgbClr val="161616"/>
                </a:solidFill>
                <a:latin typeface="Marianne"/>
              </a:rPr>
              <a:t>Methode technique</a:t>
            </a:r>
          </a:p>
          <a:p>
            <a:pPr algn="l">
              <a:lnSpc>
                <a:spcPct val="125000"/>
              </a:lnSpc>
            </a:pPr>
            <a:r>
              <a:rPr sz="1400" lang="fr-FR">
                <a:solidFill>
                  <a:srgbClr val="161616"/>
                </a:solidFill>
                <a:latin typeface="Marianne"/>
              </a:rPr>
              <a:t>• </a:t>
            </a:r>
            <a:r>
              <a:rPr sz="1400" b="0" lang="fr-FR">
                <a:solidFill>
                  <a:srgbClr val="161616"/>
                </a:solidFill>
                <a:latin typeface="Marianne"/>
              </a:rPr>
              <a:t/>
            </a:r>
          </a:p>
          <a:p>
            <a:pPr algn="l">
              <a:lnSpc>
                <a:spcPct val="125000"/>
              </a:lnSpc>
            </a:pPr>
            <a:r>
              <a:rPr sz="1400" lang="fr-FR">
                <a:solidFill>
                  <a:srgbClr val="161616"/>
                </a:solidFill>
                <a:latin typeface="Marianne"/>
              </a:rPr>
              <a:t>• </a:t>
            </a:r>
            <a:r>
              <a:rPr sz="1400" b="0" lang="fr-FR">
                <a:solidFill>
                  <a:srgbClr val="161616"/>
                </a:solidFill>
                <a:latin typeface="Marianne"/>
              </a:rPr>
              <a:t>13 thematiques</a:t>
            </a:r>
          </a:p>
          <a:p>
            <a:pPr algn="l">
              <a:lnSpc>
                <a:spcPct val="125000"/>
              </a:lnSpc>
            </a:pPr>
            <a:r>
              <a:rPr sz="1400" lang="fr-FR">
                <a:solidFill>
                  <a:srgbClr val="161616"/>
                </a:solidFill>
                <a:latin typeface="Marianne"/>
              </a:rPr>
              <a:t>• </a:t>
            </a:r>
            <a:r>
              <a:rPr sz="1400" b="0" lang="fr-FR">
                <a:solidFill>
                  <a:srgbClr val="161616"/>
                </a:solidFill>
                <a:latin typeface="Marianne"/>
              </a:rPr>
              <a:t>106 criteres au total</a:t>
            </a:r>
          </a:p>
          <a:p>
            <a:pPr algn="l">
              <a:lnSpc>
                <a:spcPct val="125000"/>
              </a:lnSpc>
            </a:pPr>
            <a:r>
              <a:rPr sz="1400" lang="fr-FR">
                <a:solidFill>
                  <a:srgbClr val="161616"/>
                </a:solidFill>
                <a:latin typeface="Marianne"/>
              </a:rPr>
              <a:t>• </a:t>
            </a:r>
            <a:r>
              <a:rPr sz="1400" b="0" lang="fr-FR">
                <a:solidFill>
                  <a:srgbClr val="161616"/>
                </a:solidFill>
                <a:latin typeface="Marianne"/>
              </a:rPr>
              <a:t>258 tests unitaires</a:t>
            </a:r>
          </a:p>
        </p:txBody>
      </p:sp>
      <p:sp>
        <p:nvSpPr>
          <p:cNvPr id="11" name="DSFR-box"/>
          <p:cNvSpPr/>
          <p:nvPr/>
        </p:nvSpPr>
        <p:spPr>
          <a:xfrm>
            <a:off x="4392167" y="2103120"/>
            <a:ext cx="3468623" cy="21717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callout-titre"/>
          <p:cNvSpPr txBox="1"/>
          <p:nvPr/>
        </p:nvSpPr>
        <p:spPr>
          <a:xfrm>
            <a:off x="4547615"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Images</a:t>
            </a:r>
          </a:p>
        </p:txBody>
      </p:sp>
      <p:sp>
        <p:nvSpPr>
          <p:cNvPr id="13" name="DSFR-callout-body"/>
          <p:cNvSpPr txBox="1"/>
          <p:nvPr/>
        </p:nvSpPr>
        <p:spPr>
          <a:xfrm>
            <a:off x="4547615" y="2606039"/>
            <a:ext cx="3221735" cy="157734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Cadres</a:t>
            </a:r>
          </a:p>
          <a:p>
            <a:pPr algn="l">
              <a:lnSpc>
                <a:spcPct val="125000"/>
              </a:lnSpc>
            </a:pPr>
            <a:r>
              <a:rPr sz="1400" lang="fr-FR">
                <a:solidFill>
                  <a:srgbClr val="161616"/>
                </a:solidFill>
                <a:latin typeface="Marianne"/>
              </a:rPr>
              <a:t>• </a:t>
            </a:r>
            <a:r>
              <a:rPr sz="1400" b="0" lang="fr-FR">
                <a:solidFill>
                  <a:srgbClr val="161616"/>
                </a:solidFill>
                <a:latin typeface="Marianne"/>
              </a:rPr>
              <a:t>Couleurs</a:t>
            </a:r>
          </a:p>
          <a:p>
            <a:pPr algn="l">
              <a:lnSpc>
                <a:spcPct val="125000"/>
              </a:lnSpc>
            </a:pPr>
            <a:r>
              <a:rPr sz="1400" lang="fr-FR">
                <a:solidFill>
                  <a:srgbClr val="161616"/>
                </a:solidFill>
                <a:latin typeface="Marianne"/>
              </a:rPr>
              <a:t>• </a:t>
            </a:r>
            <a:r>
              <a:rPr sz="1400" b="0" lang="fr-FR">
                <a:solidFill>
                  <a:srgbClr val="161616"/>
                </a:solidFill>
                <a:latin typeface="Marianne"/>
              </a:rPr>
              <a:t>Multimedia</a:t>
            </a:r>
          </a:p>
          <a:p>
            <a:pPr algn="l">
              <a:lnSpc>
                <a:spcPct val="125000"/>
              </a:lnSpc>
            </a:pPr>
            <a:r>
              <a:rPr sz="1400" lang="fr-FR">
                <a:solidFill>
                  <a:srgbClr val="161616"/>
                </a:solidFill>
                <a:latin typeface="Marianne"/>
              </a:rPr>
              <a:t>• </a:t>
            </a:r>
            <a:r>
              <a:rPr sz="1400" b="0" lang="fr-FR">
                <a:solidFill>
                  <a:srgbClr val="161616"/>
                </a:solidFill>
                <a:latin typeface="Marianne"/>
              </a:rPr>
              <a:t>Tableaux</a:t>
            </a:r>
          </a:p>
          <a:p>
            <a:pPr algn="l">
              <a:lnSpc>
                <a:spcPct val="125000"/>
              </a:lnSpc>
            </a:pPr>
            <a:r>
              <a:rPr sz="1400" lang="fr-FR">
                <a:solidFill>
                  <a:srgbClr val="161616"/>
                </a:solidFill>
                <a:latin typeface="Marianne"/>
              </a:rPr>
              <a:t>• </a:t>
            </a:r>
            <a:r>
              <a:rPr sz="1400" b="0" lang="fr-FR">
                <a:solidFill>
                  <a:srgbClr val="161616"/>
                </a:solidFill>
                <a:latin typeface="Marianne"/>
              </a:rPr>
              <a:t>Liens</a:t>
            </a:r>
          </a:p>
          <a:p>
            <a:pPr algn="l">
              <a:lnSpc>
                <a:spcPct val="125000"/>
              </a:lnSpc>
            </a:pPr>
            <a:r>
              <a:rPr sz="1400" lang="fr-FR">
                <a:solidFill>
                  <a:srgbClr val="161616"/>
                </a:solidFill>
                <a:latin typeface="Marianne"/>
              </a:rPr>
              <a:t>• </a:t>
            </a:r>
            <a:r>
              <a:rPr sz="1400" b="0" lang="fr-FR">
                <a:solidFill>
                  <a:srgbClr val="161616"/>
                </a:solidFill>
                <a:latin typeface="Marianne"/>
              </a:rPr>
              <a:t>Scripts</a:t>
            </a:r>
          </a:p>
        </p:txBody>
      </p:sp>
      <p:sp>
        <p:nvSpPr>
          <p:cNvPr id="15" name="DSFR-box"/>
          <p:cNvSpPr/>
          <p:nvPr/>
        </p:nvSpPr>
        <p:spPr>
          <a:xfrm>
            <a:off x="8235695" y="2103120"/>
            <a:ext cx="3468623"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8391144"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Elements obligatoires</a:t>
            </a:r>
          </a:p>
        </p:txBody>
      </p:sp>
      <p:sp>
        <p:nvSpPr>
          <p:cNvPr id="17" name="DSFR-callout-body"/>
          <p:cNvSpPr txBox="1"/>
          <p:nvPr/>
        </p:nvSpPr>
        <p:spPr>
          <a:xfrm>
            <a:off x="8391144" y="2606039"/>
            <a:ext cx="3221735"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Structuration</a:t>
            </a:r>
          </a:p>
          <a:p>
            <a:pPr algn="l">
              <a:lnSpc>
                <a:spcPct val="125000"/>
              </a:lnSpc>
            </a:pPr>
            <a:r>
              <a:rPr sz="1400" lang="fr-FR">
                <a:solidFill>
                  <a:srgbClr val="161616"/>
                </a:solidFill>
                <a:latin typeface="Marianne"/>
              </a:rPr>
              <a:t>• </a:t>
            </a:r>
            <a:r>
              <a:rPr sz="1400" b="0" lang="fr-FR">
                <a:solidFill>
                  <a:srgbClr val="161616"/>
                </a:solidFill>
                <a:latin typeface="Marianne"/>
              </a:rPr>
              <a:t>Navigation</a:t>
            </a:r>
          </a:p>
          <a:p>
            <a:pPr algn="l">
              <a:lnSpc>
                <a:spcPct val="125000"/>
              </a:lnSpc>
            </a:pPr>
            <a:r>
              <a:rPr sz="1400" lang="fr-FR">
                <a:solidFill>
                  <a:srgbClr val="161616"/>
                </a:solidFill>
                <a:latin typeface="Marianne"/>
              </a:rPr>
              <a:t>• </a:t>
            </a:r>
            <a:r>
              <a:rPr sz="1400" b="0" lang="fr-FR">
                <a:solidFill>
                  <a:srgbClr val="161616"/>
                </a:solidFill>
                <a:latin typeface="Marianne"/>
              </a:rPr>
              <a:t>Presentation</a:t>
            </a:r>
          </a:p>
          <a:p>
            <a:pPr algn="l">
              <a:lnSpc>
                <a:spcPct val="125000"/>
              </a:lnSpc>
            </a:pPr>
            <a:r>
              <a:rPr sz="1400" lang="fr-FR">
                <a:solidFill>
                  <a:srgbClr val="161616"/>
                </a:solidFill>
                <a:latin typeface="Marianne"/>
              </a:rPr>
              <a:t>• </a:t>
            </a:r>
            <a:r>
              <a:rPr sz="1400" b="0" lang="fr-FR">
                <a:solidFill>
                  <a:srgbClr val="161616"/>
                </a:solidFill>
                <a:latin typeface="Marianne"/>
              </a:rPr>
              <a:t>Formulaires</a:t>
            </a:r>
          </a:p>
          <a:p>
            <a:pPr algn="l">
              <a:lnSpc>
                <a:spcPct val="125000"/>
              </a:lnSpc>
            </a:pPr>
            <a:r>
              <a:rPr sz="1400" lang="fr-FR">
                <a:solidFill>
                  <a:srgbClr val="161616"/>
                </a:solidFill>
                <a:latin typeface="Marianne"/>
              </a:rPr>
              <a:t>• </a:t>
            </a:r>
            <a:r>
              <a:rPr sz="1400" b="0" lang="fr-FR">
                <a:solidFill>
                  <a:srgbClr val="161616"/>
                </a:solidFill>
                <a:latin typeface="Marianne"/>
              </a:rPr>
              <a:t>Consultation</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6" name="DSFR-accent-decoratif" descr=""/>
          <p:cNvSpPr/>
          <p:nvPr/>
        </p:nvSpPr>
        <p:spPr>
          <a:xfrm>
            <a:off x="475488"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ccent-decoratif" descr=""/>
          <p:cNvSpPr/>
          <p:nvPr/>
        </p:nvSpPr>
        <p:spPr>
          <a:xfrm>
            <a:off x="4319015"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ccent-decoratif" descr=""/>
          <p:cNvSpPr/>
          <p:nvPr/>
        </p:nvSpPr>
        <p:spPr>
          <a:xfrm>
            <a:off x="8162543"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Quelles obligations pour votre structure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39</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Vous connaissez le cadre. Mais concrètement, quelles obligations s'appliquent à votre poste et à votre structure ?</a:t>
            </a:r>
          </a:p>
        </p:txBody>
      </p:sp>
      <p:sp>
        <p:nvSpPr>
          <p:cNvPr id="12" name="DSFR-box"/>
          <p:cNvSpPr/>
          <p:nvPr/>
        </p:nvSpPr>
        <p:spPr>
          <a:xfrm>
            <a:off x="548640" y="3314700"/>
            <a:ext cx="9326880" cy="1883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406140"/>
            <a:ext cx="90799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Activité - simulateur Obligally (10 min)</a:t>
            </a:r>
          </a:p>
        </p:txBody>
      </p:sp>
      <p:sp>
        <p:nvSpPr>
          <p:cNvPr id="14" name="DSFR-alert-info-body"/>
          <p:cNvSpPr txBox="1"/>
          <p:nvPr/>
        </p:nvSpPr>
        <p:spPr>
          <a:xfrm>
            <a:off x="704088" y="3817620"/>
            <a:ext cx="9079992" cy="1289304"/>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Cliquez sur Simuler et répondez aux questions</a:t>
            </a:r>
          </a:p>
          <a:p>
            <a:pPr algn="l">
              <a:lnSpc>
                <a:spcPct val="150000"/>
              </a:lnSpc>
            </a:pPr>
            <a:r>
              <a:rPr sz="1400" lang="fr-FR">
                <a:solidFill>
                  <a:srgbClr val="161616"/>
                </a:solidFill>
                <a:latin typeface="Marianne"/>
              </a:rPr>
              <a:t>• </a:t>
            </a:r>
            <a:r>
              <a:rPr sz="1400" b="0" lang="fr-FR">
                <a:solidFill>
                  <a:srgbClr val="161616"/>
                </a:solidFill>
                <a:latin typeface="Marianne"/>
              </a:rPr>
              <a:t>Notez le résultat : quelles normes s'appliquent à vous ?</a:t>
            </a:r>
          </a:p>
          <a:p>
            <a:pPr algn="l">
              <a:lnSpc>
                <a:spcPct val="150000"/>
              </a:lnSpc>
            </a:pPr>
            <a:r>
              <a:rPr sz="1400" lang="fr-FR">
                <a:solidFill>
                  <a:srgbClr val="161616"/>
                </a:solidFill>
                <a:latin typeface="Marianne"/>
              </a:rPr>
              <a:t>• </a:t>
            </a:r>
            <a:r>
              <a:rPr sz="1400" b="0" lang="fr-FR">
                <a:solidFill>
                  <a:srgbClr val="161616"/>
                </a:solidFill>
                <a:latin typeface="Marianne"/>
              </a:rPr>
              <a:t>Visualiser (infographie) : .../fr/visualisation/</a:t>
            </a:r>
          </a:p>
          <a:p>
            <a:pPr algn="l">
              <a:lnSpc>
                <a:spcPct val="150000"/>
              </a:lnSpc>
            </a:pPr>
            <a:r>
              <a:rPr sz="1400" lang="fr-FR">
                <a:solidFill>
                  <a:srgbClr val="161616"/>
                </a:solidFill>
                <a:latin typeface="Marianne"/>
              </a:rPr>
              <a:t>• </a:t>
            </a:r>
            <a:r>
              <a:rPr sz="1400" b="0" lang="fr-FR">
                <a:solidFill>
                  <a:srgbClr val="161616"/>
                </a:solidFill>
                <a:latin typeface="Marianne"/>
              </a:rPr>
              <a:t>Approfondir (article détaillé) : .../fr/comprendre/</a:t>
            </a:r>
          </a:p>
        </p:txBody>
      </p:sp>
      <p:pic>
        <p:nvPicPr>
          <p:cNvPr id="15" name="Picture 14" descr="QR code vers le simulateur Obligally : https://obligations-legales-accessibilite-numerique.fr/fr/"/>
          <p:cNvPicPr>
            <a:picLocks noChangeAspect="1"/>
          </p:cNvPicPr>
          <p:nvPr/>
        </p:nvPicPr>
        <p:blipFill>
          <a:blip r:embed="rId2"/>
          <a:stretch>
            <a:fillRect/>
          </a:stretch>
        </p:blipFill>
        <p:spPr>
          <a:xfrm>
            <a:off x="10012680" y="3634739"/>
            <a:ext cx="1645920" cy="1645920"/>
          </a:xfrm>
          <a:prstGeom prst="rect">
            <a:avLst/>
          </a:prstGeom>
        </p:spPr>
      </p:pic>
      <p:sp>
        <p:nvSpPr>
          <p:cNvPr id="16" name="DSFR-texte-libre"/>
          <p:cNvSpPr txBox="1"/>
          <p:nvPr/>
        </p:nvSpPr>
        <p:spPr>
          <a:xfrm>
            <a:off x="10012680" y="5326379"/>
            <a:ext cx="1645920" cy="274320"/>
          </a:xfrm>
          <a:prstGeom prst="rect">
            <a:avLst/>
          </a:prstGeom>
          <a:noFill/>
        </p:spPr>
        <p:txBody>
          <a:bodyPr wrap="square" anchor="t" lIns="73152" rIns="73152">
            <a:spAutoFit/>
          </a:bodyPr>
          <a:lstStyle/>
          <a:p>
            <a:pPr algn="l">
              <a:lnSpc>
                <a:spcPct val="125000"/>
              </a:lnSpc>
            </a:pPr>
            <a:r>
              <a:rPr sz="1200" b="1" i="0" lang="fr-FR">
                <a:solidFill>
                  <a:srgbClr val="161616"/>
                </a:solidFill>
                <a:latin typeface="Marianne"/>
              </a:rPr>
              <a:t>Scannez-moi !</a:t>
            </a:r>
          </a:p>
        </p:txBody>
      </p:sp>
      <p:sp>
        <p:nvSpPr>
          <p:cNvPr id="17" name="TextBox 16"/>
          <p:cNvSpPr txBox="1"/>
          <p:nvPr/>
        </p:nvSpPr>
        <p:spPr>
          <a:xfrm>
            <a:off x="475488" y="5295290"/>
            <a:ext cx="11228832" cy="320040"/>
          </a:xfrm>
          <a:prstGeom prst="rect">
            <a:avLst/>
          </a:prstGeom>
          <a:noFill/>
        </p:spPr>
        <p:txBody>
          <a:bodyPr wrap="square">
            <a:spAutoFit/>
          </a:bodyPr>
          <a:lstStyle/>
          <a:p>
            <a:r>
              <a:rPr sz="1400" b="1" u="sng" lang="fr-FR">
                <a:solidFill>
                  <a:srgbClr val="000091"/>
                </a:solidFill>
                <a:hlinkClick r:id="rId3"/>
              </a:rPr>
              <a:t>https://obligations-legales-accessibilite-numerique.fr/fr/</a:t>
            </a:r>
          </a:p>
        </p:txBody>
      </p:sp>
      <p:sp>
        <p:nvSpPr>
          <p:cNvPr id="18" name="TextBox 17"/>
          <p:cNvSpPr txBox="1"/>
          <p:nvPr/>
        </p:nvSpPr>
        <p:spPr>
          <a:xfrm>
            <a:off x="475488" y="5661050"/>
            <a:ext cx="11228832" cy="219456"/>
          </a:xfrm>
          <a:prstGeom prst="rect">
            <a:avLst/>
          </a:prstGeom>
          <a:noFill/>
        </p:spPr>
        <p:txBody>
          <a:bodyPr wrap="none">
            <a:spAutoFit/>
          </a:bodyPr>
          <a:lstStyle/>
          <a:p>
            <a:r>
              <a:rPr sz="900" b="1" lang="fr-FR">
                <a:solidFill>
                  <a:srgbClr val="161616"/>
                </a:solidFill>
              </a:rPr>
              <a:t>Simuler : </a:t>
            </a:r>
            <a:r>
              <a:rPr sz="900" u="sng" lang="fr-FR">
                <a:solidFill>
                  <a:srgbClr val="000091"/>
                </a:solidFill>
                <a:hlinkClick r:id="rId4"/>
              </a:rPr>
              <a:t>https://obligations-legales-accessibilite-numerique.fr/fr/simulation/</a:t>
            </a:r>
          </a:p>
        </p:txBody>
      </p:sp>
      <p:sp>
        <p:nvSpPr>
          <p:cNvPr id="19" name="TextBox 18"/>
          <p:cNvSpPr txBox="1"/>
          <p:nvPr/>
        </p:nvSpPr>
        <p:spPr>
          <a:xfrm>
            <a:off x="475488" y="5907938"/>
            <a:ext cx="11228832" cy="219456"/>
          </a:xfrm>
          <a:prstGeom prst="rect">
            <a:avLst/>
          </a:prstGeom>
          <a:noFill/>
        </p:spPr>
        <p:txBody>
          <a:bodyPr wrap="none">
            <a:spAutoFit/>
          </a:bodyPr>
          <a:lstStyle/>
          <a:p>
            <a:r>
              <a:rPr sz="900" b="1" lang="fr-FR">
                <a:solidFill>
                  <a:srgbClr val="161616"/>
                </a:solidFill>
              </a:rPr>
              <a:t>Comprendre : </a:t>
            </a:r>
            <a:r>
              <a:rPr sz="900" u="sng" lang="fr-FR">
                <a:solidFill>
                  <a:srgbClr val="000091"/>
                </a:solidFill>
                <a:hlinkClick r:id="rId5"/>
              </a:rPr>
              <a:t>https://obligations-legales-accessibilite-numerique.fr/fr/comprendre/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88366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 déclaration d'accessibilité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légal | Déclaration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40</a:t>
            </a:r>
            <a:endParaRPr lang="fr-FR" dirty="0"/>
          </a:p>
        </p:txBody>
      </p:sp>
      <p:graphicFrame>
        <p:nvGraphicFramePr>
          <p:cNvPr id="8" name="Table 7"/>
          <p:cNvGraphicFramePr>
            <a:graphicFrameLocks noGrp="1"/>
          </p:cNvGraphicFramePr>
          <p:nvPr/>
        </p:nvGraphicFramePr>
        <p:xfrm>
          <a:off x="475488" y="2103120"/>
          <a:ext cx="11228832" cy="2468880"/>
        </p:xfrm>
        <a:graphic>
          <a:graphicData uri="http://schemas.openxmlformats.org/drawingml/2006/table">
            <a:tbl>
              <a:tblPr firstRow="1" bandRow="1">
                <a:tableStyleId>{5C22544A-7EE6-4342-B048-85BDC9FD1C3A}</a:tableStyleId>
              </a:tblPr>
              <a:tblGrid>
                <a:gridCol w="5029200"/>
                <a:gridCol w="6199632"/>
              </a:tblGrid>
              <a:tr h="411480">
                <a:tc>
                  <a:txBody>
                    <a:bodyPr wrap="square" anchor="ctr" lIns="73152" rIns="73152"/>
                    <a:lstStyle/>
                    <a:p>
                      <a:pPr algn="l">
                        <a:lnSpc>
                          <a:spcPct val="125000"/>
                        </a:lnSpc>
                      </a:pPr>
                      <a:r>
                        <a:rPr sz="1400" b="1" i="0" lang="fr-FR">
                          <a:solidFill>
                            <a:srgbClr val="FFFFFF"/>
                          </a:solidFill>
                          <a:latin typeface="Marianne"/>
                        </a:rPr>
                        <a:t>Que doit-elle contenir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Exemple concret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Taux de conformité RGAA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Ex. : 62 % conforme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Statut global</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Partiellement conforme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Technologies utilisées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HTML5, CSS3, JavaScript</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Environnements de test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Chrome + NVDA, Safari + VoiceOver</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Contact et voie de recours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accessibilite@mon-ministere.gouv.fr</a:t>
                      </a:r>
                    </a:p>
                  </a:txBody>
                  <a:tcPr marL="91440" marR="91440" marT="45720" marB="45720">
                    <a:solidFill>
                      <a:srgbClr val="FFFFFF"/>
                    </a:solidFill>
                  </a:tcPr>
                </a:tc>
              </a:tr>
            </a:tbl>
          </a:graphicData>
        </a:graphic>
      </p:graphicFrame>
      <p:sp>
        <p:nvSpPr>
          <p:cNvPr id="10" name="DSFR-box"/>
          <p:cNvSpPr/>
          <p:nvPr/>
        </p:nvSpPr>
        <p:spPr>
          <a:xfrm>
            <a:off x="548640" y="45720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Exercice pratique</a:t>
            </a:r>
          </a:p>
        </p:txBody>
      </p:sp>
      <p:sp>
        <p:nvSpPr>
          <p:cNvPr id="12" name="DSFR-alert-success-body"/>
          <p:cNvSpPr txBox="1"/>
          <p:nvPr/>
        </p:nvSpPr>
        <p:spPr>
          <a:xfrm>
            <a:off x="704088" y="50749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Cherchez la déclaration d'accessibilité de votre site</a:t>
            </a:r>
          </a:p>
          <a:p>
            <a:pPr algn="l">
              <a:lnSpc>
                <a:spcPct val="150000"/>
              </a:lnSpc>
            </a:pPr>
            <a:r>
              <a:rPr sz="1400" lang="fr-FR">
                <a:solidFill>
                  <a:srgbClr val="161616"/>
                </a:solidFill>
                <a:latin typeface="Marianne"/>
              </a:rPr>
              <a:t>• </a:t>
            </a:r>
            <a:r>
              <a:rPr sz="1400" b="0" lang="fr-FR">
                <a:solidFill>
                  <a:srgbClr val="161616"/>
                </a:solidFill>
                <a:latin typeface="Marianne"/>
              </a:rPr>
              <a:t>URL type : /déclaration-accessibilité</a:t>
            </a:r>
          </a:p>
          <a:p>
            <a:pPr algn="l">
              <a:lnSpc>
                <a:spcPct val="150000"/>
              </a:lnSpc>
            </a:pPr>
            <a:r>
              <a:rPr sz="1400" lang="fr-FR">
                <a:solidFill>
                  <a:srgbClr val="161616"/>
                </a:solidFill>
                <a:latin typeface="Marianne"/>
              </a:rPr>
              <a:t>• </a:t>
            </a:r>
            <a:r>
              <a:rPr sz="1400" b="0" lang="fr-FR">
                <a:solidFill>
                  <a:srgbClr val="161616"/>
                </a:solidFill>
                <a:latin typeface="Marianne"/>
              </a:rPr>
              <a:t>Notez le taux de conformité affiché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9" name="DSFR-accent-decoratif" descr=""/>
          <p:cNvSpPr/>
          <p:nvPr/>
        </p:nvSpPr>
        <p:spPr>
          <a:xfrm>
            <a:off x="475488" y="45720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Les obligations legales de mise en accessibilite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Q3 - Cadre legal | Recap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41</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Documents obligatoires</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Schema pluriannuel d'accessibilite numerique (SPAN)</a:t>
            </a:r>
          </a:p>
          <a:p>
            <a:pPr algn="l">
              <a:lnSpc>
                <a:spcPct val="125000"/>
              </a:lnSpc>
            </a:pPr>
            <a:r>
              <a:rPr sz="1400" lang="fr-FR">
                <a:solidFill>
                  <a:srgbClr val="161616"/>
                </a:solidFill>
                <a:latin typeface="Marianne"/>
              </a:rPr>
              <a:t>• </a:t>
            </a:r>
            <a:r>
              <a:rPr sz="1400" b="0" lang="fr-FR">
                <a:solidFill>
                  <a:srgbClr val="161616"/>
                </a:solidFill>
                <a:latin typeface="Marianne"/>
              </a:rPr>
              <a:t>Plan d'action annuel</a:t>
            </a:r>
          </a:p>
          <a:p>
            <a:pPr algn="l">
              <a:lnSpc>
                <a:spcPct val="125000"/>
              </a:lnSpc>
            </a:pPr>
            <a:r>
              <a:rPr sz="1400" lang="fr-FR">
                <a:solidFill>
                  <a:srgbClr val="161616"/>
                </a:solidFill>
                <a:latin typeface="Marianne"/>
              </a:rPr>
              <a:t>• </a:t>
            </a:r>
            <a:r>
              <a:rPr sz="1400" b="0" lang="fr-FR">
                <a:solidFill>
                  <a:srgbClr val="161616"/>
                </a:solidFill>
                <a:latin typeface="Marianne"/>
              </a:rPr>
              <a:t>Audit d'accessibilite RGAA en version 4.1.2</a:t>
            </a:r>
          </a:p>
          <a:p>
            <a:pPr algn="l">
              <a:lnSpc>
                <a:spcPct val="125000"/>
              </a:lnSpc>
            </a:pPr>
            <a:r>
              <a:rPr sz="1400" lang="fr-FR">
                <a:solidFill>
                  <a:srgbClr val="161616"/>
                </a:solidFill>
                <a:latin typeface="Marianne"/>
              </a:rPr>
              <a:t>• </a:t>
            </a:r>
            <a:r>
              <a:rPr sz="1400" b="0" lang="fr-FR">
                <a:solidFill>
                  <a:srgbClr val="161616"/>
                </a:solidFill>
                <a:latin typeface="Marianne"/>
              </a:rPr>
              <a:t>Un moyen de contact</a:t>
            </a:r>
          </a:p>
          <a:p>
            <a:pPr algn="l">
              <a:lnSpc>
                <a:spcPct val="125000"/>
              </a:lnSpc>
            </a:pPr>
            <a:r>
              <a:rPr sz="1400" lang="fr-FR">
                <a:solidFill>
                  <a:srgbClr val="161616"/>
                </a:solidFill>
                <a:latin typeface="Marianne"/>
              </a:rPr>
              <a:t>• </a:t>
            </a:r>
            <a:r>
              <a:rPr sz="1400" b="0" lang="fr-FR">
                <a:solidFill>
                  <a:srgbClr val="161616"/>
                </a:solidFill>
                <a:latin typeface="Marianne"/>
              </a:rPr>
              <a:t>RAN (Referent Accessibilite Numerique)</a:t>
            </a:r>
          </a:p>
        </p:txBody>
      </p:sp>
      <p:graphicFrame>
        <p:nvGraphicFramePr>
          <p:cNvPr id="12" name="Table 11"/>
          <p:cNvGraphicFramePr>
            <a:graphicFrameLocks noGrp="1"/>
          </p:cNvGraphicFramePr>
          <p:nvPr/>
        </p:nvGraphicFramePr>
        <p:xfrm>
          <a:off x="475488" y="4754880"/>
          <a:ext cx="11228832" cy="1645920"/>
        </p:xfrm>
        <a:graphic>
          <a:graphicData uri="http://schemas.openxmlformats.org/drawingml/2006/table">
            <a:tbl>
              <a:tblPr firstRow="1" bandRow="1">
                <a:tableStyleId>{5C22544A-7EE6-4342-B048-85BDC9FD1C3A}</a:tableStyleId>
              </a:tblPr>
              <a:tblGrid>
                <a:gridCol w="4572000"/>
                <a:gridCol w="6656832"/>
              </a:tblGrid>
              <a:tr h="411480">
                <a:tc>
                  <a:txBody>
                    <a:bodyPr wrap="square" anchor="ctr" lIns="73152" rIns="73152"/>
                    <a:lstStyle/>
                    <a:p>
                      <a:pPr algn="l">
                        <a:lnSpc>
                          <a:spcPct val="125000"/>
                        </a:lnSpc>
                      </a:pPr>
                      <a:r>
                        <a:rPr sz="1400" b="1" i="0" lang="fr-FR">
                          <a:solidFill>
                            <a:srgbClr val="FFFFFF"/>
                          </a:solidFill>
                          <a:latin typeface="Marianne"/>
                        </a:rPr>
                        <a:t>Mention</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Signification</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Accessibilite : non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49 % et moins, ou aucun audit en cours de validite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Accessibilite : partiellement conforme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De 50 % a 99 % des criteres respectes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Accessibilite : totalement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100 % des criteres applicables valides</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42</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4. L'accessibilité numérique, pourquoi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Pourquoi agir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Q4 - Pourquoi | Droit et charte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43</a:t>
            </a:r>
            <a:endParaRPr lang="fr-FR" dirty="0"/>
          </a:p>
        </p:txBody>
      </p:sp>
      <p:sp>
        <p:nvSpPr>
          <p:cNvPr id="9" name="DSFR-box"/>
          <p:cNvSpPr/>
          <p:nvPr/>
        </p:nvSpPr>
        <p:spPr>
          <a:xfrm>
            <a:off x="548640" y="2011680"/>
            <a:ext cx="9509759" cy="142280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926287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Un droit, pas une faveur</a:t>
            </a:r>
          </a:p>
        </p:txBody>
      </p:sp>
      <p:sp>
        <p:nvSpPr>
          <p:cNvPr id="11" name="DSFR-callout-body"/>
          <p:cNvSpPr txBox="1"/>
          <p:nvPr/>
        </p:nvSpPr>
        <p:spPr>
          <a:xfrm>
            <a:off x="704088" y="2514600"/>
            <a:ext cx="926287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Droit fondamental d'acces a l'information</a:t>
            </a:r>
          </a:p>
          <a:p>
            <a:pPr algn="l">
              <a:lnSpc>
                <a:spcPct val="120000"/>
              </a:lnSpc>
            </a:pPr>
            <a:r>
              <a:rPr sz="1400" lang="fr-FR">
                <a:solidFill>
                  <a:srgbClr val="161616"/>
                </a:solidFill>
                <a:latin typeface="Marianne"/>
              </a:rPr>
              <a:t>• </a:t>
            </a:r>
            <a:r>
              <a:rPr sz="1400" b="0" lang="fr-FR">
                <a:solidFill>
                  <a:srgbClr val="161616"/>
                </a:solidFill>
                <a:latin typeface="Marianne"/>
              </a:rPr>
              <a:t>Lutte contre la discrimination numérique</a:t>
            </a:r>
          </a:p>
          <a:p>
            <a:pPr algn="l">
              <a:lnSpc>
                <a:spcPct val="120000"/>
              </a:lnSpc>
            </a:pPr>
            <a:r>
              <a:rPr sz="1400" lang="fr-FR">
                <a:solidFill>
                  <a:srgbClr val="161616"/>
                </a:solidFill>
                <a:latin typeface="Marianne"/>
              </a:rPr>
              <a:t>• </a:t>
            </a:r>
            <a:r>
              <a:rPr sz="1400" b="0" lang="fr-FR">
                <a:solidFill>
                  <a:srgbClr val="161616"/>
                </a:solidFill>
                <a:latin typeface="Marianne"/>
              </a:rPr>
              <a:t>Inclusion dans la vie professionnelle et citoyenne</a:t>
            </a:r>
          </a:p>
        </p:txBody>
      </p:sp>
      <p:pic>
        <p:nvPicPr>
          <p:cNvPr id="12" name="Picture 11" descr="Couverture de la Charte d'accessibilité de la communication de l'État"/>
          <p:cNvPicPr>
            <a:picLocks noChangeAspect="1"/>
          </p:cNvPicPr>
          <p:nvPr/>
        </p:nvPicPr>
        <p:blipFill>
          <a:blip r:embed="rId2"/>
          <a:stretch>
            <a:fillRect/>
          </a:stretch>
        </p:blipFill>
        <p:spPr>
          <a:xfrm>
            <a:off x="10332719" y="2011680"/>
            <a:ext cx="1371600" cy="2882348"/>
          </a:xfrm>
          <a:prstGeom prst="rect">
            <a:avLst/>
          </a:prstGeom>
        </p:spPr>
      </p:pic>
      <p:graphicFrame>
        <p:nvGraphicFramePr>
          <p:cNvPr id="13" name="Table 12"/>
          <p:cNvGraphicFramePr>
            <a:graphicFrameLocks noGrp="1"/>
          </p:cNvGraphicFramePr>
          <p:nvPr/>
        </p:nvGraphicFramePr>
        <p:xfrm>
          <a:off x="475488" y="3663086"/>
          <a:ext cx="10972800" cy="2057400"/>
        </p:xfrm>
        <a:graphic>
          <a:graphicData uri="http://schemas.openxmlformats.org/drawingml/2006/table">
            <a:tbl>
              <a:tblPr firstRow="1" bandRow="1">
                <a:tableStyleId>{5C22544A-7EE6-4342-B048-85BDC9FD1C3A}</a:tableStyleId>
              </a:tblPr>
              <a:tblGrid>
                <a:gridCol w="5486400"/>
                <a:gridCol w="5486400"/>
              </a:tblGrid>
              <a:tr h="411480">
                <a:tc>
                  <a:txBody>
                    <a:bodyPr wrap="square" anchor="ctr" lIns="73152" rIns="73152"/>
                    <a:lstStyle/>
                    <a:p>
                      <a:pPr algn="l">
                        <a:lnSpc>
                          <a:spcPct val="125000"/>
                        </a:lnSpc>
                      </a:pPr>
                      <a:r>
                        <a:rPr sz="1400" b="1" i="0" lang="fr-FR">
                          <a:solidFill>
                            <a:srgbClr val="FFFFFF"/>
                          </a:solidFill>
                          <a:latin typeface="Marianne"/>
                        </a:rPr>
                        <a:t>Communication 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Communication 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Non compréhension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Acces a l'information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Frustration, enervement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Confiance en soi</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Decrochage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Autonomie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Exclusion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Inclusion sociale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2011680"/>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Accessibiliser sa communication : de quoi parle-t-on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Q4 - Pourquoi | Communication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44</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Transformer une intention d'inclusion en contenus que les publics peuvent lire, comprendre et utiliser.</a:t>
            </a:r>
          </a:p>
        </p:txBody>
      </p:sp>
      <p:sp>
        <p:nvSpPr>
          <p:cNvPr id="12" name="DSFR-box"/>
          <p:cNvSpPr/>
          <p:nvPr/>
        </p:nvSpPr>
        <p:spPr>
          <a:xfrm>
            <a:off x="548640" y="2930652"/>
            <a:ext cx="5390388" cy="21717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questions à garder en tête</a:t>
            </a:r>
          </a:p>
        </p:txBody>
      </p:sp>
      <p:sp>
        <p:nvSpPr>
          <p:cNvPr id="14" name="DSFR-callout-body"/>
          <p:cNvSpPr txBox="1"/>
          <p:nvPr/>
        </p:nvSpPr>
        <p:spPr>
          <a:xfrm>
            <a:off x="704088" y="3433572"/>
            <a:ext cx="5143500" cy="157734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Qui risque d'être empêché par ce support ?</a:t>
            </a:r>
          </a:p>
          <a:p>
            <a:pPr algn="l">
              <a:lnSpc>
                <a:spcPct val="125000"/>
              </a:lnSpc>
            </a:pPr>
            <a:r>
              <a:rPr sz="1400" lang="fr-FR">
                <a:solidFill>
                  <a:srgbClr val="161616"/>
                </a:solidFill>
                <a:latin typeface="Marianne"/>
              </a:rPr>
              <a:t>• </a:t>
            </a:r>
            <a:r>
              <a:rPr sz="1400" b="0" lang="fr-FR">
                <a:solidFill>
                  <a:srgbClr val="161616"/>
                </a:solidFill>
                <a:latin typeface="Marianne"/>
              </a:rPr>
              <a:t>Quel autre chemin donne accès à la même information ?</a:t>
            </a:r>
          </a:p>
          <a:p>
            <a:pPr algn="l">
              <a:lnSpc>
                <a:spcPct val="125000"/>
              </a:lnSpc>
            </a:pPr>
            <a:r>
              <a:rPr sz="1400" lang="fr-FR">
                <a:solidFill>
                  <a:srgbClr val="161616"/>
                </a:solidFill>
                <a:latin typeface="Marianne"/>
              </a:rPr>
              <a:t>• </a:t>
            </a:r>
            <a:r>
              <a:rPr sz="1400" b="0" lang="fr-FR">
                <a:solidFill>
                  <a:srgbClr val="161616"/>
                </a:solidFill>
                <a:latin typeface="Marianne"/>
              </a:rPr>
              <a:t>Quelle règle simple peut être appliquée dès maintenant ?</a:t>
            </a:r>
          </a:p>
        </p:txBody>
      </p:sp>
      <p:sp>
        <p:nvSpPr>
          <p:cNvPr id="16" name="DSFR-box"/>
          <p:cNvSpPr/>
          <p:nvPr/>
        </p:nvSpPr>
        <p:spPr>
          <a:xfrm>
            <a:off x="6313931" y="2930652"/>
            <a:ext cx="5390388" cy="24117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supports concernés</a:t>
            </a:r>
          </a:p>
        </p:txBody>
      </p:sp>
      <p:sp>
        <p:nvSpPr>
          <p:cNvPr id="18" name="DSFR-alert-info-body"/>
          <p:cNvSpPr txBox="1"/>
          <p:nvPr/>
        </p:nvSpPr>
        <p:spPr>
          <a:xfrm>
            <a:off x="6469379" y="3433572"/>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Web : site, application, newsletter, mails</a:t>
            </a:r>
          </a:p>
          <a:p>
            <a:pPr algn="l">
              <a:lnSpc>
                <a:spcPct val="125000"/>
              </a:lnSpc>
            </a:pPr>
            <a:r>
              <a:rPr sz="1400" lang="fr-FR">
                <a:solidFill>
                  <a:srgbClr val="161616"/>
                </a:solidFill>
                <a:latin typeface="Marianne"/>
              </a:rPr>
              <a:t>• </a:t>
            </a:r>
            <a:r>
              <a:rPr sz="1400" b="0" lang="fr-FR">
                <a:solidFill>
                  <a:srgbClr val="161616"/>
                </a:solidFill>
                <a:latin typeface="Marianne"/>
              </a:rPr>
              <a:t>Médias : vidéo, podcast, visuel animé</a:t>
            </a:r>
          </a:p>
          <a:p>
            <a:pPr algn="l">
              <a:lnSpc>
                <a:spcPct val="125000"/>
              </a:lnSpc>
            </a:pPr>
            <a:r>
              <a:rPr sz="1400" lang="fr-FR">
                <a:solidFill>
                  <a:srgbClr val="161616"/>
                </a:solidFill>
                <a:latin typeface="Marianne"/>
              </a:rPr>
              <a:t>• </a:t>
            </a:r>
            <a:r>
              <a:rPr sz="1400" b="0" lang="fr-FR">
                <a:solidFill>
                  <a:srgbClr val="161616"/>
                </a:solidFill>
                <a:latin typeface="Marianne"/>
              </a:rPr>
              <a:t>Documents : PDF, bureautique, formulaires</a:t>
            </a:r>
          </a:p>
          <a:p>
            <a:pPr algn="l">
              <a:lnSpc>
                <a:spcPct val="125000"/>
              </a:lnSpc>
            </a:pPr>
            <a:r>
              <a:rPr sz="1400" lang="fr-FR">
                <a:solidFill>
                  <a:srgbClr val="161616"/>
                </a:solidFill>
                <a:latin typeface="Marianne"/>
              </a:rPr>
              <a:t>• </a:t>
            </a:r>
            <a:r>
              <a:rPr sz="1400" b="0" lang="fr-FR">
                <a:solidFill>
                  <a:srgbClr val="161616"/>
                </a:solidFill>
                <a:latin typeface="Marianne"/>
              </a:rPr>
              <a:t>Imprimés : affiche, flyer, plan, QR code...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30652"/>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30652"/>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5. L'accessibilité numérique, comment s'y mettre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Des outils déjà intégrés à vos postes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Outils intégrés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46</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systèmes d'exploitation et les suites bureautiques intègrent déjà des fonctions d'accessibilité. Pas besoin de tout réinventer.</a:t>
            </a:r>
          </a:p>
        </p:txBody>
      </p:sp>
      <p:sp>
        <p:nvSpPr>
          <p:cNvPr id="12" name="DSFR-box"/>
          <p:cNvSpPr/>
          <p:nvPr/>
        </p:nvSpPr>
        <p:spPr>
          <a:xfrm>
            <a:off x="548640" y="3302812"/>
            <a:ext cx="5390388" cy="165323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Vision</a:t>
            </a:r>
          </a:p>
        </p:txBody>
      </p:sp>
      <p:sp>
        <p:nvSpPr>
          <p:cNvPr id="14" name="DSFR-callout-body"/>
          <p:cNvSpPr txBox="1"/>
          <p:nvPr/>
        </p:nvSpPr>
        <p:spPr>
          <a:xfrm>
            <a:off x="704088" y="3805732"/>
            <a:ext cx="5143500" cy="1058875"/>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Loupe et zoom intégrés</a:t>
            </a:r>
          </a:p>
          <a:p>
            <a:pPr algn="l">
              <a:lnSpc>
                <a:spcPct val="120000"/>
              </a:lnSpc>
            </a:pPr>
            <a:r>
              <a:rPr sz="1400" lang="fr-FR">
                <a:solidFill>
                  <a:srgbClr val="161616"/>
                </a:solidFill>
                <a:latin typeface="Marianne"/>
              </a:rPr>
              <a:t>• </a:t>
            </a:r>
            <a:r>
              <a:rPr sz="1400" b="0" lang="fr-FR">
                <a:solidFill>
                  <a:srgbClr val="161616"/>
                </a:solidFill>
                <a:latin typeface="Marianne"/>
              </a:rPr>
              <a:t>Filtres de couleur et mode sombre</a:t>
            </a:r>
          </a:p>
          <a:p>
            <a:pPr algn="l">
              <a:lnSpc>
                <a:spcPct val="120000"/>
              </a:lnSpc>
            </a:pPr>
            <a:r>
              <a:rPr sz="1400" lang="fr-FR">
                <a:solidFill>
                  <a:srgbClr val="161616"/>
                </a:solidFill>
                <a:latin typeface="Marianne"/>
              </a:rPr>
              <a:t>• </a:t>
            </a:r>
            <a:r>
              <a:rPr sz="1400" b="0" lang="fr-FR">
                <a:solidFill>
                  <a:srgbClr val="161616"/>
                </a:solidFill>
                <a:latin typeface="Marianne"/>
              </a:rPr>
              <a:t>Narrateur / NVDA (lecteur d'écran)</a:t>
            </a:r>
          </a:p>
          <a:p>
            <a:pPr algn="l">
              <a:lnSpc>
                <a:spcPct val="120000"/>
              </a:lnSpc>
            </a:pPr>
            <a:r>
              <a:rPr sz="1400" lang="fr-FR">
                <a:solidFill>
                  <a:srgbClr val="161616"/>
                </a:solidFill>
                <a:latin typeface="Marianne"/>
              </a:rPr>
              <a:t>• </a:t>
            </a:r>
            <a:r>
              <a:rPr sz="1400" b="0" lang="fr-FR">
                <a:solidFill>
                  <a:srgbClr val="161616"/>
                </a:solidFill>
                <a:latin typeface="Marianne"/>
              </a:rPr>
              <a:t>Réglage de la taille du texte</a:t>
            </a:r>
          </a:p>
        </p:txBody>
      </p:sp>
      <p:sp>
        <p:nvSpPr>
          <p:cNvPr id="16" name="DSFR-box"/>
          <p:cNvSpPr/>
          <p:nvPr/>
        </p:nvSpPr>
        <p:spPr>
          <a:xfrm>
            <a:off x="6313931" y="3302812"/>
            <a:ext cx="5390388" cy="188366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Audition et interaction</a:t>
            </a:r>
          </a:p>
        </p:txBody>
      </p:sp>
      <p:sp>
        <p:nvSpPr>
          <p:cNvPr id="18" name="DSFR-callout-body"/>
          <p:cNvSpPr txBox="1"/>
          <p:nvPr/>
        </p:nvSpPr>
        <p:spPr>
          <a:xfrm>
            <a:off x="6469379" y="3805732"/>
            <a:ext cx="5143500" cy="1289304"/>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Sous-titres en temps réel</a:t>
            </a:r>
          </a:p>
          <a:p>
            <a:pPr algn="l">
              <a:lnSpc>
                <a:spcPct val="120000"/>
              </a:lnSpc>
            </a:pPr>
            <a:r>
              <a:rPr sz="1400" lang="fr-FR">
                <a:solidFill>
                  <a:srgbClr val="161616"/>
                </a:solidFill>
                <a:latin typeface="Marianne"/>
              </a:rPr>
              <a:t>• </a:t>
            </a:r>
            <a:r>
              <a:rPr sz="1400" b="0" lang="fr-FR">
                <a:solidFill>
                  <a:srgbClr val="161616"/>
                </a:solidFill>
                <a:latin typeface="Marianne"/>
              </a:rPr>
              <a:t>Commandes vocales</a:t>
            </a:r>
          </a:p>
          <a:p>
            <a:pPr algn="l">
              <a:lnSpc>
                <a:spcPct val="120000"/>
              </a:lnSpc>
            </a:pPr>
            <a:r>
              <a:rPr sz="1400" lang="fr-FR">
                <a:solidFill>
                  <a:srgbClr val="161616"/>
                </a:solidFill>
                <a:latin typeface="Marianne"/>
              </a:rPr>
              <a:t>• </a:t>
            </a:r>
            <a:r>
              <a:rPr sz="1400" b="0" lang="fr-FR">
                <a:solidFill>
                  <a:srgbClr val="161616"/>
                </a:solidFill>
                <a:latin typeface="Marianne"/>
              </a:rPr>
              <a:t>Navigation au clavier</a:t>
            </a:r>
          </a:p>
          <a:p>
            <a:pPr algn="l">
              <a:lnSpc>
                <a:spcPct val="120000"/>
              </a:lnSpc>
            </a:pPr>
            <a:r>
              <a:rPr sz="1400" lang="fr-FR">
                <a:solidFill>
                  <a:srgbClr val="161616"/>
                </a:solidFill>
                <a:latin typeface="Marianne"/>
              </a:rPr>
              <a:t>• </a:t>
            </a:r>
            <a:r>
              <a:rPr sz="1400" b="0" lang="fr-FR">
                <a:solidFill>
                  <a:srgbClr val="161616"/>
                </a:solidFill>
                <a:latin typeface="Marianne"/>
              </a:rPr>
              <a:t>Vérification d'accessibilité (Word, PowerPoint)</a:t>
            </a:r>
          </a:p>
        </p:txBody>
      </p:sp>
      <p:pic>
        <p:nvPicPr>
          <p:cNvPr id="19" name="Picture 18" descr="Logo NVDA - lecteur d'écran gratuit et open source"/>
          <p:cNvPicPr>
            <a:picLocks noChangeAspect="1"/>
          </p:cNvPicPr>
          <p:nvPr/>
        </p:nvPicPr>
        <p:blipFill>
          <a:blip r:embed="rId2"/>
          <a:stretch>
            <a:fillRect/>
          </a:stretch>
        </p:blipFill>
        <p:spPr>
          <a:xfrm>
            <a:off x="5632704" y="5323636"/>
            <a:ext cx="914400" cy="914400"/>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165323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188366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Règles transversales : texte, contraste, QR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Règles transversales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47</a:t>
            </a:r>
            <a:endParaRPr lang="fr-FR" dirty="0"/>
          </a:p>
        </p:txBody>
      </p:sp>
      <p:sp>
        <p:nvSpPr>
          <p:cNvPr id="9" name="DSFR-box"/>
          <p:cNvSpPr/>
          <p:nvPr/>
        </p:nvSpPr>
        <p:spPr>
          <a:xfrm>
            <a:off x="548640" y="2103120"/>
            <a:ext cx="3468623" cy="31432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Textes lisibles</a:t>
            </a:r>
          </a:p>
        </p:txBody>
      </p:sp>
      <p:sp>
        <p:nvSpPr>
          <p:cNvPr id="12" name="DSFR-card-contenu"/>
          <p:cNvSpPr txBox="1"/>
          <p:nvPr/>
        </p:nvSpPr>
        <p:spPr>
          <a:xfrm>
            <a:off x="704088" y="3246120"/>
            <a:ext cx="3176016" cy="19088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Police simple, sans empattement</a:t>
            </a:r>
          </a:p>
          <a:p>
            <a:pPr algn="l">
              <a:lnSpc>
                <a:spcPct val="150000"/>
              </a:lnSpc>
            </a:pPr>
            <a:r>
              <a:rPr sz="1400" lang="fr-FR">
                <a:solidFill>
                  <a:srgbClr val="161616"/>
                </a:solidFill>
                <a:latin typeface="Marianne"/>
              </a:rPr>
              <a:t>• </a:t>
            </a:r>
            <a:r>
              <a:rPr sz="1400" b="0" lang="fr-FR">
                <a:solidFill>
                  <a:srgbClr val="161616"/>
                </a:solidFill>
                <a:latin typeface="Marianne"/>
              </a:rPr>
              <a:t>Alignement à gauche</a:t>
            </a:r>
          </a:p>
          <a:p>
            <a:pPr algn="l">
              <a:lnSpc>
                <a:spcPct val="150000"/>
              </a:lnSpc>
            </a:pPr>
            <a:r>
              <a:rPr sz="1400" lang="fr-FR">
                <a:solidFill>
                  <a:srgbClr val="161616"/>
                </a:solidFill>
                <a:latin typeface="Marianne"/>
              </a:rPr>
              <a:t>• </a:t>
            </a:r>
            <a:r>
              <a:rPr sz="1400" b="0" lang="fr-FR">
                <a:solidFill>
                  <a:srgbClr val="161616"/>
                </a:solidFill>
                <a:latin typeface="Marianne"/>
              </a:rPr>
              <a:t>Paragraphes courts et aérés</a:t>
            </a:r>
          </a:p>
          <a:p>
            <a:pPr algn="l">
              <a:lnSpc>
                <a:spcPct val="150000"/>
              </a:lnSpc>
            </a:pPr>
            <a:r>
              <a:rPr sz="1400" lang="fr-FR">
                <a:solidFill>
                  <a:srgbClr val="161616"/>
                </a:solidFill>
                <a:latin typeface="Marianne"/>
              </a:rPr>
              <a:t>• </a:t>
            </a:r>
            <a:r>
              <a:rPr sz="1400" b="0" lang="fr-FR">
                <a:solidFill>
                  <a:srgbClr val="161616"/>
                </a:solidFill>
                <a:latin typeface="Marianne"/>
              </a:rPr>
              <a:t>Taille adaptée au support final</a:t>
            </a:r>
          </a:p>
        </p:txBody>
      </p:sp>
      <p:sp>
        <p:nvSpPr>
          <p:cNvPr id="14" name="DSFR-box"/>
          <p:cNvSpPr/>
          <p:nvPr/>
        </p:nvSpPr>
        <p:spPr>
          <a:xfrm>
            <a:off x="4392167" y="2103120"/>
            <a:ext cx="3468623" cy="31432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7615"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Contrastes testés</a:t>
            </a:r>
          </a:p>
        </p:txBody>
      </p:sp>
      <p:sp>
        <p:nvSpPr>
          <p:cNvPr id="17" name="DSFR-card-contenu"/>
          <p:cNvSpPr txBox="1"/>
          <p:nvPr/>
        </p:nvSpPr>
        <p:spPr>
          <a:xfrm>
            <a:off x="4547615" y="3246120"/>
            <a:ext cx="3176016" cy="19088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Ratio 4,5:1 minimum</a:t>
            </a:r>
          </a:p>
          <a:p>
            <a:pPr algn="l">
              <a:lnSpc>
                <a:spcPct val="150000"/>
              </a:lnSpc>
            </a:pPr>
            <a:r>
              <a:rPr sz="1400" lang="fr-FR">
                <a:solidFill>
                  <a:srgbClr val="161616"/>
                </a:solidFill>
                <a:latin typeface="Marianne"/>
              </a:rPr>
              <a:t>• </a:t>
            </a:r>
            <a:r>
              <a:rPr sz="1400" b="0" lang="fr-FR">
                <a:solidFill>
                  <a:srgbClr val="161616"/>
                </a:solidFill>
                <a:latin typeface="Marianne"/>
              </a:rPr>
              <a:t>Idéal : viser 7:1</a:t>
            </a:r>
          </a:p>
          <a:p>
            <a:pPr algn="l">
              <a:lnSpc>
                <a:spcPct val="150000"/>
              </a:lnSpc>
            </a:pPr>
            <a:r>
              <a:rPr sz="1400" lang="fr-FR">
                <a:solidFill>
                  <a:srgbClr val="161616"/>
                </a:solidFill>
                <a:latin typeface="Marianne"/>
              </a:rPr>
              <a:t>• </a:t>
            </a:r>
            <a:r>
              <a:rPr sz="1400" b="0" lang="fr-FR">
                <a:solidFill>
                  <a:srgbClr val="161616"/>
                </a:solidFill>
                <a:latin typeface="Marianne"/>
              </a:rPr>
              <a:t>Éviter les dégradés sous le texte</a:t>
            </a:r>
          </a:p>
          <a:p>
            <a:pPr algn="l">
              <a:lnSpc>
                <a:spcPct val="150000"/>
              </a:lnSpc>
            </a:pPr>
            <a:r>
              <a:rPr sz="1400" lang="fr-FR">
                <a:solidFill>
                  <a:srgbClr val="161616"/>
                </a:solidFill>
                <a:latin typeface="Marianne"/>
              </a:rPr>
              <a:t>• </a:t>
            </a:r>
            <a:r>
              <a:rPr sz="1400" b="0" lang="fr-FR">
                <a:solidFill>
                  <a:srgbClr val="161616"/>
                </a:solidFill>
                <a:latin typeface="Marianne"/>
              </a:rPr>
              <a:t>Tester avec un outil, pas à l'œil</a:t>
            </a:r>
          </a:p>
        </p:txBody>
      </p:sp>
      <p:sp>
        <p:nvSpPr>
          <p:cNvPr id="19" name="DSFR-box"/>
          <p:cNvSpPr/>
          <p:nvPr/>
        </p:nvSpPr>
        <p:spPr>
          <a:xfrm>
            <a:off x="8235695" y="2103120"/>
            <a:ext cx="3468623" cy="31432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QR codes utiles</a:t>
            </a:r>
          </a:p>
        </p:txBody>
      </p:sp>
      <p:sp>
        <p:nvSpPr>
          <p:cNvPr id="22" name="DSFR-card-contenu"/>
          <p:cNvSpPr txBox="1"/>
          <p:nvPr/>
        </p:nvSpPr>
        <p:spPr>
          <a:xfrm>
            <a:off x="8391144" y="3246120"/>
            <a:ext cx="3176016" cy="19088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Jamais le seul accès</a:t>
            </a:r>
          </a:p>
          <a:p>
            <a:pPr algn="l">
              <a:lnSpc>
                <a:spcPct val="150000"/>
              </a:lnSpc>
            </a:pPr>
            <a:r>
              <a:rPr sz="1400" lang="fr-FR">
                <a:solidFill>
                  <a:srgbClr val="161616"/>
                </a:solidFill>
                <a:latin typeface="Marianne"/>
              </a:rPr>
              <a:t>• </a:t>
            </a:r>
            <a:r>
              <a:rPr sz="1400" b="0" lang="fr-FR">
                <a:solidFill>
                  <a:srgbClr val="161616"/>
                </a:solidFill>
                <a:latin typeface="Marianne"/>
              </a:rPr>
              <a:t>Lien visible à côté</a:t>
            </a:r>
          </a:p>
          <a:p>
            <a:pPr algn="l">
              <a:lnSpc>
                <a:spcPct val="150000"/>
              </a:lnSpc>
            </a:pPr>
            <a:r>
              <a:rPr sz="1400" lang="fr-FR">
                <a:solidFill>
                  <a:srgbClr val="161616"/>
                </a:solidFill>
                <a:latin typeface="Marianne"/>
              </a:rPr>
              <a:t>• </a:t>
            </a:r>
            <a:r>
              <a:rPr sz="1400" b="0" lang="fr-FR">
                <a:solidFill>
                  <a:srgbClr val="161616"/>
                </a:solidFill>
                <a:latin typeface="Marianne"/>
              </a:rPr>
              <a:t>Mention « Scannez-moi ! »</a:t>
            </a:r>
          </a:p>
          <a:p>
            <a:pPr algn="l">
              <a:lnSpc>
                <a:spcPct val="150000"/>
              </a:lnSpc>
            </a:pPr>
            <a:r>
              <a:rPr sz="1400" lang="fr-FR">
                <a:solidFill>
                  <a:srgbClr val="161616"/>
                </a:solidFill>
                <a:latin typeface="Marianne"/>
              </a:rPr>
              <a:t>• </a:t>
            </a:r>
            <a:r>
              <a:rPr sz="1400" b="0" lang="fr-FR">
                <a:solidFill>
                  <a:srgbClr val="161616"/>
                </a:solidFill>
                <a:latin typeface="Marianne"/>
              </a:rPr>
              <a:t>Taille et contraste suffisants</a:t>
            </a:r>
          </a:p>
        </p:txBody>
      </p:sp>
      <p:sp>
        <p:nvSpPr>
          <p:cNvPr id="24" name="DSFR-box"/>
          <p:cNvSpPr/>
          <p:nvPr/>
        </p:nvSpPr>
        <p:spPr>
          <a:xfrm>
            <a:off x="548640" y="5566409"/>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highlight"/>
          <p:cNvSpPr txBox="1"/>
          <p:nvPr/>
        </p:nvSpPr>
        <p:spPr>
          <a:xfrm>
            <a:off x="749808" y="565784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support accessible ne dépend jamais d'un seul canal.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4547615"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8391144"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103120"/>
            <a:ext cx="73152" cy="31432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9015" y="2103120"/>
            <a:ext cx="73152" cy="31432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62543" y="2103120"/>
            <a:ext cx="73152" cy="31432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475488" y="5566409"/>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FALC et langage clair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FALC et langage clair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48</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Simplifier ne veut pas dire appauvrir : c'est rendre le message accessible au plus grand nombre.</a:t>
            </a:r>
          </a:p>
        </p:txBody>
      </p:sp>
      <p:sp>
        <p:nvSpPr>
          <p:cNvPr id="12" name="DSFR-box"/>
          <p:cNvSpPr/>
          <p:nvPr/>
        </p:nvSpPr>
        <p:spPr>
          <a:xfrm>
            <a:off x="548640" y="299466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FALC - Facile à lire et à comprendre</a:t>
            </a:r>
          </a:p>
        </p:txBody>
      </p:sp>
      <p:sp>
        <p:nvSpPr>
          <p:cNvPr id="14" name="DSFR-callout-body"/>
          <p:cNvSpPr txBox="1"/>
          <p:nvPr/>
        </p:nvSpPr>
        <p:spPr>
          <a:xfrm>
            <a:off x="704088" y="3497579"/>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Règles européennes d'accessibilité cognitive</a:t>
            </a:r>
          </a:p>
          <a:p>
            <a:pPr algn="l">
              <a:lnSpc>
                <a:spcPct val="120000"/>
              </a:lnSpc>
            </a:pPr>
            <a:r>
              <a:rPr sz="1400" lang="fr-FR">
                <a:solidFill>
                  <a:srgbClr val="161616"/>
                </a:solidFill>
                <a:latin typeface="Marianne"/>
              </a:rPr>
              <a:t>• </a:t>
            </a:r>
            <a:r>
              <a:rPr sz="1400" b="0" lang="fr-FR">
                <a:solidFill>
                  <a:srgbClr val="161616"/>
                </a:solidFill>
                <a:latin typeface="Marianne"/>
              </a:rPr>
              <a:t>Phrases courtes, mots simples, une idée par phrase</a:t>
            </a:r>
          </a:p>
          <a:p>
            <a:pPr algn="l">
              <a:lnSpc>
                <a:spcPct val="120000"/>
              </a:lnSpc>
            </a:pPr>
            <a:r>
              <a:rPr sz="1400" lang="fr-FR">
                <a:solidFill>
                  <a:srgbClr val="161616"/>
                </a:solidFill>
                <a:latin typeface="Marianne"/>
              </a:rPr>
              <a:t>• </a:t>
            </a:r>
            <a:r>
              <a:rPr sz="1400" b="0" lang="fr-FR">
                <a:solidFill>
                  <a:srgbClr val="161616"/>
                </a:solidFill>
                <a:latin typeface="Marianne"/>
              </a:rPr>
              <a:t>Images explicatives, mise en page aérée</a:t>
            </a:r>
          </a:p>
          <a:p>
            <a:pPr algn="l">
              <a:lnSpc>
                <a:spcPct val="120000"/>
              </a:lnSpc>
            </a:pPr>
            <a:r>
              <a:rPr sz="1400" lang="fr-FR">
                <a:solidFill>
                  <a:srgbClr val="161616"/>
                </a:solidFill>
                <a:latin typeface="Marianne"/>
              </a:rPr>
              <a:t>• </a:t>
            </a:r>
            <a:r>
              <a:rPr sz="1400" b="0" lang="fr-FR">
                <a:solidFill>
                  <a:srgbClr val="161616"/>
                </a:solidFill>
                <a:latin typeface="Marianne"/>
              </a:rPr>
              <a:t>Validation par des personnes concernées</a:t>
            </a:r>
          </a:p>
        </p:txBody>
      </p:sp>
      <p:sp>
        <p:nvSpPr>
          <p:cNvPr id="16" name="DSFR-box"/>
          <p:cNvSpPr/>
          <p:nvPr/>
        </p:nvSpPr>
        <p:spPr>
          <a:xfrm>
            <a:off x="6313931" y="2994660"/>
            <a:ext cx="5390388" cy="25749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Langage clair</a:t>
            </a:r>
          </a:p>
        </p:txBody>
      </p:sp>
      <p:sp>
        <p:nvSpPr>
          <p:cNvPr id="18" name="DSFR-alert-info-body"/>
          <p:cNvSpPr txBox="1"/>
          <p:nvPr/>
        </p:nvSpPr>
        <p:spPr>
          <a:xfrm>
            <a:off x="6469379" y="3497579"/>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Structurer : titres, listes, paragraphes courts</a:t>
            </a:r>
          </a:p>
          <a:p>
            <a:pPr algn="l">
              <a:lnSpc>
                <a:spcPct val="120000"/>
              </a:lnSpc>
            </a:pPr>
            <a:r>
              <a:rPr sz="1400" lang="fr-FR">
                <a:solidFill>
                  <a:srgbClr val="161616"/>
                </a:solidFill>
                <a:latin typeface="Marianne"/>
              </a:rPr>
              <a:t>• </a:t>
            </a:r>
            <a:r>
              <a:rPr sz="1400" b="0" lang="fr-FR">
                <a:solidFill>
                  <a:srgbClr val="161616"/>
                </a:solidFill>
                <a:latin typeface="Marianne"/>
              </a:rPr>
              <a:t>Expliquer : sigles, jargon, termes techniques</a:t>
            </a:r>
          </a:p>
          <a:p>
            <a:pPr algn="l">
              <a:lnSpc>
                <a:spcPct val="120000"/>
              </a:lnSpc>
            </a:pPr>
            <a:r>
              <a:rPr sz="1400" lang="fr-FR">
                <a:solidFill>
                  <a:srgbClr val="161616"/>
                </a:solidFill>
                <a:latin typeface="Marianne"/>
              </a:rPr>
              <a:t>• </a:t>
            </a:r>
            <a:r>
              <a:rPr sz="1400" b="0" lang="fr-FR">
                <a:solidFill>
                  <a:srgbClr val="161616"/>
                </a:solidFill>
                <a:latin typeface="Marianne"/>
              </a:rPr>
              <a:t>Guider : verbes d'action, consignes explicites</a:t>
            </a:r>
          </a:p>
          <a:p>
            <a:pPr algn="l">
              <a:lnSpc>
                <a:spcPct val="120000"/>
              </a:lnSpc>
            </a:pPr>
            <a:r>
              <a:rPr sz="1400" lang="fr-FR">
                <a:solidFill>
                  <a:srgbClr val="161616"/>
                </a:solidFill>
                <a:latin typeface="Marianne"/>
              </a:rPr>
              <a:t>• </a:t>
            </a:r>
            <a:r>
              <a:rPr sz="1400" b="0" lang="fr-FR">
                <a:solidFill>
                  <a:srgbClr val="161616"/>
                </a:solidFill>
                <a:latin typeface="Marianne"/>
              </a:rPr>
              <a:t>Tester : relecture à voix haute, lisibilité</a:t>
            </a:r>
          </a:p>
        </p:txBody>
      </p:sp>
      <p:pic>
        <p:nvPicPr>
          <p:cNvPr id="19" name="Picture 18" descr="Logo FALC - Facile à lire et à comprendre"/>
          <p:cNvPicPr>
            <a:picLocks noChangeAspect="1"/>
          </p:cNvPicPr>
          <p:nvPr/>
        </p:nvPicPr>
        <p:blipFill>
          <a:blip r:embed="rId2"/>
          <a:stretch>
            <a:fillRect/>
          </a:stretch>
        </p:blipFill>
        <p:spPr>
          <a:xfrm>
            <a:off x="5541264" y="5706770"/>
            <a:ext cx="1097280" cy="996075"/>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Comment s'y mettre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Premiers pas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49</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Des règles et bonnes pratiques simples permettent de garantir l'accessibilité à toutes et tous.</a:t>
            </a:r>
          </a:p>
        </p:txBody>
      </p:sp>
      <p:sp>
        <p:nvSpPr>
          <p:cNvPr id="12" name="DSFR-box"/>
          <p:cNvSpPr/>
          <p:nvPr/>
        </p:nvSpPr>
        <p:spPr>
          <a:xfrm>
            <a:off x="548640" y="299466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4 étapes pour avancer</a:t>
            </a:r>
          </a:p>
        </p:txBody>
      </p:sp>
      <p:sp>
        <p:nvSpPr>
          <p:cNvPr id="14" name="DSFR-callout-body"/>
          <p:cNvSpPr txBox="1"/>
          <p:nvPr/>
        </p:nvSpPr>
        <p:spPr>
          <a:xfrm>
            <a:off x="704088" y="3497579"/>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Être sensibilisé - c'est ce qu'on fait aujourd'hui</a:t>
            </a:r>
          </a:p>
          <a:p>
            <a:pPr algn="l">
              <a:lnSpc>
                <a:spcPct val="120000"/>
              </a:lnSpc>
            </a:pPr>
            <a:r>
              <a:rPr sz="1400" lang="fr-FR">
                <a:solidFill>
                  <a:srgbClr val="161616"/>
                </a:solidFill>
                <a:latin typeface="Marianne"/>
              </a:rPr>
              <a:t>• </a:t>
            </a:r>
            <a:r>
              <a:rPr sz="1400" b="0" lang="fr-FR">
                <a:solidFill>
                  <a:srgbClr val="161616"/>
                </a:solidFill>
                <a:latin typeface="Marianne"/>
              </a:rPr>
              <a:t>Être à l'écoute des besoins spécifiques</a:t>
            </a:r>
          </a:p>
          <a:p>
            <a:pPr algn="l">
              <a:lnSpc>
                <a:spcPct val="120000"/>
              </a:lnSpc>
            </a:pPr>
            <a:r>
              <a:rPr sz="1400" lang="fr-FR">
                <a:solidFill>
                  <a:srgbClr val="161616"/>
                </a:solidFill>
                <a:latin typeface="Marianne"/>
              </a:rPr>
              <a:t>• </a:t>
            </a:r>
            <a:r>
              <a:rPr sz="1400" b="0" lang="fr-FR">
                <a:solidFill>
                  <a:srgbClr val="161616"/>
                </a:solidFill>
                <a:latin typeface="Marianne"/>
              </a:rPr>
              <a:t>Connaître les matériels et logiciels adaptés</a:t>
            </a:r>
          </a:p>
          <a:p>
            <a:pPr algn="l">
              <a:lnSpc>
                <a:spcPct val="120000"/>
              </a:lnSpc>
            </a:pPr>
            <a:r>
              <a:rPr sz="1400" lang="fr-FR">
                <a:solidFill>
                  <a:srgbClr val="161616"/>
                </a:solidFill>
                <a:latin typeface="Marianne"/>
              </a:rPr>
              <a:t>• </a:t>
            </a:r>
            <a:r>
              <a:rPr sz="1400" b="0" lang="fr-FR">
                <a:solidFill>
                  <a:srgbClr val="161616"/>
                </a:solidFill>
                <a:latin typeface="Marianne"/>
              </a:rPr>
              <a:t>Se former pour découvrir un nouvel univers</a:t>
            </a:r>
          </a:p>
        </p:txBody>
      </p:sp>
      <p:sp>
        <p:nvSpPr>
          <p:cNvPr id="16" name="DSFR-box"/>
          <p:cNvSpPr/>
          <p:nvPr/>
        </p:nvSpPr>
        <p:spPr>
          <a:xfrm>
            <a:off x="6313931" y="2994660"/>
            <a:ext cx="5390388" cy="234452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Offre de formation</a:t>
            </a:r>
          </a:p>
        </p:txBody>
      </p:sp>
      <p:sp>
        <p:nvSpPr>
          <p:cNvPr id="18" name="DSFR-alert-success-body"/>
          <p:cNvSpPr txBox="1"/>
          <p:nvPr/>
        </p:nvSpPr>
        <p:spPr>
          <a:xfrm>
            <a:off x="6469379" y="3497579"/>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Mentor (en ligne) : l'accessibilité numérique selon votre métier</a:t>
            </a:r>
          </a:p>
          <a:p>
            <a:pPr algn="l">
              <a:lnSpc>
                <a:spcPct val="120000"/>
              </a:lnSpc>
            </a:pPr>
            <a:r>
              <a:rPr sz="1400" lang="fr-FR">
                <a:solidFill>
                  <a:srgbClr val="161616"/>
                </a:solidFill>
                <a:latin typeface="Marianne"/>
              </a:rPr>
              <a:t>• </a:t>
            </a:r>
            <a:r>
              <a:rPr sz="1400" b="0" lang="fr-FR">
                <a:solidFill>
                  <a:srgbClr val="161616"/>
                </a:solidFill>
                <a:latin typeface="Marianne"/>
              </a:rPr>
              <a:t>IGPDE : l'accessibilité numérique pour la bureautique et le web (réf. 102846)</a:t>
            </a:r>
          </a:p>
          <a:p>
            <a:pPr algn="l">
              <a:lnSpc>
                <a:spcPct val="120000"/>
              </a:lnSpc>
            </a:pPr>
            <a:r>
              <a:rPr sz="1400" lang="fr-FR">
                <a:solidFill>
                  <a:srgbClr val="161616"/>
                </a:solidFill>
                <a:latin typeface="Marianne"/>
              </a:rPr>
              <a:t>• </a:t>
            </a:r>
            <a:r>
              <a:rPr sz="1400" b="0" lang="fr-FR">
                <a:solidFill>
                  <a:srgbClr val="161616"/>
                </a:solidFill>
                <a:latin typeface="Marianne"/>
              </a:rPr>
              <a:t>DINUM : sensibilisation, design inclusif, audit RGAA</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FALC : la méthode en 5 étapes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FALC méthode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Il est tres difficile de faire simple ! Le FALC suit un processus rigoureux.</a:t>
            </a:r>
          </a:p>
        </p:txBody>
      </p:sp>
      <p:sp>
        <p:nvSpPr>
          <p:cNvPr id="12" name="DSFR-box"/>
          <p:cNvSpPr/>
          <p:nvPr/>
        </p:nvSpPr>
        <p:spPr>
          <a:xfrm>
            <a:off x="548640" y="2948940"/>
            <a:ext cx="5390388" cy="29397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5 étapes</a:t>
            </a:r>
          </a:p>
        </p:txBody>
      </p:sp>
      <p:sp>
        <p:nvSpPr>
          <p:cNvPr id="14" name="DSFR-callout-body"/>
          <p:cNvSpPr txBox="1"/>
          <p:nvPr/>
        </p:nvSpPr>
        <p:spPr>
          <a:xfrm>
            <a:off x="704088" y="3451860"/>
            <a:ext cx="5143500" cy="2345436"/>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1. Préparatoire : recherches, résumé simplifié, contrôle des contre-sens</a:t>
            </a:r>
          </a:p>
          <a:p>
            <a:pPr algn="l">
              <a:lnSpc>
                <a:spcPct val="115000"/>
              </a:lnSpc>
            </a:pPr>
            <a:r>
              <a:rPr sz="1400" lang="fr-FR">
                <a:solidFill>
                  <a:srgbClr val="161616"/>
                </a:solidFill>
                <a:latin typeface="Marianne"/>
              </a:rPr>
              <a:t>• </a:t>
            </a:r>
            <a:r>
              <a:rPr sz="1400" b="0" lang="fr-FR">
                <a:solidFill>
                  <a:srgbClr val="161616"/>
                </a:solidFill>
                <a:latin typeface="Marianne"/>
              </a:rPr>
              <a:t>2. Transcription en duo : simplification, illustrations, mise en page</a:t>
            </a:r>
          </a:p>
          <a:p>
            <a:pPr algn="l">
              <a:lnSpc>
                <a:spcPct val="115000"/>
              </a:lnSpc>
            </a:pPr>
            <a:r>
              <a:rPr sz="1400" lang="fr-FR">
                <a:solidFill>
                  <a:srgbClr val="161616"/>
                </a:solidFill>
                <a:latin typeface="Marianne"/>
              </a:rPr>
              <a:t>• </a:t>
            </a:r>
            <a:r>
              <a:rPr sz="1400" b="0" lang="fr-FR">
                <a:solidFill>
                  <a:srgbClr val="161616"/>
                </a:solidFill>
                <a:latin typeface="Marianne"/>
              </a:rPr>
              <a:t>3. Validation : relecture par des personnes handicapees intellectuelles</a:t>
            </a:r>
          </a:p>
          <a:p>
            <a:pPr algn="l">
              <a:lnSpc>
                <a:spcPct val="115000"/>
              </a:lnSpc>
            </a:pPr>
            <a:r>
              <a:rPr sz="1400" lang="fr-FR">
                <a:solidFill>
                  <a:srgbClr val="161616"/>
                </a:solidFill>
                <a:latin typeface="Marianne"/>
              </a:rPr>
              <a:t>• </a:t>
            </a:r>
            <a:r>
              <a:rPr sz="1400" b="0" lang="fr-FR">
                <a:solidFill>
                  <a:srgbClr val="161616"/>
                </a:solidFill>
                <a:latin typeface="Marianne"/>
              </a:rPr>
              <a:t>4. Publication : logo FALC, credit des personnes impliquees</a:t>
            </a:r>
          </a:p>
          <a:p>
            <a:pPr algn="l">
              <a:lnSpc>
                <a:spcPct val="115000"/>
              </a:lnSpc>
            </a:pPr>
            <a:r>
              <a:rPr sz="1400" lang="fr-FR">
                <a:solidFill>
                  <a:srgbClr val="161616"/>
                </a:solidFill>
                <a:latin typeface="Marianne"/>
              </a:rPr>
              <a:t>• </a:t>
            </a:r>
            <a:r>
              <a:rPr sz="1400" b="0" lang="fr-FR">
                <a:solidFill>
                  <a:srgbClr val="161616"/>
                </a:solidFill>
                <a:latin typeface="Marianne"/>
              </a:rPr>
              <a:t>5. Iteration : savoir dire stop - un texte ne sera jamais compris a 100 %</a:t>
            </a:r>
          </a:p>
        </p:txBody>
      </p:sp>
      <p:sp>
        <p:nvSpPr>
          <p:cNvPr id="16" name="DSFR-box"/>
          <p:cNvSpPr/>
          <p:nvPr/>
        </p:nvSpPr>
        <p:spPr>
          <a:xfrm>
            <a:off x="6313931" y="2948940"/>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Conditions obligatoires</a:t>
            </a:r>
          </a:p>
        </p:txBody>
      </p:sp>
      <p:sp>
        <p:nvSpPr>
          <p:cNvPr id="18" name="DSFR-alert-warning-body"/>
          <p:cNvSpPr txBox="1"/>
          <p:nvPr/>
        </p:nvSpPr>
        <p:spPr>
          <a:xfrm>
            <a:off x="6469379" y="3451860"/>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Validation par des personnes concernées (obligatoire)</a:t>
            </a:r>
          </a:p>
          <a:p>
            <a:pPr algn="l">
              <a:lnSpc>
                <a:spcPct val="115000"/>
              </a:lnSpc>
            </a:pPr>
            <a:r>
              <a:rPr sz="1400" lang="fr-FR">
                <a:solidFill>
                  <a:srgbClr val="161616"/>
                </a:solidFill>
                <a:latin typeface="Marianne"/>
              </a:rPr>
              <a:t>• </a:t>
            </a:r>
            <a:r>
              <a:rPr sz="1400" b="0" lang="fr-FR">
                <a:solidFill>
                  <a:srgbClr val="161616"/>
                </a:solidFill>
                <a:latin typeface="Marianne"/>
              </a:rPr>
              <a:t>80 % des critères FALC respectes (Unapei)</a:t>
            </a:r>
          </a:p>
          <a:p>
            <a:pPr algn="l">
              <a:lnSpc>
                <a:spcPct val="115000"/>
              </a:lnSpc>
            </a:pPr>
            <a:r>
              <a:rPr sz="1400" lang="fr-FR">
                <a:solidFill>
                  <a:srgbClr val="161616"/>
                </a:solidFill>
                <a:latin typeface="Marianne"/>
              </a:rPr>
              <a:t>• </a:t>
            </a:r>
            <a:r>
              <a:rPr sz="1400" b="0" lang="fr-FR">
                <a:solidFill>
                  <a:srgbClr val="161616"/>
                </a:solidFill>
                <a:latin typeface="Marianne"/>
              </a:rPr>
              <a:t>Logo europeen FALC + credit des valideurs</a:t>
            </a:r>
          </a:p>
        </p:txBody>
      </p:sp>
      <p:pic>
        <p:nvPicPr>
          <p:cNvPr id="19" name="Picture 18" descr="Couverture du guide Unapei - L'information pour tous"/>
          <p:cNvPicPr>
            <a:picLocks noChangeAspect="1"/>
          </p:cNvPicPr>
          <p:nvPr/>
        </p:nvPicPr>
        <p:blipFill>
          <a:blip r:embed="rId2"/>
          <a:stretch>
            <a:fillRect/>
          </a:stretch>
        </p:blipFill>
        <p:spPr>
          <a:xfrm>
            <a:off x="8515350" y="5614416"/>
            <a:ext cx="914400" cy="190702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48940"/>
            <a:ext cx="73152" cy="29397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48940"/>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Exemple : le rapport DIA en version accessible et FALC</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FALC exemple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51</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rapport d'activité 2024 de la Délégation interministérielle à l'accessibilité existe en PDF accessible et en version FALC.</a:t>
            </a:r>
          </a:p>
        </p:txBody>
      </p:sp>
      <p:pic>
        <p:nvPicPr>
          <p:cNvPr id="11" name="Picture 10" descr="Logo europeen FALC - personnage lisant un document avec pouce leve"/>
          <p:cNvPicPr>
            <a:picLocks noChangeAspect="1"/>
          </p:cNvPicPr>
          <p:nvPr/>
        </p:nvPicPr>
        <p:blipFill>
          <a:blip r:embed="rId2"/>
          <a:stretch>
            <a:fillRect/>
          </a:stretch>
        </p:blipFill>
        <p:spPr>
          <a:xfrm>
            <a:off x="2658618" y="2766060"/>
            <a:ext cx="1097280" cy="1097280"/>
          </a:xfrm>
          <a:prstGeom prst="rect">
            <a:avLst/>
          </a:prstGeom>
        </p:spPr>
      </p:pic>
      <p:pic>
        <p:nvPicPr>
          <p:cNvPr id="12" name="Picture 11" descr="Couverture du rapport d'activité 2024 de la DIA en version FALC"/>
          <p:cNvPicPr>
            <a:picLocks noChangeAspect="1"/>
          </p:cNvPicPr>
          <p:nvPr/>
        </p:nvPicPr>
        <p:blipFill>
          <a:blip r:embed="rId3"/>
          <a:stretch>
            <a:fillRect/>
          </a:stretch>
        </p:blipFill>
        <p:spPr>
          <a:xfrm>
            <a:off x="8423909" y="2766060"/>
            <a:ext cx="1097280" cy="1097280"/>
          </a:xfrm>
          <a:prstGeom prst="rect">
            <a:avLst/>
          </a:prstGeom>
        </p:spPr>
      </p:pic>
      <p:sp>
        <p:nvSpPr>
          <p:cNvPr id="14" name="DSFR-box"/>
          <p:cNvSpPr/>
          <p:nvPr/>
        </p:nvSpPr>
        <p:spPr>
          <a:xfrm>
            <a:off x="548640" y="4046220"/>
            <a:ext cx="5390388"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704088"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PDF accessible</a:t>
            </a:r>
          </a:p>
        </p:txBody>
      </p:sp>
      <p:sp>
        <p:nvSpPr>
          <p:cNvPr id="16" name="DSFR-callout-body"/>
          <p:cNvSpPr txBox="1"/>
          <p:nvPr/>
        </p:nvSpPr>
        <p:spPr>
          <a:xfrm>
            <a:off x="704088" y="4549140"/>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Structure balisée (titres, listes, tableaux)</a:t>
            </a:r>
          </a:p>
          <a:p>
            <a:pPr algn="l">
              <a:lnSpc>
                <a:spcPct val="115000"/>
              </a:lnSpc>
            </a:pPr>
            <a:r>
              <a:rPr sz="1400" lang="fr-FR">
                <a:solidFill>
                  <a:srgbClr val="161616"/>
                </a:solidFill>
                <a:latin typeface="Marianne"/>
              </a:rPr>
              <a:t>• </a:t>
            </a:r>
            <a:r>
              <a:rPr sz="1400" b="0" lang="fr-FR">
                <a:solidFill>
                  <a:srgbClr val="161616"/>
                </a:solidFill>
                <a:latin typeface="Marianne"/>
              </a:rPr>
              <a:t>Alt text sur les images, ordre de lecture logique</a:t>
            </a:r>
          </a:p>
          <a:p>
            <a:pPr algn="l">
              <a:lnSpc>
                <a:spcPct val="115000"/>
              </a:lnSpc>
            </a:pPr>
            <a:r>
              <a:rPr sz="1400" lang="fr-FR">
                <a:solidFill>
                  <a:srgbClr val="161616"/>
                </a:solidFill>
                <a:latin typeface="Marianne"/>
              </a:rPr>
              <a:t>• </a:t>
            </a:r>
            <a:r>
              <a:rPr sz="1400" b="0" u="sng" lang="fr-FR">
                <a:solidFill>
                  <a:srgbClr val="000091"/>
                </a:solidFill>
                <a:latin typeface="Marianne"/>
                <a:hlinkClick r:id="rId4"/>
              </a:rPr>
              <a:t>Télécharger (handicap.gouv.fr)</a:t>
            </a:r>
          </a:p>
        </p:txBody>
      </p:sp>
      <p:sp>
        <p:nvSpPr>
          <p:cNvPr id="18" name="DSFR-box"/>
          <p:cNvSpPr/>
          <p:nvPr/>
        </p:nvSpPr>
        <p:spPr>
          <a:xfrm>
            <a:off x="6313931" y="4046220"/>
            <a:ext cx="5390388"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6469379"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Version FALC</a:t>
            </a:r>
          </a:p>
        </p:txBody>
      </p:sp>
      <p:sp>
        <p:nvSpPr>
          <p:cNvPr id="20" name="DSFR-callout-body"/>
          <p:cNvSpPr txBox="1"/>
          <p:nvPr/>
        </p:nvSpPr>
        <p:spPr>
          <a:xfrm>
            <a:off x="6469379" y="454914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Phrases courtes, vocabulaire simple, pictogrammes</a:t>
            </a:r>
          </a:p>
          <a:p>
            <a:pPr algn="l">
              <a:lnSpc>
                <a:spcPct val="115000"/>
              </a:lnSpc>
            </a:pPr>
            <a:r>
              <a:rPr sz="1400" lang="fr-FR">
                <a:solidFill>
                  <a:srgbClr val="161616"/>
                </a:solidFill>
                <a:latin typeface="Marianne"/>
              </a:rPr>
              <a:t>• </a:t>
            </a:r>
            <a:r>
              <a:rPr sz="1400" b="0" lang="fr-FR">
                <a:solidFill>
                  <a:srgbClr val="161616"/>
                </a:solidFill>
                <a:latin typeface="Marianne"/>
              </a:rPr>
              <a:t>Validé par des personnes concernées</a:t>
            </a:r>
          </a:p>
          <a:p>
            <a:pPr algn="l">
              <a:lnSpc>
                <a:spcPct val="115000"/>
              </a:lnSpc>
            </a:pPr>
            <a:r>
              <a:rPr sz="1400" lang="fr-FR">
                <a:solidFill>
                  <a:srgbClr val="161616"/>
                </a:solidFill>
                <a:latin typeface="Marianne"/>
              </a:rPr>
              <a:t>• </a:t>
            </a:r>
            <a:r>
              <a:rPr sz="1400" b="0" u="sng" lang="fr-FR">
                <a:solidFill>
                  <a:srgbClr val="000091"/>
                </a:solidFill>
                <a:latin typeface="Marianne"/>
                <a:hlinkClick r:id="rId5"/>
              </a:rPr>
              <a:t>Télécharger (handicap.gouv.fr)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622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6240779" y="404622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L'accessibilité dès la conception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Q5 - Comment | Conception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52</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L'accessibilité rend les choses possibles pour certains et plus simples pour tous.</a:t>
            </a:r>
          </a:p>
        </p:txBody>
      </p:sp>
      <p:pic>
        <p:nvPicPr>
          <p:cNvPr id="11" name="Picture 10" descr="Escalier avec rampe intégrée dès la conception : la pente douce est fondue dans les marches, utilisable par tous sans aménagement postérieur"/>
          <p:cNvPicPr>
            <a:picLocks noChangeAspect="1"/>
          </p:cNvPicPr>
          <p:nvPr/>
        </p:nvPicPr>
        <p:blipFill>
          <a:blip r:embed="rId2"/>
          <a:stretch>
            <a:fillRect/>
          </a:stretch>
        </p:blipFill>
        <p:spPr>
          <a:xfrm>
            <a:off x="475488" y="2994660"/>
            <a:ext cx="5486400" cy="2560320"/>
          </a:xfrm>
          <a:prstGeom prst="rect">
            <a:avLst/>
          </a:prstGeom>
        </p:spPr>
      </p:pic>
      <p:sp>
        <p:nvSpPr>
          <p:cNvPr id="13" name="DSFR-box"/>
          <p:cNvSpPr/>
          <p:nvPr/>
        </p:nvSpPr>
        <p:spPr>
          <a:xfrm>
            <a:off x="6355080" y="2994660"/>
            <a:ext cx="5349240" cy="222930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510528" y="3086100"/>
            <a:ext cx="51023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Concevoir accessible, pas adapter après</a:t>
            </a:r>
          </a:p>
        </p:txBody>
      </p:sp>
      <p:sp>
        <p:nvSpPr>
          <p:cNvPr id="15" name="DSFR-callout-body"/>
          <p:cNvSpPr txBox="1"/>
          <p:nvPr/>
        </p:nvSpPr>
        <p:spPr>
          <a:xfrm>
            <a:off x="6510528" y="3497579"/>
            <a:ext cx="5102352" cy="1634947"/>
          </a:xfrm>
          <a:prstGeom prst="rect">
            <a:avLst/>
          </a:prstGeom>
          <a:noFill/>
        </p:spPr>
        <p:txBody>
          <a:bodyPr wrap="square" lIns="73152" rIns="73152">
            <a:spAutoFit/>
          </a:bodyPr>
          <a:lstStyle/>
          <a:p>
            <a:pPr algn="l">
              <a:lnSpc>
                <a:spcPct val="130000"/>
              </a:lnSpc>
            </a:pPr>
            <a:r>
              <a:rPr sz="1400" lang="fr-FR">
                <a:solidFill>
                  <a:srgbClr val="161616"/>
                </a:solidFill>
                <a:latin typeface="Marianne"/>
              </a:rPr>
              <a:t>• </a:t>
            </a:r>
            <a:r>
              <a:rPr sz="1400" b="0" lang="fr-FR">
                <a:solidFill>
                  <a:srgbClr val="161616"/>
                </a:solidFill>
                <a:latin typeface="Marianne"/>
              </a:rPr>
              <a:t>Intégrer l'accessibilité dès le début, pas en rattrapage</a:t>
            </a:r>
          </a:p>
          <a:p>
            <a:pPr algn="l">
              <a:lnSpc>
                <a:spcPct val="130000"/>
              </a:lnSpc>
            </a:pPr>
            <a:r>
              <a:rPr sz="1400" lang="fr-FR">
                <a:solidFill>
                  <a:srgbClr val="161616"/>
                </a:solidFill>
                <a:latin typeface="Marianne"/>
              </a:rPr>
              <a:t>• </a:t>
            </a:r>
            <a:r>
              <a:rPr sz="1400" b="0" lang="fr-FR">
                <a:solidFill>
                  <a:srgbClr val="161616"/>
                </a:solidFill>
                <a:latin typeface="Marianne"/>
              </a:rPr>
              <a:t>Un document bien structuré profite à tous les lecteurs</a:t>
            </a:r>
          </a:p>
          <a:p>
            <a:pPr algn="l">
              <a:lnSpc>
                <a:spcPct val="130000"/>
              </a:lnSpc>
            </a:pPr>
            <a:r>
              <a:rPr sz="1400" lang="fr-FR">
                <a:solidFill>
                  <a:srgbClr val="161616"/>
                </a:solidFill>
                <a:latin typeface="Marianne"/>
              </a:rPr>
              <a:t>• </a:t>
            </a:r>
            <a:r>
              <a:rPr sz="1400" b="0" lang="fr-FR">
                <a:solidFill>
                  <a:srgbClr val="161616"/>
                </a:solidFill>
                <a:latin typeface="Marianne"/>
              </a:rPr>
              <a:t>La rampe intégrée est plus élégante que la rampe ajoutée</a:t>
            </a:r>
          </a:p>
        </p:txBody>
      </p:sp>
      <p:pic>
        <p:nvPicPr>
          <p:cNvPr id="16" name="Picture 15" descr="Bandeau #accessibleatous : pictogrammes poussette, personne âgée, femme enceinte, fauteuil roulant"/>
          <p:cNvPicPr>
            <a:picLocks noChangeAspect="1"/>
          </p:cNvPicPr>
          <p:nvPr/>
        </p:nvPicPr>
        <p:blipFill>
          <a:blip r:embed="rId3"/>
          <a:stretch>
            <a:fillRect/>
          </a:stretch>
        </p:blipFill>
        <p:spPr>
          <a:xfrm>
            <a:off x="4489704" y="5692140"/>
            <a:ext cx="3200400" cy="1229736"/>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81928" y="2994660"/>
            <a:ext cx="73152" cy="22293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Module 1 - ce que vous retenez</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1. Introduction | Points clés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53</a:t>
            </a:r>
            <a:endParaRPr lang="fr-FR" dirty="0"/>
          </a:p>
        </p:txBody>
      </p:sp>
      <p:sp>
        <p:nvSpPr>
          <p:cNvPr id="9" name="DSFR-box"/>
          <p:cNvSpPr/>
          <p:nvPr/>
        </p:nvSpPr>
        <p:spPr>
          <a:xfrm>
            <a:off x="548640" y="210312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info-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points à retenir</a:t>
            </a:r>
          </a:p>
        </p:txBody>
      </p:sp>
      <p:sp>
        <p:nvSpPr>
          <p:cNvPr id="11" name="DSFR-alert-info-body"/>
          <p:cNvSpPr txBox="1"/>
          <p:nvPr/>
        </p:nvSpPr>
        <p:spPr>
          <a:xfrm>
            <a:off x="704088" y="2606039"/>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L'accessibilité relève de l'</a:t>
            </a:r>
            <a:r>
              <a:rPr sz="1400" b="1" lang="fr-FR">
                <a:solidFill>
                  <a:srgbClr val="161616"/>
                </a:solidFill>
                <a:latin typeface="Marianne"/>
              </a:rPr>
              <a:t>équité</a:t>
            </a:r>
            <a:r>
              <a:rPr sz="1400" b="0" lang="fr-FR">
                <a:solidFill>
                  <a:srgbClr val="161616"/>
                </a:solidFill>
                <a:latin typeface="Marianne"/>
              </a:rPr>
              <a:t> et du droit, pas de la bonne volonté</a:t>
            </a:r>
          </a:p>
          <a:p>
            <a:pPr algn="l">
              <a:lnSpc>
                <a:spcPct val="150000"/>
              </a:lnSpc>
            </a:pPr>
            <a:r>
              <a:rPr sz="1400" lang="fr-FR">
                <a:solidFill>
                  <a:srgbClr val="161616"/>
                </a:solidFill>
                <a:latin typeface="Marianne"/>
              </a:rPr>
              <a:t>• </a:t>
            </a:r>
            <a:r>
              <a:rPr sz="1400" b="0" lang="fr-FR">
                <a:solidFill>
                  <a:srgbClr val="161616"/>
                </a:solidFill>
                <a:latin typeface="Marianne"/>
              </a:rPr>
              <a:t>Les WCAG et le RGAA donnent un cadre pour vérifier ce qui est conforme</a:t>
            </a:r>
          </a:p>
          <a:p>
            <a:pPr algn="l">
              <a:lnSpc>
                <a:spcPct val="150000"/>
              </a:lnSpc>
            </a:pPr>
            <a:r>
              <a:rPr sz="1400" lang="fr-FR">
                <a:solidFill>
                  <a:srgbClr val="161616"/>
                </a:solidFill>
                <a:latin typeface="Marianne"/>
              </a:rPr>
              <a:t>• </a:t>
            </a:r>
            <a:r>
              <a:rPr sz="1400" b="0" lang="fr-FR">
                <a:solidFill>
                  <a:srgbClr val="161616"/>
                </a:solidFill>
                <a:latin typeface="Marianne"/>
              </a:rPr>
              <a:t>Les premiers réflexes : texte lisible, contraste testé, alternative disponible</a:t>
            </a:r>
          </a:p>
        </p:txBody>
      </p:sp>
      <p:sp>
        <p:nvSpPr>
          <p:cNvPr id="13" name="DSFR-box"/>
          <p:cNvSpPr/>
          <p:nvPr/>
        </p:nvSpPr>
        <p:spPr>
          <a:xfrm>
            <a:off x="548640" y="3977639"/>
            <a:ext cx="5390388" cy="21945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encadre-titre"/>
          <p:cNvSpPr txBox="1"/>
          <p:nvPr/>
        </p:nvSpPr>
        <p:spPr>
          <a:xfrm>
            <a:off x="704088" y="4114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Dès demain matin</a:t>
            </a:r>
          </a:p>
        </p:txBody>
      </p:sp>
      <p:sp>
        <p:nvSpPr>
          <p:cNvPr id="15" name="DSFR-encadre-bullets"/>
          <p:cNvSpPr txBox="1"/>
          <p:nvPr/>
        </p:nvSpPr>
        <p:spPr>
          <a:xfrm>
            <a:off x="704088" y="4572000"/>
            <a:ext cx="5097779" cy="14630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Relire une communication récente</a:t>
            </a:r>
          </a:p>
          <a:p>
            <a:pPr algn="l">
              <a:lnSpc>
                <a:spcPct val="150000"/>
              </a:lnSpc>
            </a:pPr>
            <a:r>
              <a:rPr sz="1400" lang="fr-FR">
                <a:solidFill>
                  <a:srgbClr val="161616"/>
                </a:solidFill>
                <a:latin typeface="Marianne"/>
              </a:rPr>
              <a:t>• </a:t>
            </a:r>
            <a:r>
              <a:rPr sz="1400" b="0" lang="fr-FR">
                <a:solidFill>
                  <a:srgbClr val="161616"/>
                </a:solidFill>
                <a:latin typeface="Marianne"/>
              </a:rPr>
              <a:t>Vérifier texte et contraste</a:t>
            </a:r>
          </a:p>
          <a:p>
            <a:pPr algn="l">
              <a:lnSpc>
                <a:spcPct val="150000"/>
              </a:lnSpc>
            </a:pPr>
            <a:r>
              <a:rPr sz="1400" lang="fr-FR">
                <a:solidFill>
                  <a:srgbClr val="161616"/>
                </a:solidFill>
                <a:latin typeface="Marianne"/>
              </a:rPr>
              <a:t>• </a:t>
            </a:r>
            <a:r>
              <a:rPr sz="1400" b="0" lang="fr-FR">
                <a:solidFill>
                  <a:srgbClr val="161616"/>
                </a:solidFill>
                <a:latin typeface="Marianne"/>
              </a:rPr>
              <a:t>Chercher la déclaration d'accessibilité du site</a:t>
            </a:r>
          </a:p>
        </p:txBody>
      </p:sp>
      <p:sp>
        <p:nvSpPr>
          <p:cNvPr id="17" name="DSFR-box"/>
          <p:cNvSpPr/>
          <p:nvPr/>
        </p:nvSpPr>
        <p:spPr>
          <a:xfrm>
            <a:off x="6313931" y="3977639"/>
            <a:ext cx="5390388" cy="21945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6469379" y="4114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Cette semaine</a:t>
            </a:r>
          </a:p>
        </p:txBody>
      </p:sp>
      <p:sp>
        <p:nvSpPr>
          <p:cNvPr id="19" name="DSFR-encadre-bullets"/>
          <p:cNvSpPr txBox="1"/>
          <p:nvPr/>
        </p:nvSpPr>
        <p:spPr>
          <a:xfrm>
            <a:off x="6469379" y="4572000"/>
            <a:ext cx="5097779" cy="14630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Partager les constats avec l'équipe</a:t>
            </a:r>
          </a:p>
          <a:p>
            <a:pPr algn="l">
              <a:lnSpc>
                <a:spcPct val="150000"/>
              </a:lnSpc>
            </a:pPr>
            <a:r>
              <a:rPr sz="1400" lang="fr-FR">
                <a:solidFill>
                  <a:srgbClr val="161616"/>
                </a:solidFill>
                <a:latin typeface="Marianne"/>
              </a:rPr>
              <a:t>• </a:t>
            </a:r>
            <a:r>
              <a:rPr sz="1400" b="0" lang="fr-FR">
                <a:solidFill>
                  <a:srgbClr val="161616"/>
                </a:solidFill>
                <a:latin typeface="Marianne"/>
              </a:rPr>
              <a:t>Choisir 3 règles transversales à appliquer à chaque publication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1</a:t>
            </a:r>
          </a:p>
        </p:txBody>
      </p:sp>
      <p:sp>
        <p:nvSpPr>
          <p:cNvPr id="8" name="DSFR-accent-decoratif" descr=""/>
          <p:cNvSpPr/>
          <p:nvPr/>
        </p:nvSpPr>
        <p:spPr>
          <a:xfrm>
            <a:off x="475488" y="210312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3977639"/>
            <a:ext cx="73152" cy="21945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6240779" y="3977639"/>
            <a:ext cx="73152" cy="21945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54</a:t>
            </a:r>
            <a:endParaRPr lang="fr-FR" dirty="0"/>
          </a:p>
        </p:txBody>
      </p:sp>
      <p:sp>
        <p:nvSpPr>
          <p:cNvPr id="7" name="DSFR-box"/>
          <p:cNvSpPr/>
          <p:nvPr/>
        </p:nvSpPr>
        <p:spPr>
          <a:xfrm>
            <a:off x="621792" y="2743200"/>
            <a:ext cx="11082528" cy="2011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68980"/>
            <a:ext cx="10680192" cy="1143000"/>
          </a:xfrm>
          <a:prstGeom prst="rect">
            <a:avLst/>
          </a:prstGeom>
          <a:noFill/>
        </p:spPr>
        <p:txBody>
          <a:bodyPr wrap="square"/>
          <a:lstStyle/>
          <a:p>
            <a:pPr algn="l">
              <a:spcBef>
                <a:spcPts val="0"/>
              </a:spcBef>
            </a:pPr>
            <a:r>
              <a:rPr sz="3200" b="1" lang="fr-FR">
                <a:solidFill>
                  <a:srgbClr val="000091"/>
                </a:solidFill>
                <a:latin typeface="Marianne"/>
              </a:rPr>
              <a:t>2. Documents bureautiques accessibles</a:t>
            </a:r>
          </a:p>
          <a:p>
            <a:pPr algn="l">
              <a:spcBef>
                <a:spcPts val="800"/>
              </a:spcBef>
            </a:pPr>
            <a:r>
              <a:rPr sz="2200" b="0" lang="fr-FR">
                <a:solidFill>
                  <a:srgbClr val="000091"/>
                </a:solidFill>
                <a:latin typeface="Marianne"/>
              </a:rPr>
              <a:t>Mise en pratique</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Documents bureautiques accessibles</a:t>
            </a:r>
          </a:p>
        </p:txBody>
      </p:sp>
      <p:sp>
        <p:nvSpPr>
          <p:cNvPr id="6" name="DSFR-accent-decoratif" descr=""/>
          <p:cNvSpPr/>
          <p:nvPr/>
        </p:nvSpPr>
        <p:spPr>
          <a:xfrm>
            <a:off x="475488" y="2743200"/>
            <a:ext cx="146304" cy="2011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lecteur d'écran en action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Ouverture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55</a:t>
            </a:r>
            <a:endParaRPr lang="fr-FR" dirty="0"/>
          </a:p>
        </p:txBody>
      </p:sp>
      <p:sp>
        <p:nvSpPr>
          <p:cNvPr id="9" name="DSFR-box"/>
          <p:cNvSpPr/>
          <p:nvPr/>
        </p:nvSpPr>
        <p:spPr>
          <a:xfrm>
            <a:off x="548640" y="2103120"/>
            <a:ext cx="11155680" cy="256032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quote-texte"/>
          <p:cNvSpPr txBox="1"/>
          <p:nvPr/>
        </p:nvSpPr>
        <p:spPr>
          <a:xfrm>
            <a:off x="749808" y="2240279"/>
            <a:ext cx="10863072" cy="2286000"/>
          </a:xfrm>
          <a:prstGeom prst="rect">
            <a:avLst/>
          </a:prstGeom>
          <a:noFill/>
        </p:spPr>
        <p:txBody>
          <a:bodyPr wrap="square" anchor="t" lIns="73152" rIns="73152">
            <a:spAutoFit/>
          </a:bodyPr>
          <a:lstStyle/>
          <a:p>
            <a:pPr algn="l">
              <a:lnSpc>
                <a:spcPct val="125000"/>
              </a:lnSpc>
            </a:pPr>
            <a:r>
              <a:rPr sz="1600" b="0" i="1" lang="fr-FR">
                <a:solidFill>
                  <a:srgbClr val="161616"/>
                </a:solidFill>
                <a:latin typeface="Marianne"/>
              </a:rPr>
              <a:t>Texte, texte, texte, texte, texte, texte ...</a:t>
            </a:r>
          </a:p>
          <a:p>
            <a:pPr algn="l">
              <a:lnSpc>
                <a:spcPct val="125000"/>
              </a:lnSpc>
            </a:pPr>
            <a:r>
              <a:rPr sz="1600" i="1" lang="fr-FR">
                <a:solidFill>
                  <a:srgbClr val="161616"/>
                </a:solidFill>
                <a:latin typeface="Marianne"/>
              </a:rPr>
              <a:t/>
            </a:r>
          </a:p>
          <a:p>
            <a:pPr algn="l">
              <a:lnSpc>
                <a:spcPct val="125000"/>
              </a:lnSpc>
            </a:pPr>
            <a:r>
              <a:rPr sz="1600" i="1" lang="fr-FR">
                <a:solidFill>
                  <a:srgbClr val="161616"/>
                </a:solidFill>
                <a:latin typeface="Marianne"/>
              </a:rPr>
              <a:t>Pendant 4 minutes. Sans titre. Sans repère.</a:t>
            </a:r>
          </a:p>
          <a:p>
            <a:pPr algn="l">
              <a:lnSpc>
                <a:spcPct val="125000"/>
              </a:lnSpc>
            </a:pPr>
            <a:r>
              <a:rPr sz="1600" i="1" lang="fr-FR">
                <a:solidFill>
                  <a:srgbClr val="161616"/>
                </a:solidFill>
                <a:latin typeface="Marianne"/>
              </a:rPr>
              <a:t>Sans pouvoir naviguer vers la section qui le concerne.</a:t>
            </a:r>
          </a:p>
          <a:p>
            <a:pPr algn="l">
              <a:lnSpc>
                <a:spcPct val="125000"/>
              </a:lnSpc>
            </a:pPr>
            <a:r>
              <a:rPr sz="1600" i="1" lang="fr-FR">
                <a:solidFill>
                  <a:srgbClr val="161616"/>
                </a:solidFill>
                <a:latin typeface="Marianne"/>
              </a:rPr>
              <a:t/>
            </a:r>
          </a:p>
          <a:p>
            <a:pPr algn="l">
              <a:lnSpc>
                <a:spcPct val="125000"/>
              </a:lnSpc>
            </a:pPr>
            <a:r>
              <a:rPr sz="1600" i="1" lang="fr-FR">
                <a:solidFill>
                  <a:srgbClr val="161616"/>
                </a:solidFill>
                <a:latin typeface="Marianne"/>
              </a:rPr>
              <a:t>-&gt; C'est ce qu'entend une personne malvoyante face à votre document Word.</a:t>
            </a:r>
          </a:p>
        </p:txBody>
      </p:sp>
      <p:sp>
        <p:nvSpPr>
          <p:cNvPr id="12" name="DSFR-box"/>
          <p:cNvSpPr/>
          <p:nvPr/>
        </p:nvSpPr>
        <p:spPr>
          <a:xfrm>
            <a:off x="548640" y="4800600"/>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warning-titre"/>
          <p:cNvSpPr txBox="1"/>
          <p:nvPr/>
        </p:nvSpPr>
        <p:spPr>
          <a:xfrm>
            <a:off x="704088" y="48920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15 % de vos destinataires sont concernés</a:t>
            </a:r>
          </a:p>
        </p:txBody>
      </p:sp>
      <p:sp>
        <p:nvSpPr>
          <p:cNvPr id="14" name="DSFR-alert-warning-body"/>
          <p:cNvSpPr txBox="1"/>
          <p:nvPr/>
        </p:nvSpPr>
        <p:spPr>
          <a:xfrm>
            <a:off x="704088" y="530352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80 % de ces handicaps sont invisibles</a:t>
            </a:r>
          </a:p>
          <a:p>
            <a:pPr algn="l">
              <a:lnSpc>
                <a:spcPct val="115000"/>
              </a:lnSpc>
            </a:pPr>
            <a:r>
              <a:rPr sz="1400" lang="fr-FR">
                <a:solidFill>
                  <a:srgbClr val="161616"/>
                </a:solidFill>
                <a:latin typeface="Marianne"/>
              </a:rPr>
              <a:t>• </a:t>
            </a:r>
            <a:r>
              <a:rPr sz="1400" b="0" lang="fr-FR">
                <a:solidFill>
                  <a:srgbClr val="161616"/>
                </a:solidFill>
                <a:latin typeface="Marianne"/>
              </a:rPr>
              <a:t>Dans une réunion de 12 personnes : au moins 1 daltonien</a:t>
            </a:r>
          </a:p>
          <a:p>
            <a:pPr algn="l">
              <a:lnSpc>
                <a:spcPct val="115000"/>
              </a:lnSpc>
            </a:pPr>
            <a:r>
              <a:rPr sz="1400" lang="fr-FR">
                <a:solidFill>
                  <a:srgbClr val="161616"/>
                </a:solidFill>
                <a:latin typeface="Marianne"/>
              </a:rPr>
              <a:t>• </a:t>
            </a:r>
            <a:r>
              <a:rPr sz="1400" b="0" lang="fr-FR">
                <a:solidFill>
                  <a:srgbClr val="161616"/>
                </a:solidFill>
                <a:latin typeface="Marianne"/>
              </a:rPr>
              <a:t>Parmi 30 destinataires : 4 ou 5 ont un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Contexte</a:t>
            </a:r>
          </a:p>
        </p:txBody>
      </p:sp>
      <p:sp>
        <p:nvSpPr>
          <p:cNvPr id="8" name="DSFR-accent-decoratif" descr=""/>
          <p:cNvSpPr/>
          <p:nvPr/>
        </p:nvSpPr>
        <p:spPr>
          <a:xfrm>
            <a:off x="475488" y="2103120"/>
            <a:ext cx="73152" cy="25603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480060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Quiz - lequel de ces deux documents est accessible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Quiz flash</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56</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Ils sont visuellement identiques. Lequel préférez-vous pour NVDA ?</a:t>
            </a:r>
          </a:p>
        </p:txBody>
      </p:sp>
      <p:sp>
        <p:nvSpPr>
          <p:cNvPr id="12" name="DSFR-box"/>
          <p:cNvSpPr/>
          <p:nvPr/>
        </p:nvSpPr>
        <p:spPr>
          <a:xfrm>
            <a:off x="548640" y="3314700"/>
            <a:ext cx="5390388" cy="19088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 A</a:t>
            </a:r>
          </a:p>
        </p:txBody>
      </p:sp>
      <p:sp>
        <p:nvSpPr>
          <p:cNvPr id="14" name="DSFR-card-contenu"/>
          <p:cNvSpPr txBox="1"/>
          <p:nvPr/>
        </p:nvSpPr>
        <p:spPr>
          <a:xfrm>
            <a:off x="704088" y="3909059"/>
            <a:ext cx="5097779" cy="12230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Titres mis en gras, police Arial 16</a:t>
            </a:r>
          </a:p>
          <a:p>
            <a:pPr algn="l">
              <a:lnSpc>
                <a:spcPct val="150000"/>
              </a:lnSpc>
            </a:pPr>
            <a:r>
              <a:rPr sz="1400" lang="fr-FR">
                <a:solidFill>
                  <a:srgbClr val="161616"/>
                </a:solidFill>
                <a:latin typeface="Marianne"/>
              </a:rPr>
              <a:t>• </a:t>
            </a:r>
            <a:r>
              <a:rPr sz="1400" b="0" lang="fr-FR">
                <a:solidFill>
                  <a:srgbClr val="161616"/>
                </a:solidFill>
                <a:latin typeface="Marianne"/>
              </a:rPr>
              <a:t>Image sans description</a:t>
            </a:r>
          </a:p>
          <a:p>
            <a:pPr algn="l">
              <a:lnSpc>
                <a:spcPct val="150000"/>
              </a:lnSpc>
            </a:pPr>
            <a:r>
              <a:rPr sz="1400" lang="fr-FR">
                <a:solidFill>
                  <a:srgbClr val="161616"/>
                </a:solidFill>
                <a:latin typeface="Marianne"/>
              </a:rPr>
              <a:t>• </a:t>
            </a:r>
            <a:r>
              <a:rPr sz="1400" b="0" lang="fr-FR">
                <a:solidFill>
                  <a:srgbClr val="161616"/>
                </a:solidFill>
                <a:latin typeface="Marianne"/>
              </a:rPr>
              <a:t>Fichier nommé Document1.docx</a:t>
            </a:r>
          </a:p>
        </p:txBody>
      </p:sp>
      <p:sp>
        <p:nvSpPr>
          <p:cNvPr id="16" name="DSFR-box"/>
          <p:cNvSpPr/>
          <p:nvPr/>
        </p:nvSpPr>
        <p:spPr>
          <a:xfrm>
            <a:off x="6313931" y="3314700"/>
            <a:ext cx="5390388" cy="19088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 B</a:t>
            </a:r>
          </a:p>
        </p:txBody>
      </p:sp>
      <p:sp>
        <p:nvSpPr>
          <p:cNvPr id="18" name="DSFR-card-contenu"/>
          <p:cNvSpPr txBox="1"/>
          <p:nvPr/>
        </p:nvSpPr>
        <p:spPr>
          <a:xfrm>
            <a:off x="6469379" y="3909059"/>
            <a:ext cx="5097779" cy="122301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Titres avec le style « Titre 1 »</a:t>
            </a:r>
          </a:p>
          <a:p>
            <a:pPr algn="l">
              <a:lnSpc>
                <a:spcPct val="150000"/>
              </a:lnSpc>
            </a:pPr>
            <a:r>
              <a:rPr sz="1400" lang="fr-FR">
                <a:solidFill>
                  <a:srgbClr val="161616"/>
                </a:solidFill>
                <a:latin typeface="Marianne"/>
              </a:rPr>
              <a:t>• </a:t>
            </a:r>
            <a:r>
              <a:rPr sz="1400" b="0" lang="fr-FR">
                <a:solidFill>
                  <a:srgbClr val="161616"/>
                </a:solidFill>
                <a:latin typeface="Marianne"/>
              </a:rPr>
              <a:t>Image avec texte alternatif</a:t>
            </a:r>
          </a:p>
          <a:p>
            <a:pPr algn="l">
              <a:lnSpc>
                <a:spcPct val="150000"/>
              </a:lnSpc>
            </a:pPr>
            <a:r>
              <a:rPr sz="1400" lang="fr-FR">
                <a:solidFill>
                  <a:srgbClr val="161616"/>
                </a:solidFill>
                <a:latin typeface="Marianne"/>
              </a:rPr>
              <a:t>• </a:t>
            </a:r>
            <a:r>
              <a:rPr sz="1400" b="0" lang="fr-FR">
                <a:solidFill>
                  <a:srgbClr val="161616"/>
                </a:solidFill>
                <a:latin typeface="Marianne"/>
              </a:rPr>
              <a:t>Fichier nommé rapport-bilan-2024.docx</a:t>
            </a:r>
          </a:p>
        </p:txBody>
      </p:sp>
      <p:sp>
        <p:nvSpPr>
          <p:cNvPr id="20" name="DSFR-box"/>
          <p:cNvSpPr/>
          <p:nvPr/>
        </p:nvSpPr>
        <p:spPr>
          <a:xfrm>
            <a:off x="548640" y="554355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63499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Votre réponse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Quiz</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9088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14700"/>
            <a:ext cx="73152" cy="19088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54355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Pourquoi ça vous concerne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57</a:t>
            </a:r>
            <a:endParaRPr lang="fr-FR" dirty="0"/>
          </a:p>
        </p:txBody>
      </p:sp>
      <p:sp>
        <p:nvSpPr>
          <p:cNvPr id="8" name="DSFR-kpi-pave"/>
          <p:cNvSpPr/>
          <p:nvPr/>
        </p:nvSpPr>
        <p:spPr>
          <a:xfrm>
            <a:off x="475488"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15 %</a:t>
            </a:r>
          </a:p>
        </p:txBody>
      </p:sp>
      <p:sp>
        <p:nvSpPr>
          <p:cNvPr id="9" name="DSFR-kpi-label"/>
          <p:cNvSpPr txBox="1"/>
          <p:nvPr/>
        </p:nvSpPr>
        <p:spPr>
          <a:xfrm>
            <a:off x="475488"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 vos destinataires sont concernés par un handicap</a:t>
            </a:r>
          </a:p>
        </p:txBody>
      </p:sp>
      <p:sp>
        <p:nvSpPr>
          <p:cNvPr id="10" name="DSFR-kpi-pave"/>
          <p:cNvSpPr/>
          <p:nvPr/>
        </p:nvSpPr>
        <p:spPr>
          <a:xfrm>
            <a:off x="4319015"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80 %</a:t>
            </a:r>
          </a:p>
        </p:txBody>
      </p:sp>
      <p:sp>
        <p:nvSpPr>
          <p:cNvPr id="11" name="DSFR-kpi-label"/>
          <p:cNvSpPr txBox="1"/>
          <p:nvPr/>
        </p:nvSpPr>
        <p:spPr>
          <a:xfrm>
            <a:off x="4319015"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 ces handicaps sont invisibles - rien ne le montre</a:t>
            </a:r>
          </a:p>
        </p:txBody>
      </p:sp>
      <p:sp>
        <p:nvSpPr>
          <p:cNvPr id="12" name="DSFR-kpi-pave"/>
          <p:cNvSpPr/>
          <p:nvPr/>
        </p:nvSpPr>
        <p:spPr>
          <a:xfrm>
            <a:off x="8162543"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0 ligne</a:t>
            </a:r>
          </a:p>
        </p:txBody>
      </p:sp>
      <p:sp>
        <p:nvSpPr>
          <p:cNvPr id="13" name="DSFR-kpi-label"/>
          <p:cNvSpPr txBox="1"/>
          <p:nvPr/>
        </p:nvSpPr>
        <p:spPr>
          <a:xfrm>
            <a:off x="8162543"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 code nécessaire - uniquement des réflexes dans le ruban Word</a:t>
            </a:r>
          </a:p>
        </p:txBody>
      </p:sp>
      <p:sp>
        <p:nvSpPr>
          <p:cNvPr id="15" name="DSFR-box"/>
          <p:cNvSpPr/>
          <p:nvPr/>
        </p:nvSpPr>
        <p:spPr>
          <a:xfrm>
            <a:off x="548640" y="379476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886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Réponse au quiz : Document B</a:t>
            </a:r>
          </a:p>
        </p:txBody>
      </p:sp>
      <p:sp>
        <p:nvSpPr>
          <p:cNvPr id="17" name="DSFR-callout-body"/>
          <p:cNvSpPr txBox="1"/>
          <p:nvPr/>
        </p:nvSpPr>
        <p:spPr>
          <a:xfrm>
            <a:off x="704088" y="429768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 style Titre 1 crée une structure de navigation</a:t>
            </a:r>
          </a:p>
          <a:p>
            <a:pPr algn="l">
              <a:lnSpc>
                <a:spcPct val="125000"/>
              </a:lnSpc>
            </a:pPr>
            <a:r>
              <a:rPr sz="1400" lang="fr-FR">
                <a:solidFill>
                  <a:srgbClr val="161616"/>
                </a:solidFill>
                <a:latin typeface="Marianne"/>
              </a:rPr>
              <a:t>• </a:t>
            </a:r>
            <a:r>
              <a:rPr sz="1400" b="0" lang="fr-FR">
                <a:solidFill>
                  <a:srgbClr val="161616"/>
                </a:solidFill>
                <a:latin typeface="Marianne"/>
              </a:rPr>
              <a:t>Le texte de remplacement décrit la fonction de l'image</a:t>
            </a:r>
          </a:p>
          <a:p>
            <a:pPr algn="l">
              <a:lnSpc>
                <a:spcPct val="125000"/>
              </a:lnSpc>
            </a:pPr>
            <a:r>
              <a:rPr sz="1400" lang="fr-FR">
                <a:solidFill>
                  <a:srgbClr val="161616"/>
                </a:solidFill>
                <a:latin typeface="Marianne"/>
              </a:rPr>
              <a:t>• </a:t>
            </a:r>
            <a:r>
              <a:rPr sz="1400" b="0" lang="fr-FR">
                <a:solidFill>
                  <a:srgbClr val="161616"/>
                </a:solidFill>
                <a:latin typeface="Marianne"/>
              </a:rPr>
              <a:t>Le nom de fichier permet de retrouver le 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Pourquoi</a:t>
            </a:r>
          </a:p>
        </p:txBody>
      </p:sp>
      <p:sp>
        <p:nvSpPr>
          <p:cNvPr id="14" name="DSFR-accent-decoratif" descr=""/>
          <p:cNvSpPr/>
          <p:nvPr/>
        </p:nvSpPr>
        <p:spPr>
          <a:xfrm>
            <a:off x="475488" y="379476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5 thèmes, 21 critères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thème = des critères actionnables immédiatement dans le ruban Word.</a:t>
            </a:r>
          </a:p>
        </p:txBody>
      </p:sp>
      <p:graphicFrame>
        <p:nvGraphicFramePr>
          <p:cNvPr id="11" name="Table 10"/>
          <p:cNvGraphicFramePr>
            <a:graphicFrameLocks noGrp="1"/>
          </p:cNvGraphicFramePr>
          <p:nvPr/>
        </p:nvGraphicFramePr>
        <p:xfrm>
          <a:off x="475488" y="3337560"/>
          <a:ext cx="11228831" cy="2468880"/>
        </p:xfrm>
        <a:graphic>
          <a:graphicData uri="http://schemas.openxmlformats.org/drawingml/2006/table">
            <a:tbl>
              <a:tblPr firstRow="1" bandRow="1">
                <a:tableStyleId>{5C22544A-7EE6-4342-B048-85BDC9FD1C3A}</a:tableStyleId>
              </a:tblPr>
              <a:tblGrid>
                <a:gridCol w="3200400"/>
                <a:gridCol w="8028431"/>
              </a:tblGrid>
              <a:tr h="411480">
                <a:tc>
                  <a:txBody>
                    <a:bodyPr wrap="square" anchor="ctr" lIns="73152" rIns="73152"/>
                    <a:lstStyle/>
                    <a:p>
                      <a:pPr algn="l">
                        <a:lnSpc>
                          <a:spcPct val="125000"/>
                        </a:lnSpc>
                      </a:pPr>
                      <a:r>
                        <a:rPr sz="1400" b="1" i="0" lang="fr-FR">
                          <a:solidFill>
                            <a:srgbClr val="FFFFFF"/>
                          </a:solidFill>
                          <a:latin typeface="Marianne"/>
                        </a:rPr>
                        <a:t>Thème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que vous allez apprendre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1. Structure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Titres, listes, colonnes, tableaux, sauts de page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2. Couleurs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Rapport de contraste, couleur porteuse de sens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3. Contenu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Texte alternatif, objets alignés, liens descriptifs</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4. Langue et lisibilité</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Balisage linguistique, majuscules, espaces répétés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5. Finalisation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Vérificateur d'accessibilité, propriétés du document, export PDF</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Vue d'ensemble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Les styles de titre : le fondement de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1. Structure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59</a:t>
            </a:r>
            <a:endParaRPr lang="fr-FR" dirty="0"/>
          </a:p>
        </p:txBody>
      </p:sp>
      <p:sp>
        <p:nvSpPr>
          <p:cNvPr id="9" name="DSFR-box"/>
          <p:cNvSpPr/>
          <p:nvPr/>
        </p:nvSpPr>
        <p:spPr>
          <a:xfrm>
            <a:off x="548640" y="192024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Comment un lecteur d'écran repère-t-il les titres dans Word ?</a:t>
            </a:r>
          </a:p>
        </p:txBody>
      </p:sp>
      <p:sp>
        <p:nvSpPr>
          <p:cNvPr id="12" name="DSFR-box"/>
          <p:cNvSpPr/>
          <p:nvPr/>
        </p:nvSpPr>
        <p:spPr>
          <a:xfrm>
            <a:off x="548640" y="2834640"/>
            <a:ext cx="5390388" cy="1783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2971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Sans styles de titre</a:t>
            </a:r>
          </a:p>
        </p:txBody>
      </p:sp>
      <p:sp>
        <p:nvSpPr>
          <p:cNvPr id="14" name="DSFR-card-contenu"/>
          <p:cNvSpPr txBox="1"/>
          <p:nvPr/>
        </p:nvSpPr>
        <p:spPr>
          <a:xfrm>
            <a:off x="704088" y="3429000"/>
            <a:ext cx="5097779" cy="10972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Un bloc plat, sans repère de navigation</a:t>
            </a:r>
          </a:p>
          <a:p>
            <a:pPr algn="l">
              <a:lnSpc>
                <a:spcPct val="150000"/>
              </a:lnSpc>
            </a:pPr>
            <a:r>
              <a:rPr sz="1400" lang="fr-FR">
                <a:solidFill>
                  <a:srgbClr val="161616"/>
                </a:solidFill>
                <a:latin typeface="Marianne"/>
              </a:rPr>
              <a:t>• </a:t>
            </a:r>
            <a:r>
              <a:rPr sz="1400" b="0" lang="fr-FR">
                <a:solidFill>
                  <a:srgbClr val="161616"/>
                </a:solidFill>
                <a:latin typeface="Marianne"/>
              </a:rPr>
              <a:t>Le lecteur d'écran ne peut pas aller de titre en titre</a:t>
            </a:r>
          </a:p>
          <a:p>
            <a:pPr algn="l">
              <a:lnSpc>
                <a:spcPct val="150000"/>
              </a:lnSpc>
            </a:pPr>
            <a:r>
              <a:rPr sz="1400" lang="fr-FR">
                <a:solidFill>
                  <a:srgbClr val="161616"/>
                </a:solidFill>
                <a:latin typeface="Marianne"/>
              </a:rPr>
              <a:t>• </a:t>
            </a:r>
            <a:r>
              <a:rPr sz="1400" b="0" lang="fr-FR">
                <a:solidFill>
                  <a:srgbClr val="161616"/>
                </a:solidFill>
                <a:latin typeface="Marianne"/>
              </a:rPr>
              <a:t>L'utilisateur doit écouter tout le document</a:t>
            </a:r>
          </a:p>
        </p:txBody>
      </p:sp>
      <p:sp>
        <p:nvSpPr>
          <p:cNvPr id="16" name="DSFR-box"/>
          <p:cNvSpPr/>
          <p:nvPr/>
        </p:nvSpPr>
        <p:spPr>
          <a:xfrm>
            <a:off x="6313931" y="2834640"/>
            <a:ext cx="5390388" cy="1783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29718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Avec Titre 1, Titre 2, Titre 3</a:t>
            </a:r>
          </a:p>
        </p:txBody>
      </p:sp>
      <p:sp>
        <p:nvSpPr>
          <p:cNvPr id="18" name="DSFR-card-contenu"/>
          <p:cNvSpPr txBox="1"/>
          <p:nvPr/>
        </p:nvSpPr>
        <p:spPr>
          <a:xfrm>
            <a:off x="6469379" y="3429000"/>
            <a:ext cx="5097779" cy="10972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 1 : Rapport annuel</a:t>
            </a:r>
          </a:p>
          <a:p>
            <a:pPr algn="l">
              <a:lnSpc>
                <a:spcPct val="150000"/>
              </a:lnSpc>
            </a:pPr>
            <a:r>
              <a:rPr sz="1400" lang="fr-FR">
                <a:solidFill>
                  <a:srgbClr val="161616"/>
                </a:solidFill>
                <a:latin typeface="Marianne"/>
              </a:rPr>
              <a:t>• </a:t>
            </a:r>
            <a:r>
              <a:rPr sz="1400" b="0" lang="fr-FR">
                <a:solidFill>
                  <a:srgbClr val="161616"/>
                </a:solidFill>
                <a:latin typeface="Marianne"/>
              </a:rPr>
              <a:t>Titre 2 : Budget / Titre 3 : Prévisions</a:t>
            </a:r>
          </a:p>
          <a:p>
            <a:pPr algn="l">
              <a:lnSpc>
                <a:spcPct val="150000"/>
              </a:lnSpc>
            </a:pPr>
            <a:r>
              <a:rPr sz="1400" lang="fr-FR">
                <a:solidFill>
                  <a:srgbClr val="161616"/>
                </a:solidFill>
                <a:latin typeface="Marianne"/>
              </a:rPr>
              <a:t>• </a:t>
            </a:r>
            <a:r>
              <a:rPr sz="1400" b="0" lang="fr-FR">
                <a:solidFill>
                  <a:srgbClr val="161616"/>
                </a:solidFill>
                <a:latin typeface="Marianne"/>
              </a:rPr>
              <a:t>Navigation rapide, comme une table des matières</a:t>
            </a:r>
          </a:p>
        </p:txBody>
      </p:sp>
      <p:sp>
        <p:nvSpPr>
          <p:cNvPr id="20" name="DSFR-box"/>
          <p:cNvSpPr/>
          <p:nvPr/>
        </p:nvSpPr>
        <p:spPr>
          <a:xfrm>
            <a:off x="548640" y="4681728"/>
            <a:ext cx="11155680" cy="1371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818888"/>
            <a:ext cx="10863072"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faire</a:t>
            </a:r>
          </a:p>
        </p:txBody>
      </p:sp>
      <p:sp>
        <p:nvSpPr>
          <p:cNvPr id="22" name="DSFR-card-contenu"/>
          <p:cNvSpPr txBox="1"/>
          <p:nvPr/>
        </p:nvSpPr>
        <p:spPr>
          <a:xfrm>
            <a:off x="704088" y="5276088"/>
            <a:ext cx="10863072" cy="685799"/>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Appliquer : Accueil &gt; Styles &gt; Titre 1, Titre 2 ou Titre 3</a:t>
            </a:r>
          </a:p>
          <a:p>
            <a:pPr algn="l">
              <a:lnSpc>
                <a:spcPct val="150000"/>
              </a:lnSpc>
            </a:pPr>
            <a:r>
              <a:rPr sz="1400" lang="fr-FR">
                <a:solidFill>
                  <a:srgbClr val="161616"/>
                </a:solidFill>
                <a:latin typeface="Marianne"/>
              </a:rPr>
              <a:t>• </a:t>
            </a:r>
            <a:r>
              <a:rPr sz="1400" b="0" lang="fr-FR">
                <a:solidFill>
                  <a:srgbClr val="161616"/>
                </a:solidFill>
                <a:latin typeface="Marianne"/>
              </a:rPr>
              <a:t>Vérifier : Ctrl+F &gt; onglet Titres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Structure</a:t>
            </a:r>
          </a:p>
        </p:txBody>
      </p:sp>
      <p:sp>
        <p:nvSpPr>
          <p:cNvPr id="8" name="DSFR-accent-decoratif" descr=""/>
          <p:cNvSpPr/>
          <p:nvPr/>
        </p:nvSpPr>
        <p:spPr>
          <a:xfrm>
            <a:off x="475488" y="192024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34640"/>
            <a:ext cx="73152" cy="1783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834640"/>
            <a:ext cx="73152" cy="1783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681728"/>
            <a:ext cx="73152" cy="1371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Listes natives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1. Structure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60</a:t>
            </a:r>
            <a:endParaRPr lang="fr-FR" dirty="0"/>
          </a:p>
        </p:txBody>
      </p:sp>
      <p:sp>
        <p:nvSpPr>
          <p:cNvPr id="9" name="DSFR-box"/>
          <p:cNvSpPr/>
          <p:nvPr/>
        </p:nvSpPr>
        <p:spPr>
          <a:xfrm>
            <a:off x="548640" y="224028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success-titre"/>
          <p:cNvSpPr txBox="1"/>
          <p:nvPr/>
        </p:nvSpPr>
        <p:spPr>
          <a:xfrm>
            <a:off x="704088" y="23317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  Liste accessible</a:t>
            </a:r>
          </a:p>
        </p:txBody>
      </p:sp>
      <p:sp>
        <p:nvSpPr>
          <p:cNvPr id="11" name="DSFR-alert-success-body"/>
          <p:cNvSpPr txBox="1"/>
          <p:nvPr/>
        </p:nvSpPr>
        <p:spPr>
          <a:xfrm>
            <a:off x="704088" y="2743200"/>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Le lecteur annonce : liste de 3 éléments, élément 1 sur 3</a:t>
            </a:r>
          </a:p>
          <a:p>
            <a:pPr algn="l">
              <a:lnSpc>
                <a:spcPct val="150000"/>
              </a:lnSpc>
            </a:pPr>
            <a:r>
              <a:rPr sz="1400" lang="fr-FR">
                <a:solidFill>
                  <a:srgbClr val="161616"/>
                </a:solidFill>
                <a:latin typeface="Marianne"/>
              </a:rPr>
              <a:t>• </a:t>
            </a:r>
            <a:r>
              <a:rPr sz="1400" b="0" lang="fr-FR">
                <a:solidFill>
                  <a:srgbClr val="161616"/>
                </a:solidFill>
                <a:latin typeface="Marianne"/>
              </a:rPr>
              <a:t>Navigation par élément avec les touches flèches</a:t>
            </a:r>
          </a:p>
          <a:p>
            <a:pPr algn="l">
              <a:lnSpc>
                <a:spcPct val="150000"/>
              </a:lnSpc>
            </a:pPr>
            <a:r>
              <a:rPr sz="1400" lang="fr-FR">
                <a:solidFill>
                  <a:srgbClr val="161616"/>
                </a:solidFill>
                <a:latin typeface="Marianne"/>
              </a:rPr>
              <a:t>• </a:t>
            </a:r>
            <a:r>
              <a:rPr sz="1400" b="0" lang="fr-FR">
                <a:solidFill>
                  <a:srgbClr val="161616"/>
                </a:solidFill>
                <a:latin typeface="Marianne"/>
              </a:rPr>
              <a:t>Créer avec : Accueil &gt; Paragraphe &gt; Puces ou Numérotation</a:t>
            </a:r>
          </a:p>
        </p:txBody>
      </p:sp>
      <p:sp>
        <p:nvSpPr>
          <p:cNvPr id="13" name="DSFR-box"/>
          <p:cNvSpPr/>
          <p:nvPr/>
        </p:nvSpPr>
        <p:spPr>
          <a:xfrm>
            <a:off x="6313931" y="224028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error-titre"/>
          <p:cNvSpPr txBox="1"/>
          <p:nvPr/>
        </p:nvSpPr>
        <p:spPr>
          <a:xfrm>
            <a:off x="6469379" y="23317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  Liste inaccessible</a:t>
            </a:r>
          </a:p>
        </p:txBody>
      </p:sp>
      <p:sp>
        <p:nvSpPr>
          <p:cNvPr id="15" name="DSFR-alert-error-body"/>
          <p:cNvSpPr txBox="1"/>
          <p:nvPr/>
        </p:nvSpPr>
        <p:spPr>
          <a:xfrm>
            <a:off x="6469379" y="2743200"/>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Tirets manuels : le lecteur lit tiret Premier élément</a:t>
            </a:r>
          </a:p>
          <a:p>
            <a:pPr algn="l">
              <a:lnSpc>
                <a:spcPct val="150000"/>
              </a:lnSpc>
            </a:pPr>
            <a:r>
              <a:rPr sz="1400" lang="fr-FR">
                <a:solidFill>
                  <a:srgbClr val="161616"/>
                </a:solidFill>
                <a:latin typeface="Marianne"/>
              </a:rPr>
              <a:t>• </a:t>
            </a:r>
            <a:r>
              <a:rPr sz="1400" b="0" lang="fr-FR">
                <a:solidFill>
                  <a:srgbClr val="161616"/>
                </a:solidFill>
                <a:latin typeface="Marianne"/>
              </a:rPr>
              <a:t>Tabulations pour simuler une numérotation</a:t>
            </a:r>
          </a:p>
          <a:p>
            <a:pPr algn="l">
              <a:lnSpc>
                <a:spcPct val="150000"/>
              </a:lnSpc>
            </a:pPr>
            <a:r>
              <a:rPr sz="1400" lang="fr-FR">
                <a:solidFill>
                  <a:srgbClr val="161616"/>
                </a:solidFill>
                <a:latin typeface="Marianne"/>
              </a:rPr>
              <a:t>• </a:t>
            </a:r>
            <a:r>
              <a:rPr sz="1400" b="0" lang="fr-FR">
                <a:solidFill>
                  <a:srgbClr val="161616"/>
                </a:solidFill>
                <a:latin typeface="Marianne"/>
              </a:rPr>
              <a:t>Réseaux d'espaces pour aligner visuellement</a:t>
            </a:r>
          </a:p>
        </p:txBody>
      </p:sp>
      <p:sp>
        <p:nvSpPr>
          <p:cNvPr id="17" name="DSFR-box"/>
          <p:cNvSpPr/>
          <p:nvPr/>
        </p:nvSpPr>
        <p:spPr>
          <a:xfrm>
            <a:off x="548640" y="4937760"/>
            <a:ext cx="11155680" cy="9715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5029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Vérification</a:t>
            </a:r>
          </a:p>
        </p:txBody>
      </p:sp>
      <p:sp>
        <p:nvSpPr>
          <p:cNvPr id="19" name="DSFR-callout-body"/>
          <p:cNvSpPr txBox="1"/>
          <p:nvPr/>
        </p:nvSpPr>
        <p:spPr>
          <a:xfrm>
            <a:off x="704088" y="5440680"/>
            <a:ext cx="10908792" cy="37719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Maj+F1 (Révéler la mise en forme) &gt; Puces et numérotation doit apparaître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Structure</a:t>
            </a:r>
          </a:p>
        </p:txBody>
      </p:sp>
      <p:sp>
        <p:nvSpPr>
          <p:cNvPr id="8" name="DSFR-accent-decoratif" descr=""/>
          <p:cNvSpPr/>
          <p:nvPr/>
        </p:nvSpPr>
        <p:spPr>
          <a:xfrm>
            <a:off x="475488" y="224028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24028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937760"/>
            <a:ext cx="73152" cy="9715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Tableaux et objets flottants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1. Structure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61</a:t>
            </a:r>
            <a:endParaRPr lang="fr-FR" dirty="0"/>
          </a:p>
        </p:txBody>
      </p:sp>
      <p:sp>
        <p:nvSpPr>
          <p:cNvPr id="9" name="DSFR-box"/>
          <p:cNvSpPr/>
          <p:nvPr/>
        </p:nvSpPr>
        <p:spPr>
          <a:xfrm>
            <a:off x="548640" y="2103120"/>
            <a:ext cx="11155680" cy="15087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132588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Règle d'or : ne jamais utiliser Tab, Espace ou Entrée pour simuler une mise en page.</a:t>
            </a:r>
          </a:p>
          <a:p>
            <a:r>
              <a:rPr sz="1800" b="1" lang="fr-FR">
                <a:solidFill>
                  <a:srgbClr val="000091"/>
                </a:solidFill>
                <a:latin typeface="Marianne"/>
              </a:rPr>
              <a:t>Vous créez un obstacle de structure pour les technologies d'assistance.</a:t>
            </a:r>
          </a:p>
        </p:txBody>
      </p:sp>
      <p:sp>
        <p:nvSpPr>
          <p:cNvPr id="12" name="DSFR-box"/>
          <p:cNvSpPr/>
          <p:nvPr/>
        </p:nvSpPr>
        <p:spPr>
          <a:xfrm>
            <a:off x="548640" y="3794760"/>
            <a:ext cx="11155680" cy="139400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886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Tableaux de mise en page</a:t>
            </a:r>
          </a:p>
        </p:txBody>
      </p:sp>
      <p:sp>
        <p:nvSpPr>
          <p:cNvPr id="14" name="DSFR-callout-body"/>
          <p:cNvSpPr txBox="1"/>
          <p:nvPr/>
        </p:nvSpPr>
        <p:spPr>
          <a:xfrm>
            <a:off x="704088" y="429768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Insertion &gt; Tableau &gt; colonnes et lignes</a:t>
            </a:r>
          </a:p>
          <a:p>
            <a:pPr algn="l">
              <a:lnSpc>
                <a:spcPct val="115000"/>
              </a:lnSpc>
            </a:pPr>
            <a:r>
              <a:rPr sz="1400" lang="fr-FR">
                <a:solidFill>
                  <a:srgbClr val="161616"/>
                </a:solidFill>
                <a:latin typeface="Marianne"/>
              </a:rPr>
              <a:t>• </a:t>
            </a:r>
            <a:r>
              <a:rPr sz="1400" b="0" lang="fr-FR">
                <a:solidFill>
                  <a:srgbClr val="161616"/>
                </a:solidFill>
                <a:latin typeface="Marianne"/>
              </a:rPr>
              <a:t>Habillage : Propriétés &gt; Aucun</a:t>
            </a:r>
          </a:p>
          <a:p>
            <a:pPr algn="l">
              <a:lnSpc>
                <a:spcPct val="115000"/>
              </a:lnSpc>
            </a:pPr>
            <a:r>
              <a:rPr sz="1400" lang="fr-FR">
                <a:solidFill>
                  <a:srgbClr val="161616"/>
                </a:solidFill>
                <a:latin typeface="Marianne"/>
              </a:rPr>
              <a:t>• </a:t>
            </a:r>
            <a:r>
              <a:rPr sz="1400" b="0" lang="fr-FR">
                <a:solidFill>
                  <a:srgbClr val="161616"/>
                </a:solidFill>
                <a:latin typeface="Marianne"/>
              </a:rPr>
              <a:t>Un tableau flottant (Autour) est lu au mauvais moment</a:t>
            </a:r>
          </a:p>
        </p:txBody>
      </p:sp>
      <p:sp>
        <p:nvSpPr>
          <p:cNvPr id="16" name="DSFR-box"/>
          <p:cNvSpPr/>
          <p:nvPr/>
        </p:nvSpPr>
        <p:spPr>
          <a:xfrm>
            <a:off x="548640" y="5257800"/>
            <a:ext cx="11155680" cy="95234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704088" y="53492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Objets flottants : zones de texte et images</a:t>
            </a:r>
          </a:p>
        </p:txBody>
      </p:sp>
      <p:sp>
        <p:nvSpPr>
          <p:cNvPr id="18" name="DSFR-alert-warning-body"/>
          <p:cNvSpPr txBox="1"/>
          <p:nvPr/>
        </p:nvSpPr>
        <p:spPr>
          <a:xfrm>
            <a:off x="704088" y="5760720"/>
            <a:ext cx="10908792" cy="357987"/>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Lus dans un ordre aléatoire - solution : colonnes Word ou habillage En ligne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Structure</a:t>
            </a:r>
          </a:p>
        </p:txBody>
      </p:sp>
      <p:sp>
        <p:nvSpPr>
          <p:cNvPr id="8" name="DSFR-accent-decoratif" descr=""/>
          <p:cNvSpPr/>
          <p:nvPr/>
        </p:nvSpPr>
        <p:spPr>
          <a:xfrm>
            <a:off x="475488" y="2103120"/>
            <a:ext cx="73152" cy="15087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79476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5257800"/>
            <a:ext cx="73152" cy="95234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Contraste : un seuil chiffré, pas une opinion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2.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62</a:t>
            </a:r>
            <a:endParaRPr lang="fr-FR" dirty="0"/>
          </a:p>
        </p:txBody>
      </p:sp>
      <p:sp>
        <p:nvSpPr>
          <p:cNvPr id="8" name="DSFR-stepper-pastille-1"/>
          <p:cNvSpPr/>
          <p:nvPr/>
        </p:nvSpPr>
        <p:spPr>
          <a:xfrm>
            <a:off x="115763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Ouvrir le Colour Contrast Analyser (CCA) de TPGi - gratuit Windows et macOS</a:t>
            </a:r>
          </a:p>
        </p:txBody>
      </p:sp>
      <p:sp>
        <p:nvSpPr>
          <p:cNvPr id="11" name="DSFR-stepper-pastille-2"/>
          <p:cNvSpPr/>
          <p:nvPr/>
        </p:nvSpPr>
        <p:spPr>
          <a:xfrm>
            <a:off x="346374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2781604"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Pipette Premier plan sur la couleur du texte</a:t>
            </a:r>
          </a:p>
        </p:txBody>
      </p:sp>
      <p:sp>
        <p:nvSpPr>
          <p:cNvPr id="14" name="DSFR-stepper-pastille-3"/>
          <p:cNvSpPr/>
          <p:nvPr/>
        </p:nvSpPr>
        <p:spPr>
          <a:xfrm>
            <a:off x="576986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5087721"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Pipette Arrière-plan sur la couleur du fond</a:t>
            </a:r>
          </a:p>
        </p:txBody>
      </p:sp>
      <p:sp>
        <p:nvSpPr>
          <p:cNvPr id="17" name="DSFR-stepper-pastille-4"/>
          <p:cNvSpPr/>
          <p:nvPr/>
        </p:nvSpPr>
        <p:spPr>
          <a:xfrm>
            <a:off x="807598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9" name="DSFR-stepper-texte-4"/>
          <p:cNvSpPr txBox="1"/>
          <p:nvPr/>
        </p:nvSpPr>
        <p:spPr>
          <a:xfrm>
            <a:off x="7393838"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Lire le ratio : conforme si &gt;= 4,5:1 pour le texte normal</a:t>
            </a:r>
          </a:p>
        </p:txBody>
      </p:sp>
      <p:sp>
        <p:nvSpPr>
          <p:cNvPr id="20" name="DSFR-stepper-pastille-5"/>
          <p:cNvSpPr/>
          <p:nvPr/>
        </p:nvSpPr>
        <p:spPr>
          <a:xfrm>
            <a:off x="1038209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5</a:t>
            </a:r>
          </a:p>
        </p:txBody>
      </p:sp>
      <p:sp>
        <p:nvSpPr>
          <p:cNvPr id="21" name="DSFR-stepper-texte-5"/>
          <p:cNvSpPr txBox="1"/>
          <p:nvPr/>
        </p:nvSpPr>
        <p:spPr>
          <a:xfrm>
            <a:off x="9699955" y="2834640"/>
            <a:ext cx="2004364" cy="14630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&gt;= 3:1 pour le grand texte (18 pt+ ou 14 pt gras)</a:t>
            </a:r>
          </a:p>
        </p:txBody>
      </p:sp>
      <p:sp>
        <p:nvSpPr>
          <p:cNvPr id="22" name="DSFR-kpi-pave"/>
          <p:cNvSpPr/>
          <p:nvPr/>
        </p:nvSpPr>
        <p:spPr>
          <a:xfrm>
            <a:off x="475488" y="4617720"/>
            <a:ext cx="2971800"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4,5:1</a:t>
            </a:r>
          </a:p>
        </p:txBody>
      </p:sp>
      <p:sp>
        <p:nvSpPr>
          <p:cNvPr id="23" name="DSFR-kpi-label"/>
          <p:cNvSpPr txBox="1"/>
          <p:nvPr/>
        </p:nvSpPr>
        <p:spPr>
          <a:xfrm>
            <a:off x="475488" y="5577840"/>
            <a:ext cx="2971800"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normal</a:t>
            </a:r>
          </a:p>
        </p:txBody>
      </p:sp>
      <p:sp>
        <p:nvSpPr>
          <p:cNvPr id="24" name="DSFR-kpi-pave"/>
          <p:cNvSpPr/>
          <p:nvPr/>
        </p:nvSpPr>
        <p:spPr>
          <a:xfrm>
            <a:off x="3749039" y="4617720"/>
            <a:ext cx="2971800"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3:1</a:t>
            </a:r>
          </a:p>
        </p:txBody>
      </p:sp>
      <p:sp>
        <p:nvSpPr>
          <p:cNvPr id="25" name="DSFR-kpi-label"/>
          <p:cNvSpPr txBox="1"/>
          <p:nvPr/>
        </p:nvSpPr>
        <p:spPr>
          <a:xfrm>
            <a:off x="3749039" y="5577840"/>
            <a:ext cx="2971800"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Grand texte</a:t>
            </a:r>
          </a:p>
        </p:txBody>
      </p:sp>
      <p:pic>
        <p:nvPicPr>
          <p:cNvPr id="26" name="DSFR-qrcode" descr="QR code : https://vispero.com/lp/color-contrast-checker/"/>
          <p:cNvPicPr>
            <a:picLocks noChangeAspect="1"/>
          </p:cNvPicPr>
          <p:nvPr/>
        </p:nvPicPr>
        <p:blipFill>
          <a:blip r:embed="rId2"/>
          <a:stretch>
            <a:fillRect/>
          </a:stretch>
        </p:blipFill>
        <p:spPr>
          <a:xfrm>
            <a:off x="7022592" y="4681728"/>
            <a:ext cx="1005840" cy="1005840"/>
          </a:xfrm>
          <a:prstGeom prst="rect">
            <a:avLst/>
          </a:prstGeom>
        </p:spPr>
      </p:pic>
      <p:sp>
        <p:nvSpPr>
          <p:cNvPr id="27" name="DSFR-qrcode-cta"/>
          <p:cNvSpPr txBox="1"/>
          <p:nvPr/>
        </p:nvSpPr>
        <p:spPr>
          <a:xfrm>
            <a:off x="8156448" y="4754880"/>
            <a:ext cx="3547871"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Marianne"/>
              </a:rPr>
              <a:t>Scannez-moi !</a:t>
            </a:r>
          </a:p>
        </p:txBody>
      </p:sp>
      <p:sp>
        <p:nvSpPr>
          <p:cNvPr id="28" name="DSFR-qrcode-url-visible"/>
          <p:cNvSpPr txBox="1"/>
          <p:nvPr/>
        </p:nvSpPr>
        <p:spPr>
          <a:xfrm>
            <a:off x="8156448" y="5047488"/>
            <a:ext cx="3547871" cy="731520"/>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Marianne"/>
                <a:hlinkClick r:id="rId3"/>
              </a:rPr>
              <a:t>https://vispero.com/lp/color-contrast-checker/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Couleurs</a:t>
            </a:r>
          </a:p>
        </p:txBody>
      </p:sp>
      <p:sp>
        <p:nvSpPr>
          <p:cNvPr id="9" name="DSFR-stepper-connecteur-1-decoratif" descr=""/>
          <p:cNvSpPr/>
          <p:nvPr/>
        </p:nvSpPr>
        <p:spPr>
          <a:xfrm>
            <a:off x="179771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 couleur ne doit pas porter l'information à elle seule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2.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63</a:t>
            </a:r>
            <a:endParaRPr lang="fr-FR" dirty="0"/>
          </a:p>
        </p:txBody>
      </p:sp>
      <p:sp>
        <p:nvSpPr>
          <p:cNvPr id="8" name="DSFR-kpi-pave"/>
          <p:cNvSpPr/>
          <p:nvPr/>
        </p:nvSpPr>
        <p:spPr>
          <a:xfrm>
            <a:off x="475488" y="2103120"/>
            <a:ext cx="3200400"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8 %</a:t>
            </a:r>
          </a:p>
        </p:txBody>
      </p:sp>
      <p:sp>
        <p:nvSpPr>
          <p:cNvPr id="9" name="DSFR-kpi-label"/>
          <p:cNvSpPr txBox="1"/>
          <p:nvPr/>
        </p:nvSpPr>
        <p:spPr>
          <a:xfrm>
            <a:off x="475488" y="3063239"/>
            <a:ext cx="3200400"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des hommes ne distinguent pas toutes les couleurs</a:t>
            </a:r>
          </a:p>
        </p:txBody>
      </p:sp>
      <p:pic>
        <p:nvPicPr>
          <p:cNvPr id="10" name="Picture 9" descr="Trois pastilles rouge, orange, verte en vision normale puis en deutéranopie : les deux premières deviennent indiscernables sans légende textuelle."/>
          <p:cNvPicPr>
            <a:picLocks noChangeAspect="1"/>
          </p:cNvPicPr>
          <p:nvPr/>
        </p:nvPicPr>
        <p:blipFill>
          <a:blip r:embed="rId2"/>
          <a:stretch>
            <a:fillRect/>
          </a:stretch>
        </p:blipFill>
        <p:spPr>
          <a:xfrm>
            <a:off x="4114800" y="1965960"/>
            <a:ext cx="5029200" cy="1434364"/>
          </a:xfrm>
          <a:prstGeom prst="rect">
            <a:avLst/>
          </a:prstGeom>
        </p:spPr>
      </p:pic>
      <p:graphicFrame>
        <p:nvGraphicFramePr>
          <p:cNvPr id="11" name="Table 10"/>
          <p:cNvGraphicFramePr>
            <a:graphicFrameLocks noGrp="1"/>
          </p:cNvGraphicFramePr>
          <p:nvPr/>
        </p:nvGraphicFramePr>
        <p:xfrm>
          <a:off x="475488" y="3703320"/>
          <a:ext cx="11228832" cy="1234440"/>
        </p:xfrm>
        <a:graphic>
          <a:graphicData uri="http://schemas.openxmlformats.org/drawingml/2006/table">
            <a:tbl>
              <a:tblPr firstRow="1" bandRow="1">
                <a:tableStyleId>{5C22544A-7EE6-4342-B048-85BDC9FD1C3A}</a:tableStyleId>
              </a:tblPr>
              <a:tblGrid>
                <a:gridCol w="5614416"/>
                <a:gridCol w="5614416"/>
              </a:tblGrid>
              <a:tr h="411480">
                <a:tc>
                  <a:txBody>
                    <a:bodyPr wrap="square" anchor="ctr" lIns="73152" rIns="73152"/>
                    <a:lstStyle/>
                    <a:p>
                      <a:pPr algn="l">
                        <a:lnSpc>
                          <a:spcPct val="125000"/>
                        </a:lnSpc>
                      </a:pPr>
                      <a:r>
                        <a:rPr sz="1400" b="1" i="0" lang="fr-FR">
                          <a:solidFill>
                            <a:srgbClr val="FFFFFF"/>
                          </a:solidFill>
                          <a:latin typeface="Marianne"/>
                        </a:rPr>
                        <a:t>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Statut : rouge / vert / jaune (couleur seule)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Statut : En retard / Terminé / En cours (texte + couleur)</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Budget : zone verte = OK (couleur seule)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Budget : OK (vert) / Attention (orange) / Dépassé (rouge)</a:t>
                      </a:r>
                    </a:p>
                  </a:txBody>
                  <a:tcPr marL="91440" marR="91440" marT="45720" marB="45720">
                    <a:solidFill>
                      <a:srgbClr val="F5F5FE"/>
                    </a:solidFill>
                  </a:tcPr>
                </a:tc>
              </a:tr>
            </a:tbl>
          </a:graphicData>
        </a:graphic>
      </p:graphicFrame>
      <p:sp>
        <p:nvSpPr>
          <p:cNvPr id="13" name="DSFR-box"/>
          <p:cNvSpPr/>
          <p:nvPr/>
        </p:nvSpPr>
        <p:spPr>
          <a:xfrm>
            <a:off x="548640" y="502920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highlight"/>
          <p:cNvSpPr txBox="1"/>
          <p:nvPr/>
        </p:nvSpPr>
        <p:spPr>
          <a:xfrm>
            <a:off x="749808" y="512064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Doublez toujours la couleur avec une légende textuelle</a:t>
            </a:r>
          </a:p>
          <a:p>
            <a:r>
              <a:rPr sz="1800" b="1" lang="fr-FR">
                <a:solidFill>
                  <a:srgbClr val="000091"/>
                </a:solidFill>
                <a:latin typeface="Marianne"/>
              </a:rPr>
              <a:t>et idéalement un motif visuel distinct.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Couleurs</a:t>
            </a:r>
          </a:p>
        </p:txBody>
      </p:sp>
      <p:sp>
        <p:nvSpPr>
          <p:cNvPr id="12" name="DSFR-accent-decoratif" descr=""/>
          <p:cNvSpPr/>
          <p:nvPr/>
        </p:nvSpPr>
        <p:spPr>
          <a:xfrm>
            <a:off x="475488" y="502920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Texte alternatif sur les images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3. Contenus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64</a:t>
            </a:r>
            <a:endParaRPr lang="fr-FR" dirty="0"/>
          </a:p>
        </p:txBody>
      </p:sp>
      <p:sp>
        <p:nvSpPr>
          <p:cNvPr id="8" name="DSFR-stepper-pastille-1"/>
          <p:cNvSpPr/>
          <p:nvPr/>
        </p:nvSpPr>
        <p:spPr>
          <a:xfrm>
            <a:off x="1926335"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3541775"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Clic droit sur l'image &gt; Format de l'image &gt; Texte de remplacement</a:t>
            </a:r>
          </a:p>
        </p:txBody>
      </p:sp>
      <p:sp>
        <p:nvSpPr>
          <p:cNvPr id="11" name="DSFR-stepper-pastille-2"/>
          <p:cNvSpPr/>
          <p:nvPr/>
        </p:nvSpPr>
        <p:spPr>
          <a:xfrm>
            <a:off x="5769863"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4319015" y="2834640"/>
            <a:ext cx="3541775"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Image significative : décrire la fonction, pas l'apparence</a:t>
            </a:r>
          </a:p>
        </p:txBody>
      </p:sp>
      <p:sp>
        <p:nvSpPr>
          <p:cNvPr id="14" name="DSFR-stepper-pastille-3"/>
          <p:cNvSpPr/>
          <p:nvPr/>
        </p:nvSpPr>
        <p:spPr>
          <a:xfrm>
            <a:off x="961339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5" name="DSFR-stepper-texte-3"/>
          <p:cNvSpPr txBox="1"/>
          <p:nvPr/>
        </p:nvSpPr>
        <p:spPr>
          <a:xfrm>
            <a:off x="8162543" y="2834640"/>
            <a:ext cx="3541775"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Image décorative : cocher Marquer comme décoratif</a:t>
            </a:r>
          </a:p>
        </p:txBody>
      </p:sp>
      <p:graphicFrame>
        <p:nvGraphicFramePr>
          <p:cNvPr id="16" name="Table 15"/>
          <p:cNvGraphicFramePr>
            <a:graphicFrameLocks noGrp="1"/>
          </p:cNvGraphicFramePr>
          <p:nvPr/>
        </p:nvGraphicFramePr>
        <p:xfrm>
          <a:off x="475488" y="4114800"/>
          <a:ext cx="11228832" cy="1645920"/>
        </p:xfrm>
        <a:graphic>
          <a:graphicData uri="http://schemas.openxmlformats.org/drawingml/2006/table">
            <a:tbl>
              <a:tblPr firstRow="1" bandRow="1">
                <a:tableStyleId>{5C22544A-7EE6-4342-B048-85BDC9FD1C3A}</a:tableStyleId>
              </a:tblPr>
              <a:tblGrid>
                <a:gridCol w="5029200"/>
                <a:gridCol w="6199632"/>
              </a:tblGrid>
              <a:tr h="411480">
                <a:tc>
                  <a:txBody>
                    <a:bodyPr wrap="square" anchor="ctr" lIns="73152" rIns="73152"/>
                    <a:lstStyle/>
                    <a:p>
                      <a:pPr algn="l">
                        <a:lnSpc>
                          <a:spcPct val="125000"/>
                        </a:lnSpc>
                      </a:pPr>
                      <a:r>
                        <a:rPr sz="1400" b="1" i="0" lang="fr-FR">
                          <a:solidFill>
                            <a:srgbClr val="FFFFFF"/>
                          </a:solidFill>
                          <a:latin typeface="Marianne"/>
                        </a:rPr>
                        <a:t>Mauvais texte alt</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Bon texte alt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Photo d'un graphique en barres colorées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Chiffre d'affaires 2020-2024 : hausse de 15 à 23 %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Icône d'enveloppe ou E-mail</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alt="" (vide - icône redondante)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image.png</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Organigramme du service : 4 équipes, 28 agents</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Contenus</a:t>
            </a:r>
          </a:p>
        </p:txBody>
      </p:sp>
      <p:sp>
        <p:nvSpPr>
          <p:cNvPr id="9" name="DSFR-stepper-connecteur-1-decoratif" descr=""/>
          <p:cNvSpPr/>
          <p:nvPr/>
        </p:nvSpPr>
        <p:spPr>
          <a:xfrm>
            <a:off x="2566416" y="24048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6409944" y="24048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Liens et informations essentielles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3. Contenus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65</a:t>
            </a:r>
            <a:endParaRPr lang="fr-FR" dirty="0"/>
          </a:p>
        </p:txBody>
      </p:sp>
      <p:graphicFrame>
        <p:nvGraphicFramePr>
          <p:cNvPr id="8" name="Table 7"/>
          <p:cNvGraphicFramePr>
            <a:graphicFrameLocks noGrp="1"/>
          </p:cNvGraphicFramePr>
          <p:nvPr/>
        </p:nvGraphicFramePr>
        <p:xfrm>
          <a:off x="475488" y="2103120"/>
          <a:ext cx="11228832" cy="1645920"/>
        </p:xfrm>
        <a:graphic>
          <a:graphicData uri="http://schemas.openxmlformats.org/drawingml/2006/table">
            <a:tbl>
              <a:tblPr firstRow="1" bandRow="1">
                <a:tableStyleId>{5C22544A-7EE6-4342-B048-85BDC9FD1C3A}</a:tableStyleId>
              </a:tblPr>
              <a:tblGrid>
                <a:gridCol w="4114800"/>
                <a:gridCol w="7114032"/>
              </a:tblGrid>
              <a:tr h="411480">
                <a:tc>
                  <a:txBody>
                    <a:bodyPr wrap="square" anchor="ctr" lIns="73152" rIns="73152"/>
                    <a:lstStyle/>
                    <a:p>
                      <a:pPr algn="l">
                        <a:lnSpc>
                          <a:spcPct val="125000"/>
                        </a:lnSpc>
                      </a:pPr>
                      <a:r>
                        <a:rPr sz="1400" b="1" i="0" lang="fr-FR">
                          <a:solidFill>
                            <a:srgbClr val="FFFFFF"/>
                          </a:solidFill>
                          <a:latin typeface="Marianne"/>
                        </a:rPr>
                        <a:t>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Cliquez ici</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Consulter le guide d'accessibilité Word</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En savoir plus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Télécharger le rapport annuel 2024 (PDF, 2 Mo)</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URL brute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Accéder au formulaire de contact</a:t>
                      </a:r>
                    </a:p>
                  </a:txBody>
                  <a:tcPr marL="91440" marR="91440" marT="45720" marB="45720">
                    <a:solidFill>
                      <a:srgbClr val="FFFFFF"/>
                    </a:solidFill>
                  </a:tcPr>
                </a:tc>
              </a:tr>
            </a:tbl>
          </a:graphicData>
        </a:graphic>
      </p:graphicFrame>
      <p:sp>
        <p:nvSpPr>
          <p:cNvPr id="10" name="DSFR-box"/>
          <p:cNvSpPr/>
          <p:nvPr/>
        </p:nvSpPr>
        <p:spPr>
          <a:xfrm>
            <a:off x="548640" y="4001414"/>
            <a:ext cx="5390388" cy="221650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092854"/>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Informations essentielles dans les zones non lues</a:t>
            </a:r>
          </a:p>
        </p:txBody>
      </p:sp>
      <p:sp>
        <p:nvSpPr>
          <p:cNvPr id="12" name="DSFR-alert-warning-body"/>
          <p:cNvSpPr txBox="1"/>
          <p:nvPr/>
        </p:nvSpPr>
        <p:spPr>
          <a:xfrm>
            <a:off x="704088" y="466435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En-têtes et pieds de page : non lus automatiquement</a:t>
            </a:r>
          </a:p>
          <a:p>
            <a:pPr algn="l">
              <a:lnSpc>
                <a:spcPct val="115000"/>
              </a:lnSpc>
            </a:pPr>
            <a:r>
              <a:rPr sz="1400" lang="fr-FR">
                <a:solidFill>
                  <a:srgbClr val="161616"/>
                </a:solidFill>
                <a:latin typeface="Marianne"/>
              </a:rPr>
              <a:t>• </a:t>
            </a:r>
            <a:r>
              <a:rPr sz="1400" b="0" lang="fr-FR">
                <a:solidFill>
                  <a:srgbClr val="161616"/>
                </a:solidFill>
                <a:latin typeface="Marianne"/>
              </a:rPr>
              <a:t>Filigranes (Confidentiel, Brouillon) : invisibles</a:t>
            </a:r>
          </a:p>
          <a:p>
            <a:pPr algn="l">
              <a:lnSpc>
                <a:spcPct val="115000"/>
              </a:lnSpc>
            </a:pPr>
            <a:r>
              <a:rPr sz="1400" lang="fr-FR">
                <a:solidFill>
                  <a:srgbClr val="161616"/>
                </a:solidFill>
                <a:latin typeface="Marianne"/>
              </a:rPr>
              <a:t>• </a:t>
            </a:r>
            <a:r>
              <a:rPr sz="1400" b="0" lang="fr-FR">
                <a:solidFill>
                  <a:srgbClr val="161616"/>
                </a:solidFill>
                <a:latin typeface="Marianne"/>
              </a:rPr>
              <a:t>Solution : reproduire l'info dans le corps du document</a:t>
            </a:r>
          </a:p>
        </p:txBody>
      </p:sp>
      <p:sp>
        <p:nvSpPr>
          <p:cNvPr id="14" name="DSFR-box"/>
          <p:cNvSpPr/>
          <p:nvPr/>
        </p:nvSpPr>
        <p:spPr>
          <a:xfrm>
            <a:off x="6313931" y="4023360"/>
            <a:ext cx="5390388"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41148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Liens de téléchargement</a:t>
            </a:r>
          </a:p>
        </p:txBody>
      </p:sp>
      <p:sp>
        <p:nvSpPr>
          <p:cNvPr id="16" name="DSFR-callout-body"/>
          <p:cNvSpPr txBox="1"/>
          <p:nvPr/>
        </p:nvSpPr>
        <p:spPr>
          <a:xfrm>
            <a:off x="6469379" y="452628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Titre + format + poids + langue si différente</a:t>
            </a:r>
          </a:p>
          <a:p>
            <a:pPr algn="l">
              <a:lnSpc>
                <a:spcPct val="115000"/>
              </a:lnSpc>
            </a:pPr>
            <a:r>
              <a:rPr sz="1400" lang="fr-FR">
                <a:solidFill>
                  <a:srgbClr val="161616"/>
                </a:solidFill>
                <a:latin typeface="Marianne"/>
              </a:rPr>
              <a:t>• </a:t>
            </a:r>
            <a:r>
              <a:rPr sz="1400" b="0" lang="fr-FR">
                <a:solidFill>
                  <a:srgbClr val="161616"/>
                </a:solidFill>
                <a:latin typeface="Marianne"/>
              </a:rPr>
              <a:t>Exemple : Rapport annuel 2024 (PDF, 2 Mo, anglais)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Contenus</a:t>
            </a:r>
          </a:p>
        </p:txBody>
      </p:sp>
      <p:sp>
        <p:nvSpPr>
          <p:cNvPr id="9" name="DSFR-accent-decoratif" descr=""/>
          <p:cNvSpPr/>
          <p:nvPr/>
        </p:nvSpPr>
        <p:spPr>
          <a:xfrm>
            <a:off x="475488" y="4001414"/>
            <a:ext cx="73152" cy="221650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402336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Exercice : les erreurs de Sami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66</a:t>
            </a:r>
            <a:endParaRPr lang="fr-FR" dirty="0"/>
          </a:p>
        </p:txBody>
      </p:sp>
      <p:sp>
        <p:nvSpPr>
          <p:cNvPr id="9" name="DSFR-box"/>
          <p:cNvSpPr/>
          <p:nvPr/>
        </p:nvSpPr>
        <p:spPr>
          <a:xfrm>
            <a:off x="548640" y="196596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Mise en situation</a:t>
            </a:r>
          </a:p>
        </p:txBody>
      </p:sp>
      <p:sp>
        <p:nvSpPr>
          <p:cNvPr id="11" name="DSFR-card-contenu"/>
          <p:cNvSpPr txBox="1"/>
          <p:nvPr/>
        </p:nvSpPr>
        <p:spPr>
          <a:xfrm>
            <a:off x="704088" y="2560320"/>
            <a:ext cx="5097779" cy="244602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Sami, chargé de communication, envoie son rapport trimestriel à 40 personnes.
1. Quels critères posent problème ?
2. Quelles corrections proposez-vous ?</a:t>
            </a:r>
          </a:p>
        </p:txBody>
      </p:sp>
      <p:sp>
        <p:nvSpPr>
          <p:cNvPr id="13" name="DSFR-box"/>
          <p:cNvSpPr/>
          <p:nvPr/>
        </p:nvSpPr>
        <p:spPr>
          <a:xfrm>
            <a:off x="6313931" y="196596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document de Sami contient</a:t>
            </a:r>
          </a:p>
        </p:txBody>
      </p:sp>
      <p:sp>
        <p:nvSpPr>
          <p:cNvPr id="15" name="DSFR-card-contenu"/>
          <p:cNvSpPr txBox="1"/>
          <p:nvPr/>
        </p:nvSpPr>
        <p:spPr>
          <a:xfrm>
            <a:off x="6469379" y="2560320"/>
            <a:ext cx="5097779" cy="244602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Titres en gras, fausses listes, faux sommaire, tableaux sans en-tête</a:t>
            </a:r>
          </a:p>
          <a:p>
            <a:pPr algn="l">
              <a:lnSpc>
                <a:spcPct val="150000"/>
              </a:lnSpc>
            </a:pPr>
            <a:r>
              <a:rPr sz="1400" lang="fr-FR">
                <a:solidFill>
                  <a:srgbClr val="161616"/>
                </a:solidFill>
                <a:latin typeface="Marianne"/>
              </a:rPr>
              <a:t>• </a:t>
            </a:r>
            <a:r>
              <a:rPr sz="1400" b="0" lang="fr-FR">
                <a:solidFill>
                  <a:srgbClr val="161616"/>
                </a:solidFill>
                <a:latin typeface="Marianne"/>
              </a:rPr>
              <a:t>Mention Urgent en rouge, note en gris insuffisant</a:t>
            </a:r>
          </a:p>
          <a:p>
            <a:pPr algn="l">
              <a:lnSpc>
                <a:spcPct val="150000"/>
              </a:lnSpc>
            </a:pPr>
            <a:r>
              <a:rPr sz="1400" lang="fr-FR">
                <a:solidFill>
                  <a:srgbClr val="161616"/>
                </a:solidFill>
                <a:latin typeface="Marianne"/>
              </a:rPr>
              <a:t>• </a:t>
            </a:r>
            <a:r>
              <a:rPr sz="1400" b="0" lang="fr-FR">
                <a:solidFill>
                  <a:srgbClr val="161616"/>
                </a:solidFill>
                <a:latin typeface="Marianne"/>
              </a:rPr>
              <a:t>Graphique et organigramme sans alt, icône redondante</a:t>
            </a:r>
          </a:p>
          <a:p>
            <a:pPr algn="l">
              <a:lnSpc>
                <a:spcPct val="150000"/>
              </a:lnSpc>
            </a:pPr>
            <a:r>
              <a:rPr sz="1400" lang="fr-FR">
                <a:solidFill>
                  <a:srgbClr val="161616"/>
                </a:solidFill>
                <a:latin typeface="Marianne"/>
              </a:rPr>
              <a:t>• </a:t>
            </a:r>
            <a:r>
              <a:rPr sz="1400" b="0" lang="fr-FR">
                <a:solidFill>
                  <a:srgbClr val="161616"/>
                </a:solidFill>
                <a:latin typeface="Marianne"/>
              </a:rPr>
              <a:t>Texte en image, lien cliquez ici, filigrane invisible</a:t>
            </a:r>
          </a:p>
          <a:p>
            <a:pPr algn="l">
              <a:lnSpc>
                <a:spcPct val="150000"/>
              </a:lnSpc>
            </a:pPr>
            <a:r>
              <a:rPr sz="1400" lang="fr-FR">
                <a:solidFill>
                  <a:srgbClr val="161616"/>
                </a:solidFill>
                <a:latin typeface="Marianne"/>
              </a:rPr>
              <a:t>• </a:t>
            </a:r>
            <a:r>
              <a:rPr sz="1400" b="0" lang="fr-FR">
                <a:solidFill>
                  <a:srgbClr val="161616"/>
                </a:solidFill>
                <a:latin typeface="Marianne"/>
              </a:rPr>
              <a:t>Texte justifié, paragraphes vides, majuscules tapées</a:t>
            </a:r>
          </a:p>
        </p:txBody>
      </p:sp>
      <p:sp>
        <p:nvSpPr>
          <p:cNvPr id="17" name="DSFR-box"/>
          <p:cNvSpPr/>
          <p:nvPr/>
        </p:nvSpPr>
        <p:spPr>
          <a:xfrm>
            <a:off x="548640" y="523494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32637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30 minutes en binôme : repérez les problèmes, puis corrigez-les.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Exercice</a:t>
            </a:r>
          </a:p>
        </p:txBody>
      </p:sp>
      <p:sp>
        <p:nvSpPr>
          <p:cNvPr id="8" name="DSFR-accent-decoratif" descr=""/>
          <p:cNvSpPr/>
          <p:nvPr/>
        </p:nvSpPr>
        <p:spPr>
          <a:xfrm>
            <a:off x="475488" y="196596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23494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Langue, majuscules et lisibilité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4. Langue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67</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Balisage de langue</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Langue principale : Fichier &gt; Options &gt; Langue</a:t>
            </a:r>
          </a:p>
          <a:p>
            <a:pPr algn="l">
              <a:lnSpc>
                <a:spcPct val="125000"/>
              </a:lnSpc>
            </a:pPr>
            <a:r>
              <a:rPr sz="1400" lang="fr-FR">
                <a:solidFill>
                  <a:srgbClr val="161616"/>
                </a:solidFill>
                <a:latin typeface="Marianne"/>
              </a:rPr>
              <a:t>• </a:t>
            </a:r>
            <a:r>
              <a:rPr sz="1400" b="0" lang="fr-FR">
                <a:solidFill>
                  <a:srgbClr val="161616"/>
                </a:solidFill>
                <a:latin typeface="Marianne"/>
              </a:rPr>
              <a:t>Passage en langue étrangère : sélectionner le texte &gt; Révision &gt; Langue &gt; Définir la langue</a:t>
            </a:r>
          </a:p>
          <a:p>
            <a:pPr algn="l">
              <a:lnSpc>
                <a:spcPct val="125000"/>
              </a:lnSpc>
            </a:pPr>
            <a:r>
              <a:rPr sz="1400" lang="fr-FR">
                <a:solidFill>
                  <a:srgbClr val="161616"/>
                </a:solidFill>
                <a:latin typeface="Marianne"/>
              </a:rPr>
              <a:t>• </a:t>
            </a:r>
            <a:r>
              <a:rPr sz="1400" b="0" lang="fr-FR">
                <a:solidFill>
                  <a:srgbClr val="161616"/>
                </a:solidFill>
                <a:latin typeface="Marianne"/>
              </a:rPr>
              <a:t>Sans balisage de langue, le lecteur d'écran prononce mal le mot</a:t>
            </a:r>
          </a:p>
        </p:txBody>
      </p:sp>
      <p:sp>
        <p:nvSpPr>
          <p:cNvPr id="13" name="DSFR-box"/>
          <p:cNvSpPr/>
          <p:nvPr/>
        </p:nvSpPr>
        <p:spPr>
          <a:xfrm>
            <a:off x="548640" y="4160520"/>
            <a:ext cx="5390388"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704088" y="42519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Majuscules : deux problèmes</a:t>
            </a:r>
          </a:p>
        </p:txBody>
      </p:sp>
      <p:sp>
        <p:nvSpPr>
          <p:cNvPr id="15" name="DSFR-callout-body"/>
          <p:cNvSpPr txBox="1"/>
          <p:nvPr/>
        </p:nvSpPr>
        <p:spPr>
          <a:xfrm>
            <a:off x="704088" y="4663440"/>
            <a:ext cx="5143500"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Difficiles à lire pour les dyslexiques</a:t>
            </a:r>
          </a:p>
          <a:p>
            <a:pPr algn="l">
              <a:lnSpc>
                <a:spcPct val="125000"/>
              </a:lnSpc>
            </a:pPr>
            <a:r>
              <a:rPr sz="1400" lang="fr-FR">
                <a:solidFill>
                  <a:srgbClr val="161616"/>
                </a:solidFill>
                <a:latin typeface="Marianne"/>
              </a:rPr>
              <a:t>• </a:t>
            </a:r>
            <a:r>
              <a:rPr sz="1400" b="0" lang="fr-FR">
                <a:solidFill>
                  <a:srgbClr val="161616"/>
                </a:solidFill>
                <a:latin typeface="Marianne"/>
              </a:rPr>
              <a:t>Prononciation ambiguë par les lecteurs d'écran</a:t>
            </a:r>
          </a:p>
          <a:p>
            <a:pPr algn="l">
              <a:lnSpc>
                <a:spcPct val="125000"/>
              </a:lnSpc>
            </a:pPr>
            <a:r>
              <a:rPr sz="1400" lang="fr-FR">
                <a:solidFill>
                  <a:srgbClr val="161616"/>
                </a:solidFill>
                <a:latin typeface="Marianne"/>
              </a:rPr>
              <a:t>• </a:t>
            </a:r>
            <a:r>
              <a:rPr sz="1400" b="0" lang="fr-FR">
                <a:solidFill>
                  <a:srgbClr val="161616"/>
                </a:solidFill>
                <a:latin typeface="Marianne"/>
              </a:rPr>
              <a:t>Solution : minuscules d'abord, puis Police &gt; Modifier la casse</a:t>
            </a:r>
          </a:p>
        </p:txBody>
      </p:sp>
      <p:sp>
        <p:nvSpPr>
          <p:cNvPr id="17" name="DSFR-box"/>
          <p:cNvSpPr/>
          <p:nvPr/>
        </p:nvSpPr>
        <p:spPr>
          <a:xfrm>
            <a:off x="6313931" y="4160520"/>
            <a:ext cx="5390388" cy="188366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6469379" y="42519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Lisibilité</a:t>
            </a:r>
          </a:p>
        </p:txBody>
      </p:sp>
      <p:sp>
        <p:nvSpPr>
          <p:cNvPr id="19" name="DSFR-callout-body"/>
          <p:cNvSpPr txBox="1"/>
          <p:nvPr/>
        </p:nvSpPr>
        <p:spPr>
          <a:xfrm>
            <a:off x="6469379" y="4663440"/>
            <a:ext cx="5143500" cy="1289304"/>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Police sans serif, 12 pt minimum</a:t>
            </a:r>
          </a:p>
          <a:p>
            <a:pPr algn="l">
              <a:lnSpc>
                <a:spcPct val="120000"/>
              </a:lnSpc>
            </a:pPr>
            <a:r>
              <a:rPr sz="1400" lang="fr-FR">
                <a:solidFill>
                  <a:srgbClr val="161616"/>
                </a:solidFill>
                <a:latin typeface="Marianne"/>
              </a:rPr>
              <a:t>• </a:t>
            </a:r>
            <a:r>
              <a:rPr sz="1400" b="0" lang="fr-FR">
                <a:solidFill>
                  <a:srgbClr val="161616"/>
                </a:solidFill>
                <a:latin typeface="Marianne"/>
              </a:rPr>
              <a:t>Interligne 1,15, paragraphes aérés</a:t>
            </a:r>
          </a:p>
          <a:p>
            <a:pPr algn="l">
              <a:lnSpc>
                <a:spcPct val="120000"/>
              </a:lnSpc>
            </a:pPr>
            <a:r>
              <a:rPr sz="1400" lang="fr-FR">
                <a:solidFill>
                  <a:srgbClr val="161616"/>
                </a:solidFill>
                <a:latin typeface="Marianne"/>
              </a:rPr>
              <a:t>• </a:t>
            </a:r>
            <a:r>
              <a:rPr sz="1400" b="0" lang="fr-FR">
                <a:solidFill>
                  <a:srgbClr val="161616"/>
                </a:solidFill>
                <a:latin typeface="Marianne"/>
              </a:rPr>
              <a:t>Alignement à gauche, pas de justification</a:t>
            </a:r>
          </a:p>
          <a:p>
            <a:pPr algn="l">
              <a:lnSpc>
                <a:spcPct val="120000"/>
              </a:lnSpc>
            </a:pPr>
            <a:r>
              <a:rPr sz="1400" lang="fr-FR">
                <a:solidFill>
                  <a:srgbClr val="161616"/>
                </a:solidFill>
                <a:latin typeface="Marianne"/>
              </a:rPr>
              <a:t>• </a:t>
            </a:r>
            <a:r>
              <a:rPr sz="1400" b="0" lang="fr-FR">
                <a:solidFill>
                  <a:srgbClr val="161616"/>
                </a:solidFill>
                <a:latin typeface="Marianne"/>
              </a:rPr>
              <a:t>Contraste mesuré, fond non dégradé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Langue</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1605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6240779" y="4160520"/>
            <a:ext cx="73152" cy="188366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Espaces et objets clignotants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4. Langue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68</a:t>
            </a:r>
            <a:endParaRPr lang="fr-FR" dirty="0"/>
          </a:p>
        </p:txBody>
      </p:sp>
      <p:sp>
        <p:nvSpPr>
          <p:cNvPr id="9" name="DSFR-box"/>
          <p:cNvSpPr/>
          <p:nvPr/>
        </p:nvSpPr>
        <p:spPr>
          <a:xfrm>
            <a:off x="548640" y="2103120"/>
            <a:ext cx="11155680" cy="16116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Activer les marques de formatage : Accueil &gt; Paragraphe &gt; Afficher tout (signe paragraphe)</a:t>
            </a:r>
          </a:p>
        </p:txBody>
      </p:sp>
      <p:sp>
        <p:nvSpPr>
          <p:cNvPr id="11" name="DSFR-callout-body"/>
          <p:cNvSpPr txBox="1"/>
          <p:nvPr/>
        </p:nvSpPr>
        <p:spPr>
          <a:xfrm>
            <a:off x="704088" y="276606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Points = espaces successifs &gt; supprimer et ne garder qu'un seul espace</a:t>
            </a:r>
          </a:p>
          <a:p>
            <a:pPr algn="l">
              <a:lnSpc>
                <a:spcPct val="125000"/>
              </a:lnSpc>
            </a:pPr>
            <a:r>
              <a:rPr sz="1400" lang="fr-FR">
                <a:solidFill>
                  <a:srgbClr val="161616"/>
                </a:solidFill>
                <a:latin typeface="Marianne"/>
              </a:rPr>
              <a:t>• </a:t>
            </a:r>
            <a:r>
              <a:rPr sz="1400" b="0" lang="fr-FR">
                <a:solidFill>
                  <a:srgbClr val="161616"/>
                </a:solidFill>
                <a:latin typeface="Marianne"/>
              </a:rPr>
              <a:t>Flèches = tabulations utilisées pour simuler une mise en page</a:t>
            </a:r>
          </a:p>
          <a:p>
            <a:pPr algn="l">
              <a:lnSpc>
                <a:spcPct val="125000"/>
              </a:lnSpc>
            </a:pPr>
            <a:r>
              <a:rPr sz="1400" lang="fr-FR">
                <a:solidFill>
                  <a:srgbClr val="161616"/>
                </a:solidFill>
                <a:latin typeface="Marianne"/>
              </a:rPr>
              <a:t>• </a:t>
            </a:r>
            <a:r>
              <a:rPr sz="1400" b="0" lang="fr-FR">
                <a:solidFill>
                  <a:srgbClr val="161616"/>
                </a:solidFill>
                <a:latin typeface="Marianne"/>
              </a:rPr>
              <a:t>Retours à la ligne manuels = utiliser les sauts de page propres à la place</a:t>
            </a:r>
          </a:p>
        </p:txBody>
      </p:sp>
      <p:sp>
        <p:nvSpPr>
          <p:cNvPr id="13" name="DSFR-box"/>
          <p:cNvSpPr/>
          <p:nvPr/>
        </p:nvSpPr>
        <p:spPr>
          <a:xfrm>
            <a:off x="548640" y="38862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error-titre"/>
          <p:cNvSpPr txBox="1"/>
          <p:nvPr/>
        </p:nvSpPr>
        <p:spPr>
          <a:xfrm>
            <a:off x="704088" y="397763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Objets clignotants : tolérance zéro</a:t>
            </a:r>
          </a:p>
        </p:txBody>
      </p:sp>
      <p:sp>
        <p:nvSpPr>
          <p:cNvPr id="15" name="DSFR-alert-error-body"/>
          <p:cNvSpPr txBox="1"/>
          <p:nvPr/>
        </p:nvSpPr>
        <p:spPr>
          <a:xfrm>
            <a:off x="704088" y="43891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Animations, GIF avec flashs, vidéos à plus de 3 Hz : interdits sans exception</a:t>
            </a:r>
          </a:p>
          <a:p>
            <a:pPr algn="l">
              <a:lnSpc>
                <a:spcPct val="150000"/>
              </a:lnSpc>
            </a:pPr>
            <a:r>
              <a:rPr sz="1400" lang="fr-FR">
                <a:solidFill>
                  <a:srgbClr val="161616"/>
                </a:solidFill>
                <a:latin typeface="Marianne"/>
              </a:rPr>
              <a:t>• </a:t>
            </a:r>
            <a:r>
              <a:rPr sz="1400" b="0" lang="fr-FR">
                <a:solidFill>
                  <a:srgbClr val="161616"/>
                </a:solidFill>
                <a:latin typeface="Marianne"/>
              </a:rPr>
              <a:t>Risque de crise d'épilepsie photosensible</a:t>
            </a:r>
          </a:p>
          <a:p>
            <a:pPr algn="l">
              <a:lnSpc>
                <a:spcPct val="150000"/>
              </a:lnSpc>
            </a:pPr>
            <a:r>
              <a:rPr sz="1400" lang="fr-FR">
                <a:solidFill>
                  <a:srgbClr val="161616"/>
                </a:solidFill>
                <a:latin typeface="Marianne"/>
              </a:rPr>
              <a:t>• </a:t>
            </a:r>
            <a:r>
              <a:rPr sz="1400" b="0" lang="fr-FR">
                <a:solidFill>
                  <a:srgbClr val="161616"/>
                </a:solidFill>
                <a:latin typeface="Marianne"/>
              </a:rPr>
              <a:t>En cas de doute sur un GIF : remplacer par une image statique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Langue</a:t>
            </a:r>
          </a:p>
        </p:txBody>
      </p:sp>
      <p:sp>
        <p:nvSpPr>
          <p:cNvPr id="8" name="DSFR-accent-decoratif" descr=""/>
          <p:cNvSpPr/>
          <p:nvPr/>
        </p:nvSpPr>
        <p:spPr>
          <a:xfrm>
            <a:off x="475488" y="2103120"/>
            <a:ext cx="73152" cy="16116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38862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Avant de publier : 5 vérifications en 2 minutes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5. Finalisation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69</a:t>
            </a:r>
            <a:endParaRPr lang="fr-FR" dirty="0"/>
          </a:p>
        </p:txBody>
      </p:sp>
      <p:sp>
        <p:nvSpPr>
          <p:cNvPr id="8" name="DSFR-stepper-pastille-1"/>
          <p:cNvSpPr/>
          <p:nvPr/>
        </p:nvSpPr>
        <p:spPr>
          <a:xfrm>
            <a:off x="115763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Propriétés (Titre, Auteur, Objet) : Fichier &gt; Informations &gt; Propriétés</a:t>
            </a:r>
          </a:p>
        </p:txBody>
      </p:sp>
      <p:sp>
        <p:nvSpPr>
          <p:cNvPr id="11" name="DSFR-stepper-pastille-2"/>
          <p:cNvSpPr/>
          <p:nvPr/>
        </p:nvSpPr>
        <p:spPr>
          <a:xfrm>
            <a:off x="346374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2781604"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Nom de fichier descriptif en .docx (pas Document1.docx)</a:t>
            </a:r>
          </a:p>
        </p:txBody>
      </p:sp>
      <p:sp>
        <p:nvSpPr>
          <p:cNvPr id="14" name="DSFR-stepper-pastille-3"/>
          <p:cNvSpPr/>
          <p:nvPr/>
        </p:nvSpPr>
        <p:spPr>
          <a:xfrm>
            <a:off x="576986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5087721"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Protection : aucune restriction &gt; Révision &gt; Restreindre la modification</a:t>
            </a:r>
          </a:p>
        </p:txBody>
      </p:sp>
      <p:sp>
        <p:nvSpPr>
          <p:cNvPr id="17" name="DSFR-stepper-pastille-4"/>
          <p:cNvSpPr/>
          <p:nvPr/>
        </p:nvSpPr>
        <p:spPr>
          <a:xfrm>
            <a:off x="8075980"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9" name="DSFR-stepper-texte-4"/>
          <p:cNvSpPr txBox="1"/>
          <p:nvPr/>
        </p:nvSpPr>
        <p:spPr>
          <a:xfrm>
            <a:off x="7393838"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Formulaires : aucun champ Word interactif dans le document</a:t>
            </a:r>
          </a:p>
        </p:txBody>
      </p:sp>
      <p:sp>
        <p:nvSpPr>
          <p:cNvPr id="20" name="DSFR-stepper-pastille-5"/>
          <p:cNvSpPr/>
          <p:nvPr/>
        </p:nvSpPr>
        <p:spPr>
          <a:xfrm>
            <a:off x="10382097"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5</a:t>
            </a:r>
          </a:p>
        </p:txBody>
      </p:sp>
      <p:sp>
        <p:nvSpPr>
          <p:cNvPr id="21" name="DSFR-stepper-texte-5"/>
          <p:cNvSpPr txBox="1"/>
          <p:nvPr/>
        </p:nvSpPr>
        <p:spPr>
          <a:xfrm>
            <a:off x="9699955" y="2834640"/>
            <a:ext cx="2004364"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Vérificateur d'accessibilité : Fichier &gt; Vérifier l'accessibilité</a:t>
            </a:r>
          </a:p>
        </p:txBody>
      </p:sp>
      <p:sp>
        <p:nvSpPr>
          <p:cNvPr id="23" name="DSFR-box"/>
          <p:cNvSpPr/>
          <p:nvPr/>
        </p:nvSpPr>
        <p:spPr>
          <a:xfrm>
            <a:off x="548640" y="46177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highlight"/>
          <p:cNvSpPr txBox="1"/>
          <p:nvPr/>
        </p:nvSpPr>
        <p:spPr>
          <a:xfrm>
            <a:off x="749808" y="470915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Ces 5 vérifications couvrent 80 % des oublis restants.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Finalisation</a:t>
            </a:r>
          </a:p>
        </p:txBody>
      </p:sp>
      <p:sp>
        <p:nvSpPr>
          <p:cNvPr id="9" name="DSFR-stepper-connecteur-1-decoratif" descr=""/>
          <p:cNvSpPr/>
          <p:nvPr/>
        </p:nvSpPr>
        <p:spPr>
          <a:xfrm>
            <a:off x="179771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40487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475488" y="46177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vérificateur d'accessibilité Word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5. Finalisation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70</a:t>
            </a:r>
            <a:endParaRPr lang="fr-FR" dirty="0"/>
          </a:p>
        </p:txBody>
      </p:sp>
      <p:graphicFrame>
        <p:nvGraphicFramePr>
          <p:cNvPr id="8" name="Table 7"/>
          <p:cNvGraphicFramePr>
            <a:graphicFrameLocks noGrp="1"/>
          </p:cNvGraphicFramePr>
          <p:nvPr/>
        </p:nvGraphicFramePr>
        <p:xfrm>
          <a:off x="475488" y="2103120"/>
          <a:ext cx="11228832" cy="2468880"/>
        </p:xfrm>
        <a:graphic>
          <a:graphicData uri="http://schemas.openxmlformats.org/drawingml/2006/table">
            <a:tbl>
              <a:tblPr firstRow="1" bandRow="1">
                <a:tableStyleId>{5C22544A-7EE6-4342-B048-85BDC9FD1C3A}</a:tableStyleId>
              </a:tblPr>
              <a:tblGrid>
                <a:gridCol w="5614416"/>
                <a:gridCol w="5614416"/>
              </a:tblGrid>
              <a:tr h="411480">
                <a:tc>
                  <a:txBody>
                    <a:bodyPr wrap="square" anchor="ctr" lIns="73152" rIns="73152"/>
                    <a:lstStyle/>
                    <a:p>
                      <a:pPr algn="l">
                        <a:lnSpc>
                          <a:spcPct val="125000"/>
                        </a:lnSpc>
                      </a:pPr>
                      <a:r>
                        <a:rPr sz="1400" b="1" i="0" lang="fr-FR">
                          <a:solidFill>
                            <a:srgbClr val="FFFFFF"/>
                          </a:solidFill>
                          <a:latin typeface="Marianne"/>
                        </a:rPr>
                        <a:t>Ce qu'il détecte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qu'il ne détecte PAS</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Marianne"/>
                        </a:rPr>
                        <a:t>Texte alt manquant sur les images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Qualité du texte alt (contenu)</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Styles de titre absents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Pertinence des noms de liens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Ordre de lecture problématique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Couleur porteuse de sens seule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Marianne"/>
                        </a:rPr>
                        <a:t>Tableaux sans en-tête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Langue des passages étrangers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Marianne"/>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Contraste insuffisant</a:t>
                      </a:r>
                    </a:p>
                  </a:txBody>
                  <a:tcPr marL="91440" marR="91440" marT="45720" marB="45720">
                    <a:solidFill>
                      <a:srgbClr val="FFFFFF"/>
                    </a:solidFill>
                  </a:tcPr>
                </a:tc>
              </a:tr>
            </a:tbl>
          </a:graphicData>
        </a:graphic>
      </p:graphicFrame>
      <p:sp>
        <p:nvSpPr>
          <p:cNvPr id="10" name="DSFR-box"/>
          <p:cNvSpPr/>
          <p:nvPr/>
        </p:nvSpPr>
        <p:spPr>
          <a:xfrm>
            <a:off x="548640" y="461772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70915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vérificateur est un premier filtre, pas un certificat de conformité.</a:t>
            </a:r>
          </a:p>
        </p:txBody>
      </p:sp>
      <p:sp>
        <p:nvSpPr>
          <p:cNvPr id="12" name="DSFR-alert-warning-body"/>
          <p:cNvSpPr txBox="1"/>
          <p:nvPr/>
        </p:nvSpPr>
        <p:spPr>
          <a:xfrm>
            <a:off x="704088" y="512064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Il signale ce qu'il peut détecter automatiquement - pas ce qui est vraiment accessible</a:t>
            </a:r>
          </a:p>
          <a:p>
            <a:pPr algn="l">
              <a:lnSpc>
                <a:spcPct val="150000"/>
              </a:lnSpc>
            </a:pPr>
            <a:r>
              <a:rPr sz="1400" lang="fr-FR">
                <a:solidFill>
                  <a:srgbClr val="161616"/>
                </a:solidFill>
                <a:latin typeface="Marianne"/>
              </a:rPr>
              <a:t>• </a:t>
            </a:r>
            <a:r>
              <a:rPr sz="1400" b="0" lang="fr-FR">
                <a:solidFill>
                  <a:srgbClr val="161616"/>
                </a:solidFill>
                <a:latin typeface="Marianne"/>
              </a:rPr>
              <a:t>Une absence d'erreur ne signifie pas que le document est accessible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Finalisation</a:t>
            </a:r>
          </a:p>
        </p:txBody>
      </p:sp>
      <p:sp>
        <p:nvSpPr>
          <p:cNvPr id="9" name="DSFR-accent-decoratif" descr=""/>
          <p:cNvSpPr/>
          <p:nvPr/>
        </p:nvSpPr>
        <p:spPr>
          <a:xfrm>
            <a:off x="475488" y="461772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Exporter Word vers PDF sans perdre l'accessibilité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5. Finalisation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71</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Word accessible peut devenir un PDF inaccessible si l'export est mal fait.</a:t>
            </a:r>
          </a:p>
        </p:txBody>
      </p:sp>
      <p:sp>
        <p:nvSpPr>
          <p:cNvPr id="11" name="DSFR-stepper-pastille-1"/>
          <p:cNvSpPr/>
          <p:nvPr/>
        </p:nvSpPr>
        <p:spPr>
          <a:xfrm>
            <a:off x="1926335" y="306324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794759"/>
            <a:ext cx="3541775" cy="68580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Vérifier l'accessibilité dans Word</a:t>
            </a:r>
          </a:p>
        </p:txBody>
      </p:sp>
      <p:sp>
        <p:nvSpPr>
          <p:cNvPr id="14" name="DSFR-stepper-pastille-2"/>
          <p:cNvSpPr/>
          <p:nvPr/>
        </p:nvSpPr>
        <p:spPr>
          <a:xfrm>
            <a:off x="5769863" y="306324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4319015" y="3794759"/>
            <a:ext cx="3541775" cy="68580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Fichier &gt; Enregistrer sous &gt; PDF &gt; Options</a:t>
            </a:r>
          </a:p>
        </p:txBody>
      </p:sp>
      <p:sp>
        <p:nvSpPr>
          <p:cNvPr id="17" name="DSFR-stepper-pastille-3"/>
          <p:cNvSpPr/>
          <p:nvPr/>
        </p:nvSpPr>
        <p:spPr>
          <a:xfrm>
            <a:off x="9613391" y="306324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8" name="DSFR-stepper-texte-3"/>
          <p:cNvSpPr txBox="1"/>
          <p:nvPr/>
        </p:nvSpPr>
        <p:spPr>
          <a:xfrm>
            <a:off x="8162543" y="3794759"/>
            <a:ext cx="3541775" cy="68580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Cocher les options d'accessibilité avant d'enregistrer</a:t>
            </a:r>
          </a:p>
        </p:txBody>
      </p:sp>
      <p:sp>
        <p:nvSpPr>
          <p:cNvPr id="20" name="DSFR-box"/>
          <p:cNvSpPr/>
          <p:nvPr/>
        </p:nvSpPr>
        <p:spPr>
          <a:xfrm>
            <a:off x="548640" y="4572000"/>
            <a:ext cx="11155680"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llout-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Options à cocher dans Word bureau Windows</a:t>
            </a:r>
          </a:p>
        </p:txBody>
      </p:sp>
      <p:sp>
        <p:nvSpPr>
          <p:cNvPr id="22" name="DSFR-callout-body"/>
          <p:cNvSpPr txBox="1"/>
          <p:nvPr/>
        </p:nvSpPr>
        <p:spPr>
          <a:xfrm>
            <a:off x="704088" y="5074920"/>
            <a:ext cx="10908792"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Propriétés du document</a:t>
            </a:r>
          </a:p>
          <a:p>
            <a:pPr algn="l">
              <a:lnSpc>
                <a:spcPct val="115000"/>
              </a:lnSpc>
            </a:pPr>
            <a:r>
              <a:rPr sz="1400" lang="fr-FR">
                <a:solidFill>
                  <a:srgbClr val="161616"/>
                </a:solidFill>
                <a:latin typeface="Marianne"/>
              </a:rPr>
              <a:t>• </a:t>
            </a:r>
            <a:r>
              <a:rPr sz="1400" b="0" lang="fr-FR">
                <a:solidFill>
                  <a:srgbClr val="161616"/>
                </a:solidFill>
                <a:latin typeface="Marianne"/>
              </a:rPr>
              <a:t>Balises de structure pour l'accessibilité</a:t>
            </a:r>
          </a:p>
          <a:p>
            <a:pPr algn="l">
              <a:lnSpc>
                <a:spcPct val="115000"/>
              </a:lnSpc>
            </a:pPr>
            <a:r>
              <a:rPr sz="1400" lang="fr-FR">
                <a:solidFill>
                  <a:srgbClr val="161616"/>
                </a:solidFill>
                <a:latin typeface="Marianne"/>
              </a:rPr>
              <a:t>• </a:t>
            </a:r>
            <a:r>
              <a:rPr sz="1400" b="0" lang="fr-FR">
                <a:solidFill>
                  <a:srgbClr val="161616"/>
                </a:solidFill>
                <a:latin typeface="Marianne"/>
              </a:rPr>
              <a:t>Créer des signets à l'aide des titres ou en-têtes</a:t>
            </a:r>
          </a:p>
          <a:p>
            <a:pPr algn="l">
              <a:lnSpc>
                <a:spcPct val="115000"/>
              </a:lnSpc>
            </a:pPr>
            <a:r>
              <a:rPr sz="1400" lang="fr-FR">
                <a:solidFill>
                  <a:srgbClr val="161616"/>
                </a:solidFill>
                <a:latin typeface="Marianne"/>
              </a:rPr>
              <a:t>• </a:t>
            </a:r>
            <a:r>
              <a:rPr sz="1400" b="0" lang="fr-FR">
                <a:solidFill>
                  <a:srgbClr val="161616"/>
                </a:solidFill>
                <a:latin typeface="Marianne"/>
              </a:rPr>
              <a:t>Ne pas convertir le texte en image bitmap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Finalisation</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36499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36499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57200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Retour sur le document de Sami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Retour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72</a:t>
            </a:r>
            <a:endParaRPr lang="fr-FR" dirty="0"/>
          </a:p>
        </p:txBody>
      </p:sp>
      <p:sp>
        <p:nvSpPr>
          <p:cNvPr id="9" name="DSFR-box"/>
          <p:cNvSpPr/>
          <p:nvPr/>
        </p:nvSpPr>
        <p:spPr>
          <a:xfrm>
            <a:off x="548640" y="2103120"/>
            <a:ext cx="5390388" cy="24117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Vous vous souvenez ?</a:t>
            </a:r>
          </a:p>
        </p:txBody>
      </p:sp>
      <p:sp>
        <p:nvSpPr>
          <p:cNvPr id="11" name="DSFR-card-contenu"/>
          <p:cNvSpPr txBox="1"/>
          <p:nvPr/>
        </p:nvSpPr>
        <p:spPr>
          <a:xfrm>
            <a:off x="704088" y="2697479"/>
            <a:ext cx="5097779" cy="172593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Vous avez déjà travaillé la plupart des erreurs de Structure, Couleurs, Contenus et Lisibilité.
Il restait 2 erreurs des thèmes Langue et Finalisation que vous n'aviez pas encore les outils pour détecter.</a:t>
            </a:r>
          </a:p>
        </p:txBody>
      </p:sp>
      <p:sp>
        <p:nvSpPr>
          <p:cNvPr id="13" name="DSFR-box"/>
          <p:cNvSpPr/>
          <p:nvPr/>
        </p:nvSpPr>
        <p:spPr>
          <a:xfrm>
            <a:off x="6313931" y="2103120"/>
            <a:ext cx="5390388" cy="24117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2 erreurs cachées</a:t>
            </a:r>
          </a:p>
        </p:txBody>
      </p:sp>
      <p:sp>
        <p:nvSpPr>
          <p:cNvPr id="15" name="DSFR-card-contenu"/>
          <p:cNvSpPr txBox="1"/>
          <p:nvPr/>
        </p:nvSpPr>
        <p:spPr>
          <a:xfrm>
            <a:off x="6469379" y="2697479"/>
            <a:ext cx="5097779" cy="17259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Langue : un passage en anglais sans balisage de langue</a:t>
            </a:r>
          </a:p>
          <a:p>
            <a:pPr algn="l">
              <a:lnSpc>
                <a:spcPct val="150000"/>
              </a:lnSpc>
            </a:pPr>
            <a:r>
              <a:rPr sz="1400" lang="fr-FR">
                <a:solidFill>
                  <a:srgbClr val="161616"/>
                </a:solidFill>
                <a:latin typeface="Marianne"/>
              </a:rPr>
              <a:t>• </a:t>
            </a:r>
            <a:r>
              <a:rPr sz="1400" b="0" lang="fr-FR">
                <a:solidFill>
                  <a:srgbClr val="161616"/>
                </a:solidFill>
                <a:latin typeface="Marianne"/>
              </a:rPr>
              <a:t>Finalisation : les propriétés du document (titre, auteur) sont vides</a:t>
            </a:r>
          </a:p>
        </p:txBody>
      </p:sp>
      <p:sp>
        <p:nvSpPr>
          <p:cNvPr id="17" name="DSFR-box"/>
          <p:cNvSpPr/>
          <p:nvPr/>
        </p:nvSpPr>
        <p:spPr>
          <a:xfrm>
            <a:off x="548640" y="4698187"/>
            <a:ext cx="11155680" cy="121158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789627"/>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corrections en 2 minutes</a:t>
            </a:r>
          </a:p>
        </p:txBody>
      </p:sp>
      <p:sp>
        <p:nvSpPr>
          <p:cNvPr id="19" name="DSFR-callout-body"/>
          <p:cNvSpPr txBox="1"/>
          <p:nvPr/>
        </p:nvSpPr>
        <p:spPr>
          <a:xfrm>
            <a:off x="704088" y="5201107"/>
            <a:ext cx="10908792" cy="61722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Langue : sélectionner le passage anglais &gt; Révision &gt; Langue &gt; Définir en anglais</a:t>
            </a:r>
          </a:p>
          <a:p>
            <a:pPr algn="l">
              <a:lnSpc>
                <a:spcPct val="125000"/>
              </a:lnSpc>
            </a:pPr>
            <a:r>
              <a:rPr sz="1400" lang="fr-FR">
                <a:solidFill>
                  <a:srgbClr val="161616"/>
                </a:solidFill>
                <a:latin typeface="Marianne"/>
              </a:rPr>
              <a:t>• </a:t>
            </a:r>
            <a:r>
              <a:rPr sz="1400" b="0" lang="fr-FR">
                <a:solidFill>
                  <a:srgbClr val="161616"/>
                </a:solidFill>
                <a:latin typeface="Marianne"/>
              </a:rPr>
              <a:t>Finalisation : Fichier &gt; Informations &gt; renseigner Titre et Auteur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Retour exercice</a:t>
            </a:r>
          </a:p>
        </p:txBody>
      </p:sp>
      <p:sp>
        <p:nvSpPr>
          <p:cNvPr id="8" name="DSFR-accent-decoratif" descr=""/>
          <p:cNvSpPr/>
          <p:nvPr/>
        </p:nvSpPr>
        <p:spPr>
          <a:xfrm>
            <a:off x="475488"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98187"/>
            <a:ext cx="73152" cy="12115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Par où commencer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Priorités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73</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Tout est important mais commencez par ce qui est le plus facile.</a:t>
            </a:r>
          </a:p>
        </p:txBody>
      </p:sp>
      <p:sp>
        <p:nvSpPr>
          <p:cNvPr id="11" name="DSFR-stepper-pastille-1"/>
          <p:cNvSpPr/>
          <p:nvPr/>
        </p:nvSpPr>
        <p:spPr>
          <a:xfrm>
            <a:off x="1926335" y="30175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749039"/>
            <a:ext cx="3541775"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Styles de titre sur tous les titres</a:t>
            </a:r>
          </a:p>
        </p:txBody>
      </p:sp>
      <p:sp>
        <p:nvSpPr>
          <p:cNvPr id="14" name="DSFR-stepper-pastille-2"/>
          <p:cNvSpPr/>
          <p:nvPr/>
        </p:nvSpPr>
        <p:spPr>
          <a:xfrm>
            <a:off x="5769863" y="30175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4319015" y="3749039"/>
            <a:ext cx="3541775"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alternatif sur chaque image</a:t>
            </a:r>
          </a:p>
        </p:txBody>
      </p:sp>
      <p:sp>
        <p:nvSpPr>
          <p:cNvPr id="17" name="DSFR-stepper-pastille-3"/>
          <p:cNvSpPr/>
          <p:nvPr/>
        </p:nvSpPr>
        <p:spPr>
          <a:xfrm>
            <a:off x="9613391" y="30175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8" name="DSFR-stepper-texte-3"/>
          <p:cNvSpPr txBox="1"/>
          <p:nvPr/>
        </p:nvSpPr>
        <p:spPr>
          <a:xfrm>
            <a:off x="8162543" y="3749039"/>
            <a:ext cx="3541775" cy="15544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Lancer le vérificateur d'accessibilité avant d'envoyer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Priorités</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3192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31927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Quiz final : saurez-vous trouver les 5 erreurs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Quiz final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collègue vous partage un document Word pour relecture.</a:t>
            </a:r>
          </a:p>
          <a:p>
            <a:r>
              <a:rPr sz="1800" b="1" lang="fr-FR">
                <a:solidFill>
                  <a:srgbClr val="000091"/>
                </a:solidFill>
                <a:latin typeface="Marianne"/>
              </a:rPr>
              <a:t>En l'analysant, vous repérez les éléments suivants.</a:t>
            </a:r>
          </a:p>
        </p:txBody>
      </p:sp>
      <p:sp>
        <p:nvSpPr>
          <p:cNvPr id="12" name="DSFR-box"/>
          <p:cNvSpPr/>
          <p:nvPr/>
        </p:nvSpPr>
        <p:spPr>
          <a:xfrm>
            <a:off x="548640" y="322326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147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Identifiez les 5 erreurs d'accessibilité :</a:t>
            </a:r>
          </a:p>
        </p:txBody>
      </p:sp>
      <p:sp>
        <p:nvSpPr>
          <p:cNvPr id="14" name="DSFR-callout-body"/>
          <p:cNvSpPr txBox="1"/>
          <p:nvPr/>
        </p:nvSpPr>
        <p:spPr>
          <a:xfrm>
            <a:off x="704088" y="3726180"/>
            <a:ext cx="10908792" cy="1337310"/>
          </a:xfrm>
          <a:prstGeom prst="rect">
            <a:avLst/>
          </a:prstGeom>
          <a:noFill/>
        </p:spPr>
        <p:txBody>
          <a:bodyPr wrap="square" lIns="73152" rIns="73152">
            <a:spAutoFit/>
          </a:bodyPr>
          <a:lstStyle/>
          <a:p>
            <a:pPr algn="l">
              <a:lnSpc>
                <a:spcPct val="125000"/>
              </a:lnSpc>
            </a:pPr>
            <a:r>
              <a:rPr sz="1400" b="0" lang="fr-FR">
                <a:solidFill>
                  <a:srgbClr val="161616"/>
                </a:solidFill>
                <a:latin typeface="Marianne"/>
              </a:rPr>
              <a:t>1. Le titre Introduction est en gras Arial 16 au lieu d'un style de titre</a:t>
            </a:r>
          </a:p>
          <a:p>
            <a:pPr algn="l">
              <a:lnSpc>
                <a:spcPct val="125000"/>
              </a:lnSpc>
            </a:pPr>
            <a:r>
              <a:rPr sz="1400" b="0" lang="fr-FR">
                <a:solidFill>
                  <a:srgbClr val="161616"/>
                </a:solidFill>
                <a:latin typeface="Marianne"/>
              </a:rPr>
              <a:t>2. Un tableau de suivi utilise uniquement des lignes rouges et vertes</a:t>
            </a:r>
          </a:p>
          <a:p>
            <a:pPr algn="l">
              <a:lnSpc>
                <a:spcPct val="125000"/>
              </a:lnSpc>
            </a:pPr>
            <a:r>
              <a:rPr sz="1400" b="0" lang="fr-FR">
                <a:solidFill>
                  <a:srgbClr val="161616"/>
                </a:solidFill>
                <a:latin typeface="Marianne"/>
              </a:rPr>
              <a:t>3. Un lien est rédigé : cliquez ici pour le formulaire</a:t>
            </a:r>
          </a:p>
          <a:p>
            <a:pPr algn="l">
              <a:lnSpc>
                <a:spcPct val="125000"/>
              </a:lnSpc>
            </a:pPr>
            <a:r>
              <a:rPr sz="1400" b="0" lang="fr-FR">
                <a:solidFill>
                  <a:srgbClr val="161616"/>
                </a:solidFill>
                <a:latin typeface="Marianne"/>
              </a:rPr>
              <a:t>4. La langue principale du document n'est pas définie</a:t>
            </a:r>
          </a:p>
          <a:p>
            <a:pPr algn="l">
              <a:lnSpc>
                <a:spcPct val="125000"/>
              </a:lnSpc>
            </a:pPr>
            <a:r>
              <a:rPr sz="1400" b="0" lang="fr-FR">
                <a:solidFill>
                  <a:srgbClr val="161616"/>
                </a:solidFill>
                <a:latin typeface="Marianne"/>
              </a:rPr>
              <a:t>5. Les propriétés du fichier (Titre et Auteur) sont vides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Quiz final</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2326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Correction : les 5 erreurs et leurs solutions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Quiz final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75</a:t>
            </a:r>
            <a:endParaRPr lang="fr-FR" dirty="0"/>
          </a:p>
        </p:txBody>
      </p:sp>
      <p:sp>
        <p:nvSpPr>
          <p:cNvPr id="9" name="DSFR-box"/>
          <p:cNvSpPr/>
          <p:nvPr/>
        </p:nvSpPr>
        <p:spPr>
          <a:xfrm>
            <a:off x="548640" y="2103120"/>
            <a:ext cx="11155680" cy="403433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5 erreurs, 5 solutions</a:t>
            </a:r>
          </a:p>
        </p:txBody>
      </p:sp>
      <p:sp>
        <p:nvSpPr>
          <p:cNvPr id="11" name="DSFR-callout-body"/>
          <p:cNvSpPr txBox="1"/>
          <p:nvPr/>
        </p:nvSpPr>
        <p:spPr>
          <a:xfrm>
            <a:off x="704088" y="2606039"/>
            <a:ext cx="10908792" cy="3439972"/>
          </a:xfrm>
          <a:prstGeom prst="rect">
            <a:avLst/>
          </a:prstGeom>
          <a:noFill/>
        </p:spPr>
        <p:txBody>
          <a:bodyPr wrap="square" lIns="73152" rIns="73152">
            <a:spAutoFit/>
          </a:bodyPr>
          <a:lstStyle/>
          <a:p>
            <a:pPr algn="l">
              <a:lnSpc>
                <a:spcPct val="172000"/>
              </a:lnSpc>
            </a:pPr>
            <a:r>
              <a:rPr sz="1400" lang="fr-FR">
                <a:solidFill>
                  <a:srgbClr val="161616"/>
                </a:solidFill>
                <a:latin typeface="Marianne"/>
              </a:rPr>
              <a:t>• </a:t>
            </a:r>
            <a:r>
              <a:rPr sz="1400" b="1" lang="fr-FR">
                <a:solidFill>
                  <a:srgbClr val="161616"/>
                </a:solidFill>
                <a:latin typeface="Marianne"/>
              </a:rPr>
              <a:t>Structure</a:t>
            </a:r>
            <a:r>
              <a:rPr sz="1400" b="0" lang="fr-FR">
                <a:solidFill>
                  <a:srgbClr val="161616"/>
                </a:solidFill>
                <a:latin typeface="Marianne"/>
              </a:rPr>
              <a:t> : le gras n'est pas reconnu par les lecteurs d'écran - appliquer le style Titre 1</a:t>
            </a:r>
          </a:p>
          <a:p>
            <a:pPr algn="l">
              <a:lnSpc>
                <a:spcPct val="172000"/>
              </a:lnSpc>
            </a:pPr>
            <a:r>
              <a:rPr sz="1400" lang="fr-FR">
                <a:solidFill>
                  <a:srgbClr val="161616"/>
                </a:solidFill>
                <a:latin typeface="Marianne"/>
              </a:rPr>
              <a:t>• </a:t>
            </a:r>
            <a:r>
              <a:rPr sz="1400" b="1" lang="fr-FR">
                <a:solidFill>
                  <a:srgbClr val="161616"/>
                </a:solidFill>
                <a:latin typeface="Marianne"/>
              </a:rPr>
              <a:t>Couleurs</a:t>
            </a:r>
            <a:r>
              <a:rPr sz="1400" b="0" lang="fr-FR">
                <a:solidFill>
                  <a:srgbClr val="161616"/>
                </a:solidFill>
                <a:latin typeface="Marianne"/>
              </a:rPr>
              <a:t> : l'information ne doit pas reposer sur la couleur seule - ajouter les étiquettes Conforme / Non conforme</a:t>
            </a:r>
          </a:p>
          <a:p>
            <a:pPr algn="l">
              <a:lnSpc>
                <a:spcPct val="172000"/>
              </a:lnSpc>
            </a:pPr>
            <a:r>
              <a:rPr sz="1400" lang="fr-FR">
                <a:solidFill>
                  <a:srgbClr val="161616"/>
                </a:solidFill>
                <a:latin typeface="Marianne"/>
              </a:rPr>
              <a:t>• </a:t>
            </a:r>
            <a:r>
              <a:rPr sz="1400" b="1" lang="fr-FR">
                <a:solidFill>
                  <a:srgbClr val="161616"/>
                </a:solidFill>
                <a:latin typeface="Marianne"/>
              </a:rPr>
              <a:t>Contenus</a:t>
            </a:r>
            <a:r>
              <a:rPr sz="1400" b="0" lang="fr-FR">
                <a:solidFill>
                  <a:srgbClr val="161616"/>
                </a:solidFill>
                <a:latin typeface="Marianne"/>
              </a:rPr>
              <a:t> : un lien doit être compréhensible hors contexte - renommer en Accéder au formulaire de demande RH</a:t>
            </a:r>
          </a:p>
          <a:p>
            <a:pPr algn="l">
              <a:lnSpc>
                <a:spcPct val="172000"/>
              </a:lnSpc>
            </a:pPr>
            <a:r>
              <a:rPr sz="1400" lang="fr-FR">
                <a:solidFill>
                  <a:srgbClr val="161616"/>
                </a:solidFill>
                <a:latin typeface="Marianne"/>
              </a:rPr>
              <a:t>• </a:t>
            </a:r>
            <a:r>
              <a:rPr sz="1400" b="1" lang="fr-FR">
                <a:solidFill>
                  <a:srgbClr val="161616"/>
                </a:solidFill>
                <a:latin typeface="Marianne"/>
              </a:rPr>
              <a:t>Langue</a:t>
            </a:r>
            <a:r>
              <a:rPr sz="1400" b="0" lang="fr-FR">
                <a:solidFill>
                  <a:srgbClr val="161616"/>
                </a:solidFill>
                <a:latin typeface="Marianne"/>
              </a:rPr>
              <a:t> : sans déclaration, la synthèse vocale prononce avec le mauvais accent - Révision &gt; Langue &gt; Définir : Français</a:t>
            </a:r>
          </a:p>
          <a:p>
            <a:pPr algn="l">
              <a:lnSpc>
                <a:spcPct val="172000"/>
              </a:lnSpc>
            </a:pPr>
            <a:r>
              <a:rPr sz="1400" lang="fr-FR">
                <a:solidFill>
                  <a:srgbClr val="161616"/>
                </a:solidFill>
                <a:latin typeface="Marianne"/>
              </a:rPr>
              <a:t>• </a:t>
            </a:r>
            <a:r>
              <a:rPr sz="1400" b="1" lang="fr-FR">
                <a:solidFill>
                  <a:srgbClr val="161616"/>
                </a:solidFill>
                <a:latin typeface="Marianne"/>
              </a:rPr>
              <a:t>Finalisation</a:t>
            </a:r>
            <a:r>
              <a:rPr sz="1400" b="0" lang="fr-FR">
                <a:solidFill>
                  <a:srgbClr val="161616"/>
                </a:solidFill>
                <a:latin typeface="Marianne"/>
              </a:rPr>
              <a:t> : le titre est la première information lue par le lecteur d'écran - Fichier &gt; Informations &gt; saisir Titre et Auteur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Quiz final</a:t>
            </a:r>
          </a:p>
        </p:txBody>
      </p:sp>
      <p:sp>
        <p:nvSpPr>
          <p:cNvPr id="8" name="DSFR-accent-decoratif" descr=""/>
          <p:cNvSpPr/>
          <p:nvPr/>
        </p:nvSpPr>
        <p:spPr>
          <a:xfrm>
            <a:off x="475488" y="2103120"/>
            <a:ext cx="73152" cy="40343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Faites le point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Bilan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76</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relire le support, complétez de mémoire :</a:t>
            </a:r>
          </a:p>
        </p:txBody>
      </p:sp>
      <p:sp>
        <p:nvSpPr>
          <p:cNvPr id="11" name="DSFR-texte-libre"/>
          <p:cNvSpPr txBox="1"/>
          <p:nvPr/>
        </p:nvSpPr>
        <p:spPr>
          <a:xfrm>
            <a:off x="475488" y="2926080"/>
            <a:ext cx="11228832" cy="5943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1.  La règle la plus importante pour qu'un lecteur d'écran comprenne la structure de votre document : _______________</a:t>
            </a:r>
          </a:p>
        </p:txBody>
      </p:sp>
      <p:sp>
        <p:nvSpPr>
          <p:cNvPr id="12" name="DSFR-texte-libre"/>
          <p:cNvSpPr txBox="1"/>
          <p:nvPr/>
        </p:nvSpPr>
        <p:spPr>
          <a:xfrm>
            <a:off x="475488" y="3749039"/>
            <a:ext cx="11228832" cy="5943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2.  La vérification à faire en 30 secondes avant d'envoyer n'importe quel document : _______________</a:t>
            </a:r>
          </a:p>
        </p:txBody>
      </p:sp>
      <p:sp>
        <p:nvSpPr>
          <p:cNvPr id="13" name="DSFR-texte-libre"/>
          <p:cNvSpPr txBox="1"/>
          <p:nvPr/>
        </p:nvSpPr>
        <p:spPr>
          <a:xfrm>
            <a:off x="475488" y="4572000"/>
            <a:ext cx="11228832" cy="5943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3.  Le geste que vous ferez dès demain sur votre prochain document : _______________</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Bilan</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Faites le point : les réponses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Bilan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77</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réponses</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b="0" lang="fr-FR">
                <a:solidFill>
                  <a:srgbClr val="161616"/>
                </a:solidFill>
                <a:latin typeface="Marianne"/>
              </a:rPr>
              <a:t>1. Utiliser les styles de titre (Titre 1, Titre 2) pour structurer le document</a:t>
            </a:r>
          </a:p>
          <a:p>
            <a:pPr algn="l">
              <a:lnSpc>
                <a:spcPct val="125000"/>
              </a:lnSpc>
            </a:pPr>
            <a:r>
              <a:rPr sz="1400" b="0" lang="fr-FR">
                <a:solidFill>
                  <a:srgbClr val="161616"/>
                </a:solidFill>
                <a:latin typeface="Marianne"/>
              </a:rPr>
              <a:t>2. Lancer le vérificateur d'accessibilité (Révision &gt; Vérifier l'accessibilité)</a:t>
            </a:r>
          </a:p>
          <a:p>
            <a:pPr algn="l">
              <a:lnSpc>
                <a:spcPct val="125000"/>
              </a:lnSpc>
            </a:pPr>
            <a:r>
              <a:rPr sz="1400" b="0" lang="fr-FR">
                <a:solidFill>
                  <a:srgbClr val="161616"/>
                </a:solidFill>
                <a:latin typeface="Marianne"/>
              </a:rPr>
              <a:t>3. Ajouter un texte alternatif aux images ou renseigner le titre dans les propriétés</a:t>
            </a:r>
          </a:p>
        </p:txBody>
      </p:sp>
      <p:sp>
        <p:nvSpPr>
          <p:cNvPr id="13" name="DSFR-box"/>
          <p:cNvSpPr/>
          <p:nvPr/>
        </p:nvSpPr>
        <p:spPr>
          <a:xfrm>
            <a:off x="548640" y="4215384"/>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highlight"/>
          <p:cNvSpPr txBox="1"/>
          <p:nvPr/>
        </p:nvSpPr>
        <p:spPr>
          <a:xfrm>
            <a:off x="749808" y="4306824"/>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Vous avez ces réflexes ? L'essentiel est acquis.</a:t>
            </a:r>
          </a:p>
          <a:p>
            <a:r>
              <a:rPr sz="1800" b="1" lang="fr-FR">
                <a:solidFill>
                  <a:srgbClr val="000091"/>
                </a:solidFill>
                <a:latin typeface="Marianne"/>
              </a:rPr>
              <a:t>Sinon : relisez Structure et Contenus.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Bilan</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215384"/>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Dès demain, vos trois premiers réflexes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Plan d'action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78</a:t>
            </a:r>
            <a:endParaRPr lang="fr-FR" dirty="0"/>
          </a:p>
        </p:txBody>
      </p:sp>
      <p:sp>
        <p:nvSpPr>
          <p:cNvPr id="9" name="DSFR-box"/>
          <p:cNvSpPr/>
          <p:nvPr/>
        </p:nvSpPr>
        <p:spPr>
          <a:xfrm>
            <a:off x="548640" y="2103120"/>
            <a:ext cx="3468623" cy="3657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Ctrl+F &gt; onglet Titres</a:t>
            </a:r>
          </a:p>
        </p:txBody>
      </p:sp>
      <p:sp>
        <p:nvSpPr>
          <p:cNvPr id="12" name="DSFR-card-contenu"/>
          <p:cNvSpPr txBox="1"/>
          <p:nvPr/>
        </p:nvSpPr>
        <p:spPr>
          <a:xfrm>
            <a:off x="704088" y="3246120"/>
            <a:ext cx="3176016" cy="242316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Vérifier que tous les titres apparaissent dans le volet de navigation</a:t>
            </a:r>
          </a:p>
          <a:p>
            <a:pPr algn="l">
              <a:lnSpc>
                <a:spcPct val="150000"/>
              </a:lnSpc>
            </a:pPr>
            <a:r>
              <a:rPr sz="1400" lang="fr-FR">
                <a:solidFill>
                  <a:srgbClr val="161616"/>
                </a:solidFill>
                <a:latin typeface="Marianne"/>
              </a:rPr>
              <a:t>• </a:t>
            </a:r>
            <a:r>
              <a:rPr sz="1400" b="0" lang="fr-FR">
                <a:solidFill>
                  <a:srgbClr val="161616"/>
                </a:solidFill>
                <a:latin typeface="Marianne"/>
              </a:rPr>
              <a:t>Si le volet est vide : appliquer les styles</a:t>
            </a:r>
          </a:p>
        </p:txBody>
      </p:sp>
      <p:sp>
        <p:nvSpPr>
          <p:cNvPr id="14" name="DSFR-box"/>
          <p:cNvSpPr/>
          <p:nvPr/>
        </p:nvSpPr>
        <p:spPr>
          <a:xfrm>
            <a:off x="4392167" y="2103120"/>
            <a:ext cx="3468623" cy="3657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7615"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Clic droit &gt; Texte de remplacement</a:t>
            </a:r>
          </a:p>
        </p:txBody>
      </p:sp>
      <p:sp>
        <p:nvSpPr>
          <p:cNvPr id="17" name="DSFR-card-contenu"/>
          <p:cNvSpPr txBox="1"/>
          <p:nvPr/>
        </p:nvSpPr>
        <p:spPr>
          <a:xfrm>
            <a:off x="4547615" y="3246120"/>
            <a:ext cx="3176016" cy="242316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Décrire la fonction de chaque image</a:t>
            </a:r>
          </a:p>
          <a:p>
            <a:pPr algn="l">
              <a:lnSpc>
                <a:spcPct val="150000"/>
              </a:lnSpc>
            </a:pPr>
            <a:r>
              <a:rPr sz="1400" lang="fr-FR">
                <a:solidFill>
                  <a:srgbClr val="161616"/>
                </a:solidFill>
                <a:latin typeface="Marianne"/>
              </a:rPr>
              <a:t>• </a:t>
            </a:r>
            <a:r>
              <a:rPr sz="1400" b="0" lang="fr-FR">
                <a:solidFill>
                  <a:srgbClr val="161616"/>
                </a:solidFill>
                <a:latin typeface="Marianne"/>
              </a:rPr>
              <a:t>Image décorative : cocher Marquer comme décoratif</a:t>
            </a:r>
          </a:p>
        </p:txBody>
      </p:sp>
      <p:sp>
        <p:nvSpPr>
          <p:cNvPr id="19" name="DSFR-box"/>
          <p:cNvSpPr/>
          <p:nvPr/>
        </p:nvSpPr>
        <p:spPr>
          <a:xfrm>
            <a:off x="8235695" y="2103120"/>
            <a:ext cx="3468623" cy="3657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Fichier &gt; Vérifier l'accessibilité</a:t>
            </a:r>
          </a:p>
        </p:txBody>
      </p:sp>
      <p:sp>
        <p:nvSpPr>
          <p:cNvPr id="22" name="DSFR-card-contenu"/>
          <p:cNvSpPr txBox="1"/>
          <p:nvPr/>
        </p:nvSpPr>
        <p:spPr>
          <a:xfrm>
            <a:off x="8391144" y="3246120"/>
            <a:ext cx="3176016" cy="242316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Corriger les erreurs avant d'envoyer</a:t>
            </a:r>
          </a:p>
          <a:p>
            <a:pPr algn="l">
              <a:lnSpc>
                <a:spcPct val="150000"/>
              </a:lnSpc>
            </a:pPr>
            <a:r>
              <a:rPr sz="1400" lang="fr-FR">
                <a:solidFill>
                  <a:srgbClr val="161616"/>
                </a:solidFill>
                <a:latin typeface="Marianne"/>
              </a:rPr>
              <a:t>• </a:t>
            </a:r>
            <a:r>
              <a:rPr sz="1400" b="0" lang="fr-FR">
                <a:solidFill>
                  <a:srgbClr val="161616"/>
                </a:solidFill>
                <a:latin typeface="Marianne"/>
              </a:rPr>
              <a:t>Zéro erreur = premier filtre passé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Plan d'action</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4547615"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8391144"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103120"/>
            <a:ext cx="73152" cy="3657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9015" y="2103120"/>
            <a:ext cx="73152" cy="3657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62543" y="2103120"/>
            <a:ext cx="73152" cy="3657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pratiqué dans l'exercice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79</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Ces critères, vous savez déjà les corriger.</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Titres avec styles intégrés (pas du gras manuel)</a:t>
            </a:r>
          </a:p>
          <a:p>
            <a:pPr algn="l">
              <a:lnSpc>
                <a:spcPct val="150000"/>
              </a:lnSpc>
            </a:pPr>
            <a:r>
              <a:rPr sz="1800" b="1" lang="fr-FR">
                <a:solidFill>
                  <a:srgbClr val="000091"/>
                </a:solidFill>
                <a:latin typeface="Marianne"/>
              </a:rPr>
              <a:t>☐  </a:t>
            </a:r>
            <a:r>
              <a:rPr sz="1400" lang="fr-FR">
                <a:solidFill>
                  <a:srgbClr val="161616"/>
                </a:solidFill>
                <a:latin typeface="Marianne"/>
              </a:rPr>
              <a:t>Hiérarchie des titres cohérente (H1, H2, H3)</a:t>
            </a:r>
          </a:p>
          <a:p>
            <a:pPr algn="l">
              <a:lnSpc>
                <a:spcPct val="150000"/>
              </a:lnSpc>
            </a:pPr>
            <a:r>
              <a:rPr sz="1800" b="1" lang="fr-FR">
                <a:solidFill>
                  <a:srgbClr val="000091"/>
                </a:solidFill>
                <a:latin typeface="Marianne"/>
              </a:rPr>
              <a:t>☐  </a:t>
            </a:r>
            <a:r>
              <a:rPr sz="1400" lang="fr-FR">
                <a:solidFill>
                  <a:srgbClr val="161616"/>
                </a:solidFill>
                <a:latin typeface="Marianne"/>
              </a:rPr>
              <a:t>Texte alternatif sur images / décoratifs marqués</a:t>
            </a:r>
          </a:p>
          <a:p>
            <a:pPr algn="l">
              <a:lnSpc>
                <a:spcPct val="150000"/>
              </a:lnSpc>
            </a:pPr>
            <a:r>
              <a:rPr sz="1800" b="1" lang="fr-FR">
                <a:solidFill>
                  <a:srgbClr val="000091"/>
                </a:solidFill>
                <a:latin typeface="Marianne"/>
              </a:rPr>
              <a:t>☐  </a:t>
            </a:r>
            <a:r>
              <a:rPr sz="1400" lang="fr-FR">
                <a:solidFill>
                  <a:srgbClr val="161616"/>
                </a:solidFill>
                <a:latin typeface="Marianne"/>
              </a:rPr>
              <a:t>Tableaux de données avec ligne d'en-tête</a:t>
            </a:r>
          </a:p>
          <a:p>
            <a:pPr algn="l">
              <a:lnSpc>
                <a:spcPct val="150000"/>
              </a:lnSpc>
            </a:pPr>
            <a:r>
              <a:rPr sz="1800" b="1" lang="fr-FR">
                <a:solidFill>
                  <a:srgbClr val="000091"/>
                </a:solidFill>
                <a:latin typeface="Marianne"/>
              </a:rPr>
              <a:t>☐  </a:t>
            </a:r>
            <a:r>
              <a:rPr sz="1400" lang="fr-FR">
                <a:solidFill>
                  <a:srgbClr val="161616"/>
                </a:solidFill>
                <a:latin typeface="Marianne"/>
              </a:rPr>
              <a:t>Listes natives (pas de tirets manuels)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pratiqué dans l'exercice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80</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Couleurs, langue et finalisation.</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Liens descriptifs (pas cliquez ici)</a:t>
            </a:r>
          </a:p>
          <a:p>
            <a:pPr algn="l">
              <a:lnSpc>
                <a:spcPct val="150000"/>
              </a:lnSpc>
            </a:pPr>
            <a:r>
              <a:rPr sz="1800" b="1" lang="fr-FR">
                <a:solidFill>
                  <a:srgbClr val="000091"/>
                </a:solidFill>
                <a:latin typeface="Marianne"/>
              </a:rPr>
              <a:t>☐  </a:t>
            </a:r>
            <a:r>
              <a:rPr sz="1400" lang="fr-FR">
                <a:solidFill>
                  <a:srgbClr val="161616"/>
                </a:solidFill>
                <a:latin typeface="Marianne"/>
              </a:rPr>
              <a:t>Passages en langue étrangère balisés</a:t>
            </a:r>
          </a:p>
          <a:p>
            <a:pPr algn="l">
              <a:lnSpc>
                <a:spcPct val="150000"/>
              </a:lnSpc>
            </a:pPr>
            <a:r>
              <a:rPr sz="1800" b="1" lang="fr-FR">
                <a:solidFill>
                  <a:srgbClr val="000091"/>
                </a:solidFill>
                <a:latin typeface="Marianne"/>
              </a:rPr>
              <a:t>☐  </a:t>
            </a:r>
            <a:r>
              <a:rPr sz="1400" lang="fr-FR">
                <a:solidFill>
                  <a:srgbClr val="161616"/>
                </a:solidFill>
                <a:latin typeface="Marianne"/>
              </a:rPr>
              <a:t>Contraste &gt;= 4,5:1 texte standard, &gt;= 3:1 grand texte</a:t>
            </a:r>
          </a:p>
          <a:p>
            <a:pPr algn="l">
              <a:lnSpc>
                <a:spcPct val="150000"/>
              </a:lnSpc>
            </a:pPr>
            <a:r>
              <a:rPr sz="1800" b="1" lang="fr-FR">
                <a:solidFill>
                  <a:srgbClr val="000091"/>
                </a:solidFill>
                <a:latin typeface="Marianne"/>
              </a:rPr>
              <a:t>☐  </a:t>
            </a:r>
            <a:r>
              <a:rPr sz="1400" lang="fr-FR">
                <a:solidFill>
                  <a:srgbClr val="161616"/>
                </a:solidFill>
                <a:latin typeface="Marianne"/>
              </a:rPr>
              <a:t>Couleur doublée en texte</a:t>
            </a:r>
          </a:p>
          <a:p>
            <a:pPr algn="l">
              <a:lnSpc>
                <a:spcPct val="150000"/>
              </a:lnSpc>
            </a:pPr>
            <a:r>
              <a:rPr sz="1800" b="1" lang="fr-FR">
                <a:solidFill>
                  <a:srgbClr val="000091"/>
                </a:solidFill>
                <a:latin typeface="Marianne"/>
              </a:rPr>
              <a:t>☐  </a:t>
            </a:r>
            <a:r>
              <a:rPr sz="1400" lang="fr-FR">
                <a:solidFill>
                  <a:srgbClr val="161616"/>
                </a:solidFill>
                <a:latin typeface="Marianne"/>
              </a:rPr>
              <a:t>Propriétés renseignées (Titre, Auteur)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autres critères essentiels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81</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Tout aussi importants, à intégrer progressivement.</a:t>
            </a:r>
          </a:p>
        </p:txBody>
      </p:sp>
      <p:sp>
        <p:nvSpPr>
          <p:cNvPr id="11" name="DSFR-checklist"/>
          <p:cNvSpPr txBox="1"/>
          <p:nvPr/>
        </p:nvSpPr>
        <p:spPr>
          <a:xfrm>
            <a:off x="475488" y="3017520"/>
            <a:ext cx="11228832" cy="274320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Aucun objet clignotant</a:t>
            </a:r>
          </a:p>
          <a:p>
            <a:pPr algn="l">
              <a:lnSpc>
                <a:spcPct val="150000"/>
              </a:lnSpc>
            </a:pPr>
            <a:r>
              <a:rPr sz="1800" b="1" lang="fr-FR">
                <a:solidFill>
                  <a:srgbClr val="000091"/>
                </a:solidFill>
                <a:latin typeface="Marianne"/>
              </a:rPr>
              <a:t>☐  </a:t>
            </a:r>
            <a:r>
              <a:rPr sz="1400" lang="fr-FR">
                <a:solidFill>
                  <a:srgbClr val="161616"/>
                </a:solidFill>
                <a:latin typeface="Marianne"/>
              </a:rPr>
              <a:t>Document non protégé</a:t>
            </a:r>
          </a:p>
          <a:p>
            <a:pPr algn="l">
              <a:lnSpc>
                <a:spcPct val="150000"/>
              </a:lnSpc>
            </a:pPr>
            <a:r>
              <a:rPr sz="1800" b="1" lang="fr-FR">
                <a:solidFill>
                  <a:srgbClr val="000091"/>
                </a:solidFill>
                <a:latin typeface="Marianne"/>
              </a:rPr>
              <a:t>☐  </a:t>
            </a:r>
            <a:r>
              <a:rPr sz="1400" lang="fr-FR">
                <a:solidFill>
                  <a:srgbClr val="161616"/>
                </a:solidFill>
                <a:latin typeface="Marianne"/>
              </a:rPr>
              <a:t>Langue principale balisée</a:t>
            </a:r>
          </a:p>
          <a:p>
            <a:pPr algn="l">
              <a:lnSpc>
                <a:spcPct val="150000"/>
              </a:lnSpc>
            </a:pPr>
            <a:r>
              <a:rPr sz="1800" b="1" lang="fr-FR">
                <a:solidFill>
                  <a:srgbClr val="000091"/>
                </a:solidFill>
                <a:latin typeface="Marianne"/>
              </a:rPr>
              <a:t>☐  </a:t>
            </a:r>
            <a:r>
              <a:rPr sz="1400" lang="fr-FR">
                <a:solidFill>
                  <a:srgbClr val="161616"/>
                </a:solidFill>
                <a:latin typeface="Marianne"/>
              </a:rPr>
              <a:t>Fichier .docx + nom descriptif</a:t>
            </a:r>
          </a:p>
          <a:p>
            <a:pPr algn="l">
              <a:lnSpc>
                <a:spcPct val="150000"/>
              </a:lnSpc>
            </a:pPr>
            <a:r>
              <a:rPr sz="1800" b="1" lang="fr-FR">
                <a:solidFill>
                  <a:srgbClr val="000091"/>
                </a:solidFill>
                <a:latin typeface="Marianne"/>
              </a:rPr>
              <a:t>☐  </a:t>
            </a:r>
            <a:r>
              <a:rPr sz="1400" lang="fr-FR">
                <a:solidFill>
                  <a:srgbClr val="161616"/>
                </a:solidFill>
                <a:latin typeface="Marianne"/>
              </a:rPr>
              <a:t>Vérificateur d'accessibilité sans erreur résiduelle</a:t>
            </a:r>
          </a:p>
          <a:p>
            <a:pPr algn="l">
              <a:lnSpc>
                <a:spcPct val="150000"/>
              </a:lnSpc>
            </a:pPr>
            <a:r>
              <a:rPr sz="1800" b="1" lang="fr-FR">
                <a:solidFill>
                  <a:srgbClr val="000091"/>
                </a:solidFill>
                <a:latin typeface="Marianne"/>
              </a:rPr>
              <a:t>☐  </a:t>
            </a:r>
            <a:r>
              <a:rPr sz="1400" lang="fr-FR">
                <a:solidFill>
                  <a:srgbClr val="161616"/>
                </a:solidFill>
                <a:latin typeface="Marianne"/>
              </a:rPr>
              <a:t>Infos essentielles dans le corps (pas seulement en filigrane)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 autres critères essentiels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82</a:t>
            </a:r>
            <a:endParaRPr lang="fr-FR" dirty="0"/>
          </a:p>
        </p:txBody>
      </p:sp>
      <p:sp>
        <p:nvSpPr>
          <p:cNvPr id="9" name="DSFR-box"/>
          <p:cNvSpPr/>
          <p:nvPr/>
        </p:nvSpPr>
        <p:spPr>
          <a:xfrm>
            <a:off x="548640" y="210312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Mise en page et formatage propre.</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Pas de zones de texte flottantes</a:t>
            </a:r>
          </a:p>
          <a:p>
            <a:pPr algn="l">
              <a:lnSpc>
                <a:spcPct val="150000"/>
              </a:lnSpc>
            </a:pPr>
            <a:r>
              <a:rPr sz="1800" b="1" lang="fr-FR">
                <a:solidFill>
                  <a:srgbClr val="000091"/>
                </a:solidFill>
                <a:latin typeface="Marianne"/>
              </a:rPr>
              <a:t>☐  </a:t>
            </a:r>
            <a:r>
              <a:rPr sz="1400" lang="fr-FR">
                <a:solidFill>
                  <a:srgbClr val="161616"/>
                </a:solidFill>
                <a:latin typeface="Marianne"/>
              </a:rPr>
              <a:t>Sauts de page propres (pas de retours à la ligne)</a:t>
            </a:r>
          </a:p>
          <a:p>
            <a:pPr algn="l">
              <a:lnSpc>
                <a:spcPct val="150000"/>
              </a:lnSpc>
            </a:pPr>
            <a:r>
              <a:rPr sz="1800" b="1" lang="fr-FR">
                <a:solidFill>
                  <a:srgbClr val="000091"/>
                </a:solidFill>
                <a:latin typeface="Marianne"/>
              </a:rPr>
              <a:t>☐  </a:t>
            </a:r>
            <a:r>
              <a:rPr sz="1400" lang="fr-FR">
                <a:solidFill>
                  <a:srgbClr val="161616"/>
                </a:solidFill>
                <a:latin typeface="Marianne"/>
              </a:rPr>
              <a:t>Colonnes intégrées (pas de tabulations)</a:t>
            </a:r>
          </a:p>
          <a:p>
            <a:pPr algn="l">
              <a:lnSpc>
                <a:spcPct val="150000"/>
              </a:lnSpc>
            </a:pPr>
            <a:r>
              <a:rPr sz="1800" b="1" lang="fr-FR">
                <a:solidFill>
                  <a:srgbClr val="000091"/>
                </a:solidFill>
                <a:latin typeface="Marianne"/>
              </a:rPr>
              <a:t>☐  </a:t>
            </a:r>
            <a:r>
              <a:rPr sz="1400" lang="fr-FR">
                <a:solidFill>
                  <a:srgbClr val="161616"/>
                </a:solidFill>
                <a:latin typeface="Marianne"/>
              </a:rPr>
              <a:t>Tableaux de mise en page avec habillage Aucun</a:t>
            </a:r>
          </a:p>
          <a:p>
            <a:pPr algn="l">
              <a:lnSpc>
                <a:spcPct val="150000"/>
              </a:lnSpc>
            </a:pPr>
            <a:r>
              <a:rPr sz="1800" b="1" lang="fr-FR">
                <a:solidFill>
                  <a:srgbClr val="000091"/>
                </a:solidFill>
                <a:latin typeface="Marianne"/>
              </a:rPr>
              <a:t>☐  </a:t>
            </a:r>
            <a:r>
              <a:rPr sz="1400" lang="fr-FR">
                <a:solidFill>
                  <a:srgbClr val="161616"/>
                </a:solidFill>
                <a:latin typeface="Marianne"/>
              </a:rPr>
              <a:t>Aucun formulaire Word interactif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Checklist</a:t>
            </a:r>
          </a:p>
        </p:txBody>
      </p:sp>
      <p:sp>
        <p:nvSpPr>
          <p:cNvPr id="8" name="DSFR-accent-decoratif" descr=""/>
          <p:cNvSpPr/>
          <p:nvPr/>
        </p:nvSpPr>
        <p:spPr>
          <a:xfrm>
            <a:off x="475488" y="210312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À vous de jouer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2. Documents accessibles | Clôture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Je m'engage à vérifier les styles de titre et le texte alternatif sur mon prochain document.</a:t>
            </a:r>
          </a:p>
        </p:txBody>
      </p:sp>
      <p:sp>
        <p:nvSpPr>
          <p:cNvPr id="12" name="DSFR-box"/>
          <p:cNvSpPr/>
          <p:nvPr/>
        </p:nvSpPr>
        <p:spPr>
          <a:xfrm>
            <a:off x="548640" y="3314700"/>
            <a:ext cx="3468623"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45186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J+7</a:t>
            </a:r>
          </a:p>
        </p:txBody>
      </p:sp>
      <p:sp>
        <p:nvSpPr>
          <p:cNvPr id="14" name="DSFR-card-contenu"/>
          <p:cNvSpPr txBox="1"/>
          <p:nvPr/>
        </p:nvSpPr>
        <p:spPr>
          <a:xfrm>
            <a:off x="704088" y="3909059"/>
            <a:ext cx="3176016"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Refaites le quiz final sans rouvrir ce support</a:t>
            </a:r>
          </a:p>
          <a:p>
            <a:pPr algn="l">
              <a:lnSpc>
                <a:spcPct val="150000"/>
              </a:lnSpc>
            </a:pPr>
            <a:r>
              <a:rPr sz="1400" lang="fr-FR">
                <a:solidFill>
                  <a:srgbClr val="161616"/>
                </a:solidFill>
                <a:latin typeface="Marianne"/>
              </a:rPr>
              <a:t>• </a:t>
            </a:r>
            <a:r>
              <a:rPr sz="1400" b="0" lang="fr-FR">
                <a:solidFill>
                  <a:srgbClr val="161616"/>
                </a:solidFill>
                <a:latin typeface="Marianne"/>
              </a:rPr>
              <a:t>3-4/5 : relisez le thème correspondant aux erreurs</a:t>
            </a:r>
          </a:p>
        </p:txBody>
      </p:sp>
      <p:sp>
        <p:nvSpPr>
          <p:cNvPr id="16" name="DSFR-box"/>
          <p:cNvSpPr/>
          <p:nvPr/>
        </p:nvSpPr>
        <p:spPr>
          <a:xfrm>
            <a:off x="4392167" y="3314700"/>
            <a:ext cx="3468623"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4547615" y="345186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J+30</a:t>
            </a:r>
          </a:p>
        </p:txBody>
      </p:sp>
      <p:sp>
        <p:nvSpPr>
          <p:cNvPr id="18" name="DSFR-card-contenu"/>
          <p:cNvSpPr txBox="1"/>
          <p:nvPr/>
        </p:nvSpPr>
        <p:spPr>
          <a:xfrm>
            <a:off x="4547615" y="3909059"/>
            <a:ext cx="3176016"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Ouvrez un vrai document Word</a:t>
            </a:r>
          </a:p>
          <a:p>
            <a:pPr algn="l">
              <a:lnSpc>
                <a:spcPct val="150000"/>
              </a:lnSpc>
            </a:pPr>
            <a:r>
              <a:rPr sz="1400" lang="fr-FR">
                <a:solidFill>
                  <a:srgbClr val="161616"/>
                </a:solidFill>
                <a:latin typeface="Marianne"/>
              </a:rPr>
              <a:t>• </a:t>
            </a:r>
            <a:r>
              <a:rPr sz="1400" b="0" lang="fr-FR">
                <a:solidFill>
                  <a:srgbClr val="161616"/>
                </a:solidFill>
                <a:latin typeface="Marianne"/>
              </a:rPr>
              <a:t>Appliquez la checklist de haut en bas</a:t>
            </a:r>
          </a:p>
        </p:txBody>
      </p:sp>
      <p:sp>
        <p:nvSpPr>
          <p:cNvPr id="20" name="DSFR-box"/>
          <p:cNvSpPr/>
          <p:nvPr/>
        </p:nvSpPr>
        <p:spPr>
          <a:xfrm>
            <a:off x="8235695" y="3314700"/>
            <a:ext cx="3468623"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345186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6 mois</a:t>
            </a:r>
          </a:p>
        </p:txBody>
      </p:sp>
      <p:sp>
        <p:nvSpPr>
          <p:cNvPr id="22" name="DSFR-card-contenu"/>
          <p:cNvSpPr txBox="1"/>
          <p:nvPr/>
        </p:nvSpPr>
        <p:spPr>
          <a:xfrm>
            <a:off x="8391144" y="3909059"/>
            <a:ext cx="3176016" cy="148590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Styles de titre, texte alt, vérificateur avant envoi</a:t>
            </a:r>
          </a:p>
          <a:p>
            <a:pPr algn="l">
              <a:lnSpc>
                <a:spcPct val="150000"/>
              </a:lnSpc>
            </a:pPr>
            <a:r>
              <a:rPr sz="1400" lang="fr-FR">
                <a:solidFill>
                  <a:srgbClr val="161616"/>
                </a:solidFill>
                <a:latin typeface="Marianne"/>
              </a:rPr>
              <a:t>• </a:t>
            </a:r>
            <a:r>
              <a:rPr sz="1400" b="0" lang="fr-FR">
                <a:solidFill>
                  <a:srgbClr val="161616"/>
                </a:solidFill>
                <a:latin typeface="Marianne"/>
              </a:rPr>
              <a:t>Si c'est automatique : les réflexes sont installés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Documents accessibles - Fin</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319015" y="331470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8162543" y="331470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84</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3. Les 13 points de contrôle rapides du W3C</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points de contrôle rapides</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WebAIM Million 2026 : le constat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85</a:t>
            </a:r>
            <a:endParaRPr lang="fr-FR" dirty="0"/>
          </a:p>
        </p:txBody>
      </p:sp>
      <p:sp>
        <p:nvSpPr>
          <p:cNvPr id="8" name="DSFR-kpi-pave"/>
          <p:cNvSpPr/>
          <p:nvPr/>
        </p:nvSpPr>
        <p:spPr>
          <a:xfrm>
            <a:off x="475488"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95,9 %</a:t>
            </a:r>
          </a:p>
        </p:txBody>
      </p:sp>
      <p:sp>
        <p:nvSpPr>
          <p:cNvPr id="9" name="DSFR-kpi-label"/>
          <p:cNvSpPr txBox="1"/>
          <p:nvPr/>
        </p:nvSpPr>
        <p:spPr>
          <a:xfrm>
            <a:off x="475488"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des pages d’accueil ont au moins une erreur WCAG détectée</a:t>
            </a:r>
          </a:p>
        </p:txBody>
      </p:sp>
      <p:sp>
        <p:nvSpPr>
          <p:cNvPr id="10" name="DSFR-kpi-pave"/>
          <p:cNvSpPr/>
          <p:nvPr/>
        </p:nvSpPr>
        <p:spPr>
          <a:xfrm>
            <a:off x="4319015"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56,1</a:t>
            </a:r>
          </a:p>
        </p:txBody>
      </p:sp>
      <p:sp>
        <p:nvSpPr>
          <p:cNvPr id="11" name="DSFR-kpi-label"/>
          <p:cNvSpPr txBox="1"/>
          <p:nvPr/>
        </p:nvSpPr>
        <p:spPr>
          <a:xfrm>
            <a:off x="4319015"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erreurs détectées en moyenne par page d’accueil</a:t>
            </a:r>
          </a:p>
        </p:txBody>
      </p:sp>
      <p:sp>
        <p:nvSpPr>
          <p:cNvPr id="12" name="DSFR-kpi-pave"/>
          <p:cNvSpPr/>
          <p:nvPr/>
        </p:nvSpPr>
        <p:spPr>
          <a:xfrm>
            <a:off x="8162543"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1 437</a:t>
            </a:r>
          </a:p>
        </p:txBody>
      </p:sp>
      <p:sp>
        <p:nvSpPr>
          <p:cNvPr id="13" name="DSFR-kpi-label"/>
          <p:cNvSpPr txBox="1"/>
          <p:nvPr/>
        </p:nvSpPr>
        <p:spPr>
          <a:xfrm>
            <a:off x="8162543"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éléments par page en moyenne : la complexité augmente</a:t>
            </a:r>
          </a:p>
        </p:txBody>
      </p:sp>
      <p:sp>
        <p:nvSpPr>
          <p:cNvPr id="15" name="DSFR-box"/>
          <p:cNvSpPr/>
          <p:nvPr/>
        </p:nvSpPr>
        <p:spPr>
          <a:xfrm>
            <a:off x="548640" y="356616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6576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lire ces chiffres</a:t>
            </a:r>
          </a:p>
        </p:txBody>
      </p:sp>
      <p:sp>
        <p:nvSpPr>
          <p:cNvPr id="17" name="DSFR-callout-body"/>
          <p:cNvSpPr txBox="1"/>
          <p:nvPr/>
        </p:nvSpPr>
        <p:spPr>
          <a:xfrm>
            <a:off x="704088" y="4069080"/>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WebAIM analyse automatiquement les pages d’accueil : c’est un thermomètre, pas un audit RGAA complet.</a:t>
            </a:r>
          </a:p>
          <a:p>
            <a:pPr algn="l">
              <a:lnSpc>
                <a:spcPct val="115000"/>
              </a:lnSpc>
            </a:pPr>
            <a:r>
              <a:rPr sz="1400" lang="fr-FR">
                <a:solidFill>
                  <a:srgbClr val="161616"/>
                </a:solidFill>
                <a:latin typeface="Marianne"/>
              </a:rPr>
              <a:t>• </a:t>
            </a:r>
            <a:r>
              <a:rPr sz="1400" b="0" lang="fr-FR">
                <a:solidFill>
                  <a:srgbClr val="161616"/>
                </a:solidFill>
                <a:latin typeface="Marianne"/>
              </a:rPr>
              <a:t>L’absence d’erreur détectée ne prouve pas qu’une page est accessible.</a:t>
            </a:r>
          </a:p>
          <a:p>
            <a:pPr algn="l">
              <a:lnSpc>
                <a:spcPct val="115000"/>
              </a:lnSpc>
            </a:pPr>
            <a:r>
              <a:rPr sz="1400" lang="fr-FR">
                <a:solidFill>
                  <a:srgbClr val="161616"/>
                </a:solidFill>
                <a:latin typeface="Marianne"/>
              </a:rPr>
              <a:t>• </a:t>
            </a:r>
            <a:r>
              <a:rPr sz="1400" b="0" lang="fr-FR">
                <a:solidFill>
                  <a:srgbClr val="161616"/>
                </a:solidFill>
                <a:latin typeface="Marianne"/>
              </a:rPr>
              <a:t>Mais la présence d’erreurs détectées révèle des barrières très probables pour les utilisateurs.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WebAIM</a:t>
            </a:r>
          </a:p>
        </p:txBody>
      </p:sp>
      <p:sp>
        <p:nvSpPr>
          <p:cNvPr id="14" name="DSFR-accent-decoratif" descr=""/>
          <p:cNvSpPr/>
          <p:nvPr/>
        </p:nvSpPr>
        <p:spPr>
          <a:xfrm>
            <a:off x="475488" y="356616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Six erreurs qui justifient les points de contrôle rapides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86</a:t>
            </a:r>
            <a:endParaRPr lang="fr-FR" dirty="0"/>
          </a:p>
        </p:txBody>
      </p:sp>
      <p:graphicFrame>
        <p:nvGraphicFramePr>
          <p:cNvPr id="8" name="Table 7"/>
          <p:cNvGraphicFramePr>
            <a:graphicFrameLocks noGrp="1"/>
          </p:cNvGraphicFramePr>
          <p:nvPr/>
        </p:nvGraphicFramePr>
        <p:xfrm>
          <a:off x="475488" y="2011680"/>
          <a:ext cx="11228832" cy="2752344"/>
        </p:xfrm>
        <a:graphic>
          <a:graphicData uri="http://schemas.openxmlformats.org/drawingml/2006/table">
            <a:tbl>
              <a:tblPr firstRow="1" bandRow="1">
                <a:tableStyleId>{5C22544A-7EE6-4342-B048-85BDC9FD1C3A}</a:tableStyleId>
              </a:tblPr>
              <a:tblGrid>
                <a:gridCol w="4023360"/>
                <a:gridCol w="2331720"/>
                <a:gridCol w="4873752"/>
              </a:tblGrid>
              <a:tr h="393192">
                <a:tc>
                  <a:txBody>
                    <a:bodyPr wrap="square" anchor="ctr" lIns="73152" rIns="73152"/>
                    <a:lstStyle/>
                    <a:p>
                      <a:pPr algn="l">
                        <a:lnSpc>
                          <a:spcPct val="125000"/>
                        </a:lnSpc>
                      </a:pPr>
                      <a:r>
                        <a:rPr sz="1400" b="1" i="0" lang="fr-FR">
                          <a:solidFill>
                            <a:srgbClr val="FFFFFF"/>
                          </a:solidFill>
                          <a:latin typeface="Marianne"/>
                        </a:rPr>
                        <a:t>Erreur fréquente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Pages concernées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Point d’entrée</a:t>
                      </a:r>
                    </a:p>
                  </a:txBody>
                  <a:tcPr marL="91440" marR="91440" marT="45720" marB="45720">
                    <a:solidFill>
                      <a:srgbClr val="000091"/>
                    </a:solidFill>
                  </a:tcPr>
                </a:tc>
              </a:tr>
              <a:tr h="393192">
                <a:tc>
                  <a:txBody>
                    <a:bodyPr wrap="square" anchor="ctr" lIns="73152" rIns="73152"/>
                    <a:lstStyle/>
                    <a:p>
                      <a:pPr algn="l">
                        <a:lnSpc>
                          <a:spcPct val="125000"/>
                        </a:lnSpc>
                      </a:pPr>
                      <a:r>
                        <a:rPr sz="1400" b="0" i="0" lang="fr-FR">
                          <a:solidFill>
                            <a:srgbClr val="161616"/>
                          </a:solidFill>
                          <a:latin typeface="Marianne"/>
                        </a:rPr>
                        <a:t>Texte à faible contraste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83,9 %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Contraste</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Marianne"/>
                        </a:rPr>
                        <a:t>Texte alternatif d’image manquant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53,1 %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Images</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Marianne"/>
                        </a:rPr>
                        <a:t>Étiquette de formulaire manquante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51 %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Formulaires</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Marianne"/>
                        </a:rPr>
                        <a:t>Liens vides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46,3 %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Images / clavier (partiel)</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Marianne"/>
                        </a:rPr>
                        <a:t>Boutons vides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30,6 %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Clavier / formulaires (partiel)</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Marianne"/>
                        </a:rPr>
                        <a:t>Langue du document absente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13,5 %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Langue</a:t>
                      </a:r>
                    </a:p>
                  </a:txBody>
                  <a:tcPr marL="91440" marR="91440" marT="45720" marB="45720">
                    <a:solidFill>
                      <a:srgbClr val="F5F5FE"/>
                    </a:solidFill>
                  </a:tcPr>
                </a:tc>
              </a:tr>
            </a:tbl>
          </a:graphicData>
        </a:graphic>
      </p:graphicFrame>
      <p:sp>
        <p:nvSpPr>
          <p:cNvPr id="10" name="DSFR-box"/>
          <p:cNvSpPr/>
          <p:nvPr/>
        </p:nvSpPr>
        <p:spPr>
          <a:xfrm>
            <a:off x="548640" y="4800600"/>
            <a:ext cx="11155680" cy="139400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48920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retenir</a:t>
            </a:r>
          </a:p>
        </p:txBody>
      </p:sp>
      <p:sp>
        <p:nvSpPr>
          <p:cNvPr id="12" name="DSFR-callout-body"/>
          <p:cNvSpPr txBox="1"/>
          <p:nvPr/>
        </p:nvSpPr>
        <p:spPr>
          <a:xfrm>
            <a:off x="704088" y="530352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Ces six familles représentent 96 % des erreurs détectées par WebAIM.</a:t>
            </a:r>
          </a:p>
          <a:p>
            <a:pPr algn="l">
              <a:lnSpc>
                <a:spcPct val="115000"/>
              </a:lnSpc>
            </a:pPr>
            <a:r>
              <a:rPr sz="1400" lang="fr-FR">
                <a:solidFill>
                  <a:srgbClr val="161616"/>
                </a:solidFill>
                <a:latin typeface="Marianne"/>
              </a:rPr>
              <a:t>• </a:t>
            </a:r>
            <a:r>
              <a:rPr sz="1400" b="0" lang="fr-FR">
                <a:solidFill>
                  <a:srgbClr val="161616"/>
                </a:solidFill>
                <a:latin typeface="Marianne"/>
              </a:rPr>
              <a:t>Les points de contrôle rapides donnent une méthode courte pour les repérer sans audit complet.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WebAIM</a:t>
            </a:r>
          </a:p>
        </p:txBody>
      </p:sp>
      <p:sp>
        <p:nvSpPr>
          <p:cNvPr id="9" name="DSFR-accent-decoratif" descr=""/>
          <p:cNvSpPr/>
          <p:nvPr/>
        </p:nvSpPr>
        <p:spPr>
          <a:xfrm>
            <a:off x="475488" y="480060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Texte alternatif : 4 types d’images, 4 décisions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87</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texte alternatif est le sous-titre de l’image - sans lui, une partie du message devient muette.</a:t>
            </a:r>
          </a:p>
        </p:txBody>
      </p:sp>
      <p:sp>
        <p:nvSpPr>
          <p:cNvPr id="12" name="DSFR-box"/>
          <p:cNvSpPr/>
          <p:nvPr/>
        </p:nvSpPr>
        <p:spPr>
          <a:xfrm>
            <a:off x="548640"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Informative</a:t>
            </a:r>
          </a:p>
        </p:txBody>
      </p:sp>
      <p:sp>
        <p:nvSpPr>
          <p:cNvPr id="15" name="DSFR-card-contenu"/>
          <p:cNvSpPr txBox="1"/>
          <p:nvPr/>
        </p:nvSpPr>
        <p:spPr>
          <a:xfrm>
            <a:off x="704088"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Apporte une info : photo d’un bâtiment, graphique.
→ texte alternatif court.</a:t>
            </a:r>
          </a:p>
        </p:txBody>
      </p:sp>
      <p:sp>
        <p:nvSpPr>
          <p:cNvPr id="17" name="DSFR-box"/>
          <p:cNvSpPr/>
          <p:nvPr/>
        </p:nvSpPr>
        <p:spPr>
          <a:xfrm>
            <a:off x="3419856"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75303"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Décorative</a:t>
            </a:r>
          </a:p>
        </p:txBody>
      </p:sp>
      <p:sp>
        <p:nvSpPr>
          <p:cNvPr id="20" name="DSFR-card-contenu"/>
          <p:cNvSpPr txBox="1"/>
          <p:nvPr/>
        </p:nvSpPr>
        <p:spPr>
          <a:xfrm>
            <a:off x="3575303"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Pure ambiance : séparateur, icône floue.
→ alt="" (vide).</a:t>
            </a:r>
          </a:p>
        </p:txBody>
      </p:sp>
      <p:sp>
        <p:nvSpPr>
          <p:cNvPr id="22" name="DSFR-box"/>
          <p:cNvSpPr/>
          <p:nvPr/>
        </p:nvSpPr>
        <p:spPr>
          <a:xfrm>
            <a:off x="6291071"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46519"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Fonctionnelle</a:t>
            </a:r>
          </a:p>
        </p:txBody>
      </p:sp>
      <p:sp>
        <p:nvSpPr>
          <p:cNvPr id="25" name="DSFR-card-contenu"/>
          <p:cNvSpPr txBox="1"/>
          <p:nvPr/>
        </p:nvSpPr>
        <p:spPr>
          <a:xfrm>
            <a:off x="6446519"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Dans un lien ou un bouton : logo cliquable, picto.
→ nommer l’action attendue.</a:t>
            </a:r>
          </a:p>
        </p:txBody>
      </p:sp>
      <p:sp>
        <p:nvSpPr>
          <p:cNvPr id="27" name="DSFR-box"/>
          <p:cNvSpPr/>
          <p:nvPr/>
        </p:nvSpPr>
        <p:spPr>
          <a:xfrm>
            <a:off x="9162287"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17735"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Complexe</a:t>
            </a:r>
          </a:p>
        </p:txBody>
      </p:sp>
      <p:sp>
        <p:nvSpPr>
          <p:cNvPr id="30" name="DSFR-card-contenu"/>
          <p:cNvSpPr txBox="1"/>
          <p:nvPr/>
        </p:nvSpPr>
        <p:spPr>
          <a:xfrm>
            <a:off x="9317735"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Diagramme, schéma, infographie.
→ texte court + description longue à part.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Texte alternatif des images</a:t>
            </a:r>
          </a:p>
        </p:txBody>
      </p:sp>
      <p:sp>
        <p:nvSpPr>
          <p:cNvPr id="13" name="DSFR-card-numero"/>
          <p:cNvSpPr/>
          <p:nvPr/>
        </p:nvSpPr>
        <p:spPr>
          <a:xfrm>
            <a:off x="704088"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8" name="DSFR-card-numero"/>
          <p:cNvSpPr/>
          <p:nvPr/>
        </p:nvSpPr>
        <p:spPr>
          <a:xfrm>
            <a:off x="3575303"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3" name="DSFR-card-numero"/>
          <p:cNvSpPr/>
          <p:nvPr/>
        </p:nvSpPr>
        <p:spPr>
          <a:xfrm>
            <a:off x="6446519"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8" name="DSFR-card-numero"/>
          <p:cNvSpPr/>
          <p:nvPr/>
        </p:nvSpPr>
        <p:spPr>
          <a:xfrm>
            <a:off x="9317735"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46703"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17919"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089135"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Rédiger un texte alternatif qui sert vraiment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88</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5 règles pour un texte alternatif utile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Concis : une phrase courte, centrée sur l’information utile</a:t>
            </a:r>
          </a:p>
          <a:p>
            <a:pPr algn="l">
              <a:lnSpc>
                <a:spcPct val="125000"/>
              </a:lnSpc>
            </a:pPr>
            <a:r>
              <a:rPr sz="1400" lang="fr-FR">
                <a:solidFill>
                  <a:srgbClr val="161616"/>
                </a:solidFill>
                <a:latin typeface="Marianne"/>
              </a:rPr>
              <a:t>• </a:t>
            </a:r>
            <a:r>
              <a:rPr sz="1400" b="0" lang="fr-FR">
                <a:solidFill>
                  <a:srgbClr val="161616"/>
                </a:solidFill>
                <a:latin typeface="Marianne"/>
              </a:rPr>
              <a:t>Objectif : décrit, ne commente pas</a:t>
            </a:r>
          </a:p>
          <a:p>
            <a:pPr algn="l">
              <a:lnSpc>
                <a:spcPct val="125000"/>
              </a:lnSpc>
            </a:pPr>
            <a:r>
              <a:rPr sz="1400" lang="fr-FR">
                <a:solidFill>
                  <a:srgbClr val="161616"/>
                </a:solidFill>
                <a:latin typeface="Marianne"/>
              </a:rPr>
              <a:t>• </a:t>
            </a:r>
            <a:r>
              <a:rPr sz="1400" b="0" lang="fr-FR">
                <a:solidFill>
                  <a:srgbClr val="161616"/>
                </a:solidFill>
                <a:latin typeface="Marianne"/>
              </a:rPr>
              <a:t>Pas de « photo de » ni « image de » - le lecteur d’écran le dit déjà</a:t>
            </a:r>
          </a:p>
          <a:p>
            <a:pPr algn="l">
              <a:lnSpc>
                <a:spcPct val="125000"/>
              </a:lnSpc>
            </a:pPr>
            <a:r>
              <a:rPr sz="1400" lang="fr-FR">
                <a:solidFill>
                  <a:srgbClr val="161616"/>
                </a:solidFill>
                <a:latin typeface="Marianne"/>
              </a:rPr>
              <a:t>• </a:t>
            </a:r>
            <a:r>
              <a:rPr sz="1400" b="0" lang="fr-FR">
                <a:solidFill>
                  <a:srgbClr val="161616"/>
                </a:solidFill>
                <a:latin typeface="Marianne"/>
              </a:rPr>
              <a:t>Contextuel : ce qui compte dans cette page, pas tout ce qui est visible</a:t>
            </a:r>
          </a:p>
          <a:p>
            <a:pPr algn="l">
              <a:lnSpc>
                <a:spcPct val="125000"/>
              </a:lnSpc>
            </a:pPr>
            <a:r>
              <a:rPr sz="1400" lang="fr-FR">
                <a:solidFill>
                  <a:srgbClr val="161616"/>
                </a:solidFill>
                <a:latin typeface="Marianne"/>
              </a:rPr>
              <a:t>• </a:t>
            </a:r>
            <a:r>
              <a:rPr sz="1400" b="0" lang="fr-FR">
                <a:solidFill>
                  <a:srgbClr val="161616"/>
                </a:solidFill>
                <a:latin typeface="Marianne"/>
              </a:rPr>
              <a:t>Ponctué : point final, pour que le lecteur marque la pause</a:t>
            </a:r>
          </a:p>
        </p:txBody>
      </p:sp>
      <p:sp>
        <p:nvSpPr>
          <p:cNvPr id="13" name="DSFR-box"/>
          <p:cNvSpPr/>
          <p:nvPr/>
        </p:nvSpPr>
        <p:spPr>
          <a:xfrm>
            <a:off x="548640" y="459486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Piège fréquent</a:t>
            </a:r>
          </a:p>
        </p:txBody>
      </p:sp>
      <p:sp>
        <p:nvSpPr>
          <p:cNvPr id="15" name="DSFR-alert-warning-body"/>
          <p:cNvSpPr txBox="1"/>
          <p:nvPr/>
        </p:nvSpPr>
        <p:spPr>
          <a:xfrm>
            <a:off x="704088" y="509778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Un nom de fichier (IMG_4578.jpg) en guise de texte alternatif = information perdue</a:t>
            </a:r>
          </a:p>
          <a:p>
            <a:pPr algn="l">
              <a:lnSpc>
                <a:spcPct val="150000"/>
              </a:lnSpc>
            </a:pPr>
            <a:r>
              <a:rPr sz="1400" lang="fr-FR">
                <a:solidFill>
                  <a:srgbClr val="161616"/>
                </a:solidFill>
                <a:latin typeface="Marianne"/>
              </a:rPr>
              <a:t>• </a:t>
            </a:r>
            <a:r>
              <a:rPr sz="1400" b="0" lang="fr-FR">
                <a:solidFill>
                  <a:srgbClr val="161616"/>
                </a:solidFill>
                <a:latin typeface="Marianne"/>
              </a:rPr>
              <a:t>Un texte alternatif qui décrit la décoration au lieu du contenu utile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Texte alternatif des images</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Texte alternatif : passe ou échoue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89</a:t>
            </a:r>
            <a:endParaRPr lang="fr-FR" dirty="0"/>
          </a:p>
        </p:txBody>
      </p:sp>
      <p:graphicFrame>
        <p:nvGraphicFramePr>
          <p:cNvPr id="8" name="Table 7"/>
          <p:cNvGraphicFramePr>
            <a:graphicFrameLocks noGrp="1"/>
          </p:cNvGraphicFramePr>
          <p:nvPr/>
        </p:nvGraphicFramePr>
        <p:xfrm>
          <a:off x="475488" y="2194560"/>
          <a:ext cx="11228832" cy="3401568"/>
        </p:xfrm>
        <a:graphic>
          <a:graphicData uri="http://schemas.openxmlformats.org/drawingml/2006/table">
            <a:tbl>
              <a:tblPr firstRow="1" bandRow="1">
                <a:tableStyleId>{5C22544A-7EE6-4342-B048-85BDC9FD1C3A}</a:tableStyleId>
              </a:tblPr>
              <a:tblGrid>
                <a:gridCol w="3840480"/>
                <a:gridCol w="4187952"/>
                <a:gridCol w="3200400"/>
              </a:tblGrid>
              <a:tr h="566928">
                <a:tc>
                  <a:txBody>
                    <a:bodyPr wrap="square" anchor="ctr" lIns="73152" rIns="73152"/>
                    <a:lstStyle/>
                    <a:p>
                      <a:pPr algn="l">
                        <a:lnSpc>
                          <a:spcPct val="125000"/>
                        </a:lnSpc>
                      </a:pPr>
                      <a:r>
                        <a:rPr sz="1400" b="1" i="0" lang="fr-FR">
                          <a:solidFill>
                            <a:srgbClr val="FFFFFF"/>
                          </a:solidFill>
                          <a:latin typeface="Marianne"/>
                        </a:rPr>
                        <a:t>Image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Alt proposé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Verdict</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Marianne"/>
                        </a:rPr>
                        <a:t>Logo ministère dans l’en-tête (lien vers l’accueil)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alt="Ministère de l’Économie - 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OK - fonctionnelle, action nommée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Marianne"/>
                        </a:rPr>
                        <a:t>Photo d’illustration d’un article sur la fraude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alt="image"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KO - aucune information</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Marianne"/>
                        </a:rPr>
                        <a:t>Séparateur graphique entre deux sections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OK - décorative, alt vide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Marianne"/>
                        </a:rPr>
                        <a:t>Graphique de répartition budgétaire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alt="graphique montrant la répartition du budget 2026, voir détail ci-dessous"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OK - alt court + renvoi au détail</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Marianne"/>
                        </a:rPr>
                        <a:t>Icône loupe dans un bouton de recherche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alt="loupe"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KO - décrit l’image, pas l’action (devrait être « Rechercher »)</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Texte alternatif des images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Titre de page : l’étiquette qui oriente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2. Titre de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titre de page est la 1ʳᵉ chose que lit un lecteur d’écran et la seule chose visible dans l’onglet.</a:t>
            </a:r>
          </a:p>
        </p:txBody>
      </p:sp>
      <p:sp>
        <p:nvSpPr>
          <p:cNvPr id="12" name="DSFR-box"/>
          <p:cNvSpPr/>
          <p:nvPr/>
        </p:nvSpPr>
        <p:spPr>
          <a:xfrm>
            <a:off x="548640" y="2875788"/>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378708"/>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Chaque page a un titre unique, différent des autres pages du site</a:t>
            </a:r>
          </a:p>
          <a:p>
            <a:pPr algn="l">
              <a:lnSpc>
                <a:spcPct val="125000"/>
              </a:lnSpc>
            </a:pPr>
            <a:r>
              <a:rPr sz="1400" lang="fr-FR">
                <a:solidFill>
                  <a:srgbClr val="161616"/>
                </a:solidFill>
                <a:latin typeface="Marianne"/>
              </a:rPr>
              <a:t>• </a:t>
            </a:r>
            <a:r>
              <a:rPr sz="1400" b="0" lang="fr-FR">
                <a:solidFill>
                  <a:srgbClr val="161616"/>
                </a:solidFill>
                <a:latin typeface="Marianne"/>
              </a:rPr>
              <a:t>Le titre décrit le contenu puis le nom du site (« Déclarer - impots.gouv.fr »)</a:t>
            </a:r>
          </a:p>
          <a:p>
            <a:pPr algn="l">
              <a:lnSpc>
                <a:spcPct val="125000"/>
              </a:lnSpc>
            </a:pPr>
            <a:r>
              <a:rPr sz="1400" lang="fr-FR">
                <a:solidFill>
                  <a:srgbClr val="161616"/>
                </a:solidFill>
                <a:latin typeface="Marianne"/>
              </a:rPr>
              <a:t>• </a:t>
            </a:r>
            <a:r>
              <a:rPr sz="1400" b="0" lang="fr-FR">
                <a:solidFill>
                  <a:srgbClr val="161616"/>
                </a:solidFill>
                <a:latin typeface="Marianne"/>
              </a:rPr>
              <a:t>Il change quand le contenu principal change (recherche, étape de formulaire)</a:t>
            </a:r>
          </a:p>
        </p:txBody>
      </p:sp>
      <p:sp>
        <p:nvSpPr>
          <p:cNvPr id="16" name="DSFR-box"/>
          <p:cNvSpPr/>
          <p:nvPr/>
        </p:nvSpPr>
        <p:spPr>
          <a:xfrm>
            <a:off x="548640" y="458114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6725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Exemples</a:t>
            </a:r>
          </a:p>
        </p:txBody>
      </p:sp>
      <p:sp>
        <p:nvSpPr>
          <p:cNvPr id="18" name="DSFR-alert-info-body"/>
          <p:cNvSpPr txBox="1"/>
          <p:nvPr/>
        </p:nvSpPr>
        <p:spPr>
          <a:xfrm>
            <a:off x="704088" y="508406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OK : « Résultats de recherche : accessibilité - Ministère de la Culture »</a:t>
            </a:r>
          </a:p>
          <a:p>
            <a:pPr algn="l">
              <a:lnSpc>
                <a:spcPct val="150000"/>
              </a:lnSpc>
            </a:pPr>
            <a:r>
              <a:rPr sz="1400" lang="fr-FR">
                <a:solidFill>
                  <a:srgbClr val="161616"/>
                </a:solidFill>
                <a:latin typeface="Marianne"/>
              </a:rPr>
              <a:t>• </a:t>
            </a:r>
            <a:r>
              <a:rPr sz="1400" b="0" lang="fr-FR">
                <a:solidFill>
                  <a:srgbClr val="161616"/>
                </a:solidFill>
                <a:latin typeface="Marianne"/>
              </a:rPr>
              <a:t>KO : « Accueil » sur chaque page du site</a:t>
            </a:r>
          </a:p>
          <a:p>
            <a:pPr algn="l">
              <a:lnSpc>
                <a:spcPct val="150000"/>
              </a:lnSpc>
            </a:pPr>
            <a:r>
              <a:rPr sz="1400" lang="fr-FR">
                <a:solidFill>
                  <a:srgbClr val="161616"/>
                </a:solidFill>
                <a:latin typeface="Marianne"/>
              </a:rPr>
              <a:t>• </a:t>
            </a:r>
            <a:r>
              <a:rPr sz="1400" b="0" lang="fr-FR">
                <a:solidFill>
                  <a:srgbClr val="161616"/>
                </a:solidFill>
                <a:latin typeface="Marianne"/>
              </a:rPr>
              <a:t>KO : « Untitled Document » (oubli fréquent sur les PDF)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Titre de page</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58114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Titres : la hiérarchie qui structure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91</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utilisateur de lecteur d’écran navigue de titre en titre comme on navigue dans une table des matières.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règles qui font passer le check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Un seul H1 par page, qui reprend le sujet principal</a:t>
            </a:r>
          </a:p>
          <a:p>
            <a:pPr algn="l">
              <a:lnSpc>
                <a:spcPct val="125000"/>
              </a:lnSpc>
            </a:pPr>
            <a:r>
              <a:rPr sz="1400" lang="fr-FR">
                <a:solidFill>
                  <a:srgbClr val="161616"/>
                </a:solidFill>
                <a:latin typeface="Marianne"/>
              </a:rPr>
              <a:t>• </a:t>
            </a:r>
            <a:r>
              <a:rPr sz="1400" b="0" lang="fr-FR">
                <a:solidFill>
                  <a:srgbClr val="161616"/>
                </a:solidFill>
                <a:latin typeface="Marianne"/>
              </a:rPr>
              <a:t>Les niveaux s’emboîtent sans saut : H1 → H2 → H3, jamais H2 → H4</a:t>
            </a:r>
          </a:p>
          <a:p>
            <a:pPr algn="l">
              <a:lnSpc>
                <a:spcPct val="125000"/>
              </a:lnSpc>
            </a:pPr>
            <a:r>
              <a:rPr sz="1400" lang="fr-FR">
                <a:solidFill>
                  <a:srgbClr val="161616"/>
                </a:solidFill>
                <a:latin typeface="Marianne"/>
              </a:rPr>
              <a:t>• </a:t>
            </a:r>
            <a:r>
              <a:rPr sz="1400" b="0" lang="fr-FR">
                <a:solidFill>
                  <a:srgbClr val="161616"/>
                </a:solidFill>
                <a:latin typeface="Marianne"/>
              </a:rPr>
              <a:t>Un titre n’est pas une simple mise en forme gras/gros - c’est une balise &lt;h1&gt; à &lt;h6&gt;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Titres et hiérarchie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Titres : 3 façons de vérifier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92</a:t>
            </a:r>
            <a:endParaRPr lang="fr-FR" dirty="0"/>
          </a:p>
        </p:txBody>
      </p:sp>
      <p:graphicFrame>
        <p:nvGraphicFramePr>
          <p:cNvPr id="8" name="Table 7"/>
          <p:cNvGraphicFramePr>
            <a:graphicFrameLocks noGrp="1"/>
          </p:cNvGraphicFramePr>
          <p:nvPr/>
        </p:nvGraphicFramePr>
        <p:xfrm>
          <a:off x="475488" y="2194560"/>
          <a:ext cx="11228832" cy="2743200"/>
        </p:xfrm>
        <a:graphic>
          <a:graphicData uri="http://schemas.openxmlformats.org/drawingml/2006/table">
            <a:tbl>
              <a:tblPr firstRow="1" bandRow="1">
                <a:tableStyleId>{5C22544A-7EE6-4342-B048-85BDC9FD1C3A}</a:tableStyleId>
              </a:tblPr>
              <a:tblGrid>
                <a:gridCol w="2560320"/>
                <a:gridCol w="4096512"/>
                <a:gridCol w="4572000"/>
              </a:tblGrid>
              <a:tr h="685800">
                <a:tc>
                  <a:txBody>
                    <a:bodyPr wrap="square" anchor="ctr" lIns="73152" rIns="73152"/>
                    <a:lstStyle/>
                    <a:p>
                      <a:pPr algn="l">
                        <a:lnSpc>
                          <a:spcPct val="125000"/>
                        </a:lnSpc>
                      </a:pPr>
                      <a:r>
                        <a:rPr sz="1400" b="1" i="0" lang="fr-FR">
                          <a:solidFill>
                            <a:srgbClr val="FFFFFF"/>
                          </a:solidFill>
                          <a:latin typeface="Marianne"/>
                        </a:rPr>
                        <a:t>Méthode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Comment faire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que vous cherchez</a:t>
                      </a:r>
                    </a:p>
                  </a:txBody>
                  <a:tcPr marL="91440" marR="91440" marT="45720" marB="45720">
                    <a:solidFill>
                      <a:srgbClr val="000091"/>
                    </a:solidFill>
                  </a:tcPr>
                </a:tc>
              </a:tr>
              <a:tr h="685800">
                <a:tc>
                  <a:txBody>
                    <a:bodyPr wrap="square" anchor="ctr" lIns="73152" rIns="73152"/>
                    <a:lstStyle/>
                    <a:p>
                      <a:pPr algn="l">
                        <a:lnSpc>
                          <a:spcPct val="125000"/>
                        </a:lnSpc>
                      </a:pPr>
                      <a:r>
                        <a:rPr sz="1400" b="0" i="0" lang="fr-FR">
                          <a:solidFill>
                            <a:srgbClr val="161616"/>
                          </a:solidFill>
                          <a:latin typeface="Marianne"/>
                        </a:rPr>
                        <a:t>Extension HeadingsMap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Installer l’extension, ouvrir le panneau latéral.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L’arbre complet des titres s’affiche, les anomalies en rouge.</a:t>
                      </a:r>
                    </a:p>
                  </a:txBody>
                  <a:tcPr marL="91440" marR="91440" marT="45720" marB="45720">
                    <a:solidFill>
                      <a:srgbClr val="FFFFFF"/>
                    </a:solidFill>
                  </a:tcPr>
                </a:tc>
              </a:tr>
              <a:tr h="685800">
                <a:tc>
                  <a:txBody>
                    <a:bodyPr wrap="square" anchor="ctr" lIns="73152" rIns="73152"/>
                    <a:lstStyle/>
                    <a:p>
                      <a:pPr algn="l">
                        <a:lnSpc>
                          <a:spcPct val="125000"/>
                        </a:lnSpc>
                      </a:pPr>
                      <a:r>
                        <a:rPr sz="1400" b="0" i="0" lang="fr-FR">
                          <a:solidFill>
                            <a:srgbClr val="161616"/>
                          </a:solidFill>
                          <a:latin typeface="Marianne"/>
                        </a:rPr>
                        <a:t>Plan de document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Extension Web Developer → Information → View Document Outline.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Le plan liste les titres réels et signale les niveaux manquants.</a:t>
                      </a:r>
                    </a:p>
                  </a:txBody>
                  <a:tcPr marL="91440" marR="91440" marT="45720" marB="45720">
                    <a:solidFill>
                      <a:srgbClr val="F5F5FE"/>
                    </a:solidFill>
                  </a:tcPr>
                </a:tc>
              </a:tr>
              <a:tr h="685800">
                <a:tc>
                  <a:txBody>
                    <a:bodyPr wrap="square" anchor="ctr" lIns="73152" rIns="73152"/>
                    <a:lstStyle/>
                    <a:p>
                      <a:pPr algn="l">
                        <a:lnSpc>
                          <a:spcPct val="125000"/>
                        </a:lnSpc>
                      </a:pPr>
                      <a:r>
                        <a:rPr sz="1400" b="0" i="0" lang="fr-FR">
                          <a:solidFill>
                            <a:srgbClr val="161616"/>
                          </a:solidFill>
                          <a:latin typeface="Marianne"/>
                        </a:rPr>
                        <a:t>Clic droit « Inspecter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Rechercher `h1`, `h2`, `h3` dans l’onglet Éléments.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Un seul &lt;h1&gt;, pas de saut, pas de titre factice (&lt;div class="titre"&gt;).</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Titres et hiérarchie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Contraste : un seuil chiffré, pas une opinion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Ce que vous trouvez « joli gris » peut devenir illisible selon l’écran, la lumière ou la vision de l’utilisateur.</a:t>
            </a:r>
          </a:p>
        </p:txBody>
      </p:sp>
      <p:sp>
        <p:nvSpPr>
          <p:cNvPr id="11" name="DSFR-kpi-pave"/>
          <p:cNvSpPr/>
          <p:nvPr/>
        </p:nvSpPr>
        <p:spPr>
          <a:xfrm>
            <a:off x="475488"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4,5:1</a:t>
            </a:r>
          </a:p>
        </p:txBody>
      </p:sp>
      <p:sp>
        <p:nvSpPr>
          <p:cNvPr id="12" name="DSFR-kpi-label"/>
          <p:cNvSpPr txBox="1"/>
          <p:nvPr/>
        </p:nvSpPr>
        <p:spPr>
          <a:xfrm>
            <a:off x="475488"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normal (sous 18 pt)</a:t>
            </a:r>
          </a:p>
        </p:txBody>
      </p:sp>
      <p:sp>
        <p:nvSpPr>
          <p:cNvPr id="13" name="DSFR-kpi-pave"/>
          <p:cNvSpPr/>
          <p:nvPr/>
        </p:nvSpPr>
        <p:spPr>
          <a:xfrm>
            <a:off x="4319015"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3:1</a:t>
            </a:r>
          </a:p>
        </p:txBody>
      </p:sp>
      <p:sp>
        <p:nvSpPr>
          <p:cNvPr id="14" name="DSFR-kpi-label"/>
          <p:cNvSpPr txBox="1"/>
          <p:nvPr/>
        </p:nvSpPr>
        <p:spPr>
          <a:xfrm>
            <a:off x="4319015"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Texte large (18 pt+ ou 14 pt gras) et composants graphiques</a:t>
            </a:r>
          </a:p>
        </p:txBody>
      </p:sp>
      <p:sp>
        <p:nvSpPr>
          <p:cNvPr id="15" name="DSFR-kpi-pave"/>
          <p:cNvSpPr/>
          <p:nvPr/>
        </p:nvSpPr>
        <p:spPr>
          <a:xfrm>
            <a:off x="8162543"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Marianne"/>
              </a:rPr>
              <a:t>7:1</a:t>
            </a:r>
          </a:p>
        </p:txBody>
      </p:sp>
      <p:sp>
        <p:nvSpPr>
          <p:cNvPr id="16" name="DSFR-kpi-label"/>
          <p:cNvSpPr txBox="1"/>
          <p:nvPr/>
        </p:nvSpPr>
        <p:spPr>
          <a:xfrm>
            <a:off x="8162543"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Niveau AAA - recommandé pour texte dense</a:t>
            </a:r>
          </a:p>
        </p:txBody>
      </p:sp>
      <p:sp>
        <p:nvSpPr>
          <p:cNvPr id="18" name="DSFR-box"/>
          <p:cNvSpPr/>
          <p:nvPr/>
        </p:nvSpPr>
        <p:spPr>
          <a:xfrm>
            <a:off x="548640" y="466344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704088" y="475487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 compte :</a:t>
            </a:r>
          </a:p>
        </p:txBody>
      </p:sp>
      <p:sp>
        <p:nvSpPr>
          <p:cNvPr id="20" name="DSFR-callout-body"/>
          <p:cNvSpPr txBox="1"/>
          <p:nvPr/>
        </p:nvSpPr>
        <p:spPr>
          <a:xfrm>
            <a:off x="704088" y="5166359"/>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 rapport entre la couleur du texte et celle du fond (ou l’arrière-plan visible)</a:t>
            </a:r>
          </a:p>
          <a:p>
            <a:pPr algn="l">
              <a:lnSpc>
                <a:spcPct val="125000"/>
              </a:lnSpc>
            </a:pPr>
            <a:r>
              <a:rPr sz="1400" lang="fr-FR">
                <a:solidFill>
                  <a:srgbClr val="161616"/>
                </a:solidFill>
                <a:latin typeface="Marianne"/>
              </a:rPr>
              <a:t>• </a:t>
            </a:r>
            <a:r>
              <a:rPr sz="1400" b="0" lang="fr-FR">
                <a:solidFill>
                  <a:srgbClr val="161616"/>
                </a:solidFill>
                <a:latin typeface="Marianne"/>
              </a:rPr>
              <a:t>Sur un dégradé ou une image, mesurer à l’endroit le moins contrasté</a:t>
            </a:r>
          </a:p>
          <a:p>
            <a:pPr algn="l">
              <a:lnSpc>
                <a:spcPct val="125000"/>
              </a:lnSpc>
            </a:pPr>
            <a:r>
              <a:rPr sz="1400" lang="fr-FR">
                <a:solidFill>
                  <a:srgbClr val="161616"/>
                </a:solidFill>
                <a:latin typeface="Marianne"/>
              </a:rPr>
              <a:t>• </a:t>
            </a:r>
            <a:r>
              <a:rPr sz="1400" b="0" lang="fr-FR">
                <a:solidFill>
                  <a:srgbClr val="161616"/>
                </a:solidFill>
                <a:latin typeface="Marianne"/>
              </a:rPr>
              <a:t>Ne pas se fier seulement à l’œil - mesurer avec un outil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Contraste des couleurs</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66344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Contraste : 3 outils à avoir sous la main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94</a:t>
            </a:r>
            <a:endParaRPr lang="fr-FR" dirty="0"/>
          </a:p>
        </p:txBody>
      </p:sp>
      <p:graphicFrame>
        <p:nvGraphicFramePr>
          <p:cNvPr id="8" name="Table 7"/>
          <p:cNvGraphicFramePr>
            <a:graphicFrameLocks noGrp="1"/>
          </p:cNvGraphicFramePr>
          <p:nvPr/>
        </p:nvGraphicFramePr>
        <p:xfrm>
          <a:off x="475488" y="1874519"/>
          <a:ext cx="11228832" cy="2633472"/>
        </p:xfrm>
        <a:graphic>
          <a:graphicData uri="http://schemas.openxmlformats.org/drawingml/2006/table">
            <a:tbl>
              <a:tblPr firstRow="1" bandRow="1">
                <a:tableStyleId>{5C22544A-7EE6-4342-B048-85BDC9FD1C3A}</a:tableStyleId>
              </a:tblPr>
              <a:tblGrid>
                <a:gridCol w="2926080"/>
                <a:gridCol w="4187952"/>
                <a:gridCol w="4114800"/>
              </a:tblGrid>
              <a:tr h="658368">
                <a:tc>
                  <a:txBody>
                    <a:bodyPr wrap="square" anchor="ctr" lIns="73152" rIns="73152"/>
                    <a:lstStyle/>
                    <a:p>
                      <a:pPr algn="l">
                        <a:lnSpc>
                          <a:spcPct val="125000"/>
                        </a:lnSpc>
                      </a:pPr>
                      <a:r>
                        <a:rPr sz="1400" b="1" i="0" lang="fr-FR">
                          <a:solidFill>
                            <a:srgbClr val="FFFFFF"/>
                          </a:solidFill>
                          <a:latin typeface="Marianne"/>
                        </a:rPr>
                        <a:t>Outil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Usage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Quand l’utiliser</a:t>
                      </a:r>
                    </a:p>
                  </a:txBody>
                  <a:tcPr marL="91440" marR="91440" marT="45720" marB="45720">
                    <a:solidFill>
                      <a:srgbClr val="000091"/>
                    </a:solidFill>
                  </a:tcPr>
                </a:tc>
              </a:tr>
              <a:tr h="658368">
                <a:tc>
                  <a:txBody>
                    <a:bodyPr wrap="square" anchor="ctr" lIns="73152" rIns="73152"/>
                    <a:lstStyle/>
                    <a:p>
                      <a:pPr algn="l">
                        <a:lnSpc>
                          <a:spcPct val="125000"/>
                        </a:lnSpc>
                      </a:pPr>
                      <a:r>
                        <a:rPr sz="1400" b="0" i="0" lang="fr-FR">
                          <a:solidFill>
                            <a:srgbClr val="161616"/>
                          </a:solidFill>
                          <a:latin typeface="Marianne"/>
                        </a:rPr>
                        <a:t>DevTools Chrome / Firefox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Clic droit sur un texte → Inspecter → pastille de couleur.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Mesure ponctuelle pendant la rédaction ou la relecture.</a:t>
                      </a:r>
                    </a:p>
                  </a:txBody>
                  <a:tcPr marL="91440" marR="91440" marT="45720" marB="45720">
                    <a:solidFill>
                      <a:srgbClr val="FFFFFF"/>
                    </a:solidFill>
                  </a:tcPr>
                </a:tc>
              </a:tr>
              <a:tr h="658368">
                <a:tc>
                  <a:txBody>
                    <a:bodyPr wrap="square" anchor="ctr" lIns="73152" rIns="73152"/>
                    <a:lstStyle/>
                    <a:p>
                      <a:pPr algn="l">
                        <a:lnSpc>
                          <a:spcPct val="125000"/>
                        </a:lnSpc>
                      </a:pPr>
                      <a:r>
                        <a:rPr sz="1400" b="0" i="0" lang="fr-FR">
                          <a:solidFill>
                            <a:srgbClr val="161616"/>
                          </a:solidFill>
                          <a:latin typeface="Marianne"/>
                        </a:rPr>
                        <a:t>WebAIM Contrast Checker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webaim.org/resources/contrastchecker - coller les deux couleurs hex.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Avant de choisir une charte graphique ou un thème.</a:t>
                      </a:r>
                    </a:p>
                  </a:txBody>
                  <a:tcPr marL="91440" marR="91440" marT="45720" marB="45720">
                    <a:solidFill>
                      <a:srgbClr val="F5F5FE"/>
                    </a:solidFill>
                  </a:tcPr>
                </a:tc>
              </a:tr>
              <a:tr h="658368">
                <a:tc>
                  <a:txBody>
                    <a:bodyPr wrap="square" anchor="ctr" lIns="73152" rIns="73152"/>
                    <a:lstStyle/>
                    <a:p>
                      <a:pPr algn="l">
                        <a:lnSpc>
                          <a:spcPct val="125000"/>
                        </a:lnSpc>
                      </a:pPr>
                      <a:r>
                        <a:rPr sz="1400" b="0" i="0" lang="fr-FR">
                          <a:solidFill>
                            <a:srgbClr val="161616"/>
                          </a:solidFill>
                          <a:latin typeface="Marianne"/>
                        </a:rPr>
                        <a:t>Colour Contrast Analyser (CCA)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App desktop - pipette qui mesure n’importe quelle zone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Tester des maquettes Figma, des captures d’écran, des PDF.</a:t>
                      </a:r>
                    </a:p>
                  </a:txBody>
                  <a:tcPr marL="91440" marR="91440" marT="45720" marB="45720">
                    <a:solidFill>
                      <a:srgbClr val="FFFFFF"/>
                    </a:solidFill>
                  </a:tcPr>
                </a:tc>
              </a:tr>
            </a:tbl>
          </a:graphicData>
        </a:graphic>
      </p:graphicFrame>
      <p:sp>
        <p:nvSpPr>
          <p:cNvPr id="10" name="DSFR-box"/>
          <p:cNvSpPr/>
          <p:nvPr/>
        </p:nvSpPr>
        <p:spPr>
          <a:xfrm>
            <a:off x="548640" y="45720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Piège classique</a:t>
            </a:r>
          </a:p>
        </p:txBody>
      </p:sp>
      <p:sp>
        <p:nvSpPr>
          <p:cNvPr id="12" name="DSFR-alert-warning-body"/>
          <p:cNvSpPr txBox="1"/>
          <p:nvPr/>
        </p:nvSpPr>
        <p:spPr>
          <a:xfrm>
            <a:off x="704088" y="50749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Texte gris clair sur fond blanc (#999 sur #FFF) : 2,85:1 - échec même en texte large</a:t>
            </a:r>
          </a:p>
          <a:p>
            <a:pPr algn="l">
              <a:lnSpc>
                <a:spcPct val="150000"/>
              </a:lnSpc>
            </a:pPr>
            <a:r>
              <a:rPr sz="1400" lang="fr-FR">
                <a:solidFill>
                  <a:srgbClr val="161616"/>
                </a:solidFill>
                <a:latin typeface="Marianne"/>
              </a:rPr>
              <a:t>• </a:t>
            </a:r>
            <a:r>
              <a:rPr sz="1400" b="0" lang="fr-FR">
                <a:solidFill>
                  <a:srgbClr val="161616"/>
                </a:solidFill>
                <a:latin typeface="Marianne"/>
              </a:rPr>
              <a:t>Bouton bleu avec texte bleu marine « moderne » : souvent sous le seuil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Contraste des couleurs</a:t>
            </a:r>
          </a:p>
        </p:txBody>
      </p:sp>
      <p:sp>
        <p:nvSpPr>
          <p:cNvPr id="9" name="DSFR-accent-decoratif" descr=""/>
          <p:cNvSpPr/>
          <p:nvPr/>
        </p:nvSpPr>
        <p:spPr>
          <a:xfrm>
            <a:off x="475488" y="45720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Lien d’évitement : le raccourci vers le contenu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5. Lien d'évitement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95</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lien d’évitement, un utilisateur clavier doit souvent traverser tout le menu avant d’atteindre le contenu.</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 premier lien interactif permet d’aller directement au contenu principal</a:t>
            </a:r>
          </a:p>
          <a:p>
            <a:pPr algn="l">
              <a:lnSpc>
                <a:spcPct val="125000"/>
              </a:lnSpc>
            </a:pPr>
            <a:r>
              <a:rPr sz="1400" lang="fr-FR">
                <a:solidFill>
                  <a:srgbClr val="161616"/>
                </a:solidFill>
                <a:latin typeface="Marianne"/>
              </a:rPr>
              <a:t>• </a:t>
            </a:r>
            <a:r>
              <a:rPr sz="1400" b="0" lang="fr-FR">
                <a:solidFill>
                  <a:srgbClr val="161616"/>
                </a:solidFill>
                <a:latin typeface="Marianne"/>
              </a:rPr>
              <a:t>Il devient visible dès qu’il a le focus, même s’il était masqué</a:t>
            </a:r>
          </a:p>
          <a:p>
            <a:pPr algn="l">
              <a:lnSpc>
                <a:spcPct val="125000"/>
              </a:lnSpc>
            </a:pPr>
            <a:r>
              <a:rPr sz="1400" lang="fr-FR">
                <a:solidFill>
                  <a:srgbClr val="161616"/>
                </a:solidFill>
                <a:latin typeface="Marianne"/>
              </a:rPr>
              <a:t>• </a:t>
            </a:r>
            <a:r>
              <a:rPr sz="1400" b="0" lang="fr-FR">
                <a:solidFill>
                  <a:srgbClr val="161616"/>
                </a:solidFill>
                <a:latin typeface="Marianne"/>
              </a:rPr>
              <a:t>Il mène au bloc principal via une ancre (#contenu, #main)</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Démo en 3 Tab</a:t>
            </a:r>
          </a:p>
        </p:txBody>
      </p:sp>
      <p:sp>
        <p:nvSpPr>
          <p:cNvPr id="18" name="DSFR-alert-success-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Ouvrez gouvernement.fr et appuyez Tab : le lien « Contenu » apparaît en haut</a:t>
            </a:r>
          </a:p>
          <a:p>
            <a:pPr algn="l">
              <a:lnSpc>
                <a:spcPct val="150000"/>
              </a:lnSpc>
            </a:pPr>
            <a:r>
              <a:rPr sz="1400" lang="fr-FR">
                <a:solidFill>
                  <a:srgbClr val="161616"/>
                </a:solidFill>
                <a:latin typeface="Marianne"/>
              </a:rPr>
              <a:t>• </a:t>
            </a:r>
            <a:r>
              <a:rPr sz="1400" b="0" lang="fr-FR">
                <a:solidFill>
                  <a:srgbClr val="161616"/>
                </a:solidFill>
                <a:latin typeface="Marianne"/>
              </a:rPr>
              <a:t>Entrée → vous voilà au contenu, menu contourné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Lien d’évitement</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Naviguer sans souris : le test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96</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Quand on navigue au clavier, un focus invisible suffit à perdre toute la page.</a:t>
            </a:r>
          </a:p>
        </p:txBody>
      </p:sp>
      <p:sp>
        <p:nvSpPr>
          <p:cNvPr id="12" name="DSFR-box"/>
          <p:cNvSpPr/>
          <p:nvPr/>
        </p:nvSpPr>
        <p:spPr>
          <a:xfrm>
            <a:off x="548640" y="331470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En 15 minutes, vous saurez :</a:t>
            </a:r>
          </a:p>
        </p:txBody>
      </p:sp>
      <p:sp>
        <p:nvSpPr>
          <p:cNvPr id="14" name="DSFR-callout-body"/>
          <p:cNvSpPr txBox="1"/>
          <p:nvPr/>
        </p:nvSpPr>
        <p:spPr>
          <a:xfrm>
            <a:off x="704088" y="381762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Utiliser 5 touches pour tester n’importe quelle page</a:t>
            </a:r>
          </a:p>
          <a:p>
            <a:pPr algn="l">
              <a:lnSpc>
                <a:spcPct val="125000"/>
              </a:lnSpc>
            </a:pPr>
            <a:r>
              <a:rPr sz="1400" lang="fr-FR">
                <a:solidFill>
                  <a:srgbClr val="161616"/>
                </a:solidFill>
                <a:latin typeface="Marianne"/>
              </a:rPr>
              <a:t>• </a:t>
            </a:r>
            <a:r>
              <a:rPr sz="1400" b="0" lang="fr-FR">
                <a:solidFill>
                  <a:srgbClr val="161616"/>
                </a:solidFill>
                <a:latin typeface="Marianne"/>
              </a:rPr>
              <a:t>Repérer 3 signaux qui trahissent un défaut d’accessibilité</a:t>
            </a:r>
          </a:p>
          <a:p>
            <a:pPr algn="l">
              <a:lnSpc>
                <a:spcPct val="125000"/>
              </a:lnSpc>
            </a:pPr>
            <a:r>
              <a:rPr sz="1400" lang="fr-FR">
                <a:solidFill>
                  <a:srgbClr val="161616"/>
                </a:solidFill>
                <a:latin typeface="Marianne"/>
              </a:rPr>
              <a:t>• </a:t>
            </a:r>
            <a:r>
              <a:rPr sz="1400" b="0" lang="fr-FR">
                <a:solidFill>
                  <a:srgbClr val="161616"/>
                </a:solidFill>
                <a:latin typeface="Marianne"/>
              </a:rPr>
              <a:t>Reproduire l’expérience d’un lecteur d’écran en 3 minutes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5 touches, 3 intentions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97</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Naviguer → Tab / Shift+Tab    Agir → Entrée / Espace    Lire → Flèches ↑ ↓</a:t>
            </a:r>
          </a:p>
        </p:txBody>
      </p:sp>
      <p:graphicFrame>
        <p:nvGraphicFramePr>
          <p:cNvPr id="11" name="Table 10"/>
          <p:cNvGraphicFramePr>
            <a:graphicFrameLocks noGrp="1"/>
          </p:cNvGraphicFramePr>
          <p:nvPr/>
        </p:nvGraphicFramePr>
        <p:xfrm>
          <a:off x="475488" y="3131820"/>
          <a:ext cx="11228832" cy="2852928"/>
        </p:xfrm>
        <a:graphic>
          <a:graphicData uri="http://schemas.openxmlformats.org/drawingml/2006/table">
            <a:tbl>
              <a:tblPr firstRow="1" bandRow="1">
                <a:tableStyleId>{5C22544A-7EE6-4342-B048-85BDC9FD1C3A}</a:tableStyleId>
              </a:tblPr>
              <a:tblGrid>
                <a:gridCol w="1645920"/>
                <a:gridCol w="4480560"/>
                <a:gridCol w="5102352"/>
              </a:tblGrid>
              <a:tr h="475488">
                <a:tc>
                  <a:txBody>
                    <a:bodyPr wrap="square" anchor="ctr" lIns="73152" rIns="73152"/>
                    <a:lstStyle/>
                    <a:p>
                      <a:pPr algn="l">
                        <a:lnSpc>
                          <a:spcPct val="125000"/>
                        </a:lnSpc>
                      </a:pPr>
                      <a:r>
                        <a:rPr sz="1400" b="1" i="0" lang="fr-FR">
                          <a:solidFill>
                            <a:srgbClr val="FFFFFF"/>
                          </a:solidFill>
                          <a:latin typeface="Marianne"/>
                        </a:rPr>
                        <a:t>Touche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À quoi elle sert</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qu’il faut vérifier</a:t>
                      </a:r>
                    </a:p>
                  </a:txBody>
                  <a:tcPr marL="91440" marR="91440" marT="45720" marB="45720">
                    <a:solidFill>
                      <a:srgbClr val="000091"/>
                    </a:solidFill>
                  </a:tcPr>
                </a:tc>
              </a:tr>
              <a:tr h="475488">
                <a:tc>
                  <a:txBody>
                    <a:bodyPr wrap="square" anchor="ctr" lIns="73152" rIns="73152"/>
                    <a:lstStyle/>
                    <a:p>
                      <a:pPr algn="l">
                        <a:lnSpc>
                          <a:spcPct val="125000"/>
                        </a:lnSpc>
                      </a:pPr>
                      <a:r>
                        <a:rPr sz="1400" b="0" i="0" lang="fr-FR">
                          <a:solidFill>
                            <a:srgbClr val="161616"/>
                          </a:solidFill>
                          <a:latin typeface="Marianne"/>
                        </a:rPr>
                        <a:t>Tab</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Avancer sur l’élément interactif suivant (lien, bouton, champ).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 focus se déplace et reste visible à chaque étape.</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Marianne"/>
                        </a:rPr>
                        <a:t>Shift + Tab</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Reculer sur l’élément interactif précédent.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L’ordre inverse est logique, sans saut imprévu.</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Marianne"/>
                        </a:rPr>
                        <a:t>Entrée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Activer un lien ou soumettre un formulaire.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L’action attendue se déclenche immédiatement.</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Marianne"/>
                        </a:rPr>
                        <a:t>Barre d’espace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Cocher, décocher, sélectionner un bouton radio.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L’état coché / non coché est annoncé vocalement.</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Marianne"/>
                        </a:rPr>
                        <a:t>Flèches ↑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Lire le contenu ligne par ligne avec un lecteur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 texte alternatif des images est lu à haute voix.</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3 signaux qui trahissent un défaut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98</a:t>
            </a:r>
            <a:endParaRPr lang="fr-FR" dirty="0"/>
          </a:p>
        </p:txBody>
      </p:sp>
      <p:sp>
        <p:nvSpPr>
          <p:cNvPr id="9" name="DSFR-box"/>
          <p:cNvSpPr/>
          <p:nvPr/>
        </p:nvSpPr>
        <p:spPr>
          <a:xfrm>
            <a:off x="548640" y="2331720"/>
            <a:ext cx="3465576" cy="266318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3017520"/>
            <a:ext cx="3172968"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focus disparaît</a:t>
            </a:r>
          </a:p>
        </p:txBody>
      </p:sp>
      <p:sp>
        <p:nvSpPr>
          <p:cNvPr id="12" name="DSFR-card-contenu"/>
          <p:cNvSpPr txBox="1"/>
          <p:nvPr/>
        </p:nvSpPr>
        <p:spPr>
          <a:xfrm>
            <a:off x="704088" y="3474720"/>
            <a:ext cx="3172968" cy="142874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Plus de contour visible pendant la tabulation. L’utilisateur est perdu dès la 3ᵉ touche Tab.</a:t>
            </a:r>
          </a:p>
        </p:txBody>
      </p:sp>
      <p:sp>
        <p:nvSpPr>
          <p:cNvPr id="14" name="DSFR-box"/>
          <p:cNvSpPr/>
          <p:nvPr/>
        </p:nvSpPr>
        <p:spPr>
          <a:xfrm>
            <a:off x="4389120" y="2331720"/>
            <a:ext cx="3465576" cy="266318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4568" y="3017520"/>
            <a:ext cx="3172968"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L’ordre est illogique</a:t>
            </a:r>
          </a:p>
        </p:txBody>
      </p:sp>
      <p:sp>
        <p:nvSpPr>
          <p:cNvPr id="17" name="DSFR-card-contenu"/>
          <p:cNvSpPr txBox="1"/>
          <p:nvPr/>
        </p:nvSpPr>
        <p:spPr>
          <a:xfrm>
            <a:off x="4544568" y="3474720"/>
            <a:ext cx="3172968" cy="142874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Le focus saute à droite avant le menu à gauche. Le lecteur d’écran parcourt la page dans le désordre.</a:t>
            </a:r>
          </a:p>
        </p:txBody>
      </p:sp>
      <p:sp>
        <p:nvSpPr>
          <p:cNvPr id="19" name="DSFR-box"/>
          <p:cNvSpPr/>
          <p:nvPr/>
        </p:nvSpPr>
        <p:spPr>
          <a:xfrm>
            <a:off x="8229600" y="2331720"/>
            <a:ext cx="3465576" cy="266318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85048" y="3017520"/>
            <a:ext cx="3172968"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L’état n’est pas annoncé</a:t>
            </a:r>
          </a:p>
        </p:txBody>
      </p:sp>
      <p:sp>
        <p:nvSpPr>
          <p:cNvPr id="22" name="DSFR-card-contenu"/>
          <p:cNvSpPr txBox="1"/>
          <p:nvPr/>
        </p:nvSpPr>
        <p:spPr>
          <a:xfrm>
            <a:off x="8385048" y="3474720"/>
            <a:ext cx="3172968" cy="1428749"/>
          </a:xfrm>
          <a:prstGeom prst="rect">
            <a:avLst/>
          </a:prstGeom>
          <a:noFill/>
        </p:spPr>
        <p:txBody>
          <a:bodyPr wrap="square" anchor="t" lIns="73152" rIns="73152">
            <a:spAutoFit/>
          </a:bodyPr>
          <a:lstStyle/>
          <a:p>
            <a:pPr algn="l">
              <a:lnSpc>
                <a:spcPct val="125000"/>
              </a:lnSpc>
            </a:pPr>
            <a:r>
              <a:rPr sz="1400" b="0" i="0" lang="fr-FR">
                <a:solidFill>
                  <a:srgbClr val="161616"/>
                </a:solidFill>
                <a:latin typeface="Marianne"/>
              </a:rPr>
              <a:t>Une case qui coche sans dire « coché ». L’information est invisible pour qui ne voit pas l’écran.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Focus et navigation clavier</a:t>
            </a:r>
          </a:p>
        </p:txBody>
      </p:sp>
      <p:sp>
        <p:nvSpPr>
          <p:cNvPr id="10" name="DSFR-card-numero"/>
          <p:cNvSpPr/>
          <p:nvPr/>
        </p:nvSpPr>
        <p:spPr>
          <a:xfrm>
            <a:off x="704088" y="24688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4544568" y="24688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8385048" y="24688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8" name="DSFR-accent-decoratif" descr=""/>
          <p:cNvSpPr/>
          <p:nvPr/>
        </p:nvSpPr>
        <p:spPr>
          <a:xfrm>
            <a:off x="475488" y="2331720"/>
            <a:ext cx="73152" cy="266318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5968" y="2331720"/>
            <a:ext cx="73152" cy="266318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56448" y="2331720"/>
            <a:ext cx="73152" cy="266318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Votre mission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99</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Sur le site d’entraînement qui vous sera fourni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Cachez votre souris derrière l’écran</a:t>
            </a:r>
          </a:p>
          <a:p>
            <a:pPr algn="l">
              <a:lnSpc>
                <a:spcPct val="125000"/>
              </a:lnSpc>
            </a:pPr>
            <a:r>
              <a:rPr sz="1400" lang="fr-FR">
                <a:solidFill>
                  <a:srgbClr val="161616"/>
                </a:solidFill>
                <a:latin typeface="Marianne"/>
              </a:rPr>
              <a:t>• </a:t>
            </a:r>
            <a:r>
              <a:rPr sz="1400" b="0" lang="fr-FR">
                <a:solidFill>
                  <a:srgbClr val="161616"/>
                </a:solidFill>
                <a:latin typeface="Marianne"/>
              </a:rPr>
              <a:t>Tabulez 10 fois et notez chaque fois que le focus disparaît</a:t>
            </a:r>
          </a:p>
          <a:p>
            <a:pPr algn="l">
              <a:lnSpc>
                <a:spcPct val="125000"/>
              </a:lnSpc>
            </a:pPr>
            <a:r>
              <a:rPr sz="1400" lang="fr-FR">
                <a:solidFill>
                  <a:srgbClr val="161616"/>
                </a:solidFill>
                <a:latin typeface="Marianne"/>
              </a:rPr>
              <a:t>• </a:t>
            </a:r>
            <a:r>
              <a:rPr sz="1400" b="0" lang="fr-FR">
                <a:solidFill>
                  <a:srgbClr val="161616"/>
                </a:solidFill>
                <a:latin typeface="Marianne"/>
              </a:rPr>
              <a:t>Essayez Entrée sur un bouton, Espace sur une case à cocher</a:t>
            </a:r>
          </a:p>
          <a:p>
            <a:pPr algn="l">
              <a:lnSpc>
                <a:spcPct val="125000"/>
              </a:lnSpc>
            </a:pPr>
            <a:r>
              <a:rPr sz="1400" lang="fr-FR">
                <a:solidFill>
                  <a:srgbClr val="161616"/>
                </a:solidFill>
                <a:latin typeface="Marianne"/>
              </a:rPr>
              <a:t>• </a:t>
            </a:r>
            <a:r>
              <a:rPr sz="1400" b="0" lang="fr-FR">
                <a:solidFill>
                  <a:srgbClr val="161616"/>
                </a:solidFill>
                <a:latin typeface="Marianne"/>
              </a:rPr>
              <a:t>Listez les pièges détectés et associez-les aux 3 signaux</a:t>
            </a:r>
          </a:p>
        </p:txBody>
      </p:sp>
      <p:sp>
        <p:nvSpPr>
          <p:cNvPr id="13" name="DSFR-box"/>
          <p:cNvSpPr/>
          <p:nvPr/>
        </p:nvSpPr>
        <p:spPr>
          <a:xfrm>
            <a:off x="548640" y="4306824"/>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Objectif : votre permis clavier</a:t>
            </a:r>
          </a:p>
        </p:txBody>
      </p:sp>
      <p:sp>
        <p:nvSpPr>
          <p:cNvPr id="15" name="DSFR-alert-success-body"/>
          <p:cNvSpPr txBox="1"/>
          <p:nvPr/>
        </p:nvSpPr>
        <p:spPr>
          <a:xfrm>
            <a:off x="704088" y="4809744"/>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1 signal détecté = vous avez l’œil</a:t>
            </a:r>
          </a:p>
          <a:p>
            <a:pPr algn="l">
              <a:lnSpc>
                <a:spcPct val="150000"/>
              </a:lnSpc>
            </a:pPr>
            <a:r>
              <a:rPr sz="1400" lang="fr-FR">
                <a:solidFill>
                  <a:srgbClr val="161616"/>
                </a:solidFill>
                <a:latin typeface="Marianne"/>
              </a:rPr>
              <a:t>• </a:t>
            </a:r>
            <a:r>
              <a:rPr sz="1400" b="0" lang="fr-FR">
                <a:solidFill>
                  <a:srgbClr val="161616"/>
                </a:solidFill>
                <a:latin typeface="Marianne"/>
              </a:rPr>
              <a:t>3 signaux détectés = vous êtes auditeur clavier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Focus et navigation clavier</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Langue de la page : l’accent juste du lecteur d’écran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7. Langue de la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100</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langue déclarée, le lecteur d’écran peut choisir une mauvaise prononciation et rendre le texte pénible à écouter.</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 balise &lt;html&gt; porte un attribut lang (ex. lang="fr")</a:t>
            </a:r>
          </a:p>
          <a:p>
            <a:pPr algn="l">
              <a:lnSpc>
                <a:spcPct val="125000"/>
              </a:lnSpc>
            </a:pPr>
            <a:r>
              <a:rPr sz="1400" lang="fr-FR">
                <a:solidFill>
                  <a:srgbClr val="161616"/>
                </a:solidFill>
                <a:latin typeface="Marianne"/>
              </a:rPr>
              <a:t>• </a:t>
            </a:r>
            <a:r>
              <a:rPr sz="1400" b="0" lang="fr-FR">
                <a:solidFill>
                  <a:srgbClr val="161616"/>
                </a:solidFill>
                <a:latin typeface="Marianne"/>
              </a:rPr>
              <a:t>Les passages dans une autre langue sont balisés : &lt;span lang="en"&gt;workshop&lt;/span&gt;</a:t>
            </a:r>
          </a:p>
          <a:p>
            <a:pPr algn="l">
              <a:lnSpc>
                <a:spcPct val="125000"/>
              </a:lnSpc>
            </a:pPr>
            <a:r>
              <a:rPr sz="1400" lang="fr-FR">
                <a:solidFill>
                  <a:srgbClr val="161616"/>
                </a:solidFill>
                <a:latin typeface="Marianne"/>
              </a:rPr>
              <a:t>• </a:t>
            </a:r>
            <a:r>
              <a:rPr sz="1400" b="0" lang="fr-FR">
                <a:solidFill>
                  <a:srgbClr val="161616"/>
                </a:solidFill>
                <a:latin typeface="Marianne"/>
              </a:rPr>
              <a:t>Le code langue suit la norme ISO 639 : fr, en, de, es - pas « français »</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vérifier sans coder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Clic droit → Afficher le code source → regarder la 1ʳᵉ ligne &lt;html lang="…"&gt;</a:t>
            </a:r>
          </a:p>
          <a:p>
            <a:pPr algn="l">
              <a:lnSpc>
                <a:spcPct val="150000"/>
              </a:lnSpc>
            </a:pPr>
            <a:r>
              <a:rPr sz="1400" lang="fr-FR">
                <a:solidFill>
                  <a:srgbClr val="161616"/>
                </a:solidFill>
                <a:latin typeface="Marianne"/>
              </a:rPr>
              <a:t>• </a:t>
            </a:r>
            <a:r>
              <a:rPr sz="1400" b="0" lang="fr-FR">
                <a:solidFill>
                  <a:srgbClr val="161616"/>
                </a:solidFill>
                <a:latin typeface="Marianne"/>
              </a:rPr>
              <a:t>Ou extension « Web Developer » → Information → View Document Language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Langue de la page</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Zoom à 200 % : tout doit rester lisible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8. Zoom à 200 %</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101</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À 200 %, votre site doit rester le même service : lisible, navigable et utilisable.</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À 200 % de zoom, aucun texte n’est coupé ni superposé</a:t>
            </a:r>
          </a:p>
          <a:p>
            <a:pPr algn="l">
              <a:lnSpc>
                <a:spcPct val="125000"/>
              </a:lnSpc>
            </a:pPr>
            <a:r>
              <a:rPr sz="1400" lang="fr-FR">
                <a:solidFill>
                  <a:srgbClr val="161616"/>
                </a:solidFill>
                <a:latin typeface="Marianne"/>
              </a:rPr>
              <a:t>• </a:t>
            </a:r>
            <a:r>
              <a:rPr sz="1400" b="0" lang="fr-FR">
                <a:solidFill>
                  <a:srgbClr val="161616"/>
                </a:solidFill>
                <a:latin typeface="Marianne"/>
              </a:rPr>
              <a:t>Pas d’apparition d’un défilement horizontal sur une page classique</a:t>
            </a:r>
          </a:p>
          <a:p>
            <a:pPr algn="l">
              <a:lnSpc>
                <a:spcPct val="125000"/>
              </a:lnSpc>
            </a:pPr>
            <a:r>
              <a:rPr sz="1400" lang="fr-FR">
                <a:solidFill>
                  <a:srgbClr val="161616"/>
                </a:solidFill>
                <a:latin typeface="Marianne"/>
              </a:rPr>
              <a:t>• </a:t>
            </a:r>
            <a:r>
              <a:rPr sz="1400" b="0" lang="fr-FR">
                <a:solidFill>
                  <a:srgbClr val="161616"/>
                </a:solidFill>
                <a:latin typeface="Marianne"/>
              </a:rPr>
              <a:t>Les menus, boutons et formulaires restent utilisables, pas seulement visibles</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Comment tester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Ctrl + (ou Cmd + sur Mac) pour zoomer jusqu’à 200 % - répéter 4 fois depuis 100 %</a:t>
            </a:r>
          </a:p>
          <a:p>
            <a:pPr algn="l">
              <a:lnSpc>
                <a:spcPct val="150000"/>
              </a:lnSpc>
            </a:pPr>
            <a:r>
              <a:rPr sz="1400" lang="fr-FR">
                <a:solidFill>
                  <a:srgbClr val="161616"/>
                </a:solidFill>
                <a:latin typeface="Marianne"/>
              </a:rPr>
              <a:t>• </a:t>
            </a:r>
            <a:r>
              <a:rPr sz="1400" b="0" lang="fr-FR">
                <a:solidFill>
                  <a:srgbClr val="161616"/>
                </a:solidFill>
                <a:latin typeface="Marianne"/>
              </a:rPr>
              <a:t>Parcourir la page : formulaire, menu, pied de page. Si ça casse, le check échoue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Zoom à 200 %</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Sous-titres : le son que tout le monde lit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102</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Une vidéo sans sous-titres devient inutilisable dès que le son manque, est coupé ou ne peut pas être entendu.</a:t>
            </a:r>
          </a:p>
        </p:txBody>
      </p:sp>
      <p:sp>
        <p:nvSpPr>
          <p:cNvPr id="12" name="DSFR-box"/>
          <p:cNvSpPr/>
          <p:nvPr/>
        </p:nvSpPr>
        <p:spPr>
          <a:xfrm>
            <a:off x="548640" y="3314700"/>
            <a:ext cx="11155680"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817620"/>
            <a:ext cx="10908792"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 vidéo propose des sous-titres synchronisés (pas seulement une transcription)</a:t>
            </a:r>
          </a:p>
          <a:p>
            <a:pPr algn="l">
              <a:lnSpc>
                <a:spcPct val="115000"/>
              </a:lnSpc>
            </a:pPr>
            <a:r>
              <a:rPr sz="1400" lang="fr-FR">
                <a:solidFill>
                  <a:srgbClr val="161616"/>
                </a:solidFill>
                <a:latin typeface="Marianne"/>
              </a:rPr>
              <a:t>• </a:t>
            </a:r>
            <a:r>
              <a:rPr sz="1400" b="0" lang="fr-FR">
                <a:solidFill>
                  <a:srgbClr val="161616"/>
                </a:solidFill>
                <a:latin typeface="Marianne"/>
              </a:rPr>
              <a:t>Les sous-titres incluent les paroles ET les informations sonores importantes : « (rires) », « (sonnerie) »</a:t>
            </a:r>
          </a:p>
          <a:p>
            <a:pPr algn="l">
              <a:lnSpc>
                <a:spcPct val="115000"/>
              </a:lnSpc>
            </a:pPr>
            <a:r>
              <a:rPr sz="1400" lang="fr-FR">
                <a:solidFill>
                  <a:srgbClr val="161616"/>
                </a:solidFill>
                <a:latin typeface="Marianne"/>
              </a:rPr>
              <a:t>• </a:t>
            </a:r>
            <a:r>
              <a:rPr sz="1400" b="0" lang="fr-FR">
                <a:solidFill>
                  <a:srgbClr val="161616"/>
                </a:solidFill>
                <a:latin typeface="Marianne"/>
              </a:rPr>
              <a:t>Ils sont activables/désactivables par l’utilisateur (bouton CC)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Sous-titres vidéo</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Sous-titres auto : brouillon utile, livrable à relire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103</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l’auto ne suffit pas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Les sous-titres automatiques peuvent déformer les mots, surtout les noms propres et acronymes</a:t>
            </a:r>
          </a:p>
          <a:p>
            <a:pPr algn="l">
              <a:lnSpc>
                <a:spcPct val="125000"/>
              </a:lnSpc>
            </a:pPr>
            <a:r>
              <a:rPr sz="1400" lang="fr-FR">
                <a:solidFill>
                  <a:srgbClr val="161616"/>
                </a:solidFill>
                <a:latin typeface="Marianne"/>
              </a:rPr>
              <a:t>• </a:t>
            </a:r>
            <a:r>
              <a:rPr sz="1400" b="0" lang="fr-FR">
                <a:solidFill>
                  <a:srgbClr val="161616"/>
                </a:solidFill>
                <a:latin typeface="Marianne"/>
              </a:rPr>
              <a:t>Noms propres, acronymes, chiffres : souvent mal reconnus</a:t>
            </a:r>
          </a:p>
          <a:p>
            <a:pPr algn="l">
              <a:lnSpc>
                <a:spcPct val="125000"/>
              </a:lnSpc>
            </a:pPr>
            <a:r>
              <a:rPr sz="1400" lang="fr-FR">
                <a:solidFill>
                  <a:srgbClr val="161616"/>
                </a:solidFill>
                <a:latin typeface="Marianne"/>
              </a:rPr>
              <a:t>• </a:t>
            </a:r>
            <a:r>
              <a:rPr sz="1400" b="0" lang="fr-FR">
                <a:solidFill>
                  <a:srgbClr val="161616"/>
                </a:solidFill>
                <a:latin typeface="Marianne"/>
              </a:rPr>
              <a:t>Ponctuation absente : « on mange les enfants » vs « on mange, les enfants »</a:t>
            </a:r>
          </a:p>
          <a:p>
            <a:pPr algn="l">
              <a:lnSpc>
                <a:spcPct val="125000"/>
              </a:lnSpc>
            </a:pPr>
            <a:r>
              <a:rPr sz="1400" lang="fr-FR">
                <a:solidFill>
                  <a:srgbClr val="161616"/>
                </a:solidFill>
                <a:latin typeface="Marianne"/>
              </a:rPr>
              <a:t>• </a:t>
            </a:r>
            <a:r>
              <a:rPr sz="1400" b="0" lang="fr-FR">
                <a:solidFill>
                  <a:srgbClr val="161616"/>
                </a:solidFill>
                <a:latin typeface="Marianne"/>
              </a:rPr>
              <a:t>Pas d’indication sonore non verbale (musique, applaudissements)</a:t>
            </a:r>
          </a:p>
        </p:txBody>
      </p:sp>
      <p:sp>
        <p:nvSpPr>
          <p:cNvPr id="13" name="DSFR-box"/>
          <p:cNvSpPr/>
          <p:nvPr/>
        </p:nvSpPr>
        <p:spPr>
          <a:xfrm>
            <a:off x="548640" y="4594860"/>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Méthode recommandée</a:t>
            </a:r>
          </a:p>
        </p:txBody>
      </p:sp>
      <p:sp>
        <p:nvSpPr>
          <p:cNvPr id="15" name="DSFR-alert-success-body"/>
          <p:cNvSpPr txBox="1"/>
          <p:nvPr/>
        </p:nvSpPr>
        <p:spPr>
          <a:xfrm>
            <a:off x="704088" y="509778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Générer l’auto (YouTube, Whisper, outil interne) pour accélérer le brouillon</a:t>
            </a:r>
          </a:p>
          <a:p>
            <a:pPr algn="l">
              <a:lnSpc>
                <a:spcPct val="115000"/>
              </a:lnSpc>
            </a:pPr>
            <a:r>
              <a:rPr sz="1400" lang="fr-FR">
                <a:solidFill>
                  <a:srgbClr val="161616"/>
                </a:solidFill>
                <a:latin typeface="Marianne"/>
              </a:rPr>
              <a:t>• </a:t>
            </a:r>
            <a:r>
              <a:rPr sz="1400" b="0" lang="fr-FR">
                <a:solidFill>
                  <a:srgbClr val="161616"/>
                </a:solidFill>
                <a:latin typeface="Marianne"/>
              </a:rPr>
              <a:t>Relire : noms, chiffres, ponctuation et [indications sonores]</a:t>
            </a:r>
          </a:p>
          <a:p>
            <a:pPr algn="l">
              <a:lnSpc>
                <a:spcPct val="115000"/>
              </a:lnSpc>
            </a:pPr>
            <a:r>
              <a:rPr sz="1400" lang="fr-FR">
                <a:solidFill>
                  <a:srgbClr val="161616"/>
                </a:solidFill>
                <a:latin typeface="Marianne"/>
              </a:rPr>
              <a:t>• </a:t>
            </a:r>
            <a:r>
              <a:rPr sz="1400" b="0" lang="fr-FR">
                <a:solidFill>
                  <a:srgbClr val="161616"/>
                </a:solidFill>
                <a:latin typeface="Marianne"/>
              </a:rPr>
              <a:t>Tester le rendu : 2 lignes max, contraste fort, sous-titres non masqués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Sous-titres vidéo</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Transcription : la version texte qui accompagne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10. Transcriptions audio et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104</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 transcription est au podcast ce que le script est au film : la version lisible, indexable, citable.</a:t>
            </a:r>
          </a:p>
        </p:txBody>
      </p:sp>
      <p:sp>
        <p:nvSpPr>
          <p:cNvPr id="12" name="DSFR-box"/>
          <p:cNvSpPr/>
          <p:nvPr/>
        </p:nvSpPr>
        <p:spPr>
          <a:xfrm>
            <a:off x="548640" y="2875788"/>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378708"/>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Toute vidéo / audio propose un lien visible « Lire la transcription »</a:t>
            </a:r>
          </a:p>
          <a:p>
            <a:pPr algn="l">
              <a:lnSpc>
                <a:spcPct val="125000"/>
              </a:lnSpc>
            </a:pPr>
            <a:r>
              <a:rPr sz="1400" lang="fr-FR">
                <a:solidFill>
                  <a:srgbClr val="161616"/>
                </a:solidFill>
                <a:latin typeface="Marianne"/>
              </a:rPr>
              <a:t>• </a:t>
            </a:r>
            <a:r>
              <a:rPr sz="1400" b="0" lang="fr-FR">
                <a:solidFill>
                  <a:srgbClr val="161616"/>
                </a:solidFill>
                <a:latin typeface="Marianne"/>
              </a:rPr>
              <a:t>La transcription est complète : paroles + informations sonores essentielles</a:t>
            </a:r>
          </a:p>
          <a:p>
            <a:pPr algn="l">
              <a:lnSpc>
                <a:spcPct val="125000"/>
              </a:lnSpc>
            </a:pPr>
            <a:r>
              <a:rPr sz="1400" lang="fr-FR">
                <a:solidFill>
                  <a:srgbClr val="161616"/>
                </a:solidFill>
                <a:latin typeface="Marianne"/>
              </a:rPr>
              <a:t>• </a:t>
            </a:r>
            <a:r>
              <a:rPr sz="1400" b="0" lang="fr-FR">
                <a:solidFill>
                  <a:srgbClr val="161616"/>
                </a:solidFill>
                <a:latin typeface="Marianne"/>
              </a:rPr>
              <a:t>Elle est sur la même page ou à un clic, pas cachée à deux étages de menu</a:t>
            </a:r>
          </a:p>
          <a:p>
            <a:pPr algn="l">
              <a:lnSpc>
                <a:spcPct val="125000"/>
              </a:lnSpc>
            </a:pPr>
            <a:r>
              <a:rPr sz="1400" lang="fr-FR">
                <a:solidFill>
                  <a:srgbClr val="161616"/>
                </a:solidFill>
                <a:latin typeface="Marianne"/>
              </a:rPr>
              <a:t>• </a:t>
            </a:r>
            <a:r>
              <a:rPr sz="1400" b="0" lang="fr-FR">
                <a:solidFill>
                  <a:srgbClr val="161616"/>
                </a:solidFill>
                <a:latin typeface="Marianne"/>
              </a:rPr>
              <a:t>Pour une vidéo : la transcription descriptive inclut aussi l’action visible</a:t>
            </a:r>
          </a:p>
        </p:txBody>
      </p:sp>
      <p:sp>
        <p:nvSpPr>
          <p:cNvPr id="16" name="DSFR-box"/>
          <p:cNvSpPr/>
          <p:nvPr/>
        </p:nvSpPr>
        <p:spPr>
          <a:xfrm>
            <a:off x="548640" y="486918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9606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Bonus souvent oublié</a:t>
            </a:r>
          </a:p>
        </p:txBody>
      </p:sp>
      <p:sp>
        <p:nvSpPr>
          <p:cNvPr id="18" name="DSFR-alert-info-body"/>
          <p:cNvSpPr txBox="1"/>
          <p:nvPr/>
        </p:nvSpPr>
        <p:spPr>
          <a:xfrm>
            <a:off x="704088" y="537210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 transcription rend le contenu plus facile à retrouver, relire et citer</a:t>
            </a:r>
          </a:p>
          <a:p>
            <a:pPr algn="l">
              <a:lnSpc>
                <a:spcPct val="150000"/>
              </a:lnSpc>
            </a:pPr>
            <a:r>
              <a:rPr sz="1400" lang="fr-FR">
                <a:solidFill>
                  <a:srgbClr val="161616"/>
                </a:solidFill>
                <a:latin typeface="Marianne"/>
              </a:rPr>
              <a:t>• </a:t>
            </a:r>
            <a:r>
              <a:rPr sz="1400" b="0" lang="fr-FR">
                <a:solidFill>
                  <a:srgbClr val="161616"/>
                </a:solidFill>
                <a:latin typeface="Marianne"/>
              </a:rPr>
              <a:t>Elle sert aussi aux personnes qui ne peuvent pas lancer la vidéo ou l’audio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Transcriptions audio et vidéo</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86918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Audiodescription : la voix qui montre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11. Audiodescription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105</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L’audiodescription ajoute une voix off qui décrit les images clés pendant les silences.</a:t>
            </a:r>
          </a:p>
        </p:txBody>
      </p:sp>
      <p:sp>
        <p:nvSpPr>
          <p:cNvPr id="12" name="DSFR-box"/>
          <p:cNvSpPr/>
          <p:nvPr/>
        </p:nvSpPr>
        <p:spPr>
          <a:xfrm>
            <a:off x="548640" y="313182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232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634739"/>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La vidéo propose une piste audiodécrite activable (bouton AD)</a:t>
            </a:r>
          </a:p>
          <a:p>
            <a:pPr algn="l">
              <a:lnSpc>
                <a:spcPct val="115000"/>
              </a:lnSpc>
            </a:pPr>
            <a:r>
              <a:rPr sz="1400" lang="fr-FR">
                <a:solidFill>
                  <a:srgbClr val="161616"/>
                </a:solidFill>
                <a:latin typeface="Marianne"/>
              </a:rPr>
              <a:t>• </a:t>
            </a:r>
            <a:r>
              <a:rPr sz="1400" b="0" lang="fr-FR">
                <a:solidFill>
                  <a:srgbClr val="161616"/>
                </a:solidFill>
                <a:latin typeface="Marianne"/>
              </a:rPr>
              <a:t>L’audiodescription décrit les éléments visuels essentiels à la compréhension</a:t>
            </a:r>
          </a:p>
          <a:p>
            <a:pPr algn="l">
              <a:lnSpc>
                <a:spcPct val="115000"/>
              </a:lnSpc>
            </a:pPr>
            <a:r>
              <a:rPr sz="1400" lang="fr-FR">
                <a:solidFill>
                  <a:srgbClr val="161616"/>
                </a:solidFill>
                <a:latin typeface="Marianne"/>
              </a:rPr>
              <a:t>• </a:t>
            </a:r>
            <a:r>
              <a:rPr sz="1400" b="0" lang="fr-FR">
                <a:solidFill>
                  <a:srgbClr val="161616"/>
                </a:solidFill>
                <a:latin typeface="Marianne"/>
              </a:rPr>
              <a:t>Elle s’intercale dans les silences, sans couvrir les dialogues</a:t>
            </a:r>
          </a:p>
          <a:p>
            <a:pPr algn="l">
              <a:lnSpc>
                <a:spcPct val="115000"/>
              </a:lnSpc>
            </a:pPr>
            <a:r>
              <a:rPr sz="1400" lang="fr-FR">
                <a:solidFill>
                  <a:srgbClr val="161616"/>
                </a:solidFill>
                <a:latin typeface="Marianne"/>
              </a:rPr>
              <a:t>• </a:t>
            </a:r>
            <a:r>
              <a:rPr sz="1400" b="0" lang="fr-FR">
                <a:solidFill>
                  <a:srgbClr val="161616"/>
                </a:solidFill>
                <a:latin typeface="Marianne"/>
              </a:rPr>
              <a:t>Pour une vidéo sans dialogue essentiel : une description textuelle synchronisée suffit</a:t>
            </a:r>
          </a:p>
        </p:txBody>
      </p:sp>
      <p:sp>
        <p:nvSpPr>
          <p:cNvPr id="16" name="DSFR-box"/>
          <p:cNvSpPr/>
          <p:nvPr/>
        </p:nvSpPr>
        <p:spPr>
          <a:xfrm>
            <a:off x="548640" y="5104180"/>
            <a:ext cx="11155680" cy="128016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quote-texte"/>
          <p:cNvSpPr txBox="1"/>
          <p:nvPr/>
        </p:nvSpPr>
        <p:spPr>
          <a:xfrm>
            <a:off x="749808" y="5241340"/>
            <a:ext cx="10863072" cy="731520"/>
          </a:xfrm>
          <a:prstGeom prst="rect">
            <a:avLst/>
          </a:prstGeom>
          <a:noFill/>
        </p:spPr>
        <p:txBody>
          <a:bodyPr wrap="square" anchor="t" lIns="73152" rIns="73152">
            <a:spAutoFit/>
          </a:bodyPr>
          <a:lstStyle/>
          <a:p>
            <a:pPr algn="l">
              <a:lnSpc>
                <a:spcPct val="125000"/>
              </a:lnSpc>
            </a:pPr>
            <a:r>
              <a:rPr sz="1600" b="0" i="1" lang="fr-FR">
                <a:solidFill>
                  <a:srgbClr val="161616"/>
                </a:solidFill>
                <a:latin typeface="Marianne"/>
              </a:rPr>
              <a:t>Quand l’image porte l’information, elle doit aussi être disponible autrement que par la vue.</a:t>
            </a:r>
          </a:p>
        </p:txBody>
      </p:sp>
      <p:sp>
        <p:nvSpPr>
          <p:cNvPr id="18" name="DSFR-quote-auteur"/>
          <p:cNvSpPr txBox="1"/>
          <p:nvPr/>
        </p:nvSpPr>
        <p:spPr>
          <a:xfrm>
            <a:off x="749808" y="5927140"/>
            <a:ext cx="10863072" cy="3657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Principe d’accessibilité vidéo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Audiodescription</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3182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5104180"/>
            <a:ext cx="73152" cy="1280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Bonus médias : toujours 2 accès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106</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Règle d'or : un média en ligne doit rester compréhensible par au moins deux chemins : voir, lire ou écouter.</a:t>
            </a:r>
          </a:p>
        </p:txBody>
      </p:sp>
      <p:sp>
        <p:nvSpPr>
          <p:cNvPr id="12" name="DSFR-box"/>
          <p:cNvSpPr/>
          <p:nvPr/>
        </p:nvSpPr>
        <p:spPr>
          <a:xfrm>
            <a:off x="548640" y="2930652"/>
            <a:ext cx="5390388" cy="211409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réflexe</a:t>
            </a:r>
          </a:p>
        </p:txBody>
      </p:sp>
      <p:sp>
        <p:nvSpPr>
          <p:cNvPr id="14" name="DSFR-callout-body"/>
          <p:cNvSpPr txBox="1"/>
          <p:nvPr/>
        </p:nvSpPr>
        <p:spPr>
          <a:xfrm>
            <a:off x="704088"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Image, schéma ou plan -&gt; description ou texte alternatif</a:t>
            </a:r>
          </a:p>
          <a:p>
            <a:pPr algn="l">
              <a:lnSpc>
                <a:spcPct val="120000"/>
              </a:lnSpc>
            </a:pPr>
            <a:r>
              <a:rPr sz="1400" lang="fr-FR">
                <a:solidFill>
                  <a:srgbClr val="161616"/>
                </a:solidFill>
                <a:latin typeface="Marianne"/>
              </a:rPr>
              <a:t>• </a:t>
            </a:r>
            <a:r>
              <a:rPr sz="1400" b="0" lang="fr-FR">
                <a:solidFill>
                  <a:srgbClr val="161616"/>
                </a:solidFill>
                <a:latin typeface="Marianne"/>
              </a:rPr>
              <a:t>Vidéo -&gt; sous-titres + informations visuelles essentielles</a:t>
            </a:r>
          </a:p>
          <a:p>
            <a:pPr algn="l">
              <a:lnSpc>
                <a:spcPct val="120000"/>
              </a:lnSpc>
            </a:pPr>
            <a:r>
              <a:rPr sz="1400" lang="fr-FR">
                <a:solidFill>
                  <a:srgbClr val="161616"/>
                </a:solidFill>
                <a:latin typeface="Marianne"/>
              </a:rPr>
              <a:t>• </a:t>
            </a:r>
            <a:r>
              <a:rPr sz="1400" b="0" lang="fr-FR">
                <a:solidFill>
                  <a:srgbClr val="161616"/>
                </a:solidFill>
                <a:latin typeface="Marianne"/>
              </a:rPr>
              <a:t>Audio ou podcast -&gt; transcription visible et relue</a:t>
            </a:r>
          </a:p>
        </p:txBody>
      </p:sp>
      <p:sp>
        <p:nvSpPr>
          <p:cNvPr id="16" name="DSFR-box"/>
          <p:cNvSpPr/>
          <p:nvPr/>
        </p:nvSpPr>
        <p:spPr>
          <a:xfrm>
            <a:off x="6313931" y="2930652"/>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pièges à repérer</a:t>
            </a:r>
          </a:p>
        </p:txBody>
      </p:sp>
      <p:sp>
        <p:nvSpPr>
          <p:cNvPr id="18" name="DSFR-alert-info-body"/>
          <p:cNvSpPr txBox="1"/>
          <p:nvPr/>
        </p:nvSpPr>
        <p:spPr>
          <a:xfrm>
            <a:off x="6469379"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Sous-titres lisibles : contraste fort, bandeau si besoin</a:t>
            </a:r>
          </a:p>
          <a:p>
            <a:pPr algn="l">
              <a:lnSpc>
                <a:spcPct val="120000"/>
              </a:lnSpc>
            </a:pPr>
            <a:r>
              <a:rPr sz="1400" lang="fr-FR">
                <a:solidFill>
                  <a:srgbClr val="161616"/>
                </a:solidFill>
                <a:latin typeface="Marianne"/>
              </a:rPr>
              <a:t>• </a:t>
            </a:r>
            <a:r>
              <a:rPr sz="1400" b="0" lang="fr-FR">
                <a:solidFill>
                  <a:srgbClr val="161616"/>
                </a:solidFill>
                <a:latin typeface="Marianne"/>
              </a:rPr>
              <a:t>Format réseau social : sous-titres non masqués par l'interface</a:t>
            </a:r>
          </a:p>
          <a:p>
            <a:pPr algn="l">
              <a:lnSpc>
                <a:spcPct val="120000"/>
              </a:lnSpc>
            </a:pPr>
            <a:r>
              <a:rPr sz="1400" lang="fr-FR">
                <a:solidFill>
                  <a:srgbClr val="161616"/>
                </a:solidFill>
                <a:latin typeface="Marianne"/>
              </a:rPr>
              <a:t>• </a:t>
            </a:r>
            <a:r>
              <a:rPr sz="1400" b="0" lang="fr-FR">
                <a:solidFill>
                  <a:srgbClr val="161616"/>
                </a:solidFill>
                <a:latin typeface="Marianne"/>
              </a:rPr>
              <a:t>PDF : texte sélectionnable, pas une image scannée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Bonus médias</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Bonus médias : VSME et transcriptions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107</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Quand le son porte de l'information, la transcription des paroles ne suffit pas toujours.</a:t>
            </a:r>
          </a:p>
        </p:txBody>
      </p:sp>
      <p:sp>
        <p:nvSpPr>
          <p:cNvPr id="12" name="DSFR-box"/>
          <p:cNvSpPr/>
          <p:nvPr/>
        </p:nvSpPr>
        <p:spPr>
          <a:xfrm>
            <a:off x="548640" y="2912364"/>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0380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VSME : ce que ça ajoute</a:t>
            </a:r>
          </a:p>
        </p:txBody>
      </p:sp>
      <p:sp>
        <p:nvSpPr>
          <p:cNvPr id="14" name="DSFR-callout-body"/>
          <p:cNvSpPr txBox="1"/>
          <p:nvPr/>
        </p:nvSpPr>
        <p:spPr>
          <a:xfrm>
            <a:off x="704088" y="341528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Dialogues visibles et hors champ</a:t>
            </a:r>
          </a:p>
          <a:p>
            <a:pPr algn="l">
              <a:lnSpc>
                <a:spcPct val="115000"/>
              </a:lnSpc>
            </a:pPr>
            <a:r>
              <a:rPr sz="1400" lang="fr-FR">
                <a:solidFill>
                  <a:srgbClr val="161616"/>
                </a:solidFill>
                <a:latin typeface="Marianne"/>
              </a:rPr>
              <a:t>• </a:t>
            </a:r>
            <a:r>
              <a:rPr sz="1400" b="0" lang="fr-FR">
                <a:solidFill>
                  <a:srgbClr val="161616"/>
                </a:solidFill>
                <a:latin typeface="Marianne"/>
              </a:rPr>
              <a:t>Bruits utiles, effets sonores et musique</a:t>
            </a:r>
          </a:p>
          <a:p>
            <a:pPr algn="l">
              <a:lnSpc>
                <a:spcPct val="115000"/>
              </a:lnSpc>
            </a:pPr>
            <a:r>
              <a:rPr sz="1400" lang="fr-FR">
                <a:solidFill>
                  <a:srgbClr val="161616"/>
                </a:solidFill>
                <a:latin typeface="Marianne"/>
              </a:rPr>
              <a:t>• </a:t>
            </a:r>
            <a:r>
              <a:rPr sz="1400" b="0" lang="fr-FR">
                <a:solidFill>
                  <a:srgbClr val="161616"/>
                </a:solidFill>
                <a:latin typeface="Marianne"/>
              </a:rPr>
              <a:t>Voix off, narration, pensée intérieure</a:t>
            </a:r>
          </a:p>
          <a:p>
            <a:pPr algn="l">
              <a:lnSpc>
                <a:spcPct val="115000"/>
              </a:lnSpc>
            </a:pPr>
            <a:r>
              <a:rPr sz="1400" lang="fr-FR">
                <a:solidFill>
                  <a:srgbClr val="161616"/>
                </a:solidFill>
                <a:latin typeface="Marianne"/>
              </a:rPr>
              <a:t>• </a:t>
            </a:r>
            <a:r>
              <a:rPr sz="1400" b="0" lang="fr-FR">
                <a:solidFill>
                  <a:srgbClr val="161616"/>
                </a:solidFill>
                <a:latin typeface="Marianne"/>
              </a:rPr>
              <a:t>Langue étrangère et son venant d'un haut-parleur</a:t>
            </a:r>
          </a:p>
        </p:txBody>
      </p:sp>
      <p:sp>
        <p:nvSpPr>
          <p:cNvPr id="16" name="DSFR-box"/>
          <p:cNvSpPr/>
          <p:nvPr/>
        </p:nvSpPr>
        <p:spPr>
          <a:xfrm>
            <a:off x="6313931" y="2912364"/>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0380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Transcription : choisir le niveau</a:t>
            </a:r>
          </a:p>
        </p:txBody>
      </p:sp>
      <p:sp>
        <p:nvSpPr>
          <p:cNvPr id="18" name="DSFR-alert-info-body"/>
          <p:cNvSpPr txBox="1"/>
          <p:nvPr/>
        </p:nvSpPr>
        <p:spPr>
          <a:xfrm>
            <a:off x="6469379" y="341528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Semi-intégrale : résumé détaillé + citations</a:t>
            </a:r>
          </a:p>
          <a:p>
            <a:pPr algn="l">
              <a:lnSpc>
                <a:spcPct val="115000"/>
              </a:lnSpc>
            </a:pPr>
            <a:r>
              <a:rPr sz="1400" lang="fr-FR">
                <a:solidFill>
                  <a:srgbClr val="161616"/>
                </a:solidFill>
                <a:latin typeface="Marianne"/>
              </a:rPr>
              <a:t>• </a:t>
            </a:r>
            <a:r>
              <a:rPr sz="1400" b="0" lang="fr-FR">
                <a:solidFill>
                  <a:srgbClr val="161616"/>
                </a:solidFill>
                <a:latin typeface="Marianne"/>
              </a:rPr>
              <a:t>Intégrale éditée : texte complet, corrigé et lisible</a:t>
            </a:r>
          </a:p>
          <a:p>
            <a:pPr algn="l">
              <a:lnSpc>
                <a:spcPct val="115000"/>
              </a:lnSpc>
            </a:pPr>
            <a:r>
              <a:rPr sz="1400" lang="fr-FR">
                <a:solidFill>
                  <a:srgbClr val="161616"/>
                </a:solidFill>
                <a:latin typeface="Marianne"/>
              </a:rPr>
              <a:t>• </a:t>
            </a:r>
            <a:r>
              <a:rPr sz="1400" b="0" lang="fr-FR">
                <a:solidFill>
                  <a:srgbClr val="161616"/>
                </a:solidFill>
                <a:latin typeface="Marianne"/>
              </a:rPr>
              <a:t>Verbatim : mot à mot, hésitations et sons inclus</a:t>
            </a:r>
          </a:p>
        </p:txBody>
      </p:sp>
      <p:sp>
        <p:nvSpPr>
          <p:cNvPr id="20" name="DSFR-box"/>
          <p:cNvSpPr/>
          <p:nvPr/>
        </p:nvSpPr>
        <p:spPr>
          <a:xfrm>
            <a:off x="548640" y="5115153"/>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206593"/>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IA utile pour brouillonner. Publication seulement après relecture humaine.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Bonus médias</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12364"/>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12364"/>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115153"/>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Étiquettes : chaque champ a un nom</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Sans étiquette, un champ est comme une boîte aux lettres sans nom - on ne sait pas ce qu’on glisse dedans.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qu’il faut vérifier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Chaque champ (texte, case, menu déroulant) a une étiquette visible à côté</a:t>
            </a:r>
          </a:p>
          <a:p>
            <a:pPr algn="l">
              <a:lnSpc>
                <a:spcPct val="125000"/>
              </a:lnSpc>
            </a:pPr>
            <a:r>
              <a:rPr sz="1400" lang="fr-FR">
                <a:solidFill>
                  <a:srgbClr val="161616"/>
                </a:solidFill>
                <a:latin typeface="Marianne"/>
              </a:rPr>
              <a:t>• </a:t>
            </a:r>
            <a:r>
              <a:rPr sz="1400" b="0" lang="fr-FR">
                <a:solidFill>
                  <a:srgbClr val="161616"/>
                </a:solidFill>
                <a:latin typeface="Marianne"/>
              </a:rPr>
              <a:t>L’étiquette reste affichée quand on commence à saisir - elle ne disparaît pas</a:t>
            </a:r>
          </a:p>
          <a:p>
            <a:pPr algn="l">
              <a:lnSpc>
                <a:spcPct val="125000"/>
              </a:lnSpc>
            </a:pPr>
            <a:r>
              <a:rPr sz="1400" lang="fr-FR">
                <a:solidFill>
                  <a:srgbClr val="161616"/>
                </a:solidFill>
                <a:latin typeface="Marianne"/>
              </a:rPr>
              <a:t>• </a:t>
            </a:r>
            <a:r>
              <a:rPr sz="1400" b="0" lang="fr-FR">
                <a:solidFill>
                  <a:srgbClr val="161616"/>
                </a:solidFill>
                <a:latin typeface="Marianne"/>
              </a:rPr>
              <a:t>Cliquer sur l’étiquette déplace le focus dans le champ (test rapide et décisif)</a:t>
            </a:r>
          </a:p>
          <a:p>
            <a:pPr algn="l">
              <a:lnSpc>
                <a:spcPct val="125000"/>
              </a:lnSpc>
            </a:pPr>
            <a:r>
              <a:rPr sz="1400" lang="fr-FR">
                <a:solidFill>
                  <a:srgbClr val="161616"/>
                </a:solidFill>
                <a:latin typeface="Marianne"/>
              </a:rPr>
              <a:t>• </a:t>
            </a:r>
            <a:r>
              <a:rPr sz="1400" b="0" lang="fr-FR">
                <a:solidFill>
                  <a:srgbClr val="161616"/>
                </a:solidFill>
                <a:latin typeface="Marianne"/>
              </a:rPr>
              <a:t>Le lecteur d’écran annonce l’étiquette ET le type de champ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Étiquettes de formulaire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Placeholder ≠ étiquette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109</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le placeholder ne remplace pas l’étiquette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Il disparaît dès qu’on commence à saisir - on oublie ce qu’on remplit</a:t>
            </a:r>
          </a:p>
          <a:p>
            <a:pPr algn="l">
              <a:lnSpc>
                <a:spcPct val="125000"/>
              </a:lnSpc>
            </a:pPr>
            <a:r>
              <a:rPr sz="1400" lang="fr-FR">
                <a:solidFill>
                  <a:srgbClr val="161616"/>
                </a:solidFill>
                <a:latin typeface="Marianne"/>
              </a:rPr>
              <a:t>• </a:t>
            </a:r>
            <a:r>
              <a:rPr sz="1400" b="0" lang="fr-FR">
                <a:solidFill>
                  <a:srgbClr val="161616"/>
                </a:solidFill>
                <a:latin typeface="Marianne"/>
              </a:rPr>
              <a:t>Son contraste est souvent trop faible pour passer le check 4</a:t>
            </a:r>
          </a:p>
          <a:p>
            <a:pPr algn="l">
              <a:lnSpc>
                <a:spcPct val="125000"/>
              </a:lnSpc>
            </a:pPr>
            <a:r>
              <a:rPr sz="1400" lang="fr-FR">
                <a:solidFill>
                  <a:srgbClr val="161616"/>
                </a:solidFill>
                <a:latin typeface="Marianne"/>
              </a:rPr>
              <a:t>• </a:t>
            </a:r>
            <a:r>
              <a:rPr sz="1400" b="0" lang="fr-FR">
                <a:solidFill>
                  <a:srgbClr val="161616"/>
                </a:solidFill>
                <a:latin typeface="Marianne"/>
              </a:rPr>
              <a:t>Il peut être annoncé comme exemple, pas comme nom fiable du champ</a:t>
            </a:r>
          </a:p>
          <a:p>
            <a:pPr algn="l">
              <a:lnSpc>
                <a:spcPct val="125000"/>
              </a:lnSpc>
            </a:pPr>
            <a:r>
              <a:rPr sz="1400" lang="fr-FR">
                <a:solidFill>
                  <a:srgbClr val="161616"/>
                </a:solidFill>
                <a:latin typeface="Marianne"/>
              </a:rPr>
              <a:t>• </a:t>
            </a:r>
            <a:r>
              <a:rPr sz="1400" b="0" lang="fr-FR">
                <a:solidFill>
                  <a:srgbClr val="161616"/>
                </a:solidFill>
                <a:latin typeface="Marianne"/>
              </a:rPr>
              <a:t>Il devient difficile d’y revenir dès que la saisie commence</a:t>
            </a:r>
          </a:p>
        </p:txBody>
      </p:sp>
      <p:sp>
        <p:nvSpPr>
          <p:cNvPr id="13" name="DSFR-box"/>
          <p:cNvSpPr/>
          <p:nvPr/>
        </p:nvSpPr>
        <p:spPr>
          <a:xfrm>
            <a:off x="548640" y="430682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Pattern recommandé</a:t>
            </a:r>
          </a:p>
        </p:txBody>
      </p:sp>
      <p:sp>
        <p:nvSpPr>
          <p:cNvPr id="15" name="DSFR-alert-success-body"/>
          <p:cNvSpPr txBox="1"/>
          <p:nvPr/>
        </p:nvSpPr>
        <p:spPr>
          <a:xfrm>
            <a:off x="704088" y="480974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Étiquette visible au-dessus du champ (ou à gauche)</a:t>
            </a:r>
          </a:p>
          <a:p>
            <a:pPr algn="l">
              <a:lnSpc>
                <a:spcPct val="150000"/>
              </a:lnSpc>
            </a:pPr>
            <a:r>
              <a:rPr sz="1400" lang="fr-FR">
                <a:solidFill>
                  <a:srgbClr val="161616"/>
                </a:solidFill>
                <a:latin typeface="Marianne"/>
              </a:rPr>
              <a:t>• </a:t>
            </a:r>
            <a:r>
              <a:rPr sz="1400" b="0" lang="fr-FR">
                <a:solidFill>
                  <a:srgbClr val="161616"/>
                </a:solidFill>
                <a:latin typeface="Marianne"/>
              </a:rPr>
              <a:t>Placeholder optionnel, pour donner un exemple de format : « JJ/MM/AAAA »</a:t>
            </a:r>
          </a:p>
          <a:p>
            <a:pPr algn="l">
              <a:lnSpc>
                <a:spcPct val="150000"/>
              </a:lnSpc>
            </a:pPr>
            <a:r>
              <a:rPr sz="1400" lang="fr-FR">
                <a:solidFill>
                  <a:srgbClr val="161616"/>
                </a:solidFill>
                <a:latin typeface="Marianne"/>
              </a:rPr>
              <a:t>• </a:t>
            </a:r>
            <a:r>
              <a:rPr sz="1400" b="0" lang="fr-FR">
                <a:solidFill>
                  <a:srgbClr val="161616"/>
                </a:solidFill>
                <a:latin typeface="Marianne"/>
              </a:rPr>
              <a:t>Ne pas mettre l’information essentielle uniquement dans le placeholder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Étiquettes de formulaire</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Groupes de champs : l’étiquette commune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110</a:t>
            </a:r>
            <a:endParaRPr lang="fr-FR" dirty="0"/>
          </a:p>
        </p:txBody>
      </p:sp>
      <p:sp>
        <p:nvSpPr>
          <p:cNvPr id="9" name="DSFR-box"/>
          <p:cNvSpPr/>
          <p:nvPr/>
        </p:nvSpPr>
        <p:spPr>
          <a:xfrm>
            <a:off x="548640" y="219456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2860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Quand regrouper :</a:t>
            </a:r>
          </a:p>
        </p:txBody>
      </p:sp>
      <p:sp>
        <p:nvSpPr>
          <p:cNvPr id="11" name="DSFR-callout-body"/>
          <p:cNvSpPr txBox="1"/>
          <p:nvPr/>
        </p:nvSpPr>
        <p:spPr>
          <a:xfrm>
            <a:off x="704088" y="269747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Plusieurs boutons radio qui répondent à la même question (« Civilité : M / Mme / autre »)</a:t>
            </a:r>
          </a:p>
          <a:p>
            <a:pPr algn="l">
              <a:lnSpc>
                <a:spcPct val="125000"/>
              </a:lnSpc>
            </a:pPr>
            <a:r>
              <a:rPr sz="1400" lang="fr-FR">
                <a:solidFill>
                  <a:srgbClr val="161616"/>
                </a:solidFill>
                <a:latin typeface="Marianne"/>
              </a:rPr>
              <a:t>• </a:t>
            </a:r>
            <a:r>
              <a:rPr sz="1400" b="0" lang="fr-FR">
                <a:solidFill>
                  <a:srgbClr val="161616"/>
                </a:solidFill>
                <a:latin typeface="Marianne"/>
              </a:rPr>
              <a:t>Plusieurs cases à cocher qui partagent un thème (« Jours travaillés »)</a:t>
            </a:r>
          </a:p>
          <a:p>
            <a:pPr algn="l">
              <a:lnSpc>
                <a:spcPct val="125000"/>
              </a:lnSpc>
            </a:pPr>
            <a:r>
              <a:rPr sz="1400" lang="fr-FR">
                <a:solidFill>
                  <a:srgbClr val="161616"/>
                </a:solidFill>
                <a:latin typeface="Marianne"/>
              </a:rPr>
              <a:t>• </a:t>
            </a:r>
            <a:r>
              <a:rPr sz="1400" b="0" lang="fr-FR">
                <a:solidFill>
                  <a:srgbClr val="161616"/>
                </a:solidFill>
                <a:latin typeface="Marianne"/>
              </a:rPr>
              <a:t>Adresse découpée en plusieurs champs (n°, rue, code postal, ville)</a:t>
            </a:r>
          </a:p>
        </p:txBody>
      </p:sp>
      <p:graphicFrame>
        <p:nvGraphicFramePr>
          <p:cNvPr id="12" name="Table 11"/>
          <p:cNvGraphicFramePr>
            <a:graphicFrameLocks noGrp="1"/>
          </p:cNvGraphicFramePr>
          <p:nvPr/>
        </p:nvGraphicFramePr>
        <p:xfrm>
          <a:off x="475488" y="4206240"/>
          <a:ext cx="11228832" cy="2331720"/>
        </p:xfrm>
        <a:graphic>
          <a:graphicData uri="http://schemas.openxmlformats.org/drawingml/2006/table">
            <a:tbl>
              <a:tblPr firstRow="1" bandRow="1">
                <a:tableStyleId>{5C22544A-7EE6-4342-B048-85BDC9FD1C3A}</a:tableStyleId>
              </a:tblPr>
              <a:tblGrid>
                <a:gridCol w="2926080"/>
                <a:gridCol w="4187952"/>
                <a:gridCol w="4114800"/>
              </a:tblGrid>
              <a:tr h="777240">
                <a:tc>
                  <a:txBody>
                    <a:bodyPr wrap="square" anchor="ctr" lIns="73152" rIns="73152"/>
                    <a:lstStyle/>
                    <a:p>
                      <a:pPr algn="l">
                        <a:lnSpc>
                          <a:spcPct val="125000"/>
                        </a:lnSpc>
                      </a:pPr>
                      <a:r>
                        <a:rPr sz="1400" b="1" i="0" lang="fr-FR">
                          <a:solidFill>
                            <a:srgbClr val="FFFFFF"/>
                          </a:solidFill>
                          <a:latin typeface="Marianne"/>
                        </a:rPr>
                        <a:t>Cas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Code vérifié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Verdict lecteur d’écran</a:t>
                      </a:r>
                    </a:p>
                  </a:txBody>
                  <a:tcPr marL="91440" marR="91440" marT="45720" marB="45720">
                    <a:solidFill>
                      <a:srgbClr val="000091"/>
                    </a:solidFill>
                  </a:tcPr>
                </a:tc>
              </a:tr>
              <a:tr h="777240">
                <a:tc>
                  <a:txBody>
                    <a:bodyPr wrap="square" anchor="ctr" lIns="73152" rIns="73152"/>
                    <a:lstStyle/>
                    <a:p>
                      <a:pPr algn="l">
                        <a:lnSpc>
                          <a:spcPct val="125000"/>
                        </a:lnSpc>
                      </a:pPr>
                      <a:r>
                        <a:rPr sz="1400" b="0" i="0" lang="fr-FR">
                          <a:solidFill>
                            <a:srgbClr val="161616"/>
                          </a:solidFill>
                          <a:latin typeface="Marianne"/>
                        </a:rPr>
                        <a:t>3 radios « Civilité » sans regroupement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Chaque radio a son label seul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 M, bouton radio » - question perdue</a:t>
                      </a:r>
                    </a:p>
                  </a:txBody>
                  <a:tcPr marL="91440" marR="91440" marT="45720" marB="45720">
                    <a:solidFill>
                      <a:srgbClr val="FFFFFF"/>
                    </a:solidFill>
                  </a:tcPr>
                </a:tc>
              </a:tr>
              <a:tr h="777240">
                <a:tc>
                  <a:txBody>
                    <a:bodyPr wrap="square" anchor="ctr" lIns="73152" rIns="73152"/>
                    <a:lstStyle/>
                    <a:p>
                      <a:pPr algn="l">
                        <a:lnSpc>
                          <a:spcPct val="125000"/>
                        </a:lnSpc>
                      </a:pPr>
                      <a:r>
                        <a:rPr sz="1400" b="0" i="0" lang="fr-FR">
                          <a:solidFill>
                            <a:srgbClr val="161616"/>
                          </a:solidFill>
                          <a:latin typeface="Marianne"/>
                        </a:rPr>
                        <a:t>3 radios dans un &lt;fieldset&gt; avec &lt;legend&gt;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&lt;fieldset&gt;&lt;legend&gt;Civilité&lt;/legend&gt;… &lt;input type="radio"&gt;…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 Civilité, M, bouton radio » - question claire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Étiquettes de formulaire</a:t>
            </a:r>
          </a:p>
        </p:txBody>
      </p:sp>
      <p:sp>
        <p:nvSpPr>
          <p:cNvPr id="8" name="DSFR-accent-decoratif" descr=""/>
          <p:cNvSpPr/>
          <p:nvPr/>
        </p:nvSpPr>
        <p:spPr>
          <a:xfrm>
            <a:off x="475488" y="219456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Champs obligatoires : prévenir puis guider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13. Champs obligatoires et erreurs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111</a:t>
            </a:r>
            <a:endParaRPr lang="fr-FR" dirty="0"/>
          </a:p>
        </p:txBody>
      </p:sp>
      <p:sp>
        <p:nvSpPr>
          <p:cNvPr id="9" name="DSFR-box"/>
          <p:cNvSpPr/>
          <p:nvPr/>
        </p:nvSpPr>
        <p:spPr>
          <a:xfrm>
            <a:off x="548640" y="17830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Test #13 = avant envoi + après soumission vide : l'obligation prévient, l'erreur guide.</a:t>
            </a:r>
          </a:p>
        </p:txBody>
      </p:sp>
      <p:sp>
        <p:nvSpPr>
          <p:cNvPr id="12" name="DSFR-box"/>
          <p:cNvSpPr/>
          <p:nvPr/>
        </p:nvSpPr>
        <p:spPr>
          <a:xfrm>
            <a:off x="548640" y="27477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8392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Avant soumission</a:t>
            </a:r>
          </a:p>
        </p:txBody>
      </p:sp>
      <p:sp>
        <p:nvSpPr>
          <p:cNvPr id="14" name="DSFR-callout-body"/>
          <p:cNvSpPr txBox="1"/>
          <p:nvPr/>
        </p:nvSpPr>
        <p:spPr>
          <a:xfrm>
            <a:off x="704088" y="32506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Obligation écrite : « obligatoire » ou règle « tous sauf téléphone »</a:t>
            </a:r>
          </a:p>
          <a:p>
            <a:pPr algn="l">
              <a:lnSpc>
                <a:spcPct val="125000"/>
              </a:lnSpc>
            </a:pPr>
            <a:r>
              <a:rPr sz="1400" lang="fr-FR">
                <a:solidFill>
                  <a:srgbClr val="161616"/>
                </a:solidFill>
                <a:latin typeface="Marianne"/>
              </a:rPr>
              <a:t>• </a:t>
            </a:r>
            <a:r>
              <a:rPr sz="1400" b="0" lang="fr-FR">
                <a:solidFill>
                  <a:srgbClr val="161616"/>
                </a:solidFill>
                <a:latin typeface="Marianne"/>
              </a:rPr>
              <a:t>Astérisque expliqué s'il est utilisé</a:t>
            </a:r>
          </a:p>
          <a:p>
            <a:pPr algn="l">
              <a:lnSpc>
                <a:spcPct val="125000"/>
              </a:lnSpc>
            </a:pPr>
            <a:r>
              <a:rPr sz="1400" lang="fr-FR">
                <a:solidFill>
                  <a:srgbClr val="161616"/>
                </a:solidFill>
                <a:latin typeface="Marianne"/>
              </a:rPr>
              <a:t>• </a:t>
            </a:r>
            <a:r>
              <a:rPr sz="1400" b="0" lang="fr-FR">
                <a:solidFill>
                  <a:srgbClr val="161616"/>
                </a:solidFill>
                <a:latin typeface="Marianne"/>
              </a:rPr>
              <a:t>Attribut required ou aria-required="true" présent</a:t>
            </a:r>
          </a:p>
        </p:txBody>
      </p:sp>
      <p:sp>
        <p:nvSpPr>
          <p:cNvPr id="16" name="DSFR-box"/>
          <p:cNvSpPr/>
          <p:nvPr/>
        </p:nvSpPr>
        <p:spPr>
          <a:xfrm>
            <a:off x="548640" y="4416552"/>
            <a:ext cx="11155680" cy="14516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50799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Après soumission</a:t>
            </a:r>
          </a:p>
        </p:txBody>
      </p:sp>
      <p:sp>
        <p:nvSpPr>
          <p:cNvPr id="18" name="DSFR-alert-info-body"/>
          <p:cNvSpPr txBox="1"/>
          <p:nvPr/>
        </p:nvSpPr>
        <p:spPr>
          <a:xfrm>
            <a:off x="704088" y="4919472"/>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Aucune erreur ne doit apparaître avant l'envoi</a:t>
            </a:r>
          </a:p>
          <a:p>
            <a:pPr algn="l">
              <a:lnSpc>
                <a:spcPct val="125000"/>
              </a:lnSpc>
            </a:pPr>
            <a:r>
              <a:rPr sz="1400" lang="fr-FR">
                <a:solidFill>
                  <a:srgbClr val="161616"/>
                </a:solidFill>
                <a:latin typeface="Marianne"/>
              </a:rPr>
              <a:t>• </a:t>
            </a:r>
            <a:r>
              <a:rPr sz="1400" b="0" lang="fr-FR">
                <a:solidFill>
                  <a:srgbClr val="161616"/>
                </a:solidFill>
                <a:latin typeface="Marianne"/>
              </a:rPr>
              <a:t>Message précis relié au champ, avec aria-invalid si erreur</a:t>
            </a:r>
          </a:p>
          <a:p>
            <a:pPr algn="l">
              <a:lnSpc>
                <a:spcPct val="125000"/>
              </a:lnSpc>
            </a:pPr>
            <a:r>
              <a:rPr sz="1400" lang="fr-FR">
                <a:solidFill>
                  <a:srgbClr val="161616"/>
                </a:solidFill>
                <a:latin typeface="Marianne"/>
              </a:rPr>
              <a:t>• </a:t>
            </a:r>
            <a:r>
              <a:rPr sz="1400" b="0" lang="fr-FR">
                <a:solidFill>
                  <a:srgbClr val="161616"/>
                </a:solidFill>
                <a:latin typeface="Marianne"/>
              </a:rPr>
              <a:t>Focus vers le récapitulatif ou le premier champ en erreur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Champs obligatoires et erreurs</a:t>
            </a:r>
          </a:p>
        </p:txBody>
      </p:sp>
      <p:sp>
        <p:nvSpPr>
          <p:cNvPr id="8" name="DSFR-accent-decoratif" descr=""/>
          <p:cNvSpPr/>
          <p:nvPr/>
        </p:nvSpPr>
        <p:spPr>
          <a:xfrm>
            <a:off x="475488" y="17830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7477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41655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 qu’on remonte dans la grille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Grille d’audit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112</a:t>
            </a:r>
            <a:endParaRPr lang="fr-FR" dirty="0"/>
          </a:p>
        </p:txBody>
      </p:sp>
      <p:graphicFrame>
        <p:nvGraphicFramePr>
          <p:cNvPr id="8" name="Table 7"/>
          <p:cNvGraphicFramePr>
            <a:graphicFrameLocks noGrp="1"/>
          </p:cNvGraphicFramePr>
          <p:nvPr/>
        </p:nvGraphicFramePr>
        <p:xfrm>
          <a:off x="475488" y="1965960"/>
          <a:ext cx="11228831" cy="3017520"/>
        </p:xfrm>
        <a:graphic>
          <a:graphicData uri="http://schemas.openxmlformats.org/drawingml/2006/table">
            <a:tbl>
              <a:tblPr firstRow="1" bandRow="1">
                <a:tableStyleId>{5C22544A-7EE6-4342-B048-85BDC9FD1C3A}</a:tableStyleId>
              </a:tblPr>
              <a:tblGrid>
                <a:gridCol w="1874519"/>
                <a:gridCol w="3840480"/>
                <a:gridCol w="5513832"/>
              </a:tblGrid>
              <a:tr h="502920">
                <a:tc>
                  <a:txBody>
                    <a:bodyPr wrap="square" anchor="ctr" lIns="73152" rIns="73152"/>
                    <a:lstStyle/>
                    <a:p>
                      <a:pPr algn="l">
                        <a:lnSpc>
                          <a:spcPct val="125000"/>
                        </a:lnSpc>
                      </a:pPr>
                      <a:r>
                        <a:rPr sz="1400" b="1" i="0" lang="fr-FR">
                          <a:solidFill>
                            <a:srgbClr val="FFFFFF"/>
                          </a:solidFill>
                          <a:latin typeface="Marianne"/>
                        </a:rPr>
                        <a:t>Champ</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Ce qu’il faut écrire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Exemple court</a:t>
                      </a:r>
                    </a:p>
                  </a:txBody>
                  <a:tcPr marL="91440" marR="91440" marT="45720" marB="45720">
                    <a:solidFill>
                      <a:srgbClr val="000091"/>
                    </a:solidFill>
                  </a:tcPr>
                </a:tc>
              </a:tr>
              <a:tr h="502920">
                <a:tc>
                  <a:txBody>
                    <a:bodyPr wrap="square" anchor="ctr" lIns="73152" rIns="73152"/>
                    <a:lstStyle/>
                    <a:p>
                      <a:pPr algn="l">
                        <a:lnSpc>
                          <a:spcPct val="125000"/>
                        </a:lnSpc>
                      </a:pPr>
                      <a:r>
                        <a:rPr sz="1400" b="0" i="0" lang="fr-FR">
                          <a:solidFill>
                            <a:srgbClr val="161616"/>
                          </a:solidFill>
                          <a:latin typeface="Marianne"/>
                        </a:rPr>
                        <a:t>Verdict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 NC ou NA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NC</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Marianne"/>
                        </a:rPr>
                        <a:t>Sévérité</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Bloquant, gênant, mineur ou info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Gênant</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Marianne"/>
                        </a:rPr>
                        <a:t>Constat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Ce que vous observez concrètement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Le lien d’évitement n’apparaît pas au focus.</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Marianne"/>
                        </a:rPr>
                        <a:t>Correctif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Ce que l’équipe doit corriger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Rendre le lien visible et cibler #contenu.</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Marianne"/>
                        </a:rPr>
                        <a:t>Preuve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URL, capture, sélecteur ou extrait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/actualites - premier appui sur Tab</a:t>
                      </a:r>
                    </a:p>
                  </a:txBody>
                  <a:tcPr marL="91440" marR="91440" marT="45720" marB="45720">
                    <a:solidFill>
                      <a:srgbClr val="FFFFFF"/>
                    </a:solidFill>
                  </a:tcPr>
                </a:tc>
              </a:tr>
            </a:tbl>
          </a:graphicData>
        </a:graphic>
      </p:graphicFrame>
      <p:sp>
        <p:nvSpPr>
          <p:cNvPr id="10" name="DSFR-box"/>
          <p:cNvSpPr/>
          <p:nvPr/>
        </p:nvSpPr>
        <p:spPr>
          <a:xfrm>
            <a:off x="548640" y="4983480"/>
            <a:ext cx="11155680" cy="117317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50749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Règle de travail</a:t>
            </a:r>
          </a:p>
        </p:txBody>
      </p:sp>
      <p:sp>
        <p:nvSpPr>
          <p:cNvPr id="12" name="DSFR-callout-body"/>
          <p:cNvSpPr txBox="1"/>
          <p:nvPr/>
        </p:nvSpPr>
        <p:spPr>
          <a:xfrm>
            <a:off x="704088" y="5486400"/>
            <a:ext cx="10908792" cy="57881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Un défaut sans preuve est difficile à traiter.</a:t>
            </a:r>
          </a:p>
          <a:p>
            <a:pPr algn="l">
              <a:lnSpc>
                <a:spcPct val="115000"/>
              </a:lnSpc>
            </a:pPr>
            <a:r>
              <a:rPr sz="1400" lang="fr-FR">
                <a:solidFill>
                  <a:srgbClr val="161616"/>
                </a:solidFill>
                <a:latin typeface="Marianne"/>
              </a:rPr>
              <a:t>• </a:t>
            </a:r>
            <a:r>
              <a:rPr sz="1400" b="0" lang="fr-FR">
                <a:solidFill>
                  <a:srgbClr val="161616"/>
                </a:solidFill>
                <a:latin typeface="Marianne"/>
              </a:rPr>
              <a:t>Une preuve sans sévérité est difficile à prioriser.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Grille</a:t>
            </a:r>
          </a:p>
        </p:txBody>
      </p:sp>
      <p:sp>
        <p:nvSpPr>
          <p:cNvPr id="9" name="DSFR-accent-decoratif" descr=""/>
          <p:cNvSpPr/>
          <p:nvPr/>
        </p:nvSpPr>
        <p:spPr>
          <a:xfrm>
            <a:off x="475488" y="4983480"/>
            <a:ext cx="73152" cy="117317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Bonus site web : liens et PDF à repérer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Bonus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113</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Pendant l'audit, ces points ne remplacent pas les 13 checks. Mais si vous les voyez, notez-les : ils améliorent vraiment l'expérience utilisateur.</a:t>
            </a:r>
          </a:p>
        </p:txBody>
      </p:sp>
      <p:sp>
        <p:nvSpPr>
          <p:cNvPr id="12" name="DSFR-box"/>
          <p:cNvSpPr/>
          <p:nvPr/>
        </p:nvSpPr>
        <p:spPr>
          <a:xfrm>
            <a:off x="548640" y="318394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Liens</a:t>
            </a:r>
          </a:p>
        </p:txBody>
      </p:sp>
      <p:sp>
        <p:nvSpPr>
          <p:cNvPr id="14" name="DSFR-callout-body"/>
          <p:cNvSpPr txBox="1"/>
          <p:nvPr/>
        </p:nvSpPr>
        <p:spPr>
          <a:xfrm>
            <a:off x="704088" y="3686860"/>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Éviter les pages saturées de liens sans hiérarchie</a:t>
            </a:r>
          </a:p>
          <a:p>
            <a:pPr algn="l">
              <a:lnSpc>
                <a:spcPct val="120000"/>
              </a:lnSpc>
            </a:pPr>
            <a:r>
              <a:rPr sz="1400" lang="fr-FR">
                <a:solidFill>
                  <a:srgbClr val="161616"/>
                </a:solidFill>
                <a:latin typeface="Marianne"/>
              </a:rPr>
              <a:t>• </a:t>
            </a:r>
            <a:r>
              <a:rPr sz="1400" b="0" lang="fr-FR">
                <a:solidFill>
                  <a:srgbClr val="161616"/>
                </a:solidFill>
                <a:latin typeface="Marianne"/>
              </a:rPr>
              <a:t>Libellé explicite : « programme de l'exposition photo »</a:t>
            </a:r>
          </a:p>
          <a:p>
            <a:pPr algn="l">
              <a:lnSpc>
                <a:spcPct val="120000"/>
              </a:lnSpc>
            </a:pPr>
            <a:r>
              <a:rPr sz="1400" lang="fr-FR">
                <a:solidFill>
                  <a:srgbClr val="161616"/>
                </a:solidFill>
                <a:latin typeface="Marianne"/>
              </a:rPr>
              <a:t>• </a:t>
            </a:r>
            <a:r>
              <a:rPr sz="1400" b="0" lang="fr-FR">
                <a:solidFill>
                  <a:srgbClr val="161616"/>
                </a:solidFill>
                <a:latin typeface="Marianne"/>
              </a:rPr>
              <a:t>Éviter « cliquez ici », « en savoir plus », « programme » seul</a:t>
            </a:r>
          </a:p>
          <a:p>
            <a:pPr algn="l">
              <a:lnSpc>
                <a:spcPct val="120000"/>
              </a:lnSpc>
            </a:pPr>
            <a:r>
              <a:rPr sz="1400" lang="fr-FR">
                <a:solidFill>
                  <a:srgbClr val="161616"/>
                </a:solidFill>
                <a:latin typeface="Marianne"/>
              </a:rPr>
              <a:t>• </a:t>
            </a:r>
            <a:r>
              <a:rPr sz="1400" b="0" lang="fr-FR">
                <a:solidFill>
                  <a:srgbClr val="161616"/>
                </a:solidFill>
                <a:latin typeface="Marianne"/>
              </a:rPr>
              <a:t>Téléchargement : indiquer type et poids du fichier</a:t>
            </a:r>
          </a:p>
        </p:txBody>
      </p:sp>
      <p:sp>
        <p:nvSpPr>
          <p:cNvPr id="16" name="DSFR-box"/>
          <p:cNvSpPr/>
          <p:nvPr/>
        </p:nvSpPr>
        <p:spPr>
          <a:xfrm>
            <a:off x="6313931" y="3183940"/>
            <a:ext cx="5390388" cy="234452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Documents PDF</a:t>
            </a:r>
          </a:p>
        </p:txBody>
      </p:sp>
      <p:sp>
        <p:nvSpPr>
          <p:cNvPr id="18" name="DSFR-alert-info-body"/>
          <p:cNvSpPr txBox="1"/>
          <p:nvPr/>
        </p:nvSpPr>
        <p:spPr>
          <a:xfrm>
            <a:off x="6469379" y="3686860"/>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Texte sélectionnable : pas de PDF image ou scanné non navigable</a:t>
            </a:r>
          </a:p>
          <a:p>
            <a:pPr algn="l">
              <a:lnSpc>
                <a:spcPct val="120000"/>
              </a:lnSpc>
            </a:pPr>
            <a:r>
              <a:rPr sz="1400" lang="fr-FR">
                <a:solidFill>
                  <a:srgbClr val="161616"/>
                </a:solidFill>
                <a:latin typeface="Marianne"/>
              </a:rPr>
              <a:t>• </a:t>
            </a:r>
            <a:r>
              <a:rPr sz="1400" b="0" lang="fr-FR">
                <a:solidFill>
                  <a:srgbClr val="161616"/>
                </a:solidFill>
                <a:latin typeface="Marianne"/>
              </a:rPr>
              <a:t>Structure : titres, sommaire et liens internes si le document est long</a:t>
            </a:r>
          </a:p>
          <a:p>
            <a:pPr algn="l">
              <a:lnSpc>
                <a:spcPct val="120000"/>
              </a:lnSpc>
            </a:pPr>
            <a:r>
              <a:rPr sz="1400" lang="fr-FR">
                <a:solidFill>
                  <a:srgbClr val="161616"/>
                </a:solidFill>
                <a:latin typeface="Marianne"/>
              </a:rPr>
              <a:t>• </a:t>
            </a:r>
            <a:r>
              <a:rPr sz="1400" b="0" lang="fr-FR">
                <a:solidFill>
                  <a:srgbClr val="161616"/>
                </a:solidFill>
                <a:latin typeface="Marianne"/>
              </a:rPr>
              <a:t>Images avec texte alternatif</a:t>
            </a:r>
          </a:p>
          <a:p>
            <a:pPr algn="l">
              <a:lnSpc>
                <a:spcPct val="120000"/>
              </a:lnSpc>
            </a:pPr>
            <a:r>
              <a:rPr sz="1400" lang="fr-FR">
                <a:solidFill>
                  <a:srgbClr val="161616"/>
                </a:solidFill>
                <a:latin typeface="Marianne"/>
              </a:rPr>
              <a:t>• </a:t>
            </a:r>
            <a:r>
              <a:rPr sz="1400" b="0" lang="fr-FR">
                <a:solidFill>
                  <a:srgbClr val="161616"/>
                </a:solidFill>
                <a:latin typeface="Marianne"/>
              </a:rPr>
              <a:t>Si possible : proposer aussi un format éditable ou OpenDocument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Bonus web</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8394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8394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Votre mission : audit en binôme (30 min)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3. points de contrôle rapides | Mission finale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114</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 site d’exercice contient 13 pages : 1 page correspond à 1 point de contrôle.</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Choisissez quelques points avec votre binôme : vous n’avez pas à tout couvrir</a:t>
            </a:r>
          </a:p>
          <a:p>
            <a:pPr algn="l">
              <a:lnSpc>
                <a:spcPct val="125000"/>
              </a:lnSpc>
            </a:pPr>
            <a:r>
              <a:rPr sz="1400" lang="fr-FR">
                <a:solidFill>
                  <a:srgbClr val="161616"/>
                </a:solidFill>
                <a:latin typeface="Marianne"/>
              </a:rPr>
              <a:t>• </a:t>
            </a:r>
            <a:r>
              <a:rPr sz="1400" b="0" lang="fr-FR">
                <a:solidFill>
                  <a:srgbClr val="161616"/>
                </a:solidFill>
                <a:latin typeface="Marianne"/>
              </a:rPr>
              <a:t>Une seule NC prouvée suffit à invalider le critère</a:t>
            </a:r>
          </a:p>
          <a:p>
            <a:pPr algn="l">
              <a:lnSpc>
                <a:spcPct val="125000"/>
              </a:lnSpc>
            </a:pPr>
            <a:r>
              <a:rPr sz="1400" lang="fr-FR">
                <a:solidFill>
                  <a:srgbClr val="161616"/>
                </a:solidFill>
                <a:latin typeface="Marianne"/>
              </a:rPr>
              <a:t>• </a:t>
            </a:r>
            <a:r>
              <a:rPr sz="1400" b="0" lang="fr-FR">
                <a:solidFill>
                  <a:srgbClr val="161616"/>
                </a:solidFill>
                <a:latin typeface="Marianne"/>
              </a:rPr>
              <a:t>Certains binômes commencent au début, d’autres par la fin</a:t>
            </a:r>
          </a:p>
          <a:p>
            <a:pPr algn="l">
              <a:lnSpc>
                <a:spcPct val="125000"/>
              </a:lnSpc>
            </a:pPr>
            <a:r>
              <a:rPr sz="1400" lang="fr-FR">
                <a:solidFill>
                  <a:srgbClr val="161616"/>
                </a:solidFill>
                <a:latin typeface="Marianne"/>
              </a:rPr>
              <a:t>• </a:t>
            </a:r>
            <a:r>
              <a:rPr sz="1400" b="0" lang="fr-FR">
                <a:solidFill>
                  <a:srgbClr val="161616"/>
                </a:solidFill>
                <a:latin typeface="Marianne"/>
              </a:rPr>
              <a:t>Bonus si rencontré : lien ou PDF problématique à noter dans la grille</a:t>
            </a:r>
          </a:p>
        </p:txBody>
      </p:sp>
      <p:sp>
        <p:nvSpPr>
          <p:cNvPr id="12" name="DSFR-stepper-pastille-1"/>
          <p:cNvSpPr/>
          <p:nvPr/>
        </p:nvSpPr>
        <p:spPr>
          <a:xfrm>
            <a:off x="1445894"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4" name="DSFR-stepper-texte-1"/>
          <p:cNvSpPr txBox="1"/>
          <p:nvPr/>
        </p:nvSpPr>
        <p:spPr>
          <a:xfrm>
            <a:off x="475488"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Choisir vos points</a:t>
            </a:r>
          </a:p>
        </p:txBody>
      </p:sp>
      <p:sp>
        <p:nvSpPr>
          <p:cNvPr id="15" name="DSFR-stepper-pastille-2"/>
          <p:cNvSpPr/>
          <p:nvPr/>
        </p:nvSpPr>
        <p:spPr>
          <a:xfrm>
            <a:off x="4328541"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7" name="DSFR-stepper-texte-2"/>
          <p:cNvSpPr txBox="1"/>
          <p:nvPr/>
        </p:nvSpPr>
        <p:spPr>
          <a:xfrm>
            <a:off x="3358134"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Prouver 1 NC</a:t>
            </a:r>
          </a:p>
        </p:txBody>
      </p:sp>
      <p:sp>
        <p:nvSpPr>
          <p:cNvPr id="18" name="DSFR-stepper-pastille-3"/>
          <p:cNvSpPr/>
          <p:nvPr/>
        </p:nvSpPr>
        <p:spPr>
          <a:xfrm>
            <a:off x="7211186"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20" name="DSFR-stepper-texte-3"/>
          <p:cNvSpPr txBox="1"/>
          <p:nvPr/>
        </p:nvSpPr>
        <p:spPr>
          <a:xfrm>
            <a:off x="6240779"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Début / fin</a:t>
            </a:r>
          </a:p>
        </p:txBody>
      </p:sp>
      <p:sp>
        <p:nvSpPr>
          <p:cNvPr id="21" name="DSFR-stepper-pastille-4"/>
          <p:cNvSpPr/>
          <p:nvPr/>
        </p:nvSpPr>
        <p:spPr>
          <a:xfrm>
            <a:off x="10093832"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22" name="DSFR-stepper-texte-4"/>
          <p:cNvSpPr txBox="1"/>
          <p:nvPr/>
        </p:nvSpPr>
        <p:spPr>
          <a:xfrm>
            <a:off x="9123426"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Restitution orale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points de contrôle rapides - Mission</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stepper-connecteur-1-decoratif" descr=""/>
          <p:cNvSpPr/>
          <p:nvPr/>
        </p:nvSpPr>
        <p:spPr>
          <a:xfrm>
            <a:off x="2085975"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stepper-connecteur-2-decoratif" descr=""/>
          <p:cNvSpPr/>
          <p:nvPr/>
        </p:nvSpPr>
        <p:spPr>
          <a:xfrm>
            <a:off x="4968621"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stepper-connecteur-3-decoratif" descr=""/>
          <p:cNvSpPr/>
          <p:nvPr/>
        </p:nvSpPr>
        <p:spPr>
          <a:xfrm>
            <a:off x="7851267"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Marianne"/>
              </a:rPr>
              <a:t>4. Accessibilité sur les réseaux sociaux</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Marianne"/>
              </a:rPr>
              <a:t>Formation 102638 / Module 4</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Pourquoi l'accessibilité sur les réseaux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116</a:t>
            </a:r>
            <a:endParaRPr lang="fr-FR" dirty="0"/>
          </a:p>
        </p:txBody>
      </p:sp>
      <p:sp>
        <p:nvSpPr>
          <p:cNvPr id="9" name="DSFR-box"/>
          <p:cNvSpPr/>
          <p:nvPr/>
        </p:nvSpPr>
        <p:spPr>
          <a:xfrm>
            <a:off x="548640" y="1783080"/>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Les réseaux sociaux sont devenus un canal officiel de communication publique - et donc soumis aux mêmes obligations d'accessibilité.</a:t>
            </a:r>
          </a:p>
        </p:txBody>
      </p:sp>
      <p:sp>
        <p:nvSpPr>
          <p:cNvPr id="12" name="DSFR-box"/>
          <p:cNvSpPr/>
          <p:nvPr/>
        </p:nvSpPr>
        <p:spPr>
          <a:xfrm>
            <a:off x="548640" y="3120847"/>
            <a:ext cx="5390388" cy="296539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2287"/>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Votre audience est plus large que vous ne le pensez</a:t>
            </a:r>
          </a:p>
        </p:txBody>
      </p:sp>
      <p:sp>
        <p:nvSpPr>
          <p:cNvPr id="14" name="DSFR-callout-body"/>
          <p:cNvSpPr txBox="1"/>
          <p:nvPr/>
        </p:nvSpPr>
        <p:spPr>
          <a:xfrm>
            <a:off x="704088" y="3783787"/>
            <a:ext cx="5143500" cy="2211019"/>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12 millions de personnes en situation de handicap en France (INSEE 2021)</a:t>
            </a:r>
          </a:p>
          <a:p>
            <a:pPr algn="l">
              <a:lnSpc>
                <a:spcPct val="120000"/>
              </a:lnSpc>
            </a:pPr>
            <a:r>
              <a:rPr sz="1400" lang="fr-FR">
                <a:solidFill>
                  <a:srgbClr val="161616"/>
                </a:solidFill>
                <a:latin typeface="Marianne"/>
              </a:rPr>
              <a:t>• </a:t>
            </a:r>
            <a:r>
              <a:rPr sz="1400" b="0" lang="fr-FR">
                <a:solidFill>
                  <a:srgbClr val="161616"/>
                </a:solidFill>
                <a:latin typeface="Marianne"/>
              </a:rPr>
              <a:t>Utilisateurs en contexte défavorable : faible luminosité, connexion lente, bruit</a:t>
            </a:r>
          </a:p>
          <a:p>
            <a:pPr algn="l">
              <a:lnSpc>
                <a:spcPct val="120000"/>
              </a:lnSpc>
            </a:pPr>
            <a:r>
              <a:rPr sz="1400" lang="fr-FR">
                <a:solidFill>
                  <a:srgbClr val="161616"/>
                </a:solidFill>
                <a:latin typeface="Marianne"/>
              </a:rPr>
              <a:t>• </a:t>
            </a:r>
            <a:r>
              <a:rPr sz="1400" b="0" lang="fr-FR">
                <a:solidFill>
                  <a:srgbClr val="161616"/>
                </a:solidFill>
                <a:latin typeface="Marianne"/>
              </a:rPr>
              <a:t>Moteurs de recherche et outils d'IA qui analysent vos contenus</a:t>
            </a:r>
          </a:p>
          <a:p>
            <a:pPr algn="l">
              <a:lnSpc>
                <a:spcPct val="120000"/>
              </a:lnSpc>
            </a:pPr>
            <a:r>
              <a:rPr sz="1400" lang="fr-FR">
                <a:solidFill>
                  <a:srgbClr val="161616"/>
                </a:solidFill>
                <a:latin typeface="Marianne"/>
              </a:rPr>
              <a:t>• </a:t>
            </a:r>
            <a:r>
              <a:rPr sz="1400" b="0" lang="fr-FR">
                <a:solidFill>
                  <a:srgbClr val="161616"/>
                </a:solidFill>
                <a:latin typeface="Marianne"/>
              </a:rPr>
              <a:t>Collègues et citoyens qui lisent sans images activées</a:t>
            </a:r>
          </a:p>
        </p:txBody>
      </p:sp>
      <p:sp>
        <p:nvSpPr>
          <p:cNvPr id="16" name="DSFR-box"/>
          <p:cNvSpPr/>
          <p:nvPr/>
        </p:nvSpPr>
        <p:spPr>
          <a:xfrm>
            <a:off x="6313931" y="3120847"/>
            <a:ext cx="5390388" cy="25749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212287"/>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4 gestes, 2 minutes par post</a:t>
            </a:r>
          </a:p>
        </p:txBody>
      </p:sp>
      <p:sp>
        <p:nvSpPr>
          <p:cNvPr id="18" name="DSFR-alert-success-body"/>
          <p:cNvSpPr txBox="1"/>
          <p:nvPr/>
        </p:nvSpPr>
        <p:spPr>
          <a:xfrm>
            <a:off x="6469379" y="3623767"/>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Geste 1 - Texte alternatif : décrire chaque image en 1 phrase</a:t>
            </a:r>
          </a:p>
          <a:p>
            <a:pPr algn="l">
              <a:lnSpc>
                <a:spcPct val="120000"/>
              </a:lnSpc>
            </a:pPr>
            <a:r>
              <a:rPr sz="1400" lang="fr-FR">
                <a:solidFill>
                  <a:srgbClr val="161616"/>
                </a:solidFill>
                <a:latin typeface="Marianne"/>
              </a:rPr>
              <a:t>• </a:t>
            </a:r>
            <a:r>
              <a:rPr sz="1400" b="0" lang="fr-FR">
                <a:solidFill>
                  <a:srgbClr val="161616"/>
                </a:solidFill>
                <a:latin typeface="Marianne"/>
              </a:rPr>
              <a:t>Geste 2 - Émojis : 1 ou 2 maximum, en fin de message</a:t>
            </a:r>
          </a:p>
          <a:p>
            <a:pPr algn="l">
              <a:lnSpc>
                <a:spcPct val="120000"/>
              </a:lnSpc>
            </a:pPr>
            <a:r>
              <a:rPr sz="1400" lang="fr-FR">
                <a:solidFill>
                  <a:srgbClr val="161616"/>
                </a:solidFill>
                <a:latin typeface="Marianne"/>
              </a:rPr>
              <a:t>• </a:t>
            </a:r>
            <a:r>
              <a:rPr sz="1400" b="0" lang="fr-FR">
                <a:solidFill>
                  <a:srgbClr val="161616"/>
                </a:solidFill>
                <a:latin typeface="Marianne"/>
              </a:rPr>
              <a:t>Geste 3 - Hashtags : CamelCase et regroupés en fin de post</a:t>
            </a:r>
          </a:p>
          <a:p>
            <a:pPr algn="l">
              <a:lnSpc>
                <a:spcPct val="120000"/>
              </a:lnSpc>
            </a:pPr>
            <a:r>
              <a:rPr sz="1400" lang="fr-FR">
                <a:solidFill>
                  <a:srgbClr val="161616"/>
                </a:solidFill>
                <a:latin typeface="Marianne"/>
              </a:rPr>
              <a:t>• </a:t>
            </a:r>
            <a:r>
              <a:rPr sz="1400" b="0" lang="fr-FR">
                <a:solidFill>
                  <a:srgbClr val="161616"/>
                </a:solidFill>
                <a:latin typeface="Marianne"/>
              </a:rPr>
              <a:t>Geste 4 - Texte natif : jamais de faux gras ou faux italique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Module 4</a:t>
            </a:r>
          </a:p>
        </p:txBody>
      </p:sp>
      <p:sp>
        <p:nvSpPr>
          <p:cNvPr id="8" name="DSFR-accent-decoratif" descr=""/>
          <p:cNvSpPr/>
          <p:nvPr/>
        </p:nvSpPr>
        <p:spPr>
          <a:xfrm>
            <a:off x="475488" y="1783080"/>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0847"/>
            <a:ext cx="73152" cy="296539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0847"/>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Regardez ce tweet - qu'est-ce qui ne va pas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117</a:t>
            </a:r>
            <a:endParaRPr lang="fr-FR" dirty="0"/>
          </a:p>
        </p:txBody>
      </p:sp>
      <p:sp>
        <p:nvSpPr>
          <p:cNvPr id="9" name="DSFR-box"/>
          <p:cNvSpPr/>
          <p:nvPr/>
        </p:nvSpPr>
        <p:spPr>
          <a:xfrm>
            <a:off x="548640" y="210312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Tweet publié par l'OMS en 2020</a:t>
            </a:r>
          </a:p>
        </p:txBody>
      </p:sp>
      <p:sp>
        <p:nvSpPr>
          <p:cNvPr id="11" name="DSFR-callout-body"/>
          <p:cNvSpPr txBox="1"/>
          <p:nvPr/>
        </p:nvSpPr>
        <p:spPr>
          <a:xfrm>
            <a:off x="704088" y="2606039"/>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Protégez-vous de la #COVID19 :
Lavez-vous les 👐 avec 1 désinfectant à base d'alcool, du 🧼 &amp; de l'💦.
Quand vous toussez ou 🤧 couvrez votre 👄 &amp; le 👃🏻 dans le pli du coude ou mouchoir.
Évitez de toucher les 👀, le 👃 &amp; la 👄.</a:t>
            </a:r>
          </a:p>
        </p:txBody>
      </p:sp>
      <p:sp>
        <p:nvSpPr>
          <p:cNvPr id="13" name="DSFR-box"/>
          <p:cNvSpPr/>
          <p:nvPr/>
        </p:nvSpPr>
        <p:spPr>
          <a:xfrm>
            <a:off x="6313931" y="210312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info-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En binôme - 2 minutes</a:t>
            </a:r>
          </a:p>
        </p:txBody>
      </p:sp>
      <p:sp>
        <p:nvSpPr>
          <p:cNvPr id="15" name="DSFR-alert-info-body"/>
          <p:cNvSpPr txBox="1"/>
          <p:nvPr/>
        </p:nvSpPr>
        <p:spPr>
          <a:xfrm>
            <a:off x="6469379" y="2606039"/>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Identifiez le maximum de problèmes d'accessibilité</a:t>
            </a:r>
          </a:p>
          <a:p>
            <a:pPr algn="l">
              <a:lnSpc>
                <a:spcPct val="150000"/>
              </a:lnSpc>
            </a:pPr>
            <a:r>
              <a:rPr sz="1400" lang="fr-FR">
                <a:solidFill>
                  <a:srgbClr val="161616"/>
                </a:solidFill>
                <a:latin typeface="Marianne"/>
              </a:rPr>
              <a:t>• </a:t>
            </a:r>
            <a:r>
              <a:rPr sz="1400" b="0" lang="fr-FR">
                <a:solidFill>
                  <a:srgbClr val="161616"/>
                </a:solidFill>
                <a:latin typeface="Marianne"/>
              </a:rPr>
              <a:t>Ne lisez pas le tweet à voix haute</a:t>
            </a:r>
          </a:p>
          <a:p>
            <a:pPr algn="l">
              <a:lnSpc>
                <a:spcPct val="150000"/>
              </a:lnSpc>
            </a:pPr>
            <a:r>
              <a:rPr sz="1400" lang="fr-FR">
                <a:solidFill>
                  <a:srgbClr val="161616"/>
                </a:solidFill>
                <a:latin typeface="Marianne"/>
              </a:rPr>
              <a:t>• </a:t>
            </a:r>
            <a:r>
              <a:rPr sz="1400" b="0" lang="fr-FR">
                <a:solidFill>
                  <a:srgbClr val="161616"/>
                </a:solidFill>
                <a:latin typeface="Marianne"/>
              </a:rPr>
              <a:t>Notez ce qui vous gêne ou vous surprend</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 que vous voyez ≠ ce qui est lu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118</a:t>
            </a:r>
            <a:endParaRPr lang="fr-FR" dirty="0"/>
          </a:p>
        </p:txBody>
      </p:sp>
      <p:sp>
        <p:nvSpPr>
          <p:cNvPr id="9" name="DSFR-box"/>
          <p:cNvSpPr/>
          <p:nvPr/>
        </p:nvSpPr>
        <p:spPr>
          <a:xfrm>
            <a:off x="548640" y="2103120"/>
            <a:ext cx="5390388"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vous voyez</a:t>
            </a:r>
          </a:p>
        </p:txBody>
      </p:sp>
      <p:sp>
        <p:nvSpPr>
          <p:cNvPr id="11" name="DSFR-callout-body"/>
          <p:cNvSpPr txBox="1"/>
          <p:nvPr/>
        </p:nvSpPr>
        <p:spPr>
          <a:xfrm>
            <a:off x="704088" y="2606039"/>
            <a:ext cx="5143500" cy="109728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Lavez-vous les 👐 avec du 🧼 &amp; de l'💦.</a:t>
            </a:r>
          </a:p>
          <a:p>
            <a:pPr algn="l">
              <a:lnSpc>
                <a:spcPct val="125000"/>
              </a:lnSpc>
            </a:pPr>
            <a:r>
              <a:rPr sz="1400" lang="fr-FR">
                <a:solidFill>
                  <a:srgbClr val="161616"/>
                </a:solidFill>
                <a:latin typeface="Marianne"/>
              </a:rPr>
              <a:t>• </a:t>
            </a:r>
            <a:r>
              <a:rPr sz="1400" b="0" lang="fr-FR">
                <a:solidFill>
                  <a:srgbClr val="161616"/>
                </a:solidFill>
                <a:latin typeface="Marianne"/>
              </a:rPr>
              <a:t>Quand vous toussez ou 🤧 couvrez votre 👄.</a:t>
            </a:r>
          </a:p>
          <a:p>
            <a:pPr algn="l">
              <a:lnSpc>
                <a:spcPct val="125000"/>
              </a:lnSpc>
            </a:pPr>
            <a:r>
              <a:rPr sz="1400" lang="fr-FR">
                <a:solidFill>
                  <a:srgbClr val="161616"/>
                </a:solidFill>
                <a:latin typeface="Marianne"/>
              </a:rPr>
              <a:t>• </a:t>
            </a:r>
            <a:r>
              <a:rPr sz="1400" b="0" lang="fr-FR">
                <a:solidFill>
                  <a:srgbClr val="161616"/>
                </a:solidFill>
                <a:latin typeface="Marianne"/>
              </a:rPr>
              <a:t>Évitez de toucher les 👀, le 👃 &amp; la 👄.</a:t>
            </a:r>
          </a:p>
        </p:txBody>
      </p:sp>
      <p:sp>
        <p:nvSpPr>
          <p:cNvPr id="13" name="DSFR-box"/>
          <p:cNvSpPr/>
          <p:nvPr/>
        </p:nvSpPr>
        <p:spPr>
          <a:xfrm>
            <a:off x="6313931" y="210312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NVDA lit à voix haute</a:t>
            </a:r>
          </a:p>
        </p:txBody>
      </p:sp>
      <p:sp>
        <p:nvSpPr>
          <p:cNvPr id="15" name="DSFR-alert-warning-body"/>
          <p:cNvSpPr txBox="1"/>
          <p:nvPr/>
        </p:nvSpPr>
        <p:spPr>
          <a:xfrm>
            <a:off x="6469379" y="2606039"/>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Lavez-vous les mains ouvertes avec du savon et éclaboussures de sueur.</a:t>
            </a:r>
          </a:p>
          <a:p>
            <a:pPr algn="l">
              <a:lnSpc>
                <a:spcPct val="150000"/>
              </a:lnSpc>
            </a:pPr>
            <a:r>
              <a:rPr sz="1400" lang="fr-FR">
                <a:solidFill>
                  <a:srgbClr val="161616"/>
                </a:solidFill>
                <a:latin typeface="Marianne"/>
              </a:rPr>
              <a:t>• </a:t>
            </a:r>
            <a:r>
              <a:rPr sz="1400" b="0" lang="fr-FR">
                <a:solidFill>
                  <a:srgbClr val="161616"/>
                </a:solidFill>
                <a:latin typeface="Marianne"/>
              </a:rPr>
              <a:t>Quand vous toussez ou visage qui éternue couvrez votre bouche.</a:t>
            </a:r>
          </a:p>
          <a:p>
            <a:pPr algn="l">
              <a:lnSpc>
                <a:spcPct val="150000"/>
              </a:lnSpc>
            </a:pPr>
            <a:r>
              <a:rPr sz="1400" lang="fr-FR">
                <a:solidFill>
                  <a:srgbClr val="161616"/>
                </a:solidFill>
                <a:latin typeface="Marianne"/>
              </a:rPr>
              <a:t>• </a:t>
            </a:r>
            <a:r>
              <a:rPr sz="1400" b="0" lang="fr-FR">
                <a:solidFill>
                  <a:srgbClr val="161616"/>
                </a:solidFill>
                <a:latin typeface="Marianne"/>
              </a:rPr>
              <a:t>Évitez de toucher les yeux grand ouverts, le nez et la bouche.</a:t>
            </a:r>
          </a:p>
        </p:txBody>
      </p:sp>
      <p:sp>
        <p:nvSpPr>
          <p:cNvPr id="17" name="DSFR-box"/>
          <p:cNvSpPr/>
          <p:nvPr/>
        </p:nvSpPr>
        <p:spPr>
          <a:xfrm>
            <a:off x="548640" y="479145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88289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Chaque émoji a un nom officiel lu intégralement. Il interrompt le flux de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79145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3 changements, 0 perte de sens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119</a:t>
            </a:r>
            <a:endParaRPr lang="fr-FR" dirty="0"/>
          </a:p>
        </p:txBody>
      </p:sp>
      <p:sp>
        <p:nvSpPr>
          <p:cNvPr id="9" name="DSFR-box"/>
          <p:cNvSpPr/>
          <p:nvPr/>
        </p:nvSpPr>
        <p:spPr>
          <a:xfrm>
            <a:off x="548640" y="192024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Version originale - problématique</a:t>
            </a:r>
          </a:p>
        </p:txBody>
      </p:sp>
      <p:sp>
        <p:nvSpPr>
          <p:cNvPr id="11" name="DSFR-alert-error-body"/>
          <p:cNvSpPr txBox="1"/>
          <p:nvPr/>
        </p:nvSpPr>
        <p:spPr>
          <a:xfrm>
            <a:off x="704088" y="2423160"/>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Lavez-vous les 👐 avec 1 désinfectant à base d'alcool, du 🧼 &amp; de l'💦.</a:t>
            </a:r>
          </a:p>
          <a:p>
            <a:pPr algn="l">
              <a:lnSpc>
                <a:spcPct val="150000"/>
              </a:lnSpc>
            </a:pPr>
            <a:r>
              <a:rPr sz="1400" lang="fr-FR">
                <a:solidFill>
                  <a:srgbClr val="161616"/>
                </a:solidFill>
                <a:latin typeface="Marianne"/>
              </a:rPr>
              <a:t>• </a:t>
            </a:r>
            <a:r>
              <a:rPr sz="1400" b="0" lang="fr-FR">
                <a:solidFill>
                  <a:srgbClr val="161616"/>
                </a:solidFill>
                <a:latin typeface="Marianne"/>
              </a:rPr>
              <a:t>Quand vous toussez ou 🤧 couvrez votre 👄 &amp; le 👃🏻.</a:t>
            </a:r>
          </a:p>
          <a:p>
            <a:pPr algn="l">
              <a:lnSpc>
                <a:spcPct val="150000"/>
              </a:lnSpc>
            </a:pPr>
            <a:r>
              <a:rPr sz="1400" lang="fr-FR">
                <a:solidFill>
                  <a:srgbClr val="161616"/>
                </a:solidFill>
                <a:latin typeface="Marianne"/>
              </a:rPr>
              <a:t>• </a:t>
            </a:r>
            <a:r>
              <a:rPr sz="1400" b="0" lang="fr-FR">
                <a:solidFill>
                  <a:srgbClr val="161616"/>
                </a:solidFill>
                <a:latin typeface="Marianne"/>
              </a:rPr>
              <a:t>Évitez de toucher les 👀, le 👃 &amp; la 👄.</a:t>
            </a:r>
          </a:p>
        </p:txBody>
      </p:sp>
      <p:sp>
        <p:nvSpPr>
          <p:cNvPr id="13" name="DSFR-box"/>
          <p:cNvSpPr/>
          <p:nvPr/>
        </p:nvSpPr>
        <p:spPr>
          <a:xfrm>
            <a:off x="6313931" y="192024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Version accessible</a:t>
            </a:r>
          </a:p>
        </p:txBody>
      </p:sp>
      <p:sp>
        <p:nvSpPr>
          <p:cNvPr id="15" name="DSFR-callout-body"/>
          <p:cNvSpPr txBox="1"/>
          <p:nvPr/>
        </p:nvSpPr>
        <p:spPr>
          <a:xfrm>
            <a:off x="6469379" y="242316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Protégez-vous du #COVID19 - trois gestes essentiels :</a:t>
            </a:r>
          </a:p>
          <a:p>
            <a:pPr algn="l">
              <a:lnSpc>
                <a:spcPct val="125000"/>
              </a:lnSpc>
            </a:pPr>
            <a:r>
              <a:rPr sz="1400" lang="fr-FR">
                <a:solidFill>
                  <a:srgbClr val="161616"/>
                </a:solidFill>
                <a:latin typeface="Marianne"/>
              </a:rPr>
              <a:t>• </a:t>
            </a:r>
            <a:r>
              <a:rPr sz="1400" b="0" lang="fr-FR">
                <a:solidFill>
                  <a:srgbClr val="161616"/>
                </a:solidFill>
                <a:latin typeface="Marianne"/>
              </a:rPr>
              <a:t>1. Lavez-vous régulièrement les mains avec du savon et de l'eau 🧼</a:t>
            </a:r>
          </a:p>
          <a:p>
            <a:pPr algn="l">
              <a:lnSpc>
                <a:spcPct val="125000"/>
              </a:lnSpc>
            </a:pPr>
            <a:r>
              <a:rPr sz="1400" lang="fr-FR">
                <a:solidFill>
                  <a:srgbClr val="161616"/>
                </a:solidFill>
                <a:latin typeface="Marianne"/>
              </a:rPr>
              <a:t>• </a:t>
            </a:r>
            <a:r>
              <a:rPr sz="1400" b="0" lang="fr-FR">
                <a:solidFill>
                  <a:srgbClr val="161616"/>
                </a:solidFill>
                <a:latin typeface="Marianne"/>
              </a:rPr>
              <a:t>2. Quand vous toussez, couvrez-vous avec le pli du coude</a:t>
            </a:r>
          </a:p>
          <a:p>
            <a:pPr algn="l">
              <a:lnSpc>
                <a:spcPct val="125000"/>
              </a:lnSpc>
            </a:pPr>
            <a:r>
              <a:rPr sz="1400" lang="fr-FR">
                <a:solidFill>
                  <a:srgbClr val="161616"/>
                </a:solidFill>
                <a:latin typeface="Marianne"/>
              </a:rPr>
              <a:t>• </a:t>
            </a:r>
            <a:r>
              <a:rPr sz="1400" b="0" lang="fr-FR">
                <a:solidFill>
                  <a:srgbClr val="161616"/>
                </a:solidFill>
                <a:latin typeface="Marianne"/>
              </a:rPr>
              <a:t>3. Évitez de toucher votre visage</a:t>
            </a:r>
          </a:p>
        </p:txBody>
      </p:sp>
      <p:sp>
        <p:nvSpPr>
          <p:cNvPr id="17" name="DSFR-box"/>
          <p:cNvSpPr/>
          <p:nvPr/>
        </p:nvSpPr>
        <p:spPr>
          <a:xfrm>
            <a:off x="548640" y="4809744"/>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lert-success-titre"/>
          <p:cNvSpPr txBox="1"/>
          <p:nvPr/>
        </p:nvSpPr>
        <p:spPr>
          <a:xfrm>
            <a:off x="704088" y="49011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Les 3 changements</a:t>
            </a:r>
          </a:p>
        </p:txBody>
      </p:sp>
      <p:sp>
        <p:nvSpPr>
          <p:cNvPr id="19" name="DSFR-alert-success-body"/>
          <p:cNvSpPr txBox="1"/>
          <p:nvPr/>
        </p:nvSpPr>
        <p:spPr>
          <a:xfrm>
            <a:off x="704088" y="5312664"/>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Émojis réduits à 1, placé en fin de phrase - le message tient sans eux</a:t>
            </a:r>
          </a:p>
          <a:p>
            <a:pPr algn="l">
              <a:lnSpc>
                <a:spcPct val="115000"/>
              </a:lnSpc>
            </a:pPr>
            <a:r>
              <a:rPr sz="1400" lang="fr-FR">
                <a:solidFill>
                  <a:srgbClr val="161616"/>
                </a:solidFill>
                <a:latin typeface="Marianne"/>
              </a:rPr>
              <a:t>• </a:t>
            </a:r>
            <a:r>
              <a:rPr sz="1400" b="0" lang="fr-FR">
                <a:solidFill>
                  <a:srgbClr val="161616"/>
                </a:solidFill>
                <a:latin typeface="Marianne"/>
              </a:rPr>
              <a:t>Structure numérotée - navigation facile pour tous les utilisateurs</a:t>
            </a:r>
          </a:p>
          <a:p>
            <a:pPr algn="l">
              <a:lnSpc>
                <a:spcPct val="115000"/>
              </a:lnSpc>
            </a:pPr>
            <a:r>
              <a:rPr sz="1400" lang="fr-FR">
                <a:solidFill>
                  <a:srgbClr val="161616"/>
                </a:solidFill>
                <a:latin typeface="Marianne"/>
              </a:rPr>
              <a:t>• </a:t>
            </a:r>
            <a:r>
              <a:rPr sz="1400" b="0" lang="fr-FR">
                <a:solidFill>
                  <a:srgbClr val="161616"/>
                </a:solidFill>
                <a:latin typeface="Marianne"/>
              </a:rPr>
              <a:t>Hashtag conservé mais seul, séparé du texte informatif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92024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2024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809744"/>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Démonstration NVDA - le lecteur d'écran en direct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Démonstration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120</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Ouvrir le post problématique préparé (avec émojis en série)</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Activer NVDA : Ctrl+Alt+N - une voix démarre</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Naviguer sur le texte : flèches ou Tab</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Écouter la restitution - ne pas regarder l'écran</a:t>
            </a:r>
          </a:p>
        </p:txBody>
      </p:sp>
      <p:sp>
        <p:nvSpPr>
          <p:cNvPr id="20" name="DSFR-box"/>
          <p:cNvSpPr/>
          <p:nvPr/>
        </p:nvSpPr>
        <p:spPr>
          <a:xfrm>
            <a:off x="548640" y="416052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5195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 les stagiaires pendant la démo</a:t>
            </a:r>
          </a:p>
        </p:txBody>
      </p:sp>
      <p:sp>
        <p:nvSpPr>
          <p:cNvPr id="22" name="DSFR-alert-info-body"/>
          <p:cNvSpPr txBox="1"/>
          <p:nvPr/>
        </p:nvSpPr>
        <p:spPr>
          <a:xfrm>
            <a:off x="704088" y="466344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Fermez les yeux ou regardez ailleurs - écoutez uniquement</a:t>
            </a:r>
          </a:p>
          <a:p>
            <a:pPr algn="l">
              <a:lnSpc>
                <a:spcPct val="150000"/>
              </a:lnSpc>
            </a:pPr>
            <a:r>
              <a:rPr sz="1400" lang="fr-FR">
                <a:solidFill>
                  <a:srgbClr val="161616"/>
                </a:solidFill>
                <a:latin typeface="Marianne"/>
              </a:rPr>
              <a:t>• </a:t>
            </a:r>
            <a:r>
              <a:rPr sz="1400" b="0" lang="fr-FR">
                <a:solidFill>
                  <a:srgbClr val="161616"/>
                </a:solidFill>
                <a:latin typeface="Marianne"/>
              </a:rPr>
              <a:t>Notez le premier mot qui vous vient à l'écoute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6052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4 réflexes, puis une checklist complète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Réflexes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121</a:t>
            </a:r>
            <a:endParaRPr lang="fr-FR" dirty="0"/>
          </a:p>
        </p:txBody>
      </p:sp>
      <p:sp>
        <p:nvSpPr>
          <p:cNvPr id="9" name="DSFR-box"/>
          <p:cNvSpPr/>
          <p:nvPr/>
        </p:nvSpPr>
        <p:spPr>
          <a:xfrm>
            <a:off x="548640"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Texte alternatif</a:t>
            </a:r>
          </a:p>
        </p:txBody>
      </p:sp>
      <p:sp>
        <p:nvSpPr>
          <p:cNvPr id="12" name="DSFR-card-contenu"/>
          <p:cNvSpPr txBox="1"/>
          <p:nvPr/>
        </p:nvSpPr>
        <p:spPr>
          <a:xfrm>
            <a:off x="704088" y="3246120"/>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Décrire chaque image en 1 à 2 phrases</a:t>
            </a:r>
          </a:p>
          <a:p>
            <a:pPr algn="l">
              <a:lnSpc>
                <a:spcPct val="150000"/>
              </a:lnSpc>
            </a:pPr>
            <a:r>
              <a:rPr sz="1400" lang="fr-FR">
                <a:solidFill>
                  <a:srgbClr val="161616"/>
                </a:solidFill>
                <a:latin typeface="Marianne"/>
              </a:rPr>
              <a:t>• </a:t>
            </a:r>
            <a:r>
              <a:rPr sz="1400" b="0" lang="fr-FR">
                <a:solidFill>
                  <a:srgbClr val="161616"/>
                </a:solidFill>
                <a:latin typeface="Marianne"/>
              </a:rPr>
              <a:t>Mentionner « Image décorative » si elle ne porte pas de sens</a:t>
            </a:r>
          </a:p>
        </p:txBody>
      </p:sp>
      <p:sp>
        <p:nvSpPr>
          <p:cNvPr id="14" name="DSFR-box"/>
          <p:cNvSpPr/>
          <p:nvPr/>
        </p:nvSpPr>
        <p:spPr>
          <a:xfrm>
            <a:off x="6313931"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Émojis sobres</a:t>
            </a:r>
          </a:p>
        </p:txBody>
      </p:sp>
      <p:sp>
        <p:nvSpPr>
          <p:cNvPr id="17" name="DSFR-card-contenu"/>
          <p:cNvSpPr txBox="1"/>
          <p:nvPr/>
        </p:nvSpPr>
        <p:spPr>
          <a:xfrm>
            <a:off x="6469379" y="3246120"/>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1 ou 2 maximum, en fin de message uniquement</a:t>
            </a:r>
          </a:p>
          <a:p>
            <a:pPr algn="l">
              <a:lnSpc>
                <a:spcPct val="150000"/>
              </a:lnSpc>
            </a:pPr>
            <a:r>
              <a:rPr sz="1400" lang="fr-FR">
                <a:solidFill>
                  <a:srgbClr val="161616"/>
                </a:solidFill>
                <a:latin typeface="Marianne"/>
              </a:rPr>
              <a:t>• </a:t>
            </a:r>
            <a:r>
              <a:rPr sz="1400" b="0" lang="fr-FR">
                <a:solidFill>
                  <a:srgbClr val="161616"/>
                </a:solidFill>
                <a:latin typeface="Marianne"/>
              </a:rPr>
              <a:t>Le texte doit avoir du sens sans eux</a:t>
            </a:r>
          </a:p>
        </p:txBody>
      </p:sp>
      <p:sp>
        <p:nvSpPr>
          <p:cNvPr id="19" name="DSFR-box"/>
          <p:cNvSpPr/>
          <p:nvPr/>
        </p:nvSpPr>
        <p:spPr>
          <a:xfrm>
            <a:off x="548640"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Hashtags CamelCase</a:t>
            </a:r>
          </a:p>
        </p:txBody>
      </p:sp>
      <p:sp>
        <p:nvSpPr>
          <p:cNvPr id="22" name="DSFR-card-contenu"/>
          <p:cNvSpPr txBox="1"/>
          <p:nvPr/>
        </p:nvSpPr>
        <p:spPr>
          <a:xfrm>
            <a:off x="704088" y="5326379"/>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#ServicePublic pas #servicepublic</a:t>
            </a:r>
          </a:p>
          <a:p>
            <a:pPr algn="l">
              <a:lnSpc>
                <a:spcPct val="150000"/>
              </a:lnSpc>
            </a:pPr>
            <a:r>
              <a:rPr sz="1400" lang="fr-FR">
                <a:solidFill>
                  <a:srgbClr val="161616"/>
                </a:solidFill>
                <a:latin typeface="Marianne"/>
              </a:rPr>
              <a:t>• </a:t>
            </a:r>
            <a:r>
              <a:rPr sz="1400" b="0" lang="fr-FR">
                <a:solidFill>
                  <a:srgbClr val="161616"/>
                </a:solidFill>
                <a:latin typeface="Marianne"/>
              </a:rPr>
              <a:t>Rassembler en fin de post, 2 à 3 maximum</a:t>
            </a:r>
          </a:p>
        </p:txBody>
      </p:sp>
      <p:sp>
        <p:nvSpPr>
          <p:cNvPr id="24" name="DSFR-box"/>
          <p:cNvSpPr/>
          <p:nvPr/>
        </p:nvSpPr>
        <p:spPr>
          <a:xfrm>
            <a:off x="6313931"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Texte natif</a:t>
            </a:r>
          </a:p>
        </p:txBody>
      </p:sp>
      <p:sp>
        <p:nvSpPr>
          <p:cNvPr id="27" name="DSFR-card-contenu"/>
          <p:cNvSpPr txBox="1"/>
          <p:nvPr/>
        </p:nvSpPr>
        <p:spPr>
          <a:xfrm>
            <a:off x="6469379" y="5326379"/>
            <a:ext cx="5097779" cy="75438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Jamais de faux gras ou faux italique (InstaFont ...)</a:t>
            </a:r>
          </a:p>
          <a:p>
            <a:pPr algn="l">
              <a:lnSpc>
                <a:spcPct val="150000"/>
              </a:lnSpc>
            </a:pPr>
            <a:r>
              <a:rPr sz="1400" lang="fr-FR">
                <a:solidFill>
                  <a:srgbClr val="161616"/>
                </a:solidFill>
                <a:latin typeface="Marianne"/>
              </a:rPr>
              <a:t>• </a:t>
            </a:r>
            <a:r>
              <a:rPr sz="1400" b="0" lang="fr-FR">
                <a:solidFill>
                  <a:srgbClr val="161616"/>
                </a:solidFill>
                <a:latin typeface="Marianne"/>
              </a:rPr>
              <a:t>Les caractères Unicode stylisés sont illisibles par les lecteurs d'écran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6469379"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704088"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5" name="DSFR-card-numero"/>
          <p:cNvSpPr/>
          <p:nvPr/>
        </p:nvSpPr>
        <p:spPr>
          <a:xfrm>
            <a:off x="6469379"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Le texte alternatif : votre sous-titre d'image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122</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L'alt text, c'est comme un sous-titre pour votre image : il dit ce qu'elle montre à ceux qui ne peuvent pas la voir.</a:t>
            </a:r>
          </a:p>
        </p:txBody>
      </p:sp>
      <p:sp>
        <p:nvSpPr>
          <p:cNvPr id="12" name="DSFR-box"/>
          <p:cNvSpPr/>
          <p:nvPr/>
        </p:nvSpPr>
        <p:spPr>
          <a:xfrm>
            <a:off x="548640" y="3127248"/>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Qui en bénéficie ?</a:t>
            </a:r>
          </a:p>
        </p:txBody>
      </p:sp>
      <p:sp>
        <p:nvSpPr>
          <p:cNvPr id="14" name="DSFR-callout-body"/>
          <p:cNvSpPr txBox="1"/>
          <p:nvPr/>
        </p:nvSpPr>
        <p:spPr>
          <a:xfrm>
            <a:off x="704088" y="3630168"/>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Personnes aveugles ou malvoyantes (lecteur d'écran)</a:t>
            </a:r>
          </a:p>
          <a:p>
            <a:pPr algn="l">
              <a:lnSpc>
                <a:spcPct val="115000"/>
              </a:lnSpc>
            </a:pPr>
            <a:r>
              <a:rPr sz="1400" lang="fr-FR">
                <a:solidFill>
                  <a:srgbClr val="161616"/>
                </a:solidFill>
                <a:latin typeface="Marianne"/>
              </a:rPr>
              <a:t>• </a:t>
            </a:r>
            <a:r>
              <a:rPr sz="1400" b="0" lang="fr-FR">
                <a:solidFill>
                  <a:srgbClr val="161616"/>
                </a:solidFill>
                <a:latin typeface="Marianne"/>
              </a:rPr>
              <a:t>Connexion lente ou image non chargée</a:t>
            </a:r>
          </a:p>
          <a:p>
            <a:pPr algn="l">
              <a:lnSpc>
                <a:spcPct val="115000"/>
              </a:lnSpc>
            </a:pPr>
            <a:r>
              <a:rPr sz="1400" lang="fr-FR">
                <a:solidFill>
                  <a:srgbClr val="161616"/>
                </a:solidFill>
                <a:latin typeface="Marianne"/>
              </a:rPr>
              <a:t>• </a:t>
            </a:r>
            <a:r>
              <a:rPr sz="1400" b="0" lang="fr-FR">
                <a:solidFill>
                  <a:srgbClr val="161616"/>
                </a:solidFill>
                <a:latin typeface="Marianne"/>
              </a:rPr>
              <a:t>Moteurs de recherche (Google indexe via l'alt text)</a:t>
            </a:r>
          </a:p>
          <a:p>
            <a:pPr algn="l">
              <a:lnSpc>
                <a:spcPct val="115000"/>
              </a:lnSpc>
            </a:pPr>
            <a:r>
              <a:rPr sz="1400" lang="fr-FR">
                <a:solidFill>
                  <a:srgbClr val="161616"/>
                </a:solidFill>
                <a:latin typeface="Marianne"/>
              </a:rPr>
              <a:t>• </a:t>
            </a:r>
            <a:r>
              <a:rPr sz="1400" b="0" lang="fr-FR">
                <a:solidFill>
                  <a:srgbClr val="161616"/>
                </a:solidFill>
                <a:latin typeface="Marianne"/>
              </a:rPr>
              <a:t>IA et outils d'analyse d'image</a:t>
            </a:r>
          </a:p>
          <a:p>
            <a:pPr algn="l">
              <a:lnSpc>
                <a:spcPct val="115000"/>
              </a:lnSpc>
            </a:pPr>
            <a:r>
              <a:rPr sz="1400" lang="fr-FR">
                <a:solidFill>
                  <a:srgbClr val="161616"/>
                </a:solidFill>
                <a:latin typeface="Marianne"/>
              </a:rPr>
              <a:t>• </a:t>
            </a:r>
            <a:r>
              <a:rPr sz="1400" b="0" lang="fr-FR">
                <a:solidFill>
                  <a:srgbClr val="161616"/>
                </a:solidFill>
                <a:latin typeface="Marianne"/>
              </a:rPr>
              <a:t>Contexte défavorable (luminosité, etc.)</a:t>
            </a:r>
          </a:p>
        </p:txBody>
      </p:sp>
      <p:sp>
        <p:nvSpPr>
          <p:cNvPr id="16" name="DSFR-box"/>
          <p:cNvSpPr/>
          <p:nvPr/>
        </p:nvSpPr>
        <p:spPr>
          <a:xfrm>
            <a:off x="6313931" y="312724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Concrètement sur les réseaux</a:t>
            </a:r>
          </a:p>
        </p:txBody>
      </p:sp>
      <p:sp>
        <p:nvSpPr>
          <p:cNvPr id="18" name="DSFR-alert-info-body"/>
          <p:cNvSpPr txBox="1"/>
          <p:nvPr/>
        </p:nvSpPr>
        <p:spPr>
          <a:xfrm>
            <a:off x="6469379" y="3630168"/>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LinkedIn : Modifier → Texte alternatif</a:t>
            </a:r>
          </a:p>
          <a:p>
            <a:pPr algn="l">
              <a:lnSpc>
                <a:spcPct val="115000"/>
              </a:lnSpc>
            </a:pPr>
            <a:r>
              <a:rPr sz="1400" lang="fr-FR">
                <a:solidFill>
                  <a:srgbClr val="161616"/>
                </a:solidFill>
                <a:latin typeface="Marianne"/>
              </a:rPr>
              <a:t>• </a:t>
            </a:r>
            <a:r>
              <a:rPr sz="1400" b="0" lang="fr-FR">
                <a:solidFill>
                  <a:srgbClr val="161616"/>
                </a:solidFill>
                <a:latin typeface="Marianne"/>
              </a:rPr>
              <a:t>Facebook : Modifier l'image → Alt text</a:t>
            </a:r>
          </a:p>
          <a:p>
            <a:pPr algn="l">
              <a:lnSpc>
                <a:spcPct val="115000"/>
              </a:lnSpc>
            </a:pPr>
            <a:r>
              <a:rPr sz="1400" lang="fr-FR">
                <a:solidFill>
                  <a:srgbClr val="161616"/>
                </a:solidFill>
                <a:latin typeface="Marianne"/>
              </a:rPr>
              <a:t>• </a:t>
            </a:r>
            <a:r>
              <a:rPr sz="1400" b="0" lang="fr-FR">
                <a:solidFill>
                  <a:srgbClr val="161616"/>
                </a:solidFill>
                <a:latin typeface="Marianne"/>
              </a:rPr>
              <a:t>Twitter/X : intégré à la publication</a:t>
            </a:r>
          </a:p>
          <a:p>
            <a:pPr algn="l">
              <a:lnSpc>
                <a:spcPct val="115000"/>
              </a:lnSpc>
            </a:pPr>
            <a:r>
              <a:rPr sz="1400" lang="fr-FR">
                <a:solidFill>
                  <a:srgbClr val="161616"/>
                </a:solidFill>
                <a:latin typeface="Marianne"/>
              </a:rPr>
              <a:t>• </a:t>
            </a:r>
            <a:r>
              <a:rPr sz="1400" b="0" lang="fr-FR">
                <a:solidFill>
                  <a:srgbClr val="161616"/>
                </a:solidFill>
                <a:latin typeface="Marianne"/>
              </a:rPr>
              <a:t>Instagram : Paramètres avancés → Alt text</a:t>
            </a:r>
          </a:p>
          <a:p>
            <a:pPr algn="l">
              <a:lnSpc>
                <a:spcPct val="115000"/>
              </a:lnSpc>
            </a:pPr>
            <a:r>
              <a:rPr sz="1400" lang="fr-FR">
                <a:solidFill>
                  <a:srgbClr val="161616"/>
                </a:solidFill>
                <a:latin typeface="Marianne"/>
              </a:rPr>
              <a:t>• </a:t>
            </a:r>
            <a:r>
              <a:rPr sz="1400" b="0" lang="fr-FR">
                <a:solidFill>
                  <a:srgbClr val="161616"/>
                </a:solidFill>
                <a:latin typeface="Marianne"/>
              </a:rPr>
              <a:t>Canva : Clic droit → Texte alternatif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7248"/>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724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Comment rédiger un bon texte alternatif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123</a:t>
            </a:r>
            <a:endParaRPr lang="fr-FR" dirty="0"/>
          </a:p>
        </p:txBody>
      </p:sp>
      <p:sp>
        <p:nvSpPr>
          <p:cNvPr id="9" name="DSFR-box"/>
          <p:cNvSpPr/>
          <p:nvPr/>
        </p:nvSpPr>
        <p:spPr>
          <a:xfrm>
            <a:off x="548640"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éviter</a:t>
            </a:r>
          </a:p>
        </p:txBody>
      </p:sp>
      <p:sp>
        <p:nvSpPr>
          <p:cNvPr id="11" name="DSFR-alert-error-body"/>
          <p:cNvSpPr txBox="1"/>
          <p:nvPr/>
        </p:nvSpPr>
        <p:spPr>
          <a:xfrm>
            <a:off x="704088"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"image.jpg" - nom de fichier, aucun sens</a:t>
            </a:r>
          </a:p>
          <a:p>
            <a:pPr algn="l">
              <a:lnSpc>
                <a:spcPct val="150000"/>
              </a:lnSpc>
            </a:pPr>
            <a:r>
              <a:rPr sz="1400" lang="fr-FR">
                <a:solidFill>
                  <a:srgbClr val="161616"/>
                </a:solidFill>
                <a:latin typeface="Marianne"/>
              </a:rPr>
              <a:t>• </a:t>
            </a:r>
            <a:r>
              <a:rPr sz="1400" b="0" lang="fr-FR">
                <a:solidFill>
                  <a:srgbClr val="161616"/>
                </a:solidFill>
                <a:latin typeface="Marianne"/>
              </a:rPr>
              <a:t>"Photo" - trop vague, aucune information</a:t>
            </a:r>
          </a:p>
          <a:p>
            <a:pPr algn="l">
              <a:lnSpc>
                <a:spcPct val="150000"/>
              </a:lnSpc>
            </a:pPr>
            <a:r>
              <a:rPr sz="1400" lang="fr-FR">
                <a:solidFill>
                  <a:srgbClr val="161616"/>
                </a:solidFill>
                <a:latin typeface="Marianne"/>
              </a:rPr>
              <a:t>• </a:t>
            </a:r>
            <a:r>
              <a:rPr sz="1400" b="0" lang="fr-FR">
                <a:solidFill>
                  <a:srgbClr val="161616"/>
                </a:solidFill>
                <a:latin typeface="Marianne"/>
              </a:rPr>
              <a:t>"Image de la réunion du 12 mars 2026" - date inutile sans contexte</a:t>
            </a:r>
          </a:p>
          <a:p>
            <a:pPr algn="l">
              <a:lnSpc>
                <a:spcPct val="150000"/>
              </a:lnSpc>
            </a:pPr>
            <a:r>
              <a:rPr sz="1400" lang="fr-FR">
                <a:solidFill>
                  <a:srgbClr val="161616"/>
                </a:solidFill>
                <a:latin typeface="Marianne"/>
              </a:rPr>
              <a:t>• </a:t>
            </a:r>
            <a:r>
              <a:rPr sz="1400" b="0" lang="fr-FR">
                <a:solidFill>
                  <a:srgbClr val="161616"/>
                </a:solidFill>
                <a:latin typeface="Marianne"/>
              </a:rPr>
              <a:t>"Voir l'image ci-dessous" - redondant, ne décrit rien</a:t>
            </a:r>
          </a:p>
        </p:txBody>
      </p:sp>
      <p:sp>
        <p:nvSpPr>
          <p:cNvPr id="13" name="DSFR-box"/>
          <p:cNvSpPr/>
          <p:nvPr/>
        </p:nvSpPr>
        <p:spPr>
          <a:xfrm>
            <a:off x="6313931" y="201168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qui fonctionne</a:t>
            </a:r>
          </a:p>
        </p:txBody>
      </p:sp>
      <p:sp>
        <p:nvSpPr>
          <p:cNvPr id="15" name="DSFR-callout-body"/>
          <p:cNvSpPr txBox="1"/>
          <p:nvPr/>
        </p:nvSpPr>
        <p:spPr>
          <a:xfrm>
            <a:off x="6469379" y="251460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"Trois agents discutent autour d'une table, documents ouverts"</a:t>
            </a:r>
          </a:p>
          <a:p>
            <a:pPr algn="l">
              <a:lnSpc>
                <a:spcPct val="125000"/>
              </a:lnSpc>
            </a:pPr>
            <a:r>
              <a:rPr sz="1400" lang="fr-FR">
                <a:solidFill>
                  <a:srgbClr val="161616"/>
                </a:solidFill>
                <a:latin typeface="Marianne"/>
              </a:rPr>
              <a:t>• </a:t>
            </a:r>
            <a:r>
              <a:rPr sz="1400" b="0" lang="fr-FR">
                <a:solidFill>
                  <a:srgbClr val="161616"/>
                </a:solidFill>
                <a:latin typeface="Marianne"/>
              </a:rPr>
              <a:t>"Logo DINUM - bleu avec texte blanc"</a:t>
            </a:r>
          </a:p>
          <a:p>
            <a:pPr algn="l">
              <a:lnSpc>
                <a:spcPct val="125000"/>
              </a:lnSpc>
            </a:pPr>
            <a:r>
              <a:rPr sz="1400" lang="fr-FR">
                <a:solidFill>
                  <a:srgbClr val="161616"/>
                </a:solidFill>
                <a:latin typeface="Marianne"/>
              </a:rPr>
              <a:t>• </a:t>
            </a:r>
            <a:r>
              <a:rPr sz="1400" b="0" lang="fr-FR">
                <a:solidFill>
                  <a:srgbClr val="161616"/>
                </a:solidFill>
                <a:latin typeface="Marianne"/>
              </a:rPr>
              <a:t>"Graphique : le taux d'accessibilité passe de 45 à 78 % entre 2023 et 2025"</a:t>
            </a:r>
          </a:p>
          <a:p>
            <a:pPr algn="l">
              <a:lnSpc>
                <a:spcPct val="125000"/>
              </a:lnSpc>
            </a:pPr>
            <a:r>
              <a:rPr sz="1400" lang="fr-FR">
                <a:solidFill>
                  <a:srgbClr val="161616"/>
                </a:solidFill>
                <a:latin typeface="Marianne"/>
              </a:rPr>
              <a:t>• </a:t>
            </a:r>
            <a:r>
              <a:rPr sz="1400" b="0" lang="fr-FR">
                <a:solidFill>
                  <a:srgbClr val="161616"/>
                </a:solidFill>
                <a:latin typeface="Marianne"/>
              </a:rPr>
              <a:t>"Infographie : 4 étapes pour publier un post accessible (texte ci-dessous)"</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Exercice en binôme (7 min) : rédigez l'alt text pour 3 images que vous avez publiées récemment sur vos réseaux professionnels.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Alt text : où le trouver sur chaque plateforme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Plateformes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124</a:t>
            </a:r>
            <a:endParaRPr lang="fr-FR" dirty="0"/>
          </a:p>
        </p:txBody>
      </p:sp>
      <p:graphicFrame>
        <p:nvGraphicFramePr>
          <p:cNvPr id="8" name="Table 7"/>
          <p:cNvGraphicFramePr>
            <a:graphicFrameLocks noGrp="1"/>
          </p:cNvGraphicFramePr>
          <p:nvPr/>
        </p:nvGraphicFramePr>
        <p:xfrm>
          <a:off x="475488" y="1965960"/>
          <a:ext cx="11155680" cy="2194560"/>
        </p:xfrm>
        <a:graphic>
          <a:graphicData uri="http://schemas.openxmlformats.org/drawingml/2006/table">
            <a:tbl>
              <a:tblPr firstRow="1" bandRow="1">
                <a:tableStyleId>{5C22544A-7EE6-4342-B048-85BDC9FD1C3A}</a:tableStyleId>
              </a:tblPr>
              <a:tblGrid>
                <a:gridCol w="2011680"/>
                <a:gridCol w="6400800"/>
                <a:gridCol w="2743200"/>
              </a:tblGrid>
              <a:tr h="365760">
                <a:tc>
                  <a:txBody>
                    <a:bodyPr wrap="square" anchor="ctr" lIns="73152" rIns="73152"/>
                    <a:lstStyle/>
                    <a:p>
                      <a:pPr algn="l">
                        <a:lnSpc>
                          <a:spcPct val="125000"/>
                        </a:lnSpc>
                      </a:pPr>
                      <a:r>
                        <a:rPr sz="1400" b="1" i="0" lang="fr-FR">
                          <a:solidFill>
                            <a:srgbClr val="FFFFFF"/>
                          </a:solidFill>
                          <a:latin typeface="Marianne"/>
                        </a:rPr>
                        <a:t>Plateforme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Accès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Marianne"/>
                        </a:rPr>
                        <a:t>Moment</a:t>
                      </a:r>
                    </a:p>
                  </a:txBody>
                  <a:tcPr marL="91440" marR="91440" marT="45720" marB="45720">
                    <a:solidFill>
                      <a:srgbClr val="000091"/>
                    </a:solidFill>
                  </a:tcPr>
                </a:tc>
              </a:tr>
              <a:tr h="365760">
                <a:tc>
                  <a:txBody>
                    <a:bodyPr wrap="square" anchor="ctr" lIns="73152" rIns="73152"/>
                    <a:lstStyle/>
                    <a:p>
                      <a:pPr algn="l">
                        <a:lnSpc>
                          <a:spcPct val="125000"/>
                        </a:lnSpc>
                      </a:pPr>
                      <a:r>
                        <a:rPr sz="1400" b="0" i="0" lang="fr-FR">
                          <a:solidFill>
                            <a:srgbClr val="161616"/>
                          </a:solidFill>
                          <a:latin typeface="Marianne"/>
                        </a:rPr>
                        <a:t>LinkedIn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Modifier la publication &gt; modifier l'image &gt; Ajouter du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À la publication ou après</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Marianne"/>
                        </a:rPr>
                        <a:t>Facebook</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Modifier la photo &gt;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À la publication ou après</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Marianne"/>
                        </a:rPr>
                        <a:t>X (Twitter)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Ajouter une description (icône Accessibilité sous l'image)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Avant publication uniquement</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Marianne"/>
                        </a:rPr>
                        <a:t>Instagram</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Paramètres avancés &gt; Accessibilité &gt; Écrire le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Marianne"/>
                        </a:rPr>
                        <a:t>Avant publication uniquement</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Marianne"/>
                        </a:rPr>
                        <a:t>Canva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Clic droit sur l'image &gt;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Marianne"/>
                        </a:rPr>
                        <a:t>Pendant la création</a:t>
                      </a:r>
                    </a:p>
                  </a:txBody>
                  <a:tcPr marL="91440" marR="91440" marT="45720" marB="45720">
                    <a:solidFill>
                      <a:srgbClr val="FFFFFF"/>
                    </a:solidFill>
                  </a:tcPr>
                </a:tc>
              </a:tr>
            </a:tbl>
          </a:graphicData>
        </a:graphic>
      </p:graphicFrame>
      <p:sp>
        <p:nvSpPr>
          <p:cNvPr id="10" name="DSFR-box"/>
          <p:cNvSpPr/>
          <p:nvPr/>
        </p:nvSpPr>
        <p:spPr>
          <a:xfrm>
            <a:off x="548640" y="4489704"/>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58114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Astuce : activez-le par défaut</a:t>
            </a:r>
          </a:p>
        </p:txBody>
      </p:sp>
      <p:sp>
        <p:nvSpPr>
          <p:cNvPr id="12" name="DSFR-alert-success-body"/>
          <p:cNvSpPr txBox="1"/>
          <p:nvPr/>
        </p:nvSpPr>
        <p:spPr>
          <a:xfrm>
            <a:off x="704088" y="4992624"/>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LinkedIn et Instagram proposent un rappel si vous oubliez l'alt text</a:t>
            </a:r>
          </a:p>
          <a:p>
            <a:pPr algn="l">
              <a:lnSpc>
                <a:spcPct val="150000"/>
              </a:lnSpc>
            </a:pPr>
            <a:r>
              <a:rPr sz="1400" lang="fr-FR">
                <a:solidFill>
                  <a:srgbClr val="161616"/>
                </a:solidFill>
                <a:latin typeface="Marianne"/>
              </a:rPr>
              <a:t>• </a:t>
            </a:r>
            <a:r>
              <a:rPr sz="1400" b="0" lang="fr-FR">
                <a:solidFill>
                  <a:srgbClr val="161616"/>
                </a:solidFill>
                <a:latin typeface="Marianne"/>
              </a:rPr>
              <a:t>X : paramètre Accessibilité dans les réglages de compte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9" name="DSFR-accent-decoratif" descr=""/>
          <p:cNvSpPr/>
          <p:nvPr/>
        </p:nvSpPr>
        <p:spPr>
          <a:xfrm>
            <a:off x="475488" y="4489704"/>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Émojis : 3 règles simples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125</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 lecteur d'écran lit le nom officiel de chaque émoji. En série, c'est incompréhensible.</a:t>
            </a:r>
          </a:p>
        </p:txBody>
      </p:sp>
      <p:sp>
        <p:nvSpPr>
          <p:cNvPr id="11" name="DSFR-stepper-pastille-1"/>
          <p:cNvSpPr/>
          <p:nvPr/>
        </p:nvSpPr>
        <p:spPr>
          <a:xfrm>
            <a:off x="1926335"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1 ou 2 émojis par post maximum - au-delà, le sens se perd à l'écoute</a:t>
            </a:r>
          </a:p>
        </p:txBody>
      </p:sp>
      <p:sp>
        <p:nvSpPr>
          <p:cNvPr id="14" name="DSFR-stepper-pastille-2"/>
          <p:cNvSpPr/>
          <p:nvPr/>
        </p:nvSpPr>
        <p:spPr>
          <a:xfrm>
            <a:off x="5769863"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4319015"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En fin de message - jamais au début ni à la place d'un mot</a:t>
            </a:r>
          </a:p>
        </p:txBody>
      </p:sp>
      <p:sp>
        <p:nvSpPr>
          <p:cNvPr id="17" name="DSFR-stepper-pastille-3"/>
          <p:cNvSpPr/>
          <p:nvPr/>
        </p:nvSpPr>
        <p:spPr>
          <a:xfrm>
            <a:off x="9613391"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8" name="DSFR-stepper-texte-3"/>
          <p:cNvSpPr txBox="1"/>
          <p:nvPr/>
        </p:nvSpPr>
        <p:spPr>
          <a:xfrm>
            <a:off x="8162543"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Vérifier leur sens réel - puis tester le texte sans eux</a:t>
            </a:r>
          </a:p>
        </p:txBody>
      </p:sp>
      <p:sp>
        <p:nvSpPr>
          <p:cNvPr id="20" name="DSFR-box"/>
          <p:cNvSpPr/>
          <p:nvPr/>
        </p:nvSpPr>
        <p:spPr>
          <a:xfrm>
            <a:off x="548640" y="4649724"/>
            <a:ext cx="11155680" cy="142280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7411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Test rapide avant publication</a:t>
            </a:r>
          </a:p>
        </p:txBody>
      </p:sp>
      <p:sp>
        <p:nvSpPr>
          <p:cNvPr id="22" name="DSFR-alert-info-body"/>
          <p:cNvSpPr txBox="1"/>
          <p:nvPr/>
        </p:nvSpPr>
        <p:spPr>
          <a:xfrm>
            <a:off x="704088" y="5152644"/>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Retirez tous les émojis du texte</a:t>
            </a:r>
          </a:p>
          <a:p>
            <a:pPr algn="l">
              <a:lnSpc>
                <a:spcPct val="120000"/>
              </a:lnSpc>
            </a:pPr>
            <a:r>
              <a:rPr sz="1400" lang="fr-FR">
                <a:solidFill>
                  <a:srgbClr val="161616"/>
                </a:solidFill>
                <a:latin typeface="Marianne"/>
              </a:rPr>
              <a:t>• </a:t>
            </a:r>
            <a:r>
              <a:rPr sz="1400" b="0" lang="fr-FR">
                <a:solidFill>
                  <a:srgbClr val="161616"/>
                </a:solidFill>
                <a:latin typeface="Marianne"/>
              </a:rPr>
              <a:t>Le message est-il toujours clair et complet ? Si oui : bon signe</a:t>
            </a:r>
          </a:p>
          <a:p>
            <a:pPr algn="l">
              <a:lnSpc>
                <a:spcPct val="120000"/>
              </a:lnSpc>
            </a:pPr>
            <a:r>
              <a:rPr sz="1400" lang="fr-FR">
                <a:solidFill>
                  <a:srgbClr val="161616"/>
                </a:solidFill>
                <a:latin typeface="Marianne"/>
              </a:rPr>
              <a:t>• </a:t>
            </a:r>
            <a:r>
              <a:rPr sz="1400" b="0" lang="fr-FR">
                <a:solidFill>
                  <a:srgbClr val="161616"/>
                </a:solidFill>
                <a:latin typeface="Marianne"/>
              </a:rPr>
              <a:t>Si non : l'émoji porte du sens - remplacez-le par le mot correspondant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649724"/>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Ce que ça donne avec trop d'émojis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126</a:t>
            </a:r>
            <a:endParaRPr lang="fr-FR" dirty="0"/>
          </a:p>
        </p:txBody>
      </p:sp>
      <p:sp>
        <p:nvSpPr>
          <p:cNvPr id="9" name="DSFR-box"/>
          <p:cNvSpPr/>
          <p:nvPr/>
        </p:nvSpPr>
        <p:spPr>
          <a:xfrm>
            <a:off x="548640" y="2011680"/>
            <a:ext cx="5390388"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Post original</a:t>
            </a:r>
          </a:p>
        </p:txBody>
      </p:sp>
      <p:sp>
        <p:nvSpPr>
          <p:cNvPr id="11" name="DSFR-callout-body"/>
          <p:cNvSpPr txBox="1"/>
          <p:nvPr/>
        </p:nvSpPr>
        <p:spPr>
          <a:xfrm>
            <a:off x="704088" y="2514600"/>
            <a:ext cx="5143500" cy="85725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 Rejoignez-nous 📅 mardi 10 juin 🏢 salle B3 pour notre atelier 💻 sur l'accessibilité 🧠 numérique 👏👏</a:t>
            </a:r>
          </a:p>
        </p:txBody>
      </p:sp>
      <p:sp>
        <p:nvSpPr>
          <p:cNvPr id="13" name="DSFR-box"/>
          <p:cNvSpPr/>
          <p:nvPr/>
        </p:nvSpPr>
        <p:spPr>
          <a:xfrm>
            <a:off x="6313931"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Ce que NVDA lit</a:t>
            </a:r>
          </a:p>
        </p:txBody>
      </p:sp>
      <p:sp>
        <p:nvSpPr>
          <p:cNvPr id="15" name="DSFR-alert-warning-body"/>
          <p:cNvSpPr txBox="1"/>
          <p:nvPr/>
        </p:nvSpPr>
        <p:spPr>
          <a:xfrm>
            <a:off x="6469379"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Visage qui fête quelque chose. Visage qui fête quelque chose. Rejoignez-nous. Calendrier spirale. mardi 10 juin. Bâtiment de bureau. salle B3 pour notre atelier. Ordinateur portable. sur l'accessibilité. Cerveau. numérique. Mains qui applaudissent, peau claire. Mains qui applaudissent, peau claire.</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Version accessible : 'Rejoignez-nous mardi 10 juin, salle B3, pour notre atelier sur l'accessibilité numérique.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01168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Hashtags : le CamelCase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Hashtags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127</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le CamelCase ?</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#ServicePublic : les mots sont séparés naturellement</a:t>
            </a:r>
          </a:p>
          <a:p>
            <a:pPr algn="l">
              <a:lnSpc>
                <a:spcPct val="115000"/>
              </a:lnSpc>
            </a:pPr>
            <a:r>
              <a:rPr sz="1400" lang="fr-FR">
                <a:solidFill>
                  <a:srgbClr val="161616"/>
                </a:solidFill>
                <a:latin typeface="Marianne"/>
              </a:rPr>
              <a:t>• </a:t>
            </a:r>
            <a:r>
              <a:rPr sz="1400" b="0" lang="fr-FR">
                <a:solidFill>
                  <a:srgbClr val="161616"/>
                </a:solidFill>
                <a:latin typeface="Marianne"/>
              </a:rPr>
              <a:t>#servicepublic : un seul bloc, plus difficile à comprendre</a:t>
            </a:r>
          </a:p>
          <a:p>
            <a:pPr algn="l">
              <a:lnSpc>
                <a:spcPct val="115000"/>
              </a:lnSpc>
            </a:pPr>
            <a:r>
              <a:rPr sz="1400" lang="fr-FR">
                <a:solidFill>
                  <a:srgbClr val="161616"/>
                </a:solidFill>
                <a:latin typeface="Marianne"/>
              </a:rPr>
              <a:t>• </a:t>
            </a:r>
            <a:r>
              <a:rPr sz="1400" b="0" lang="fr-FR">
                <a:solidFill>
                  <a:srgbClr val="161616"/>
                </a:solidFill>
                <a:latin typeface="Marianne"/>
              </a:rPr>
              <a:t>#SERVICEPUBLIC : risque de lecture lettre par lettre</a:t>
            </a:r>
          </a:p>
        </p:txBody>
      </p:sp>
      <p:sp>
        <p:nvSpPr>
          <p:cNvPr id="13" name="DSFR-box"/>
          <p:cNvSpPr/>
          <p:nvPr/>
        </p:nvSpPr>
        <p:spPr>
          <a:xfrm>
            <a:off x="6313931" y="1874519"/>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règles avant publication</a:t>
            </a:r>
          </a:p>
        </p:txBody>
      </p:sp>
      <p:sp>
        <p:nvSpPr>
          <p:cNvPr id="15" name="DSFR-alert-success-body"/>
          <p:cNvSpPr txBox="1"/>
          <p:nvPr/>
        </p:nvSpPr>
        <p:spPr>
          <a:xfrm>
            <a:off x="6469379" y="2377439"/>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Majuscule au début de chaque mot</a:t>
            </a:r>
          </a:p>
          <a:p>
            <a:pPr algn="l">
              <a:lnSpc>
                <a:spcPct val="115000"/>
              </a:lnSpc>
            </a:pPr>
            <a:r>
              <a:rPr sz="1400" lang="fr-FR">
                <a:solidFill>
                  <a:srgbClr val="161616"/>
                </a:solidFill>
                <a:latin typeface="Marianne"/>
              </a:rPr>
              <a:t>• </a:t>
            </a:r>
            <a:r>
              <a:rPr sz="1400" b="0" lang="fr-FR">
                <a:solidFill>
                  <a:srgbClr val="161616"/>
                </a:solidFill>
                <a:latin typeface="Marianne"/>
              </a:rPr>
              <a:t>Hashtags regroupés à la fin du post</a:t>
            </a:r>
          </a:p>
          <a:p>
            <a:pPr algn="l">
              <a:lnSpc>
                <a:spcPct val="115000"/>
              </a:lnSpc>
            </a:pPr>
            <a:r>
              <a:rPr sz="1400" lang="fr-FR">
                <a:solidFill>
                  <a:srgbClr val="161616"/>
                </a:solidFill>
                <a:latin typeface="Marianne"/>
              </a:rPr>
              <a:t>• </a:t>
            </a:r>
            <a:r>
              <a:rPr sz="1400" b="0" lang="fr-FR">
                <a:solidFill>
                  <a:srgbClr val="161616"/>
                </a:solidFill>
                <a:latin typeface="Marianne"/>
              </a:rPr>
              <a:t>2 à 3 maximum, courts et utiles</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Mini-test : relisez le hashtag à voix haute. Si vous hésitez sur les mots, raccourcissez-le ou ajoutez les majuscules.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Faux gras et caractères Unicode : le piège invisible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Caractères spéciaux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128</a:t>
            </a:r>
            <a:endParaRPr lang="fr-FR" dirty="0"/>
          </a:p>
        </p:txBody>
      </p:sp>
      <p:sp>
        <p:nvSpPr>
          <p:cNvPr id="9" name="DSFR-box"/>
          <p:cNvSpPr/>
          <p:nvPr/>
        </p:nvSpPr>
        <p:spPr>
          <a:xfrm>
            <a:off x="548640" y="1874519"/>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éviter</a:t>
            </a:r>
          </a:p>
        </p:txBody>
      </p:sp>
      <p:sp>
        <p:nvSpPr>
          <p:cNvPr id="11" name="DSFR-alert-error-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InstaFont, LingoJam ... transforment les lettres en symboles</a:t>
            </a:r>
          </a:p>
          <a:p>
            <a:pPr algn="l">
              <a:lnSpc>
                <a:spcPct val="115000"/>
              </a:lnSpc>
            </a:pPr>
            <a:r>
              <a:rPr sz="1400" lang="fr-FR">
                <a:solidFill>
                  <a:srgbClr val="161616"/>
                </a:solidFill>
                <a:latin typeface="Marianne"/>
              </a:rPr>
              <a:t>• </a:t>
            </a:r>
            <a:r>
              <a:rPr sz="1400" b="0" lang="fr-FR">
                <a:solidFill>
                  <a:srgbClr val="161616"/>
                </a:solidFill>
                <a:latin typeface="Marianne"/>
              </a:rPr>
              <a:t>Le lecteur d'écran peut épeler, déformer ou ignorer le message</a:t>
            </a:r>
          </a:p>
          <a:p>
            <a:pPr algn="l">
              <a:lnSpc>
                <a:spcPct val="115000"/>
              </a:lnSpc>
            </a:pPr>
            <a:r>
              <a:rPr sz="1400" lang="fr-FR">
                <a:solidFill>
                  <a:srgbClr val="161616"/>
                </a:solidFill>
                <a:latin typeface="Marianne"/>
              </a:rPr>
              <a:t>• </a:t>
            </a:r>
            <a:r>
              <a:rPr sz="1400" b="0" lang="fr-FR">
                <a:solidFill>
                  <a:srgbClr val="161616"/>
                </a:solidFill>
                <a:latin typeface="Marianne"/>
              </a:rPr>
              <a:t>Le texte devient moins fiable à copier, indexer ou traduire</a:t>
            </a:r>
          </a:p>
        </p:txBody>
      </p:sp>
      <p:sp>
        <p:nvSpPr>
          <p:cNvPr id="13" name="DSFR-box"/>
          <p:cNvSpPr/>
          <p:nvPr/>
        </p:nvSpPr>
        <p:spPr>
          <a:xfrm>
            <a:off x="6313931" y="1874519"/>
            <a:ext cx="5390388"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faire</a:t>
            </a:r>
          </a:p>
        </p:txBody>
      </p:sp>
      <p:sp>
        <p:nvSpPr>
          <p:cNvPr id="15" name="DSFR-callout-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Utiliser le gras natif de la plateforme quand il existe</a:t>
            </a:r>
          </a:p>
          <a:p>
            <a:pPr algn="l">
              <a:lnSpc>
                <a:spcPct val="115000"/>
              </a:lnSpc>
            </a:pPr>
            <a:r>
              <a:rPr sz="1400" lang="fr-FR">
                <a:solidFill>
                  <a:srgbClr val="161616"/>
                </a:solidFill>
                <a:latin typeface="Marianne"/>
              </a:rPr>
              <a:t>• </a:t>
            </a:r>
            <a:r>
              <a:rPr sz="1400" b="0" lang="fr-FR">
                <a:solidFill>
                  <a:srgbClr val="161616"/>
                </a:solidFill>
                <a:latin typeface="Marianne"/>
              </a:rPr>
              <a:t>Sinon : écrire en texte simple</a:t>
            </a:r>
          </a:p>
          <a:p>
            <a:pPr algn="l">
              <a:lnSpc>
                <a:spcPct val="115000"/>
              </a:lnSpc>
            </a:pPr>
            <a:r>
              <a:rPr sz="1400" lang="fr-FR">
                <a:solidFill>
                  <a:srgbClr val="161616"/>
                </a:solidFill>
                <a:latin typeface="Marianne"/>
              </a:rPr>
              <a:t>• </a:t>
            </a:r>
            <a:r>
              <a:rPr sz="1400" b="0" lang="fr-FR">
                <a:solidFill>
                  <a:srgbClr val="161616"/>
                </a:solidFill>
                <a:latin typeface="Marianne"/>
              </a:rPr>
              <a:t>Mettre les mots importants au début du post</a:t>
            </a:r>
          </a:p>
        </p:txBody>
      </p:sp>
      <p:sp>
        <p:nvSpPr>
          <p:cNvPr id="17" name="DSFR-box"/>
          <p:cNvSpPr/>
          <p:nvPr/>
        </p:nvSpPr>
        <p:spPr>
          <a:xfrm>
            <a:off x="548640" y="4023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14800"/>
            <a:ext cx="10863072" cy="708660"/>
          </a:xfrm>
          <a:prstGeom prst="rect">
            <a:avLst/>
          </a:prstGeom>
          <a:noFill/>
        </p:spPr>
        <p:txBody>
          <a:bodyPr wrap="square" anchor="ctr" lIns="73152" rIns="73152">
            <a:spAutoFit/>
          </a:bodyPr>
          <a:lstStyle/>
          <a:p>
            <a:pPr algn="l">
              <a:lnSpc>
                <a:spcPct val="125000"/>
              </a:lnSpc>
            </a:pPr>
            <a:r>
              <a:rPr sz="1800" b="0" i="0" u="sng" lang="fr-FR">
                <a:solidFill>
                  <a:srgbClr val="000091"/>
                </a:solidFill>
                <a:latin typeface="Marianne"/>
                <a:hlinkClick r:id="rId2"/>
              </a:rPr>
              <a:t>Test express : si le texte vient d'un générateur de style, ne le collez pas. Référence : Opquast règle 14 - caractères détournés.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23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Communication inclusive : les représentations comptent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129</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Une image n'est jamais neutre : elle montre qui est attendu, qui est légitime, qui est concerné.</a:t>
            </a:r>
          </a:p>
        </p:txBody>
      </p:sp>
      <p:sp>
        <p:nvSpPr>
          <p:cNvPr id="12" name="DSFR-box"/>
          <p:cNvSpPr/>
          <p:nvPr/>
        </p:nvSpPr>
        <p:spPr>
          <a:xfrm>
            <a:off x="548640" y="2921508"/>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3 questions avant de choisir un visuel</a:t>
            </a:r>
          </a:p>
        </p:txBody>
      </p:sp>
      <p:sp>
        <p:nvSpPr>
          <p:cNvPr id="14" name="DSFR-callout-body"/>
          <p:cNvSpPr txBox="1"/>
          <p:nvPr/>
        </p:nvSpPr>
        <p:spPr>
          <a:xfrm>
            <a:off x="704088"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Qui est visible dans cette communication ?</a:t>
            </a:r>
          </a:p>
          <a:p>
            <a:pPr algn="l">
              <a:lnSpc>
                <a:spcPct val="115000"/>
              </a:lnSpc>
            </a:pPr>
            <a:r>
              <a:rPr sz="1400" lang="fr-FR">
                <a:solidFill>
                  <a:srgbClr val="161616"/>
                </a:solidFill>
                <a:latin typeface="Marianne"/>
              </a:rPr>
              <a:t>• </a:t>
            </a:r>
            <a:r>
              <a:rPr sz="1400" b="0" lang="fr-FR">
                <a:solidFill>
                  <a:srgbClr val="161616"/>
                </a:solidFill>
                <a:latin typeface="Marianne"/>
              </a:rPr>
              <a:t>Qui est absent ou toujours montré en marge ?</a:t>
            </a:r>
          </a:p>
          <a:p>
            <a:pPr algn="l">
              <a:lnSpc>
                <a:spcPct val="115000"/>
              </a:lnSpc>
            </a:pPr>
            <a:r>
              <a:rPr sz="1400" lang="fr-FR">
                <a:solidFill>
                  <a:srgbClr val="161616"/>
                </a:solidFill>
                <a:latin typeface="Marianne"/>
              </a:rPr>
              <a:t>• </a:t>
            </a:r>
            <a:r>
              <a:rPr sz="1400" b="0" lang="fr-FR">
                <a:solidFill>
                  <a:srgbClr val="161616"/>
                </a:solidFill>
                <a:latin typeface="Marianne"/>
              </a:rPr>
              <a:t>Quelle norme le visuel installe-t-il sans le dire ?</a:t>
            </a:r>
          </a:p>
        </p:txBody>
      </p:sp>
      <p:sp>
        <p:nvSpPr>
          <p:cNvPr id="16" name="DSFR-box"/>
          <p:cNvSpPr/>
          <p:nvPr/>
        </p:nvSpPr>
        <p:spPr>
          <a:xfrm>
            <a:off x="6313931" y="292150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Pourquoi c'est important</a:t>
            </a:r>
          </a:p>
        </p:txBody>
      </p:sp>
      <p:sp>
        <p:nvSpPr>
          <p:cNvPr id="18" name="DSFR-alert-info-body"/>
          <p:cNvSpPr txBox="1"/>
          <p:nvPr/>
        </p:nvSpPr>
        <p:spPr>
          <a:xfrm>
            <a:off x="6469379"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Les personnes concernées peuvent se sentir attendues</a:t>
            </a:r>
          </a:p>
          <a:p>
            <a:pPr algn="l">
              <a:lnSpc>
                <a:spcPct val="115000"/>
              </a:lnSpc>
            </a:pPr>
            <a:r>
              <a:rPr sz="1400" lang="fr-FR">
                <a:solidFill>
                  <a:srgbClr val="161616"/>
                </a:solidFill>
                <a:latin typeface="Marianne"/>
              </a:rPr>
              <a:t>• </a:t>
            </a:r>
            <a:r>
              <a:rPr sz="1400" b="0" lang="fr-FR">
                <a:solidFill>
                  <a:srgbClr val="161616"/>
                </a:solidFill>
                <a:latin typeface="Marianne"/>
              </a:rPr>
              <a:t>La communication évite de reconduire une seule norme</a:t>
            </a:r>
          </a:p>
          <a:p>
            <a:pPr algn="l">
              <a:lnSpc>
                <a:spcPct val="115000"/>
              </a:lnSpc>
            </a:pPr>
            <a:r>
              <a:rPr sz="1400" lang="fr-FR">
                <a:solidFill>
                  <a:srgbClr val="161616"/>
                </a:solidFill>
                <a:latin typeface="Marianne"/>
              </a:rPr>
              <a:t>• </a:t>
            </a:r>
            <a:r>
              <a:rPr sz="1400" b="0" lang="fr-FR">
                <a:solidFill>
                  <a:srgbClr val="161616"/>
                </a:solidFill>
                <a:latin typeface="Marianne"/>
              </a:rPr>
              <a:t>Le public se projette plus facilement dans le message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Représenter sans faire vitrine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130</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Représentation utile</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Diversité montrée dans des situations ordinaires</a:t>
            </a:r>
          </a:p>
          <a:p>
            <a:pPr algn="l">
              <a:lnSpc>
                <a:spcPct val="115000"/>
              </a:lnSpc>
            </a:pPr>
            <a:r>
              <a:rPr sz="1400" lang="fr-FR">
                <a:solidFill>
                  <a:srgbClr val="161616"/>
                </a:solidFill>
                <a:latin typeface="Marianne"/>
              </a:rPr>
              <a:t>• </a:t>
            </a:r>
            <a:r>
              <a:rPr sz="1400" b="0" lang="fr-FR">
                <a:solidFill>
                  <a:srgbClr val="161616"/>
                </a:solidFill>
                <a:latin typeface="Marianne"/>
              </a:rPr>
              <a:t>Personnes concernées en rôle actif, pas seulement décoratif</a:t>
            </a:r>
          </a:p>
          <a:p>
            <a:pPr algn="l">
              <a:lnSpc>
                <a:spcPct val="115000"/>
              </a:lnSpc>
            </a:pPr>
            <a:r>
              <a:rPr sz="1400" lang="fr-FR">
                <a:solidFill>
                  <a:srgbClr val="161616"/>
                </a:solidFill>
                <a:latin typeface="Marianne"/>
              </a:rPr>
              <a:t>• </a:t>
            </a:r>
            <a:r>
              <a:rPr sz="1400" b="0" lang="fr-FR">
                <a:solidFill>
                  <a:srgbClr val="161616"/>
                </a:solidFill>
                <a:latin typeface="Marianne"/>
              </a:rPr>
              <a:t>Visuel cohérent avec le public réel de l'action</a:t>
            </a:r>
          </a:p>
        </p:txBody>
      </p:sp>
      <p:sp>
        <p:nvSpPr>
          <p:cNvPr id="13" name="DSFR-box"/>
          <p:cNvSpPr/>
          <p:nvPr/>
        </p:nvSpPr>
        <p:spPr>
          <a:xfrm>
            <a:off x="6313931" y="1874519"/>
            <a:ext cx="5390388" cy="183565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Piège à éviter</a:t>
            </a:r>
          </a:p>
        </p:txBody>
      </p:sp>
      <p:sp>
        <p:nvSpPr>
          <p:cNvPr id="15" name="DSFR-alert-warning-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Image symbolique sans réalité derrière</a:t>
            </a:r>
          </a:p>
          <a:p>
            <a:pPr algn="l">
              <a:lnSpc>
                <a:spcPct val="115000"/>
              </a:lnSpc>
            </a:pPr>
            <a:r>
              <a:rPr sz="1400" lang="fr-FR">
                <a:solidFill>
                  <a:srgbClr val="161616"/>
                </a:solidFill>
                <a:latin typeface="Marianne"/>
              </a:rPr>
              <a:t>• </a:t>
            </a:r>
            <a:r>
              <a:rPr sz="1400" b="0" lang="fr-FR">
                <a:solidFill>
                  <a:srgbClr val="161616"/>
                </a:solidFill>
                <a:latin typeface="Marianne"/>
              </a:rPr>
              <a:t>Personne réduite à son handicap ou à son identité</a:t>
            </a:r>
          </a:p>
          <a:p>
            <a:pPr algn="l">
              <a:lnSpc>
                <a:spcPct val="115000"/>
              </a:lnSpc>
            </a:pPr>
            <a:r>
              <a:rPr sz="1400" lang="fr-FR">
                <a:solidFill>
                  <a:srgbClr val="161616"/>
                </a:solidFill>
                <a:latin typeface="Marianne"/>
              </a:rPr>
              <a:t>• </a:t>
            </a:r>
            <a:r>
              <a:rPr sz="1400" b="0" lang="fr-FR">
                <a:solidFill>
                  <a:srgbClr val="161616"/>
                </a:solidFill>
                <a:latin typeface="Marianne"/>
              </a:rPr>
              <a:t>Événement annoncé inclusif mais non accessible</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Règle simple : si vos visuels montrent des personnes handicapées, vos espaces, événements et pratiques doivent être accessibles.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Langage inclusif : clarté d'abord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131</a:t>
            </a:r>
            <a:endParaRPr lang="fr-FR" dirty="0"/>
          </a:p>
        </p:txBody>
      </p:sp>
      <p:sp>
        <p:nvSpPr>
          <p:cNvPr id="9" name="DSFR-box"/>
          <p:cNvSpPr/>
          <p:nvPr/>
        </p:nvSpPr>
        <p:spPr>
          <a:xfrm>
            <a:off x="548640" y="1755648"/>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privilégier</a:t>
            </a:r>
          </a:p>
        </p:txBody>
      </p:sp>
      <p:sp>
        <p:nvSpPr>
          <p:cNvPr id="11" name="DSFR-callout-body"/>
          <p:cNvSpPr txBox="1"/>
          <p:nvPr/>
        </p:nvSpPr>
        <p:spPr>
          <a:xfrm>
            <a:off x="704088" y="2258568"/>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Formules épicènes : 'Nous vous convions', 'les personnes concernées'</a:t>
            </a:r>
          </a:p>
          <a:p>
            <a:pPr algn="l">
              <a:lnSpc>
                <a:spcPct val="120000"/>
              </a:lnSpc>
            </a:pPr>
            <a:r>
              <a:rPr sz="1400" lang="fr-FR">
                <a:solidFill>
                  <a:srgbClr val="161616"/>
                </a:solidFill>
                <a:latin typeface="Marianne"/>
              </a:rPr>
              <a:t>• </a:t>
            </a:r>
            <a:r>
              <a:rPr sz="1400" b="0" lang="fr-FR">
                <a:solidFill>
                  <a:srgbClr val="161616"/>
                </a:solidFill>
                <a:latin typeface="Marianne"/>
              </a:rPr>
              <a:t>Mots collectifs : 'le public', 'l'équipe', 'la clientèle'</a:t>
            </a:r>
          </a:p>
          <a:p>
            <a:pPr algn="l">
              <a:lnSpc>
                <a:spcPct val="120000"/>
              </a:lnSpc>
            </a:pPr>
            <a:r>
              <a:rPr sz="1400" lang="fr-FR">
                <a:solidFill>
                  <a:srgbClr val="161616"/>
                </a:solidFill>
                <a:latin typeface="Marianne"/>
              </a:rPr>
              <a:t>• </a:t>
            </a:r>
            <a:r>
              <a:rPr sz="1400" b="0" lang="fr-FR">
                <a:solidFill>
                  <a:srgbClr val="161616"/>
                </a:solidFill>
                <a:latin typeface="Marianne"/>
              </a:rPr>
              <a:t>Double flexion si nécessaire : 'les utilisateurs et utilisatrices'</a:t>
            </a:r>
          </a:p>
          <a:p>
            <a:pPr algn="l">
              <a:lnSpc>
                <a:spcPct val="120000"/>
              </a:lnSpc>
            </a:pPr>
            <a:r>
              <a:rPr sz="1400" lang="fr-FR">
                <a:solidFill>
                  <a:srgbClr val="161616"/>
                </a:solidFill>
                <a:latin typeface="Marianne"/>
              </a:rPr>
              <a:t>• </a:t>
            </a:r>
            <a:r>
              <a:rPr sz="1400" b="0" lang="fr-FR">
                <a:solidFill>
                  <a:srgbClr val="161616"/>
                </a:solidFill>
                <a:latin typeface="Marianne"/>
              </a:rPr>
              <a:t>Mots-valises si le public les comprend : 'iels', 'amateurices'</a:t>
            </a:r>
          </a:p>
        </p:txBody>
      </p:sp>
      <p:sp>
        <p:nvSpPr>
          <p:cNvPr id="13" name="DSFR-box"/>
          <p:cNvSpPr/>
          <p:nvPr/>
        </p:nvSpPr>
        <p:spPr>
          <a:xfrm>
            <a:off x="6313931" y="1755648"/>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éviter ou tester</a:t>
            </a:r>
          </a:p>
        </p:txBody>
      </p:sp>
      <p:sp>
        <p:nvSpPr>
          <p:cNvPr id="15" name="DSFR-alert-warning-body"/>
          <p:cNvSpPr txBox="1"/>
          <p:nvPr/>
        </p:nvSpPr>
        <p:spPr>
          <a:xfrm>
            <a:off x="6469379" y="2258568"/>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Marianne"/>
              </a:rPr>
              <a:t>• </a:t>
            </a:r>
            <a:r>
              <a:rPr sz="1400" b="0" lang="fr-FR">
                <a:solidFill>
                  <a:srgbClr val="161616"/>
                </a:solidFill>
                <a:latin typeface="Marianne"/>
              </a:rPr>
              <a:t>Point médian ou ponctuation répétée quand cela gêne la lecture</a:t>
            </a:r>
          </a:p>
          <a:p>
            <a:pPr algn="l">
              <a:lnSpc>
                <a:spcPct val="120000"/>
              </a:lnSpc>
            </a:pPr>
            <a:r>
              <a:rPr sz="1400" lang="fr-FR">
                <a:solidFill>
                  <a:srgbClr val="161616"/>
                </a:solidFill>
                <a:latin typeface="Marianne"/>
              </a:rPr>
              <a:t>• </a:t>
            </a:r>
            <a:r>
              <a:rPr sz="1400" b="0" lang="fr-FR">
                <a:solidFill>
                  <a:srgbClr val="161616"/>
                </a:solidFill>
                <a:latin typeface="Marianne"/>
              </a:rPr>
              <a:t>Formes trop compressées : elles ralentissent aussi la lecture visuelle</a:t>
            </a:r>
          </a:p>
          <a:p>
            <a:pPr algn="l">
              <a:lnSpc>
                <a:spcPct val="120000"/>
              </a:lnSpc>
            </a:pPr>
            <a:r>
              <a:rPr sz="1400" lang="fr-FR">
                <a:solidFill>
                  <a:srgbClr val="161616"/>
                </a:solidFill>
                <a:latin typeface="Marianne"/>
              </a:rPr>
              <a:t>• </a:t>
            </a:r>
            <a:r>
              <a:rPr sz="1400" b="0" lang="fr-FR">
                <a:solidFill>
                  <a:srgbClr val="161616"/>
                </a:solidFill>
                <a:latin typeface="Marianne"/>
              </a:rPr>
              <a:t>Formes ambiguës à l'oral si le message doit être lu à voix haute</a:t>
            </a:r>
          </a:p>
        </p:txBody>
      </p:sp>
      <p:sp>
        <p:nvSpPr>
          <p:cNvPr id="17" name="DSFR-box"/>
          <p:cNvSpPr/>
          <p:nvPr/>
        </p:nvSpPr>
        <p:spPr>
          <a:xfrm>
            <a:off x="548640" y="442569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51713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Recommandation : choisir la forme la plus inclusive qui reste claire, lisible et prononçable.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755648"/>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755648"/>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2569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Exercice en binôme : passez la checklist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132</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Choisissez un post réel ou un exemple fourni. Objectif : trouver 2 améliorations utiles : accès, lisibilité ou représentation.</a:t>
            </a:r>
          </a:p>
        </p:txBody>
      </p:sp>
      <p:sp>
        <p:nvSpPr>
          <p:cNvPr id="11" name="DSFR-stepper-pastille-1"/>
          <p:cNvSpPr/>
          <p:nvPr/>
        </p:nvSpPr>
        <p:spPr>
          <a:xfrm>
            <a:off x="1445894"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3" name="DSFR-stepper-texte-1"/>
          <p:cNvSpPr txBox="1"/>
          <p:nvPr/>
        </p:nvSpPr>
        <p:spPr>
          <a:xfrm>
            <a:off x="475488"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Choisir 1 publication</a:t>
            </a:r>
          </a:p>
        </p:txBody>
      </p:sp>
      <p:sp>
        <p:nvSpPr>
          <p:cNvPr id="14" name="DSFR-stepper-pastille-2"/>
          <p:cNvSpPr/>
          <p:nvPr/>
        </p:nvSpPr>
        <p:spPr>
          <a:xfrm>
            <a:off x="4328541"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6" name="DSFR-stepper-texte-2"/>
          <p:cNvSpPr txBox="1"/>
          <p:nvPr/>
        </p:nvSpPr>
        <p:spPr>
          <a:xfrm>
            <a:off x="3358134"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Cocher Anticiper / Rédiger / Publier</a:t>
            </a:r>
          </a:p>
        </p:txBody>
      </p:sp>
      <p:sp>
        <p:nvSpPr>
          <p:cNvPr id="17" name="DSFR-stepper-pastille-3"/>
          <p:cNvSpPr/>
          <p:nvPr/>
        </p:nvSpPr>
        <p:spPr>
          <a:xfrm>
            <a:off x="7211186"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9" name="DSFR-stepper-texte-3"/>
          <p:cNvSpPr txBox="1"/>
          <p:nvPr/>
        </p:nvSpPr>
        <p:spPr>
          <a:xfrm>
            <a:off x="6240779"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Retenir 2 risques prioritaires</a:t>
            </a:r>
          </a:p>
        </p:txBody>
      </p:sp>
      <p:sp>
        <p:nvSpPr>
          <p:cNvPr id="20" name="DSFR-stepper-pastille-4"/>
          <p:cNvSpPr/>
          <p:nvPr/>
        </p:nvSpPr>
        <p:spPr>
          <a:xfrm>
            <a:off x="10093832"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4</a:t>
            </a:r>
          </a:p>
        </p:txBody>
      </p:sp>
      <p:sp>
        <p:nvSpPr>
          <p:cNvPr id="21" name="DSFR-stepper-texte-4"/>
          <p:cNvSpPr txBox="1"/>
          <p:nvPr/>
        </p:nvSpPr>
        <p:spPr>
          <a:xfrm>
            <a:off x="9123426"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Préparer 1 min de restitution</a:t>
            </a:r>
          </a:p>
        </p:txBody>
      </p:sp>
      <p:sp>
        <p:nvSpPr>
          <p:cNvPr id="23" name="DSFR-box"/>
          <p:cNvSpPr/>
          <p:nvPr/>
        </p:nvSpPr>
        <p:spPr>
          <a:xfrm>
            <a:off x="548640" y="4503420"/>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alert-info-titre"/>
          <p:cNvSpPr txBox="1"/>
          <p:nvPr/>
        </p:nvSpPr>
        <p:spPr>
          <a:xfrm>
            <a:off x="704088"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Déroulé</a:t>
            </a:r>
          </a:p>
        </p:txBody>
      </p:sp>
      <p:sp>
        <p:nvSpPr>
          <p:cNvPr id="25" name="DSFR-alert-info-body"/>
          <p:cNvSpPr txBox="1"/>
          <p:nvPr/>
        </p:nvSpPr>
        <p:spPr>
          <a:xfrm>
            <a:off x="704088" y="5006340"/>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3 min : choisir le post et le contexte</a:t>
            </a:r>
          </a:p>
          <a:p>
            <a:pPr algn="l">
              <a:lnSpc>
                <a:spcPct val="115000"/>
              </a:lnSpc>
            </a:pPr>
            <a:r>
              <a:rPr sz="1400" lang="fr-FR">
                <a:solidFill>
                  <a:srgbClr val="161616"/>
                </a:solidFill>
                <a:latin typeface="Marianne"/>
              </a:rPr>
              <a:t>• </a:t>
            </a:r>
            <a:r>
              <a:rPr sz="1400" b="0" lang="fr-FR">
                <a:solidFill>
                  <a:srgbClr val="161616"/>
                </a:solidFill>
                <a:latin typeface="Marianne"/>
              </a:rPr>
              <a:t>8 min : passer les 3 checklists</a:t>
            </a:r>
          </a:p>
          <a:p>
            <a:pPr algn="l">
              <a:lnSpc>
                <a:spcPct val="115000"/>
              </a:lnSpc>
            </a:pPr>
            <a:r>
              <a:rPr sz="1400" lang="fr-FR">
                <a:solidFill>
                  <a:srgbClr val="161616"/>
                </a:solidFill>
                <a:latin typeface="Marianne"/>
              </a:rPr>
              <a:t>• </a:t>
            </a:r>
            <a:r>
              <a:rPr sz="1400" b="0" lang="fr-FR">
                <a:solidFill>
                  <a:srgbClr val="161616"/>
                </a:solidFill>
                <a:latin typeface="Marianne"/>
              </a:rPr>
              <a:t>4 min : formuler 2 corrections</a:t>
            </a:r>
          </a:p>
        </p:txBody>
      </p:sp>
      <p:sp>
        <p:nvSpPr>
          <p:cNvPr id="27" name="DSFR-box"/>
          <p:cNvSpPr/>
          <p:nvPr/>
        </p:nvSpPr>
        <p:spPr>
          <a:xfrm>
            <a:off x="6313931" y="4503420"/>
            <a:ext cx="5390388" cy="16148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FR-alert-success-titre"/>
          <p:cNvSpPr txBox="1"/>
          <p:nvPr/>
        </p:nvSpPr>
        <p:spPr>
          <a:xfrm>
            <a:off x="6469379"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À restituer</a:t>
            </a:r>
          </a:p>
        </p:txBody>
      </p:sp>
      <p:sp>
        <p:nvSpPr>
          <p:cNvPr id="29" name="DSFR-alert-success-body"/>
          <p:cNvSpPr txBox="1"/>
          <p:nvPr/>
        </p:nvSpPr>
        <p:spPr>
          <a:xfrm>
            <a:off x="6469379" y="500634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Le point le plus bloquant</a:t>
            </a:r>
          </a:p>
          <a:p>
            <a:pPr algn="l">
              <a:lnSpc>
                <a:spcPct val="115000"/>
              </a:lnSpc>
            </a:pPr>
            <a:r>
              <a:rPr sz="1400" lang="fr-FR">
                <a:solidFill>
                  <a:srgbClr val="161616"/>
                </a:solidFill>
                <a:latin typeface="Marianne"/>
              </a:rPr>
              <a:t>• </a:t>
            </a:r>
            <a:r>
              <a:rPr sz="1400" b="0" lang="fr-FR">
                <a:solidFill>
                  <a:srgbClr val="161616"/>
                </a:solidFill>
                <a:latin typeface="Marianne"/>
              </a:rPr>
              <a:t>La correction proposée</a:t>
            </a:r>
          </a:p>
          <a:p>
            <a:pPr algn="l">
              <a:lnSpc>
                <a:spcPct val="115000"/>
              </a:lnSpc>
            </a:pPr>
            <a:r>
              <a:rPr sz="1400" lang="fr-FR">
                <a:solidFill>
                  <a:srgbClr val="161616"/>
                </a:solidFill>
                <a:latin typeface="Marianne"/>
              </a:rPr>
              <a:t>• </a:t>
            </a:r>
            <a:r>
              <a:rPr sz="1400" b="0" lang="fr-FR">
                <a:solidFill>
                  <a:srgbClr val="161616"/>
                </a:solidFill>
                <a:latin typeface="Marianne"/>
              </a:rPr>
              <a:t>La règle à garder pour vos prochains posts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085975"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4968621"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3-decoratif" descr=""/>
          <p:cNvSpPr/>
          <p:nvPr/>
        </p:nvSpPr>
        <p:spPr>
          <a:xfrm>
            <a:off x="7851267"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475488" y="450342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6240779" y="450342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réseaux sociaux : anticiper (1/3)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Avant de créer : l'information doit exister en version accessible, pas seulement dans le visuel.</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Média prévu ? image = alt text, audio = transcription, vidéo = sous-titres</a:t>
            </a:r>
          </a:p>
          <a:p>
            <a:pPr algn="l">
              <a:lnSpc>
                <a:spcPct val="150000"/>
              </a:lnSpc>
            </a:pPr>
            <a:r>
              <a:rPr sz="1800" b="1" lang="fr-FR">
                <a:solidFill>
                  <a:srgbClr val="000091"/>
                </a:solidFill>
                <a:latin typeface="Marianne"/>
              </a:rPr>
              <a:t>☐  </a:t>
            </a:r>
            <a:r>
              <a:rPr sz="1400" lang="fr-FR">
                <a:solidFill>
                  <a:srgbClr val="161616"/>
                </a:solidFill>
                <a:latin typeface="Marianne"/>
              </a:rPr>
              <a:t>Visuels : représentations diverses et cohérentes avec la réalité accessible</a:t>
            </a:r>
          </a:p>
          <a:p>
            <a:pPr algn="l">
              <a:lnSpc>
                <a:spcPct val="150000"/>
              </a:lnSpc>
            </a:pPr>
            <a:r>
              <a:rPr sz="1800" b="1" lang="fr-FR">
                <a:solidFill>
                  <a:srgbClr val="000091"/>
                </a:solidFill>
                <a:latin typeface="Marianne"/>
              </a:rPr>
              <a:t>☐  </a:t>
            </a:r>
            <a:r>
              <a:rPr sz="1400" lang="fr-FR">
                <a:solidFill>
                  <a:srgbClr val="161616"/>
                </a:solidFill>
                <a:latin typeface="Marianne"/>
              </a:rPr>
              <a:t>Visuel très chargé ? prévoir une version complète en ligne ou dans le post</a:t>
            </a:r>
          </a:p>
          <a:p>
            <a:pPr algn="l">
              <a:lnSpc>
                <a:spcPct val="150000"/>
              </a:lnSpc>
            </a:pPr>
            <a:r>
              <a:rPr sz="1800" b="1" lang="fr-FR">
                <a:solidFill>
                  <a:srgbClr val="000091"/>
                </a:solidFill>
                <a:latin typeface="Marianne"/>
              </a:rPr>
              <a:t>☐  </a:t>
            </a:r>
            <a:r>
              <a:rPr sz="1400" lang="fr-FR">
                <a:solidFill>
                  <a:srgbClr val="161616"/>
                </a:solidFill>
                <a:latin typeface="Marianne"/>
              </a:rPr>
              <a:t>Police lisible, sans fantaisie, assez épaisse pour un écran mobile</a:t>
            </a:r>
          </a:p>
          <a:p>
            <a:pPr algn="l">
              <a:lnSpc>
                <a:spcPct val="150000"/>
              </a:lnSpc>
            </a:pPr>
            <a:r>
              <a:rPr sz="1800" b="1" lang="fr-FR">
                <a:solidFill>
                  <a:srgbClr val="000091"/>
                </a:solidFill>
                <a:latin typeface="Marianne"/>
              </a:rPr>
              <a:t>☐  </a:t>
            </a:r>
            <a:r>
              <a:rPr sz="1400" lang="fr-FR">
                <a:solidFill>
                  <a:srgbClr val="161616"/>
                </a:solidFill>
                <a:latin typeface="Marianne"/>
              </a:rPr>
              <a:t>Texte sur image : contraste &gt;= 4,5:1, pas de fond qui gêne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réseaux sociaux : rédiger (2/3)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Le post doit rester compréhensible quand on retire l'image, les effets visuels et les émojis.</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Informations essentielles écrites dans le texte du post</a:t>
            </a:r>
          </a:p>
          <a:p>
            <a:pPr algn="l">
              <a:lnSpc>
                <a:spcPct val="150000"/>
              </a:lnSpc>
            </a:pPr>
            <a:r>
              <a:rPr sz="1800" b="1" lang="fr-FR">
                <a:solidFill>
                  <a:srgbClr val="000091"/>
                </a:solidFill>
                <a:latin typeface="Marianne"/>
              </a:rPr>
              <a:t>☐  </a:t>
            </a:r>
            <a:r>
              <a:rPr sz="1400" lang="fr-FR">
                <a:solidFill>
                  <a:srgbClr val="161616"/>
                </a:solidFill>
                <a:latin typeface="Marianne"/>
              </a:rPr>
              <a:t>Paragraphes courts, texte natif, pas de faux gras Unicode</a:t>
            </a:r>
          </a:p>
          <a:p>
            <a:pPr algn="l">
              <a:lnSpc>
                <a:spcPct val="150000"/>
              </a:lnSpc>
            </a:pPr>
            <a:r>
              <a:rPr sz="1800" b="1" lang="fr-FR">
                <a:solidFill>
                  <a:srgbClr val="000091"/>
                </a:solidFill>
                <a:latin typeface="Marianne"/>
              </a:rPr>
              <a:t>☐  </a:t>
            </a:r>
            <a:r>
              <a:rPr sz="1400" lang="fr-FR">
                <a:solidFill>
                  <a:srgbClr val="161616"/>
                </a:solidFill>
                <a:latin typeface="Marianne"/>
              </a:rPr>
              <a:t>Émojis : 1 ou 2, en fin de message, sens vérifié</a:t>
            </a:r>
          </a:p>
          <a:p>
            <a:pPr algn="l">
              <a:lnSpc>
                <a:spcPct val="150000"/>
              </a:lnSpc>
            </a:pPr>
            <a:r>
              <a:rPr sz="1800" b="1" lang="fr-FR">
                <a:solidFill>
                  <a:srgbClr val="000091"/>
                </a:solidFill>
                <a:latin typeface="Marianne"/>
              </a:rPr>
              <a:t>☐  </a:t>
            </a:r>
            <a:r>
              <a:rPr sz="1400" lang="fr-FR">
                <a:solidFill>
                  <a:srgbClr val="161616"/>
                </a:solidFill>
                <a:latin typeface="Marianne"/>
              </a:rPr>
              <a:t>Hashtags : CamelCase, courts, regroupés à la fin, 2 ou 3 maximum</a:t>
            </a:r>
          </a:p>
          <a:p>
            <a:pPr algn="l">
              <a:lnSpc>
                <a:spcPct val="150000"/>
              </a:lnSpc>
            </a:pPr>
            <a:r>
              <a:rPr sz="1800" b="1" lang="fr-FR">
                <a:solidFill>
                  <a:srgbClr val="000091"/>
                </a:solidFill>
                <a:latin typeface="Marianne"/>
              </a:rPr>
              <a:t>☐  </a:t>
            </a:r>
            <a:r>
              <a:rPr sz="1400" lang="fr-FR">
                <a:solidFill>
                  <a:srgbClr val="161616"/>
                </a:solidFill>
                <a:latin typeface="Marianne"/>
              </a:rPr>
              <a:t>Langage inclusif clair : épicène, double flexion ou mot-valise compris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Checklist réseaux sociaux : publier (3/3)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135</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Juste avant de cliquer : chaque accès visuel ou sonore doit avoir une alternative visible.</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Marianne"/>
              </a:rPr>
              <a:t>☐  </a:t>
            </a:r>
            <a:r>
              <a:rPr sz="1400" lang="fr-FR">
                <a:solidFill>
                  <a:srgbClr val="161616"/>
                </a:solidFill>
                <a:latin typeface="Marianne"/>
              </a:rPr>
              <a:t>Alt text clair et unique pour chaque image informative</a:t>
            </a:r>
          </a:p>
          <a:p>
            <a:pPr algn="l">
              <a:lnSpc>
                <a:spcPct val="150000"/>
              </a:lnSpc>
            </a:pPr>
            <a:r>
              <a:rPr sz="1800" b="1" lang="fr-FR">
                <a:solidFill>
                  <a:srgbClr val="000091"/>
                </a:solidFill>
                <a:latin typeface="Marianne"/>
              </a:rPr>
              <a:t>☐  </a:t>
            </a:r>
            <a:r>
              <a:rPr sz="1400" lang="fr-FR">
                <a:solidFill>
                  <a:srgbClr val="161616"/>
                </a:solidFill>
                <a:latin typeface="Marianne"/>
              </a:rPr>
              <a:t>Infographie ou carrousel : chiffres et messages clés repris dans le post</a:t>
            </a:r>
          </a:p>
          <a:p>
            <a:pPr algn="l">
              <a:lnSpc>
                <a:spcPct val="150000"/>
              </a:lnSpc>
            </a:pPr>
            <a:r>
              <a:rPr sz="1800" b="1" lang="fr-FR">
                <a:solidFill>
                  <a:srgbClr val="000091"/>
                </a:solidFill>
                <a:latin typeface="Marianne"/>
              </a:rPr>
              <a:t>☐  </a:t>
            </a:r>
            <a:r>
              <a:rPr sz="1400" lang="fr-FR">
                <a:solidFill>
                  <a:srgbClr val="161616"/>
                </a:solidFill>
                <a:latin typeface="Marianne"/>
              </a:rPr>
              <a:t>Audio : transcription écrite jointe ou lien visible</a:t>
            </a:r>
          </a:p>
          <a:p>
            <a:pPr algn="l">
              <a:lnSpc>
                <a:spcPct val="150000"/>
              </a:lnSpc>
            </a:pPr>
            <a:r>
              <a:rPr sz="1800" b="1" lang="fr-FR">
                <a:solidFill>
                  <a:srgbClr val="000091"/>
                </a:solidFill>
                <a:latin typeface="Marianne"/>
              </a:rPr>
              <a:t>☐  </a:t>
            </a:r>
            <a:r>
              <a:rPr sz="1400" lang="fr-FR">
                <a:solidFill>
                  <a:srgbClr val="161616"/>
                </a:solidFill>
                <a:latin typeface="Marianne"/>
              </a:rPr>
              <a:t>Vidéo : sous-titres relus, transcription si nécessaire</a:t>
            </a:r>
          </a:p>
          <a:p>
            <a:pPr algn="l">
              <a:lnSpc>
                <a:spcPct val="150000"/>
              </a:lnSpc>
            </a:pPr>
            <a:r>
              <a:rPr sz="1800" b="1" lang="fr-FR">
                <a:solidFill>
                  <a:srgbClr val="000091"/>
                </a:solidFill>
                <a:latin typeface="Marianne"/>
              </a:rPr>
              <a:t>☐  </a:t>
            </a:r>
            <a:r>
              <a:rPr sz="1400" lang="fr-FR">
                <a:solidFill>
                  <a:srgbClr val="161616"/>
                </a:solidFill>
                <a:latin typeface="Marianne"/>
              </a:rPr>
              <a:t>QR code jamais seul : lien visible + « Scannez-moi ! », taille et contraste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Quiz : vrai ou faux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Quiz</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136</a:t>
            </a:r>
            <a:endParaRPr lang="fr-FR" dirty="0"/>
          </a:p>
        </p:txBody>
      </p:sp>
      <p:sp>
        <p:nvSpPr>
          <p:cNvPr id="9" name="DSFR-box"/>
          <p:cNvSpPr/>
          <p:nvPr/>
        </p:nvSpPr>
        <p:spPr>
          <a:xfrm>
            <a:off x="548640" y="16459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3317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Émojis : 1 ou 2, en fin de message</a:t>
            </a:r>
          </a:p>
        </p:txBody>
      </p:sp>
      <p:sp>
        <p:nvSpPr>
          <p:cNvPr id="12" name="DSFR-card-contenu"/>
          <p:cNvSpPr txBox="1"/>
          <p:nvPr/>
        </p:nvSpPr>
        <p:spPr>
          <a:xfrm>
            <a:off x="704088" y="2788920"/>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14" name="DSFR-box"/>
          <p:cNvSpPr/>
          <p:nvPr/>
        </p:nvSpPr>
        <p:spPr>
          <a:xfrm>
            <a:off x="6313931" y="16459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3317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Un QR code peut remplacer le lien visible</a:t>
            </a:r>
          </a:p>
        </p:txBody>
      </p:sp>
      <p:sp>
        <p:nvSpPr>
          <p:cNvPr id="17" name="DSFR-card-contenu"/>
          <p:cNvSpPr txBox="1"/>
          <p:nvPr/>
        </p:nvSpPr>
        <p:spPr>
          <a:xfrm>
            <a:off x="6469379" y="2788920"/>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19" name="DSFR-box"/>
          <p:cNvSpPr/>
          <p:nvPr/>
        </p:nvSpPr>
        <p:spPr>
          <a:xfrm>
            <a:off x="548640" y="3438144"/>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123944"/>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Alt text vide = toujours une erreur</a:t>
            </a:r>
          </a:p>
        </p:txBody>
      </p:sp>
      <p:sp>
        <p:nvSpPr>
          <p:cNvPr id="22" name="DSFR-card-contenu"/>
          <p:cNvSpPr txBox="1"/>
          <p:nvPr/>
        </p:nvSpPr>
        <p:spPr>
          <a:xfrm>
            <a:off x="704088" y="4581144"/>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24" name="DSFR-box"/>
          <p:cNvSpPr/>
          <p:nvPr/>
        </p:nvSpPr>
        <p:spPr>
          <a:xfrm>
            <a:off x="6313931" y="3438144"/>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123944"/>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Visuel inclusif = événement accessible</a:t>
            </a:r>
          </a:p>
        </p:txBody>
      </p:sp>
      <p:sp>
        <p:nvSpPr>
          <p:cNvPr id="27" name="DSFR-card-contenu"/>
          <p:cNvSpPr txBox="1"/>
          <p:nvPr/>
        </p:nvSpPr>
        <p:spPr>
          <a:xfrm>
            <a:off x="6469379" y="4581144"/>
            <a:ext cx="5097779" cy="468630"/>
          </a:xfrm>
          <a:prstGeom prst="rect">
            <a:avLst/>
          </a:prstGeom>
          <a:noFill/>
        </p:spPr>
        <p:txBody>
          <a:bodyPr wrap="square" lIns="73152" rIns="73152">
            <a:spAutoFit/>
          </a:bodyPr>
          <a:lstStyle/>
          <a:p>
            <a:pPr algn="l">
              <a:lnSpc>
                <a:spcPct val="150000"/>
              </a:lnSpc>
            </a:pPr>
            <a:r>
              <a:rPr sz="1400" lang="fr-FR">
                <a:solidFill>
                  <a:srgbClr val="161616"/>
                </a:solidFill>
                <a:latin typeface="Marianne"/>
              </a:rPr>
              <a:t>• </a:t>
            </a:r>
            <a:r>
              <a:rPr sz="1400" b="0" lang="fr-FR">
                <a:solidFill>
                  <a:srgbClr val="161616"/>
                </a:solidFill>
                <a:latin typeface="Marianne"/>
              </a:rPr>
              <a:t>Vrai ou faux ?</a:t>
            </a:r>
          </a:p>
        </p:txBody>
      </p:sp>
      <p:sp>
        <p:nvSpPr>
          <p:cNvPr id="29" name="DSFR-box"/>
          <p:cNvSpPr/>
          <p:nvPr/>
        </p:nvSpPr>
        <p:spPr>
          <a:xfrm>
            <a:off x="548640" y="52120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FR-highlight"/>
          <p:cNvSpPr txBox="1"/>
          <p:nvPr/>
        </p:nvSpPr>
        <p:spPr>
          <a:xfrm>
            <a:off x="749808" y="530352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Récupération active : vous testez les 3 temps de la checklist, pas seulement la dernière slide.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10" name="DSFR-card-numero"/>
          <p:cNvSpPr/>
          <p:nvPr/>
        </p:nvSpPr>
        <p:spPr>
          <a:xfrm>
            <a:off x="704088" y="178308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1</a:t>
            </a:r>
          </a:p>
        </p:txBody>
      </p:sp>
      <p:sp>
        <p:nvSpPr>
          <p:cNvPr id="15" name="DSFR-card-numero"/>
          <p:cNvSpPr/>
          <p:nvPr/>
        </p:nvSpPr>
        <p:spPr>
          <a:xfrm>
            <a:off x="6469379" y="178308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2</a:t>
            </a:r>
          </a:p>
        </p:txBody>
      </p:sp>
      <p:sp>
        <p:nvSpPr>
          <p:cNvPr id="20" name="DSFR-card-numero"/>
          <p:cNvSpPr/>
          <p:nvPr/>
        </p:nvSpPr>
        <p:spPr>
          <a:xfrm>
            <a:off x="704088" y="3575303"/>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3</a:t>
            </a:r>
          </a:p>
        </p:txBody>
      </p:sp>
      <p:sp>
        <p:nvSpPr>
          <p:cNvPr id="25" name="DSFR-card-numero"/>
          <p:cNvSpPr/>
          <p:nvPr/>
        </p:nvSpPr>
        <p:spPr>
          <a:xfrm>
            <a:off x="6469379" y="3575303"/>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Marianne"/>
              </a:rPr>
              <a:t>4</a:t>
            </a:r>
          </a:p>
        </p:txBody>
      </p:sp>
      <p:sp>
        <p:nvSpPr>
          <p:cNvPr id="8" name="DSFR-accent-decoratif" descr=""/>
          <p:cNvSpPr/>
          <p:nvPr/>
        </p:nvSpPr>
        <p:spPr>
          <a:xfrm>
            <a:off x="475488" y="16459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16459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3438144"/>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3438144"/>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FR-accent-decoratif" descr=""/>
          <p:cNvSpPr/>
          <p:nvPr/>
        </p:nvSpPr>
        <p:spPr>
          <a:xfrm>
            <a:off x="475488" y="52120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Que faites-vous demain matin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4. Réseaux sociaux | Plan d'action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137</a:t>
            </a:r>
            <a:endParaRPr lang="fr-FR" dirty="0"/>
          </a:p>
        </p:txBody>
      </p:sp>
      <p:sp>
        <p:nvSpPr>
          <p:cNvPr id="8" name="DSFR-stepper-pastille-1"/>
          <p:cNvSpPr/>
          <p:nvPr/>
        </p:nvSpPr>
        <p:spPr>
          <a:xfrm>
            <a:off x="1926335" y="20116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1</a:t>
            </a:r>
          </a:p>
        </p:txBody>
      </p:sp>
      <p:sp>
        <p:nvSpPr>
          <p:cNvPr id="10" name="DSFR-stepper-texte-1"/>
          <p:cNvSpPr txBox="1"/>
          <p:nvPr/>
        </p:nvSpPr>
        <p:spPr>
          <a:xfrm>
            <a:off x="475488" y="2743200"/>
            <a:ext cx="3541775" cy="10058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Avant votre prochain post : passez la checklist Anticiper / Rédiger / Publier</a:t>
            </a:r>
          </a:p>
        </p:txBody>
      </p:sp>
      <p:sp>
        <p:nvSpPr>
          <p:cNvPr id="11" name="DSFR-stepper-pastille-2"/>
          <p:cNvSpPr/>
          <p:nvPr/>
        </p:nvSpPr>
        <p:spPr>
          <a:xfrm>
            <a:off x="5769863" y="20116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2</a:t>
            </a:r>
          </a:p>
        </p:txBody>
      </p:sp>
      <p:sp>
        <p:nvSpPr>
          <p:cNvPr id="13" name="DSFR-stepper-texte-2"/>
          <p:cNvSpPr txBox="1"/>
          <p:nvPr/>
        </p:nvSpPr>
        <p:spPr>
          <a:xfrm>
            <a:off x="4319015" y="2743200"/>
            <a:ext cx="3541775" cy="10058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Relisez votre dernière publication : qui est représenté, qui est absent ?</a:t>
            </a:r>
          </a:p>
        </p:txBody>
      </p:sp>
      <p:sp>
        <p:nvSpPr>
          <p:cNvPr id="14" name="DSFR-stepper-pastille-3"/>
          <p:cNvSpPr/>
          <p:nvPr/>
        </p:nvSpPr>
        <p:spPr>
          <a:xfrm>
            <a:off x="9613391" y="20116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Marianne"/>
              </a:rPr>
              <a:t>3</a:t>
            </a:r>
          </a:p>
        </p:txBody>
      </p:sp>
      <p:sp>
        <p:nvSpPr>
          <p:cNvPr id="15" name="DSFR-stepper-texte-3"/>
          <p:cNvSpPr txBox="1"/>
          <p:nvPr/>
        </p:nvSpPr>
        <p:spPr>
          <a:xfrm>
            <a:off x="8162543" y="2743200"/>
            <a:ext cx="3541775" cy="100583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Marianne"/>
              </a:rPr>
              <a:t>Vérifiez un post avec QR code : lien visible + « Scannez-moi ! »</a:t>
            </a:r>
          </a:p>
        </p:txBody>
      </p:sp>
      <p:sp>
        <p:nvSpPr>
          <p:cNvPr id="17" name="DSFR-box"/>
          <p:cNvSpPr/>
          <p:nvPr/>
        </p:nvSpPr>
        <p:spPr>
          <a:xfrm>
            <a:off x="548640" y="385876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lert-success-titre"/>
          <p:cNvSpPr txBox="1"/>
          <p:nvPr/>
        </p:nvSpPr>
        <p:spPr>
          <a:xfrm>
            <a:off x="704088" y="3950207"/>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Dans 7 jours</a:t>
            </a:r>
          </a:p>
        </p:txBody>
      </p:sp>
      <p:sp>
        <p:nvSpPr>
          <p:cNvPr id="19" name="DSFR-alert-success-body"/>
          <p:cNvSpPr txBox="1"/>
          <p:nvPr/>
        </p:nvSpPr>
        <p:spPr>
          <a:xfrm>
            <a:off x="704088" y="4361688"/>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Publiez un post en appliquant les 3 temps de la checklist</a:t>
            </a:r>
          </a:p>
          <a:p>
            <a:pPr algn="l">
              <a:lnSpc>
                <a:spcPct val="115000"/>
              </a:lnSpc>
            </a:pPr>
            <a:r>
              <a:rPr sz="1400" lang="fr-FR">
                <a:solidFill>
                  <a:srgbClr val="161616"/>
                </a:solidFill>
                <a:latin typeface="Marianne"/>
              </a:rPr>
              <a:t>• </a:t>
            </a:r>
            <a:r>
              <a:rPr sz="1400" b="0" lang="fr-FR">
                <a:solidFill>
                  <a:srgbClr val="161616"/>
                </a:solidFill>
                <a:latin typeface="Marianne"/>
              </a:rPr>
              <a:t>Faites relire une publication par un binôme avant mise en ligne</a:t>
            </a:r>
          </a:p>
          <a:p>
            <a:pPr algn="l">
              <a:lnSpc>
                <a:spcPct val="115000"/>
              </a:lnSpc>
            </a:pPr>
            <a:r>
              <a:rPr sz="1400" lang="fr-FR">
                <a:solidFill>
                  <a:srgbClr val="161616"/>
                </a:solidFill>
                <a:latin typeface="Marianne"/>
              </a:rPr>
              <a:t>• </a:t>
            </a:r>
            <a:r>
              <a:rPr sz="1400" b="0" lang="fr-FR">
                <a:solidFill>
                  <a:srgbClr val="161616"/>
                </a:solidFill>
                <a:latin typeface="Marianne"/>
              </a:rPr>
              <a:t>Partagez le mémo à votre équipe de communication</a:t>
            </a:r>
          </a:p>
        </p:txBody>
      </p:sp>
      <p:sp>
        <p:nvSpPr>
          <p:cNvPr id="21" name="DSFR-box"/>
          <p:cNvSpPr/>
          <p:nvPr/>
        </p:nvSpPr>
        <p:spPr>
          <a:xfrm>
            <a:off x="6313931" y="3968496"/>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lert-info-titre"/>
          <p:cNvSpPr txBox="1"/>
          <p:nvPr/>
        </p:nvSpPr>
        <p:spPr>
          <a:xfrm>
            <a:off x="6469379" y="4059936"/>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Mémo : les 3 temps</a:t>
            </a:r>
          </a:p>
        </p:txBody>
      </p:sp>
      <p:sp>
        <p:nvSpPr>
          <p:cNvPr id="23" name="DSFR-alert-info-body"/>
          <p:cNvSpPr txBox="1"/>
          <p:nvPr/>
        </p:nvSpPr>
        <p:spPr>
          <a:xfrm>
            <a:off x="6469379" y="4471416"/>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Marianne"/>
              </a:rPr>
              <a:t>• </a:t>
            </a:r>
            <a:r>
              <a:rPr sz="1400" b="0" lang="fr-FR">
                <a:solidFill>
                  <a:srgbClr val="161616"/>
                </a:solidFill>
                <a:latin typeface="Marianne"/>
              </a:rPr>
              <a:t>Anticiper : médias, représentations, contraste</a:t>
            </a:r>
          </a:p>
          <a:p>
            <a:pPr algn="l">
              <a:lnSpc>
                <a:spcPct val="115000"/>
              </a:lnSpc>
            </a:pPr>
            <a:r>
              <a:rPr sz="1400" lang="fr-FR">
                <a:solidFill>
                  <a:srgbClr val="161616"/>
                </a:solidFill>
                <a:latin typeface="Marianne"/>
              </a:rPr>
              <a:t>• </a:t>
            </a:r>
            <a:r>
              <a:rPr sz="1400" b="0" lang="fr-FR">
                <a:solidFill>
                  <a:srgbClr val="161616"/>
                </a:solidFill>
                <a:latin typeface="Marianne"/>
              </a:rPr>
              <a:t>Rédiger : texte natif, émojis, hashtags, langage inclusif</a:t>
            </a:r>
          </a:p>
          <a:p>
            <a:pPr algn="l">
              <a:lnSpc>
                <a:spcPct val="115000"/>
              </a:lnSpc>
            </a:pPr>
            <a:r>
              <a:rPr sz="1400" lang="fr-FR">
                <a:solidFill>
                  <a:srgbClr val="161616"/>
                </a:solidFill>
                <a:latin typeface="Marianne"/>
              </a:rPr>
              <a:t>• </a:t>
            </a:r>
            <a:r>
              <a:rPr sz="1400" b="0" lang="fr-FR">
                <a:solidFill>
                  <a:srgbClr val="161616"/>
                </a:solidFill>
                <a:latin typeface="Marianne"/>
              </a:rPr>
              <a:t>Publier : alt text, sous-titres, transcription, QR code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 / Réseaux sociaux</a:t>
            </a:r>
          </a:p>
        </p:txBody>
      </p:sp>
      <p:sp>
        <p:nvSpPr>
          <p:cNvPr id="9" name="DSFR-stepper-connecteur-1-decoratif" descr=""/>
          <p:cNvSpPr/>
          <p:nvPr/>
        </p:nvSpPr>
        <p:spPr>
          <a:xfrm>
            <a:off x="2566416" y="231343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6409944" y="2313432"/>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385876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3968496"/>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Marianne"/>
              </a:rPr>
              <a:t>Des questions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Marianne"/>
              </a:rPr>
              <a:t>Cloture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Marianne"/>
              </a:rPr>
              <a:t>138</a:t>
            </a:r>
            <a:endParaRPr lang="fr-FR" dirty="0"/>
          </a:p>
        </p:txBody>
      </p:sp>
      <p:sp>
        <p:nvSpPr>
          <p:cNvPr id="9" name="DSFR-box"/>
          <p:cNvSpPr/>
          <p:nvPr/>
        </p:nvSpPr>
        <p:spPr>
          <a:xfrm>
            <a:off x="548640" y="228600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37744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Marianne"/>
              </a:rPr>
              <a:t>Merci pour votre participation !</a:t>
            </a:r>
          </a:p>
        </p:txBody>
      </p:sp>
      <p:sp>
        <p:nvSpPr>
          <p:cNvPr id="12" name="DSFR-box"/>
          <p:cNvSpPr/>
          <p:nvPr/>
        </p:nvSpPr>
        <p:spPr>
          <a:xfrm>
            <a:off x="548640" y="3474720"/>
            <a:ext cx="11155680" cy="121158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5661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Marianne"/>
              </a:rPr>
              <a:t>Vos contacts</a:t>
            </a:r>
          </a:p>
        </p:txBody>
      </p:sp>
      <p:sp>
        <p:nvSpPr>
          <p:cNvPr id="14" name="DSFR-callout-body"/>
          <p:cNvSpPr txBox="1"/>
          <p:nvPr/>
        </p:nvSpPr>
        <p:spPr>
          <a:xfrm>
            <a:off x="704088" y="3977639"/>
            <a:ext cx="10908792" cy="617220"/>
          </a:xfrm>
          <a:prstGeom prst="rect">
            <a:avLst/>
          </a:prstGeom>
          <a:noFill/>
        </p:spPr>
        <p:txBody>
          <a:bodyPr wrap="square" lIns="73152" rIns="73152">
            <a:spAutoFit/>
          </a:bodyPr>
          <a:lstStyle/>
          <a:p>
            <a:pPr algn="l">
              <a:lnSpc>
                <a:spcPct val="125000"/>
              </a:lnSpc>
            </a:pPr>
            <a:r>
              <a:rPr sz="1400" lang="fr-FR">
                <a:solidFill>
                  <a:srgbClr val="161616"/>
                </a:solidFill>
                <a:latin typeface="Marianne"/>
              </a:rPr>
              <a:t>• </a:t>
            </a:r>
            <a:r>
              <a:rPr sz="1400" b="0" lang="fr-FR">
                <a:solidFill>
                  <a:srgbClr val="161616"/>
                </a:solidFill>
                <a:latin typeface="Marianne"/>
              </a:rPr>
              <a:t>Bertrand Matge - bertrand.matge@finances.gouv.fr</a:t>
            </a:r>
          </a:p>
          <a:p>
            <a:pPr algn="l">
              <a:lnSpc>
                <a:spcPct val="125000"/>
              </a:lnSpc>
            </a:pPr>
            <a:r>
              <a:rPr sz="1400" lang="fr-FR">
                <a:solidFill>
                  <a:srgbClr val="161616"/>
                </a:solidFill>
                <a:latin typeface="Marianne"/>
              </a:rPr>
              <a:t>• </a:t>
            </a:r>
            <a:r>
              <a:rPr sz="1400" b="0" lang="fr-FR">
                <a:solidFill>
                  <a:srgbClr val="161616"/>
                </a:solidFill>
                <a:latin typeface="Marianne"/>
              </a:rPr>
              <a:t>Alexandra Guiderdoni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Marianne"/>
              </a:rPr>
              <a:t>4 juin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Marianne"/>
              </a:rPr>
              <a:t>Formation 102638</a:t>
            </a:r>
          </a:p>
        </p:txBody>
      </p:sp>
      <p:sp>
        <p:nvSpPr>
          <p:cNvPr id="8" name="DSFR-accent-decoratif" descr=""/>
          <p:cNvSpPr/>
          <p:nvPr/>
        </p:nvSpPr>
        <p:spPr>
          <a:xfrm>
            <a:off x="475488" y="228600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474720"/>
            <a:ext cx="73152" cy="12115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_gouvernement_marianne" id="{307D1C89-B296-4882-8ECC-2BD1C6821949}" vid="{B53EA17D-A77A-459E-979D-FA962BE90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ppt_gouvernement_arial</Template>
  <TotalTime>200</TotalTime>
  <Words>1065</Words>
  <Application>Microsoft Office PowerPoint</Application>
  <PresentationFormat>Affichage à l'écran (16:9)</PresentationFormat>
  <Paragraphs>157</Paragraphs>
  <Slides>16</Slides>
  <Notes>1</Notes>
  <HiddenSlides>3</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Verdana</vt:lpstr>
      <vt:lpstr>Wingdings</vt:lpstr>
      <vt:lpstr>GOUVERNEMENT</vt:lpstr>
      <vt:lpstr>XXXXX Libelle de la formation</vt:lpstr>
      <vt:lpstr>Présentation PowerPoint</vt:lpstr>
      <vt:lpstr>Le programme</vt:lpstr>
      <vt:lpstr>Présentation PowerPoint</vt:lpstr>
      <vt:lpstr>Sommaire</vt:lpstr>
      <vt:lpstr>Introduction aux réseaux informatiques</vt:lpstr>
      <vt:lpstr>Introduction </vt:lpstr>
      <vt:lpstr>Présentation PowerPoint</vt:lpstr>
      <vt:lpstr>Présentation PowerPoint</vt:lpstr>
      <vt:lpstr>Sommaire</vt:lpstr>
      <vt:lpstr>Titre de partie</vt:lpstr>
      <vt:lpstr>Lorem ipsum dolor  sit amet consectetur</vt:lpstr>
      <vt:lpstr>Lorem ipsum dolor  sit amet consectetur</vt:lpstr>
      <vt:lpstr>Réduire / Augmenter le niveau de liste</vt:lpstr>
      <vt:lpstr>Titre</vt:lpstr>
      <vt:lpstr>Copier / coller les textes</vt:lpstr>
    </vt:vector>
  </TitlesOfParts>
  <Manager>Client</Manager>
  <Company>Secrétariat Général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102638 - Accessibilité numérique</dc:title>
  <dc:subject>Support de formation IGPDE - DSFR accessible</dc:subject>
  <dc:creator>Alex Guiderdoni</dc:creator>
  <cp:lastModifiedBy>COUPLAN Carine</cp:lastModifiedBy>
  <cp:revision>15</cp:revision>
  <dcterms:created xsi:type="dcterms:W3CDTF">2020-03-06T09:47:41Z</dcterms:created>
  <dcterms:modified xsi:type="dcterms:W3CDTF">2024-09-06T15:21:48Z</dcterms:modified>
  <dc:language>fr-FR</dc:language>
</cp:coreProperties>
</file>