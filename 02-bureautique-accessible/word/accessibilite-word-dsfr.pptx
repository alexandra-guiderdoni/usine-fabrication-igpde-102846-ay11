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showPr showNarration="1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Accueillir les participants, vérifier que chacun a Word ouvert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Préciser que la formation est 100 % pratique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1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Afficher les 2 colonnes, demander : « Lequel choisissez-vous ? » (R9)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Laisser 10 secondes puis révéler : visuellement identiques, structure différente (R8)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Ce n'est pas une compétence technique, c'est une compétence rédactionnelle (R12 — WIIFM)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Sources : 15 % = OMS, Rapport mondial sur le handicap (2011, confirmé 2023)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  80 % = DREES, enquête Handicap-Santé (handicaps non visibles)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Vous produisez déjà des documents Word — il s'agit d'utiliser les bonnes fonctionnalités »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Le tableau est la référence visuelle, l'oral donne le fil rouge (R5 — double codage)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Chaque pilier se termine par une vérification concrète »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Faire voter à main levée pour chaque affirmation (R14)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- 1. FAUX : seuls les styles de titre comptent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- 2. FAUX : fonctionnalité Tableau obligatoire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- 3. FAUX : premier filtre utile mais incomplet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3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Carte mentale du parcours : « On avance pilier par pilier » (R4)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Le pilier Structure représente 60 % de l'effort — c'est là qu'on commence » (R11)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Imaginez lire un livre de 50 pages sans table des matières » (R7 — analogie)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Montrer le volet de navigation en direct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Hiérarchie : Titre 1 &gt; Titre 2 &gt; Titre 3, pas de saut de niveau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3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Exercice en binôme (2 min) : « Ouvrez un document, Maj+F1, cliquez sur une liste » (R17)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Word auto-corrige souvent les tirets en listes — mais pas toujours, vérifier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3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Les retours chariot pour sauter une page : le lecteur d'écran lit chaque ligne vide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Ctrl+Entrée = 1 saut propre, invisible pour les TA, robuste au redimensionnement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Distinguer tableau de mise en page (pas d'en-têtes) et tableau de données (en-têtes)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Le piège classique : copier-coller un tableau sans vérifier l'habillage » (R6)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Montrer la différence entre « Outils Image » (image de tableau) et « Outils de tableau »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Répéter en tant que ligne d'en-tête » : invisible visuellement mais capital pour les TA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3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Faire voter (R14). Bonne réponse : B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D est nécessaire mais pas suffisant — le format .docx est un prérequis, pas une preuve »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Feedback immédiat après le vote (R19)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Si possible, projeter CCA en direct sur un extrait de document (R5 — double codage)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Les designers connaissent ce ratio — votre rôle est de vérifier » (R21)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Démonstration en direct si CCA est installé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Astuce : ajuster le gris par pas de 10 en hexadécimal jusqu'au ratio cible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La plupart du temps, il suffit de foncer légèrement le gris » (R21 — scaffolding)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3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Fait surprenant : 8 % des hommes daltoniens (R8)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Règle simple : « Si vous imprimez en noir et blanc, l'information est-elle compréhensible ? »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Source : 8 % = Colour Blind Awareness, étude population masculine européenne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Test mental : « Si je remplace l'image par le texte alt, le document reste compréhensible ? » (R7)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Exercice : montrer une image, rédiger un alt en 15 secondes, comparer (R17)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3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Analogie : « C'est comme un figurant au cinéma — il est là pour le décor, pas pour parler » (R7)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Question au public : « Dans vos documents, combien d'images sont purement décoratives ? » (R13)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En cas de doute : décrire plutôt que marquer comme décoratif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Phrase à retenir : « Objet flottant = objet invisible » (R3 — charge cognitive réduite)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Le vérificateur d'accessibilité signale les objets non alignés (pilier 5)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Un utilisateur de lecteur d'écran navigue de lien en lien — imaginez entendre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  'cliquez ici, cliquez ici, cliquez ici' sans contexte » (R7 — analogie)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Pour les documents imprimés ET numériques : inclure l'URL entre parenthèses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Surprise : le filigrane que tout le monde voit est invisible pour les TA (R8)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Solution simple : une ligne au début du document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Faire répondre individuellement puis corriger en groupe (R14 — récupération active)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Insister sur la distinction significatif/décoratif (questions 1 vs 2)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Feedback immédiat après chaque réponse (R19)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3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Faire écouter une synthèse vocale lisant un mot anglais avec balisage français (R8)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La plupart de vos documents contiennent au moins un anglicisme — feedback, planning... »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3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Court et direct — interdit absolu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C'est le seul critère binaire : un seul objet clignotant = document non accessible »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1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Ces 5 vérifications prennent 2 minutes » (R12 — WIIFM)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Le titre dans les propriétés est celui que les TA annoncent à l'ouverture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3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Pensez au correcteur orthographique : il attrape les fautes évidentes,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  mais il ne garantit pas que votre texte est bien écrit » (R7 — analogie)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Montrer le vérificateur en direct si possible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Storytelling : Sophie est le héros, le document inaccessible est le conflit (R6)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En 7 étapes et 10 minutes, Sophie a rendu son document accessible »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Demander : « Combien de ces étapes faites-vous déjà ? » (R25 — métacognition)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3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Faire compter individuellement, puis partager (R14)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Parcourir chaque erreur et rappeler le critère correspondant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Si vous les avez toutes trouvées, vous avez intégré les 5 piliers » (R25)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3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Si vous ne retenez qu'une chose : les styles de titre. Quick win numéro 1 » (R2)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La matrice sert de feuille de route pour les semaines suivantes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Distribuer la checklist imprimée ou la partager en version numérique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Imprimez-la, collez-la à côté de votre écran » (R26 — transformation)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Demander à chaque participant de choisir SON premier réflexe (R24 — plan d'action)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« 3 réflexes, 30 secondes chacun, 90 % des problèmes couverts » (R15)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Clôturer avec énergie (R22 — neurones miroirs)</a:t>
            </a:r>
          </a:p>
          <a:p>
            <a:pPr>
              <a:defRPr lang="fr-FR">
                <a:latin typeface="Marianne"/>
              </a:defRPr>
            </a:pPr>
            <a:r>
              <a:rPr lang="fr-FR">
                <a:latin typeface="Marianne"/>
              </a:rPr>
              <a:t>- Timing : 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lang="fr-FR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lang="fr-FR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lang="fr-FR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lang="fr-FR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lang="fr-FR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 lang="fr-FR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 lang="fr-FR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 lang="fr-FR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 lang="fr-FR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FR" smtClean="0"/>
              <a:t>1/27/13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Click to edit Master text styles</a:t>
            </a:r>
          </a:p>
          <a:p>
            <a:pPr lvl="1"/>
            <a:r>
              <a:rPr lang="fr-FR" smtClean="0"/>
              <a:t>Second level</a:t>
            </a:r>
          </a:p>
          <a:p>
            <a:pPr lvl="2"/>
            <a:r>
              <a:rPr lang="fr-FR" smtClean="0"/>
              <a:t>Third level</a:t>
            </a:r>
          </a:p>
          <a:p>
            <a:pPr lvl="3"/>
            <a:r>
              <a:rPr lang="fr-FR" smtClean="0"/>
              <a:t>Fourth level</a:t>
            </a:r>
          </a:p>
          <a:p>
            <a:pPr lvl="4"/>
            <a:r>
              <a:rPr lang="fr-FR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FR" smtClean="0"/>
              <a:t>1/27/13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 lang="fr-FR"/>
            </a:lvl1pPr>
          </a:lstStyle>
          <a:p>
            <a:r>
              <a:rPr lang="fr-FR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 lang="fr-FR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 lang="fr-FR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 lang="fr-FR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 lang="fr-FR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 lang="fr-FR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 lang="fr-FR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 lang="fr-FR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 lang="fr-FR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 lang="fr-FR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FR" smtClean="0"/>
              <a:t>1/27/13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 lang="fr-FR"/>
            </a:lvl1pPr>
            <a:lvl2pPr>
              <a:defRPr sz="2400" lang="fr-FR"/>
            </a:lvl2pPr>
            <a:lvl3pPr>
              <a:defRPr sz="2000" lang="fr-FR"/>
            </a:lvl3pPr>
            <a:lvl4pPr>
              <a:defRPr sz="1800" lang="fr-FR"/>
            </a:lvl4pPr>
            <a:lvl5pPr>
              <a:defRPr sz="1800" lang="fr-FR"/>
            </a:lvl5pPr>
            <a:lvl6pPr>
              <a:defRPr sz="1800" lang="fr-FR"/>
            </a:lvl6pPr>
            <a:lvl7pPr>
              <a:defRPr sz="1800" lang="fr-FR"/>
            </a:lvl7pPr>
            <a:lvl8pPr>
              <a:defRPr sz="1800" lang="fr-FR"/>
            </a:lvl8pPr>
            <a:lvl9pPr>
              <a:defRPr sz="1800" lang="fr-FR"/>
            </a:lvl9pPr>
          </a:lstStyle>
          <a:p>
            <a:pPr lvl="0"/>
            <a:r>
              <a:rPr lang="fr-FR" smtClean="0"/>
              <a:t>Click to edit Master text styles</a:t>
            </a:r>
          </a:p>
          <a:p>
            <a:pPr lvl="1"/>
            <a:r>
              <a:rPr lang="fr-FR" smtClean="0"/>
              <a:t>Second level</a:t>
            </a:r>
          </a:p>
          <a:p>
            <a:pPr lvl="2"/>
            <a:r>
              <a:rPr lang="fr-FR" smtClean="0"/>
              <a:t>Third level</a:t>
            </a:r>
          </a:p>
          <a:p>
            <a:pPr lvl="3"/>
            <a:r>
              <a:rPr lang="fr-FR" smtClean="0"/>
              <a:t>Fourth level</a:t>
            </a:r>
          </a:p>
          <a:p>
            <a:pPr lvl="4"/>
            <a:r>
              <a:rPr lang="fr-FR" smtClean="0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 lang="fr-FR"/>
            </a:lvl1pPr>
            <a:lvl2pPr>
              <a:defRPr sz="2400" lang="fr-FR"/>
            </a:lvl2pPr>
            <a:lvl3pPr>
              <a:defRPr sz="2000" lang="fr-FR"/>
            </a:lvl3pPr>
            <a:lvl4pPr>
              <a:defRPr sz="1800" lang="fr-FR"/>
            </a:lvl4pPr>
            <a:lvl5pPr>
              <a:defRPr sz="1800" lang="fr-FR"/>
            </a:lvl5pPr>
            <a:lvl6pPr>
              <a:defRPr sz="1800" lang="fr-FR"/>
            </a:lvl6pPr>
            <a:lvl7pPr>
              <a:defRPr sz="1800" lang="fr-FR"/>
            </a:lvl7pPr>
            <a:lvl8pPr>
              <a:defRPr sz="1800" lang="fr-FR"/>
            </a:lvl8pPr>
            <a:lvl9pPr>
              <a:defRPr sz="1800" lang="fr-FR"/>
            </a:lvl9pPr>
          </a:lstStyle>
          <a:p>
            <a:pPr lvl="0"/>
            <a:r>
              <a:rPr lang="fr-FR" smtClean="0"/>
              <a:t>Click to edit Master text styles</a:t>
            </a:r>
          </a:p>
          <a:p>
            <a:pPr lvl="1"/>
            <a:r>
              <a:rPr lang="fr-FR" smtClean="0"/>
              <a:t>Second level</a:t>
            </a:r>
          </a:p>
          <a:p>
            <a:pPr lvl="2"/>
            <a:r>
              <a:rPr lang="fr-FR" smtClean="0"/>
              <a:t>Third level</a:t>
            </a:r>
          </a:p>
          <a:p>
            <a:pPr lvl="3"/>
            <a:r>
              <a:rPr lang="fr-FR" smtClean="0"/>
              <a:t>Fourth level</a:t>
            </a:r>
          </a:p>
          <a:p>
            <a:pPr lvl="4"/>
            <a:r>
              <a:rPr lang="fr-FR" smtClean="0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FR" smtClean="0"/>
              <a:t>1/27/13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fr-FR"/>
            </a:lvl1pPr>
          </a:lstStyle>
          <a:p>
            <a:r>
              <a:rPr lang="fr-FR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 lang="fr-FR"/>
            </a:lvl1pPr>
            <a:lvl2pPr marL="457200" indent="0">
              <a:buNone/>
              <a:defRPr sz="2000" b="1" lang="fr-FR"/>
            </a:lvl2pPr>
            <a:lvl3pPr marL="914400" indent="0">
              <a:buNone/>
              <a:defRPr sz="1800" b="1" lang="fr-FR"/>
            </a:lvl3pPr>
            <a:lvl4pPr marL="1371600" indent="0">
              <a:buNone/>
              <a:defRPr sz="1600" b="1" lang="fr-FR"/>
            </a:lvl4pPr>
            <a:lvl5pPr marL="1828800" indent="0">
              <a:buNone/>
              <a:defRPr sz="1600" b="1" lang="fr-FR"/>
            </a:lvl5pPr>
            <a:lvl6pPr marL="2286000" indent="0">
              <a:buNone/>
              <a:defRPr sz="1600" b="1" lang="fr-FR"/>
            </a:lvl6pPr>
            <a:lvl7pPr marL="2743200" indent="0">
              <a:buNone/>
              <a:defRPr sz="1600" b="1" lang="fr-FR"/>
            </a:lvl7pPr>
            <a:lvl8pPr marL="3200400" indent="0">
              <a:buNone/>
              <a:defRPr sz="1600" b="1" lang="fr-FR"/>
            </a:lvl8pPr>
            <a:lvl9pPr marL="3657600" indent="0">
              <a:buNone/>
              <a:defRPr sz="1600" b="1" lang="fr-FR"/>
            </a:lvl9pPr>
          </a:lstStyle>
          <a:p>
            <a:pPr lvl="0"/>
            <a:r>
              <a:rPr lang="fr-F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 lang="fr-FR"/>
            </a:lvl1pPr>
            <a:lvl2pPr>
              <a:defRPr sz="2000" lang="fr-FR"/>
            </a:lvl2pPr>
            <a:lvl3pPr>
              <a:defRPr sz="1800" lang="fr-FR"/>
            </a:lvl3pPr>
            <a:lvl4pPr>
              <a:defRPr sz="1600" lang="fr-FR"/>
            </a:lvl4pPr>
            <a:lvl5pPr>
              <a:defRPr sz="1600" lang="fr-FR"/>
            </a:lvl5pPr>
            <a:lvl6pPr>
              <a:defRPr sz="1600" lang="fr-FR"/>
            </a:lvl6pPr>
            <a:lvl7pPr>
              <a:defRPr sz="1600" lang="fr-FR"/>
            </a:lvl7pPr>
            <a:lvl8pPr>
              <a:defRPr sz="1600" lang="fr-FR"/>
            </a:lvl8pPr>
            <a:lvl9pPr>
              <a:defRPr sz="1600" lang="fr-FR"/>
            </a:lvl9pPr>
          </a:lstStyle>
          <a:p>
            <a:pPr lvl="0"/>
            <a:r>
              <a:rPr lang="fr-FR" smtClean="0"/>
              <a:t>Click to edit Master text styles</a:t>
            </a:r>
          </a:p>
          <a:p>
            <a:pPr lvl="1"/>
            <a:r>
              <a:rPr lang="fr-FR" smtClean="0"/>
              <a:t>Second level</a:t>
            </a:r>
          </a:p>
          <a:p>
            <a:pPr lvl="2"/>
            <a:r>
              <a:rPr lang="fr-FR" smtClean="0"/>
              <a:t>Third level</a:t>
            </a:r>
          </a:p>
          <a:p>
            <a:pPr lvl="3"/>
            <a:r>
              <a:rPr lang="fr-FR" smtClean="0"/>
              <a:t>Fourth level</a:t>
            </a:r>
          </a:p>
          <a:p>
            <a:pPr lvl="4"/>
            <a:r>
              <a:rPr lang="fr-FR" smtClean="0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 lang="fr-FR"/>
            </a:lvl1pPr>
            <a:lvl2pPr marL="457200" indent="0">
              <a:buNone/>
              <a:defRPr sz="2000" b="1" lang="fr-FR"/>
            </a:lvl2pPr>
            <a:lvl3pPr marL="914400" indent="0">
              <a:buNone/>
              <a:defRPr sz="1800" b="1" lang="fr-FR"/>
            </a:lvl3pPr>
            <a:lvl4pPr marL="1371600" indent="0">
              <a:buNone/>
              <a:defRPr sz="1600" b="1" lang="fr-FR"/>
            </a:lvl4pPr>
            <a:lvl5pPr marL="1828800" indent="0">
              <a:buNone/>
              <a:defRPr sz="1600" b="1" lang="fr-FR"/>
            </a:lvl5pPr>
            <a:lvl6pPr marL="2286000" indent="0">
              <a:buNone/>
              <a:defRPr sz="1600" b="1" lang="fr-FR"/>
            </a:lvl6pPr>
            <a:lvl7pPr marL="2743200" indent="0">
              <a:buNone/>
              <a:defRPr sz="1600" b="1" lang="fr-FR"/>
            </a:lvl7pPr>
            <a:lvl8pPr marL="3200400" indent="0">
              <a:buNone/>
              <a:defRPr sz="1600" b="1" lang="fr-FR"/>
            </a:lvl8pPr>
            <a:lvl9pPr marL="3657600" indent="0">
              <a:buNone/>
              <a:defRPr sz="1600" b="1" lang="fr-FR"/>
            </a:lvl9pPr>
          </a:lstStyle>
          <a:p>
            <a:pPr lvl="0"/>
            <a:r>
              <a:rPr lang="fr-F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 lang="fr-FR"/>
            </a:lvl1pPr>
            <a:lvl2pPr>
              <a:defRPr sz="2000" lang="fr-FR"/>
            </a:lvl2pPr>
            <a:lvl3pPr>
              <a:defRPr sz="1800" lang="fr-FR"/>
            </a:lvl3pPr>
            <a:lvl4pPr>
              <a:defRPr sz="1600" lang="fr-FR"/>
            </a:lvl4pPr>
            <a:lvl5pPr>
              <a:defRPr sz="1600" lang="fr-FR"/>
            </a:lvl5pPr>
            <a:lvl6pPr>
              <a:defRPr sz="1600" lang="fr-FR"/>
            </a:lvl6pPr>
            <a:lvl7pPr>
              <a:defRPr sz="1600" lang="fr-FR"/>
            </a:lvl7pPr>
            <a:lvl8pPr>
              <a:defRPr sz="1600" lang="fr-FR"/>
            </a:lvl8pPr>
            <a:lvl9pPr>
              <a:defRPr sz="1600" lang="fr-FR"/>
            </a:lvl9pPr>
          </a:lstStyle>
          <a:p>
            <a:pPr lvl="0"/>
            <a:r>
              <a:rPr lang="fr-FR" smtClean="0"/>
              <a:t>Click to edit Master text styles</a:t>
            </a:r>
          </a:p>
          <a:p>
            <a:pPr lvl="1"/>
            <a:r>
              <a:rPr lang="fr-FR" smtClean="0"/>
              <a:t>Second level</a:t>
            </a:r>
          </a:p>
          <a:p>
            <a:pPr lvl="2"/>
            <a:r>
              <a:rPr lang="fr-FR" smtClean="0"/>
              <a:t>Third level</a:t>
            </a:r>
          </a:p>
          <a:p>
            <a:pPr lvl="3"/>
            <a:r>
              <a:rPr lang="fr-FR" smtClean="0"/>
              <a:t>Fourth level</a:t>
            </a:r>
          </a:p>
          <a:p>
            <a:pPr lvl="4"/>
            <a:r>
              <a:rPr lang="fr-FR" smtClean="0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FR" smtClean="0"/>
              <a:t>1/27/13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 algn="l">
              <a:defRPr sz="2800" b="1" lang="fr-FR">
                <a:solidFill>
                  <a:srgbClr val="000091"/>
                </a:solidFill>
                <a:latin typeface="Marianne"/>
              </a:defRPr>
            </a:pPr>
            <a:r>
              <a:rPr lang="fr-FR" smtClean="0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FR" smtClean="0"/>
              <a:t>1/27/13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FR" smtClean="0"/>
              <a:t>1/27/13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 lang="fr-FR"/>
            </a:lvl1pPr>
          </a:lstStyle>
          <a:p>
            <a:r>
              <a:rPr lang="fr-FR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 lang="fr-FR"/>
            </a:lvl1pPr>
            <a:lvl2pPr>
              <a:defRPr sz="2800" lang="fr-FR"/>
            </a:lvl2pPr>
            <a:lvl3pPr>
              <a:defRPr sz="2400" lang="fr-FR"/>
            </a:lvl3pPr>
            <a:lvl4pPr>
              <a:defRPr sz="2000" lang="fr-FR"/>
            </a:lvl4pPr>
            <a:lvl5pPr>
              <a:defRPr sz="2000" lang="fr-FR"/>
            </a:lvl5pPr>
            <a:lvl6pPr>
              <a:defRPr sz="2000" lang="fr-FR"/>
            </a:lvl6pPr>
            <a:lvl7pPr>
              <a:defRPr sz="2000" lang="fr-FR"/>
            </a:lvl7pPr>
            <a:lvl8pPr>
              <a:defRPr sz="2000" lang="fr-FR"/>
            </a:lvl8pPr>
            <a:lvl9pPr>
              <a:defRPr sz="2000" lang="fr-FR"/>
            </a:lvl9pPr>
          </a:lstStyle>
          <a:p>
            <a:pPr lvl="0"/>
            <a:r>
              <a:rPr lang="fr-FR" smtClean="0"/>
              <a:t>Click to edit Master text styles</a:t>
            </a:r>
          </a:p>
          <a:p>
            <a:pPr lvl="1"/>
            <a:r>
              <a:rPr lang="fr-FR" smtClean="0"/>
              <a:t>Second level</a:t>
            </a:r>
          </a:p>
          <a:p>
            <a:pPr lvl="2"/>
            <a:r>
              <a:rPr lang="fr-FR" smtClean="0"/>
              <a:t>Third level</a:t>
            </a:r>
          </a:p>
          <a:p>
            <a:pPr lvl="3"/>
            <a:r>
              <a:rPr lang="fr-FR" smtClean="0"/>
              <a:t>Fourth level</a:t>
            </a:r>
          </a:p>
          <a:p>
            <a:pPr lvl="4"/>
            <a:r>
              <a:rPr lang="fr-FR" smtClean="0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 lang="fr-FR"/>
            </a:lvl1pPr>
            <a:lvl2pPr marL="457200" indent="0">
              <a:buNone/>
              <a:defRPr sz="1200" lang="fr-FR"/>
            </a:lvl2pPr>
            <a:lvl3pPr marL="914400" indent="0">
              <a:buNone/>
              <a:defRPr sz="1000" lang="fr-FR"/>
            </a:lvl3pPr>
            <a:lvl4pPr marL="1371600" indent="0">
              <a:buNone/>
              <a:defRPr sz="900" lang="fr-FR"/>
            </a:lvl4pPr>
            <a:lvl5pPr marL="1828800" indent="0">
              <a:buNone/>
              <a:defRPr sz="900" lang="fr-FR"/>
            </a:lvl5pPr>
            <a:lvl6pPr marL="2286000" indent="0">
              <a:buNone/>
              <a:defRPr sz="900" lang="fr-FR"/>
            </a:lvl6pPr>
            <a:lvl7pPr marL="2743200" indent="0">
              <a:buNone/>
              <a:defRPr sz="900" lang="fr-FR"/>
            </a:lvl7pPr>
            <a:lvl8pPr marL="3200400" indent="0">
              <a:buNone/>
              <a:defRPr sz="900" lang="fr-FR"/>
            </a:lvl8pPr>
            <a:lvl9pPr marL="3657600" indent="0">
              <a:buNone/>
              <a:defRPr sz="900" lang="fr-FR"/>
            </a:lvl9pPr>
          </a:lstStyle>
          <a:p>
            <a:pPr lvl="0"/>
            <a:r>
              <a:rPr lang="fr-F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FR" smtClean="0"/>
              <a:t>1/27/13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 lang="fr-FR"/>
            </a:lvl1pPr>
          </a:lstStyle>
          <a:p>
            <a:r>
              <a:rPr lang="fr-FR" smtClean="0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 lang="fr-FR"/>
            </a:lvl1pPr>
            <a:lvl2pPr marL="457200" indent="0">
              <a:buNone/>
              <a:defRPr sz="2800" lang="fr-FR"/>
            </a:lvl2pPr>
            <a:lvl3pPr marL="914400" indent="0">
              <a:buNone/>
              <a:defRPr sz="2400" lang="fr-FR"/>
            </a:lvl3pPr>
            <a:lvl4pPr marL="1371600" indent="0">
              <a:buNone/>
              <a:defRPr sz="2000" lang="fr-FR"/>
            </a:lvl4pPr>
            <a:lvl5pPr marL="1828800" indent="0">
              <a:buNone/>
              <a:defRPr sz="2000" lang="fr-FR"/>
            </a:lvl5pPr>
            <a:lvl6pPr marL="2286000" indent="0">
              <a:buNone/>
              <a:defRPr sz="2000" lang="fr-FR"/>
            </a:lvl6pPr>
            <a:lvl7pPr marL="2743200" indent="0">
              <a:buNone/>
              <a:defRPr sz="2000" lang="fr-FR"/>
            </a:lvl7pPr>
            <a:lvl8pPr marL="3200400" indent="0">
              <a:buNone/>
              <a:defRPr sz="2000" lang="fr-FR"/>
            </a:lvl8pPr>
            <a:lvl9pPr marL="3657600" indent="0">
              <a:buNone/>
              <a:defRPr sz="2000" lang="fr-FR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 lang="fr-FR"/>
            </a:lvl1pPr>
            <a:lvl2pPr marL="457200" indent="0">
              <a:buNone/>
              <a:defRPr sz="1200" lang="fr-FR"/>
            </a:lvl2pPr>
            <a:lvl3pPr marL="914400" indent="0">
              <a:buNone/>
              <a:defRPr sz="1000" lang="fr-FR"/>
            </a:lvl3pPr>
            <a:lvl4pPr marL="1371600" indent="0">
              <a:buNone/>
              <a:defRPr sz="900" lang="fr-FR"/>
            </a:lvl4pPr>
            <a:lvl5pPr marL="1828800" indent="0">
              <a:buNone/>
              <a:defRPr sz="900" lang="fr-FR"/>
            </a:lvl5pPr>
            <a:lvl6pPr marL="2286000" indent="0">
              <a:buNone/>
              <a:defRPr sz="900" lang="fr-FR"/>
            </a:lvl6pPr>
            <a:lvl7pPr marL="2743200" indent="0">
              <a:buNone/>
              <a:defRPr sz="900" lang="fr-FR"/>
            </a:lvl7pPr>
            <a:lvl8pPr marL="3200400" indent="0">
              <a:buNone/>
              <a:defRPr sz="900" lang="fr-FR"/>
            </a:lvl8pPr>
            <a:lvl9pPr marL="3657600" indent="0">
              <a:buNone/>
              <a:defRPr sz="900" lang="fr-FR"/>
            </a:lvl9pPr>
          </a:lstStyle>
          <a:p>
            <a:pPr lvl="0"/>
            <a:r>
              <a:rPr lang="fr-F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FR" smtClean="0"/>
              <a:t>1/27/13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Click to edit Master text styles</a:t>
            </a:r>
          </a:p>
          <a:p>
            <a:pPr lvl="1"/>
            <a:r>
              <a:rPr lang="fr-FR" smtClean="0"/>
              <a:t>Second level</a:t>
            </a:r>
          </a:p>
          <a:p>
            <a:pPr lvl="2"/>
            <a:r>
              <a:rPr lang="fr-FR" smtClean="0"/>
              <a:t>Third level</a:t>
            </a:r>
          </a:p>
          <a:p>
            <a:pPr lvl="3"/>
            <a:r>
              <a:rPr lang="fr-FR" smtClean="0"/>
              <a:t>Fourth level</a:t>
            </a:r>
          </a:p>
          <a:p>
            <a:pPr lvl="4"/>
            <a:r>
              <a:rPr lang="fr-FR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FR" smtClean="0"/>
              <a:t>1/27/13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Click to edit Master text styles</a:t>
            </a:r>
          </a:p>
          <a:p>
            <a:pPr lvl="1"/>
            <a:r>
              <a:rPr lang="fr-FR" smtClean="0"/>
              <a:t>Second level</a:t>
            </a:r>
          </a:p>
          <a:p>
            <a:pPr lvl="2"/>
            <a:r>
              <a:rPr lang="fr-FR" smtClean="0"/>
              <a:t>Third level</a:t>
            </a:r>
          </a:p>
          <a:p>
            <a:pPr lvl="3"/>
            <a:r>
              <a:rPr lang="fr-FR" smtClean="0"/>
              <a:t>Fourth level</a:t>
            </a:r>
          </a:p>
          <a:p>
            <a:pPr lvl="4"/>
            <a:r>
              <a:rPr lang="fr-FR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fr-FR" smtClean="0"/>
              <a:t>1/27/13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Click to edit Master text styles</a:t>
            </a:r>
          </a:p>
          <a:p>
            <a:pPr lvl="1"/>
            <a:r>
              <a:rPr lang="fr-FR" smtClean="0"/>
              <a:t>Second level</a:t>
            </a:r>
          </a:p>
          <a:p>
            <a:pPr lvl="2"/>
            <a:r>
              <a:rPr lang="fr-FR" smtClean="0"/>
              <a:t>Third level</a:t>
            </a:r>
          </a:p>
          <a:p>
            <a:pPr lvl="3"/>
            <a:r>
              <a:rPr lang="fr-FR" smtClean="0"/>
              <a:t>Fourth level</a:t>
            </a:r>
          </a:p>
          <a:p>
            <a:pPr lvl="4"/>
            <a:r>
              <a:rPr lang="fr-FR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fr-FR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fr-FR" smtClean="0"/>
              <a:t>1/27/13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fr-FR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fr-FR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fr-FR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fr-FR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fr-FR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fr-FR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fr-FR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fr-FR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fr-FR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fr-FR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fr-FR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fr-FR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 lang="fr-FR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fr-FR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fr-FR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fr-FR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fr-FR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fr-FR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fr-FR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fr-FR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fr-FR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Rendre un document Word accessible</a:t>
            </a:r>
          </a:p>
        </p:txBody>
      </p:sp>
      <p:sp>
        <p:nvSpPr>
          <p:cNvPr id="5" name="Highlight"/>
          <p:cNvSpPr txBox="1"/>
          <p:nvPr/>
        </p:nvSpPr>
        <p:spPr>
          <a:xfrm>
            <a:off x="841248" y="1719072"/>
            <a:ext cx="106527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Guide méthodologique pas-à-pas — 22 critères en 5 piliers</a:t>
            </a:r>
          </a:p>
        </p:txBody>
      </p:sp>
      <p:sp>
        <p:nvSpPr>
          <p:cNvPr id="7" name="Callout"/>
          <p:cNvSpPr/>
          <p:nvPr/>
        </p:nvSpPr>
        <p:spPr>
          <a:xfrm>
            <a:off x="685800" y="2926080"/>
            <a:ext cx="5262372" cy="1371600"/>
          </a:xfrm>
          <a:prstGeom prst="rect">
            <a:avLst/>
          </a:prstGeom>
          <a:solidFill>
            <a:srgbClr val="F5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 bIns="109728"/>
          <a:lstStyle/>
          <a:p>
            <a:pPr algn="ctr">
              <a:spcAft>
                <a:spcPts val="600"/>
              </a:spcAft>
              <a:defRPr sz="1600" b="1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Public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Agents publics, services communication, secrétariats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Aucun prérequis technique — juste Word pour PC</a:t>
            </a:r>
          </a:p>
        </p:txBody>
      </p:sp>
      <p:sp>
        <p:nvSpPr>
          <p:cNvPr id="9" name="Callout"/>
          <p:cNvSpPr/>
          <p:nvPr/>
        </p:nvSpPr>
        <p:spPr>
          <a:xfrm>
            <a:off x="6323076" y="2926080"/>
            <a:ext cx="5262372" cy="1371600"/>
          </a:xfrm>
          <a:prstGeom prst="rect">
            <a:avLst/>
          </a:prstGeom>
          <a:solidFill>
            <a:srgbClr val="F5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 bIns="109728"/>
          <a:lstStyle/>
          <a:p>
            <a:pPr algn="ctr">
              <a:spcAft>
                <a:spcPts val="600"/>
              </a:spcAft>
              <a:defRPr sz="1600" b="1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Format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30 slides, ~60 minutes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Alternance théorie / pratique / quiz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sz="1000" lang="fr-FR">
                <a:solidFill>
                  <a:srgbClr val="666666"/>
                </a:solidFill>
                <a:latin typeface="Marianne"/>
              </a:defRPr>
            </a:pPr>
            <a:r>
              <a:rPr sz="1000" lang="fr-FR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sz="1000" lang="fr-FR">
                <a:solidFill>
                  <a:srgbClr val="666666"/>
                </a:solidFill>
                <a:latin typeface="Marianne"/>
              </a:rPr>
              <a:t>1/30</a:t>
            </a:r>
          </a:p>
        </p:txBody>
      </p:sp>
      <p:sp>
        <p:nvSpPr>
          <p:cNvPr id="4" name="Highlight accent décoratif" descr="" title=""/>
          <p:cNvSpPr/>
          <p:nvPr/>
        </p:nvSpPr>
        <p:spPr>
          <a:xfrm>
            <a:off x="612648" y="1645920"/>
            <a:ext cx="91440" cy="9144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6" name="Accent décoratif" descr="" title=""/>
          <p:cNvSpPr/>
          <p:nvPr/>
        </p:nvSpPr>
        <p:spPr>
          <a:xfrm>
            <a:off x="612648" y="2926080"/>
            <a:ext cx="73152" cy="13716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8" name="Accent décoratif" descr="" title=""/>
          <p:cNvSpPr/>
          <p:nvPr/>
        </p:nvSpPr>
        <p:spPr>
          <a:xfrm>
            <a:off x="6249924" y="2926080"/>
            <a:ext cx="73152" cy="13716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Ce document est-il accessible ?</a:t>
            </a:r>
          </a:p>
        </p:txBody>
      </p:sp>
      <p:sp>
        <p:nvSpPr>
          <p:cNvPr id="5" name="Alerte"/>
          <p:cNvSpPr/>
          <p:nvPr/>
        </p:nvSpPr>
        <p:spPr>
          <a:xfrm>
            <a:off x="685800" y="1280160"/>
            <a:ext cx="5262372" cy="2286000"/>
          </a:xfrm>
          <a:prstGeom prst="rect">
            <a:avLst/>
          </a:prstGeom>
          <a:solidFill>
            <a:srgbClr val="FF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 bIns="109728"/>
          <a:lstStyle/>
          <a:p>
            <a:pPr algn="ctr">
              <a:spcAft>
                <a:spcPts val="600"/>
              </a:spcAft>
              <a:defRPr sz="1600" b="1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Document A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Titres en gras manuellement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Image sans texte alternatif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Tableau avec cellules fusionnées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Nom : "Document1.docx"</a:t>
            </a:r>
          </a:p>
        </p:txBody>
      </p:sp>
      <p:sp>
        <p:nvSpPr>
          <p:cNvPr id="7" name="Alerte"/>
          <p:cNvSpPr/>
          <p:nvPr/>
        </p:nvSpPr>
        <p:spPr>
          <a:xfrm>
            <a:off x="6323076" y="1280160"/>
            <a:ext cx="5262372" cy="2286000"/>
          </a:xfrm>
          <a:prstGeom prst="rect">
            <a:avLst/>
          </a:prstGeom>
          <a:solidFill>
            <a:srgbClr val="B8F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 bIns="109728"/>
          <a:lstStyle/>
          <a:p>
            <a:pPr algn="ctr">
              <a:spcAft>
                <a:spcPts val="600"/>
              </a:spcAft>
              <a:defRPr sz="1600" b="1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Document B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Titres avec styles Titre 1, Titre 2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Image avec description fonctionnelle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Tableau simple avec en-tête identifié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Nom : "rapport-accessibilite-2024.docx"</a:t>
            </a:r>
          </a:p>
        </p:txBody>
      </p:sp>
      <p:sp>
        <p:nvSpPr>
          <p:cNvPr id="9" name="Highlight"/>
          <p:cNvSpPr txBox="1"/>
          <p:nvPr/>
        </p:nvSpPr>
        <p:spPr>
          <a:xfrm>
            <a:off x="841248" y="3913632"/>
            <a:ext cx="10652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Visuellement identiques — mais seul le document B est lisible par un lecteur d'écran.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sz="1000" lang="fr-FR">
                <a:solidFill>
                  <a:srgbClr val="666666"/>
                </a:solidFill>
                <a:latin typeface="Marianne"/>
              </a:defRPr>
            </a:pPr>
            <a:r>
              <a:rPr sz="1000" lang="fr-FR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sz="1000" lang="fr-FR">
                <a:solidFill>
                  <a:srgbClr val="666666"/>
                </a:solidFill>
                <a:latin typeface="Marianne"/>
              </a:rPr>
              <a:t>2/30</a:t>
            </a:r>
          </a:p>
        </p:txBody>
      </p:sp>
      <p:sp>
        <p:nvSpPr>
          <p:cNvPr id="4" name="Accent décoratif" descr="" title=""/>
          <p:cNvSpPr/>
          <p:nvPr/>
        </p:nvSpPr>
        <p:spPr>
          <a:xfrm>
            <a:off x="612648" y="1280160"/>
            <a:ext cx="73152" cy="2286000"/>
          </a:xfrm>
          <a:prstGeom prst="rect">
            <a:avLst/>
          </a:prstGeom>
          <a:solidFill>
            <a:srgbClr val="CE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6" name="Accent décoratif" descr="" title=""/>
          <p:cNvSpPr/>
          <p:nvPr/>
        </p:nvSpPr>
        <p:spPr>
          <a:xfrm>
            <a:off x="6249924" y="1280160"/>
            <a:ext cx="73152" cy="2286000"/>
          </a:xfrm>
          <a:prstGeom prst="rect">
            <a:avLst/>
          </a:prstGeom>
          <a:solidFill>
            <a:srgbClr val="187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8" name="Highlight accent décoratif" descr="" title=""/>
          <p:cNvSpPr/>
          <p:nvPr/>
        </p:nvSpPr>
        <p:spPr>
          <a:xfrm>
            <a:off x="612648" y="3840480"/>
            <a:ext cx="91440" cy="7315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Pourquoi ça vous concerne</a:t>
            </a:r>
          </a:p>
        </p:txBody>
      </p:sp>
      <p:sp>
        <p:nvSpPr>
          <p:cNvPr id="4" name="KPI valeur"/>
          <p:cNvSpPr/>
          <p:nvPr/>
        </p:nvSpPr>
        <p:spPr>
          <a:xfrm>
            <a:off x="612648" y="1280160"/>
            <a:ext cx="3456432" cy="877824"/>
          </a:xfrm>
          <a:prstGeom prst="round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3200" b="1" lang="fr-FR">
                <a:solidFill>
                  <a:srgbClr val="FFFFFF"/>
                </a:solidFill>
                <a:latin typeface="Marianne"/>
              </a:defRPr>
            </a:pPr>
            <a:r>
              <a:rPr lang="fr-FR" b="1">
                <a:solidFill>
                  <a:srgbClr val="FFFFFF"/>
                </a:solidFill>
                <a:latin typeface="Marianne"/>
              </a:rPr>
              <a:t>15 %</a:t>
            </a:r>
          </a:p>
        </p:txBody>
      </p:sp>
      <p:sp>
        <p:nvSpPr>
          <p:cNvPr id="6" name="KPI valeur"/>
          <p:cNvSpPr/>
          <p:nvPr/>
        </p:nvSpPr>
        <p:spPr>
          <a:xfrm>
            <a:off x="4370831" y="1280160"/>
            <a:ext cx="3456432" cy="877824"/>
          </a:xfrm>
          <a:prstGeom prst="round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3200" b="1" lang="fr-FR">
                <a:solidFill>
                  <a:srgbClr val="FFFFFF"/>
                </a:solidFill>
                <a:latin typeface="Marianne"/>
              </a:defRPr>
            </a:pPr>
            <a:r>
              <a:rPr lang="fr-FR" b="1">
                <a:solidFill>
                  <a:srgbClr val="FFFFFF"/>
                </a:solidFill>
                <a:latin typeface="Marianne"/>
              </a:rPr>
              <a:t>80 %</a:t>
            </a:r>
          </a:p>
        </p:txBody>
      </p:sp>
      <p:sp>
        <p:nvSpPr>
          <p:cNvPr id="8" name="KPI valeur"/>
          <p:cNvSpPr/>
          <p:nvPr/>
        </p:nvSpPr>
        <p:spPr>
          <a:xfrm>
            <a:off x="8129015" y="1280160"/>
            <a:ext cx="3456432" cy="877824"/>
          </a:xfrm>
          <a:prstGeom prst="round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3200" b="1" lang="fr-FR">
                <a:solidFill>
                  <a:srgbClr val="FFFFFF"/>
                </a:solidFill>
                <a:latin typeface="Marianne"/>
              </a:defRPr>
            </a:pPr>
            <a:r>
              <a:rPr lang="fr-FR" b="1">
                <a:solidFill>
                  <a:srgbClr val="FFFFFF"/>
                </a:solidFill>
                <a:latin typeface="Marianne"/>
              </a:rPr>
              <a:t>0</a:t>
            </a:r>
          </a:p>
        </p:txBody>
      </p:sp>
      <p:sp>
        <p:nvSpPr>
          <p:cNvPr id="5" name="KPI label"/>
          <p:cNvSpPr/>
          <p:nvPr/>
        </p:nvSpPr>
        <p:spPr>
          <a:xfrm>
            <a:off x="612648" y="2212848"/>
            <a:ext cx="3456432" cy="585216"/>
          </a:xfrm>
          <a:prstGeom prst="roundRect">
            <a:avLst/>
          </a:prstGeom>
          <a:solidFill>
            <a:srgbClr val="E3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de la population</a:t>
            </a:r>
            <a:br/>
            <a:r>
              <a:rPr lang="fr-FR">
                <a:solidFill/>
                <a:latin typeface="Marianne"/>
              </a:rPr>
              <a:t>en situation de handicap</a:t>
            </a:r>
          </a:p>
        </p:txBody>
      </p:sp>
      <p:sp>
        <p:nvSpPr>
          <p:cNvPr id="7" name="KPI label"/>
          <p:cNvSpPr/>
          <p:nvPr/>
        </p:nvSpPr>
        <p:spPr>
          <a:xfrm>
            <a:off x="4370831" y="2212848"/>
            <a:ext cx="3456432" cy="585216"/>
          </a:xfrm>
          <a:prstGeom prst="roundRect">
            <a:avLst/>
          </a:prstGeom>
          <a:solidFill>
            <a:srgbClr val="E3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des handicaps</a:t>
            </a:r>
            <a:br/>
            <a:r>
              <a:rPr lang="fr-FR">
                <a:solidFill/>
                <a:latin typeface="Marianne"/>
              </a:rPr>
              <a:t>sont invisibles</a:t>
            </a:r>
          </a:p>
        </p:txBody>
      </p:sp>
      <p:sp>
        <p:nvSpPr>
          <p:cNvPr id="9" name="KPI label"/>
          <p:cNvSpPr/>
          <p:nvPr/>
        </p:nvSpPr>
        <p:spPr>
          <a:xfrm>
            <a:off x="8129015" y="2212848"/>
            <a:ext cx="3456432" cy="585216"/>
          </a:xfrm>
          <a:prstGeom prst="roundRect">
            <a:avLst/>
          </a:prstGeom>
          <a:solidFill>
            <a:srgbClr val="E3E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ligne de code</a:t>
            </a:r>
            <a:br/>
            <a:r>
              <a:rPr lang="fr-FR">
                <a:solidFill/>
                <a:latin typeface="Marianne"/>
              </a:rPr>
              <a:t>nécessaire</a:t>
            </a:r>
          </a:p>
        </p:txBody>
      </p:sp>
      <p:sp>
        <p:nvSpPr>
          <p:cNvPr id="11" name="Highlight"/>
          <p:cNvSpPr txBox="1"/>
          <p:nvPr/>
        </p:nvSpPr>
        <p:spPr>
          <a:xfrm>
            <a:off x="841248" y="3182112"/>
            <a:ext cx="10652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L'accessibilité Word est 100 % éditoriale : pas de code, juste les bons réflexes dans le ruban.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sz="1000" lang="fr-FR">
                <a:solidFill>
                  <a:srgbClr val="666666"/>
                </a:solidFill>
                <a:latin typeface="Marianne"/>
              </a:defRPr>
            </a:pPr>
            <a:r>
              <a:rPr sz="1000" lang="fr-FR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sz="1000" lang="fr-FR">
                <a:solidFill>
                  <a:srgbClr val="666666"/>
                </a:solidFill>
                <a:latin typeface="Marianne"/>
              </a:rPr>
              <a:t>3/30</a:t>
            </a:r>
          </a:p>
        </p:txBody>
      </p:sp>
      <p:sp>
        <p:nvSpPr>
          <p:cNvPr id="10" name="Highlight accent décoratif" descr="" title=""/>
          <p:cNvSpPr/>
          <p:nvPr/>
        </p:nvSpPr>
        <p:spPr>
          <a:xfrm>
            <a:off x="612648" y="3108960"/>
            <a:ext cx="91440" cy="7315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Ce que couvre cette formation</a:t>
            </a:r>
          </a:p>
        </p:txBody>
      </p:sp>
      <p:graphicFrame>
        <p:nvGraphicFramePr>
          <p:cNvPr id="4" name="Tableau"/>
          <p:cNvGraphicFramePr>
            <a:graphicFrameLocks noGrp="1"/>
          </p:cNvGraphicFramePr>
          <p:nvPr/>
        </p:nvGraphicFramePr>
        <p:xfrm>
          <a:off x="612648" y="1280160"/>
          <a:ext cx="109728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029200"/>
                <a:gridCol w="41148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200" b="1" lang="fr-FR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Pilier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 lang="fr-FR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Sujets couverts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 lang="fr-FR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Gestes Word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1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Structure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Titres, listes, colonnes, sauts de page, tableaux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Styles, volet de navigation, Insertion &gt; Tableau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1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Couleurs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Contraste, couleur porteuse de sens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Colour Contrast Analyser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1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Contenus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Texte alt, liens, zones de texte, infos essentielles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Texte de remplacement, Ctrl+K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1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Langue et médias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Balisage langue, transcriptions, clignotement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Révision &gt; Langue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1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Finalisation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Propriétés, nom, formulaires, vérificateur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Fichier &gt; Informations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6" name="Alerte"/>
          <p:cNvSpPr/>
          <p:nvPr/>
        </p:nvSpPr>
        <p:spPr>
          <a:xfrm>
            <a:off x="685800" y="3639312"/>
            <a:ext cx="10899648" cy="91440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 bIns="109728"/>
          <a:lstStyle/>
          <a:p>
            <a:pPr algn="ctr">
              <a:spcAft>
                <a:spcPts val="600"/>
              </a:spcAft>
              <a:defRPr sz="1600" b="1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Hors périmètre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Documents avec macros (.docm, .dotm), documents protégés, formulaires Word interactifs.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sz="1000" lang="fr-FR">
                <a:solidFill>
                  <a:srgbClr val="666666"/>
                </a:solidFill>
                <a:latin typeface="Marianne"/>
              </a:defRPr>
            </a:pPr>
            <a:r>
              <a:rPr sz="1000" lang="fr-FR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sz="1000" lang="fr-FR">
                <a:solidFill>
                  <a:srgbClr val="666666"/>
                </a:solidFill>
                <a:latin typeface="Marianne"/>
              </a:rPr>
              <a:t>4/30</a:t>
            </a:r>
          </a:p>
        </p:txBody>
      </p:sp>
      <p:sp>
        <p:nvSpPr>
          <p:cNvPr id="5" name="Accent décoratif" descr="" title=""/>
          <p:cNvSpPr/>
          <p:nvPr/>
        </p:nvSpPr>
        <p:spPr>
          <a:xfrm>
            <a:off x="612648" y="3639312"/>
            <a:ext cx="73152" cy="914400"/>
          </a:xfrm>
          <a:prstGeom prst="rect">
            <a:avLst/>
          </a:prstGeom>
          <a:solidFill>
            <a:srgbClr val="006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Quiz : vrai ou faux ?</a:t>
            </a:r>
          </a:p>
        </p:txBody>
      </p:sp>
      <p:sp>
        <p:nvSpPr>
          <p:cNvPr id="6" name="Étape 1"/>
          <p:cNvSpPr txBox="1"/>
          <p:nvPr/>
        </p:nvSpPr>
        <p:spPr>
          <a:xfrm>
            <a:off x="612648" y="1892807"/>
            <a:ext cx="3456432" cy="18745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Un texte en gras taille 16</a:t>
            </a:r>
            <a:br/>
            <a:r>
              <a:rPr lang="fr-FR">
                <a:solidFill/>
                <a:latin typeface="Marianne"/>
              </a:rPr>
              <a:t>est un titre pour</a:t>
            </a:r>
            <a:br/>
            <a:r>
              <a:rPr lang="fr-FR">
                <a:solidFill/>
                <a:latin typeface="Marianne"/>
              </a:rPr>
              <a:t>le lecteur d'écran</a:t>
            </a:r>
          </a:p>
        </p:txBody>
      </p:sp>
      <p:sp>
        <p:nvSpPr>
          <p:cNvPr id="9" name="Étape 2"/>
          <p:cNvSpPr txBox="1"/>
          <p:nvPr/>
        </p:nvSpPr>
        <p:spPr>
          <a:xfrm>
            <a:off x="4370831" y="1892807"/>
            <a:ext cx="3456432" cy="18745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Un tableau créé avec</a:t>
            </a:r>
            <a:br/>
            <a:r>
              <a:rPr lang="fr-FR">
                <a:solidFill/>
                <a:latin typeface="Marianne"/>
              </a:rPr>
              <a:t>des tabulations est</a:t>
            </a:r>
            <a:br/>
            <a:r>
              <a:rPr lang="fr-FR">
                <a:solidFill/>
                <a:latin typeface="Marianne"/>
              </a:rPr>
              <a:t>lisible par les TA</a:t>
            </a:r>
          </a:p>
        </p:txBody>
      </p:sp>
      <p:sp>
        <p:nvSpPr>
          <p:cNvPr id="11" name="Étape 3"/>
          <p:cNvSpPr txBox="1"/>
          <p:nvPr/>
        </p:nvSpPr>
        <p:spPr>
          <a:xfrm>
            <a:off x="8129015" y="1892807"/>
            <a:ext cx="3456432" cy="18745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Le vérificateur d'accessibilité</a:t>
            </a:r>
            <a:br/>
            <a:r>
              <a:rPr lang="fr-FR">
                <a:solidFill/>
                <a:latin typeface="Marianne"/>
              </a:rPr>
              <a:t>de Word détecte tous</a:t>
            </a:r>
            <a:br/>
            <a:r>
              <a:rPr lang="fr-FR">
                <a:solidFill/>
                <a:latin typeface="Marianne"/>
              </a:rPr>
              <a:t>les problèmes</a:t>
            </a:r>
          </a:p>
        </p:txBody>
      </p:sp>
      <p:sp>
        <p:nvSpPr>
          <p:cNvPr id="13" name="Highlight"/>
          <p:cNvSpPr txBox="1"/>
          <p:nvPr/>
        </p:nvSpPr>
        <p:spPr>
          <a:xfrm>
            <a:off x="841248" y="4462272"/>
            <a:ext cx="10652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Réponse : les trois sont FAUX. Si vous avez eu au moins un faux, cette formation va vous aider.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sz="1000" lang="fr-FR">
                <a:solidFill>
                  <a:srgbClr val="666666"/>
                </a:solidFill>
                <a:latin typeface="Marianne"/>
              </a:defRPr>
            </a:pPr>
            <a:r>
              <a:rPr sz="1000" lang="fr-FR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sz="1000" lang="fr-FR">
                <a:solidFill>
                  <a:srgbClr val="666666"/>
                </a:solidFill>
                <a:latin typeface="Marianne"/>
              </a:rPr>
              <a:t>5/30</a:t>
            </a:r>
          </a:p>
        </p:txBody>
      </p:sp>
      <p:sp>
        <p:nvSpPr>
          <p:cNvPr id="4" name="Étape 1 pastille décoratif" descr="" title=""/>
          <p:cNvSpPr/>
          <p:nvPr/>
        </p:nvSpPr>
        <p:spPr>
          <a:xfrm>
            <a:off x="2089404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2000" b="1" lang="fr-FR">
                <a:solidFill>
                  <a:srgbClr val="FFFFFF"/>
                </a:solidFill>
                <a:latin typeface="Marianne"/>
              </a:defRPr>
            </a:pPr>
            <a:r>
              <a:rPr lang="fr-FR" b="1" sz="2000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7" name="Étape 2 pastille décoratif" descr="" title=""/>
          <p:cNvSpPr/>
          <p:nvPr/>
        </p:nvSpPr>
        <p:spPr>
          <a:xfrm>
            <a:off x="5847587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2000" b="1" lang="fr-FR">
                <a:solidFill>
                  <a:srgbClr val="FFFFFF"/>
                </a:solidFill>
                <a:latin typeface="Marianne"/>
              </a:defRPr>
            </a:pPr>
            <a:r>
              <a:rPr lang="fr-FR" b="1" sz="2000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10" name="Étape 3 pastille décoratif" descr="" title=""/>
          <p:cNvSpPr/>
          <p:nvPr/>
        </p:nvSpPr>
        <p:spPr>
          <a:xfrm>
            <a:off x="9605772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2000" b="1" lang="fr-FR">
                <a:solidFill>
                  <a:srgbClr val="FFFFFF"/>
                </a:solidFill>
                <a:latin typeface="Marianne"/>
              </a:defRPr>
            </a:pPr>
            <a:r>
              <a:rPr lang="fr-FR" b="1" sz="2000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5" name="Trait décoratif" descr="" title=""/>
          <p:cNvSpPr/>
          <p:nvPr/>
        </p:nvSpPr>
        <p:spPr>
          <a:xfrm>
            <a:off x="2638044" y="1517904"/>
            <a:ext cx="3163823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8" name="Trait décoratif" descr="" title=""/>
          <p:cNvSpPr/>
          <p:nvPr/>
        </p:nvSpPr>
        <p:spPr>
          <a:xfrm>
            <a:off x="6396227" y="1517904"/>
            <a:ext cx="3163823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12" name="Highlight accent décoratif" descr="" title=""/>
          <p:cNvSpPr/>
          <p:nvPr/>
        </p:nvSpPr>
        <p:spPr>
          <a:xfrm>
            <a:off x="612648" y="4389120"/>
            <a:ext cx="91440" cy="7315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5 piliers, 22 critères</a:t>
            </a:r>
          </a:p>
        </p:txBody>
      </p:sp>
      <p:sp>
        <p:nvSpPr>
          <p:cNvPr id="5" name="Carte"/>
          <p:cNvSpPr/>
          <p:nvPr/>
        </p:nvSpPr>
        <p:spPr>
          <a:xfrm>
            <a:off x="667512" y="1280160"/>
            <a:ext cx="1898294" cy="27432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37160"/>
          <a:lstStyle/>
          <a:p>
            <a:pPr algn="ctr">
              <a:spcAft>
                <a:spcPts val="800"/>
              </a:spcAft>
              <a:defRPr sz="1600" b="1" lang="fr-FR">
                <a:solidFill>
                  <a:srgbClr val="000091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Structure</a:t>
            </a:r>
          </a:p>
          <a:p>
            <a:pPr>
              <a:defRPr sz="1300" lang="fr-FR">
                <a:solidFill>
                  <a:srgbClr val="3A3A3A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Titres, listes, colonnes,</a:t>
            </a:r>
            <a:br/>
            <a:r>
              <a:rPr lang="fr-FR">
                <a:solidFill/>
                <a:latin typeface="Marianne"/>
              </a:rPr>
              <a:t>tableaux, sauts de page</a:t>
            </a:r>
            <a:br/>
            <a:br/>
            <a:r>
              <a:rPr lang="fr-FR">
                <a:solidFill/>
                <a:latin typeface="Marianne"/>
              </a:rPr>
              <a:t>6 critères</a:t>
            </a:r>
          </a:p>
        </p:txBody>
      </p:sp>
      <p:sp>
        <p:nvSpPr>
          <p:cNvPr id="7" name="Carte"/>
          <p:cNvSpPr/>
          <p:nvPr/>
        </p:nvSpPr>
        <p:spPr>
          <a:xfrm>
            <a:off x="2922422" y="1280160"/>
            <a:ext cx="1898294" cy="27432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37160"/>
          <a:lstStyle/>
          <a:p>
            <a:pPr algn="ctr">
              <a:spcAft>
                <a:spcPts val="800"/>
              </a:spcAft>
              <a:defRPr sz="1600" b="1" lang="fr-FR">
                <a:solidFill>
                  <a:srgbClr val="000091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Couleurs</a:t>
            </a:r>
          </a:p>
          <a:p>
            <a:pPr>
              <a:defRPr sz="1300" lang="fr-FR">
                <a:solidFill>
                  <a:srgbClr val="3A3A3A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Contraste et</a:t>
            </a:r>
            <a:br/>
            <a:r>
              <a:rPr lang="fr-FR">
                <a:solidFill/>
                <a:latin typeface="Marianne"/>
              </a:rPr>
              <a:t>signification visuelle</a:t>
            </a:r>
            <a:br/>
            <a:br/>
            <a:r>
              <a:rPr lang="fr-FR">
                <a:solidFill/>
                <a:latin typeface="Marianne"/>
              </a:rPr>
              <a:t>2 critères</a:t>
            </a:r>
          </a:p>
        </p:txBody>
      </p:sp>
      <p:sp>
        <p:nvSpPr>
          <p:cNvPr id="9" name="Carte"/>
          <p:cNvSpPr/>
          <p:nvPr/>
        </p:nvSpPr>
        <p:spPr>
          <a:xfrm>
            <a:off x="5177332" y="1280160"/>
            <a:ext cx="1898294" cy="27432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37160"/>
          <a:lstStyle/>
          <a:p>
            <a:pPr algn="ctr">
              <a:spcAft>
                <a:spcPts val="800"/>
              </a:spcAft>
              <a:defRPr sz="1600" b="1" lang="fr-FR">
                <a:solidFill>
                  <a:srgbClr val="000091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Contenus</a:t>
            </a:r>
          </a:p>
          <a:p>
            <a:pPr>
              <a:defRPr sz="1300" lang="fr-FR">
                <a:solidFill>
                  <a:srgbClr val="3A3A3A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Images, liens,</a:t>
            </a:r>
            <a:br/>
            <a:r>
              <a:rPr lang="fr-FR">
                <a:solidFill/>
                <a:latin typeface="Marianne"/>
              </a:rPr>
              <a:t>zones de texte,</a:t>
            </a:r>
            <a:br/>
            <a:r>
              <a:rPr lang="fr-FR">
                <a:solidFill/>
                <a:latin typeface="Marianne"/>
              </a:rPr>
              <a:t>infos essentielles</a:t>
            </a:r>
            <a:br/>
            <a:r>
              <a:rPr lang="fr-FR">
                <a:solidFill/>
                <a:latin typeface="Marianne"/>
              </a:rPr>
              <a:t>5 critères</a:t>
            </a:r>
          </a:p>
        </p:txBody>
      </p:sp>
      <p:sp>
        <p:nvSpPr>
          <p:cNvPr id="11" name="Carte"/>
          <p:cNvSpPr/>
          <p:nvPr/>
        </p:nvSpPr>
        <p:spPr>
          <a:xfrm>
            <a:off x="7432243" y="1280160"/>
            <a:ext cx="1898294" cy="27432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37160"/>
          <a:lstStyle/>
          <a:p>
            <a:pPr algn="ctr">
              <a:spcAft>
                <a:spcPts val="800"/>
              </a:spcAft>
              <a:defRPr sz="1600" b="1" lang="fr-FR">
                <a:solidFill>
                  <a:srgbClr val="000091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Langue</a:t>
            </a:r>
            <a:br/>
            <a:r>
              <a:rPr lang="fr-FR">
                <a:solidFill/>
                <a:latin typeface="Marianne"/>
              </a:rPr>
              <a:t>et médias</a:t>
            </a:r>
          </a:p>
          <a:p>
            <a:pPr>
              <a:defRPr sz="1300" lang="fr-FR">
                <a:solidFill>
                  <a:srgbClr val="3A3A3A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Balisage linguistique,</a:t>
            </a:r>
            <a:br/>
            <a:r>
              <a:rPr lang="fr-FR">
                <a:solidFill/>
                <a:latin typeface="Marianne"/>
              </a:rPr>
              <a:t>transcriptions</a:t>
            </a:r>
            <a:br/>
            <a:br/>
            <a:r>
              <a:rPr lang="fr-FR">
                <a:solidFill/>
                <a:latin typeface="Marianne"/>
              </a:rPr>
              <a:t>4 critères</a:t>
            </a:r>
          </a:p>
        </p:txBody>
      </p:sp>
      <p:sp>
        <p:nvSpPr>
          <p:cNvPr id="13" name="Carte"/>
          <p:cNvSpPr/>
          <p:nvPr/>
        </p:nvSpPr>
        <p:spPr>
          <a:xfrm>
            <a:off x="9687153" y="1280160"/>
            <a:ext cx="1898294" cy="27432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37160"/>
          <a:lstStyle/>
          <a:p>
            <a:pPr algn="ctr">
              <a:spcAft>
                <a:spcPts val="800"/>
              </a:spcAft>
              <a:defRPr sz="1600" b="1" lang="fr-FR">
                <a:solidFill>
                  <a:srgbClr val="000091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Finalisation</a:t>
            </a:r>
          </a:p>
          <a:p>
            <a:pPr>
              <a:defRPr sz="1300" lang="fr-FR">
                <a:solidFill>
                  <a:srgbClr val="3A3A3A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Propriétés, nom,</a:t>
            </a:r>
            <a:br/>
            <a:r>
              <a:rPr lang="fr-FR">
                <a:solidFill/>
                <a:latin typeface="Marianne"/>
              </a:rPr>
              <a:t>formulaires,</a:t>
            </a:r>
            <a:br/>
            <a:r>
              <a:rPr lang="fr-FR">
                <a:solidFill/>
                <a:latin typeface="Marianne"/>
              </a:rPr>
              <a:t>vérificateur</a:t>
            </a:r>
            <a:br/>
            <a:r>
              <a:rPr lang="fr-FR">
                <a:solidFill/>
                <a:latin typeface="Marianne"/>
              </a:rPr>
              <a:t>5 critères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sz="1000" lang="fr-FR">
                <a:solidFill>
                  <a:srgbClr val="666666"/>
                </a:solidFill>
                <a:latin typeface="Marianne"/>
              </a:defRPr>
            </a:pPr>
            <a:r>
              <a:rPr sz="1000" lang="fr-FR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sz="1000" lang="fr-FR">
                <a:solidFill>
                  <a:srgbClr val="666666"/>
                </a:solidFill>
                <a:latin typeface="Marianne"/>
              </a:rPr>
              <a:t>6/30</a:t>
            </a:r>
          </a:p>
        </p:txBody>
      </p:sp>
      <p:sp>
        <p:nvSpPr>
          <p:cNvPr id="4" name="Accent carte décoratif" descr="" title=""/>
          <p:cNvSpPr/>
          <p:nvPr/>
        </p:nvSpPr>
        <p:spPr>
          <a:xfrm>
            <a:off x="612648" y="1280160"/>
            <a:ext cx="54864" cy="27432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6" name="Accent carte décoratif" descr="" title=""/>
          <p:cNvSpPr/>
          <p:nvPr/>
        </p:nvSpPr>
        <p:spPr>
          <a:xfrm>
            <a:off x="2867558" y="1280160"/>
            <a:ext cx="54864" cy="27432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8" name="Accent carte décoratif" descr="" title=""/>
          <p:cNvSpPr/>
          <p:nvPr/>
        </p:nvSpPr>
        <p:spPr>
          <a:xfrm>
            <a:off x="5122468" y="1280160"/>
            <a:ext cx="54864" cy="27432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10" name="Accent carte décoratif" descr="" title=""/>
          <p:cNvSpPr/>
          <p:nvPr/>
        </p:nvSpPr>
        <p:spPr>
          <a:xfrm>
            <a:off x="7377379" y="1280160"/>
            <a:ext cx="54864" cy="27432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12" name="Accent carte décoratif" descr="" title=""/>
          <p:cNvSpPr/>
          <p:nvPr/>
        </p:nvSpPr>
        <p:spPr>
          <a:xfrm>
            <a:off x="9632289" y="1280160"/>
            <a:ext cx="54864" cy="27432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Pilier 1 — Les styles de titre</a:t>
            </a:r>
          </a:p>
        </p:txBody>
      </p:sp>
      <p:sp>
        <p:nvSpPr>
          <p:cNvPr id="5" name="Alerte"/>
          <p:cNvSpPr/>
          <p:nvPr/>
        </p:nvSpPr>
        <p:spPr>
          <a:xfrm>
            <a:off x="685800" y="1280160"/>
            <a:ext cx="5262372" cy="1645920"/>
          </a:xfrm>
          <a:prstGeom prst="rect">
            <a:avLst/>
          </a:prstGeom>
          <a:solidFill>
            <a:srgbClr val="FF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 bIns="109728"/>
          <a:lstStyle/>
          <a:p>
            <a:pPr algn="ctr">
              <a:spcAft>
                <a:spcPts val="600"/>
              </a:spcAft>
              <a:defRPr sz="1600" b="1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Ce que le lecteur d'écran voit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"Texte, texte, texte, texte..."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Un bloc plat sans repère de navigation.</a:t>
            </a:r>
          </a:p>
        </p:txBody>
      </p:sp>
      <p:sp>
        <p:nvSpPr>
          <p:cNvPr id="7" name="Alerte"/>
          <p:cNvSpPr/>
          <p:nvPr/>
        </p:nvSpPr>
        <p:spPr>
          <a:xfrm>
            <a:off x="6323076" y="1280160"/>
            <a:ext cx="5262372" cy="1645920"/>
          </a:xfrm>
          <a:prstGeom prst="rect">
            <a:avLst/>
          </a:prstGeom>
          <a:solidFill>
            <a:srgbClr val="B8F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 bIns="109728"/>
          <a:lstStyle/>
          <a:p>
            <a:pPr algn="ctr">
              <a:spcAft>
                <a:spcPts val="600"/>
              </a:spcAft>
              <a:defRPr sz="1600" b="1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Avec les styles de titre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"Titre 1 : Rapport &gt; Titre 2 : Budget &gt; Titre 3 : Prévisions..."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Navigation par titres en quelques secondes.</a:t>
            </a:r>
          </a:p>
        </p:txBody>
      </p:sp>
      <p:sp>
        <p:nvSpPr>
          <p:cNvPr id="9" name="Callout"/>
          <p:cNvSpPr/>
          <p:nvPr/>
        </p:nvSpPr>
        <p:spPr>
          <a:xfrm>
            <a:off x="685800" y="3200400"/>
            <a:ext cx="10899648" cy="1828800"/>
          </a:xfrm>
          <a:prstGeom prst="rect">
            <a:avLst/>
          </a:prstGeom>
          <a:solidFill>
            <a:srgbClr val="F5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 bIns="109728"/>
          <a:lstStyle/>
          <a:p>
            <a:pPr algn="ctr">
              <a:spcAft>
                <a:spcPts val="600"/>
              </a:spcAft>
              <a:defRPr sz="1600" b="1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Chemin menu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Accueil &gt; Styles &gt; Titre 1, Titre 2, Titre 3...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Raccourci : Ctrl+Alt+Maj+S pour ouvrir le volet Styles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Vérification : Ctrl+F &gt; onglet Titres (volet de navigation)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sz="1000" lang="fr-FR">
                <a:solidFill>
                  <a:srgbClr val="666666"/>
                </a:solidFill>
                <a:latin typeface="Marianne"/>
              </a:defRPr>
            </a:pPr>
            <a:r>
              <a:rPr sz="1000" lang="fr-FR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sz="1000" lang="fr-FR">
                <a:solidFill>
                  <a:srgbClr val="666666"/>
                </a:solidFill>
                <a:latin typeface="Marianne"/>
              </a:rPr>
              <a:t>7/30</a:t>
            </a:r>
          </a:p>
        </p:txBody>
      </p:sp>
      <p:sp>
        <p:nvSpPr>
          <p:cNvPr id="4" name="Accent décoratif" descr="" title=""/>
          <p:cNvSpPr/>
          <p:nvPr/>
        </p:nvSpPr>
        <p:spPr>
          <a:xfrm>
            <a:off x="612648" y="1280160"/>
            <a:ext cx="73152" cy="1645920"/>
          </a:xfrm>
          <a:prstGeom prst="rect">
            <a:avLst/>
          </a:prstGeom>
          <a:solidFill>
            <a:srgbClr val="CE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6" name="Accent décoratif" descr="" title=""/>
          <p:cNvSpPr/>
          <p:nvPr/>
        </p:nvSpPr>
        <p:spPr>
          <a:xfrm>
            <a:off x="6249924" y="1280160"/>
            <a:ext cx="73152" cy="1645920"/>
          </a:xfrm>
          <a:prstGeom prst="rect">
            <a:avLst/>
          </a:prstGeom>
          <a:solidFill>
            <a:srgbClr val="187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8" name="Accent décoratif" descr="" title=""/>
          <p:cNvSpPr/>
          <p:nvPr/>
        </p:nvSpPr>
        <p:spPr>
          <a:xfrm>
            <a:off x="612648" y="3200400"/>
            <a:ext cx="73152" cy="18288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Listes : puces et numérotation natives</a:t>
            </a:r>
          </a:p>
        </p:txBody>
      </p:sp>
      <p:sp>
        <p:nvSpPr>
          <p:cNvPr id="5" name="Alerte"/>
          <p:cNvSpPr/>
          <p:nvPr/>
        </p:nvSpPr>
        <p:spPr>
          <a:xfrm>
            <a:off x="685800" y="1280160"/>
            <a:ext cx="5262372" cy="2560320"/>
          </a:xfrm>
          <a:prstGeom prst="rect">
            <a:avLst/>
          </a:prstGeom>
          <a:solidFill>
            <a:srgbClr val="FF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 bIns="109728"/>
          <a:lstStyle/>
          <a:p>
            <a:pPr algn="ctr">
              <a:spcAft>
                <a:spcPts val="600"/>
              </a:spcAft>
              <a:defRPr sz="1600" b="1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Inaccessible : tirets et chiffres manuels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- Premier élément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- Deuxième élément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- Troisième élément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Le lecteur d'écran lit « tiret Premier élément » — pas une liste.</a:t>
            </a:r>
          </a:p>
        </p:txBody>
      </p:sp>
      <p:sp>
        <p:nvSpPr>
          <p:cNvPr id="7" name="Alerte"/>
          <p:cNvSpPr/>
          <p:nvPr/>
        </p:nvSpPr>
        <p:spPr>
          <a:xfrm>
            <a:off x="6323076" y="1280160"/>
            <a:ext cx="5262372" cy="2560320"/>
          </a:xfrm>
          <a:prstGeom prst="rect">
            <a:avLst/>
          </a:prstGeom>
          <a:solidFill>
            <a:srgbClr val="B8F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 bIns="109728"/>
          <a:lstStyle/>
          <a:p>
            <a:pPr algn="ctr">
              <a:spcAft>
                <a:spcPts val="600"/>
              </a:spcAft>
              <a:defRPr sz="1600" b="1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Accessible : fonctionnalité de liste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Premier élément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Deuxième élément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Troisième élément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Le lecteur d'écran annonce « liste de 3 éléments, élément 1 sur 3 ».</a:t>
            </a:r>
          </a:p>
        </p:txBody>
      </p:sp>
      <p:sp>
        <p:nvSpPr>
          <p:cNvPr id="9" name="Callout"/>
          <p:cNvSpPr/>
          <p:nvPr/>
        </p:nvSpPr>
        <p:spPr>
          <a:xfrm>
            <a:off x="685800" y="4114800"/>
            <a:ext cx="10899648" cy="1371600"/>
          </a:xfrm>
          <a:prstGeom prst="rect">
            <a:avLst/>
          </a:prstGeom>
          <a:solidFill>
            <a:srgbClr val="F5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 bIns="109728"/>
          <a:lstStyle/>
          <a:p>
            <a:pPr algn="ctr">
              <a:spcAft>
                <a:spcPts val="600"/>
              </a:spcAft>
              <a:defRPr sz="1600" b="1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Chemin menu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Accueil &gt; Paragraphe &gt; Puces, Numérotation ou Liste à plusieurs niveaux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Vérification : Maj+F1 (Révéler la mise en forme) &gt; « Puces et numérotation » doit apparaître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sz="1000" lang="fr-FR">
                <a:solidFill>
                  <a:srgbClr val="666666"/>
                </a:solidFill>
                <a:latin typeface="Marianne"/>
              </a:defRPr>
            </a:pPr>
            <a:r>
              <a:rPr sz="1000" lang="fr-FR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sz="1000" lang="fr-FR">
                <a:solidFill>
                  <a:srgbClr val="666666"/>
                </a:solidFill>
                <a:latin typeface="Marianne"/>
              </a:rPr>
              <a:t>8/30</a:t>
            </a:r>
          </a:p>
        </p:txBody>
      </p:sp>
      <p:sp>
        <p:nvSpPr>
          <p:cNvPr id="4" name="Accent décoratif" descr="" title=""/>
          <p:cNvSpPr/>
          <p:nvPr/>
        </p:nvSpPr>
        <p:spPr>
          <a:xfrm>
            <a:off x="612648" y="1280160"/>
            <a:ext cx="73152" cy="2560320"/>
          </a:xfrm>
          <a:prstGeom prst="rect">
            <a:avLst/>
          </a:prstGeom>
          <a:solidFill>
            <a:srgbClr val="CE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6" name="Accent décoratif" descr="" title=""/>
          <p:cNvSpPr/>
          <p:nvPr/>
        </p:nvSpPr>
        <p:spPr>
          <a:xfrm>
            <a:off x="6249924" y="1280160"/>
            <a:ext cx="73152" cy="2560320"/>
          </a:xfrm>
          <a:prstGeom prst="rect">
            <a:avLst/>
          </a:prstGeom>
          <a:solidFill>
            <a:srgbClr val="187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8" name="Accent décoratif" descr="" title=""/>
          <p:cNvSpPr/>
          <p:nvPr/>
        </p:nvSpPr>
        <p:spPr>
          <a:xfrm>
            <a:off x="612648" y="4114800"/>
            <a:ext cx="73152" cy="13716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Colonnes et sauts de page</a:t>
            </a:r>
          </a:p>
        </p:txBody>
      </p:sp>
      <p:graphicFrame>
        <p:nvGraphicFramePr>
          <p:cNvPr id="4" name="Tableau"/>
          <p:cNvGraphicFramePr>
            <a:graphicFrameLocks noGrp="1"/>
          </p:cNvGraphicFramePr>
          <p:nvPr/>
        </p:nvGraphicFramePr>
        <p:xfrm>
          <a:off x="612648" y="1280160"/>
          <a:ext cx="1097280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029200"/>
                <a:gridCol w="36576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200" b="1" lang="fr-FR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Besoin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 lang="fr-FR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Fonctionnalité intégrée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 lang="fr-FR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Piège courant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1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Colonnes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Mise en page &gt; Colonnes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Tabulations ou espaces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1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Saut de page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Insertion &gt; Saut de page (Ctrl+Entrée)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Retours chariot (Entrée x15)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685800" y="2596896"/>
            <a:ext cx="10899648" cy="1645920"/>
          </a:xfrm>
          <a:prstGeom prst="rect">
            <a:avLst/>
          </a:prstGeom>
          <a:solidFill>
            <a:srgbClr val="F5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 bIns="109728"/>
          <a:lstStyle/>
          <a:p>
            <a:pPr algn="ctr">
              <a:spcAft>
                <a:spcPts val="600"/>
              </a:spcAft>
              <a:defRPr sz="1600" b="1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Vérification des colonnes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Curseur sur le texte en colonnes &gt; Maj+F1 (Révéler la mise en forme)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La mention « Colonnes » doit apparaître sous « Section »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Si absente : les colonnes sont simulées avec des tabulations (inaccessible)</a:t>
            </a:r>
          </a:p>
        </p:txBody>
      </p:sp>
      <p:sp>
        <p:nvSpPr>
          <p:cNvPr id="8" name="Alerte"/>
          <p:cNvSpPr/>
          <p:nvPr/>
        </p:nvSpPr>
        <p:spPr>
          <a:xfrm>
            <a:off x="685800" y="4517136"/>
            <a:ext cx="10899648" cy="1188720"/>
          </a:xfrm>
          <a:prstGeom prst="rect">
            <a:avLst/>
          </a:prstGeom>
          <a:solidFill>
            <a:srgbClr val="FF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 bIns="109728"/>
          <a:lstStyle/>
          <a:p>
            <a:pPr algn="ctr">
              <a:spcAft>
                <a:spcPts val="600"/>
              </a:spcAft>
              <a:defRPr sz="1600" b="1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Règle d'or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Si vous touchez à Tab, Espace ou Entrée pour simuler une mise en page,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vous créez une barrière invisible pour les technologies d'assistance.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sz="1000" lang="fr-FR">
                <a:solidFill>
                  <a:srgbClr val="666666"/>
                </a:solidFill>
                <a:latin typeface="Marianne"/>
              </a:defRPr>
            </a:pPr>
            <a:r>
              <a:rPr sz="1000" lang="fr-FR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sz="1000" lang="fr-FR">
                <a:solidFill>
                  <a:srgbClr val="666666"/>
                </a:solidFill>
                <a:latin typeface="Marianne"/>
              </a:rPr>
              <a:t>9/30</a:t>
            </a:r>
          </a:p>
        </p:txBody>
      </p:sp>
      <p:sp>
        <p:nvSpPr>
          <p:cNvPr id="5" name="Accent décoratif" descr="" title=""/>
          <p:cNvSpPr/>
          <p:nvPr/>
        </p:nvSpPr>
        <p:spPr>
          <a:xfrm>
            <a:off x="612648" y="2596896"/>
            <a:ext cx="73152" cy="16459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7" name="Accent décoratif" descr="" title=""/>
          <p:cNvSpPr/>
          <p:nvPr/>
        </p:nvSpPr>
        <p:spPr>
          <a:xfrm>
            <a:off x="612648" y="4517136"/>
            <a:ext cx="73152" cy="1188720"/>
          </a:xfrm>
          <a:prstGeom prst="rect">
            <a:avLst/>
          </a:prstGeom>
          <a:solidFill>
            <a:srgbClr val="B34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Tableaux de mise en page</a:t>
            </a:r>
          </a:p>
        </p:txBody>
      </p:sp>
      <p:sp>
        <p:nvSpPr>
          <p:cNvPr id="6" name="Étape 1"/>
          <p:cNvSpPr txBox="1"/>
          <p:nvPr/>
        </p:nvSpPr>
        <p:spPr>
          <a:xfrm>
            <a:off x="612648" y="1892807"/>
            <a:ext cx="2516886" cy="18745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Insertion &gt; Tableau &gt;</a:t>
            </a:r>
            <a:br/>
            <a:r>
              <a:rPr lang="fr-FR">
                <a:solidFill/>
                <a:latin typeface="Marianne"/>
              </a:rPr>
              <a:t>nombre de colonnes</a:t>
            </a:r>
            <a:br/>
            <a:r>
              <a:rPr lang="fr-FR">
                <a:solidFill/>
                <a:latin typeface="Marianne"/>
              </a:rPr>
              <a:t>et lignes</a:t>
            </a:r>
          </a:p>
        </p:txBody>
      </p:sp>
      <p:sp>
        <p:nvSpPr>
          <p:cNvPr id="9" name="Étape 2"/>
          <p:cNvSpPr txBox="1"/>
          <p:nvPr/>
        </p:nvSpPr>
        <p:spPr>
          <a:xfrm>
            <a:off x="3431286" y="1892807"/>
            <a:ext cx="2516886" cy="18745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Remplir le contenu</a:t>
            </a:r>
            <a:br/>
            <a:r>
              <a:rPr lang="fr-FR">
                <a:solidFill/>
                <a:latin typeface="Marianne"/>
              </a:rPr>
              <a:t>(gauche à droite,</a:t>
            </a:r>
            <a:br/>
            <a:r>
              <a:rPr lang="fr-FR">
                <a:solidFill/>
                <a:latin typeface="Marianne"/>
              </a:rPr>
              <a:t>haut en bas)</a:t>
            </a:r>
          </a:p>
        </p:txBody>
      </p:sp>
      <p:sp>
        <p:nvSpPr>
          <p:cNvPr id="12" name="Étape 3"/>
          <p:cNvSpPr txBox="1"/>
          <p:nvPr/>
        </p:nvSpPr>
        <p:spPr>
          <a:xfrm>
            <a:off x="6249924" y="1892807"/>
            <a:ext cx="2516886" cy="18745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Vérifier l'ordre :</a:t>
            </a:r>
            <a:br/>
            <a:r>
              <a:rPr lang="fr-FR">
                <a:solidFill/>
                <a:latin typeface="Marianne"/>
              </a:rPr>
              <a:t>Tab dans la 1re cellule,</a:t>
            </a:r>
            <a:br/>
            <a:r>
              <a:rPr lang="fr-FR">
                <a:solidFill/>
                <a:latin typeface="Marianne"/>
              </a:rPr>
              <a:t>parcourir avec Tab</a:t>
            </a:r>
          </a:p>
        </p:txBody>
      </p:sp>
      <p:sp>
        <p:nvSpPr>
          <p:cNvPr id="14" name="Étape 4"/>
          <p:cNvSpPr txBox="1"/>
          <p:nvPr/>
        </p:nvSpPr>
        <p:spPr>
          <a:xfrm>
            <a:off x="9068562" y="1892807"/>
            <a:ext cx="2516886" cy="18745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Vérifier l'alignement :</a:t>
            </a:r>
            <a:br/>
            <a:r>
              <a:rPr lang="fr-FR">
                <a:solidFill/>
                <a:latin typeface="Marianne"/>
              </a:rPr>
              <a:t>clic droit &gt; Propriétés &gt;</a:t>
            </a:r>
            <a:br/>
            <a:r>
              <a:rPr lang="fr-FR">
                <a:solidFill/>
                <a:latin typeface="Marianne"/>
              </a:rPr>
              <a:t>Habillage = Aucun</a:t>
            </a:r>
          </a:p>
        </p:txBody>
      </p:sp>
      <p:sp>
        <p:nvSpPr>
          <p:cNvPr id="16" name="Alerte"/>
          <p:cNvSpPr/>
          <p:nvPr/>
        </p:nvSpPr>
        <p:spPr>
          <a:xfrm>
            <a:off x="685800" y="4206240"/>
            <a:ext cx="10899648" cy="118872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 bIns="109728"/>
          <a:lstStyle/>
          <a:p>
            <a:pPr algn="ctr">
              <a:spcAft>
                <a:spcPts val="600"/>
              </a:spcAft>
              <a:defRPr sz="1600" b="1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Pourquoi « Aucun » ?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Un tableau avec habillage « Autour » flotte sur la page —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le lecteur d'écran ne le lit pas au bon moment par rapport au reste du contenu.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sz="1000" lang="fr-FR">
                <a:solidFill>
                  <a:srgbClr val="666666"/>
                </a:solidFill>
                <a:latin typeface="Marianne"/>
              </a:defRPr>
            </a:pPr>
            <a:r>
              <a:rPr sz="1000" lang="fr-FR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sz="1000" lang="fr-FR">
                <a:solidFill>
                  <a:srgbClr val="666666"/>
                </a:solidFill>
                <a:latin typeface="Marianne"/>
              </a:rPr>
              <a:t>10/30</a:t>
            </a:r>
          </a:p>
        </p:txBody>
      </p:sp>
      <p:sp>
        <p:nvSpPr>
          <p:cNvPr id="4" name="Étape 1 pastille décoratif" descr="" title=""/>
          <p:cNvSpPr/>
          <p:nvPr/>
        </p:nvSpPr>
        <p:spPr>
          <a:xfrm>
            <a:off x="1619631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2000" b="1" lang="fr-FR">
                <a:solidFill>
                  <a:srgbClr val="FFFFFF"/>
                </a:solidFill>
                <a:latin typeface="Marianne"/>
              </a:defRPr>
            </a:pPr>
            <a:r>
              <a:rPr lang="fr-FR" b="1" sz="2000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7" name="Étape 2 pastille décoratif" descr="" title=""/>
          <p:cNvSpPr/>
          <p:nvPr/>
        </p:nvSpPr>
        <p:spPr>
          <a:xfrm>
            <a:off x="4438269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2000" b="1" lang="fr-FR">
                <a:solidFill>
                  <a:srgbClr val="FFFFFF"/>
                </a:solidFill>
                <a:latin typeface="Marianne"/>
              </a:defRPr>
            </a:pPr>
            <a:r>
              <a:rPr lang="fr-FR" b="1" sz="2000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10" name="Étape 3 pastille décoratif" descr="" title=""/>
          <p:cNvSpPr/>
          <p:nvPr/>
        </p:nvSpPr>
        <p:spPr>
          <a:xfrm>
            <a:off x="7256906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2000" b="1" lang="fr-FR">
                <a:solidFill>
                  <a:srgbClr val="FFFFFF"/>
                </a:solidFill>
                <a:latin typeface="Marianne"/>
              </a:defRPr>
            </a:pPr>
            <a:r>
              <a:rPr lang="fr-FR" b="1" sz="2000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13" name="Étape 4 pastille décoratif" descr="" title=""/>
          <p:cNvSpPr/>
          <p:nvPr/>
        </p:nvSpPr>
        <p:spPr>
          <a:xfrm>
            <a:off x="10075545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2000" b="1" lang="fr-FR">
                <a:solidFill>
                  <a:srgbClr val="FFFFFF"/>
                </a:solidFill>
                <a:latin typeface="Marianne"/>
              </a:defRPr>
            </a:pPr>
            <a:r>
              <a:rPr lang="fr-FR" b="1" sz="2000">
                <a:solidFill>
                  <a:srgbClr val="FFFFFF"/>
                </a:solidFill>
                <a:latin typeface="Marianne"/>
              </a:rPr>
              <a:t>4</a:t>
            </a:r>
          </a:p>
        </p:txBody>
      </p:sp>
      <p:sp>
        <p:nvSpPr>
          <p:cNvPr id="5" name="Trait décoratif" descr="" title=""/>
          <p:cNvSpPr/>
          <p:nvPr/>
        </p:nvSpPr>
        <p:spPr>
          <a:xfrm>
            <a:off x="2168271" y="1517904"/>
            <a:ext cx="2224277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8" name="Trait décoratif" descr="" title=""/>
          <p:cNvSpPr/>
          <p:nvPr/>
        </p:nvSpPr>
        <p:spPr>
          <a:xfrm>
            <a:off x="4986909" y="1517904"/>
            <a:ext cx="2224277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11" name="Trait décoratif" descr="" title=""/>
          <p:cNvSpPr/>
          <p:nvPr/>
        </p:nvSpPr>
        <p:spPr>
          <a:xfrm>
            <a:off x="7805547" y="1517904"/>
            <a:ext cx="2224277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15" name="Accent décoratif" descr="" title=""/>
          <p:cNvSpPr/>
          <p:nvPr/>
        </p:nvSpPr>
        <p:spPr>
          <a:xfrm>
            <a:off x="612648" y="4206240"/>
            <a:ext cx="73152" cy="1188720"/>
          </a:xfrm>
          <a:prstGeom prst="rect">
            <a:avLst/>
          </a:prstGeom>
          <a:solidFill>
            <a:srgbClr val="006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Tableaux de données</a:t>
            </a:r>
          </a:p>
        </p:txBody>
      </p:sp>
      <p:graphicFrame>
        <p:nvGraphicFramePr>
          <p:cNvPr id="4" name="Tableau"/>
          <p:cNvGraphicFramePr>
            <a:graphicFrameLocks noGrp="1"/>
          </p:cNvGraphicFramePr>
          <p:nvPr/>
        </p:nvGraphicFramePr>
        <p:xfrm>
          <a:off x="612648" y="1280160"/>
          <a:ext cx="109728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3152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200" b="1" lang="fr-FR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Exigence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 lang="fr-FR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Comment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1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Créer avec l'outil intégré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Insertion &gt; Tableau (jamais d'image)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1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Pas de cellules fusionnées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Tableau simple uniquement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1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Identifier la ligne d'en-tête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Clic droit &gt; Propriétés &gt; Ligne &gt; Répéter en tant que ligne d'en-tête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1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Aligner avec le texte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Propriétés &gt; Tableau &gt; Habillage = Aucun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Alerte"/>
          <p:cNvSpPr/>
          <p:nvPr/>
        </p:nvSpPr>
        <p:spPr>
          <a:xfrm>
            <a:off x="685800" y="3291839"/>
            <a:ext cx="10899648" cy="1463040"/>
          </a:xfrm>
          <a:prstGeom prst="rect">
            <a:avLst/>
          </a:prstGeom>
          <a:solidFill>
            <a:srgbClr val="FF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 bIns="109728"/>
          <a:lstStyle/>
          <a:p>
            <a:pPr algn="ctr">
              <a:spcAft>
                <a:spcPts val="600"/>
              </a:spcAft>
              <a:defRPr sz="1600" b="1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Limitation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Les tableaux complexes (multi-niveaux d'en-têtes, cellules fusionnées)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ne peuvent pas être rendus accessibles dans Word.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Solution : convertir en PDF accessible.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sz="1000" lang="fr-FR">
                <a:solidFill>
                  <a:srgbClr val="666666"/>
                </a:solidFill>
                <a:latin typeface="Marianne"/>
              </a:defRPr>
            </a:pPr>
            <a:r>
              <a:rPr sz="1000" lang="fr-FR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sz="1000" lang="fr-FR">
                <a:solidFill>
                  <a:srgbClr val="666666"/>
                </a:solidFill>
                <a:latin typeface="Marianne"/>
              </a:rPr>
              <a:t>11/30</a:t>
            </a:r>
          </a:p>
        </p:txBody>
      </p:sp>
      <p:sp>
        <p:nvSpPr>
          <p:cNvPr id="5" name="Accent décoratif" descr="" title=""/>
          <p:cNvSpPr/>
          <p:nvPr/>
        </p:nvSpPr>
        <p:spPr>
          <a:xfrm>
            <a:off x="612648" y="3291839"/>
            <a:ext cx="73152" cy="1463040"/>
          </a:xfrm>
          <a:prstGeom prst="rect">
            <a:avLst/>
          </a:prstGeom>
          <a:solidFill>
            <a:srgbClr val="B34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Quiz : vérifier la structure en 30 secondes</a:t>
            </a:r>
          </a:p>
        </p:txBody>
      </p:sp>
      <p:sp>
        <p:nvSpPr>
          <p:cNvPr id="5" name="Callout"/>
          <p:cNvSpPr/>
          <p:nvPr/>
        </p:nvSpPr>
        <p:spPr>
          <a:xfrm>
            <a:off x="685800" y="1280160"/>
            <a:ext cx="10899648" cy="2743200"/>
          </a:xfrm>
          <a:prstGeom prst="rect">
            <a:avLst/>
          </a:prstGeom>
          <a:solidFill>
            <a:srgbClr val="F5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 bIns="109728"/>
          <a:lstStyle/>
          <a:p>
            <a:pPr algn="ctr">
              <a:spcAft>
                <a:spcPts val="600"/>
              </a:spcAft>
              <a:defRPr sz="1600" b="1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Votre collègue vous envoie un document Word. Comment vérifiez-vous la structure ?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A. Vous regardez si les titres sont en gras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B. Vous ouvrez le volet de navigation (Ctrl+F) et vérifiez que les titres y apparaissent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C. Vous lancez le correcteur orthographique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D. Vous vérifiez que le fichier est en .docx</a:t>
            </a:r>
          </a:p>
        </p:txBody>
      </p:sp>
      <p:sp>
        <p:nvSpPr>
          <p:cNvPr id="7" name="Highlight"/>
          <p:cNvSpPr txBox="1"/>
          <p:nvPr/>
        </p:nvSpPr>
        <p:spPr>
          <a:xfrm>
            <a:off x="841248" y="4370832"/>
            <a:ext cx="10652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Réponse : B — le volet de navigation est le test ultime de la structure.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sz="1000" lang="fr-FR">
                <a:solidFill>
                  <a:srgbClr val="666666"/>
                </a:solidFill>
                <a:latin typeface="Marianne"/>
              </a:defRPr>
            </a:pPr>
            <a:r>
              <a:rPr sz="1000" lang="fr-FR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sz="1000" lang="fr-FR">
                <a:solidFill>
                  <a:srgbClr val="666666"/>
                </a:solidFill>
                <a:latin typeface="Marianne"/>
              </a:rPr>
              <a:t>12/30</a:t>
            </a:r>
          </a:p>
        </p:txBody>
      </p:sp>
      <p:sp>
        <p:nvSpPr>
          <p:cNvPr id="4" name="Accent décoratif" descr="" title=""/>
          <p:cNvSpPr/>
          <p:nvPr/>
        </p:nvSpPr>
        <p:spPr>
          <a:xfrm>
            <a:off x="612648" y="1280160"/>
            <a:ext cx="73152" cy="27432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6" name="Highlight accent décoratif" descr="" title=""/>
          <p:cNvSpPr/>
          <p:nvPr/>
        </p:nvSpPr>
        <p:spPr>
          <a:xfrm>
            <a:off x="612648" y="4297680"/>
            <a:ext cx="91440" cy="7315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Pilier 2 — Contraste des couleurs</a:t>
            </a:r>
          </a:p>
        </p:txBody>
      </p:sp>
      <p:graphicFrame>
        <p:nvGraphicFramePr>
          <p:cNvPr id="4" name="Tableau"/>
          <p:cNvGraphicFramePr>
            <a:graphicFrameLocks noGrp="1"/>
          </p:cNvGraphicFramePr>
          <p:nvPr/>
        </p:nvGraphicFramePr>
        <p:xfrm>
          <a:off x="612648" y="1280160"/>
          <a:ext cx="1097280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45720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200" b="1" lang="fr-FR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Type de texte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 lang="fr-FR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Ratio minimum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1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Standard (&lt; 14 pt gras)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4,5:1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1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Grande taille (&gt;= 14 pt gras ou &gt;= 18 pt)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3:1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685800" y="2596896"/>
            <a:ext cx="10899648" cy="1371600"/>
          </a:xfrm>
          <a:prstGeom prst="rect">
            <a:avLst/>
          </a:prstGeom>
          <a:solidFill>
            <a:srgbClr val="F5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 bIns="109728"/>
          <a:lstStyle/>
          <a:p>
            <a:pPr algn="ctr">
              <a:spcAft>
                <a:spcPts val="600"/>
              </a:spcAft>
              <a:defRPr sz="1600" b="1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Outil : Colour Contrast Analyser (CCA) de TPGi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Pipette premier plan (texte) + pipette arrière-plan (fond) = ratio instantané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Téléchargement gratuit, fonctionne sous Windows et macOS</a:t>
            </a:r>
          </a:p>
        </p:txBody>
      </p:sp>
      <p:sp>
        <p:nvSpPr>
          <p:cNvPr id="8" name="Highlight"/>
          <p:cNvSpPr txBox="1"/>
          <p:nvPr/>
        </p:nvSpPr>
        <p:spPr>
          <a:xfrm>
            <a:off x="841248" y="4315968"/>
            <a:ext cx="10652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Texte noir sur fond blanc = toujours conforme. Le test ne s'applique qu'aux textes colorés.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sz="1000" lang="fr-FR">
                <a:solidFill>
                  <a:srgbClr val="666666"/>
                </a:solidFill>
                <a:latin typeface="Marianne"/>
              </a:defRPr>
            </a:pPr>
            <a:r>
              <a:rPr sz="1000" lang="fr-FR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sz="1000" lang="fr-FR">
                <a:solidFill>
                  <a:srgbClr val="666666"/>
                </a:solidFill>
                <a:latin typeface="Marianne"/>
              </a:rPr>
              <a:t>13/30</a:t>
            </a:r>
          </a:p>
        </p:txBody>
      </p:sp>
      <p:sp>
        <p:nvSpPr>
          <p:cNvPr id="5" name="Accent décoratif" descr="" title=""/>
          <p:cNvSpPr/>
          <p:nvPr/>
        </p:nvSpPr>
        <p:spPr>
          <a:xfrm>
            <a:off x="612648" y="2596896"/>
            <a:ext cx="73152" cy="13716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7" name="Highlight accent décoratif" descr="" title=""/>
          <p:cNvSpPr/>
          <p:nvPr/>
        </p:nvSpPr>
        <p:spPr>
          <a:xfrm>
            <a:off x="612648" y="4242816"/>
            <a:ext cx="91440" cy="7315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Mesurer le contraste : méthode pas-à-pas</a:t>
            </a:r>
          </a:p>
        </p:txBody>
      </p:sp>
      <p:sp>
        <p:nvSpPr>
          <p:cNvPr id="6" name="Étape 1"/>
          <p:cNvSpPr txBox="1"/>
          <p:nvPr/>
        </p:nvSpPr>
        <p:spPr>
          <a:xfrm>
            <a:off x="612648" y="1892807"/>
            <a:ext cx="2516886" cy="18745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Ouvrir le Colour</a:t>
            </a:r>
            <a:br/>
            <a:r>
              <a:rPr lang="fr-FR">
                <a:solidFill/>
                <a:latin typeface="Marianne"/>
              </a:rPr>
              <a:t>Contrast Analyser</a:t>
            </a:r>
            <a:br/>
            <a:r>
              <a:rPr lang="fr-FR">
                <a:solidFill/>
                <a:latin typeface="Marianne"/>
              </a:rPr>
              <a:t>(CCA)</a:t>
            </a:r>
          </a:p>
        </p:txBody>
      </p:sp>
      <p:sp>
        <p:nvSpPr>
          <p:cNvPr id="9" name="Étape 2"/>
          <p:cNvSpPr txBox="1"/>
          <p:nvPr/>
        </p:nvSpPr>
        <p:spPr>
          <a:xfrm>
            <a:off x="3431286" y="1892807"/>
            <a:ext cx="2516886" cy="18745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Pipette « Premier plan »</a:t>
            </a:r>
            <a:br/>
            <a:r>
              <a:rPr lang="fr-FR">
                <a:solidFill/>
                <a:latin typeface="Marianne"/>
              </a:rPr>
              <a:t>sur la couleur</a:t>
            </a:r>
            <a:br/>
            <a:r>
              <a:rPr lang="fr-FR">
                <a:solidFill/>
                <a:latin typeface="Marianne"/>
              </a:rPr>
              <a:t>du texte</a:t>
            </a:r>
          </a:p>
        </p:txBody>
      </p:sp>
      <p:sp>
        <p:nvSpPr>
          <p:cNvPr id="12" name="Étape 3"/>
          <p:cNvSpPr txBox="1"/>
          <p:nvPr/>
        </p:nvSpPr>
        <p:spPr>
          <a:xfrm>
            <a:off x="6249924" y="1892807"/>
            <a:ext cx="2516886" cy="18745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Pipette « Arrière-plan »</a:t>
            </a:r>
            <a:br/>
            <a:r>
              <a:rPr lang="fr-FR">
                <a:solidFill/>
                <a:latin typeface="Marianne"/>
              </a:rPr>
              <a:t>sur la couleur</a:t>
            </a:r>
            <a:br/>
            <a:r>
              <a:rPr lang="fr-FR">
                <a:solidFill/>
                <a:latin typeface="Marianne"/>
              </a:rPr>
              <a:t>du fond</a:t>
            </a:r>
          </a:p>
        </p:txBody>
      </p:sp>
      <p:sp>
        <p:nvSpPr>
          <p:cNvPr id="14" name="Étape 4"/>
          <p:cNvSpPr txBox="1"/>
          <p:nvPr/>
        </p:nvSpPr>
        <p:spPr>
          <a:xfrm>
            <a:off x="9068562" y="1892807"/>
            <a:ext cx="2516886" cy="18745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Lire le ratio :</a:t>
            </a:r>
            <a:br/>
            <a:r>
              <a:rPr lang="fr-FR">
                <a:solidFill/>
                <a:latin typeface="Marianne"/>
              </a:rPr>
              <a:t>&gt;= 4,5:1 standard</a:t>
            </a:r>
            <a:br/>
            <a:r>
              <a:rPr lang="fr-FR">
                <a:solidFill/>
                <a:latin typeface="Marianne"/>
              </a:rPr>
              <a:t>&gt;= 3:1 grande taille</a:t>
            </a:r>
          </a:p>
        </p:txBody>
      </p:sp>
      <p:sp>
        <p:nvSpPr>
          <p:cNvPr id="16" name="Alerte"/>
          <p:cNvSpPr/>
          <p:nvPr/>
        </p:nvSpPr>
        <p:spPr>
          <a:xfrm>
            <a:off x="685800" y="4206240"/>
            <a:ext cx="5262372" cy="1188720"/>
          </a:xfrm>
          <a:prstGeom prst="rect">
            <a:avLst/>
          </a:prstGeom>
          <a:solidFill>
            <a:srgbClr val="FF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 bIns="109728"/>
          <a:lstStyle/>
          <a:p>
            <a:pPr algn="ctr">
              <a:spcAft>
                <a:spcPts val="600"/>
              </a:spcAft>
              <a:defRPr sz="1600" b="1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Avant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Texte gris clair (#999) sur fond blanc (#FFF)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Ratio : 2,85:1 — ÉCHEC</a:t>
            </a:r>
          </a:p>
        </p:txBody>
      </p:sp>
      <p:sp>
        <p:nvSpPr>
          <p:cNvPr id="18" name="Alerte"/>
          <p:cNvSpPr/>
          <p:nvPr/>
        </p:nvSpPr>
        <p:spPr>
          <a:xfrm>
            <a:off x="6323076" y="4206240"/>
            <a:ext cx="5262372" cy="1188720"/>
          </a:xfrm>
          <a:prstGeom prst="rect">
            <a:avLst/>
          </a:prstGeom>
          <a:solidFill>
            <a:srgbClr val="B8F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 bIns="109728"/>
          <a:lstStyle/>
          <a:p>
            <a:pPr algn="ctr">
              <a:spcAft>
                <a:spcPts val="600"/>
              </a:spcAft>
              <a:defRPr sz="1600" b="1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Après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Texte gris foncé (#595959) sur fond blanc (#FFF)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Ratio : 7,0:1 — CONFORME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sz="1000" lang="fr-FR">
                <a:solidFill>
                  <a:srgbClr val="666666"/>
                </a:solidFill>
                <a:latin typeface="Marianne"/>
              </a:defRPr>
            </a:pPr>
            <a:r>
              <a:rPr sz="1000" lang="fr-FR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sz="1000" lang="fr-FR">
                <a:solidFill>
                  <a:srgbClr val="666666"/>
                </a:solidFill>
                <a:latin typeface="Marianne"/>
              </a:rPr>
              <a:t>14/30</a:t>
            </a:r>
          </a:p>
        </p:txBody>
      </p:sp>
      <p:sp>
        <p:nvSpPr>
          <p:cNvPr id="4" name="Étape 1 pastille décoratif" descr="" title=""/>
          <p:cNvSpPr/>
          <p:nvPr/>
        </p:nvSpPr>
        <p:spPr>
          <a:xfrm>
            <a:off x="1619631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2000" b="1" lang="fr-FR">
                <a:solidFill>
                  <a:srgbClr val="FFFFFF"/>
                </a:solidFill>
                <a:latin typeface="Marianne"/>
              </a:defRPr>
            </a:pPr>
            <a:r>
              <a:rPr lang="fr-FR" b="1" sz="2000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7" name="Étape 2 pastille décoratif" descr="" title=""/>
          <p:cNvSpPr/>
          <p:nvPr/>
        </p:nvSpPr>
        <p:spPr>
          <a:xfrm>
            <a:off x="4438269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2000" b="1" lang="fr-FR">
                <a:solidFill>
                  <a:srgbClr val="FFFFFF"/>
                </a:solidFill>
                <a:latin typeface="Marianne"/>
              </a:defRPr>
            </a:pPr>
            <a:r>
              <a:rPr lang="fr-FR" b="1" sz="2000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10" name="Étape 3 pastille décoratif" descr="" title=""/>
          <p:cNvSpPr/>
          <p:nvPr/>
        </p:nvSpPr>
        <p:spPr>
          <a:xfrm>
            <a:off x="7256906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2000" b="1" lang="fr-FR">
                <a:solidFill>
                  <a:srgbClr val="FFFFFF"/>
                </a:solidFill>
                <a:latin typeface="Marianne"/>
              </a:defRPr>
            </a:pPr>
            <a:r>
              <a:rPr lang="fr-FR" b="1" sz="2000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13" name="Étape 4 pastille décoratif" descr="" title=""/>
          <p:cNvSpPr/>
          <p:nvPr/>
        </p:nvSpPr>
        <p:spPr>
          <a:xfrm>
            <a:off x="10075545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2000" b="1" lang="fr-FR">
                <a:solidFill>
                  <a:srgbClr val="FFFFFF"/>
                </a:solidFill>
                <a:latin typeface="Marianne"/>
              </a:defRPr>
            </a:pPr>
            <a:r>
              <a:rPr lang="fr-FR" b="1" sz="2000">
                <a:solidFill>
                  <a:srgbClr val="FFFFFF"/>
                </a:solidFill>
                <a:latin typeface="Marianne"/>
              </a:rPr>
              <a:t>4</a:t>
            </a:r>
          </a:p>
        </p:txBody>
      </p:sp>
      <p:sp>
        <p:nvSpPr>
          <p:cNvPr id="5" name="Trait décoratif" descr="" title=""/>
          <p:cNvSpPr/>
          <p:nvPr/>
        </p:nvSpPr>
        <p:spPr>
          <a:xfrm>
            <a:off x="2168271" y="1517904"/>
            <a:ext cx="2224277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8" name="Trait décoratif" descr="" title=""/>
          <p:cNvSpPr/>
          <p:nvPr/>
        </p:nvSpPr>
        <p:spPr>
          <a:xfrm>
            <a:off x="4986909" y="1517904"/>
            <a:ext cx="2224277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11" name="Trait décoratif" descr="" title=""/>
          <p:cNvSpPr/>
          <p:nvPr/>
        </p:nvSpPr>
        <p:spPr>
          <a:xfrm>
            <a:off x="7805547" y="1517904"/>
            <a:ext cx="2224277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15" name="Accent décoratif" descr="" title=""/>
          <p:cNvSpPr/>
          <p:nvPr/>
        </p:nvSpPr>
        <p:spPr>
          <a:xfrm>
            <a:off x="612648" y="4206240"/>
            <a:ext cx="73152" cy="1188720"/>
          </a:xfrm>
          <a:prstGeom prst="rect">
            <a:avLst/>
          </a:prstGeom>
          <a:solidFill>
            <a:srgbClr val="CE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17" name="Accent décoratif" descr="" title=""/>
          <p:cNvSpPr/>
          <p:nvPr/>
        </p:nvSpPr>
        <p:spPr>
          <a:xfrm>
            <a:off x="6249924" y="4206240"/>
            <a:ext cx="73152" cy="1188720"/>
          </a:xfrm>
          <a:prstGeom prst="rect">
            <a:avLst/>
          </a:prstGeom>
          <a:solidFill>
            <a:srgbClr val="187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La couleur ne suffit jamais</a:t>
            </a:r>
          </a:p>
        </p:txBody>
      </p:sp>
      <p:sp>
        <p:nvSpPr>
          <p:cNvPr id="5" name="Alerte"/>
          <p:cNvSpPr/>
          <p:nvPr/>
        </p:nvSpPr>
        <p:spPr>
          <a:xfrm>
            <a:off x="685800" y="1280160"/>
            <a:ext cx="5262372" cy="2926080"/>
          </a:xfrm>
          <a:prstGeom prst="rect">
            <a:avLst/>
          </a:prstGeom>
          <a:solidFill>
            <a:srgbClr val="FF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 bIns="109728"/>
          <a:lstStyle/>
          <a:p>
            <a:pPr algn="ctr">
              <a:spcAft>
                <a:spcPts val="600"/>
              </a:spcAft>
              <a:defRPr sz="1600" b="1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Inaccessible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| Projet | Statut |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| Migration | (rouge) |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| Formation | (vert) |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| Audit | (jaune) |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Un daltonien voit 3 couleurs identiques.</a:t>
            </a:r>
          </a:p>
        </p:txBody>
      </p:sp>
      <p:sp>
        <p:nvSpPr>
          <p:cNvPr id="7" name="Alerte"/>
          <p:cNvSpPr/>
          <p:nvPr/>
        </p:nvSpPr>
        <p:spPr>
          <a:xfrm>
            <a:off x="6323076" y="1280160"/>
            <a:ext cx="5262372" cy="2926080"/>
          </a:xfrm>
          <a:prstGeom prst="rect">
            <a:avLst/>
          </a:prstGeom>
          <a:solidFill>
            <a:srgbClr val="B8F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 bIns="109728"/>
          <a:lstStyle/>
          <a:p>
            <a:pPr algn="ctr">
              <a:spcAft>
                <a:spcPts val="600"/>
              </a:spcAft>
              <a:defRPr sz="1600" b="1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Accessible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| Projet | Statut |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| Migration | En retard |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| Formation | Terminé |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| Audit | En cours |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Le texte porte l'information, la couleur la renforce.</a:t>
            </a:r>
          </a:p>
        </p:txBody>
      </p:sp>
      <p:sp>
        <p:nvSpPr>
          <p:cNvPr id="9" name="Highlight"/>
          <p:cNvSpPr txBox="1"/>
          <p:nvPr/>
        </p:nvSpPr>
        <p:spPr>
          <a:xfrm>
            <a:off x="841248" y="4553712"/>
            <a:ext cx="10652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8 % des hommes sont daltoniens — dans une réunion de 12 personnes, il y en a probablement un.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sz="1000" lang="fr-FR">
                <a:solidFill>
                  <a:srgbClr val="666666"/>
                </a:solidFill>
                <a:latin typeface="Marianne"/>
              </a:defRPr>
            </a:pPr>
            <a:r>
              <a:rPr sz="1000" lang="fr-FR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sz="1000" lang="fr-FR">
                <a:solidFill>
                  <a:srgbClr val="666666"/>
                </a:solidFill>
                <a:latin typeface="Marianne"/>
              </a:rPr>
              <a:t>15/30</a:t>
            </a:r>
          </a:p>
        </p:txBody>
      </p:sp>
      <p:sp>
        <p:nvSpPr>
          <p:cNvPr id="4" name="Accent décoratif" descr="" title=""/>
          <p:cNvSpPr/>
          <p:nvPr/>
        </p:nvSpPr>
        <p:spPr>
          <a:xfrm>
            <a:off x="612648" y="1280160"/>
            <a:ext cx="73152" cy="2926080"/>
          </a:xfrm>
          <a:prstGeom prst="rect">
            <a:avLst/>
          </a:prstGeom>
          <a:solidFill>
            <a:srgbClr val="CE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6" name="Accent décoratif" descr="" title=""/>
          <p:cNvSpPr/>
          <p:nvPr/>
        </p:nvSpPr>
        <p:spPr>
          <a:xfrm>
            <a:off x="6249924" y="1280160"/>
            <a:ext cx="73152" cy="2926080"/>
          </a:xfrm>
          <a:prstGeom prst="rect">
            <a:avLst/>
          </a:prstGeom>
          <a:solidFill>
            <a:srgbClr val="187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8" name="Highlight accent décoratif" descr="" title=""/>
          <p:cNvSpPr/>
          <p:nvPr/>
        </p:nvSpPr>
        <p:spPr>
          <a:xfrm>
            <a:off x="612648" y="4480560"/>
            <a:ext cx="91440" cy="7315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Pilier 3 — Texte alternatif</a:t>
            </a:r>
          </a:p>
        </p:txBody>
      </p:sp>
      <p:sp>
        <p:nvSpPr>
          <p:cNvPr id="6" name="Étape 1"/>
          <p:cNvSpPr txBox="1"/>
          <p:nvPr/>
        </p:nvSpPr>
        <p:spPr>
          <a:xfrm>
            <a:off x="612648" y="1892807"/>
            <a:ext cx="3456432" cy="160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Sélectionner l'image &gt;</a:t>
            </a:r>
            <a:br/>
            <a:r>
              <a:rPr lang="fr-FR">
                <a:solidFill/>
                <a:latin typeface="Marianne"/>
              </a:rPr>
              <a:t>clic droit &gt;</a:t>
            </a:r>
            <a:br/>
            <a:r>
              <a:rPr lang="fr-FR">
                <a:solidFill/>
                <a:latin typeface="Marianne"/>
              </a:rPr>
              <a:t>Format de l'image &gt;</a:t>
            </a:r>
            <a:br/>
            <a:r>
              <a:rPr lang="fr-FR">
                <a:solidFill/>
                <a:latin typeface="Marianne"/>
              </a:rPr>
              <a:t>Texte de remplacement</a:t>
            </a:r>
          </a:p>
        </p:txBody>
      </p:sp>
      <p:sp>
        <p:nvSpPr>
          <p:cNvPr id="9" name="Étape 2"/>
          <p:cNvSpPr txBox="1"/>
          <p:nvPr/>
        </p:nvSpPr>
        <p:spPr>
          <a:xfrm>
            <a:off x="4370831" y="1892807"/>
            <a:ext cx="3456432" cy="160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Image significative :</a:t>
            </a:r>
            <a:br/>
            <a:r>
              <a:rPr lang="fr-FR">
                <a:solidFill/>
                <a:latin typeface="Marianne"/>
              </a:rPr>
              <a:t>décrire la FONCTION,</a:t>
            </a:r>
            <a:br/>
            <a:r>
              <a:rPr lang="fr-FR">
                <a:solidFill/>
                <a:latin typeface="Marianne"/>
              </a:rPr>
              <a:t>pas l'apparence</a:t>
            </a:r>
          </a:p>
        </p:txBody>
      </p:sp>
      <p:sp>
        <p:nvSpPr>
          <p:cNvPr id="11" name="Étape 3"/>
          <p:cNvSpPr txBox="1"/>
          <p:nvPr/>
        </p:nvSpPr>
        <p:spPr>
          <a:xfrm>
            <a:off x="8129015" y="1892807"/>
            <a:ext cx="3456432" cy="160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Image décorative :</a:t>
            </a:r>
            <a:br/>
            <a:r>
              <a:rPr lang="fr-FR">
                <a:solidFill/>
                <a:latin typeface="Marianne"/>
              </a:rPr>
              <a:t>insérer des espaces</a:t>
            </a:r>
            <a:br/>
            <a:r>
              <a:rPr lang="fr-FR">
                <a:solidFill/>
                <a:latin typeface="Marianne"/>
              </a:rPr>
              <a:t>vides dans Description</a:t>
            </a:r>
          </a:p>
        </p:txBody>
      </p:sp>
      <p:sp>
        <p:nvSpPr>
          <p:cNvPr id="13" name="Alerte"/>
          <p:cNvSpPr/>
          <p:nvPr/>
        </p:nvSpPr>
        <p:spPr>
          <a:xfrm>
            <a:off x="685800" y="3840480"/>
            <a:ext cx="5262372" cy="914400"/>
          </a:xfrm>
          <a:prstGeom prst="rect">
            <a:avLst/>
          </a:prstGeom>
          <a:solidFill>
            <a:srgbClr val="FF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 bIns="109728"/>
          <a:lstStyle/>
          <a:p>
            <a:pPr algn="ctr">
              <a:spcAft>
                <a:spcPts val="600"/>
              </a:spcAft>
              <a:defRPr sz="1600" b="1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Mauvais texte alt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"Photo d'un graphique en barres colorées"</a:t>
            </a:r>
          </a:p>
        </p:txBody>
      </p:sp>
      <p:sp>
        <p:nvSpPr>
          <p:cNvPr id="15" name="Alerte"/>
          <p:cNvSpPr/>
          <p:nvPr/>
        </p:nvSpPr>
        <p:spPr>
          <a:xfrm>
            <a:off x="6323076" y="3840480"/>
            <a:ext cx="5262372" cy="914400"/>
          </a:xfrm>
          <a:prstGeom prst="rect">
            <a:avLst/>
          </a:prstGeom>
          <a:solidFill>
            <a:srgbClr val="B8F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 bIns="109728"/>
          <a:lstStyle/>
          <a:p>
            <a:pPr algn="ctr">
              <a:spcAft>
                <a:spcPts val="600"/>
              </a:spcAft>
              <a:defRPr sz="1600" b="1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Bon texte alt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"Chiffre d'affaires 2020-2024 : hausse de 15 % à 23 %"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sz="1000" lang="fr-FR">
                <a:solidFill>
                  <a:srgbClr val="666666"/>
                </a:solidFill>
                <a:latin typeface="Marianne"/>
              </a:defRPr>
            </a:pPr>
            <a:r>
              <a:rPr sz="1000" lang="fr-FR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sz="1000" lang="fr-FR">
                <a:solidFill>
                  <a:srgbClr val="666666"/>
                </a:solidFill>
                <a:latin typeface="Marianne"/>
              </a:rPr>
              <a:t>16/30</a:t>
            </a:r>
          </a:p>
        </p:txBody>
      </p:sp>
      <p:sp>
        <p:nvSpPr>
          <p:cNvPr id="4" name="Étape 1 pastille décoratif" descr="" title=""/>
          <p:cNvSpPr/>
          <p:nvPr/>
        </p:nvSpPr>
        <p:spPr>
          <a:xfrm>
            <a:off x="2089404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2000" b="1" lang="fr-FR">
                <a:solidFill>
                  <a:srgbClr val="FFFFFF"/>
                </a:solidFill>
                <a:latin typeface="Marianne"/>
              </a:defRPr>
            </a:pPr>
            <a:r>
              <a:rPr lang="fr-FR" b="1" sz="2000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7" name="Étape 2 pastille décoratif" descr="" title=""/>
          <p:cNvSpPr/>
          <p:nvPr/>
        </p:nvSpPr>
        <p:spPr>
          <a:xfrm>
            <a:off x="5847587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2000" b="1" lang="fr-FR">
                <a:solidFill>
                  <a:srgbClr val="FFFFFF"/>
                </a:solidFill>
                <a:latin typeface="Marianne"/>
              </a:defRPr>
            </a:pPr>
            <a:r>
              <a:rPr lang="fr-FR" b="1" sz="2000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10" name="Étape 3 pastille décoratif" descr="" title=""/>
          <p:cNvSpPr/>
          <p:nvPr/>
        </p:nvSpPr>
        <p:spPr>
          <a:xfrm>
            <a:off x="9605772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2000" b="1" lang="fr-FR">
                <a:solidFill>
                  <a:srgbClr val="FFFFFF"/>
                </a:solidFill>
                <a:latin typeface="Marianne"/>
              </a:defRPr>
            </a:pPr>
            <a:r>
              <a:rPr lang="fr-FR" b="1" sz="2000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5" name="Trait décoratif" descr="" title=""/>
          <p:cNvSpPr/>
          <p:nvPr/>
        </p:nvSpPr>
        <p:spPr>
          <a:xfrm>
            <a:off x="2638044" y="1517904"/>
            <a:ext cx="3163823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8" name="Trait décoratif" descr="" title=""/>
          <p:cNvSpPr/>
          <p:nvPr/>
        </p:nvSpPr>
        <p:spPr>
          <a:xfrm>
            <a:off x="6396227" y="1517904"/>
            <a:ext cx="3163823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12" name="Accent décoratif" descr="" title=""/>
          <p:cNvSpPr/>
          <p:nvPr/>
        </p:nvSpPr>
        <p:spPr>
          <a:xfrm>
            <a:off x="612648" y="3840480"/>
            <a:ext cx="73152" cy="914400"/>
          </a:xfrm>
          <a:prstGeom prst="rect">
            <a:avLst/>
          </a:prstGeom>
          <a:solidFill>
            <a:srgbClr val="CE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14" name="Accent décoratif" descr="" title=""/>
          <p:cNvSpPr/>
          <p:nvPr/>
        </p:nvSpPr>
        <p:spPr>
          <a:xfrm>
            <a:off x="6249924" y="3840480"/>
            <a:ext cx="73152" cy="914400"/>
          </a:xfrm>
          <a:prstGeom prst="rect">
            <a:avLst/>
          </a:prstGeom>
          <a:solidFill>
            <a:srgbClr val="187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Objets décoratifs : le silence est d'or</a:t>
            </a:r>
          </a:p>
        </p:txBody>
      </p:sp>
      <p:sp>
        <p:nvSpPr>
          <p:cNvPr id="5" name="Callout"/>
          <p:cNvSpPr/>
          <p:nvPr/>
        </p:nvSpPr>
        <p:spPr>
          <a:xfrm>
            <a:off x="685800" y="1280160"/>
            <a:ext cx="10899648" cy="1371600"/>
          </a:xfrm>
          <a:prstGeom prst="rect">
            <a:avLst/>
          </a:prstGeom>
          <a:solidFill>
            <a:srgbClr val="F5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 bIns="109728"/>
          <a:lstStyle/>
          <a:p>
            <a:pPr algn="ctr">
              <a:spcAft>
                <a:spcPts val="600"/>
              </a:spcAft>
              <a:defRPr sz="1600" b="1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Qu'est-ce qu'un objet décoratif ?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Filets, séparateurs, icônes purement visuelles, images d'ambiance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Tout objet qui n'apporte aucune information que le texte ne contient pas déjà</a:t>
            </a:r>
          </a:p>
        </p:txBody>
      </p:sp>
      <p:sp>
        <p:nvSpPr>
          <p:cNvPr id="7" name="Alerte"/>
          <p:cNvSpPr/>
          <p:nvPr/>
        </p:nvSpPr>
        <p:spPr>
          <a:xfrm>
            <a:off x="685800" y="2926080"/>
            <a:ext cx="5262372" cy="2286000"/>
          </a:xfrm>
          <a:prstGeom prst="rect">
            <a:avLst/>
          </a:prstGeom>
          <a:solidFill>
            <a:srgbClr val="FF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 bIns="109728"/>
          <a:lstStyle/>
          <a:p>
            <a:pPr algn="ctr">
              <a:spcAft>
                <a:spcPts val="600"/>
              </a:spcAft>
              <a:defRPr sz="1600" b="1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Le piège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Un lecteur d'écran annonce chaque image qu'il rencontre.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Un objet décoratif avec texte alt pollue la lecture :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"Image, image, séparateur bleu, icône, image..."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L'utilisateur perd le fil du contenu réel.</a:t>
            </a:r>
          </a:p>
        </p:txBody>
      </p:sp>
      <p:sp>
        <p:nvSpPr>
          <p:cNvPr id="9" name="Alerte"/>
          <p:cNvSpPr/>
          <p:nvPr/>
        </p:nvSpPr>
        <p:spPr>
          <a:xfrm>
            <a:off x="6323076" y="2926080"/>
            <a:ext cx="5262372" cy="2286000"/>
          </a:xfrm>
          <a:prstGeom prst="rect">
            <a:avLst/>
          </a:prstGeom>
          <a:solidFill>
            <a:srgbClr val="B8F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 bIns="109728"/>
          <a:lstStyle/>
          <a:p>
            <a:pPr algn="ctr">
              <a:spcAft>
                <a:spcPts val="600"/>
              </a:spcAft>
              <a:defRPr sz="1600" b="1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La solution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Clic droit &gt; Format de l'image &gt; Texte de remplacement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Insérer des espaces vides dans le champ Description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(ou cocher « Marquer comme décoratif » si disponible)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Le lecteur d'écran ignore l'objet silencieusement.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sz="1000" lang="fr-FR">
                <a:solidFill>
                  <a:srgbClr val="666666"/>
                </a:solidFill>
                <a:latin typeface="Marianne"/>
              </a:defRPr>
            </a:pPr>
            <a:r>
              <a:rPr sz="1000" lang="fr-FR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sz="1000" lang="fr-FR">
                <a:solidFill>
                  <a:srgbClr val="666666"/>
                </a:solidFill>
                <a:latin typeface="Marianne"/>
              </a:rPr>
              <a:t>17/30</a:t>
            </a:r>
          </a:p>
        </p:txBody>
      </p:sp>
      <p:sp>
        <p:nvSpPr>
          <p:cNvPr id="4" name="Accent décoratif" descr="" title=""/>
          <p:cNvSpPr/>
          <p:nvPr/>
        </p:nvSpPr>
        <p:spPr>
          <a:xfrm>
            <a:off x="612648" y="1280160"/>
            <a:ext cx="73152" cy="13716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6" name="Accent décoratif" descr="" title=""/>
          <p:cNvSpPr/>
          <p:nvPr/>
        </p:nvSpPr>
        <p:spPr>
          <a:xfrm>
            <a:off x="612648" y="2926080"/>
            <a:ext cx="73152" cy="2286000"/>
          </a:xfrm>
          <a:prstGeom prst="rect">
            <a:avLst/>
          </a:prstGeom>
          <a:solidFill>
            <a:srgbClr val="B34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8" name="Accent décoratif" descr="" title=""/>
          <p:cNvSpPr/>
          <p:nvPr/>
        </p:nvSpPr>
        <p:spPr>
          <a:xfrm>
            <a:off x="6249924" y="2926080"/>
            <a:ext cx="73152" cy="2286000"/>
          </a:xfrm>
          <a:prstGeom prst="rect">
            <a:avLst/>
          </a:prstGeom>
          <a:solidFill>
            <a:srgbClr val="187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Alignement et zones de texte</a:t>
            </a:r>
          </a:p>
        </p:txBody>
      </p:sp>
      <p:graphicFrame>
        <p:nvGraphicFramePr>
          <p:cNvPr id="4" name="Tableau"/>
          <p:cNvGraphicFramePr>
            <a:graphicFrameLocks noGrp="1"/>
          </p:cNvGraphicFramePr>
          <p:nvPr/>
        </p:nvGraphicFramePr>
        <p:xfrm>
          <a:off x="612648" y="1280160"/>
          <a:ext cx="109728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  <a:gridCol w="45720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200" b="1" lang="fr-FR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Objet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 lang="fr-FR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Exigence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 lang="fr-FR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Chemin menu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1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Images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Aligné sur le texte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Outils Image &gt; Format &gt; Position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1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Formes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Aligné sur le texte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Idem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1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Zones de texte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Aligné (ou éviter)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Idem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6" name="Alerte"/>
          <p:cNvSpPr/>
          <p:nvPr/>
        </p:nvSpPr>
        <p:spPr>
          <a:xfrm>
            <a:off x="685800" y="2944368"/>
            <a:ext cx="10899648" cy="1371600"/>
          </a:xfrm>
          <a:prstGeom prst="rect">
            <a:avLst/>
          </a:prstGeom>
          <a:solidFill>
            <a:srgbClr val="FF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 bIns="109728"/>
          <a:lstStyle/>
          <a:p>
            <a:pPr algn="ctr">
              <a:spcAft>
                <a:spcPts val="600"/>
              </a:spcAft>
              <a:defRPr sz="1600" b="1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Piège des zones de texte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Même alignées, les zones de texte peuvent être lues dans un ordre inattendu.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Les éviter quand c'est possible — préférer les colonnes intégrées.</a:t>
            </a:r>
          </a:p>
        </p:txBody>
      </p:sp>
      <p:sp>
        <p:nvSpPr>
          <p:cNvPr id="8" name="Highlight"/>
          <p:cNvSpPr txBox="1"/>
          <p:nvPr/>
        </p:nvSpPr>
        <p:spPr>
          <a:xfrm>
            <a:off x="841248" y="4663440"/>
            <a:ext cx="10652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Objet flottant = objet invisible pour le lecteur d'écran.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sz="1000" lang="fr-FR">
                <a:solidFill>
                  <a:srgbClr val="666666"/>
                </a:solidFill>
                <a:latin typeface="Marianne"/>
              </a:defRPr>
            </a:pPr>
            <a:r>
              <a:rPr sz="1000" lang="fr-FR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sz="1000" lang="fr-FR">
                <a:solidFill>
                  <a:srgbClr val="666666"/>
                </a:solidFill>
                <a:latin typeface="Marianne"/>
              </a:rPr>
              <a:t>18/30</a:t>
            </a:r>
          </a:p>
        </p:txBody>
      </p:sp>
      <p:sp>
        <p:nvSpPr>
          <p:cNvPr id="5" name="Accent décoratif" descr="" title=""/>
          <p:cNvSpPr/>
          <p:nvPr/>
        </p:nvSpPr>
        <p:spPr>
          <a:xfrm>
            <a:off x="612648" y="2944368"/>
            <a:ext cx="73152" cy="1371600"/>
          </a:xfrm>
          <a:prstGeom prst="rect">
            <a:avLst/>
          </a:prstGeom>
          <a:solidFill>
            <a:srgbClr val="B34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7" name="Highlight accent décoratif" descr="" title=""/>
          <p:cNvSpPr/>
          <p:nvPr/>
        </p:nvSpPr>
        <p:spPr>
          <a:xfrm>
            <a:off x="612648" y="4590288"/>
            <a:ext cx="91440" cy="7315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Liens descriptifs</a:t>
            </a:r>
          </a:p>
        </p:txBody>
      </p:sp>
      <p:sp>
        <p:nvSpPr>
          <p:cNvPr id="5" name="Alerte"/>
          <p:cNvSpPr/>
          <p:nvPr/>
        </p:nvSpPr>
        <p:spPr>
          <a:xfrm>
            <a:off x="685800" y="1280160"/>
            <a:ext cx="5262372" cy="1828800"/>
          </a:xfrm>
          <a:prstGeom prst="rect">
            <a:avLst/>
          </a:prstGeom>
          <a:solidFill>
            <a:srgbClr val="FF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 bIns="109728"/>
          <a:lstStyle/>
          <a:p>
            <a:pPr algn="ctr">
              <a:spcAft>
                <a:spcPts val="600"/>
              </a:spcAft>
              <a:defRPr sz="1600" b="1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Inaccessible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"Cliquez ici"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"En savoir plus"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"https://www.exemple.fr/page?id=4827&amp;ref=nav"</a:t>
            </a:r>
          </a:p>
        </p:txBody>
      </p:sp>
      <p:sp>
        <p:nvSpPr>
          <p:cNvPr id="7" name="Alerte"/>
          <p:cNvSpPr/>
          <p:nvPr/>
        </p:nvSpPr>
        <p:spPr>
          <a:xfrm>
            <a:off x="6323076" y="1280160"/>
            <a:ext cx="5262372" cy="1828800"/>
          </a:xfrm>
          <a:prstGeom prst="rect">
            <a:avLst/>
          </a:prstGeom>
          <a:solidFill>
            <a:srgbClr val="B8F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 bIns="109728"/>
          <a:lstStyle/>
          <a:p>
            <a:pPr algn="ctr">
              <a:spcAft>
                <a:spcPts val="600"/>
              </a:spcAft>
              <a:defRPr sz="1600" b="1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Accessible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"Consulter le guide d'accessibilité Word"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"Télécharger le rapport annuel 2024 (PDF, 2 Mo)"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"Accéder au formulaire de contact"</a:t>
            </a:r>
          </a:p>
        </p:txBody>
      </p:sp>
      <p:sp>
        <p:nvSpPr>
          <p:cNvPr id="9" name="Callout"/>
          <p:cNvSpPr/>
          <p:nvPr/>
        </p:nvSpPr>
        <p:spPr>
          <a:xfrm>
            <a:off x="685800" y="3383280"/>
            <a:ext cx="10899648" cy="1371600"/>
          </a:xfrm>
          <a:prstGeom prst="rect">
            <a:avLst/>
          </a:prstGeom>
          <a:solidFill>
            <a:srgbClr val="F5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 bIns="109728"/>
          <a:lstStyle/>
          <a:p>
            <a:pPr algn="ctr">
              <a:spcAft>
                <a:spcPts val="600"/>
              </a:spcAft>
              <a:defRPr sz="1600" b="1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Méthode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Sélectionner le texte descriptif &gt; clic droit &gt; Lien hypertexte (Ctrl+K)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Attention : supprimer le dernier caractère du texte d'un lien supprime le lien entier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sz="1000" lang="fr-FR">
                <a:solidFill>
                  <a:srgbClr val="666666"/>
                </a:solidFill>
                <a:latin typeface="Marianne"/>
              </a:defRPr>
            </a:pPr>
            <a:r>
              <a:rPr sz="1000" lang="fr-FR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sz="1000" lang="fr-FR">
                <a:solidFill>
                  <a:srgbClr val="666666"/>
                </a:solidFill>
                <a:latin typeface="Marianne"/>
              </a:rPr>
              <a:t>19/30</a:t>
            </a:r>
          </a:p>
        </p:txBody>
      </p:sp>
      <p:sp>
        <p:nvSpPr>
          <p:cNvPr id="4" name="Accent décoratif" descr="" title=""/>
          <p:cNvSpPr/>
          <p:nvPr/>
        </p:nvSpPr>
        <p:spPr>
          <a:xfrm>
            <a:off x="612648" y="1280160"/>
            <a:ext cx="73152" cy="1828800"/>
          </a:xfrm>
          <a:prstGeom prst="rect">
            <a:avLst/>
          </a:prstGeom>
          <a:solidFill>
            <a:srgbClr val="CE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6" name="Accent décoratif" descr="" title=""/>
          <p:cNvSpPr/>
          <p:nvPr/>
        </p:nvSpPr>
        <p:spPr>
          <a:xfrm>
            <a:off x="6249924" y="1280160"/>
            <a:ext cx="73152" cy="1828800"/>
          </a:xfrm>
          <a:prstGeom prst="rect">
            <a:avLst/>
          </a:prstGeom>
          <a:solidFill>
            <a:srgbClr val="187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8" name="Accent décoratif" descr="" title=""/>
          <p:cNvSpPr/>
          <p:nvPr/>
        </p:nvSpPr>
        <p:spPr>
          <a:xfrm>
            <a:off x="612648" y="3383280"/>
            <a:ext cx="73152" cy="13716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Informations essentielles invisibles</a:t>
            </a:r>
          </a:p>
        </p:txBody>
      </p:sp>
      <p:sp>
        <p:nvSpPr>
          <p:cNvPr id="5" name="Callout"/>
          <p:cNvSpPr/>
          <p:nvPr/>
        </p:nvSpPr>
        <p:spPr>
          <a:xfrm>
            <a:off x="685800" y="1280160"/>
            <a:ext cx="10899648" cy="1645920"/>
          </a:xfrm>
          <a:prstGeom prst="rect">
            <a:avLst/>
          </a:prstGeom>
          <a:solidFill>
            <a:srgbClr val="F5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 bIns="109728"/>
          <a:lstStyle/>
          <a:p>
            <a:pPr algn="ctr">
              <a:spcAft>
                <a:spcPts val="600"/>
              </a:spcAft>
              <a:defRPr sz="1600" b="1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Ce que les TA ne lisent pas automatiquement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En-têtes de page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Pieds de page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Filigranes</a:t>
            </a:r>
          </a:p>
        </p:txBody>
      </p:sp>
      <p:sp>
        <p:nvSpPr>
          <p:cNvPr id="7" name="Highlight"/>
          <p:cNvSpPr txBox="1"/>
          <p:nvPr/>
        </p:nvSpPr>
        <p:spPr>
          <a:xfrm>
            <a:off x="841248" y="3273552"/>
            <a:ext cx="106527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Si une information est essentielle (« CONFIDENTIEL », « Répondre avant le 15 avril »), elle doit être reproduite dans le corps du document.</a:t>
            </a:r>
          </a:p>
        </p:txBody>
      </p:sp>
      <p:sp>
        <p:nvSpPr>
          <p:cNvPr id="9" name="Alerte"/>
          <p:cNvSpPr/>
          <p:nvPr/>
        </p:nvSpPr>
        <p:spPr>
          <a:xfrm>
            <a:off x="685800" y="4389120"/>
            <a:ext cx="10899648" cy="1463040"/>
          </a:xfrm>
          <a:prstGeom prst="rect">
            <a:avLst/>
          </a:prstGeom>
          <a:solidFill>
            <a:srgbClr val="E8E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 bIns="109728"/>
          <a:lstStyle/>
          <a:p>
            <a:pPr algn="ctr">
              <a:spcAft>
                <a:spcPts val="600"/>
              </a:spcAft>
              <a:defRPr sz="1600" b="1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Exemple concret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Vous mettez « CONFIDENTIEL » en filigrane pour que tout le monde le voie —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sauf que 15 % de vos lecteurs ne le voient pas du tout.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Solution : une ligne au début du document reprenant l'information.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sz="1000" lang="fr-FR">
                <a:solidFill>
                  <a:srgbClr val="666666"/>
                </a:solidFill>
                <a:latin typeface="Marianne"/>
              </a:defRPr>
            </a:pPr>
            <a:r>
              <a:rPr sz="1000" lang="fr-FR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sz="1000" lang="fr-FR">
                <a:solidFill>
                  <a:srgbClr val="666666"/>
                </a:solidFill>
                <a:latin typeface="Marianne"/>
              </a:rPr>
              <a:t>20/30</a:t>
            </a:r>
          </a:p>
        </p:txBody>
      </p:sp>
      <p:sp>
        <p:nvSpPr>
          <p:cNvPr id="4" name="Accent décoratif" descr="" title=""/>
          <p:cNvSpPr/>
          <p:nvPr/>
        </p:nvSpPr>
        <p:spPr>
          <a:xfrm>
            <a:off x="612648" y="1280160"/>
            <a:ext cx="73152" cy="16459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6" name="Highlight accent décoratif" descr="" title=""/>
          <p:cNvSpPr/>
          <p:nvPr/>
        </p:nvSpPr>
        <p:spPr>
          <a:xfrm>
            <a:off x="612648" y="3200400"/>
            <a:ext cx="91440" cy="9144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8" name="Accent décoratif" descr="" title=""/>
          <p:cNvSpPr/>
          <p:nvPr/>
        </p:nvSpPr>
        <p:spPr>
          <a:xfrm>
            <a:off x="612648" y="4389120"/>
            <a:ext cx="73152" cy="1463040"/>
          </a:xfrm>
          <a:prstGeom prst="rect">
            <a:avLst/>
          </a:prstGeom>
          <a:solidFill>
            <a:srgbClr val="0063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Quiz : avez-vous les bons réflexes contenus ?</a:t>
            </a:r>
          </a:p>
        </p:txBody>
      </p:sp>
      <p:sp>
        <p:nvSpPr>
          <p:cNvPr id="5" name="Callout"/>
          <p:cNvSpPr/>
          <p:nvPr/>
        </p:nvSpPr>
        <p:spPr>
          <a:xfrm>
            <a:off x="685800" y="1280160"/>
            <a:ext cx="10899648" cy="2560320"/>
          </a:xfrm>
          <a:prstGeom prst="rect">
            <a:avLst/>
          </a:prstGeom>
          <a:solidFill>
            <a:srgbClr val="F5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 bIns="109728"/>
          <a:lstStyle/>
          <a:p>
            <a:pPr algn="ctr">
              <a:spcAft>
                <a:spcPts val="600"/>
              </a:spcAft>
              <a:defRPr sz="1600" b="1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Pour chaque situation, quelle est la bonne action ?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1. Une photo d'équipe illustre la page « Qui sommes-nous »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2. Un filet bleu sépare deux sections du document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3. Un lien « En savoir plus » renvoie vers le site intranet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4. Le filigrane indique « BROUILLON — Ne pas diffuser »</a:t>
            </a:r>
          </a:p>
        </p:txBody>
      </p:sp>
      <p:sp>
        <p:nvSpPr>
          <p:cNvPr id="7" name="Alerte"/>
          <p:cNvSpPr/>
          <p:nvPr/>
        </p:nvSpPr>
        <p:spPr>
          <a:xfrm>
            <a:off x="685800" y="4114800"/>
            <a:ext cx="10899648" cy="1828800"/>
          </a:xfrm>
          <a:prstGeom prst="rect">
            <a:avLst/>
          </a:prstGeom>
          <a:solidFill>
            <a:srgbClr val="B8F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 bIns="109728"/>
          <a:lstStyle/>
          <a:p>
            <a:pPr algn="ctr">
              <a:spcAft>
                <a:spcPts val="600"/>
              </a:spcAft>
              <a:defRPr sz="1600" b="1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Réponses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1. Texte alt décrivant la fonction : « Équipe du service communication, 8 personnes »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2. Marquer comme décoratif (espaces vides dans le champ Description)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3. Renommer en « Consulter la page intranet du projet X »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4. Reproduire « BROUILLON — Ne pas diffuser » au début du document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sz="1000" lang="fr-FR">
                <a:solidFill>
                  <a:srgbClr val="666666"/>
                </a:solidFill>
                <a:latin typeface="Marianne"/>
              </a:defRPr>
            </a:pPr>
            <a:r>
              <a:rPr sz="1000" lang="fr-FR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sz="1000" lang="fr-FR">
                <a:solidFill>
                  <a:srgbClr val="666666"/>
                </a:solidFill>
                <a:latin typeface="Marianne"/>
              </a:rPr>
              <a:t>21/30</a:t>
            </a:r>
          </a:p>
        </p:txBody>
      </p:sp>
      <p:sp>
        <p:nvSpPr>
          <p:cNvPr id="4" name="Accent décoratif" descr="" title=""/>
          <p:cNvSpPr/>
          <p:nvPr/>
        </p:nvSpPr>
        <p:spPr>
          <a:xfrm>
            <a:off x="612648" y="1280160"/>
            <a:ext cx="73152" cy="25603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6" name="Accent décoratif" descr="" title=""/>
          <p:cNvSpPr/>
          <p:nvPr/>
        </p:nvSpPr>
        <p:spPr>
          <a:xfrm>
            <a:off x="612648" y="4114800"/>
            <a:ext cx="73152" cy="1828800"/>
          </a:xfrm>
          <a:prstGeom prst="rect">
            <a:avLst/>
          </a:prstGeom>
          <a:solidFill>
            <a:srgbClr val="187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Pilier 4 — Langue et médias</a:t>
            </a:r>
          </a:p>
        </p:txBody>
      </p:sp>
      <p:sp>
        <p:nvSpPr>
          <p:cNvPr id="5" name="Callout"/>
          <p:cNvSpPr/>
          <p:nvPr/>
        </p:nvSpPr>
        <p:spPr>
          <a:xfrm>
            <a:off x="685800" y="1280160"/>
            <a:ext cx="5262372" cy="2286000"/>
          </a:xfrm>
          <a:prstGeom prst="rect">
            <a:avLst/>
          </a:prstGeom>
          <a:solidFill>
            <a:srgbClr val="F5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 bIns="109728"/>
          <a:lstStyle/>
          <a:p>
            <a:pPr algn="ctr">
              <a:spcAft>
                <a:spcPts val="600"/>
              </a:spcAft>
              <a:defRPr sz="1600" b="1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Balisage de langue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Langue principale : Fichier &gt; Options &gt; Langue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Passage étranger : sélectionner &gt; Révision &gt; Langue &gt; Définir la langue de vérification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Sans balisage, le lecteur d'écran prononce "meeting" comme "mé-é-ting"</a:t>
            </a:r>
          </a:p>
        </p:txBody>
      </p:sp>
      <p:graphicFrame>
        <p:nvGraphicFramePr>
          <p:cNvPr id="6" name="Tableau"/>
          <p:cNvGraphicFramePr>
            <a:graphicFrameLocks noGrp="1"/>
          </p:cNvGraphicFramePr>
          <p:nvPr/>
        </p:nvGraphicFramePr>
        <p:xfrm>
          <a:off x="6249924" y="1280160"/>
          <a:ext cx="5335524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049524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200" b="1" lang="fr-FR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Média intégré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 lang="fr-FR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Alternative requise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1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Audio seul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Transcription textuelle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1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Vidéo seule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Description textuelle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1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Audio + vidéo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Sous-titres ET description audio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sz="1000" lang="fr-FR">
                <a:solidFill>
                  <a:srgbClr val="666666"/>
                </a:solidFill>
                <a:latin typeface="Marianne"/>
              </a:defRPr>
            </a:pPr>
            <a:r>
              <a:rPr sz="1000" lang="fr-FR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sz="1000" lang="fr-FR">
                <a:solidFill>
                  <a:srgbClr val="666666"/>
                </a:solidFill>
                <a:latin typeface="Marianne"/>
              </a:rPr>
              <a:t>22/30</a:t>
            </a:r>
          </a:p>
        </p:txBody>
      </p:sp>
      <p:sp>
        <p:nvSpPr>
          <p:cNvPr id="4" name="Accent décoratif" descr="" title=""/>
          <p:cNvSpPr/>
          <p:nvPr/>
        </p:nvSpPr>
        <p:spPr>
          <a:xfrm>
            <a:off x="612648" y="1280160"/>
            <a:ext cx="73152" cy="22860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Objets clignotants : tolérance zéro</a:t>
            </a:r>
          </a:p>
        </p:txBody>
      </p:sp>
      <p:sp>
        <p:nvSpPr>
          <p:cNvPr id="5" name="Alerte"/>
          <p:cNvSpPr/>
          <p:nvPr/>
        </p:nvSpPr>
        <p:spPr>
          <a:xfrm>
            <a:off x="685800" y="1280160"/>
            <a:ext cx="10899648" cy="2286000"/>
          </a:xfrm>
          <a:prstGeom prst="rect">
            <a:avLst/>
          </a:prstGeom>
          <a:solidFill>
            <a:srgbClr val="FF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 bIns="109728"/>
          <a:lstStyle/>
          <a:p>
            <a:pPr algn="ctr">
              <a:spcAft>
                <a:spcPts val="600"/>
              </a:spcAft>
              <a:defRPr sz="1600" b="1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Interdit — aucune exception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Animations de clignotement, GIF avec flashs, vidéos avec séquences &gt; 3 Hz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Risque : crise d'épilepsie.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Un document contenant un objet clignotant ne peut jamais être considéré comme accessible.</a:t>
            </a:r>
          </a:p>
        </p:txBody>
      </p:sp>
      <p:sp>
        <p:nvSpPr>
          <p:cNvPr id="7" name="Highlight"/>
          <p:cNvSpPr txBox="1"/>
          <p:nvPr/>
        </p:nvSpPr>
        <p:spPr>
          <a:xfrm>
            <a:off x="841248" y="3913632"/>
            <a:ext cx="10652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Si vous hésitez sur un GIF animé : supprimez-le et remplacez-le par une image statique.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sz="1000" lang="fr-FR">
                <a:solidFill>
                  <a:srgbClr val="666666"/>
                </a:solidFill>
                <a:latin typeface="Marianne"/>
              </a:defRPr>
            </a:pPr>
            <a:r>
              <a:rPr sz="1000" lang="fr-FR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sz="1000" lang="fr-FR">
                <a:solidFill>
                  <a:srgbClr val="666666"/>
                </a:solidFill>
                <a:latin typeface="Marianne"/>
              </a:rPr>
              <a:t>23/30</a:t>
            </a:r>
          </a:p>
        </p:txBody>
      </p:sp>
      <p:sp>
        <p:nvSpPr>
          <p:cNvPr id="4" name="Accent décoratif" descr="" title=""/>
          <p:cNvSpPr/>
          <p:nvPr/>
        </p:nvSpPr>
        <p:spPr>
          <a:xfrm>
            <a:off x="612648" y="1280160"/>
            <a:ext cx="73152" cy="2286000"/>
          </a:xfrm>
          <a:prstGeom prst="rect">
            <a:avLst/>
          </a:prstGeom>
          <a:solidFill>
            <a:srgbClr val="CE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6" name="Highlight accent décoratif" descr="" title=""/>
          <p:cNvSpPr/>
          <p:nvPr/>
        </p:nvSpPr>
        <p:spPr>
          <a:xfrm>
            <a:off x="612648" y="3840480"/>
            <a:ext cx="91440" cy="7315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Pilier 5 — Avant de publier</a:t>
            </a:r>
          </a:p>
        </p:txBody>
      </p:sp>
      <p:sp>
        <p:nvSpPr>
          <p:cNvPr id="6" name="Étape 1"/>
          <p:cNvSpPr txBox="1"/>
          <p:nvPr/>
        </p:nvSpPr>
        <p:spPr>
          <a:xfrm>
            <a:off x="612648" y="1892807"/>
            <a:ext cx="1953158" cy="2057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Propriétés :</a:t>
            </a:r>
            <a:br/>
            <a:r>
              <a:rPr lang="fr-FR">
                <a:solidFill/>
                <a:latin typeface="Marianne"/>
              </a:rPr>
              <a:t>Fichier &gt; Informations</a:t>
            </a:r>
            <a:br/>
            <a:r>
              <a:rPr lang="fr-FR">
                <a:solidFill/>
                <a:latin typeface="Marianne"/>
              </a:rPr>
              <a:t>&gt; Titre, Auteur, Objet</a:t>
            </a:r>
          </a:p>
        </p:txBody>
      </p:sp>
      <p:sp>
        <p:nvSpPr>
          <p:cNvPr id="9" name="Étape 2"/>
          <p:cNvSpPr txBox="1"/>
          <p:nvPr/>
        </p:nvSpPr>
        <p:spPr>
          <a:xfrm>
            <a:off x="2867558" y="1892807"/>
            <a:ext cx="1953158" cy="2057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Nom de fichier :</a:t>
            </a:r>
            <a:br/>
            <a:r>
              <a:rPr lang="fr-FR">
                <a:solidFill/>
                <a:latin typeface="Marianne"/>
              </a:rPr>
              <a:t>descriptif + .docx</a:t>
            </a:r>
            <a:br/>
            <a:r>
              <a:rPr lang="fr-FR">
                <a:solidFill/>
                <a:latin typeface="Marianne"/>
              </a:rPr>
              <a:t>(pas « Document1 »)</a:t>
            </a:r>
          </a:p>
        </p:txBody>
      </p:sp>
      <p:sp>
        <p:nvSpPr>
          <p:cNvPr id="12" name="Étape 3"/>
          <p:cNvSpPr txBox="1"/>
          <p:nvPr/>
        </p:nvSpPr>
        <p:spPr>
          <a:xfrm>
            <a:off x="5122468" y="1892807"/>
            <a:ext cx="1953158" cy="2057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Protection :</a:t>
            </a:r>
            <a:br/>
            <a:r>
              <a:rPr lang="fr-FR">
                <a:solidFill/>
                <a:latin typeface="Marianne"/>
              </a:rPr>
              <a:t>Révision &gt; Restreindre</a:t>
            </a:r>
            <a:br/>
            <a:r>
              <a:rPr lang="fr-FR">
                <a:solidFill/>
                <a:latin typeface="Marianne"/>
              </a:rPr>
              <a:t>&gt; aucune restriction</a:t>
            </a:r>
          </a:p>
        </p:txBody>
      </p:sp>
      <p:sp>
        <p:nvSpPr>
          <p:cNvPr id="15" name="Étape 4"/>
          <p:cNvSpPr txBox="1"/>
          <p:nvPr/>
        </p:nvSpPr>
        <p:spPr>
          <a:xfrm>
            <a:off x="7377379" y="1892807"/>
            <a:ext cx="1953158" cy="2057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Formulaires :</a:t>
            </a:r>
            <a:br/>
            <a:r>
              <a:rPr lang="fr-FR">
                <a:solidFill/>
                <a:latin typeface="Marianne"/>
              </a:rPr>
              <a:t>aucun champ de</a:t>
            </a:r>
            <a:br/>
            <a:r>
              <a:rPr lang="fr-FR">
                <a:solidFill/>
                <a:latin typeface="Marianne"/>
              </a:rPr>
              <a:t>formulaire Word</a:t>
            </a:r>
          </a:p>
        </p:txBody>
      </p:sp>
      <p:sp>
        <p:nvSpPr>
          <p:cNvPr id="17" name="Étape 5"/>
          <p:cNvSpPr txBox="1"/>
          <p:nvPr/>
        </p:nvSpPr>
        <p:spPr>
          <a:xfrm>
            <a:off x="9632289" y="1892807"/>
            <a:ext cx="1953158" cy="2057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Vérificateur :</a:t>
            </a:r>
            <a:br/>
            <a:r>
              <a:rPr lang="fr-FR">
                <a:solidFill/>
                <a:latin typeface="Marianne"/>
              </a:rPr>
              <a:t>Fichier &gt; Vérifier</a:t>
            </a:r>
            <a:br/>
            <a:r>
              <a:rPr lang="fr-FR">
                <a:solidFill/>
                <a:latin typeface="Marianne"/>
              </a:rPr>
              <a:t>l'accessibilité</a:t>
            </a:r>
          </a:p>
        </p:txBody>
      </p:sp>
      <p:sp>
        <p:nvSpPr>
          <p:cNvPr id="19" name="Highlight"/>
          <p:cNvSpPr txBox="1"/>
          <p:nvPr/>
        </p:nvSpPr>
        <p:spPr>
          <a:xfrm>
            <a:off x="841248" y="4462272"/>
            <a:ext cx="10652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Ces 5 vérifications prennent 2 minutes et attrapent 80 % des oublis restants.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sz="1000" lang="fr-FR">
                <a:solidFill>
                  <a:srgbClr val="666666"/>
                </a:solidFill>
                <a:latin typeface="Marianne"/>
              </a:defRPr>
            </a:pPr>
            <a:r>
              <a:rPr sz="1000" lang="fr-FR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sz="1000" lang="fr-FR">
                <a:solidFill>
                  <a:srgbClr val="666666"/>
                </a:solidFill>
                <a:latin typeface="Marianne"/>
              </a:rPr>
              <a:t>24/30</a:t>
            </a:r>
          </a:p>
        </p:txBody>
      </p:sp>
      <p:sp>
        <p:nvSpPr>
          <p:cNvPr id="4" name="Étape 1 pastille décoratif" descr="" title=""/>
          <p:cNvSpPr/>
          <p:nvPr/>
        </p:nvSpPr>
        <p:spPr>
          <a:xfrm>
            <a:off x="1337767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2000" b="1" lang="fr-FR">
                <a:solidFill>
                  <a:srgbClr val="FFFFFF"/>
                </a:solidFill>
                <a:latin typeface="Marianne"/>
              </a:defRPr>
            </a:pPr>
            <a:r>
              <a:rPr lang="fr-FR" b="1" sz="2000">
                <a:solidFill>
                  <a:srgbClr val="FFFFFF"/>
                </a:solidFill>
                <a:latin typeface="Marianne"/>
              </a:rPr>
              <a:t>1</a:t>
            </a:r>
          </a:p>
        </p:txBody>
      </p:sp>
      <p:sp>
        <p:nvSpPr>
          <p:cNvPr id="7" name="Étape 2 pastille décoratif" descr="" title=""/>
          <p:cNvSpPr/>
          <p:nvPr/>
        </p:nvSpPr>
        <p:spPr>
          <a:xfrm>
            <a:off x="3592677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2000" b="1" lang="fr-FR">
                <a:solidFill>
                  <a:srgbClr val="FFFFFF"/>
                </a:solidFill>
                <a:latin typeface="Marianne"/>
              </a:defRPr>
            </a:pPr>
            <a:r>
              <a:rPr lang="fr-FR" b="1" sz="2000">
                <a:solidFill>
                  <a:srgbClr val="FFFFFF"/>
                </a:solidFill>
                <a:latin typeface="Marianne"/>
              </a:rPr>
              <a:t>2</a:t>
            </a:r>
          </a:p>
        </p:txBody>
      </p:sp>
      <p:sp>
        <p:nvSpPr>
          <p:cNvPr id="10" name="Étape 3 pastille décoratif" descr="" title=""/>
          <p:cNvSpPr/>
          <p:nvPr/>
        </p:nvSpPr>
        <p:spPr>
          <a:xfrm>
            <a:off x="5847588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2000" b="1" lang="fr-FR">
                <a:solidFill>
                  <a:srgbClr val="FFFFFF"/>
                </a:solidFill>
                <a:latin typeface="Marianne"/>
              </a:defRPr>
            </a:pPr>
            <a:r>
              <a:rPr lang="fr-FR" b="1" sz="2000">
                <a:solidFill>
                  <a:srgbClr val="FFFFFF"/>
                </a:solidFill>
                <a:latin typeface="Marianne"/>
              </a:rPr>
              <a:t>3</a:t>
            </a:r>
          </a:p>
        </p:txBody>
      </p:sp>
      <p:sp>
        <p:nvSpPr>
          <p:cNvPr id="13" name="Étape 4 pastille décoratif" descr="" title=""/>
          <p:cNvSpPr/>
          <p:nvPr/>
        </p:nvSpPr>
        <p:spPr>
          <a:xfrm>
            <a:off x="8102498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2000" b="1" lang="fr-FR">
                <a:solidFill>
                  <a:srgbClr val="FFFFFF"/>
                </a:solidFill>
                <a:latin typeface="Marianne"/>
              </a:defRPr>
            </a:pPr>
            <a:r>
              <a:rPr lang="fr-FR" b="1" sz="2000">
                <a:solidFill>
                  <a:srgbClr val="FFFFFF"/>
                </a:solidFill>
                <a:latin typeface="Marianne"/>
              </a:rPr>
              <a:t>4</a:t>
            </a:r>
          </a:p>
        </p:txBody>
      </p:sp>
      <p:sp>
        <p:nvSpPr>
          <p:cNvPr id="16" name="Étape 5 pastille décoratif" descr="" title=""/>
          <p:cNvSpPr/>
          <p:nvPr/>
        </p:nvSpPr>
        <p:spPr>
          <a:xfrm>
            <a:off x="10357408" y="1280160"/>
            <a:ext cx="502920" cy="502920"/>
          </a:xfrm>
          <a:prstGeom prst="ellipse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2000" b="1" lang="fr-FR">
                <a:solidFill>
                  <a:srgbClr val="FFFFFF"/>
                </a:solidFill>
                <a:latin typeface="Marianne"/>
              </a:defRPr>
            </a:pPr>
            <a:r>
              <a:rPr lang="fr-FR" b="1" sz="2000">
                <a:solidFill>
                  <a:srgbClr val="FFFFFF"/>
                </a:solidFill>
                <a:latin typeface="Marianne"/>
              </a:rPr>
              <a:t>5</a:t>
            </a:r>
          </a:p>
        </p:txBody>
      </p:sp>
      <p:sp>
        <p:nvSpPr>
          <p:cNvPr id="5" name="Trait décoratif" descr="" title=""/>
          <p:cNvSpPr/>
          <p:nvPr/>
        </p:nvSpPr>
        <p:spPr>
          <a:xfrm>
            <a:off x="1886407" y="1517904"/>
            <a:ext cx="166055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8" name="Trait décoratif" descr="" title=""/>
          <p:cNvSpPr/>
          <p:nvPr/>
        </p:nvSpPr>
        <p:spPr>
          <a:xfrm>
            <a:off x="4141317" y="1517904"/>
            <a:ext cx="166055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11" name="Trait décoratif" descr="" title=""/>
          <p:cNvSpPr/>
          <p:nvPr/>
        </p:nvSpPr>
        <p:spPr>
          <a:xfrm>
            <a:off x="6396228" y="1517904"/>
            <a:ext cx="166055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14" name="Trait décoratif" descr="" title=""/>
          <p:cNvSpPr/>
          <p:nvPr/>
        </p:nvSpPr>
        <p:spPr>
          <a:xfrm>
            <a:off x="8651138" y="1517904"/>
            <a:ext cx="166055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18" name="Highlight accent décoratif" descr="" title=""/>
          <p:cNvSpPr/>
          <p:nvPr/>
        </p:nvSpPr>
        <p:spPr>
          <a:xfrm>
            <a:off x="612648" y="4389120"/>
            <a:ext cx="91440" cy="7315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Le vérificateur : allié imparfait</a:t>
            </a:r>
          </a:p>
        </p:txBody>
      </p:sp>
      <p:sp>
        <p:nvSpPr>
          <p:cNvPr id="5" name="Alerte"/>
          <p:cNvSpPr/>
          <p:nvPr/>
        </p:nvSpPr>
        <p:spPr>
          <a:xfrm>
            <a:off x="685800" y="1280160"/>
            <a:ext cx="5262372" cy="2560320"/>
          </a:xfrm>
          <a:prstGeom prst="rect">
            <a:avLst/>
          </a:prstGeom>
          <a:solidFill>
            <a:srgbClr val="B8F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 bIns="109728"/>
          <a:lstStyle/>
          <a:p>
            <a:pPr algn="ctr">
              <a:spcAft>
                <a:spcPts val="600"/>
              </a:spcAft>
              <a:defRPr sz="1600" b="1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Ce qu'il détecte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Texte alt manquant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Objets non alignés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Styles de titre absents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Tableaux sans en-tête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Ordre de lecture</a:t>
            </a:r>
          </a:p>
        </p:txBody>
      </p:sp>
      <p:sp>
        <p:nvSpPr>
          <p:cNvPr id="7" name="Alerte"/>
          <p:cNvSpPr/>
          <p:nvPr/>
        </p:nvSpPr>
        <p:spPr>
          <a:xfrm>
            <a:off x="6323076" y="1280160"/>
            <a:ext cx="5262372" cy="2560320"/>
          </a:xfrm>
          <a:prstGeom prst="rect">
            <a:avLst/>
          </a:prstGeom>
          <a:solidFill>
            <a:srgbClr val="FF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 bIns="109728"/>
          <a:lstStyle/>
          <a:p>
            <a:pPr algn="ctr">
              <a:spcAft>
                <a:spcPts val="600"/>
              </a:spcAft>
              <a:defRPr sz="1600" b="1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Ce qu'il ne détecte PAS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Qualité du texte alt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Pertinence des noms de liens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Couleur porteuse de sens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Langue des passages étrangers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Contraste insuffisant</a:t>
            </a:r>
          </a:p>
        </p:txBody>
      </p:sp>
      <p:sp>
        <p:nvSpPr>
          <p:cNvPr id="9" name="Highlight"/>
          <p:cNvSpPr txBox="1"/>
          <p:nvPr/>
        </p:nvSpPr>
        <p:spPr>
          <a:xfrm>
            <a:off x="841248" y="4187952"/>
            <a:ext cx="10652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Le vérificateur est un premier filtre, pas un certificat de conformité.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sz="1000" lang="fr-FR">
                <a:solidFill>
                  <a:srgbClr val="666666"/>
                </a:solidFill>
                <a:latin typeface="Marianne"/>
              </a:defRPr>
            </a:pPr>
            <a:r>
              <a:rPr sz="1000" lang="fr-FR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sz="1000" lang="fr-FR">
                <a:solidFill>
                  <a:srgbClr val="666666"/>
                </a:solidFill>
                <a:latin typeface="Marianne"/>
              </a:rPr>
              <a:t>25/30</a:t>
            </a:r>
          </a:p>
        </p:txBody>
      </p:sp>
      <p:sp>
        <p:nvSpPr>
          <p:cNvPr id="4" name="Accent décoratif" descr="" title=""/>
          <p:cNvSpPr/>
          <p:nvPr/>
        </p:nvSpPr>
        <p:spPr>
          <a:xfrm>
            <a:off x="612648" y="1280160"/>
            <a:ext cx="73152" cy="2560320"/>
          </a:xfrm>
          <a:prstGeom prst="rect">
            <a:avLst/>
          </a:prstGeom>
          <a:solidFill>
            <a:srgbClr val="187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6" name="Accent décoratif" descr="" title=""/>
          <p:cNvSpPr/>
          <p:nvPr/>
        </p:nvSpPr>
        <p:spPr>
          <a:xfrm>
            <a:off x="6249924" y="1280160"/>
            <a:ext cx="73152" cy="2560320"/>
          </a:xfrm>
          <a:prstGeom prst="rect">
            <a:avLst/>
          </a:prstGeom>
          <a:solidFill>
            <a:srgbClr val="B34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8" name="Highlight accent décoratif" descr="" title=""/>
          <p:cNvSpPr/>
          <p:nvPr/>
        </p:nvSpPr>
        <p:spPr>
          <a:xfrm>
            <a:off x="612648" y="4114800"/>
            <a:ext cx="91440" cy="7315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Étude de cas : un document de A à Z</a:t>
            </a:r>
          </a:p>
        </p:txBody>
      </p:sp>
      <p:sp>
        <p:nvSpPr>
          <p:cNvPr id="5" name="Callout"/>
          <p:cNvSpPr/>
          <p:nvPr/>
        </p:nvSpPr>
        <p:spPr>
          <a:xfrm>
            <a:off x="685800" y="1280160"/>
            <a:ext cx="10899648" cy="1371600"/>
          </a:xfrm>
          <a:prstGeom prst="rect">
            <a:avLst/>
          </a:prstGeom>
          <a:solidFill>
            <a:srgbClr val="F5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 bIns="109728"/>
          <a:lstStyle/>
          <a:p>
            <a:pPr algn="ctr">
              <a:spcAft>
                <a:spcPts val="600"/>
              </a:spcAft>
              <a:defRPr sz="1600" b="1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Sophie, assistante de direction, doit publier un compte rendu de réunion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Le document contient : 3 niveaux de titres, 2 tableaux, 1 organigramme, 1 lien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Il porte la mention « CONFIDENTIEL » en filigrane</a:t>
            </a:r>
          </a:p>
        </p:txBody>
      </p:sp>
      <p:graphicFrame>
        <p:nvGraphicFramePr>
          <p:cNvPr id="6" name="Tableau"/>
          <p:cNvGraphicFramePr>
            <a:graphicFrameLocks noGrp="1"/>
          </p:cNvGraphicFramePr>
          <p:nvPr/>
        </p:nvGraphicFramePr>
        <p:xfrm>
          <a:off x="612648" y="2926080"/>
          <a:ext cx="109728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6400800"/>
                <a:gridCol w="36576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200" b="1" lang="fr-FR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Étape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 lang="fr-FR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Ce que Sophie fait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 lang="fr-FR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Pilier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1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1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Applique Titre 1, 2, 3 via Accueil &gt; Styles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Structure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1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Identifie la ligne d'en-tête de chaque tableau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Structure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1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3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Ajoute un texte alt fonctionnel sur l'organigramme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Contenus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1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Renomme le lien « cliquez ici » en description claire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Contenus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1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5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Ajoute « CONFIDENTIEL » au début du document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Contenus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1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Renseigne Titre et Auteur dans Fichier &gt; Informations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Finalisation</a:t>
                      </a:r>
                    </a:p>
                  </a:txBody>
                  <a:tcPr anchor="ctr"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1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7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Lance le vérificateur &gt; corrige les 2 erreurs restantes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Finalisation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sz="1000" lang="fr-FR">
                <a:solidFill>
                  <a:srgbClr val="666666"/>
                </a:solidFill>
                <a:latin typeface="Marianne"/>
              </a:defRPr>
            </a:pPr>
            <a:r>
              <a:rPr sz="1000" lang="fr-FR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sz="1000" lang="fr-FR">
                <a:solidFill>
                  <a:srgbClr val="666666"/>
                </a:solidFill>
                <a:latin typeface="Marianne"/>
              </a:rPr>
              <a:t>26/30</a:t>
            </a:r>
          </a:p>
        </p:txBody>
      </p:sp>
      <p:sp>
        <p:nvSpPr>
          <p:cNvPr id="4" name="Accent décoratif" descr="" title=""/>
          <p:cNvSpPr/>
          <p:nvPr/>
        </p:nvSpPr>
        <p:spPr>
          <a:xfrm>
            <a:off x="612648" y="1280160"/>
            <a:ext cx="73152" cy="13716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Quiz final : trouvez les erreurs</a:t>
            </a:r>
          </a:p>
        </p:txBody>
      </p:sp>
      <p:sp>
        <p:nvSpPr>
          <p:cNvPr id="5" name="Callout"/>
          <p:cNvSpPr/>
          <p:nvPr/>
        </p:nvSpPr>
        <p:spPr>
          <a:xfrm>
            <a:off x="685800" y="1280160"/>
            <a:ext cx="10899648" cy="3200400"/>
          </a:xfrm>
          <a:prstGeom prst="rect">
            <a:avLst/>
          </a:prstGeom>
          <a:solidFill>
            <a:srgbClr val="F5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182880" bIns="109728"/>
          <a:lstStyle/>
          <a:p>
            <a:pPr algn="ctr">
              <a:spcAft>
                <a:spcPts val="600"/>
              </a:spcAft>
              <a:defRPr sz="1600" b="1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Un document Word contient :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1. Un titre « Introduction » mis en gras Arial 16 (sans style)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2. Un tableau de 3 colonnes avec la 1re ligne en gras (sans « Répéter en tant que ligne d'en-tête »)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3. Un lien « cliquez ici pour le formulaire »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4. Un filigrane « PROJET » sans mention dans le corps du document</a:t>
            </a:r>
          </a:p>
          <a:p>
            <a:pPr>
              <a:spcAft>
                <a:spcPts val="400"/>
              </a:spcAft>
              <a:defRPr sz="14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5. Une photo de l'équipe sans texte alternatif</a:t>
            </a:r>
          </a:p>
        </p:txBody>
      </p:sp>
      <p:sp>
        <p:nvSpPr>
          <p:cNvPr id="7" name="Highlight"/>
          <p:cNvSpPr txBox="1"/>
          <p:nvPr/>
        </p:nvSpPr>
        <p:spPr>
          <a:xfrm>
            <a:off x="841248" y="4828032"/>
            <a:ext cx="10652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Combien d'erreurs d'accessibilité comptez-vous ? Réponse : 5 erreurs (une par point).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sz="1000" lang="fr-FR">
                <a:solidFill>
                  <a:srgbClr val="666666"/>
                </a:solidFill>
                <a:latin typeface="Marianne"/>
              </a:defRPr>
            </a:pPr>
            <a:r>
              <a:rPr sz="1000" lang="fr-FR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sz="1000" lang="fr-FR">
                <a:solidFill>
                  <a:srgbClr val="666666"/>
                </a:solidFill>
                <a:latin typeface="Marianne"/>
              </a:rPr>
              <a:t>27/30</a:t>
            </a:r>
          </a:p>
        </p:txBody>
      </p:sp>
      <p:sp>
        <p:nvSpPr>
          <p:cNvPr id="4" name="Accent décoratif" descr="" title=""/>
          <p:cNvSpPr/>
          <p:nvPr/>
        </p:nvSpPr>
        <p:spPr>
          <a:xfrm>
            <a:off x="612648" y="1280160"/>
            <a:ext cx="73152" cy="32004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6" name="Highlight accent décoratif" descr="" title=""/>
          <p:cNvSpPr/>
          <p:nvPr/>
        </p:nvSpPr>
        <p:spPr>
          <a:xfrm>
            <a:off x="612648" y="4754880"/>
            <a:ext cx="91440" cy="7315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Par où commencer ?</a:t>
            </a:r>
          </a:p>
        </p:txBody>
      </p:sp>
      <p:graphicFrame>
        <p:nvGraphicFramePr>
          <p:cNvPr id="4" name="Tableau"/>
          <p:cNvGraphicFramePr>
            <a:graphicFrameLocks noGrp="1"/>
          </p:cNvGraphicFramePr>
          <p:nvPr/>
        </p:nvGraphicFramePr>
        <p:xfrm>
          <a:off x="612648" y="1280160"/>
          <a:ext cx="1097280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41148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200" b="1" lang="fr-FR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</a:p>
                  </a:txBody>
                  <a:tcPr>
                    <a:solidFill>
                      <a:srgbClr val="0000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 lang="fr-FR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Effort faible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 lang="fr-FR">
                          <a:solidFill>
                            <a:srgbClr val="FFFFFF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Effort modéré</a:t>
                      </a:r>
                    </a:p>
                  </a:txBody>
                  <a:tcPr>
                    <a:solidFill>
                      <a:srgbClr val="00009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1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Impact fort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Styles de titre</a:t>
                      </a:r>
                    </a:p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Listes intégrées</a:t>
                      </a:r>
                    </a:p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Nom descriptif</a:t>
                      </a:r>
                    </a:p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Propriétés du document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Texte alternatif</a:t>
                      </a:r>
                    </a:p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Liens descriptifs</a:t>
                      </a:r>
                    </a:p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Tableaux avec en-têtes</a:t>
                      </a:r>
                    </a:p>
                  </a:txBody>
                  <a:tcPr anchor="ctr">
                    <a:solidFill>
                      <a:srgbClr val="F6F6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 b="1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Impact modéré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Sauts de page</a:t>
                      </a:r>
                    </a:p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Colonnes intégrées</a:t>
                      </a:r>
                    </a:p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Langue des passages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Contraste couleurs</a:t>
                      </a:r>
                    </a:p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Alignement objets</a:t>
                      </a:r>
                    </a:p>
                    <a:p>
                      <a:pPr>
                        <a:defRPr sz="1200" lang="fr-FR">
                          <a:solidFill>
                            <a:srgbClr val="161616"/>
                          </a:solidFill>
                          <a:latin typeface="Marianne"/>
                        </a:defRPr>
                      </a:pPr>
                      <a:r>
                        <a:rPr lang="fr-FR">
                          <a:latin typeface="Marianne"/>
                        </a:rPr>
                        <a:t>Zones de texte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Highlight"/>
          <p:cNvSpPr txBox="1"/>
          <p:nvPr/>
        </p:nvSpPr>
        <p:spPr>
          <a:xfrm>
            <a:off x="841248" y="2670048"/>
            <a:ext cx="106527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Commencez par le quadrant haut-gauche : 4 actions à effort faible qui transforment l'accessibilité.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sz="1000" lang="fr-FR">
                <a:solidFill>
                  <a:srgbClr val="666666"/>
                </a:solidFill>
                <a:latin typeface="Marianne"/>
              </a:defRPr>
            </a:pPr>
            <a:r>
              <a:rPr sz="1000" lang="fr-FR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sz="1000" lang="fr-FR">
                <a:solidFill>
                  <a:srgbClr val="666666"/>
                </a:solidFill>
                <a:latin typeface="Marianne"/>
              </a:rPr>
              <a:t>28/30</a:t>
            </a:r>
          </a:p>
        </p:txBody>
      </p:sp>
      <p:sp>
        <p:nvSpPr>
          <p:cNvPr id="5" name="Highlight accent décoratif" descr="" title=""/>
          <p:cNvSpPr/>
          <p:nvPr/>
        </p:nvSpPr>
        <p:spPr>
          <a:xfrm>
            <a:off x="612648" y="2596896"/>
            <a:ext cx="91440" cy="73152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Checklist : vos 21 critères</a:t>
            </a:r>
          </a:p>
        </p:txBody>
      </p:sp>
      <p:sp>
        <p:nvSpPr>
          <p:cNvPr id="4" name="Encadré"/>
          <p:cNvSpPr/>
          <p:nvPr/>
        </p:nvSpPr>
        <p:spPr>
          <a:xfrm>
            <a:off x="612648" y="1280160"/>
            <a:ext cx="5335524" cy="45720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91440"/>
          <a:lstStyle/>
          <a:p>
            <a:pPr algn="ctr">
              <a:spcAft>
                <a:spcPts val="400"/>
              </a:spcAft>
              <a:defRPr sz="1500" b="1" lang="fr-FR">
                <a:solidFill>
                  <a:srgbClr val="000091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Structure et couleurs</a:t>
            </a:r>
          </a:p>
          <a:p>
            <a:pPr>
              <a:spcAft>
                <a:spcPts val="200"/>
              </a:spcAft>
              <a:defRPr sz="13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1. Fichier .docx + nom descriptif</a:t>
            </a:r>
          </a:p>
          <a:p>
            <a:pPr>
              <a:spcAft>
                <a:spcPts val="200"/>
              </a:spcAft>
              <a:defRPr sz="13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2. Document non protégé</a:t>
            </a:r>
          </a:p>
          <a:p>
            <a:pPr>
              <a:spcAft>
                <a:spcPts val="200"/>
              </a:spcAft>
              <a:defRPr sz="13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3. Titres avec styles intégrés</a:t>
            </a:r>
          </a:p>
          <a:p>
            <a:pPr>
              <a:spcAft>
                <a:spcPts val="200"/>
              </a:spcAft>
              <a:defRPr sz="13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4. Hiérarchie cohérente</a:t>
            </a:r>
          </a:p>
          <a:p>
            <a:pPr>
              <a:spcAft>
                <a:spcPts val="200"/>
              </a:spcAft>
              <a:defRPr sz="13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5. Listes avec Puces/Numérotation</a:t>
            </a:r>
          </a:p>
          <a:p>
            <a:pPr>
              <a:spcAft>
                <a:spcPts val="200"/>
              </a:spcAft>
              <a:defRPr sz="13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6. Colonnes intégrées</a:t>
            </a:r>
          </a:p>
          <a:p>
            <a:pPr>
              <a:spcAft>
                <a:spcPts val="200"/>
              </a:spcAft>
              <a:defRPr sz="13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7. Sauts de page propres</a:t>
            </a:r>
          </a:p>
          <a:p>
            <a:pPr>
              <a:spcAft>
                <a:spcPts val="200"/>
              </a:spcAft>
              <a:defRPr sz="13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8. Tableaux mise en page OK</a:t>
            </a:r>
          </a:p>
          <a:p>
            <a:pPr>
              <a:spcAft>
                <a:spcPts val="200"/>
              </a:spcAft>
              <a:defRPr sz="13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9. Tableaux données + en-têtes</a:t>
            </a:r>
          </a:p>
          <a:p>
            <a:pPr>
              <a:spcAft>
                <a:spcPts val="200"/>
              </a:spcAft>
              <a:defRPr sz="13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10. Contraste &gt;= 4,5:1 / 3:1</a:t>
            </a:r>
          </a:p>
          <a:p>
            <a:pPr>
              <a:spcAft>
                <a:spcPts val="200"/>
              </a:spcAft>
              <a:defRPr sz="13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11. Couleur doublée en texte</a:t>
            </a:r>
          </a:p>
        </p:txBody>
      </p:sp>
      <p:sp>
        <p:nvSpPr>
          <p:cNvPr id="5" name="Encadré"/>
          <p:cNvSpPr/>
          <p:nvPr/>
        </p:nvSpPr>
        <p:spPr>
          <a:xfrm>
            <a:off x="6249924" y="1280160"/>
            <a:ext cx="5335524" cy="45720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91440"/>
          <a:lstStyle/>
          <a:p>
            <a:pPr algn="ctr">
              <a:spcAft>
                <a:spcPts val="400"/>
              </a:spcAft>
              <a:defRPr sz="1500" b="1" lang="fr-FR">
                <a:solidFill>
                  <a:srgbClr val="000091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Contenus, langue, finalisation</a:t>
            </a:r>
          </a:p>
          <a:p>
            <a:pPr>
              <a:spcAft>
                <a:spcPts val="200"/>
              </a:spcAft>
              <a:defRPr sz="13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12. Texte alt sur images/objets</a:t>
            </a:r>
          </a:p>
          <a:p>
            <a:pPr>
              <a:spcAft>
                <a:spcPts val="200"/>
              </a:spcAft>
              <a:defRPr sz="13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13. Objets alignés sur le texte</a:t>
            </a:r>
          </a:p>
          <a:p>
            <a:pPr>
              <a:spcAft>
                <a:spcPts val="200"/>
              </a:spcAft>
              <a:defRPr sz="13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14. Liens descriptifs</a:t>
            </a:r>
          </a:p>
          <a:p>
            <a:pPr>
              <a:spcAft>
                <a:spcPts val="200"/>
              </a:spcAft>
              <a:defRPr sz="13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15. Infos essentielles dans le corps</a:t>
            </a:r>
          </a:p>
          <a:p>
            <a:pPr>
              <a:spcAft>
                <a:spcPts val="200"/>
              </a:spcAft>
              <a:defRPr sz="13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16. Langue des passages balisée</a:t>
            </a:r>
          </a:p>
          <a:p>
            <a:pPr>
              <a:spcAft>
                <a:spcPts val="200"/>
              </a:spcAft>
              <a:defRPr sz="13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17. Médias avec alternatives</a:t>
            </a:r>
          </a:p>
          <a:p>
            <a:pPr>
              <a:spcAft>
                <a:spcPts val="200"/>
              </a:spcAft>
              <a:defRPr sz="13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18. Aucun objet clignotant</a:t>
            </a:r>
          </a:p>
          <a:p>
            <a:pPr>
              <a:spcAft>
                <a:spcPts val="200"/>
              </a:spcAft>
              <a:defRPr sz="13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19. Propriétés renseignées</a:t>
            </a:r>
          </a:p>
          <a:p>
            <a:pPr>
              <a:spcAft>
                <a:spcPts val="200"/>
              </a:spcAft>
              <a:defRPr sz="13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20. Aucun formulaire Word</a:t>
            </a:r>
          </a:p>
          <a:p>
            <a:pPr>
              <a:spcAft>
                <a:spcPts val="200"/>
              </a:spcAft>
              <a:defRPr sz="13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21. Vérificateur sans erreur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sz="1000" lang="fr-FR">
                <a:solidFill>
                  <a:srgbClr val="666666"/>
                </a:solidFill>
                <a:latin typeface="Marianne"/>
              </a:defRPr>
            </a:pPr>
            <a:r>
              <a:rPr sz="1000" lang="fr-FR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sz="1000" lang="fr-FR">
                <a:solidFill>
                  <a:srgbClr val="666666"/>
                </a:solidFill>
                <a:latin typeface="Marianne"/>
              </a:rPr>
              <a:t>29/30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re"/>
          <p:cNvSpPr>
            <a:spLocks noGrp="1"/>
          </p:cNvSpPr>
          <p:nvPr>
            <p:ph type="title"/>
          </p:nvPr>
        </p:nvSpPr>
        <p:spPr>
          <a:xfrm>
            <a:off x="612648" y="320040"/>
            <a:ext cx="10972800" cy="594360"/>
          </a:xfrm>
        </p:spPr>
        <p:txBody>
          <a:bodyPr/>
          <a:lstStyle/>
          <a:p>
            <a:pPr>
              <a:defRPr sz="2800" b="1">
                <a:solidFill>
                  <a:srgbClr val="000091"/>
                </a:solidFill>
                <a:latin typeface="Marianne"/>
              </a:defRPr>
            </a:pPr>
            <a:r>
              <a:t>Demain à 9h</a:t>
            </a:r>
          </a:p>
        </p:txBody>
      </p:sp>
      <p:sp>
        <p:nvSpPr>
          <p:cNvPr id="5" name="Highlight"/>
          <p:cNvSpPr txBox="1"/>
          <p:nvPr/>
        </p:nvSpPr>
        <p:spPr>
          <a:xfrm>
            <a:off x="841248" y="1353312"/>
            <a:ext cx="106527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lang="fr-FR">
                <a:solidFill>
                  <a:srgbClr val="161616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Quelle est la première chose que vous ferez sur votre prochain document Word ?</a:t>
            </a:r>
          </a:p>
        </p:txBody>
      </p:sp>
      <p:sp>
        <p:nvSpPr>
          <p:cNvPr id="7" name="Carte"/>
          <p:cNvSpPr/>
          <p:nvPr/>
        </p:nvSpPr>
        <p:spPr>
          <a:xfrm>
            <a:off x="667512" y="2468880"/>
            <a:ext cx="3401568" cy="27432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37160"/>
          <a:lstStyle/>
          <a:p>
            <a:pPr algn="ctr">
              <a:spcAft>
                <a:spcPts val="800"/>
              </a:spcAft>
              <a:defRPr sz="1600" b="1" lang="fr-FR">
                <a:solidFill>
                  <a:srgbClr val="000091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Réflexe 1</a:t>
            </a:r>
          </a:p>
          <a:p>
            <a:pPr>
              <a:defRPr sz="1300" lang="fr-FR">
                <a:solidFill>
                  <a:srgbClr val="3A3A3A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Ctrl+F &gt; onglet Titres</a:t>
            </a:r>
            <a:br/>
            <a:br/>
            <a:r>
              <a:rPr lang="fr-FR">
                <a:solidFill/>
                <a:latin typeface="Marianne"/>
              </a:rPr>
              <a:t>Vérifier que tous les titres</a:t>
            </a:r>
            <a:br/>
            <a:r>
              <a:rPr lang="fr-FR">
                <a:solidFill/>
                <a:latin typeface="Marianne"/>
              </a:rPr>
              <a:t>apparaissent dans le volet</a:t>
            </a:r>
            <a:br/>
            <a:r>
              <a:rPr lang="fr-FR">
                <a:solidFill/>
                <a:latin typeface="Marianne"/>
              </a:rPr>
              <a:t>de navigation</a:t>
            </a:r>
          </a:p>
        </p:txBody>
      </p:sp>
      <p:sp>
        <p:nvSpPr>
          <p:cNvPr id="9" name="Carte"/>
          <p:cNvSpPr/>
          <p:nvPr/>
        </p:nvSpPr>
        <p:spPr>
          <a:xfrm>
            <a:off x="4425695" y="2468880"/>
            <a:ext cx="3401568" cy="27432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37160"/>
          <a:lstStyle/>
          <a:p>
            <a:pPr algn="ctr">
              <a:spcAft>
                <a:spcPts val="800"/>
              </a:spcAft>
              <a:defRPr sz="1600" b="1" lang="fr-FR">
                <a:solidFill>
                  <a:srgbClr val="000091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Réflexe 2</a:t>
            </a:r>
          </a:p>
          <a:p>
            <a:pPr>
              <a:defRPr sz="1300" lang="fr-FR">
                <a:solidFill>
                  <a:srgbClr val="3A3A3A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Clic droit &gt; Texte</a:t>
            </a:r>
            <a:br/>
            <a:r>
              <a:rPr lang="fr-FR">
                <a:solidFill/>
                <a:latin typeface="Marianne"/>
              </a:rPr>
              <a:t>de remplacement</a:t>
            </a:r>
            <a:br/>
            <a:br/>
            <a:r>
              <a:rPr lang="fr-FR">
                <a:solidFill/>
                <a:latin typeface="Marianne"/>
              </a:rPr>
              <a:t>Décrire la fonction</a:t>
            </a:r>
            <a:br/>
            <a:r>
              <a:rPr lang="fr-FR">
                <a:solidFill/>
                <a:latin typeface="Marianne"/>
              </a:rPr>
              <a:t>de chaque image</a:t>
            </a:r>
          </a:p>
        </p:txBody>
      </p:sp>
      <p:sp>
        <p:nvSpPr>
          <p:cNvPr id="11" name="Carte"/>
          <p:cNvSpPr/>
          <p:nvPr/>
        </p:nvSpPr>
        <p:spPr>
          <a:xfrm>
            <a:off x="8183879" y="2468880"/>
            <a:ext cx="3401568" cy="27432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37160"/>
          <a:lstStyle/>
          <a:p>
            <a:pPr algn="ctr">
              <a:spcAft>
                <a:spcPts val="800"/>
              </a:spcAft>
              <a:defRPr sz="1600" b="1" lang="fr-FR">
                <a:solidFill>
                  <a:srgbClr val="000091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Réflexe 3</a:t>
            </a:r>
          </a:p>
          <a:p>
            <a:pPr>
              <a:defRPr sz="1300" lang="fr-FR">
                <a:solidFill>
                  <a:srgbClr val="3A3A3A"/>
                </a:solidFill>
                <a:latin typeface="Marianne"/>
              </a:defRPr>
            </a:pPr>
            <a:r>
              <a:rPr lang="fr-FR">
                <a:solidFill/>
                <a:latin typeface="Marianne"/>
              </a:rPr>
              <a:t>Fichier &gt; Vérifier</a:t>
            </a:r>
            <a:br/>
            <a:r>
              <a:rPr lang="fr-FR">
                <a:solidFill/>
                <a:latin typeface="Marianne"/>
              </a:rPr>
              <a:t>l'accessibilité</a:t>
            </a:r>
            <a:br/>
            <a:br/>
            <a:r>
              <a:rPr lang="fr-FR">
                <a:solidFill/>
                <a:latin typeface="Marianne"/>
              </a:rPr>
              <a:t>Corriger les erreurs</a:t>
            </a:r>
            <a:br/>
            <a:r>
              <a:rPr lang="fr-FR">
                <a:solidFill/>
                <a:latin typeface="Marianne"/>
              </a:rPr>
              <a:t>avant d'envoyer</a:t>
            </a:r>
          </a:p>
        </p:txBody>
      </p:sp>
      <p:sp>
        <p:nvSpPr>
          <p:cNvPr id="3" name="Pied de page"/>
          <p:cNvSpPr txBox="1"/>
          <p:nvPr/>
        </p:nvSpPr>
        <p:spPr>
          <a:xfrm>
            <a:off x="612648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tabLst>
                <a:tab pos="10698480" algn="r"/>
              </a:tabLst>
              <a:defRPr sz="1000" lang="fr-FR">
                <a:solidFill>
                  <a:srgbClr val="666666"/>
                </a:solidFill>
                <a:latin typeface="Marianne"/>
              </a:defRPr>
            </a:pPr>
            <a:r>
              <a:rPr sz="1000" lang="fr-FR">
                <a:solidFill>
                  <a:srgbClr val="666666"/>
                </a:solidFill>
                <a:latin typeface="Marianne"/>
              </a:rPr>
              <a:t>Accessibilité Word — avril 2026</a:t>
            </a:r>
            <a:r>
              <a:rPr lang="fr-FR">
                <a:solidFill/>
                <a:latin typeface="Marianne"/>
              </a:rPr>
              <a:t>	</a:t>
            </a:r>
            <a:r>
              <a:rPr sz="1000" lang="fr-FR">
                <a:solidFill>
                  <a:srgbClr val="666666"/>
                </a:solidFill>
                <a:latin typeface="Marianne"/>
              </a:rPr>
              <a:t>30/30</a:t>
            </a:r>
          </a:p>
        </p:txBody>
      </p:sp>
      <p:sp>
        <p:nvSpPr>
          <p:cNvPr id="4" name="Highlight accent décoratif" descr="" title=""/>
          <p:cNvSpPr/>
          <p:nvPr/>
        </p:nvSpPr>
        <p:spPr>
          <a:xfrm>
            <a:off x="612648" y="1280160"/>
            <a:ext cx="91440" cy="9144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6" name="Accent carte décoratif" descr="" title=""/>
          <p:cNvSpPr/>
          <p:nvPr/>
        </p:nvSpPr>
        <p:spPr>
          <a:xfrm>
            <a:off x="612648" y="2468880"/>
            <a:ext cx="54864" cy="27432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8" name="Accent carte décoratif" descr="" title=""/>
          <p:cNvSpPr/>
          <p:nvPr/>
        </p:nvSpPr>
        <p:spPr>
          <a:xfrm>
            <a:off x="4370831" y="2468880"/>
            <a:ext cx="54864" cy="27432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  <p:sp>
        <p:nvSpPr>
          <p:cNvPr id="10" name="Accent carte décoratif" descr="" title=""/>
          <p:cNvSpPr/>
          <p:nvPr/>
        </p:nvSpPr>
        <p:spPr>
          <a:xfrm>
            <a:off x="8129015" y="2468880"/>
            <a:ext cx="54864" cy="2743200"/>
          </a:xfrm>
          <a:prstGeom prst="rect">
            <a:avLst/>
          </a:prstGeom>
          <a:solidFill>
            <a:srgbClr val="000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fr-FR">
                <a:latin typeface="Marianne"/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Rendre un document Word accessible</dc:title>
  <dc:subject>Formation accessibilité Word — 22 critères en 5 piliers</dc:subject>
  <dc:creator>Alex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fr-FR</dc:language>
</cp:coreProperties>
</file>