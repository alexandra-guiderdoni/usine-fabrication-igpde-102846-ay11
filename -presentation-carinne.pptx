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64" r:id="rId2"/>
    <p:sldId id="265" r:id="rId3"/>
    <p:sldId id="269" r:id="rId4"/>
    <p:sldId id="270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7" roundtripDataSignature="AMtx7mhAD74TFbmtN3pEVKQalvl1byXp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DA3A84-C8B8-4E25-B2BE-6258E6BE514C}">
  <a:tblStyle styleId="{81DA3A84-C8B8-4E25-B2BE-6258E6BE514C}" styleName="Table_0">
    <a:wholeTbl>
      <a:tcTxStyle b="off" i="off">
        <a:font>
          <a:latin typeface="Marianne"/>
          <a:ea typeface="Marianne"/>
          <a:cs typeface="Marianne"/>
        </a:font>
        <a:schemeClr val="dk1"/>
      </a:tcTxStyle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Marianne"/>
          <a:ea typeface="Marianne"/>
          <a:cs typeface="Marianne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7E91FA-90BF-47A8-963E-8DB3384E367F}" styleName="Table_1">
    <a:wholeTbl>
      <a:tcTxStyle b="off" i="off">
        <a:font>
          <a:latin typeface="Marianne"/>
          <a:ea typeface="Marianne"/>
          <a:cs typeface="Mariann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9E8"/>
          </a:solidFill>
        </a:fill>
      </a:tcStyle>
    </a:wholeTbl>
    <a:band1H>
      <a:tcTxStyle/>
      <a:tcStyle>
        <a:tcBdr/>
        <a:fill>
          <a:solidFill>
            <a:srgbClr val="CAD0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0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Marianne"/>
          <a:ea typeface="Marianne"/>
          <a:cs typeface="Mariann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Marianne"/>
          <a:ea typeface="Marianne"/>
          <a:cs typeface="Mariann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Marianne"/>
          <a:ea typeface="Marianne"/>
          <a:cs typeface="Mariann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Marianne"/>
          <a:ea typeface="Marianne"/>
          <a:cs typeface="Mariann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268" Type="http://schemas.openxmlformats.org/officeDocument/2006/relationships/presProps" Target="presProps.xml"/><Relationship Id="rId27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26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270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69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(9h50 – 10h30)</a:t>
            </a:r>
            <a:endParaRPr/>
          </a:p>
        </p:txBody>
      </p:sp>
      <p:sp>
        <p:nvSpPr>
          <p:cNvPr id="204" name="Google Shape;20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rtie">
  <p:cSld name="Parti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27" name="Google Shape;27;p259"/>
          <p:cNvSpPr txBox="1">
            <a:spLocks noGrp="1"/>
          </p:cNvSpPr>
          <p:nvPr>
            <p:ph type="body" idx="1"/>
          </p:nvPr>
        </p:nvSpPr>
        <p:spPr>
          <a:xfrm>
            <a:off x="360000" y="2346046"/>
            <a:ext cx="8424000" cy="11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None/>
              <a:defRPr sz="3250" b="1" cap="none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8" name="Google Shape;28;p259"/>
          <p:cNvCxnSpPr/>
          <p:nvPr/>
        </p:nvCxnSpPr>
        <p:spPr>
          <a:xfrm>
            <a:off x="360000" y="4784400"/>
            <a:ext cx="8424000" cy="0"/>
          </a:xfrm>
          <a:prstGeom prst="straightConnector1">
            <a:avLst/>
          </a:prstGeom>
          <a:noFill/>
          <a:ln w="10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Google Shape;29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171" y="159582"/>
            <a:ext cx="1607283" cy="1456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3370" y="349250"/>
            <a:ext cx="1098689" cy="109868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5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9"/>
          <p:cNvSpPr txBox="1">
            <a:spLocks noGrp="1"/>
          </p:cNvSpPr>
          <p:nvPr>
            <p:ph type="body" idx="2"/>
          </p:nvPr>
        </p:nvSpPr>
        <p:spPr>
          <a:xfrm>
            <a:off x="360363" y="3579861"/>
            <a:ext cx="8423275" cy="100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" type="blank">
  <p:cSld name="BLANK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0"/>
          <p:cNvSpPr/>
          <p:nvPr/>
        </p:nvSpPr>
        <p:spPr>
          <a:xfrm>
            <a:off x="0" y="771550"/>
            <a:ext cx="9144000" cy="4356888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60"/>
          <p:cNvSpPr/>
          <p:nvPr/>
        </p:nvSpPr>
        <p:spPr>
          <a:xfrm>
            <a:off x="360000" y="4784400"/>
            <a:ext cx="842148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0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3 cases non hierarchisé">
  <p:cSld name="Contenu 3 cases non hierarchisé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1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39" name="Google Shape;39;p261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1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1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1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6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1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2 cases non hierarchisé">
  <p:cSld name="Contenu 2 cases non hierarchisé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2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48" name="Google Shape;48;p262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2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2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2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simple">
  <p:cSld name="Contenu simp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3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56" name="Google Shape;56;p263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63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3"/>
          <p:cNvSpPr txBox="1">
            <a:spLocks noGrp="1"/>
          </p:cNvSpPr>
          <p:nvPr>
            <p:ph type="body" idx="3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pleine page vertical">
  <p:cSld name="Contenu pleine page vertical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2555596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4"/>
          <p:cNvSpPr txBox="1">
            <a:spLocks noGrp="1"/>
          </p:cNvSpPr>
          <p:nvPr>
            <p:ph type="body" idx="1"/>
          </p:nvPr>
        </p:nvSpPr>
        <p:spPr>
          <a:xfrm>
            <a:off x="359999" y="2571750"/>
            <a:ext cx="2555597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6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2555817" cy="95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4"/>
          <p:cNvSpPr txBox="1">
            <a:spLocks noGrp="1"/>
          </p:cNvSpPr>
          <p:nvPr>
            <p:ph type="body" idx="2"/>
          </p:nvPr>
        </p:nvSpPr>
        <p:spPr>
          <a:xfrm>
            <a:off x="360219" y="1948398"/>
            <a:ext cx="2555597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64"/>
          <p:cNvSpPr/>
          <p:nvPr/>
        </p:nvSpPr>
        <p:spPr>
          <a:xfrm>
            <a:off x="2922959" y="4768136"/>
            <a:ext cx="5897513" cy="164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64"/>
          <p:cNvSpPr txBox="1">
            <a:spLocks noGrp="1"/>
          </p:cNvSpPr>
          <p:nvPr>
            <p:ph type="body" idx="3"/>
          </p:nvPr>
        </p:nvSpPr>
        <p:spPr>
          <a:xfrm>
            <a:off x="3276600" y="180000"/>
            <a:ext cx="5256213" cy="4912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64"/>
          <p:cNvSpPr txBox="1">
            <a:spLocks noGrp="1"/>
          </p:cNvSpPr>
          <p:nvPr>
            <p:ph type="sldNum" idx="12"/>
          </p:nvPr>
        </p:nvSpPr>
        <p:spPr>
          <a:xfrm>
            <a:off x="8676456" y="4783500"/>
            <a:ext cx="4675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2 cases hierarchisé">
  <p:cSld name="Contenu 2 cases hierarchisé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1" name="Google Shape;71;p265"/>
          <p:cNvSpPr txBox="1">
            <a:spLocks noGrp="1"/>
          </p:cNvSpPr>
          <p:nvPr>
            <p:ph type="body" idx="1"/>
          </p:nvPr>
        </p:nvSpPr>
        <p:spPr>
          <a:xfrm>
            <a:off x="4788021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6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5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65"/>
          <p:cNvSpPr txBox="1">
            <a:spLocks noGrp="1"/>
          </p:cNvSpPr>
          <p:nvPr>
            <p:ph type="body" idx="3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5"/>
          <p:cNvSpPr txBox="1">
            <a:spLocks noGrp="1"/>
          </p:cNvSpPr>
          <p:nvPr>
            <p:ph type="body" idx="4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illustré 2/3">
  <p:cSld name="Contenu illustré 2/3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6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9" name="Google Shape;79;p266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6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6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66"/>
          <p:cNvSpPr txBox="1">
            <a:spLocks noGrp="1"/>
          </p:cNvSpPr>
          <p:nvPr>
            <p:ph type="body" idx="3"/>
          </p:nvPr>
        </p:nvSpPr>
        <p:spPr>
          <a:xfrm>
            <a:off x="359999" y="1835999"/>
            <a:ext cx="2520000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6"/>
          <p:cNvSpPr txBox="1">
            <a:spLocks noGrp="1"/>
          </p:cNvSpPr>
          <p:nvPr>
            <p:ph type="body" idx="4"/>
          </p:nvPr>
        </p:nvSpPr>
        <p:spPr>
          <a:xfrm>
            <a:off x="2987675" y="1836738"/>
            <a:ext cx="5795963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8"/>
          <p:cNvSpPr>
            <a:spLocks noGrp="1"/>
          </p:cNvSpPr>
          <p:nvPr>
            <p:ph type="pic" idx="2"/>
          </p:nvPr>
        </p:nvSpPr>
        <p:spPr>
          <a:xfrm>
            <a:off x="0" y="738000"/>
            <a:ext cx="9144000" cy="44064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5" name="Google Shape;95;p268"/>
          <p:cNvSpPr txBox="1">
            <a:spLocks noGrp="1"/>
          </p:cNvSpPr>
          <p:nvPr>
            <p:ph type="title"/>
          </p:nvPr>
        </p:nvSpPr>
        <p:spPr>
          <a:xfrm>
            <a:off x="359999" y="738000"/>
            <a:ext cx="8424000" cy="4046400"/>
          </a:xfrm>
          <a:prstGeom prst="rect">
            <a:avLst/>
          </a:prstGeom>
          <a:noFill/>
          <a:ln w="10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None/>
              <a:defRPr sz="3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8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6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illustré 1/3">
  <p:cSld name="Contenu illustré 1/3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1" name="Google Shape;101;p269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6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9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69"/>
          <p:cNvSpPr txBox="1">
            <a:spLocks noGrp="1"/>
          </p:cNvSpPr>
          <p:nvPr>
            <p:ph type="body" idx="3"/>
          </p:nvPr>
        </p:nvSpPr>
        <p:spPr>
          <a:xfrm>
            <a:off x="359998" y="1835999"/>
            <a:ext cx="5472001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69"/>
          <p:cNvSpPr txBox="1">
            <a:spLocks noGrp="1"/>
          </p:cNvSpPr>
          <p:nvPr>
            <p:ph type="body" idx="4"/>
          </p:nvPr>
        </p:nvSpPr>
        <p:spPr>
          <a:xfrm>
            <a:off x="6012160" y="1836738"/>
            <a:ext cx="2771478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pleine page horizontal">
  <p:cSld name="Contenu pleine page horizontal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9" name="Google Shape;109;p270"/>
          <p:cNvSpPr txBox="1">
            <a:spLocks noGrp="1"/>
          </p:cNvSpPr>
          <p:nvPr>
            <p:ph type="body" idx="1"/>
          </p:nvPr>
        </p:nvSpPr>
        <p:spPr>
          <a:xfrm>
            <a:off x="1761561" y="124187"/>
            <a:ext cx="7020312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  <a:defRPr sz="255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70"/>
          <p:cNvSpPr txBox="1">
            <a:spLocks noGrp="1"/>
          </p:cNvSpPr>
          <p:nvPr>
            <p:ph type="body" idx="2"/>
          </p:nvPr>
        </p:nvSpPr>
        <p:spPr>
          <a:xfrm>
            <a:off x="1761561" y="586755"/>
            <a:ext cx="7020312" cy="18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70"/>
          <p:cNvSpPr txBox="1">
            <a:spLocks noGrp="1"/>
          </p:cNvSpPr>
          <p:nvPr>
            <p:ph type="body" idx="3"/>
          </p:nvPr>
        </p:nvSpPr>
        <p:spPr>
          <a:xfrm>
            <a:off x="359639" y="900000"/>
            <a:ext cx="8423999" cy="375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  <a:defRPr sz="25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7"/>
          <p:cNvSpPr txBox="1">
            <a:spLocks noGrp="1"/>
          </p:cNvSpPr>
          <p:nvPr>
            <p:ph type="body" idx="1"/>
          </p:nvPr>
        </p:nvSpPr>
        <p:spPr>
          <a:xfrm>
            <a:off x="359999" y="1836000"/>
            <a:ext cx="8424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8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•"/>
              <a:defRPr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25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Char char="•"/>
              <a:defRPr sz="8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622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•"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30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5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5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cxnSp>
        <p:nvCxnSpPr>
          <p:cNvPr id="14" name="Google Shape;14;p257"/>
          <p:cNvCxnSpPr/>
          <p:nvPr/>
        </p:nvCxnSpPr>
        <p:spPr>
          <a:xfrm>
            <a:off x="360000" y="4784400"/>
            <a:ext cx="8424000" cy="0"/>
          </a:xfrm>
          <a:prstGeom prst="straightConnector1">
            <a:avLst/>
          </a:prstGeom>
          <a:noFill/>
          <a:ln w="10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" name="Google Shape;15;p2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9483" y="110279"/>
            <a:ext cx="552807" cy="50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0474" y="182454"/>
            <a:ext cx="358447" cy="358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zine.okeenea.com/handicap-chiffres-actualit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ec.asso.fr/uploads/media/5f6c9c5762e25587496485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talan.fr/agissons/fr/index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toire-access-num.aveuglesdefrance.org/donnees/par-filtre/?category=341&amp;public-prive=public&amp;departement=-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toire-access-num.aveuglesdefrance.org/entites/?filter=public-prive%3Dpublic&amp;category%5b%5d=34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toire-access-num.aveuglesdefrance.org/entites/?filter=public-prive%3Dpublic&amp;category%5b%5d=341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305760" y="2034399"/>
            <a:ext cx="8532479" cy="2716706"/>
          </a:xfrm>
          <a:custGeom>
            <a:avLst/>
            <a:gdLst/>
            <a:ahLst/>
            <a:cxnLst/>
            <a:rect l="l" t="t" r="r" b="b"/>
            <a:pathLst>
              <a:path w="8424000" h="404640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 extrusionOk="0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None/>
            </a:pPr>
            <a:r>
              <a:rPr lang="fr-FR" sz="32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2 : Introduction à l'accessibilité numérique et cadre légal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7614000" y="47835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de la Gestion publique et du Développement économique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endParaRPr/>
          </a:p>
        </p:txBody>
      </p:sp>
      <p:sp>
        <p:nvSpPr>
          <p:cNvPr id="215" name="Google Shape;215;p1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216" name="Google Shape;216;p10"/>
          <p:cNvSpPr txBox="1">
            <a:spLocks noGrp="1"/>
          </p:cNvSpPr>
          <p:nvPr>
            <p:ph type="body" idx="1"/>
          </p:nvPr>
        </p:nvSpPr>
        <p:spPr>
          <a:xfrm>
            <a:off x="360000" y="2346046"/>
            <a:ext cx="8424000" cy="11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/>
              <a:t>Introduction à l'accessibilité numérique et à son cadre légal</a:t>
            </a:r>
            <a:endParaRPr/>
          </a:p>
        </p:txBody>
      </p:sp>
      <p:sp>
        <p:nvSpPr>
          <p:cNvPr id="217" name="Google Shape;217;p1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pic>
        <p:nvPicPr>
          <p:cNvPr id="218" name="Google Shape;218;p10" descr="Nuage de mots clés liés à la séquence. Glossaire disponible dans le guide du stagiai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1652" y="2911663"/>
            <a:ext cx="3390776" cy="173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Définition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« Mettre le web et ses services à la disposition de tous les individus, quels que soient leur matériel ou logiciel, leur infrastructure réseau, leur langue maternelle, leur culture, leur localisation géographique, ou leurs aptitudes physiques ou mentales. [...] l’accès à l’information et à la communication est un droit universel. Le web est devenu un media majeur, et il se doit d’être accessible à tous sans discrimination. »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Définition de Tim Berners-Lee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C’est un principe fondateur du web, c’est un principe élémentaire d’égalité et une obligation citoyenne.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75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Définition 2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« L’accessibilité numérique signifie que les personnes handicapées peuvent utiliser le numérique.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Plus précisément qu’elles peuvent </a:t>
            </a:r>
            <a:r>
              <a:rPr lang="fr-FR" b="1"/>
              <a:t>percevoir</a:t>
            </a:r>
            <a:r>
              <a:rPr lang="fr-FR"/>
              <a:t>, </a:t>
            </a:r>
            <a:r>
              <a:rPr lang="fr-FR" b="1"/>
              <a:t>comprendre</a:t>
            </a:r>
            <a:r>
              <a:rPr lang="fr-FR"/>
              <a:t>, </a:t>
            </a:r>
            <a:r>
              <a:rPr lang="fr-FR" b="1"/>
              <a:t>naviguer</a:t>
            </a:r>
            <a:r>
              <a:rPr lang="fr-FR"/>
              <a:t>, </a:t>
            </a:r>
            <a:r>
              <a:rPr lang="fr-FR" b="1"/>
              <a:t>interagir</a:t>
            </a:r>
            <a:r>
              <a:rPr lang="fr-FR"/>
              <a:t> et </a:t>
            </a:r>
            <a:r>
              <a:rPr lang="fr-FR" b="1"/>
              <a:t>contribuer</a:t>
            </a:r>
            <a:r>
              <a:rPr lang="fr-FR"/>
              <a:t>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L’accessibilité numérique bénéficie aussi à d’autres, notamment les seniors dont les capacités peuvent diminuer avec l’âge. »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Définition du W3C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Définition 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« L’accessibilité numérique, c’est l’accès aux produits, services et aux environnements numériques </a:t>
            </a:r>
            <a:r>
              <a:rPr lang="fr-FR" b="1"/>
              <a:t>sans blocage, sans entrave, sans obstacle</a:t>
            </a:r>
            <a:r>
              <a:rPr lang="fr-FR"/>
              <a:t>.»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Définition du RGAA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1. </a:t>
            </a:r>
            <a:r>
              <a:rPr lang="fr-FR" sz="2400"/>
              <a:t>Introduction</a:t>
            </a:r>
            <a:r>
              <a:rPr lang="fr-FR"/>
              <a:t> à l'accessibilité numérique - 1</a:t>
            </a:r>
            <a:endParaRPr/>
          </a:p>
        </p:txBody>
      </p:sp>
      <p:sp>
        <p:nvSpPr>
          <p:cNvPr id="262" name="Google Shape;262;p14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Quoi : définition de l'accessibilité numérique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Droit fondamental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L'accessibilité numérique, un droit fondamental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L'accessibilité numérique : un droit, une opportunité, un atout pour tous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Le constat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15,4% de la population française (soit environ 1 personne sur 7) est en situation d'illectronisme (INSEE, 2023).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7,6 millions de personnes de plus de 15 ans (14,1% de la population) sont en situation de handicap en France (DREES, 2023).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À retenir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 numérique est omniprésent dans notre société, mais reste inaccessible pour certains. (site web, mobile, tablette, TV, vidéo, fichier, etc.)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L'exclusion numérique accentue les inégalités sociales et économiques existantes.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L'accessibilité numérique représente un enjeu crucial pour construire une société inclusive.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1. </a:t>
            </a:r>
            <a:r>
              <a:rPr lang="fr-FR" sz="2400"/>
              <a:t>Introduction</a:t>
            </a:r>
            <a:r>
              <a:rPr lang="fr-FR"/>
              <a:t> à l'accessibilité numérique - 2</a:t>
            </a:r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Pourquoi : l'importance de l'accessibilité numérique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292" name="Google Shape;292;p17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/>
              <a:t>20% de personnes en situation de handicap </a:t>
            </a:r>
            <a:r>
              <a:rPr lang="fr-FR"/>
              <a:t>en France.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/>
              <a:t>80% des handicaps sont invisibles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Visuel : 1,7 - 2M personnes, 4,3% 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Auditif : 5,4M personnes, 13,2% 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Moteur : 2,3M personnes, 5,8% 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Cognitif : 5 - 6M personnes, 6-8%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Polyhandicap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12 millions de personnes en situation de handicap,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40% en tenant compte des situations de handicap temporaire.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 personne sur 2 vit une situation de handicap au cours de sa vie professionnelle.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 français sur 3 aura plus de 60 ans en 2050 (INSEE, 2016).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Source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https://webzine.okeenea.com/handicap-chiffres-actualites/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94" name="Google Shape;294;p17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2. Qui est concerné par l'accessibilité numérique ? - 2</a:t>
            </a:r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différents types de handicap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/>
          </a:p>
        </p:txBody>
      </p:sp>
      <p:pic>
        <p:nvPicPr>
          <p:cNvPr id="297" name="Google Shape;29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148" y="1779761"/>
            <a:ext cx="3126065" cy="25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2555596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body" idx="1"/>
          </p:nvPr>
        </p:nvSpPr>
        <p:spPr>
          <a:xfrm>
            <a:off x="359999" y="2334051"/>
            <a:ext cx="2555597" cy="218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Basé sur le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Good Design Playbook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L'accessibilité concerne un large éventail de situations, pas uniquement les handicaps permanents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Les situations temporaires ou contextuelles peuvent créer des besoins similaires aux handicaps permanents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 vieillissement peut progressivement créer des besoins d'accessibilité</a:t>
            </a:r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title"/>
          </p:nvPr>
        </p:nvSpPr>
        <p:spPr>
          <a:xfrm>
            <a:off x="179716" y="729194"/>
            <a:ext cx="2916162" cy="95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2. Qui est concerné par l'accessibilité numérique ? - 3</a:t>
            </a:r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body" idx="2"/>
          </p:nvPr>
        </p:nvSpPr>
        <p:spPr>
          <a:xfrm>
            <a:off x="360219" y="1948398"/>
            <a:ext cx="2555597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différents types de handicap</a:t>
            </a:r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body" idx="3"/>
          </p:nvPr>
        </p:nvSpPr>
        <p:spPr>
          <a:xfrm>
            <a:off x="3276600" y="180000"/>
            <a:ext cx="5256213" cy="4912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Ce tableau illustre les différents types de handicap (visuel, auditif, moteur, cognitif) et leurs manifestations selon qu'elles soient permanentes, temporaires, situationnelles ou liées au vieillissement.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ldNum" idx="12"/>
          </p:nvPr>
        </p:nvSpPr>
        <p:spPr>
          <a:xfrm>
            <a:off x="8394950" y="4783500"/>
            <a:ext cx="4675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pic>
        <p:nvPicPr>
          <p:cNvPr id="308" name="Google Shape;308;p18" descr="Ce tableau illustre les différents types de handicap (visuel, auditif, moteur, cognitif) et leurs manifestations selon qu'elles soient permanentes, temporaires, situationnelles ou liées au vieillissement.&#10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6380" y="814356"/>
            <a:ext cx="5256214" cy="4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Points clés à retenir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 handicap est souvent créé par l'environnement, pas par la personne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Les producteurs de services numériques sont responsables de la création ou de l'élimination des situations de handicap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L'accessibilité bénéficie à tous, pas seulement aux personnes traditionnellement considérées comme "handicapées »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Une personne en fauteuil roulant, dans un environnement accessible, n'est pas en situation de handicap.</a:t>
            </a:r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 b="1"/>
              <a:t>Inversion de la perspective</a:t>
            </a:r>
            <a:br>
              <a:rPr lang="fr-FR" sz="2400" b="1"/>
            </a:br>
            <a:endParaRPr sz="2400"/>
          </a:p>
        </p:txBody>
      </p:sp>
      <p:sp>
        <p:nvSpPr>
          <p:cNvPr id="318" name="Google Shape;318;p19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 b="1"/>
              <a:t>Ne serait-ce pas plutôt un environnement inadapté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5041" y="1321912"/>
            <a:ext cx="3821940" cy="3435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25" name="Google Shape;325;p2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326" name="Google Shape;326;p20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327" name="Google Shape;327;p20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État</a:t>
            </a:r>
            <a:br>
              <a:rPr lang="fr-FR">
                <a:latin typeface="Arial"/>
                <a:ea typeface="Arial"/>
                <a:cs typeface="Arial"/>
                <a:sym typeface="Arial"/>
              </a:rPr>
            </a:br>
            <a:r>
              <a:rPr lang="fr-FR">
                <a:latin typeface="Arial"/>
                <a:ea typeface="Arial"/>
                <a:cs typeface="Arial"/>
                <a:sym typeface="Arial"/>
              </a:rPr>
              <a:t>Une personne aveugle n’est pas handicapée du fait qu’elle est aveugle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Situation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Elle est handicapée uniquement dans les situations où la vue est nécessaire pour interagir.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28" name="Google Shape;328;p2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Le handicap : c’est une situation et pas un état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34" name="Google Shape;334;p2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335" name="Google Shape;335;p21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336" name="Google Shape;336;p21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82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Malvoyant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Inaccessibilité partielle au visuel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Contrastes insuffisants, taille des caractères, combinaison des couleurs, information véhiculée par la couleur.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Grossissement, renforcement des contrastes, adaptation de l'affichage et/ou de la luminosité.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Loupe logicielle, synthèse vocale.</a:t>
            </a: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Aveugle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</a:t>
            </a:r>
            <a:r>
              <a:rPr lang="fr-FR"/>
              <a:t>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Inaccessibilité au visuel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Remplacer par audio et ou le tactile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Afficheurs braille, synthèse vocale.</a:t>
            </a:r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82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Malentendant / Sourd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Inaccessibilité partielle ou totale à l'audio et au contenu multimédia, incompréhensible sans sous-titres ou transcription.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Renforcement du signal auditif, remplacer par le visuel, la langue des signes.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Appareil auditif, sous-titrage.</a:t>
            </a:r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3. Les solutions d'accessibilité numérique - 1</a:t>
            </a:r>
            <a:endParaRPr/>
          </a:p>
        </p:txBody>
      </p:sp>
      <p:sp>
        <p:nvSpPr>
          <p:cNvPr id="340" name="Google Shape;340;p21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Comment : exemples de solutions par type de handicap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46" name="Google Shape;346;p2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347" name="Google Shape;347;p22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348" name="Google Shape;348;p22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Handicap moteur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Problèmes de manipulation, de préhension, de « pointage », tremblement des mains.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Pas de clavier ou pas de souris, voire ni l’un ni l’autre !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Possibilité de naviguer au clavier, agrandissement de la zone interactive.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Dispositif de pointage, Trackball, clavier virtuel.</a:t>
            </a:r>
            <a:endParaRPr/>
          </a:p>
        </p:txBody>
      </p:sp>
      <p:sp>
        <p:nvSpPr>
          <p:cNvPr id="349" name="Google Shape;349;p22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Dyslexique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Difficultés pour lire, se repérer.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Utiliser des polices simples, ne pas justifier les textes, respecter des règles adaptées de mise en page.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Dispositif de lecture, audio synthèse vocale.</a:t>
            </a:r>
            <a:endParaRPr/>
          </a:p>
        </p:txBody>
      </p:sp>
      <p:sp>
        <p:nvSpPr>
          <p:cNvPr id="350" name="Google Shape;350;p22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Handicap mental / TSA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Difficultés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Difficultés de compréhension, défilement ou animation. Problèmes de structuration.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Solutions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Simplifier les interfaces, les textes (français facile à lire et à comprendre), favoriser l'usage d'images et de pictogrammes. Consignes claires, structuration documentaire.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Technologie d'assistance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Pas de technologie d'assistance spécifique.</a:t>
            </a:r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3. Les solutions d'accessibilité numérique - 2</a:t>
            </a:r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Comment : exemples de solutions par type de handicap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 / titre du diaporama</a:t>
            </a:r>
            <a:endParaRPr/>
          </a:p>
        </p:txBody>
      </p:sp>
      <p:sp>
        <p:nvSpPr>
          <p:cNvPr id="359" name="Google Shape;359;p2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360" name="Google Shape;360;p23"/>
          <p:cNvSpPr txBox="1">
            <a:spLocks noGrp="1"/>
          </p:cNvSpPr>
          <p:nvPr>
            <p:ph type="body" idx="1"/>
          </p:nvPr>
        </p:nvSpPr>
        <p:spPr>
          <a:xfrm>
            <a:off x="4788021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La synthèse vocale </a:t>
            </a:r>
            <a:r>
              <a:rPr lang="fr-FR" b="0"/>
              <a:t>: d'une technologie d'assistance visuelle à une fonctionnalité omniprésente (GPS, assistants virtuels).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Les livres audio </a:t>
            </a:r>
            <a:r>
              <a:rPr lang="fr-FR" b="0"/>
              <a:t>: évolution d'un support pour aveugles à un format de divertissement populaire, adapté aux modes de vie moderne.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Le retour tactile </a:t>
            </a:r>
            <a:r>
              <a:rPr lang="fr-FR" b="0"/>
              <a:t>: transformation d'une aide à la lecture d'écran pour malvoyants en une caractéristique standard des appareils mobiles, enrichissant l'expérience globale de l’utilisateur.</a:t>
            </a:r>
            <a:endParaRPr/>
          </a:p>
        </p:txBody>
      </p:sp>
      <p:sp>
        <p:nvSpPr>
          <p:cNvPr id="361" name="Google Shape;361;p2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De l'adaptation à l'innovation universelle</a:t>
            </a:r>
            <a:endParaRPr/>
          </a:p>
        </p:txBody>
      </p:sp>
      <p:sp>
        <p:nvSpPr>
          <p:cNvPr id="362" name="Google Shape;362;p23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Quand l'inclusion stimule l'innovation pour tous</a:t>
            </a:r>
            <a:endParaRPr/>
          </a:p>
        </p:txBody>
      </p:sp>
      <p:sp>
        <p:nvSpPr>
          <p:cNvPr id="363" name="Google Shape;363;p23"/>
          <p:cNvSpPr txBox="1">
            <a:spLocks noGrp="1"/>
          </p:cNvSpPr>
          <p:nvPr>
            <p:ph type="body" idx="3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364" name="Google Shape;364;p23"/>
          <p:cNvSpPr txBox="1">
            <a:spLocks noGrp="1"/>
          </p:cNvSpPr>
          <p:nvPr>
            <p:ph type="body" idx="4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La télécommande </a:t>
            </a:r>
            <a:r>
              <a:rPr lang="fr-FR" b="0"/>
              <a:t>: de l'aide à la mobilité réduite à un objet incontournable dans tous les foyers.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Les assistants vocaux </a:t>
            </a:r>
            <a:r>
              <a:rPr lang="fr-FR" b="0"/>
              <a:t>(Siri, Alexa) : Initialement conçus pour faciliter l'interaction homme-machine des personnes en situation de handicap, ils sont devenus des outils grand public pour la recherche, la messagerie, etc.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fr-FR">
                <a:solidFill>
                  <a:schemeClr val="dk2"/>
                </a:solidFill>
              </a:rPr>
              <a:t>Les sous-titres </a:t>
            </a:r>
            <a:r>
              <a:rPr lang="fr-FR" b="0"/>
              <a:t>: élargissement de leur usage, du soutien aux malentendants à un outil polyvalent (visionnage silencieux, apprentissage des langues, compréhension améliorée).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70" name="Google Shape;370;p2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body" idx="2"/>
          </p:nvPr>
        </p:nvSpPr>
        <p:spPr>
          <a:xfrm>
            <a:off x="359998" y="1980016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fr-FR" sz="1100" b="1">
                <a:solidFill>
                  <a:schemeClr val="dk2"/>
                </a:solidFill>
              </a:rPr>
              <a:t>Qu'est-ce qu'une technologie d’assistance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100" b="1"/>
              <a:t>Définition </a:t>
            </a:r>
            <a:r>
              <a:rPr lang="fr-FR" sz="1100"/>
              <a:t>: une technologie d’assistance est un dispositif ou un logiciel conçu pour aider les personnes en situation de handicap à interagir avec des contenus numériques.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100" b="1"/>
              <a:t>Importance</a:t>
            </a:r>
            <a:r>
              <a:rPr lang="fr-FR" sz="1100"/>
              <a:t> : ces outils permettent une accessibilité universelle et renforcent l'inclusion dans l'accès à l'information.</a:t>
            </a:r>
            <a:endParaRPr/>
          </a:p>
        </p:txBody>
      </p:sp>
      <p:sp>
        <p:nvSpPr>
          <p:cNvPr id="373" name="Google Shape;373;p2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fr-FR" sz="3000"/>
              <a:t>Introduction aux technologies d’assistance</a:t>
            </a:r>
            <a:endParaRPr/>
          </a:p>
        </p:txBody>
      </p:sp>
      <p:sp>
        <p:nvSpPr>
          <p:cNvPr id="374" name="Google Shape;374;p24"/>
          <p:cNvSpPr txBox="1">
            <a:spLocks noGrp="1"/>
          </p:cNvSpPr>
          <p:nvPr>
            <p:ph type="body" idx="3"/>
          </p:nvPr>
        </p:nvSpPr>
        <p:spPr>
          <a:xfrm>
            <a:off x="360363" y="1563241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Technologies d’assistance pour l’accessibilité numérique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80" name="Google Shape;380;p2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JAWS (Job Access With Speech)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 lecteur d’écran le plus utilisé sous Windows.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Fonctionnalités : lecture vocale, navigation par en-têtes, déplacement entre éléments avec la touche "Tab".</a:t>
            </a:r>
            <a:endParaRPr/>
          </a:p>
        </p:txBody>
      </p:sp>
      <p:sp>
        <p:nvSpPr>
          <p:cNvPr id="383" name="Google Shape;383;p25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NVDA (NonVisual Desktop Access)</a:t>
            </a:r>
            <a:endParaRPr/>
          </a:p>
          <a:p>
            <a:pPr marL="171450" lvl="0" indent="-10477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Alternative gratuite à JAWS pour Windows.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Fonctionnalités similaires à JAWS, avec une interface accessible et facile à configurer.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84" name="Google Shape;384;p25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VoiceOver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Intégré nativement sur MacOS et iOS.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Navigation par gestes et prise en charge de nombreuses applications.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85" name="Google Shape;385;p2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Principales technologies d’assistance</a:t>
            </a:r>
            <a:endParaRPr/>
          </a:p>
        </p:txBody>
      </p:sp>
      <p:sp>
        <p:nvSpPr>
          <p:cNvPr id="386" name="Google Shape;386;p25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Exemples de technologies d’assistance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392" name="Google Shape;392;p2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393" name="Google Shape;393;p26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Technologies d’assistance pour l’accessibilité numérique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94" name="Google Shape;394;p26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ZoomText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Outil de grossissement et de lecture d’écran pour les personnes malvoyantes.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Fonctionnalités : agrandissement de texte, ajustement des contrastes et des couleurs.</a:t>
            </a:r>
            <a:endParaRPr/>
          </a:p>
        </p:txBody>
      </p:sp>
      <p:sp>
        <p:nvSpPr>
          <p:cNvPr id="395" name="Google Shape;395;p26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Claviers adaptés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Exemples : claviers braille, claviers avec touches agrandies pour une meilleure visibilité.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Conçus pour les personnes ayant des difficultés motrices ou visuelles.</a:t>
            </a:r>
            <a:endParaRPr/>
          </a:p>
        </p:txBody>
      </p:sp>
      <p:sp>
        <p:nvSpPr>
          <p:cNvPr id="396" name="Google Shape;396;p26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Commandes vocales (ex. : Dragon)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Permet de contrôler l’ordinateur par la voix, idéal pour les personnes ayant des limitations motrices.</a:t>
            </a:r>
            <a:endParaRPr/>
          </a:p>
        </p:txBody>
      </p:sp>
      <p:sp>
        <p:nvSpPr>
          <p:cNvPr id="397" name="Google Shape;397;p2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Outils supplémentaires d’assistance</a:t>
            </a:r>
            <a:endParaRPr/>
          </a:p>
        </p:txBody>
      </p:sp>
      <p:sp>
        <p:nvSpPr>
          <p:cNvPr id="398" name="Google Shape;398;p26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Outils complémentaires pour l'accessibilité numérique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04" name="Google Shape;404;p2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405" name="Google Shape;405;p27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06" name="Google Shape;406;p27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Rendez-vous sur le site : </a:t>
            </a:r>
            <a:r>
              <a:rPr lang="fr-FR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https://atalan.fr/agissons/fr/index.html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Testez les simulations suivantes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Daltonisme (8% d’hommes et 0,4% de femmes)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Malvoyance, exemple DMLA (dégénérescence maculaire liée à l’âge)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Cécité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Surdité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Handicap moteur</a:t>
            </a:r>
            <a:endParaRPr/>
          </a:p>
          <a:p>
            <a:pPr marL="171450" lvl="0" indent="-1047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407" name="Google Shape;407;p27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Pour chaque simulation 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Notez vos observations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Identifiez les difficultés rencontrées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Réfléchissez aux solutions possibles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 b="1"/>
              <a:t>Ne pas se mettre à la place de ... mais comprendre.</a:t>
            </a:r>
            <a:endParaRPr/>
          </a:p>
          <a:p>
            <a:pPr marL="742950" lvl="1" indent="-22542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None/>
            </a:pPr>
            <a:endParaRPr/>
          </a:p>
        </p:txBody>
      </p:sp>
      <p:sp>
        <p:nvSpPr>
          <p:cNvPr id="408" name="Google Shape;408;p27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Discussion en groupe 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Partagez vos expériences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Quelles sont vos principales découvertes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/>
              <a:t>Comment cette expérience influence-t-elle votre perception de l'accessibilité numérique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fr-FR" b="1"/>
              <a:t>Saviez-vous que l'accessibilité numérique rend tout cela possible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409" name="Google Shape;409;p2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Handicap : et si nous agissions ?</a:t>
            </a:r>
            <a:endParaRPr/>
          </a:p>
        </p:txBody>
      </p:sp>
      <p:sp>
        <p:nvSpPr>
          <p:cNvPr id="410" name="Google Shape;410;p27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Activité  pratique de simulation : Simulez différentes situations de handicap</a:t>
            </a:r>
            <a:endParaRPr/>
          </a:p>
        </p:txBody>
      </p:sp>
      <p:pic>
        <p:nvPicPr>
          <p:cNvPr id="411" name="Google Shape;41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9440" y="3805778"/>
            <a:ext cx="2990752" cy="782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419" name="Google Shape;419;p28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</a:t>
            </a:r>
            <a:endParaRPr/>
          </a:p>
        </p:txBody>
      </p:sp>
      <p:pic>
        <p:nvPicPr>
          <p:cNvPr id="420" name="Google Shape;420;p28" descr="Cinq obligations légales en matière d'accessibilité numérique : accessibilité des sites web, formation du personnel, déclaration d'accessibilité, amendes pour non-conformité, et sanctions pénales, disposées autour d'un cercle central représentant le contrôle de conformité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998" y="1429271"/>
            <a:ext cx="7772400" cy="3260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26" name="Google Shape;426;p2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427" name="Google Shape;427;p29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28" name="Google Shape;428;p29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Convention Relative aux Droits des Personnes Handicapées : article 9.2 (ONU)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/>
              <a:t>L'article 47 </a:t>
            </a:r>
            <a:r>
              <a:rPr lang="fr-FR"/>
              <a:t>de la loi 2005-102 promulguée le </a:t>
            </a:r>
            <a:r>
              <a:rPr lang="fr-FR" b="1"/>
              <a:t>11 février 2005 </a:t>
            </a:r>
            <a:r>
              <a:rPr lang="fr-FR"/>
              <a:t>et réactualisée le 8 septembre 2023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L'article 47.1 de la loi 2005-102 rajouté le 6 septembre 2023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Aspect juridique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>
                <a:solidFill>
                  <a:schemeClr val="dk2"/>
                </a:solidFill>
              </a:rPr>
              <a:t>« Toute discrimination fondée sur le handicap est une négation de la dignité et de la valeur inhérente à la personne humaine. »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Convention Relative aux Droits des Personnes Handicapées ratifiée par la France en 2010.</a:t>
            </a:r>
            <a:endParaRPr/>
          </a:p>
        </p:txBody>
      </p:sp>
      <p:sp>
        <p:nvSpPr>
          <p:cNvPr id="429" name="Google Shape;429;p2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 - 1</a:t>
            </a:r>
            <a:endParaRPr/>
          </a:p>
        </p:txBody>
      </p:sp>
      <p:sp>
        <p:nvSpPr>
          <p:cNvPr id="430" name="Google Shape;430;p29"/>
          <p:cNvSpPr txBox="1">
            <a:spLocks noGrp="1"/>
          </p:cNvSpPr>
          <p:nvPr>
            <p:ph type="body" idx="3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Où et quand : les textes de loi importants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36" name="Google Shape;436;p3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437" name="Google Shape;437;p30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38" name="Google Shape;438;p30"/>
          <p:cNvSpPr txBox="1">
            <a:spLocks noGrp="1"/>
          </p:cNvSpPr>
          <p:nvPr>
            <p:ph type="body" idx="2"/>
          </p:nvPr>
        </p:nvSpPr>
        <p:spPr>
          <a:xfrm>
            <a:off x="359999" y="1707614"/>
            <a:ext cx="3995978" cy="300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WCAG 2.2 (octobre 2023)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Web Content Accessibility Guidelines (EN)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/>
              <a:t>Norme internationale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Règles pour l’accessibilité des contenus web.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EN 301 549 V3.2.1 (mars 2021)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Accessibility requirements for ICT products and services (EN)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/>
              <a:t>Norme européenne </a:t>
            </a:r>
            <a:r>
              <a:rPr lang="fr-FR"/>
              <a:t>qui s’appuie sur les WCAG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RGAA v4.1.2 (février 2023)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Référentiel Général d'Amélioration de l'Accessibilité (FR)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Cadre méthodologique, et opérationnel pour mesurer la conformité</a:t>
            </a:r>
            <a:endParaRPr/>
          </a:p>
        </p:txBody>
      </p:sp>
      <p:sp>
        <p:nvSpPr>
          <p:cNvPr id="439" name="Google Shape;439;p3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 - 1</a:t>
            </a:r>
            <a:endParaRPr/>
          </a:p>
        </p:txBody>
      </p:sp>
      <p:sp>
        <p:nvSpPr>
          <p:cNvPr id="440" name="Google Shape;440;p30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Hiérarchie des normes et référentiels</a:t>
            </a:r>
            <a:endParaRPr/>
          </a:p>
        </p:txBody>
      </p:sp>
      <p:pic>
        <p:nvPicPr>
          <p:cNvPr id="441" name="Google Shape;44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3968" y="1635646"/>
            <a:ext cx="4681335" cy="2815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47" name="Google Shape;447;p3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448" name="Google Shape;448;p31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49" name="Google Shape;449;p31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3995978" cy="2875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WCAG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Basés sur les normes d’accessibilité numérique définies par le W3C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fr-FR" b="1"/>
              <a:t>Perceptible</a:t>
            </a:r>
            <a:r>
              <a:rPr lang="fr-FR"/>
              <a:t> (ex. contrastes, alternatives textuelles)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fr-FR" b="1"/>
              <a:t>Utilisable</a:t>
            </a:r>
            <a:r>
              <a:rPr lang="fr-FR"/>
              <a:t> (ex. navigation clavier)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fr-FR" b="1"/>
              <a:t>Compréhensible</a:t>
            </a:r>
            <a:r>
              <a:rPr lang="fr-FR"/>
              <a:t> (ex. sémantique, hiérarchie des titres, liens explicites)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fr-FR" b="1"/>
              <a:t>Robuste </a:t>
            </a:r>
            <a:r>
              <a:rPr lang="fr-FR"/>
              <a:t>(ex. fonctionner sur les navigateurs et sur les lecteurs d’écran)</a:t>
            </a:r>
            <a:endParaRPr b="1"/>
          </a:p>
        </p:txBody>
      </p:sp>
      <p:sp>
        <p:nvSpPr>
          <p:cNvPr id="450" name="Google Shape;450;p3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 - 2</a:t>
            </a:r>
            <a:endParaRPr/>
          </a:p>
        </p:txBody>
      </p:sp>
      <p:sp>
        <p:nvSpPr>
          <p:cNvPr id="451" name="Google Shape;451;p31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4 grands principes</a:t>
            </a:r>
            <a:endParaRPr/>
          </a:p>
        </p:txBody>
      </p:sp>
      <p:pic>
        <p:nvPicPr>
          <p:cNvPr id="452" name="Google Shape;45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5977" y="1779662"/>
            <a:ext cx="4629628" cy="24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2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58" name="Google Shape;458;p3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459" name="Google Shape;459;p32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3995978" cy="2875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Contenu du RGAA (Référentiel Général d’Amélioration de l’Accessibilité)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Procédure de mesures de la conformité des sites web et des applications.  Basé sur les WCAG.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13 thématiques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106 critères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258 tests unitaires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Classés en deux catégories A et AA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Thématiques couvertes 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 sz="1050"/>
              <a:t>Images, Cadres, Couleurs, Multimédia, Tableaux, Liens, Scripts, Éléments obligatoires, Structuration, Navigation, Présentation, Formulaires, Consultation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b="1"/>
          </a:p>
        </p:txBody>
      </p:sp>
      <p:sp>
        <p:nvSpPr>
          <p:cNvPr id="461" name="Google Shape;461;p3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 - 3</a:t>
            </a:r>
            <a:endParaRPr/>
          </a:p>
        </p:txBody>
      </p:sp>
      <p:sp>
        <p:nvSpPr>
          <p:cNvPr id="462" name="Google Shape;462;p32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 RGAA</a:t>
            </a:r>
            <a:endParaRPr/>
          </a:p>
        </p:txBody>
      </p:sp>
      <p:pic>
        <p:nvPicPr>
          <p:cNvPr id="463" name="Google Shape;4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0072" y="1419622"/>
            <a:ext cx="2761530" cy="1563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972" y="3022281"/>
            <a:ext cx="4104457" cy="1707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70" name="Google Shape;470;p3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Permettre l’accès à l’information sur </a:t>
            </a:r>
            <a:r>
              <a:rPr lang="fr-FR" b="1"/>
              <a:t>tous les supports numériques</a:t>
            </a:r>
            <a:r>
              <a:rPr lang="fr-FR"/>
              <a:t> (internet, intranet, extranet, media, supports, mobilier urbain)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Avoir une page dédiée à l’accessibilité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Y Indiquer clairement un </a:t>
            </a:r>
            <a:r>
              <a:rPr lang="fr-FR" b="1"/>
              <a:t>moyen de contact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Mettre en ligne des </a:t>
            </a:r>
            <a:r>
              <a:rPr lang="fr-FR" b="1"/>
              <a:t>déclarations d’accessibilité </a:t>
            </a:r>
            <a:r>
              <a:rPr lang="fr-FR"/>
              <a:t>en mentionnant clairement </a:t>
            </a:r>
            <a:r>
              <a:rPr lang="fr-FR" b="1"/>
              <a:t>le niveau de </a:t>
            </a:r>
            <a:r>
              <a:rPr lang="fr-FR"/>
              <a:t>conformité suite au résultat </a:t>
            </a:r>
            <a:r>
              <a:rPr lang="fr-FR" b="1"/>
              <a:t>d’audit de conformité </a:t>
            </a:r>
            <a:r>
              <a:rPr lang="fr-FR"/>
              <a:t>RGAA.</a:t>
            </a:r>
            <a:endParaRPr b="1"/>
          </a:p>
          <a:p>
            <a:pPr marL="2286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Publier en ligne le Schéma Pluriannuel de Mise en Accessibilité (SPAN) pour une durée de 3ans. 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Mettre à disposition </a:t>
            </a:r>
            <a:r>
              <a:rPr lang="fr-FR" b="1"/>
              <a:t>le plan d'action </a:t>
            </a:r>
            <a:r>
              <a:rPr lang="fr-FR"/>
              <a:t>de</a:t>
            </a:r>
            <a:r>
              <a:rPr lang="fr-FR" b="1"/>
              <a:t> </a:t>
            </a:r>
            <a:r>
              <a:rPr lang="fr-FR"/>
              <a:t>l'année en cours ou un lien vers celui-ci</a:t>
            </a:r>
            <a:endParaRPr/>
          </a:p>
          <a:p>
            <a:pPr marL="228600" lvl="0" indent="-16192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473" name="Google Shape;473;p33"/>
          <p:cNvSpPr txBox="1">
            <a:spLocks noGrp="1"/>
          </p:cNvSpPr>
          <p:nvPr>
            <p:ph type="body" idx="3"/>
          </p:nvPr>
        </p:nvSpPr>
        <p:spPr>
          <a:xfrm>
            <a:off x="4762889" y="1778556"/>
            <a:ext cx="3995977" cy="300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Accessibilité : </a:t>
            </a:r>
            <a:r>
              <a:rPr lang="fr-FR" b="1"/>
              <a:t>totalement conforme </a:t>
            </a:r>
            <a:r>
              <a:rPr lang="fr-FR"/>
              <a:t>: 100% – tous les critères de contrôle du RGAA sont respectés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Accessibilité : </a:t>
            </a:r>
            <a:r>
              <a:rPr lang="fr-FR" b="1"/>
              <a:t>partiellement conforme </a:t>
            </a:r>
            <a:r>
              <a:rPr lang="fr-FR"/>
              <a:t>: de 50% à 99% des critères de contrôle du RGAA sont respectés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Accessibilité : </a:t>
            </a:r>
            <a:r>
              <a:rPr lang="fr-FR" b="1"/>
              <a:t>non conforme </a:t>
            </a:r>
            <a:r>
              <a:rPr lang="fr-FR"/>
              <a:t>: 49% et moins des critères de contrôle du RGAA sont respectés ou s’il n’existe aucun résultat d’audit en cours de validité + des informations de contacts.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Le SPAN – feuille de route de la démarche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Il témoigne de l'engagement à prendre en compte les besoins de tous les utilisateurs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Il sert de socle à l'ensemble du projet d'accessibilité.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Il décrit les objectifs, les moyens, les compétences mobilisées, les plans de formation et l'accompagnement à mettre en place</a:t>
            </a:r>
            <a:endParaRPr/>
          </a:p>
        </p:txBody>
      </p:sp>
      <p:sp>
        <p:nvSpPr>
          <p:cNvPr id="474" name="Google Shape;474;p3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4. Le cadre légal de l'accessibilité numérique - 4</a:t>
            </a:r>
            <a:endParaRPr/>
          </a:p>
        </p:txBody>
      </p:sp>
      <p:sp>
        <p:nvSpPr>
          <p:cNvPr id="475" name="Google Shape;475;p33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En France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81" name="Google Shape;481;p3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482" name="Google Shape;482;p34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483" name="Google Shape;483;p34"/>
          <p:cNvSpPr txBox="1">
            <a:spLocks noGrp="1"/>
          </p:cNvSpPr>
          <p:nvPr>
            <p:ph type="title"/>
          </p:nvPr>
        </p:nvSpPr>
        <p:spPr>
          <a:xfrm>
            <a:off x="359998" y="699542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Observatoire du respect des obligations d’accessibilité numérique</a:t>
            </a:r>
            <a:br>
              <a:rPr lang="fr-FR" sz="2400"/>
            </a:br>
            <a:endParaRPr sz="2400"/>
          </a:p>
        </p:txBody>
      </p:sp>
      <p:sp>
        <p:nvSpPr>
          <p:cNvPr id="484" name="Google Shape;484;p34"/>
          <p:cNvSpPr txBox="1">
            <a:spLocks noGrp="1"/>
          </p:cNvSpPr>
          <p:nvPr>
            <p:ph type="body" idx="2"/>
          </p:nvPr>
        </p:nvSpPr>
        <p:spPr>
          <a:xfrm>
            <a:off x="360363" y="156274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https://observatoire-access-num.aveuglesdefrance.org/donnees/par-filtre/?category=341&amp;public-prive=public&amp;departement=-1</a:t>
            </a:r>
            <a:endParaRPr/>
          </a:p>
        </p:txBody>
      </p:sp>
      <p:sp>
        <p:nvSpPr>
          <p:cNvPr id="485" name="Google Shape;485;p34"/>
          <p:cNvSpPr txBox="1">
            <a:spLocks noGrp="1"/>
          </p:cNvSpPr>
          <p:nvPr>
            <p:ph type="body" idx="3"/>
          </p:nvPr>
        </p:nvSpPr>
        <p:spPr>
          <a:xfrm>
            <a:off x="359998" y="2069102"/>
            <a:ext cx="2771841" cy="273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17 sites contrôlés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7 sites respectent leurs obligations d'affichage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0 site avec mention « totalement conforme »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15 sites avec mention « partiellement conforme »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 site avec mention « non conforme »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11 sites avec une déclaration conforme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5 sites avec une déclaration obsolète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8 sites avec un schéma pluriannuel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pic>
        <p:nvPicPr>
          <p:cNvPr id="486" name="Google Shape;486;p34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3954421" y="1836738"/>
            <a:ext cx="3862471" cy="28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492" name="Google Shape;492;p3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493" name="Google Shape;493;p35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494" name="Google Shape;494;p35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Objectif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Examiner une déclaration d'accessibilité d’un ministère pour comprendre comment les organisations communiquent sur leur conformité aux normes d'accessibilité parmi l’un des 17 sites suivants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https://observatoire-access-num.aveuglesdefrance.org/entites/?filter=public-prive%3Dpublic&amp;category[]=341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Discussion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Quels sont les points forts de cette déclaration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Que pourrait-on améliorer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En quoi cette déclaration reflète-t-elle les obligations légales que nous avons vues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495" name="Google Shape;495;p35"/>
          <p:cNvSpPr txBox="1">
            <a:spLocks noGrp="1"/>
          </p:cNvSpPr>
          <p:nvPr>
            <p:ph type="title"/>
          </p:nvPr>
        </p:nvSpPr>
        <p:spPr>
          <a:xfrm>
            <a:off x="359998" y="771550"/>
            <a:ext cx="8604489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Étude de cas : analyse d'une déclaration d'accessibilité - 1</a:t>
            </a:r>
            <a:endParaRPr/>
          </a:p>
        </p:txBody>
      </p:sp>
      <p:sp>
        <p:nvSpPr>
          <p:cNvPr id="496" name="Google Shape;496;p35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Observatoire du respect des obligations d’accessibilité numérique - 2024</a:t>
            </a:r>
            <a:endParaRPr/>
          </a:p>
        </p:txBody>
      </p:sp>
      <p:pic>
        <p:nvPicPr>
          <p:cNvPr id="497" name="Google Shape;49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6795" y="1286565"/>
            <a:ext cx="4175685" cy="34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03" name="Google Shape;503;p3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505" name="Google Shape;505;p36"/>
          <p:cNvSpPr txBox="1">
            <a:spLocks noGrp="1"/>
          </p:cNvSpPr>
          <p:nvPr>
            <p:ph type="body" idx="2"/>
          </p:nvPr>
        </p:nvSpPr>
        <p:spPr>
          <a:xfrm>
            <a:off x="359998" y="1563638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fr-FR" sz="1400" b="1"/>
              <a:t> Quelles informations clés sont présentes dans cette déclaration ?</a:t>
            </a:r>
            <a:endParaRPr sz="1400"/>
          </a:p>
          <a:p>
            <a:pPr marL="742950" lvl="1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Y a-t-il une </a:t>
            </a:r>
            <a:r>
              <a:rPr lang="fr-FR" sz="1100" b="1"/>
              <a:t>date de publication</a:t>
            </a:r>
            <a:r>
              <a:rPr lang="fr-FR" sz="1100"/>
              <a:t> de la déclaration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Le </a:t>
            </a:r>
            <a:r>
              <a:rPr lang="fr-FR" sz="1100" b="1"/>
              <a:t>niveau de conformité</a:t>
            </a:r>
            <a:r>
              <a:rPr lang="fr-FR" sz="1100"/>
              <a:t> est-il précisé (ex. : partiellement conforme, totalement conforme)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Quels </a:t>
            </a:r>
            <a:r>
              <a:rPr lang="fr-FR" sz="1100" b="1"/>
              <a:t>éléments spécifiques</a:t>
            </a:r>
            <a:r>
              <a:rPr lang="fr-FR" sz="1100"/>
              <a:t> d’accessibilité sont mentionnés (par ex. : alternatives textuelles, navigation clavier) ?</a:t>
            </a:r>
            <a:endParaRPr/>
          </a:p>
          <a:p>
            <a:pPr marL="0" lvl="0" indent="-88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fr-FR" sz="1400" b="1"/>
              <a:t> Le niveau de conformité est-il clairement indiqué ?</a:t>
            </a:r>
            <a:endParaRPr sz="1400"/>
          </a:p>
          <a:p>
            <a:pPr marL="742950" lvl="1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Le niveau de conformité est-il explicite ?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Y a-t-il une indication de </a:t>
            </a:r>
            <a:r>
              <a:rPr lang="fr-FR" sz="1100" b="1"/>
              <a:t>progrès ou d’engagement futur</a:t>
            </a:r>
            <a:r>
              <a:rPr lang="fr-FR" sz="1100"/>
              <a:t> en matière de conformité ?</a:t>
            </a:r>
            <a:endParaRPr/>
          </a:p>
          <a:p>
            <a:pPr marL="0" lvl="0" indent="-88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fr-FR" sz="1400" b="1"/>
              <a:t> Y a-t-il des mentions de contenus non accessibles ou de dérogations ?</a:t>
            </a:r>
            <a:endParaRPr sz="1400"/>
          </a:p>
          <a:p>
            <a:pPr marL="742950" lvl="1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La déclaration précise-t-elle des contenus non accessibles ? (ex. : vidéos sans sous-titres, images sans alternative)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fr-FR" sz="1100"/>
              <a:t>Les raisons des dérogations éventuelles sont-elles expliquées ? (ex. : contraintes techniques, coût disproportionné)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  <p:sp>
        <p:nvSpPr>
          <p:cNvPr id="506" name="Google Shape;506;p36"/>
          <p:cNvSpPr txBox="1">
            <a:spLocks noGrp="1"/>
          </p:cNvSpPr>
          <p:nvPr>
            <p:ph type="title"/>
          </p:nvPr>
        </p:nvSpPr>
        <p:spPr>
          <a:xfrm>
            <a:off x="325147" y="841492"/>
            <a:ext cx="8784002" cy="80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Étude de cas : analyse d'une déclaration d'accessibilité - 2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12" name="Google Shape;512;p3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sp>
        <p:nvSpPr>
          <p:cNvPr id="513" name="Google Shape;513;p37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514" name="Google Shape;514;p37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Comment l'organisation s'engage-t-elle à améliorer l'accessibilité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La déclaration mentionne-t-elle des </a:t>
            </a:r>
            <a:r>
              <a:rPr lang="fr-FR" b="1"/>
              <a:t>actions concrètes</a:t>
            </a:r>
            <a:r>
              <a:rPr lang="fr-FR"/>
              <a:t> pour améliorer l'accessibilité ? (ex. : audits réguliers, formations internes)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Des </a:t>
            </a:r>
            <a:r>
              <a:rPr lang="fr-FR" b="1"/>
              <a:t>mises à jour régulières</a:t>
            </a:r>
            <a:r>
              <a:rPr lang="fr-FR"/>
              <a:t> de la déclaration sont-elles prévues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Les moyens de contact pour signaler des problèmes sont-ils clairement indiqués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Y a-t-il un </a:t>
            </a:r>
            <a:r>
              <a:rPr lang="fr-FR" b="1"/>
              <a:t>moyen de contact direct</a:t>
            </a:r>
            <a:r>
              <a:rPr lang="fr-FR"/>
              <a:t> (ex. : e-mail, numéro de téléphone) pour les utilisateurs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Est-ce que la déclaration explique la </a:t>
            </a:r>
            <a:r>
              <a:rPr lang="fr-FR" b="1"/>
              <a:t>procédure pour signaler un problème</a:t>
            </a:r>
            <a:r>
              <a:rPr lang="fr-FR"/>
              <a:t> d'accessibilité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15" name="Google Shape;515;p37"/>
          <p:cNvSpPr txBox="1">
            <a:spLocks noGrp="1"/>
          </p:cNvSpPr>
          <p:nvPr>
            <p:ph type="title"/>
          </p:nvPr>
        </p:nvSpPr>
        <p:spPr>
          <a:xfrm>
            <a:off x="359998" y="900000"/>
            <a:ext cx="8748505" cy="80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Étude de cas : analyse d'une déclaration d'accessibilité - 3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8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21" name="Google Shape;521;p3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  <p:sp>
        <p:nvSpPr>
          <p:cNvPr id="522" name="Google Shape;522;p38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523" name="Google Shape;523;p38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Objectif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Examiner une déclaration d'accessibilité d’un ministère pour comprendre comment les organisations communiquent sur leur conformité aux normes d'accessibilité parmi l’un des 17 sites suivants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https://observatoire-access-num.aveuglesdefrance.org/entites/?filter=public-prive%3Dpublic&amp;category[]=341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Discussion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Quels sont les points forts de cette déclaration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Que pourrait-on améliorer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En quoi cette déclaration reflète-t-elle les obligations légales que nous avons vues 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24" name="Google Shape;524;p38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Analyse guidée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 Quelles informations clés sont présentes dans cette déclaration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 Niveau de conformité est-il clairement indiqué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 Y a-t-il des mentions de contenus non accessibles ou de dérogations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Comment l'organisation s'engage-t-elle à améliorer l'accessibilité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Les moyens de contact pour signaler des problèmes sont-ils clairement indiqués ?</a:t>
            </a:r>
            <a:endParaRPr/>
          </a:p>
        </p:txBody>
      </p:sp>
      <p:sp>
        <p:nvSpPr>
          <p:cNvPr id="525" name="Google Shape;525;p38"/>
          <p:cNvSpPr txBox="1">
            <a:spLocks noGrp="1"/>
          </p:cNvSpPr>
          <p:nvPr>
            <p:ph type="title"/>
          </p:nvPr>
        </p:nvSpPr>
        <p:spPr>
          <a:xfrm>
            <a:off x="359998" y="771550"/>
            <a:ext cx="8532481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Étude de cas : analyse d'une déclaration d'accessibilité - 1</a:t>
            </a:r>
            <a:endParaRPr/>
          </a:p>
        </p:txBody>
      </p:sp>
      <p:sp>
        <p:nvSpPr>
          <p:cNvPr id="526" name="Google Shape;526;p38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Observatoire du respect des obligations d’accessibilité numérique - 2024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32" name="Google Shape;532;p3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  <p:sp>
        <p:nvSpPr>
          <p:cNvPr id="533" name="Google Shape;533;p39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34" name="Google Shape;534;p39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Qui est concerné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Services de l'État et leurs établissements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Collectivités territoriales et leurs établissements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Organismes délégataires d'une mission de service public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Entreprises privées : CA annuel &gt; 250 millions d'euros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Dès 2025, les entreprises de plus de 10 salariés ou qui font plus de 2M d’€ de CA.</a:t>
            </a:r>
            <a:endParaRPr/>
          </a:p>
        </p:txBody>
      </p:sp>
      <p:sp>
        <p:nvSpPr>
          <p:cNvPr id="535" name="Google Shape;535;p39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Quand - Échéances clés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Sites web : depuis le 1er octobre </a:t>
            </a:r>
            <a:r>
              <a:rPr lang="fr-FR" b="1"/>
              <a:t>2020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Applications mobiles : depuis </a:t>
            </a:r>
            <a:r>
              <a:rPr lang="fr-FR" b="1"/>
              <a:t>mars 2021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La directive "</a:t>
            </a:r>
            <a:r>
              <a:rPr lang="fr-FR" b="1"/>
              <a:t>biens et services</a:t>
            </a:r>
            <a:r>
              <a:rPr lang="fr-FR"/>
              <a:t>" a été transposée et va élargir le champ d'application des obligations d'accessibilité numérique, les dispositions doivent être mises en application à partir du </a:t>
            </a:r>
            <a:r>
              <a:rPr lang="fr-FR" b="1"/>
              <a:t>28 juin 2025</a:t>
            </a:r>
            <a:r>
              <a:rPr lang="fr-FR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36" name="Google Shape;536;p39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Quoi ? Quelles sont les obligations 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Mise en accessibilité des sites web et applications mobiles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Formation du personnel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Déclaration d'accessibilité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Schéma pluriannuel et plan d'action annuel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37" name="Google Shape;537;p39"/>
          <p:cNvSpPr txBox="1">
            <a:spLocks noGrp="1"/>
          </p:cNvSpPr>
          <p:nvPr>
            <p:ph type="title"/>
          </p:nvPr>
        </p:nvSpPr>
        <p:spPr>
          <a:xfrm>
            <a:off x="359999" y="843558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5. Les acteurs concernés et les sanctions - 1</a:t>
            </a:r>
            <a:endParaRPr/>
          </a:p>
        </p:txBody>
      </p:sp>
      <p:sp>
        <p:nvSpPr>
          <p:cNvPr id="538" name="Google Shape;538;p39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Qui – Quand – Quoi 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44" name="Google Shape;544;p4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28</a:t>
            </a:fld>
            <a:endParaRPr/>
          </a:p>
        </p:txBody>
      </p:sp>
      <p:sp>
        <p:nvSpPr>
          <p:cNvPr id="545" name="Google Shape;545;p40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46" name="Google Shape;546;p40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Sanctions : 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Pour non-respect des obligations d’affichage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20 000 € par site et par an pour non-respect des obligations d'affichage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2 000 € pour les communes de moins de 5000 habitants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 refus d'aménagement raisonnable est considéré comme une discrimination.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Des sanctions pénales sont prévues pour cela (3 ans d'emprisonnement et 45000 € d'amende).</a:t>
            </a:r>
            <a:endParaRPr/>
          </a:p>
        </p:txBody>
      </p:sp>
      <p:sp>
        <p:nvSpPr>
          <p:cNvPr id="547" name="Google Shape;547;p40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Contrôle 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Autorités de contrôle désignées (ARCOM, DGCCRF)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Elles sont habilitées à dresser des PV de sanctions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Régime pénal : contravention de 5ème classe (1500 €), cumulable (par exemple par le nombre de produits non conformes)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Pas de sanction en première intention. Possibilité d'effectuer des actions de corrections soumises à un délais.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Des injonctions pourront être mises en place (bandeau d'affichage sur les sites par exemple) </a:t>
            </a:r>
            <a:endParaRPr/>
          </a:p>
        </p:txBody>
      </p:sp>
      <p:sp>
        <p:nvSpPr>
          <p:cNvPr id="548" name="Google Shape;548;p4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5. Les acteurs concernés et les sanctions - 2</a:t>
            </a:r>
            <a:endParaRPr/>
          </a:p>
        </p:txBody>
      </p:sp>
      <p:sp>
        <p:nvSpPr>
          <p:cNvPr id="549" name="Google Shape;549;p40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sanctions et les autorités de contrôles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1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56" name="Google Shape;556;p4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  <p:sp>
        <p:nvSpPr>
          <p:cNvPr id="557" name="Google Shape;557;p41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58" name="Google Shape;558;p41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Contenus bureautiques et multimédias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fichiers bureautiques 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publiés avant le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23 septembre 2018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, sauf s'ils sont nécessaires pour des démarches administratives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contenus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audio et vidéo préenregistrés 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(y compris interactifs) publiés avant le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23 septembre 2020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contenus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audio et vidéo diffusés en direct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contenus cartographiques 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à condition que les informations essentielles de localisation et d'itinéraire soient fournies sous une </a:t>
            </a:r>
            <a:r>
              <a:rPr lang="fr-FR" b="1">
                <a:latin typeface="Arial"/>
                <a:ea typeface="Arial"/>
                <a:cs typeface="Arial"/>
                <a:sym typeface="Arial"/>
              </a:rPr>
              <a:t>forme numérique accessible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>
                <a:latin typeface="Arial"/>
                <a:ea typeface="Arial"/>
                <a:cs typeface="Arial"/>
                <a:sym typeface="Arial"/>
              </a:rPr>
              <a:t>Contenus de tiers 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si pas financés ou développé par l'organisme ni sous son contrôle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1" i="0">
                <a:latin typeface="Arial"/>
                <a:ea typeface="Arial"/>
                <a:cs typeface="Arial"/>
                <a:sym typeface="Arial"/>
              </a:rPr>
              <a:t>Contenus internes et archives </a:t>
            </a:r>
            <a:r>
              <a:rPr lang="fr-FR" b="0" i="0">
                <a:latin typeface="Arial"/>
                <a:ea typeface="Arial"/>
                <a:cs typeface="Arial"/>
                <a:sym typeface="Arial"/>
              </a:rPr>
              <a:t>avant le 23/09/2019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1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L’aménagement raisonnable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31314"/>
              </a:buClr>
              <a:buSzPts val="1000"/>
              <a:buFont typeface="Arial"/>
              <a:buChar char="•"/>
            </a:pPr>
            <a:r>
              <a:rPr lang="fr-FR" b="0" i="0">
                <a:solidFill>
                  <a:srgbClr val="131314"/>
                </a:solidFill>
              </a:rPr>
              <a:t>L'aménagement raisonnable permet de justifier un défaut d'accessibilité si la mise en conformité s'avère techniquement impossible ou disproportionnée par rapport aux moyens de l'organisme.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31314"/>
              </a:buClr>
              <a:buSzPts val="1000"/>
              <a:buFont typeface="Arial"/>
              <a:buChar char="•"/>
            </a:pPr>
            <a:r>
              <a:rPr lang="fr-FR" b="0" i="0">
                <a:solidFill>
                  <a:srgbClr val="131314"/>
                </a:solidFill>
              </a:rPr>
              <a:t>Il s'agit de trouver un équilibre entre le respect des obligations légales et les contraintes spécifiques de l'organisme.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31314"/>
              </a:buClr>
              <a:buSzPts val="1000"/>
              <a:buFont typeface="Arial"/>
              <a:buChar char="•"/>
            </a:pPr>
            <a:r>
              <a:rPr lang="fr-FR" b="0" i="0">
                <a:solidFill>
                  <a:srgbClr val="131314"/>
                </a:solidFill>
              </a:rPr>
              <a:t>L'aménagement raisonnable ne doit pas être utilisé comme une excuse pour ne pas se conformer aux exigences d'accessibilité.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560" name="Google Shape;560;p4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Dérogation et aménagement raisonnable</a:t>
            </a:r>
            <a:endParaRPr/>
          </a:p>
        </p:txBody>
      </p:sp>
      <p:sp>
        <p:nvSpPr>
          <p:cNvPr id="561" name="Google Shape;561;p41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contenus exemptés de l’obligation d’accessibilité numérique et du RGAA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2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68" name="Google Shape;568;p4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  <p:sp>
        <p:nvSpPr>
          <p:cNvPr id="569" name="Google Shape;569;p42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70" name="Google Shape;570;p42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De nouveaux services concernés par l'accessibilité dès 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Tous les sites et plateformes de commerce électronique pour les nouveaux services à partir de 2025 et pour l'existant à partir de 2030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une obligation d'accessibilité pour tous les produits et services des opérateurs économiques;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Les livres numériques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Tous les services bancaires et financiers, cela concerne les gestionnaires d'offres de prêt, de crédit ou encore les opérateurs sur les marchés financiers (conseil en investissements, épargne salariale, etc.)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L'accès aux services de transport des terminaux en libre-service (paiement, information, enregistrement ou distributeurs de titres de transport)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571" name="Google Shape;571;p42"/>
          <p:cNvSpPr txBox="1">
            <a:spLocks noGrp="1"/>
          </p:cNvSpPr>
          <p:nvPr>
            <p:ph type="title"/>
          </p:nvPr>
        </p:nvSpPr>
        <p:spPr>
          <a:xfrm>
            <a:off x="359998" y="685045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De nouveaux services concernés par l’accessibilité numérique</a:t>
            </a:r>
            <a:endParaRPr sz="2400" b="1">
              <a:solidFill>
                <a:schemeClr val="dk2"/>
              </a:solidFill>
            </a:endParaRPr>
          </a:p>
        </p:txBody>
      </p:sp>
      <p:sp>
        <p:nvSpPr>
          <p:cNvPr id="572" name="Google Shape;572;p42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Dès 2025</a:t>
            </a:r>
            <a:endParaRPr/>
          </a:p>
        </p:txBody>
      </p:sp>
      <p:pic>
        <p:nvPicPr>
          <p:cNvPr id="573" name="Google Shape;573;p42" descr="Calendrier de conformité en matière d'accessibilité, 2021 - Services publics (icône de fauteuil roulant), 2025 - Nouveaux services privés (icône avec un panneau &quot;GO&quot;), 2030 - Toutes les plateformes numériques (icône &quot;CC&quot;), Janvier 2024 - Début des contrôles de conformité (icône d'une liste avec une coche)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7270" y="1804974"/>
            <a:ext cx="3995978" cy="220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3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79" name="Google Shape;579;p4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31</a:t>
            </a:fld>
            <a:endParaRPr/>
          </a:p>
        </p:txBody>
      </p:sp>
      <p:sp>
        <p:nvSpPr>
          <p:cNvPr id="580" name="Google Shape;580;p43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81" name="Google Shape;581;p43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Principe fondamental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Respect du droit fondamental des personnes à accéder à internet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Absence de discrimination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 b="0"/>
              <a:t>Ne plus exclure les personnes en situation de handicap. </a:t>
            </a:r>
            <a:endParaRPr/>
          </a:p>
          <a:p>
            <a:pPr marL="171450" lvl="0" indent="-10477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Gains directs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Élargissement de l'audience potentielle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Réduction du besoin d'assistance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Amélioration de l'expérience pour tous les utilisateurs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Meilleure satisfaction utilisateur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82" name="Google Shape;582;p43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Gains indirects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Amélioration de la qualité technique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Amélioration du référencement naturel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Amélioration de l'image de marque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Réduction du risque juridique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À retenir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L'accessibilité n'est pas seulement une obligation légale, c'est aussi un investissement bénéfique pour votre organisation et tous vos utilisateurs.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title"/>
          </p:nvPr>
        </p:nvSpPr>
        <p:spPr>
          <a:xfrm>
            <a:off x="359999" y="843558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6. Pourquoi prendre en compte l’accessibilité ?</a:t>
            </a:r>
            <a:endParaRPr/>
          </a:p>
        </p:txBody>
      </p:sp>
      <p:sp>
        <p:nvSpPr>
          <p:cNvPr id="584" name="Google Shape;584;p43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enjeux et les gains de l’accessibilité numérique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590" name="Google Shape;590;p4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32</a:t>
            </a:fld>
            <a:endParaRPr/>
          </a:p>
        </p:txBody>
      </p:sp>
      <p:sp>
        <p:nvSpPr>
          <p:cNvPr id="591" name="Google Shape;591;p44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</p:txBody>
      </p:sp>
      <p:sp>
        <p:nvSpPr>
          <p:cNvPr id="592" name="Google Shape;592;p44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Mettre de l’accessibilité dans la démarche qualité.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Mettre de la démarche qualité dans l’accessibilité.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Une </a:t>
            </a:r>
            <a:r>
              <a:rPr lang="fr-FR" b="1"/>
              <a:t>approche intégrée </a:t>
            </a:r>
            <a:r>
              <a:rPr lang="fr-FR"/>
              <a:t>QSE-IP permet de gérer de manière cohérente et efficace </a:t>
            </a:r>
            <a:r>
              <a:rPr lang="fr-FR" b="1"/>
              <a:t>les risques numériques</a:t>
            </a:r>
            <a:r>
              <a:rPr lang="fr-FR"/>
              <a:t>, tout en améliorant la performance globale et </a:t>
            </a:r>
            <a:r>
              <a:rPr lang="fr-FR" b="1"/>
              <a:t>la responsabilité sociétale </a:t>
            </a:r>
            <a:r>
              <a:rPr lang="fr-FR"/>
              <a:t>de l'organisation.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593" name="Google Shape;593;p44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 i="0">
                <a:solidFill>
                  <a:schemeClr val="dk2"/>
                </a:solidFill>
              </a:rPr>
              <a:t>Qualité</a:t>
            </a:r>
            <a:r>
              <a:rPr lang="fr-FR" b="0" i="0"/>
              <a:t> : assurance qualité des services en ligne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 i="0">
                <a:solidFill>
                  <a:schemeClr val="dk2"/>
                </a:solidFill>
              </a:rPr>
              <a:t>Sécurité</a:t>
            </a:r>
            <a:r>
              <a:rPr lang="fr-FR" b="0" i="0"/>
              <a:t> : protection contre les risques numériques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 i="0">
                <a:solidFill>
                  <a:schemeClr val="dk2"/>
                </a:solidFill>
              </a:rPr>
              <a:t>Environnement</a:t>
            </a:r>
            <a:r>
              <a:rPr lang="fr-FR" b="0" i="0"/>
              <a:t> : éco-conception et sobriété numérique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 i="0">
                <a:solidFill>
                  <a:schemeClr val="dk2"/>
                </a:solidFill>
              </a:rPr>
              <a:t>Inclusion</a:t>
            </a:r>
            <a:r>
              <a:rPr lang="fr-FR" b="0" i="0"/>
              <a:t> : accessibilité pour tous les utilisateurs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 i="0">
                <a:solidFill>
                  <a:schemeClr val="dk2"/>
                </a:solidFill>
              </a:rPr>
              <a:t>Privacy</a:t>
            </a:r>
            <a:r>
              <a:rPr lang="fr-FR" b="0" i="0"/>
              <a:t> : protection des données personnelles</a:t>
            </a:r>
            <a:endParaRPr/>
          </a:p>
        </p:txBody>
      </p:sp>
      <p:sp>
        <p:nvSpPr>
          <p:cNvPr id="594" name="Google Shape;594;p44"/>
          <p:cNvSpPr txBox="1">
            <a:spLocks noGrp="1"/>
          </p:cNvSpPr>
          <p:nvPr>
            <p:ph type="body" idx="4"/>
          </p:nvPr>
        </p:nvSpPr>
        <p:spPr>
          <a:xfrm>
            <a:off x="6264000" y="1995686"/>
            <a:ext cx="2520000" cy="241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Démarche QSE-IP</a:t>
            </a:r>
            <a:endParaRPr/>
          </a:p>
        </p:txBody>
      </p:sp>
      <p:sp>
        <p:nvSpPr>
          <p:cNvPr id="595" name="Google Shape;595;p44"/>
          <p:cNvSpPr txBox="1">
            <a:spLocks noGrp="1"/>
          </p:cNvSpPr>
          <p:nvPr>
            <p:ph type="title"/>
          </p:nvPr>
        </p:nvSpPr>
        <p:spPr>
          <a:xfrm>
            <a:off x="359999" y="77155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7. L'accessibilité numérique dans la démarche qualité</a:t>
            </a:r>
            <a:endParaRPr/>
          </a:p>
        </p:txBody>
      </p:sp>
      <p:sp>
        <p:nvSpPr>
          <p:cNvPr id="596" name="Google Shape;596;p44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Comment : l'approche QSE-IP pour le numérique</a:t>
            </a:r>
            <a:endParaRPr/>
          </a:p>
        </p:txBody>
      </p:sp>
      <p:pic>
        <p:nvPicPr>
          <p:cNvPr id="597" name="Google Shape;597;p44" descr="Schéma illustrant l'émergence des questions de conformité web, incluant l'assurance qualité, la sécurité, l'environnement, l'inclusion et la protection des données. Ces aspects convergent vers une démarche globale QSE-IP (Qualité, Sécurité, Environnement - Inclusion, Privacy)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8000" y="1276610"/>
            <a:ext cx="2520000" cy="184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4" descr="Schéma présentant six normes de management ISO, couvrant l'assurance qualité, la santé-sécurité, l'environnement, la RSE, l'inclusion/accessibilité, et la sécurité de l'information, avec une brève description pour chacune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4177" y="2990493"/>
            <a:ext cx="2378174" cy="1793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604" name="Google Shape;604;p4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33</a:t>
            </a:fld>
            <a:endParaRPr/>
          </a:p>
        </p:txBody>
      </p:sp>
      <p:sp>
        <p:nvSpPr>
          <p:cNvPr id="605" name="Google Shape;605;p45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Introduction à l'accessibilité numérique et cadre légal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606" name="Google Shape;606;p45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arabicPeriod"/>
            </a:pPr>
            <a:r>
              <a:rPr lang="fr-FR" b="1">
                <a:solidFill>
                  <a:schemeClr val="dk2"/>
                </a:solidFill>
              </a:rPr>
              <a:t>Définition 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L'accessibilité numérique permet à tous d'utiliser les services numériques, indépendamment de leurs capacités.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2. Enjeux :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Droit fondamental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Inclusion sociale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Élargissement de l'audience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Amélioration de l'expérience utilisateur pour tous</a:t>
            </a:r>
            <a:endParaRPr/>
          </a:p>
        </p:txBody>
      </p:sp>
      <p:sp>
        <p:nvSpPr>
          <p:cNvPr id="607" name="Google Shape;607;p45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3. Publics concernés :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Personnes en situation de handicap (permanent, temporaire, situationnel)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 Seniors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 Tous les utilisateurs (design universel)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4. Cadre légal :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Convention ONU, loi française, RGAA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Obligations pour les services publics et entreprises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Sanctions possibles en cas de non-conformité</a:t>
            </a:r>
            <a:endParaRPr/>
          </a:p>
        </p:txBody>
      </p:sp>
      <p:sp>
        <p:nvSpPr>
          <p:cNvPr id="608" name="Google Shape;608;p45"/>
          <p:cNvSpPr txBox="1">
            <a:spLocks noGrp="1"/>
          </p:cNvSpPr>
          <p:nvPr>
            <p:ph type="body" idx="4"/>
          </p:nvPr>
        </p:nvSpPr>
        <p:spPr>
          <a:xfrm>
            <a:off x="6263638" y="1779761"/>
            <a:ext cx="25200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5. Solutions :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Respect des normes WCAG et RGAA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Adaptation des interfaces (contrastes, navigation au clavier, etc.)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Technologies d'assistance (lecteurs d'écran, etc.)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6. Démarche :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Intégration dans la démarche qualité (QSE-IP)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Formation et sensibilisation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Audits et améliorations continues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Exigez l’accessibilité dans vos projets numériques</a:t>
            </a:r>
            <a:endParaRPr/>
          </a:p>
        </p:txBody>
      </p:sp>
      <p:sp>
        <p:nvSpPr>
          <p:cNvPr id="609" name="Google Shape;609;p45"/>
          <p:cNvSpPr txBox="1">
            <a:spLocks noGrp="1"/>
          </p:cNvSpPr>
          <p:nvPr>
            <p:ph type="title"/>
          </p:nvPr>
        </p:nvSpPr>
        <p:spPr>
          <a:xfrm>
            <a:off x="359999" y="843558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 b="1"/>
              <a:t>L'accessibilité numérique : un enjeu pour tous</a:t>
            </a:r>
            <a:endParaRPr/>
          </a:p>
        </p:txBody>
      </p:sp>
      <p:sp>
        <p:nvSpPr>
          <p:cNvPr id="610" name="Google Shape;610;p45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De la compréhension à l'action : points clés à retenir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Institut de la Gestion publique et du Développement économique</a:t>
            </a:r>
            <a:endParaRPr/>
          </a:p>
        </p:txBody>
      </p:sp>
      <p:sp>
        <p:nvSpPr>
          <p:cNvPr id="616" name="Google Shape;616;p4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34</a:t>
            </a:fld>
            <a:endParaRPr/>
          </a:p>
        </p:txBody>
      </p:sp>
      <p:sp>
        <p:nvSpPr>
          <p:cNvPr id="617" name="Google Shape;617;p46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fr-FR"/>
              <a:t>Exigez l'accessibilité !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618" name="Google Shape;618;p46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Question de réflexion 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/>
              <a:t>Que pourriez-vous faire pour améliorer l'accessibilité numérique dans vos propres projets ?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b="1">
                <a:solidFill>
                  <a:schemeClr val="dk2"/>
                </a:solidFill>
              </a:rPr>
              <a:t>Exigez l'accessibilité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Un site inaccessible c’est un site qui est buggé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Conditionnez les paiements à l'accessibilité (audit externe)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Exigez une déclaration d'accessibilité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Intégrez l'accessibilité dans la garantie du site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fr-FR"/>
              <a:t>Vérifiez les compétences des prestataires (CV, références)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b="1"/>
              <a:t>A votre niveau, vous pouvez également faire quelques vérifications rapides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619" name="Google Shape;619;p4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/>
              <a:t>8. 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4228</Words>
  <Application>Microsoft Macintosh PowerPoint</Application>
  <PresentationFormat>Affichage à l'écran (16:9)</PresentationFormat>
  <Paragraphs>500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6" baseType="lpstr">
      <vt:lpstr>Arial</vt:lpstr>
      <vt:lpstr>GOUVERNEMENT</vt:lpstr>
      <vt:lpstr>Présentation PowerPoint</vt:lpstr>
      <vt:lpstr>Présentation PowerPoint</vt:lpstr>
      <vt:lpstr>1. Introduction à l'accessibilité numérique - 1</vt:lpstr>
      <vt:lpstr>1. Introduction à l'accessibilité numérique - 2</vt:lpstr>
      <vt:lpstr>2. Qui est concerné par l'accessibilité numérique ? - 2</vt:lpstr>
      <vt:lpstr>2. Qui est concerné par l'accessibilité numérique ? - 3</vt:lpstr>
      <vt:lpstr>Inversion de la perspective </vt:lpstr>
      <vt:lpstr>Le handicap : c’est une situation et pas un état</vt:lpstr>
      <vt:lpstr>3. Les solutions d'accessibilité numérique - 1</vt:lpstr>
      <vt:lpstr>3. Les solutions d'accessibilité numérique - 2</vt:lpstr>
      <vt:lpstr>De l'adaptation à l'innovation universelle</vt:lpstr>
      <vt:lpstr>Introduction aux technologies d’assistance</vt:lpstr>
      <vt:lpstr>Principales technologies d’assistance</vt:lpstr>
      <vt:lpstr>Outils supplémentaires d’assistance</vt:lpstr>
      <vt:lpstr>Handicap : et si nous agissions ?</vt:lpstr>
      <vt:lpstr>4. Le cadre légal de l'accessibilité numérique</vt:lpstr>
      <vt:lpstr>4. Le cadre légal de l'accessibilité numérique - 1</vt:lpstr>
      <vt:lpstr>4. Le cadre légal de l'accessibilité numérique - 1</vt:lpstr>
      <vt:lpstr>4. Le cadre légal de l'accessibilité numérique - 2</vt:lpstr>
      <vt:lpstr>4. Le cadre légal de l'accessibilité numérique - 3</vt:lpstr>
      <vt:lpstr>4. Le cadre légal de l'accessibilité numérique - 4</vt:lpstr>
      <vt:lpstr>Observatoire du respect des obligations d’accessibilité numérique </vt:lpstr>
      <vt:lpstr>Étude de cas : analyse d'une déclaration d'accessibilité - 1</vt:lpstr>
      <vt:lpstr>Étude de cas : analyse d'une déclaration d'accessibilité - 2</vt:lpstr>
      <vt:lpstr>Étude de cas : analyse d'une déclaration d'accessibilité - 3</vt:lpstr>
      <vt:lpstr>Étude de cas : analyse d'une déclaration d'accessibilité - 1</vt:lpstr>
      <vt:lpstr>5. Les acteurs concernés et les sanctions - 1</vt:lpstr>
      <vt:lpstr>5. Les acteurs concernés et les sanctions - 2</vt:lpstr>
      <vt:lpstr>Dérogation et aménagement raisonnable</vt:lpstr>
      <vt:lpstr>De nouveaux services concernés par l’accessibilité numérique</vt:lpstr>
      <vt:lpstr>6. Pourquoi prendre en compte l’accessibilité ?</vt:lpstr>
      <vt:lpstr>7. L'accessibilité numérique dans la démarche qualité</vt:lpstr>
      <vt:lpstr>L'accessibilité numérique : un enjeu pour tous</vt:lpstr>
      <vt:lpstr>8.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Alexandra Guiderdoni</dc:creator>
  <cp:lastModifiedBy>alex</cp:lastModifiedBy>
  <cp:revision>1</cp:revision>
  <dcterms:created xsi:type="dcterms:W3CDTF">2024-10-17T22:54:25Z</dcterms:created>
  <dcterms:modified xsi:type="dcterms:W3CDTF">2026-04-22T14:28:25Z</dcterms:modified>
</cp:coreProperties>
</file>