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7" r:id="rId1"/>
  </p:sldMasterIdLst>
  <p:notesMasterIdLst>
    <p:notesMasterId r:id="rId18"/>
  </p:notesMasterIdLst>
  <p:handoutMasterIdLst>
    <p:handoutMasterId r:id="rId19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7"/>
    <p:sldId id="267" r:id="rId6"/>
    <p:sldId id="268" r:id="rId5"/>
    <p:sldId id="269" r:id="rId4"/>
    <p:sldId id="270" r:id="rId3"/>
    <p:sldId id="271" r:id="rId2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969" cy="6858000" type="screen16x9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mple" id="{1B2C009F-958F-4730-953E-C3BCDF6DEDF4}">
          <p14:sldIdLst>
            <p14:sldId id="342"/>
            <p14:sldId id="335"/>
            <p14:sldId id="336"/>
            <p14:sldId id="337"/>
            <p14:sldId id="348"/>
            <p14:sldId id="344"/>
            <p14:sldId id="347"/>
          </p14:sldIdLst>
        </p14:section>
        <p14:section name="IGPDE" id="{0B896E98-F45E-4768-8620-EDDF394BE181}">
          <p14:sldIdLst>
            <p14:sldId id="332"/>
            <p14:sldId id="331"/>
            <p14:sldId id="327"/>
            <p14:sldId id="340"/>
            <p14:sldId id="329"/>
            <p14:sldId id="330"/>
          </p14:sldIdLst>
        </p14:section>
        <p14:section name="MÉTHODOLOGIE" id="{EB03BDE6-D677-4574-A7BF-9721F91BDEB8}">
          <p14:sldIdLst>
            <p14:sldId id="319"/>
            <p14:sldId id="323"/>
            <p14:sldId id="32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191">
          <p15:clr>
            <a:srgbClr val="A4A3A4"/>
          </p15:clr>
        </p15:guide>
        <p15:guide id="3" orient="horz" pos="854">
          <p15:clr>
            <a:srgbClr val="A4A3A4"/>
          </p15:clr>
        </p15:guide>
        <p15:guide id="4" orient="horz" pos="821">
          <p15:clr>
            <a:srgbClr val="A4A3A4"/>
          </p15:clr>
        </p15:guide>
        <p15:guide id="5" orient="horz" pos="3049">
          <p15:clr>
            <a:srgbClr val="A4A3A4"/>
          </p15:clr>
        </p15:guide>
        <p15:guide id="6" orient="horz" pos="3151">
          <p15:clr>
            <a:srgbClr val="A4A3A4"/>
          </p15:clr>
        </p15:guide>
        <p15:guide id="7" pos="2880">
          <p15:clr>
            <a:srgbClr val="A4A3A4"/>
          </p15:clr>
        </p15:guide>
        <p15:guide id="8" pos="476">
          <p15:clr>
            <a:srgbClr val="A4A3A4"/>
          </p15:clr>
        </p15:guide>
        <p15:guide id="9" pos="5193">
          <p15:clr>
            <a:srgbClr val="A4A3A4"/>
          </p15:clr>
        </p15:guide>
        <p15:guide id="10" pos="546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4" autoAdjust="0"/>
    <p:restoredTop sz="96224" autoAdjust="0"/>
  </p:normalViewPr>
  <p:slideViewPr>
    <p:cSldViewPr showGuides="1">
      <p:cViewPr varScale="1">
        <p:scale>
          <a:sx n="135" d="100"/>
          <a:sy n="135" d="100"/>
        </p:scale>
        <p:origin x="120" y="114"/>
      </p:cViewPr>
      <p:guideLst>
        <p:guide orient="horz" pos="1620"/>
        <p:guide orient="horz" pos="191"/>
        <p:guide orient="horz" pos="854"/>
        <p:guide orient="horz" pos="821"/>
        <p:guide orient="horz" pos="3049"/>
        <p:guide orient="horz" pos="3151"/>
        <p:guide pos="2880"/>
        <p:guide pos="476"/>
        <p:guide pos="5193"/>
        <p:guide pos="5465"/>
      </p:guideLst>
    </p:cSldViewPr>
  </p:slideViewPr>
  <p:outlineViewPr>
    <p:cViewPr>
      <p:scale>
        <a:sx n="33" d="100"/>
        <a:sy n="33" d="100"/>
      </p:scale>
      <p:origin x="0" y="-256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72" d="100"/>
        <a:sy n="172" d="100"/>
      </p:scale>
      <p:origin x="0" y="-3540"/>
    </p:cViewPr>
  </p:sorterViewPr>
  <p:notesViewPr>
    <p:cSldViewPr showGuides="1">
      <p:cViewPr varScale="1">
        <p:scale>
          <a:sx n="83" d="100"/>
          <a:sy n="83" d="100"/>
        </p:scale>
        <p:origin x="3132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6.xml"/><Relationship Id="rId3" Type="http://schemas.openxmlformats.org/officeDocument/2006/relationships/slide" Target="slides/slide15.xml"/><Relationship Id="rId4" Type="http://schemas.openxmlformats.org/officeDocument/2006/relationships/slide" Target="slides/slide14.xml"/><Relationship Id="rId5" Type="http://schemas.openxmlformats.org/officeDocument/2006/relationships/slide" Target="slides/slide13.xml"/><Relationship Id="rId6" Type="http://schemas.openxmlformats.org/officeDocument/2006/relationships/slide" Target="slides/slide12.xml"/><Relationship Id="rId7" Type="http://schemas.openxmlformats.org/officeDocument/2006/relationships/slide" Target="slides/slide1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DB2658-7BE8-4FC5-8F36-ABC54AD38E15}" type="datetimeFigureOut">
              <a:rPr lang="fr-FR" smtClean="0"/>
              <a:t>06/09/2024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23471C-61B7-441C-A48C-C1E234DDF52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6938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D680E798-53FF-4C51-A981-953463752515}" type="datetimeFigureOut">
              <a:rPr lang="fr-FR" smtClean="0"/>
              <a:pPr/>
              <a:t>06/09/2024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1B06CD8F-B7ED-4A05-9FB1-A01CC0EF02CC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62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couverture — accueil des stagiaires, tour de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Présenter les 4 objectifs, insister sur le caractère opérationnel.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Présenter l’enchaînement des 3 parties sur 2 journées.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vers la partie 1, 15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R1 : comprendre les 4 principes WCAG. R2 : ancrage pédagogique.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: Observatoire DINUM 2025. Insister sur l’écart entre directions.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R7 : chaque étape est séquentielle. R12 : éviter de sauter des étapes.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R14 : outils gratuits et accessibles à tous. Pas de barrière budgétaire.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R21 : comparer pratiques et pièges en miroir. R25 : ancrage par opposition.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vers la partie 2, bureautique accessible.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vers la partie 3, Easy Checks W3C.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vers la partie 4, réseaux sociaux accessibles.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Usage : message unique à retenir, concept structurant. Carte centrée pour focaliser l’attention.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Usage : comparaison en miroir, avant/après, deux approches. R21 de la neuropédagogie : apprentissage par opposition.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Usage : triptyque (3 directions), séquence (3 étapes), triade conceptuelle. Au-delà de 3 cartes, préférer un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Usage : carte = message principal, callout = renforcement ou implication concrète.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Usage : cartes = comparaison, callout = conclusion/synthèse qui relie les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Usage : cartes = étapes d’un processus, callout = règle transverse à retenir.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Usage : carte isolée sans numérotation — un concept, pas une étape de séquence.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Usage : deux approches équivalentes, pas de hiérarchie ni d’ordre implicite — pas de numérotation.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Usage : trois concepts juxtaposés sans ordre — triade, piliers, dimensions équivalentes.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Usage : carte sans numérotation + callout de renforcement. Un concept unique relié à une implication concrète.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Usage : deux facettes équivalentes (pas d’ordre) + synthèse qui relie les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Usage : triade équivalente + règle transverse qui englobe les trois. Pas de séquence, pas de numérotation.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Usage : récap de critères, to-do post-formation. Cases cochées = acquis, cases vides = à travailler.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Usage : montrer la correction d’un défaut courant. Rouge clair pour le défaut, vert clair pour la version accessible.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Usage : ancrage pédagogique par opposition. Icônes ✓ et ✗ signalent immédiatement la nature de chaque colonne.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clôture : remerciements, contact formateur, rappel évaluation à chaud. Pas de fil d’Ariane (fin de parcours).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/>
              <a:t>XX/XX/XXXX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959997" y="5226516"/>
            <a:ext cx="4319989" cy="1199997"/>
          </a:xfrm>
        </p:spPr>
        <p:txBody>
          <a:bodyPr anchor="b" anchorCtr="0"/>
          <a:lstStyle>
            <a:lvl1pPr>
              <a:defRPr sz="1150"/>
            </a:lvl1pPr>
          </a:lstStyle>
          <a:p>
            <a:r>
              <a:rPr lang="fr-FR" dirty="0"/>
              <a:t>Institut de la Gestion publique </a:t>
            </a:r>
            <a:br>
              <a:rPr lang="fr-FR" dirty="0"/>
            </a:br>
            <a:r>
              <a:rPr lang="fr-FR" dirty="0"/>
              <a:t>et du Développement économique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69" y="260647"/>
            <a:ext cx="4579487" cy="4149096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299" y="776635"/>
            <a:ext cx="3132658" cy="313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6109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  <p15:guide id="3" orient="horz" pos="386" userDrawn="1">
          <p15:clr>
            <a:srgbClr val="FBAE40"/>
          </p15:clr>
        </p15:guide>
        <p15:guide id="4" pos="443" userDrawn="1">
          <p15:clr>
            <a:srgbClr val="FBAE40"/>
          </p15:clr>
        </p15:guide>
        <p15:guide id="5" orient="horz" pos="303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re et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1" name="Espace réservé du texte 10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8" y="3128053"/>
            <a:ext cx="11231971" cy="2769593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3250" b="1" cap="all" baseline="0"/>
            </a:lvl1pPr>
            <a:lvl2pPr marL="0" indent="0">
              <a:spcBef>
                <a:spcPts val="500"/>
              </a:spcBef>
              <a:spcAft>
                <a:spcPts val="0"/>
              </a:spcAft>
              <a:buNone/>
              <a:defRPr sz="18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cxnSp>
        <p:nvCxnSpPr>
          <p:cNvPr id="12" name="Connecteur droit 11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27" y="212775"/>
            <a:ext cx="2143038" cy="1941631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467" y="465665"/>
            <a:ext cx="1464915" cy="1464915"/>
          </a:xfrm>
          <a:prstGeom prst="rect">
            <a:avLst/>
          </a:prstGeom>
        </p:spPr>
      </p:pic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</a:t>
            </a:r>
          </a:p>
        </p:txBody>
      </p:sp>
    </p:spTree>
    <p:extLst>
      <p:ext uri="{BB962C8B-B14F-4D97-AF65-F5344CB8AC3E}">
        <p14:creationId xmlns:p14="http://schemas.microsoft.com/office/powerpoint/2010/main" val="3483904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6" y="2522617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415988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51977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1641030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983997"/>
            <a:ext cx="12191969" cy="5875185"/>
          </a:xfrm>
          <a:solidFill>
            <a:schemeClr val="bg1">
              <a:lumMod val="85000"/>
            </a:schemeClr>
          </a:solidFill>
        </p:spPr>
        <p:txBody>
          <a:bodyPr tIns="1080000" anchor="ctr" anchorCtr="0"/>
          <a:lstStyle>
            <a:lvl1pPr algn="ctr">
              <a:defRPr cap="all" baseline="0"/>
            </a:lvl1pPr>
          </a:lstStyle>
          <a:p>
            <a:r>
              <a:rPr lang="fr-FR" dirty="0"/>
              <a:t>Sélectionner l’icône pour insérer une image, </a:t>
            </a:r>
            <a:br>
              <a:rPr lang="fr-FR" dirty="0"/>
            </a:br>
            <a:r>
              <a:rPr lang="fr-FR" dirty="0"/>
              <a:t>puis disposer l’image en arrière plan </a:t>
            </a:r>
            <a:br>
              <a:rPr lang="fr-FR" dirty="0"/>
            </a:br>
            <a:r>
              <a:rPr lang="fr-FR" dirty="0"/>
              <a:t>(Sélectionner l’image avec le bouton droit de la souris / </a:t>
            </a:r>
            <a:br>
              <a:rPr lang="fr-FR" dirty="0"/>
            </a:br>
            <a:r>
              <a:rPr lang="fr-FR" dirty="0"/>
              <a:t>Mettre à l’arrière plan)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983997"/>
            <a:ext cx="11231971" cy="5395186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solidFill>
              <a:schemeClr val="tx1"/>
            </a:solidFill>
          </a:ln>
        </p:spPr>
        <p:txBody>
          <a:bodyPr lIns="0" bIns="360000" anchor="ctr" anchorCtr="0"/>
          <a:lstStyle>
            <a:lvl1pPr marL="396000" indent="-396000">
              <a:buFont typeface="+mj-lt"/>
              <a:buAutoNum type="arabicPeriod"/>
              <a:defRPr sz="3250"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08596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textes 3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997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3" name="Espace réservé du texte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415988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4" name="Espace réservé du texte 11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8351979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</p:spTree>
    <p:extLst>
      <p:ext uri="{BB962C8B-B14F-4D97-AF65-F5344CB8AC3E}">
        <p14:creationId xmlns:p14="http://schemas.microsoft.com/office/powerpoint/2010/main" val="3840454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/>
          <a:p>
            <a:r>
              <a:rPr lang="fr-FR" noProof="0" dirty="0"/>
              <a:t>Titre</a:t>
            </a:r>
            <a:endParaRPr lang="fr-FR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4" hasCustomPrompt="1"/>
          </p:nvPr>
        </p:nvSpPr>
        <p:spPr bwMode="gray">
          <a:xfrm>
            <a:off x="479996" y="2447993"/>
            <a:ext cx="1123197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5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jpg"/><Relationship Id="rId9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79997" y="1199997"/>
            <a:ext cx="11231971" cy="95999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 dirty="0"/>
              <a:t>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79997" y="2447993"/>
            <a:ext cx="11231971" cy="343199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 dirty="0"/>
              <a:t>Texte de niveau 1</a:t>
            </a:r>
          </a:p>
          <a:p>
            <a:pPr lvl="1"/>
            <a:r>
              <a:rPr lang="fr-FR" noProof="0" dirty="0"/>
              <a:t>Texte de niveau 2</a:t>
            </a:r>
          </a:p>
          <a:p>
            <a:pPr lvl="2"/>
            <a:r>
              <a:rPr lang="fr-FR" noProof="0" dirty="0"/>
              <a:t>Texte de niveau 3</a:t>
            </a:r>
          </a:p>
          <a:p>
            <a:pPr lvl="3"/>
            <a:r>
              <a:rPr lang="fr-FR" noProof="0" dirty="0"/>
              <a:t>Texte de niveau 4</a:t>
            </a:r>
          </a:p>
          <a:p>
            <a:pPr lvl="4"/>
            <a:r>
              <a:rPr lang="fr-FR" noProof="0" dirty="0"/>
              <a:t>Texte de niveau 5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gray">
          <a:xfrm>
            <a:off x="10151974" y="6377984"/>
            <a:ext cx="1559996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>
              <a:defRPr sz="750" b="1">
                <a:solidFill>
                  <a:schemeClr val="tx1"/>
                </a:solidFill>
              </a:defRPr>
            </a:lvl1pPr>
          </a:lstStyle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479998" y="6377984"/>
            <a:ext cx="7871980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>
              <a:defRPr sz="750" b="1">
                <a:solidFill>
                  <a:schemeClr val="tx1"/>
                </a:solidFill>
              </a:defRPr>
            </a:lvl1pPr>
          </a:lstStyle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8351979" y="6377984"/>
            <a:ext cx="1799995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r">
              <a:defRPr sz="750" b="1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cxnSp>
        <p:nvCxnSpPr>
          <p:cNvPr id="10" name="Connecteur droit 9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976" y="147038"/>
            <a:ext cx="737074" cy="667800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961" y="243271"/>
            <a:ext cx="477928" cy="47792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12" r:id="rId2"/>
    <p:sldLayoutId id="2147483810" r:id="rId3"/>
    <p:sldLayoutId id="2147483811" r:id="rId4"/>
    <p:sldLayoutId id="2147483809" r:id="rId5"/>
    <p:sldLayoutId id="2147483798" r:id="rId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5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500"/>
        </a:spcAft>
        <a:buFont typeface="Arial" pitchFamily="34" charset="0"/>
        <a:buNone/>
        <a:defRPr sz="105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52000" indent="-7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itchFamily="34" charset="0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2pPr>
      <a:lvl3pPr marL="43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3pPr>
      <a:lvl4pPr marL="61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828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8348472" y="6382512"/>
            <a:ext cx="1801368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</a:t>
            </a:r>
            <a:endParaRPr lang="fr-FR" dirty="0"/>
          </a:p>
        </p:txBody>
      </p:sp>
      <p:sp>
        <p:nvSpPr>
          <p:cNvPr id="8" name="Title-DSFR-couverture"/>
          <p:cNvSpPr txBox="1"/>
          <p:nvPr/>
        </p:nvSpPr>
        <p:spPr>
          <a:xfrm>
            <a:off x="5303520" y="4114800"/>
            <a:ext cx="649224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Accessibilité numérique</a:t>
            </a:r>
          </a:p>
        </p:txBody>
      </p:sp>
      <p:sp>
        <p:nvSpPr>
          <p:cNvPr id="9" name="DSFR-couverture-soustitre"/>
          <p:cNvSpPr txBox="1"/>
          <p:nvPr/>
        </p:nvSpPr>
        <p:spPr>
          <a:xfrm>
            <a:off x="5303520" y="4846320"/>
            <a:ext cx="649224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1400" b="1" i="0" lang="fr-FR">
                <a:solidFill>
                  <a:srgbClr val="E1000F"/>
                </a:solidFill>
                <a:latin typeface="Marianne"/>
              </a:rPr>
              <a:t>Formation 102638 | Bureautique et web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10149840" y="6382512"/>
            <a:ext cx="1563624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475488" y="6382512"/>
            <a:ext cx="7872983" cy="475488"/>
          </a:xfrm>
        </p:spPr>
        <p:txBody>
          <a:bodyPr anchor="t" anchorCtr="0" wrap="square" lIns="73152" rIns="73152"/>
          <a:lstStyle>
            <a:lvl1pPr>
              <a:defRPr sz="1150" lang="fr-FR"/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Institut de la Gestion publique et du Développement économique</a:t>
            </a:r>
          </a:p>
        </p:txBody>
      </p:sp>
      <p:cxnSp>
        <p:nvCxnSpPr>
          <p:cNvPr id="7" name="IGPDE-footer-ligne-decoratif" descr=""/>
          <p:cNvCxnSpPr/>
          <p:nvPr/>
        </p:nvCxnSpPr>
        <p:spPr>
          <a:xfrm>
            <a:off x="475488" y="6373368"/>
            <a:ext cx="11228831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Objectifs pédagogiques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3474720"/>
            <a:ext cx="11155680" cy="22860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llout-titre"/>
          <p:cNvSpPr txBox="1"/>
          <p:nvPr/>
        </p:nvSpPr>
        <p:spPr>
          <a:xfrm>
            <a:off x="704088" y="356616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l’issue de cette formation, les stagiaires sauront :</a:t>
            </a:r>
          </a:p>
        </p:txBody>
      </p:sp>
      <p:sp>
        <p:nvSpPr>
          <p:cNvPr id="18" name="DSFR-callout-body"/>
          <p:cNvSpPr txBox="1"/>
          <p:nvPr/>
        </p:nvSpPr>
        <p:spPr>
          <a:xfrm>
            <a:off x="704088" y="3977639"/>
            <a:ext cx="10908792" cy="1691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Identifier les critères RGAA 4.1.2 applicables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Produire un document bureautique accessible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Auditer une page web avec les outils standards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Remédier aux non-conformités détectées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Objectifs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3474720"/>
            <a:ext cx="73152" cy="2286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Sommaire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566928" y="2240280"/>
            <a:ext cx="3450335" cy="32918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SFR-card-titre"/>
          <p:cNvSpPr txBox="1"/>
          <p:nvPr/>
        </p:nvSpPr>
        <p:spPr>
          <a:xfrm>
            <a:off x="704088" y="292608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Cadre légal</a:t>
            </a:r>
          </a:p>
        </p:txBody>
      </p:sp>
      <p:sp>
        <p:nvSpPr>
          <p:cNvPr id="10" name="DSFR-card-contenu"/>
          <p:cNvSpPr txBox="1"/>
          <p:nvPr/>
        </p:nvSpPr>
        <p:spPr>
          <a:xfrm>
            <a:off x="704088" y="3383280"/>
            <a:ext cx="3176016" cy="20116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RGAA 4.1.2, décret 2019, obligations des administrations</a:t>
            </a:r>
          </a:p>
        </p:txBody>
      </p:sp>
      <p:sp>
        <p:nvSpPr>
          <p:cNvPr id="12" name="DSFR-box"/>
          <p:cNvSpPr/>
          <p:nvPr/>
        </p:nvSpPr>
        <p:spPr>
          <a:xfrm>
            <a:off x="4410455" y="2240280"/>
            <a:ext cx="3450335" cy="32918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4547615" y="292608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Bureautique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4547615" y="3383280"/>
            <a:ext cx="3176016" cy="20116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Word, Excel, PowerPoint accessibles : structure, styles, alt text</a:t>
            </a:r>
          </a:p>
        </p:txBody>
      </p:sp>
      <p:sp>
        <p:nvSpPr>
          <p:cNvPr id="17" name="DSFR-box"/>
          <p:cNvSpPr/>
          <p:nvPr/>
        </p:nvSpPr>
        <p:spPr>
          <a:xfrm>
            <a:off x="8253983" y="2240280"/>
            <a:ext cx="3450335" cy="32918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rd-titre"/>
          <p:cNvSpPr txBox="1"/>
          <p:nvPr/>
        </p:nvSpPr>
        <p:spPr>
          <a:xfrm>
            <a:off x="8391144" y="292608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Web et réseaux</a:t>
            </a:r>
          </a:p>
        </p:txBody>
      </p:sp>
      <p:sp>
        <p:nvSpPr>
          <p:cNvPr id="20" name="DSFR-card-contenu"/>
          <p:cNvSpPr txBox="1"/>
          <p:nvPr/>
        </p:nvSpPr>
        <p:spPr>
          <a:xfrm>
            <a:off x="8391144" y="3383280"/>
            <a:ext cx="3176016" cy="20116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Easy Checks, tests clavier, réseaux sociaux accessibles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Sommaire</a:t>
            </a:r>
          </a:p>
        </p:txBody>
      </p:sp>
      <p:sp>
        <p:nvSpPr>
          <p:cNvPr id="8" name="DSFR-card-numero"/>
          <p:cNvSpPr/>
          <p:nvPr/>
        </p:nvSpPr>
        <p:spPr>
          <a:xfrm>
            <a:off x="704088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card-numero"/>
          <p:cNvSpPr/>
          <p:nvPr/>
        </p:nvSpPr>
        <p:spPr>
          <a:xfrm>
            <a:off x="4547615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8" name="DSFR-card-numero"/>
          <p:cNvSpPr/>
          <p:nvPr/>
        </p:nvSpPr>
        <p:spPr>
          <a:xfrm>
            <a:off x="8391144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240280"/>
            <a:ext cx="91440" cy="32918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319015" y="2240280"/>
            <a:ext cx="91440" cy="32918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8162543" y="2240280"/>
            <a:ext cx="91440" cy="32918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1. Comprendre l’accessibilité numérique et son cadre légal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Partie 1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Les trois piliers de l’accessibilité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Cadre légal | Introduction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566928" y="2240280"/>
            <a:ext cx="3450335" cy="32004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SFR-card-titre"/>
          <p:cNvSpPr txBox="1"/>
          <p:nvPr/>
        </p:nvSpPr>
        <p:spPr>
          <a:xfrm>
            <a:off x="704088" y="292608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Perceptible</a:t>
            </a:r>
          </a:p>
        </p:txBody>
      </p:sp>
      <p:sp>
        <p:nvSpPr>
          <p:cNvPr id="10" name="DSFR-card-contenu"/>
          <p:cNvSpPr txBox="1"/>
          <p:nvPr/>
        </p:nvSpPr>
        <p:spPr>
          <a:xfrm>
            <a:off x="704088" y="3383280"/>
            <a:ext cx="3176016" cy="19202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Alternatives textuelles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Contrastes suffisants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Sous-titres</a:t>
            </a:r>
          </a:p>
        </p:txBody>
      </p:sp>
      <p:sp>
        <p:nvSpPr>
          <p:cNvPr id="12" name="DSFR-box"/>
          <p:cNvSpPr/>
          <p:nvPr/>
        </p:nvSpPr>
        <p:spPr>
          <a:xfrm>
            <a:off x="4410455" y="2240280"/>
            <a:ext cx="3450335" cy="32004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4547615" y="292608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Utilisable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4547615" y="3383280"/>
            <a:ext cx="3176016" cy="19202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Navigation au clavier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Temps suffisant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Pas de clignotement</a:t>
            </a:r>
          </a:p>
        </p:txBody>
      </p:sp>
      <p:sp>
        <p:nvSpPr>
          <p:cNvPr id="17" name="DSFR-box"/>
          <p:cNvSpPr/>
          <p:nvPr/>
        </p:nvSpPr>
        <p:spPr>
          <a:xfrm>
            <a:off x="8253983" y="2240280"/>
            <a:ext cx="3450335" cy="32004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rd-titre"/>
          <p:cNvSpPr txBox="1"/>
          <p:nvPr/>
        </p:nvSpPr>
        <p:spPr>
          <a:xfrm>
            <a:off x="8391144" y="292608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Compréhensible</a:t>
            </a:r>
          </a:p>
        </p:txBody>
      </p:sp>
      <p:sp>
        <p:nvSpPr>
          <p:cNvPr id="20" name="DSFR-card-contenu"/>
          <p:cNvSpPr txBox="1"/>
          <p:nvPr/>
        </p:nvSpPr>
        <p:spPr>
          <a:xfrm>
            <a:off x="8391144" y="3383280"/>
            <a:ext cx="3176016" cy="19202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Langue identifiée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Texte lisible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Prévisibilité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Cadre légal</a:t>
            </a:r>
          </a:p>
        </p:txBody>
      </p:sp>
      <p:sp>
        <p:nvSpPr>
          <p:cNvPr id="8" name="DSFR-card-numero"/>
          <p:cNvSpPr/>
          <p:nvPr/>
        </p:nvSpPr>
        <p:spPr>
          <a:xfrm>
            <a:off x="704088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card-numero"/>
          <p:cNvSpPr/>
          <p:nvPr/>
        </p:nvSpPr>
        <p:spPr>
          <a:xfrm>
            <a:off x="4547615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8" name="DSFR-card-numero"/>
          <p:cNvSpPr/>
          <p:nvPr/>
        </p:nvSpPr>
        <p:spPr>
          <a:xfrm>
            <a:off x="8391144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240280"/>
            <a:ext cx="91440" cy="32004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319015" y="2240280"/>
            <a:ext cx="91440" cy="32004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8162543" y="2240280"/>
            <a:ext cx="91440" cy="32004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État de l’accessibilité dans les administrations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Cadre légal | Chiffres clés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450592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43 %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4107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Taux moyen RGAA (2025)</a:t>
            </a:r>
          </a:p>
        </p:txBody>
      </p:sp>
      <p:sp>
        <p:nvSpPr>
          <p:cNvPr id="10" name="DSFR-kpi-pave"/>
          <p:cNvSpPr/>
          <p:nvPr/>
        </p:nvSpPr>
        <p:spPr>
          <a:xfrm>
            <a:off x="4319015" y="2450592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96 %</a:t>
            </a:r>
          </a:p>
        </p:txBody>
      </p:sp>
      <p:sp>
        <p:nvSpPr>
          <p:cNvPr id="11" name="DSFR-kpi-label"/>
          <p:cNvSpPr txBox="1"/>
          <p:nvPr/>
        </p:nvSpPr>
        <p:spPr>
          <a:xfrm>
            <a:off x="4319015" y="34107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Meilleur taux (DGFiP)</a:t>
            </a:r>
          </a:p>
        </p:txBody>
      </p:sp>
      <p:sp>
        <p:nvSpPr>
          <p:cNvPr id="12" name="DSFR-kpi-pave"/>
          <p:cNvSpPr/>
          <p:nvPr/>
        </p:nvSpPr>
        <p:spPr>
          <a:xfrm>
            <a:off x="8162543" y="2450592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11</a:t>
            </a:r>
          </a:p>
        </p:txBody>
      </p:sp>
      <p:sp>
        <p:nvSpPr>
          <p:cNvPr id="13" name="DSFR-kpi-label"/>
          <p:cNvSpPr txBox="1"/>
          <p:nvPr/>
        </p:nvSpPr>
        <p:spPr>
          <a:xfrm>
            <a:off x="8162543" y="34107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Non-conformités moyennes</a:t>
            </a:r>
          </a:p>
        </p:txBody>
      </p:sp>
      <p:sp>
        <p:nvSpPr>
          <p:cNvPr id="15" name="DSFR-box"/>
          <p:cNvSpPr/>
          <p:nvPr/>
        </p:nvSpPr>
        <p:spPr>
          <a:xfrm>
            <a:off x="548640" y="4096512"/>
            <a:ext cx="11155680" cy="1645920"/>
          </a:xfrm>
          <a:prstGeom prst="rect">
            <a:avLst/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lert-info-titre"/>
          <p:cNvSpPr txBox="1"/>
          <p:nvPr/>
        </p:nvSpPr>
        <p:spPr>
          <a:xfrm>
            <a:off x="704088" y="4187952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63CB"/>
                </a:solidFill>
                <a:latin typeface="Marianne"/>
              </a:rPr>
              <a:t>À retenir</a:t>
            </a:r>
          </a:p>
        </p:txBody>
      </p:sp>
      <p:sp>
        <p:nvSpPr>
          <p:cNvPr id="17" name="DSFR-alert-info-body"/>
          <p:cNvSpPr txBox="1"/>
          <p:nvPr/>
        </p:nvSpPr>
        <p:spPr>
          <a:xfrm>
            <a:off x="704088" y="4599432"/>
            <a:ext cx="10908792" cy="1051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L’audit doit être réalisé par un tiers qualifié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 déclaration d’accessibilité est obligatoire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Un plan pluriannuel doit être publié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Cadre légal</a:t>
            </a:r>
          </a:p>
        </p:txBody>
      </p:sp>
      <p:sp>
        <p:nvSpPr>
          <p:cNvPr id="14" name="DSFR-accent-decoratif" descr=""/>
          <p:cNvSpPr/>
          <p:nvPr/>
        </p:nvSpPr>
        <p:spPr>
          <a:xfrm>
            <a:off x="475488" y="4096512"/>
            <a:ext cx="73152" cy="1645920"/>
          </a:xfrm>
          <a:prstGeom prst="rect">
            <a:avLst/>
          </a:prstGeom>
          <a:solidFill>
            <a:srgbClr val="006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Démarche d’audit en 4 étapes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Bureautique | Méthodologie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450592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3182112"/>
            <a:ext cx="258089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Inventaire des pages et documents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450592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3182112"/>
            <a:ext cx="258089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Tests automatisés (axe-core, Wave)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450592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3182112"/>
            <a:ext cx="258089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Tests manuels (clavier, lecteur d’écran)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450592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3182112"/>
            <a:ext cx="258089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Rédaction du rapport et plan d’action</a:t>
            </a:r>
          </a:p>
        </p:txBody>
      </p:sp>
      <p:sp>
        <p:nvSpPr>
          <p:cNvPr id="20" name="DSFR-box"/>
          <p:cNvSpPr/>
          <p:nvPr/>
        </p:nvSpPr>
        <p:spPr>
          <a:xfrm>
            <a:off x="585216" y="5193792"/>
            <a:ext cx="11119104" cy="8229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highlight"/>
          <p:cNvSpPr txBox="1"/>
          <p:nvPr/>
        </p:nvSpPr>
        <p:spPr>
          <a:xfrm>
            <a:off x="749808" y="5285231"/>
            <a:ext cx="10863072" cy="6400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La durée moyenne d’un audit complet est de 10 à 15 jours ouvrés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Bureautique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752344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752344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752344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5193792"/>
            <a:ext cx="109728" cy="8229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Outils d’audit recommandés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Web | Outils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450592"/>
          <a:ext cx="1122882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2943"/>
                <a:gridCol w="3742943"/>
                <a:gridCol w="3742943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Outil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Usage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Coût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axe-core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Tests automatisés navigateur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Gratuit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WAVE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Audit visuel WCAG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Gratuit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Lighthouse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Audit performance et accessibilité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Gratuit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NVDA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Lecteur d’écran Windows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Gratuit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VoiceOver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Lecteur d’écran macOS/iOS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Intégré OS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5193792"/>
            <a:ext cx="11155680" cy="11887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quote-texte"/>
          <p:cNvSpPr txBox="1"/>
          <p:nvPr/>
        </p:nvSpPr>
        <p:spPr>
          <a:xfrm>
            <a:off x="749808" y="5330952"/>
            <a:ext cx="10863072" cy="6400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“ L’accessibilité n’est pas un coût, c’est un investissement dans la qualité du service public. ”</a:t>
            </a:r>
          </a:p>
        </p:txBody>
      </p:sp>
      <p:sp>
        <p:nvSpPr>
          <p:cNvPr id="12" name="DSFR-quote-auteur"/>
          <p:cNvSpPr txBox="1"/>
          <p:nvPr/>
        </p:nvSpPr>
        <p:spPr>
          <a:xfrm>
            <a:off x="749808" y="5925312"/>
            <a:ext cx="1086307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lang="fr-FR">
                <a:solidFill>
                  <a:srgbClr val="000091"/>
                </a:solidFill>
                <a:latin typeface="Marianne"/>
              </a:rPr>
              <a:t>— Circulaire DINUM 2024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Web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5193792"/>
            <a:ext cx="73152" cy="11887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Bonnes pratiques et pièges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Web | Récapitulatif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450592"/>
            <a:ext cx="5390388" cy="32004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542032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Bonnes pratiques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953512"/>
            <a:ext cx="5143500" cy="2606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Structurer le document avec des styles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Ajouter un alt text à chaque image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Vérifier le contraste (≥ 4.5:1)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Tester au clavier avant livraison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450592"/>
            <a:ext cx="5390388" cy="3200400"/>
          </a:xfrm>
          <a:prstGeom prst="rect">
            <a:avLst/>
          </a:prstGeom>
          <a:solidFill>
            <a:srgbClr val="FE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542032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B34E00"/>
                </a:solidFill>
                <a:latin typeface="Marianne"/>
              </a:rPr>
              <a:t>Pièges à éviter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953512"/>
            <a:ext cx="5143500" cy="2606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Pas de tableau pour la mise en page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Pas de capture d’écran de texte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Pas de justification (alignement gauche)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Pas d’acronyme sans explicitation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Récapitulatif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450592"/>
            <a:ext cx="73152" cy="32004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450592"/>
            <a:ext cx="73152" cy="3200400"/>
          </a:xfrm>
          <a:prstGeom prst="rect">
            <a:avLst/>
          </a:prstGeom>
          <a:solidFill>
            <a:srgbClr val="B34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10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2. Créer des documents bureautiques accessibles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Partie 2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11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3. Pratiquer les évaluations rapides d’accessibilité web (Easy Checks)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Partie 3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12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4. Améliorer l’accessibilité numérique des publications sur les réseaux sociaux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Partie 4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Layout une carte — message central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Démo | 1 carte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66928" y="2240280"/>
            <a:ext cx="11137392" cy="32004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926080"/>
            <a:ext cx="10863072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Principe fondamental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383280"/>
            <a:ext cx="10863072" cy="19202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Une information doit être perceptible,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utilisable, compréhensible et robuste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(acronyme POUR de WCAG 2.2).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Démo composants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91440" cy="32004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Layout deux cartes — comparer ou opposer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Démo | 2 cartes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66928" y="2240280"/>
            <a:ext cx="5372100" cy="32004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92608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Audit automatique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383280"/>
            <a:ext cx="5097779" cy="19202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Rapide (quelques minutes)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Couvre 30 % des critères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Outils : axe-core, WAVE, Lighthouse</a:t>
            </a:r>
          </a:p>
        </p:txBody>
      </p:sp>
      <p:sp>
        <p:nvSpPr>
          <p:cNvPr id="14" name="DSFR-box"/>
          <p:cNvSpPr/>
          <p:nvPr/>
        </p:nvSpPr>
        <p:spPr>
          <a:xfrm>
            <a:off x="6332219" y="2240280"/>
            <a:ext cx="5372100" cy="32004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92608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Audit manuel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383280"/>
            <a:ext cx="5097779" cy="19202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Long (journées à semaines)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Couvre 100 % des critères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Tests clavier, lecteur d’écran, contraste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Démo composants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91440" cy="32004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240280"/>
            <a:ext cx="91440" cy="32004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Layout trois cartes — triptyque ou séquence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Démo | 3 cartes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66928" y="2240280"/>
            <a:ext cx="3450335" cy="27432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92608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Analyser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383280"/>
            <a:ext cx="3176016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Identifier les points de blocage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Prioriser par impact utilisateur</a:t>
            </a:r>
          </a:p>
        </p:txBody>
      </p:sp>
      <p:sp>
        <p:nvSpPr>
          <p:cNvPr id="14" name="DSFR-box"/>
          <p:cNvSpPr/>
          <p:nvPr/>
        </p:nvSpPr>
        <p:spPr>
          <a:xfrm>
            <a:off x="4410455" y="2240280"/>
            <a:ext cx="3450335" cy="27432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7615" y="292608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Corriger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7615" y="3383280"/>
            <a:ext cx="3176016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Appliquer les remédiations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Documenter les écarts restants</a:t>
            </a:r>
          </a:p>
        </p:txBody>
      </p:sp>
      <p:sp>
        <p:nvSpPr>
          <p:cNvPr id="19" name="DSFR-box"/>
          <p:cNvSpPr/>
          <p:nvPr/>
        </p:nvSpPr>
        <p:spPr>
          <a:xfrm>
            <a:off x="8253983" y="2240280"/>
            <a:ext cx="3450335" cy="27432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91144" y="292608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Vérifier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91144" y="3383280"/>
            <a:ext cx="3176016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Tester sur le terrain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Mesurer la progression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Démo composants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7615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91144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91440" cy="27432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9015" y="2240280"/>
            <a:ext cx="91440" cy="27432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62543" y="2240280"/>
            <a:ext cx="91440" cy="27432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Une carte + callout — accroche et renforcement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Démo | 1 carte + callout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66928" y="2240280"/>
            <a:ext cx="11137392" cy="21031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926080"/>
            <a:ext cx="10863072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Principe fondamental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383280"/>
            <a:ext cx="10863072" cy="8229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Une information doit être perceptible,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utilisable, compréhensible et robuste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(acronyme POUR de WCAG 2.2).</a:t>
            </a:r>
          </a:p>
        </p:txBody>
      </p:sp>
      <p:sp>
        <p:nvSpPr>
          <p:cNvPr id="14" name="DSFR-box"/>
          <p:cNvSpPr/>
          <p:nvPr/>
        </p:nvSpPr>
        <p:spPr>
          <a:xfrm>
            <a:off x="548640" y="4617720"/>
            <a:ext cx="11155680" cy="13716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704088" y="470916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Point d’attention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704088" y="5120640"/>
            <a:ext cx="10908792" cy="7772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Ces 4 principes structurent l’ensemble des 50 critères RGAA 4.1.2.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retenir facilite la lecture du référentiel.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Démo composants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91440" cy="21031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75488" y="4617720"/>
            <a:ext cx="73152" cy="1371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Deux cartes + callout — comparaison et synthèse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Démo | 2 cartes + callout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66928" y="2240280"/>
            <a:ext cx="5372100" cy="21031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92608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Audit automatique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383280"/>
            <a:ext cx="5097779" cy="8229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Rapide (quelques minutes)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Couvre 30 % des critères</a:t>
            </a:r>
          </a:p>
        </p:txBody>
      </p:sp>
      <p:sp>
        <p:nvSpPr>
          <p:cNvPr id="14" name="DSFR-box"/>
          <p:cNvSpPr/>
          <p:nvPr/>
        </p:nvSpPr>
        <p:spPr>
          <a:xfrm>
            <a:off x="6332219" y="2240280"/>
            <a:ext cx="5372100" cy="21031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92608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Audit manuel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383280"/>
            <a:ext cx="5097779" cy="8229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Long (journées à semaines)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Couvre 100 % des critères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617720"/>
            <a:ext cx="11155680" cy="13716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callout-titre"/>
          <p:cNvSpPr txBox="1"/>
          <p:nvPr/>
        </p:nvSpPr>
        <p:spPr>
          <a:xfrm>
            <a:off x="704088" y="4709159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retenir</a:t>
            </a:r>
          </a:p>
        </p:txBody>
      </p:sp>
      <p:sp>
        <p:nvSpPr>
          <p:cNvPr id="21" name="DSFR-callout-body"/>
          <p:cNvSpPr txBox="1"/>
          <p:nvPr/>
        </p:nvSpPr>
        <p:spPr>
          <a:xfrm>
            <a:off x="704088" y="5120640"/>
            <a:ext cx="10908792" cy="7772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deux approches sont complémentaires :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automatique pour détecter, manuel pour qualifier.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Démo composants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91440" cy="21031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240280"/>
            <a:ext cx="91440" cy="21031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617720"/>
            <a:ext cx="73152" cy="1371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Trois cartes + callout — processus et rappel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Démo | 3 cartes + callout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66928" y="2240280"/>
            <a:ext cx="3450335" cy="21031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92608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Analyser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383280"/>
            <a:ext cx="3176016" cy="8229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Identifier les blocages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Prioriser par impact</a:t>
            </a:r>
          </a:p>
        </p:txBody>
      </p:sp>
      <p:sp>
        <p:nvSpPr>
          <p:cNvPr id="14" name="DSFR-box"/>
          <p:cNvSpPr/>
          <p:nvPr/>
        </p:nvSpPr>
        <p:spPr>
          <a:xfrm>
            <a:off x="4410455" y="2240280"/>
            <a:ext cx="3450335" cy="21031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7615" y="292608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Corriger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7615" y="3383280"/>
            <a:ext cx="3176016" cy="8229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Appliquer les remédiations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Documenter les écarts</a:t>
            </a:r>
          </a:p>
        </p:txBody>
      </p:sp>
      <p:sp>
        <p:nvSpPr>
          <p:cNvPr id="19" name="DSFR-box"/>
          <p:cNvSpPr/>
          <p:nvPr/>
        </p:nvSpPr>
        <p:spPr>
          <a:xfrm>
            <a:off x="8253983" y="2240280"/>
            <a:ext cx="3450335" cy="21031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91144" y="292608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Vérifier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91144" y="3383280"/>
            <a:ext cx="3176016" cy="8229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Tester sur le terrain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Mesurer la progression</a:t>
            </a:r>
          </a:p>
        </p:txBody>
      </p:sp>
      <p:sp>
        <p:nvSpPr>
          <p:cNvPr id="24" name="DSFR-box"/>
          <p:cNvSpPr/>
          <p:nvPr/>
        </p:nvSpPr>
        <p:spPr>
          <a:xfrm>
            <a:off x="548640" y="4617720"/>
            <a:ext cx="11155680" cy="13716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SFR-callout-titre"/>
          <p:cNvSpPr txBox="1"/>
          <p:nvPr/>
        </p:nvSpPr>
        <p:spPr>
          <a:xfrm>
            <a:off x="704088" y="4709159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Règle d’or</a:t>
            </a:r>
          </a:p>
        </p:txBody>
      </p:sp>
      <p:sp>
        <p:nvSpPr>
          <p:cNvPr id="26" name="DSFR-callout-body"/>
          <p:cNvSpPr txBox="1"/>
          <p:nvPr/>
        </p:nvSpPr>
        <p:spPr>
          <a:xfrm>
            <a:off x="704088" y="5120640"/>
            <a:ext cx="10908792" cy="7772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Un cycle Analyser-Corriger-Vérifier dure 2 à 3 semaines.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 répéter tant qu’il reste des non-conformités bloquantes.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Démo composants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7615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91144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91440" cy="21031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9015" y="2240280"/>
            <a:ext cx="91440" cy="21031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62543" y="2240280"/>
            <a:ext cx="91440" cy="21031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475488" y="4617720"/>
            <a:ext cx="73152" cy="1371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Une carte sans numéro — message sans séquence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Démo | 1 carte sans n°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66928" y="2240280"/>
            <a:ext cx="11137392" cy="32004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377440"/>
            <a:ext cx="10863072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Principe fondamental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834640"/>
            <a:ext cx="10863072" cy="2468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Une information doit être perceptible,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utilisable, compréhensible et robuste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(acronyme POUR de WCAG 2.2).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Démo composants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91440" cy="32004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Deux cartes sans numéro — deux facettes équivalentes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Démo | 2 cartes sans n°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66928" y="2240280"/>
            <a:ext cx="5372100" cy="32004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37744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Audit automatique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834640"/>
            <a:ext cx="5097779" cy="2468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Rapide (quelques minutes)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Couvre 30 % des critères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Outils : axe-core, WAVE, Lighthouse</a:t>
            </a:r>
          </a:p>
        </p:txBody>
      </p:sp>
      <p:sp>
        <p:nvSpPr>
          <p:cNvPr id="13" name="DSFR-box"/>
          <p:cNvSpPr/>
          <p:nvPr/>
        </p:nvSpPr>
        <p:spPr>
          <a:xfrm>
            <a:off x="6332219" y="2240280"/>
            <a:ext cx="5372100" cy="32004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37744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Audit manuel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834640"/>
            <a:ext cx="5097779" cy="2468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Long (journées à semaines)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Couvre 100 % des critères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Tests clavier, lecteur d’écran, contraste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Démo composants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91440" cy="32004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240280"/>
            <a:ext cx="91440" cy="32004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Trois cartes sans numéro — triade de concepts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Démo | 3 cartes sans n°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66928" y="2240280"/>
            <a:ext cx="3450335" cy="32004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37744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Perceptible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834640"/>
            <a:ext cx="3176016" cy="2468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Alternatives textuelles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Contrastes suffisants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Sous-titres</a:t>
            </a:r>
          </a:p>
        </p:txBody>
      </p:sp>
      <p:sp>
        <p:nvSpPr>
          <p:cNvPr id="13" name="DSFR-box"/>
          <p:cNvSpPr/>
          <p:nvPr/>
        </p:nvSpPr>
        <p:spPr>
          <a:xfrm>
            <a:off x="4410455" y="2240280"/>
            <a:ext cx="3450335" cy="32004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4547615" y="237744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Utilisable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4547615" y="2834640"/>
            <a:ext cx="3176016" cy="2468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Navigation au clavier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Temps suffisant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Pas de clignotement</a:t>
            </a:r>
          </a:p>
        </p:txBody>
      </p:sp>
      <p:sp>
        <p:nvSpPr>
          <p:cNvPr id="17" name="DSFR-box"/>
          <p:cNvSpPr/>
          <p:nvPr/>
        </p:nvSpPr>
        <p:spPr>
          <a:xfrm>
            <a:off x="8253983" y="2240280"/>
            <a:ext cx="3450335" cy="32004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rd-titre"/>
          <p:cNvSpPr txBox="1"/>
          <p:nvPr/>
        </p:nvSpPr>
        <p:spPr>
          <a:xfrm>
            <a:off x="8391144" y="237744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Compréhensible</a:t>
            </a:r>
          </a:p>
        </p:txBody>
      </p:sp>
      <p:sp>
        <p:nvSpPr>
          <p:cNvPr id="19" name="DSFR-card-contenu"/>
          <p:cNvSpPr txBox="1"/>
          <p:nvPr/>
        </p:nvSpPr>
        <p:spPr>
          <a:xfrm>
            <a:off x="8391144" y="2834640"/>
            <a:ext cx="3176016" cy="2468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Langue identifiée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Texte lisible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Prévisibilité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Démo composants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91440" cy="32004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319015" y="2240280"/>
            <a:ext cx="91440" cy="32004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8162543" y="2240280"/>
            <a:ext cx="91440" cy="32004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Une carte sans numéro + callout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Démo | 1 carte sans n° + callout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66928" y="2240280"/>
            <a:ext cx="11137392" cy="21031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377440"/>
            <a:ext cx="10863072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Principe fondamental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834640"/>
            <a:ext cx="10863072" cy="1371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Une information doit être perceptible,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utilisable, compréhensible et robuste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(acronyme POUR de WCAG 2.2).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617720"/>
            <a:ext cx="11155680" cy="13716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704088" y="470916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Point d’attention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704088" y="5120640"/>
            <a:ext cx="10908792" cy="7772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Ces 4 principes structurent l’ensemble des 50 critères RGAA 4.1.2.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retenir facilite la lecture du référentiel.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Démo composants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91440" cy="21031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617720"/>
            <a:ext cx="73152" cy="1371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Deux cartes sans numéro + callout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Démo | 2 cartes sans n° + callout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66928" y="2240280"/>
            <a:ext cx="5372100" cy="21031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37744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Audit automatique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834640"/>
            <a:ext cx="5097779" cy="1371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Rapide (quelques minutes)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Couvre 30 % des critères</a:t>
            </a:r>
          </a:p>
        </p:txBody>
      </p:sp>
      <p:sp>
        <p:nvSpPr>
          <p:cNvPr id="13" name="DSFR-box"/>
          <p:cNvSpPr/>
          <p:nvPr/>
        </p:nvSpPr>
        <p:spPr>
          <a:xfrm>
            <a:off x="6332219" y="2240280"/>
            <a:ext cx="5372100" cy="21031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37744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Audit manuel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834640"/>
            <a:ext cx="5097779" cy="1371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Long (journées à semaines)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Couvre 100 % des critères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617720"/>
            <a:ext cx="11155680" cy="13716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4709159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retenir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5120640"/>
            <a:ext cx="10908792" cy="7772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deux approches sont complémentaires :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automatique pour détecter, manuel pour qualifier.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Démo composants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91440" cy="21031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240280"/>
            <a:ext cx="91440" cy="21031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617720"/>
            <a:ext cx="73152" cy="1371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Trois cartes sans numéro + callout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Démo | 3 cartes sans n° + callout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66928" y="2240280"/>
            <a:ext cx="3450335" cy="21031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37744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Perceptible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834640"/>
            <a:ext cx="3176016" cy="1371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Alternatives textuelles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Contrastes suffisants</a:t>
            </a:r>
          </a:p>
        </p:txBody>
      </p:sp>
      <p:sp>
        <p:nvSpPr>
          <p:cNvPr id="13" name="DSFR-box"/>
          <p:cNvSpPr/>
          <p:nvPr/>
        </p:nvSpPr>
        <p:spPr>
          <a:xfrm>
            <a:off x="4410455" y="2240280"/>
            <a:ext cx="3450335" cy="21031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4547615" y="237744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Utilisable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4547615" y="2834640"/>
            <a:ext cx="3176016" cy="1371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Navigation au clavier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Temps suffisant</a:t>
            </a:r>
          </a:p>
        </p:txBody>
      </p:sp>
      <p:sp>
        <p:nvSpPr>
          <p:cNvPr id="17" name="DSFR-box"/>
          <p:cNvSpPr/>
          <p:nvPr/>
        </p:nvSpPr>
        <p:spPr>
          <a:xfrm>
            <a:off x="8253983" y="2240280"/>
            <a:ext cx="3450335" cy="21031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rd-titre"/>
          <p:cNvSpPr txBox="1"/>
          <p:nvPr/>
        </p:nvSpPr>
        <p:spPr>
          <a:xfrm>
            <a:off x="8391144" y="237744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Compréhensible</a:t>
            </a:r>
          </a:p>
        </p:txBody>
      </p:sp>
      <p:sp>
        <p:nvSpPr>
          <p:cNvPr id="19" name="DSFR-card-contenu"/>
          <p:cNvSpPr txBox="1"/>
          <p:nvPr/>
        </p:nvSpPr>
        <p:spPr>
          <a:xfrm>
            <a:off x="8391144" y="2834640"/>
            <a:ext cx="3176016" cy="1371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Langue identifiée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Texte lisible</a:t>
            </a:r>
          </a:p>
        </p:txBody>
      </p:sp>
      <p:sp>
        <p:nvSpPr>
          <p:cNvPr id="21" name="DSFR-box"/>
          <p:cNvSpPr/>
          <p:nvPr/>
        </p:nvSpPr>
        <p:spPr>
          <a:xfrm>
            <a:off x="548640" y="4617720"/>
            <a:ext cx="11155680" cy="13716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callout-titre"/>
          <p:cNvSpPr txBox="1"/>
          <p:nvPr/>
        </p:nvSpPr>
        <p:spPr>
          <a:xfrm>
            <a:off x="704088" y="4709159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Règle d’or</a:t>
            </a:r>
          </a:p>
        </p:txBody>
      </p:sp>
      <p:sp>
        <p:nvSpPr>
          <p:cNvPr id="23" name="DSFR-callout-body"/>
          <p:cNvSpPr txBox="1"/>
          <p:nvPr/>
        </p:nvSpPr>
        <p:spPr>
          <a:xfrm>
            <a:off x="704088" y="5120640"/>
            <a:ext cx="10908792" cy="7772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4 principes POUR couvrent 100 % des exigences WCAG.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Tout critère se rattache à l’un d’eux.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Démo composants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91440" cy="21031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319015" y="2240280"/>
            <a:ext cx="91440" cy="21031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8162543" y="2240280"/>
            <a:ext cx="91440" cy="21031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ccent-decoratif" descr=""/>
          <p:cNvSpPr/>
          <p:nvPr/>
        </p:nvSpPr>
        <p:spPr>
          <a:xfrm>
            <a:off x="475488" y="4617720"/>
            <a:ext cx="73152" cy="1371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— préparer un document accessible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Démo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25</a:t>
            </a:r>
            <a:endParaRPr lang="fr-FR" dirty="0"/>
          </a:p>
        </p:txBody>
      </p:sp>
      <p:sp>
        <p:nvSpPr>
          <p:cNvPr id="8" name="DSFR-checklist"/>
          <p:cNvSpPr txBox="1"/>
          <p:nvPr/>
        </p:nvSpPr>
        <p:spPr>
          <a:xfrm>
            <a:off x="475488" y="2240280"/>
            <a:ext cx="11228832" cy="3154679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18753C"/>
                </a:solidFill>
                <a:latin typeface="Marianne"/>
              </a:rPr>
              <a:t>☑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Styles hiérarchiques appliqués (Titre 1, Titre 2, Titre 3)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18753C"/>
                </a:solidFill>
                <a:latin typeface="Marianne"/>
              </a:rPr>
              <a:t>☑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Alt text renseigné sur toutes les images informatives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Contrastes vérifiés (≥ 4,5:1 pour le texte courant)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18753C"/>
                </a:solidFill>
                <a:latin typeface="Marianne"/>
              </a:rPr>
              <a:t>☑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Tableaux avec en-têtes de colonne identifiés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Liens avec texte descriptif (pas « cliquer ici »)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18753C"/>
                </a:solidFill>
                <a:latin typeface="Marianne"/>
              </a:rPr>
              <a:t>☑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Langue du document définie (fr-FR)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Pas de justification — alignement à gauche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Démo composants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Avant / après — un lien accessible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Démo | Avant et après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240280"/>
            <a:ext cx="5390388" cy="3200400"/>
          </a:xfrm>
          <a:prstGeom prst="rect">
            <a:avLst/>
          </a:prstGeom>
          <a:solidFill>
            <a:srgbClr val="FF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33172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CE0500"/>
                </a:solidFill>
                <a:latin typeface="Marianne"/>
              </a:rPr>
              <a:t>Avant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743200"/>
            <a:ext cx="5143500" cy="2606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« Cliquez ici pour en savoir plus »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Hors contexte, le lecteur ne sait pas où il arrive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Échec du critère RGAA 6.1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240280"/>
            <a:ext cx="5390388" cy="3200400"/>
          </a:xfrm>
          <a:prstGeom prst="rect">
            <a:avLst/>
          </a:prstGeom>
          <a:solidFill>
            <a:srgbClr val="B8F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6469379" y="233172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18753C"/>
                </a:solidFill>
                <a:latin typeface="Marianne"/>
              </a:rPr>
              <a:t>Après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6469379" y="2743200"/>
            <a:ext cx="5143500" cy="2606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« Consulter le rapport d’audit 2025 »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 texte du lien décrit sa destination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Conforme au critère RGAA 6.1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Démo composants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73152" cy="3200400"/>
          </a:xfrm>
          <a:prstGeom prst="rect">
            <a:avLst/>
          </a:prstGeom>
          <a:solidFill>
            <a:srgbClr val="CE0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240280"/>
            <a:ext cx="73152" cy="3200400"/>
          </a:xfrm>
          <a:prstGeom prst="rect">
            <a:avLst/>
          </a:prstGeom>
          <a:solidFill>
            <a:srgbClr val="187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Exemple et contre-exemple — alt text d’image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Démo | Bon et mauvais exemple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240280"/>
            <a:ext cx="5390388" cy="3200400"/>
          </a:xfrm>
          <a:prstGeom prst="rect">
            <a:avLst/>
          </a:prstGeom>
          <a:solidFill>
            <a:srgbClr val="B8F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success-titre"/>
          <p:cNvSpPr txBox="1"/>
          <p:nvPr/>
        </p:nvSpPr>
        <p:spPr>
          <a:xfrm>
            <a:off x="704088" y="233172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18753C"/>
                </a:solidFill>
                <a:latin typeface="Marianne"/>
              </a:rPr>
              <a:t>✓  À faire</a:t>
            </a:r>
          </a:p>
        </p:txBody>
      </p:sp>
      <p:sp>
        <p:nvSpPr>
          <p:cNvPr id="11" name="DSFR-alert-success-body"/>
          <p:cNvSpPr txBox="1"/>
          <p:nvPr/>
        </p:nvSpPr>
        <p:spPr>
          <a:xfrm>
            <a:off x="704088" y="2743200"/>
            <a:ext cx="5143500" cy="2606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alt="Graphique en barres : progression 2020-2025"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Description concise et informative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Rend l’image compréhensible sans la voir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240280"/>
            <a:ext cx="5390388" cy="3200400"/>
          </a:xfrm>
          <a:prstGeom prst="rect">
            <a:avLst/>
          </a:prstGeom>
          <a:solidFill>
            <a:srgbClr val="FF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6469379" y="233172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CE0500"/>
                </a:solidFill>
                <a:latin typeface="Marianne"/>
              </a:rPr>
              <a:t>✗  À éviter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6469379" y="2743200"/>
            <a:ext cx="5143500" cy="2606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alt="image" ou alt="image1.png"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Texte sans valeur informative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alt="" sur une image porteuse d’information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Démo composants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73152" cy="3200400"/>
          </a:xfrm>
          <a:prstGeom prst="rect">
            <a:avLst/>
          </a:prstGeom>
          <a:solidFill>
            <a:srgbClr val="187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240280"/>
            <a:ext cx="73152" cy="3200400"/>
          </a:xfrm>
          <a:prstGeom prst="rect">
            <a:avLst/>
          </a:prstGeom>
          <a:solidFill>
            <a:srgbClr val="CE0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Merci pour votre attention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85216" y="2926080"/>
            <a:ext cx="11119104" cy="9144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3017520"/>
            <a:ext cx="10863072" cy="7315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Pour toute question : formation-igpde@finances.gouv.fr</a:t>
            </a:r>
          </a:p>
        </p:txBody>
      </p:sp>
      <p:sp>
        <p:nvSpPr>
          <p:cNvPr id="11" name="DSFR-texte-libre"/>
          <p:cNvSpPr txBox="1"/>
          <p:nvPr/>
        </p:nvSpPr>
        <p:spPr>
          <a:xfrm>
            <a:off x="475488" y="4206240"/>
            <a:ext cx="11228832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000091"/>
                </a:solidFill>
                <a:latin typeface="Marianne"/>
              </a:rPr>
              <a:t>Retrouvez les supports sur l’espace Alizé de l’IGPDE</a:t>
            </a:r>
          </a:p>
        </p:txBody>
      </p:sp>
      <p:sp>
        <p:nvSpPr>
          <p:cNvPr id="12" name="DSFR-texte-libre"/>
          <p:cNvSpPr txBox="1"/>
          <p:nvPr/>
        </p:nvSpPr>
        <p:spPr>
          <a:xfrm>
            <a:off x="475488" y="4846320"/>
            <a:ext cx="11228832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F6F6F6"/>
                </a:solidFill>
                <a:latin typeface="Marianne"/>
              </a:rPr>
              <a:t>Merci de répondre à l’évaluation à chaud en sortant de salle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Clôture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926080"/>
            <a:ext cx="109728" cy="9144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UVERNEMENT">
  <a:themeElements>
    <a:clrScheme name="GOUVERNEMENT PPT">
      <a:dk1>
        <a:srgbClr val="000000"/>
      </a:dk1>
      <a:lt1>
        <a:srgbClr val="FFFFFF"/>
      </a:lt1>
      <a:dk2>
        <a:srgbClr val="000091"/>
      </a:dk2>
      <a:lt2>
        <a:srgbClr val="E1000F"/>
      </a:lt2>
      <a:accent1>
        <a:srgbClr val="005841"/>
      </a:accent1>
      <a:accent2>
        <a:srgbClr val="21215A"/>
      </a:accent2>
      <a:accent3>
        <a:srgbClr val="FFD500"/>
      </a:accent3>
      <a:accent4>
        <a:srgbClr val="EA5433"/>
      </a:accent4>
      <a:accent5>
        <a:srgbClr val="8C2237"/>
      </a:accent5>
      <a:accent6>
        <a:srgbClr val="49311F"/>
      </a:accent6>
      <a:hlink>
        <a:srgbClr val="000000"/>
      </a:hlink>
      <a:folHlink>
        <a:srgbClr val="000000"/>
      </a:folHlink>
    </a:clrScheme>
    <a:fontScheme name="Personnalisé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gouvernement_marianne" id="{307D1C89-B296-4882-8ECC-2BD1C6821949}" vid="{B53EA17D-A77A-459E-979D-FA962BE9015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ppt_gouvernement_arial</Template>
  <TotalTime>200</TotalTime>
  <Words>1065</Words>
  <Application>Microsoft Office PowerPoint</Application>
  <PresentationFormat>Affichage à l'écran (16:9)</PresentationFormat>
  <Paragraphs>157</Paragraphs>
  <Slides>16</Slides>
  <Notes>1</Notes>
  <HiddenSlides>3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1" baseType="lpstr">
      <vt:lpstr>Arial</vt:lpstr>
      <vt:lpstr>Calibri</vt:lpstr>
      <vt:lpstr>Verdana</vt:lpstr>
      <vt:lpstr>Wingdings</vt:lpstr>
      <vt:lpstr>GOUVERNEMENT</vt:lpstr>
      <vt:lpstr>XXXXX Libelle de la formation</vt:lpstr>
      <vt:lpstr>Présentation PowerPoint</vt:lpstr>
      <vt:lpstr>Le programme</vt:lpstr>
      <vt:lpstr>Présentation PowerPoint</vt:lpstr>
      <vt:lpstr>Sommaire</vt:lpstr>
      <vt:lpstr>Introduction aux réseaux informatiques</vt:lpstr>
      <vt:lpstr>Introduction </vt:lpstr>
      <vt:lpstr>Présentation PowerPoint</vt:lpstr>
      <vt:lpstr>Présentation PowerPoint</vt:lpstr>
      <vt:lpstr>Sommaire</vt:lpstr>
      <vt:lpstr>Titre de partie</vt:lpstr>
      <vt:lpstr>Lorem ipsum dolor  sit amet consectetur</vt:lpstr>
      <vt:lpstr>Lorem ipsum dolor  sit amet consectetur</vt:lpstr>
      <vt:lpstr>Réduire / Augmenter le niveau de liste</vt:lpstr>
      <vt:lpstr>Titre</vt:lpstr>
      <vt:lpstr>Copier / coller les textes</vt:lpstr>
    </vt:vector>
  </TitlesOfParts>
  <Manager>Client</Manager>
  <Company>Secrétariat Général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IGPDE-DSFR — démonstration</dc:title>
  <dc:subject>Démonstration des composants DSFR sur template IGPDE</dc:subject>
  <dc:creator>Alex Guiderdoni</dc:creator>
  <cp:lastModifiedBy>COUPLAN Carine</cp:lastModifiedBy>
  <cp:revision>15</cp:revision>
  <dcterms:created xsi:type="dcterms:W3CDTF">2020-03-06T09:47:41Z</dcterms:created>
  <dcterms:modified xsi:type="dcterms:W3CDTF">2024-09-06T15:21:48Z</dcterms:modified>
  <dc:language>fr-FR</dc:language>
</cp:coreProperties>
</file>