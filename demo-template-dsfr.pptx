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couverture — accueil des stagiaires, tour 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les 4 objectifs, insister sur le caractère opérationnel.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l’enchaînement des 3 parties sur 2 journées.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la partie 1,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 : comprendre les 4 principes WCAG. R2 : ancrage pédagogique.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Observatoire DINUM 2025. Insister sur l’écart entre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R7 : chaque étape est séquentielle. R12 : éviter de sauter des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R14 : outils gratuits et accessibles à tous. Pas de barrière budgétaire.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R21 : comparer pratiques et pièges en miroir. R25 : ancrage par opposition.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la partie 2, bureautique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la partie 3, Easy Checks W3C.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la partie 4, réseaux sociaux accessibles.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8348472" y="6382512"/>
            <a:ext cx="1801368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8" name="Title-DSFR-couverture"/>
          <p:cNvSpPr txBox="1"/>
          <p:nvPr/>
        </p:nvSpPr>
        <p:spPr>
          <a:xfrm>
            <a:off x="5303520" y="4114800"/>
            <a:ext cx="6492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Accessibilité numérique</a:t>
            </a:r>
          </a:p>
        </p:txBody>
      </p:sp>
      <p:sp>
        <p:nvSpPr>
          <p:cNvPr id="9" name="DSFR-couverture-soustitre"/>
          <p:cNvSpPr txBox="1"/>
          <p:nvPr/>
        </p:nvSpPr>
        <p:spPr>
          <a:xfrm>
            <a:off x="5303520" y="4846320"/>
            <a:ext cx="6492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1" i="0" lang="fr-FR">
                <a:solidFill>
                  <a:srgbClr val="E1000F"/>
                </a:solidFill>
                <a:latin typeface="Marianne"/>
              </a:rPr>
              <a:t>Formation 102638 | Bureautique et web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0149840" y="6382512"/>
            <a:ext cx="1563624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475488" y="6382512"/>
            <a:ext cx="7872983" cy="475488"/>
          </a:xfrm>
        </p:spPr>
        <p:txBody>
          <a:bodyPr anchor="t" anchorCtr="0" wrap="square" lIns="73152" rIns="73152"/>
          <a:lstStyle>
            <a:lvl1pPr>
              <a:defRPr sz="1150" lang="fr-FR"/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Institut de la Gestion publique et du Développement économique</a:t>
            </a:r>
          </a:p>
        </p:txBody>
      </p:sp>
      <p:cxnSp>
        <p:nvCxnSpPr>
          <p:cNvPr id="7" name="IGPDE-footer-ligne-decoratif" descr=""/>
          <p:cNvCxnSpPr/>
          <p:nvPr/>
        </p:nvCxnSpPr>
        <p:spPr>
          <a:xfrm>
            <a:off x="475488" y="6373368"/>
            <a:ext cx="11228831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3108960"/>
            <a:ext cx="11228832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Objectifs pédagogiques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572000"/>
            <a:ext cx="11155680" cy="16459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llout-titre"/>
          <p:cNvSpPr txBox="1"/>
          <p:nvPr/>
        </p:nvSpPr>
        <p:spPr>
          <a:xfrm>
            <a:off x="704088" y="46634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l’issue de cette formation, les stagiaires sauront :</a:t>
            </a:r>
          </a:p>
        </p:txBody>
      </p:sp>
      <p:sp>
        <p:nvSpPr>
          <p:cNvPr id="18" name="DSFR-callout-body"/>
          <p:cNvSpPr txBox="1"/>
          <p:nvPr/>
        </p:nvSpPr>
        <p:spPr>
          <a:xfrm>
            <a:off x="704088" y="5074920"/>
            <a:ext cx="10908792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Identifier les critères RGAA 4.1.2 applicables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Produire un document bureautique accessible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Auditer une page web avec les outils standards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Remédier aux non-conformités détectées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Objectifs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572000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Sommaire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566928" y="2587752"/>
            <a:ext cx="3450335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FR-card-titre"/>
          <p:cNvSpPr txBox="1"/>
          <p:nvPr/>
        </p:nvSpPr>
        <p:spPr>
          <a:xfrm>
            <a:off x="704088" y="32735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Cadre légal</a:t>
            </a:r>
          </a:p>
        </p:txBody>
      </p:sp>
      <p:sp>
        <p:nvSpPr>
          <p:cNvPr id="10" name="DSFR-card-contenu"/>
          <p:cNvSpPr txBox="1"/>
          <p:nvPr/>
        </p:nvSpPr>
        <p:spPr>
          <a:xfrm>
            <a:off x="704088" y="3730752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RGAA 4.1.2, décret 2019, obligations des administrations</a:t>
            </a:r>
          </a:p>
        </p:txBody>
      </p:sp>
      <p:sp>
        <p:nvSpPr>
          <p:cNvPr id="12" name="DSFR-box"/>
          <p:cNvSpPr/>
          <p:nvPr/>
        </p:nvSpPr>
        <p:spPr>
          <a:xfrm>
            <a:off x="4410455" y="2587752"/>
            <a:ext cx="3450335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32735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Bureautique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3730752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Word, Excel, PowerPoint accessibles : structure, styles, alt text</a:t>
            </a:r>
          </a:p>
        </p:txBody>
      </p:sp>
      <p:sp>
        <p:nvSpPr>
          <p:cNvPr id="17" name="DSFR-box"/>
          <p:cNvSpPr/>
          <p:nvPr/>
        </p:nvSpPr>
        <p:spPr>
          <a:xfrm>
            <a:off x="8253983" y="2587752"/>
            <a:ext cx="3450335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8391144" y="32735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Web et réseaux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8391144" y="3730752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Easy Checks, tests clavier, réseaux sociaux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Sommaire</a:t>
            </a:r>
          </a:p>
        </p:txBody>
      </p:sp>
      <p:sp>
        <p:nvSpPr>
          <p:cNvPr id="8" name="DSFR-card-numero"/>
          <p:cNvSpPr/>
          <p:nvPr/>
        </p:nvSpPr>
        <p:spPr>
          <a:xfrm>
            <a:off x="704088" y="272491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card-numero"/>
          <p:cNvSpPr/>
          <p:nvPr/>
        </p:nvSpPr>
        <p:spPr>
          <a:xfrm>
            <a:off x="4547615" y="272491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8" name="DSFR-card-numero"/>
          <p:cNvSpPr/>
          <p:nvPr/>
        </p:nvSpPr>
        <p:spPr>
          <a:xfrm>
            <a:off x="8391144" y="272491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587752"/>
            <a:ext cx="91440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587752"/>
            <a:ext cx="91440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587752"/>
            <a:ext cx="91440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1. Comprendre l’accessibilité numérique et son cadre légal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1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Les trois piliers de l’accessibilité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Introduction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566928" y="2450592"/>
            <a:ext cx="3450335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FR-card-titre"/>
          <p:cNvSpPr txBox="1"/>
          <p:nvPr/>
        </p:nvSpPr>
        <p:spPr>
          <a:xfrm>
            <a:off x="704088" y="313639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Perceptible</a:t>
            </a:r>
          </a:p>
        </p:txBody>
      </p:sp>
      <p:sp>
        <p:nvSpPr>
          <p:cNvPr id="10" name="DSFR-card-contenu"/>
          <p:cNvSpPr txBox="1"/>
          <p:nvPr/>
        </p:nvSpPr>
        <p:spPr>
          <a:xfrm>
            <a:off x="704088" y="3593592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Alternatives textuelles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Contrastes suffisants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Sous-titres</a:t>
            </a:r>
          </a:p>
        </p:txBody>
      </p:sp>
      <p:sp>
        <p:nvSpPr>
          <p:cNvPr id="12" name="DSFR-box"/>
          <p:cNvSpPr/>
          <p:nvPr/>
        </p:nvSpPr>
        <p:spPr>
          <a:xfrm>
            <a:off x="4410455" y="2450592"/>
            <a:ext cx="3450335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313639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Utilisable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3593592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Navigation au clavier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Temps suffisant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Pas de clignotement</a:t>
            </a:r>
          </a:p>
        </p:txBody>
      </p:sp>
      <p:sp>
        <p:nvSpPr>
          <p:cNvPr id="17" name="DSFR-box"/>
          <p:cNvSpPr/>
          <p:nvPr/>
        </p:nvSpPr>
        <p:spPr>
          <a:xfrm>
            <a:off x="8253983" y="2450592"/>
            <a:ext cx="3450335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8391144" y="313639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Compréhensible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8391144" y="3593592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Langue identifiée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Texte lisible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Prévisibilité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Cadre légal</a:t>
            </a:r>
          </a:p>
        </p:txBody>
      </p:sp>
      <p:sp>
        <p:nvSpPr>
          <p:cNvPr id="8" name="DSFR-card-numero"/>
          <p:cNvSpPr/>
          <p:nvPr/>
        </p:nvSpPr>
        <p:spPr>
          <a:xfrm>
            <a:off x="704088" y="258775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card-numero"/>
          <p:cNvSpPr/>
          <p:nvPr/>
        </p:nvSpPr>
        <p:spPr>
          <a:xfrm>
            <a:off x="4547615" y="258775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8" name="DSFR-card-numero"/>
          <p:cNvSpPr/>
          <p:nvPr/>
        </p:nvSpPr>
        <p:spPr>
          <a:xfrm>
            <a:off x="8391144" y="2587752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450592"/>
            <a:ext cx="91440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450592"/>
            <a:ext cx="91440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450592"/>
            <a:ext cx="91440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État de l’accessibilité dans les administrations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Chiffres clés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43 %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Taux moyen RGAA (2025)</a:t>
            </a:r>
          </a:p>
        </p:txBody>
      </p:sp>
      <p:sp>
        <p:nvSpPr>
          <p:cNvPr id="10" name="DSFR-kpi-pave"/>
          <p:cNvSpPr/>
          <p:nvPr/>
        </p:nvSpPr>
        <p:spPr>
          <a:xfrm>
            <a:off x="4319015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96 %</a:t>
            </a:r>
          </a:p>
        </p:txBody>
      </p:sp>
      <p:sp>
        <p:nvSpPr>
          <p:cNvPr id="11" name="DSFR-kpi-label"/>
          <p:cNvSpPr txBox="1"/>
          <p:nvPr/>
        </p:nvSpPr>
        <p:spPr>
          <a:xfrm>
            <a:off x="4319015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Meilleur taux (DGFiP)</a:t>
            </a:r>
          </a:p>
        </p:txBody>
      </p:sp>
      <p:sp>
        <p:nvSpPr>
          <p:cNvPr id="12" name="DSFR-kpi-pave"/>
          <p:cNvSpPr/>
          <p:nvPr/>
        </p:nvSpPr>
        <p:spPr>
          <a:xfrm>
            <a:off x="8162543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11</a:t>
            </a:r>
          </a:p>
        </p:txBody>
      </p:sp>
      <p:sp>
        <p:nvSpPr>
          <p:cNvPr id="13" name="DSFR-kpi-label"/>
          <p:cNvSpPr txBox="1"/>
          <p:nvPr/>
        </p:nvSpPr>
        <p:spPr>
          <a:xfrm>
            <a:off x="8162543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Non-conformités moyennes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4096512"/>
            <a:ext cx="11155680" cy="1645920"/>
          </a:xfrm>
          <a:prstGeom prst="rect">
            <a:avLst/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lert-info-titre"/>
          <p:cNvSpPr txBox="1"/>
          <p:nvPr/>
        </p:nvSpPr>
        <p:spPr>
          <a:xfrm>
            <a:off x="704088" y="4187952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63CB"/>
                </a:solidFill>
                <a:latin typeface="Marianne"/>
              </a:rPr>
              <a:t>À retenir</a:t>
            </a:r>
          </a:p>
        </p:txBody>
      </p:sp>
      <p:sp>
        <p:nvSpPr>
          <p:cNvPr id="17" name="DSFR-alert-info-body"/>
          <p:cNvSpPr txBox="1"/>
          <p:nvPr/>
        </p:nvSpPr>
        <p:spPr>
          <a:xfrm>
            <a:off x="704088" y="4599432"/>
            <a:ext cx="10908792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L’audit doit être réalisé par un tiers qualifié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 déclaration d’accessibilité est obligatoire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 plan pluriannuel doit être publié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Cadre légal</a:t>
            </a:r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4096512"/>
            <a:ext cx="73152" cy="1645920"/>
          </a:xfrm>
          <a:prstGeom prst="rect">
            <a:avLst/>
          </a:prstGeom>
          <a:solidFill>
            <a:srgbClr val="006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Démarche d’audit en 4 étapes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Bureautique | Méthodologie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Inventaire des pages et documents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Tests automatisés (axe-core, Wave)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Tests manuels (clavier, lecteur d’écran)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Rédaction du rapport et plan d’action</a:t>
            </a:r>
          </a:p>
        </p:txBody>
      </p:sp>
      <p:sp>
        <p:nvSpPr>
          <p:cNvPr id="20" name="DSFR-box"/>
          <p:cNvSpPr/>
          <p:nvPr/>
        </p:nvSpPr>
        <p:spPr>
          <a:xfrm>
            <a:off x="585216" y="5193792"/>
            <a:ext cx="11119104" cy="822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highlight"/>
          <p:cNvSpPr txBox="1"/>
          <p:nvPr/>
        </p:nvSpPr>
        <p:spPr>
          <a:xfrm>
            <a:off x="749808" y="5285231"/>
            <a:ext cx="10863072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La durée moyenne d’un audit complet est de 10 à 15 jours ouvrés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Bureautique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5193792"/>
            <a:ext cx="109728" cy="822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Outils d’audit recommandés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Web | Outils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450592"/>
          <a:ext cx="1122882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943"/>
                <a:gridCol w="3742943"/>
                <a:gridCol w="3742943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Outil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Usage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Coût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axe-core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Tests automatisés navigateur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WAVE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Audit visuel WCAG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Lighthouse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Audit performance et accessibilité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NVDA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Lecteur d’écran Windows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VoiceOver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Lecteur d’écran macOS/iOS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Intégré 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5193792"/>
            <a:ext cx="11155680" cy="11887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quote-texte"/>
          <p:cNvSpPr txBox="1"/>
          <p:nvPr/>
        </p:nvSpPr>
        <p:spPr>
          <a:xfrm>
            <a:off x="749808" y="5330952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“ L’accessibilité n’est pas un coût, c’est un investissement dans la qualité du service public. ”</a:t>
            </a:r>
          </a:p>
        </p:txBody>
      </p:sp>
      <p:sp>
        <p:nvSpPr>
          <p:cNvPr id="12" name="DSFR-quote-auteur"/>
          <p:cNvSpPr txBox="1"/>
          <p:nvPr/>
        </p:nvSpPr>
        <p:spPr>
          <a:xfrm>
            <a:off x="749808" y="5925312"/>
            <a:ext cx="1086307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000091"/>
                </a:solidFill>
                <a:latin typeface="Marianne"/>
              </a:rPr>
              <a:t>— Circulaire DINUM 2024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Web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5193792"/>
            <a:ext cx="73152" cy="11887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Bonnes pratiques et pièges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Web | Récapitulatif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450592"/>
            <a:ext cx="5390388" cy="32004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542032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Bonnes pratiques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953512"/>
            <a:ext cx="5143500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Structurer le document avec des styles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Ajouter un alt text à chaque 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Vérifier le contraste (≥ 4.5:1)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Tester au clavier avant livraison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450592"/>
            <a:ext cx="5390388" cy="3200400"/>
          </a:xfrm>
          <a:prstGeom prst="rect">
            <a:avLst/>
          </a:prstGeom>
          <a:solidFill>
            <a:srgbClr val="FE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542032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B34E00"/>
                </a:solidFill>
                <a:latin typeface="Marianne"/>
              </a:rPr>
              <a:t>Pièges à éviter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953512"/>
            <a:ext cx="5143500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tableau pour la mise en page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capture d’écran de texte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justification (alignement gauche)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d’acronyme sans explicitation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Récapitulatif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450592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450592"/>
            <a:ext cx="73152" cy="3200400"/>
          </a:xfrm>
          <a:prstGeom prst="rect">
            <a:avLst/>
          </a:prstGeom>
          <a:solidFill>
            <a:srgbClr val="B3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Créer des documents bureautiques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2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3. Pratiquer les évaluations rapides d’accessibilité web (Easy Checks)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4. Améliorer l’accessibilité numérique des publications sur les réseaux sociaux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4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IGPDE-DSFR — démonstration</dc:title>
  <dc:subject>Démonstration des composants DSFR sur template IGPDE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