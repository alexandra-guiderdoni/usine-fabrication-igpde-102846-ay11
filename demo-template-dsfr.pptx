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7"/>
    <p:sldId id="267" r:id="rId6"/>
    <p:sldId id="268" r:id="rId5"/>
    <p:sldId id="269" r:id="rId4"/>
    <p:sldId id="270" r:id="rId3"/>
    <p:sldId id="271" r:id="rId2"/>
    <p:sldId id="272" r:id="rId24"/>
    <p:sldId id="273" r:id="rId25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6.xml"/><Relationship Id="rId3" Type="http://schemas.openxmlformats.org/officeDocument/2006/relationships/slide" Target="slides/slide15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couverture — accueil des stagiaires,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les 4 objectifs, insister sur le caractère opérationnel.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l’enchaînement des 3 parties sur 2 journées.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1, 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 : comprendre les 4 principes WCAG. R2 : ancrage pédagogique.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: Observatoire DINUM 2025. Insister sur l’écart entre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R7 : chaque étape est séquentielle. R12 : éviter de sauter des étapes.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R14 : outils gratuits et accessibles à tous. Pas de barrière budgétaire.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R21 : comparer pratiques et pièges en miroir. R25 : ancrage par opposition.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2, bureautique accessible.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3, Easy Checks W3C.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vers la partie 4, réseaux sociaux accessibles.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message unique à retenir, concept structurant. Carte centrée pour focaliser l’attention.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comparaison en miroir, avant/après, deux approches. R21 de la neuropédagogie : apprentissage par opposition.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triptyque (3 directions), séquence (3 étapes), triade conceptuelle. Au-delà de 3 cartes, préférer un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 = message principal, callout = renforcement ou implication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cartes = comparaison, callout = conclusion/synthèse qui relie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Usage : cartes = étapes d’un processus, callout = règle transverse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8348472" y="6382512"/>
            <a:ext cx="1801368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8" name="Title-DSFR-couverture"/>
          <p:cNvSpPr txBox="1"/>
          <p:nvPr/>
        </p:nvSpPr>
        <p:spPr>
          <a:xfrm>
            <a:off x="5303520" y="4114800"/>
            <a:ext cx="6492240" cy="118872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Accessibilité numérique</a:t>
            </a:r>
          </a:p>
        </p:txBody>
      </p:sp>
      <p:sp>
        <p:nvSpPr>
          <p:cNvPr id="9" name="DSFR-couverture-soustitre"/>
          <p:cNvSpPr txBox="1"/>
          <p:nvPr/>
        </p:nvSpPr>
        <p:spPr>
          <a:xfrm>
            <a:off x="5303520" y="4846320"/>
            <a:ext cx="6492240" cy="3200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r">
              <a:lnSpc>
                <a:spcPct val="125000"/>
              </a:lnSpc>
            </a:pPr>
            <a:r>
              <a:rPr sz="1400" b="1" i="0" lang="fr-FR">
                <a:solidFill>
                  <a:srgbClr val="E1000F"/>
                </a:solidFill>
                <a:latin typeface="Marianne"/>
              </a:rPr>
              <a:t>Formation 102638 | Bureautique et web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10149840" y="6382512"/>
            <a:ext cx="1563624" cy="475488"/>
          </a:xfrm>
          <a:ln>
            <a:solidFill>
              <a:schemeClr val="tx1">
                <a:alpha val="0"/>
              </a:schemeClr>
            </a:solidFill>
          </a:ln>
        </p:spPr>
        <p:txBody>
          <a:bodyPr wrap="square" anchor="t" lIns="73152" rIns="73152"/>
          <a:lstStyle>
            <a:lvl1pPr>
              <a:defRPr sz="100" lang="fr-FR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475488" y="6382512"/>
            <a:ext cx="7872983" cy="475488"/>
          </a:xfrm>
        </p:spPr>
        <p:txBody>
          <a:bodyPr anchor="t" anchorCtr="0" wrap="square" lIns="73152" rIns="73152"/>
          <a:lstStyle>
            <a:lvl1pPr>
              <a:defRPr sz="1150" lang="fr-FR"/>
            </a:lvl1pPr>
          </a:lstStyle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Institut de la Gestion publique et du Développement économique</a:t>
            </a:r>
          </a:p>
        </p:txBody>
      </p:sp>
      <p:cxnSp>
        <p:nvCxnSpPr>
          <p:cNvPr id="7" name="IGPDE-footer-ligne-decoratif" descr=""/>
          <p:cNvCxnSpPr/>
          <p:nvPr/>
        </p:nvCxnSpPr>
        <p:spPr>
          <a:xfrm>
            <a:off x="475488" y="6373368"/>
            <a:ext cx="11228831" cy="0"/>
          </a:xfrm>
          <a:prstGeom prst="line">
            <a:avLst/>
          </a:prstGeom>
          <a:ln w="635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2</a:t>
            </a:r>
            <a:endParaRPr lang="fr-FR" dirty="0"/>
          </a:p>
        </p:txBody>
      </p:sp>
      <p:sp>
        <p:nvSpPr>
          <p:cNvPr id="14" name="Title-DSFR-soustitre"/>
          <p:cNvSpPr txBox="1"/>
          <p:nvPr/>
        </p:nvSpPr>
        <p:spPr>
          <a:xfrm>
            <a:off x="475488" y="3108960"/>
            <a:ext cx="11228832" cy="12801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lang="fr-FR">
                <a:solidFill>
                  <a:srgbClr val="000091"/>
                </a:solidFill>
                <a:latin typeface="Marianne"/>
              </a:rPr>
              <a:t>Objectifs pédagogiques</a:t>
            </a:r>
          </a:p>
        </p:txBody>
      </p:sp>
      <p:sp>
        <p:nvSpPr>
          <p:cNvPr id="16" name="DSFR-box"/>
          <p:cNvSpPr/>
          <p:nvPr/>
        </p:nvSpPr>
        <p:spPr>
          <a:xfrm>
            <a:off x="548640" y="4572000"/>
            <a:ext cx="11155680" cy="16459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SFR-callout-titre"/>
          <p:cNvSpPr txBox="1"/>
          <p:nvPr/>
        </p:nvSpPr>
        <p:spPr>
          <a:xfrm>
            <a:off x="704088" y="466344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l’issue de cette formation, les stagiaires sauront :</a:t>
            </a:r>
          </a:p>
        </p:txBody>
      </p:sp>
      <p:sp>
        <p:nvSpPr>
          <p:cNvPr id="18" name="DSFR-callout-body"/>
          <p:cNvSpPr txBox="1"/>
          <p:nvPr/>
        </p:nvSpPr>
        <p:spPr>
          <a:xfrm>
            <a:off x="704088" y="5074920"/>
            <a:ext cx="10908792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Identifier les critères RGAA 4.1.2 applicables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Produire un document bureautique accessible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Auditer une page web avec les outils standards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Remédier aux non-conformités détectées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Objectifs</a:t>
            </a:r>
          </a:p>
        </p:txBody>
      </p:sp>
      <p:sp>
        <p:nvSpPr>
          <p:cNvPr id="15" name="DSFR-accent-decoratif" descr=""/>
          <p:cNvSpPr/>
          <p:nvPr/>
        </p:nvSpPr>
        <p:spPr>
          <a:xfrm>
            <a:off x="475488" y="4572000"/>
            <a:ext cx="73152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Sommaire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3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566928" y="2240280"/>
            <a:ext cx="3450335" cy="32918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Cadre légal</a:t>
            </a:r>
          </a:p>
        </p:txBody>
      </p:sp>
      <p:sp>
        <p:nvSpPr>
          <p:cNvPr id="10" name="DSFR-card-contenu"/>
          <p:cNvSpPr txBox="1"/>
          <p:nvPr/>
        </p:nvSpPr>
        <p:spPr>
          <a:xfrm>
            <a:off x="704088" y="3383280"/>
            <a:ext cx="3176016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RGAA 4.1.2, décret 2019, obligations des administrations</a:t>
            </a:r>
          </a:p>
        </p:txBody>
      </p:sp>
      <p:sp>
        <p:nvSpPr>
          <p:cNvPr id="12" name="DSFR-box"/>
          <p:cNvSpPr/>
          <p:nvPr/>
        </p:nvSpPr>
        <p:spPr>
          <a:xfrm>
            <a:off x="4410455" y="2240280"/>
            <a:ext cx="3450335" cy="32918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Bureautique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3383280"/>
            <a:ext cx="3176016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Word, Excel, PowerPoint accessibles : structure, styles, alt text</a:t>
            </a:r>
          </a:p>
        </p:txBody>
      </p:sp>
      <p:sp>
        <p:nvSpPr>
          <p:cNvPr id="17" name="DSFR-box"/>
          <p:cNvSpPr/>
          <p:nvPr/>
        </p:nvSpPr>
        <p:spPr>
          <a:xfrm>
            <a:off x="8253983" y="2240280"/>
            <a:ext cx="3450335" cy="32918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Web et réseaux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8391144" y="3383280"/>
            <a:ext cx="3176016" cy="20116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Easy Checks, tests clavier, réseaux sociaux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Sommaire</a:t>
            </a:r>
          </a:p>
        </p:txBody>
      </p:sp>
      <p:sp>
        <p:nvSpPr>
          <p:cNvPr id="8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240280"/>
            <a:ext cx="91440" cy="3291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319015" y="2240280"/>
            <a:ext cx="91440" cy="3291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240280"/>
            <a:ext cx="91440" cy="32918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1. Comprendre l’accessibilité numérique et son cadre légal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1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Les trois piliers de l’accessibilité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Introduction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5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566928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Perceptible</a:t>
            </a:r>
          </a:p>
        </p:txBody>
      </p:sp>
      <p:sp>
        <p:nvSpPr>
          <p:cNvPr id="10" name="DSFR-card-contenu"/>
          <p:cNvSpPr txBox="1"/>
          <p:nvPr/>
        </p:nvSpPr>
        <p:spPr>
          <a:xfrm>
            <a:off x="704088" y="3383280"/>
            <a:ext cx="3176016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Alternatives textuelles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Contrastes suffisants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Sous-titres</a:t>
            </a:r>
          </a:p>
        </p:txBody>
      </p:sp>
      <p:sp>
        <p:nvSpPr>
          <p:cNvPr id="12" name="DSFR-box"/>
          <p:cNvSpPr/>
          <p:nvPr/>
        </p:nvSpPr>
        <p:spPr>
          <a:xfrm>
            <a:off x="4410455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Utilisable</a:t>
            </a:r>
          </a:p>
        </p:txBody>
      </p:sp>
      <p:sp>
        <p:nvSpPr>
          <p:cNvPr id="15" name="DSFR-card-contenu"/>
          <p:cNvSpPr txBox="1"/>
          <p:nvPr/>
        </p:nvSpPr>
        <p:spPr>
          <a:xfrm>
            <a:off x="4547615" y="3383280"/>
            <a:ext cx="3176016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Navigation au clavier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Temps suffisant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Pas de clignotement</a:t>
            </a:r>
          </a:p>
        </p:txBody>
      </p:sp>
      <p:sp>
        <p:nvSpPr>
          <p:cNvPr id="17" name="DSFR-box"/>
          <p:cNvSpPr/>
          <p:nvPr/>
        </p:nvSpPr>
        <p:spPr>
          <a:xfrm>
            <a:off x="8253983" y="2240280"/>
            <a:ext cx="3450335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Compréhensible</a:t>
            </a:r>
          </a:p>
        </p:txBody>
      </p:sp>
      <p:sp>
        <p:nvSpPr>
          <p:cNvPr id="20" name="DSFR-card-contenu"/>
          <p:cNvSpPr txBox="1"/>
          <p:nvPr/>
        </p:nvSpPr>
        <p:spPr>
          <a:xfrm>
            <a:off x="8391144" y="3383280"/>
            <a:ext cx="3176016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Langue identifiée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Texte lisible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Prévisibilité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Cadre légal</a:t>
            </a:r>
          </a:p>
        </p:txBody>
      </p:sp>
      <p:sp>
        <p:nvSpPr>
          <p:cNvPr id="8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3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8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accent-decoratif" descr=""/>
          <p:cNvSpPr/>
          <p:nvPr/>
        </p:nvSpPr>
        <p:spPr>
          <a:xfrm>
            <a:off x="4319015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ccent-decoratif" descr=""/>
          <p:cNvSpPr/>
          <p:nvPr/>
        </p:nvSpPr>
        <p:spPr>
          <a:xfrm>
            <a:off x="8162543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État de l’accessibilité dans les administrations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1. Cadre légal | Chiffres clés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6</a:t>
            </a:r>
            <a:endParaRPr lang="fr-FR" dirty="0"/>
          </a:p>
        </p:txBody>
      </p:sp>
      <p:sp>
        <p:nvSpPr>
          <p:cNvPr id="8" name="DSFR-kpi-pave"/>
          <p:cNvSpPr/>
          <p:nvPr/>
        </p:nvSpPr>
        <p:spPr>
          <a:xfrm>
            <a:off x="475488" y="245059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43 %</a:t>
            </a:r>
          </a:p>
        </p:txBody>
      </p:sp>
      <p:sp>
        <p:nvSpPr>
          <p:cNvPr id="9" name="DSFR-kpi-label"/>
          <p:cNvSpPr txBox="1"/>
          <p:nvPr/>
        </p:nvSpPr>
        <p:spPr>
          <a:xfrm>
            <a:off x="475488" y="34107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Taux moyen RGAA (2025)</a:t>
            </a:r>
          </a:p>
        </p:txBody>
      </p:sp>
      <p:sp>
        <p:nvSpPr>
          <p:cNvPr id="10" name="DSFR-kpi-pave"/>
          <p:cNvSpPr/>
          <p:nvPr/>
        </p:nvSpPr>
        <p:spPr>
          <a:xfrm>
            <a:off x="4319015" y="245059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96 %</a:t>
            </a:r>
          </a:p>
        </p:txBody>
      </p:sp>
      <p:sp>
        <p:nvSpPr>
          <p:cNvPr id="11" name="DSFR-kpi-label"/>
          <p:cNvSpPr txBox="1"/>
          <p:nvPr/>
        </p:nvSpPr>
        <p:spPr>
          <a:xfrm>
            <a:off x="4319015" y="34107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Meilleur taux (DGFiP)</a:t>
            </a:r>
          </a:p>
        </p:txBody>
      </p:sp>
      <p:sp>
        <p:nvSpPr>
          <p:cNvPr id="12" name="DSFR-kpi-pave"/>
          <p:cNvSpPr/>
          <p:nvPr/>
        </p:nvSpPr>
        <p:spPr>
          <a:xfrm>
            <a:off x="8162543" y="2450592"/>
            <a:ext cx="3541775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3200" b="1" i="0" lang="fr-FR">
                <a:solidFill>
                  <a:srgbClr val="FFFFFF"/>
                </a:solidFill>
                <a:latin typeface="Marianne"/>
              </a:rPr>
              <a:t>11</a:t>
            </a:r>
          </a:p>
        </p:txBody>
      </p:sp>
      <p:sp>
        <p:nvSpPr>
          <p:cNvPr id="13" name="DSFR-kpi-label"/>
          <p:cNvSpPr txBox="1"/>
          <p:nvPr/>
        </p:nvSpPr>
        <p:spPr>
          <a:xfrm>
            <a:off x="8162543" y="3410712"/>
            <a:ext cx="3541775" cy="41147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 lang="fr-FR">
                <a:solidFill>
                  <a:srgbClr val="161616"/>
                </a:solidFill>
                <a:latin typeface="Marianne"/>
              </a:rPr>
              <a:t>Non-conformités moyennes</a:t>
            </a:r>
          </a:p>
        </p:txBody>
      </p:sp>
      <p:sp>
        <p:nvSpPr>
          <p:cNvPr id="15" name="DSFR-box"/>
          <p:cNvSpPr/>
          <p:nvPr/>
        </p:nvSpPr>
        <p:spPr>
          <a:xfrm>
            <a:off x="548640" y="4096512"/>
            <a:ext cx="11155680" cy="1645920"/>
          </a:xfrm>
          <a:prstGeom prst="rect">
            <a:avLst/>
          </a:prstGeom>
          <a:solidFill>
            <a:srgbClr val="E8E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alert-info-titre"/>
          <p:cNvSpPr txBox="1"/>
          <p:nvPr/>
        </p:nvSpPr>
        <p:spPr>
          <a:xfrm>
            <a:off x="704088" y="4187952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63CB"/>
                </a:solidFill>
                <a:latin typeface="Marianne"/>
              </a:rPr>
              <a:t>À retenir</a:t>
            </a:r>
          </a:p>
        </p:txBody>
      </p:sp>
      <p:sp>
        <p:nvSpPr>
          <p:cNvPr id="17" name="DSFR-alert-info-body"/>
          <p:cNvSpPr txBox="1"/>
          <p:nvPr/>
        </p:nvSpPr>
        <p:spPr>
          <a:xfrm>
            <a:off x="704088" y="4599432"/>
            <a:ext cx="10908792" cy="1051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L’audit doit être réalisé par un tiers qualifié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La déclaration d’accessibilité est obligatoire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plan pluriannuel doit être publié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Cadre légal</a:t>
            </a:r>
          </a:p>
        </p:txBody>
      </p:sp>
      <p:sp>
        <p:nvSpPr>
          <p:cNvPr id="14" name="DSFR-accent-decoratif" descr=""/>
          <p:cNvSpPr/>
          <p:nvPr/>
        </p:nvSpPr>
        <p:spPr>
          <a:xfrm>
            <a:off x="475488" y="4096512"/>
            <a:ext cx="73152" cy="1645920"/>
          </a:xfrm>
          <a:prstGeom prst="rect">
            <a:avLst/>
          </a:prstGeom>
          <a:solidFill>
            <a:srgbClr val="006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Démarche d’audit en 4 étapes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2. Bureautique | Méthodologie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7</a:t>
            </a:r>
            <a:endParaRPr lang="fr-FR" dirty="0"/>
          </a:p>
        </p:txBody>
      </p:sp>
      <p:sp>
        <p:nvSpPr>
          <p:cNvPr id="8" name="DSFR-stepper-pastille-1"/>
          <p:cNvSpPr/>
          <p:nvPr/>
        </p:nvSpPr>
        <p:spPr>
          <a:xfrm>
            <a:off x="1445894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0" name="DSFR-stepper-texte-1"/>
          <p:cNvSpPr txBox="1"/>
          <p:nvPr/>
        </p:nvSpPr>
        <p:spPr>
          <a:xfrm>
            <a:off x="475488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Inventaire des pages et documents</a:t>
            </a:r>
          </a:p>
        </p:txBody>
      </p:sp>
      <p:sp>
        <p:nvSpPr>
          <p:cNvPr id="11" name="DSFR-stepper-pastille-2"/>
          <p:cNvSpPr/>
          <p:nvPr/>
        </p:nvSpPr>
        <p:spPr>
          <a:xfrm>
            <a:off x="4328541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13" name="DSFR-stepper-texte-2"/>
          <p:cNvSpPr txBox="1"/>
          <p:nvPr/>
        </p:nvSpPr>
        <p:spPr>
          <a:xfrm>
            <a:off x="3358134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Tests automatisés (axe-core, Wave)</a:t>
            </a:r>
          </a:p>
        </p:txBody>
      </p:sp>
      <p:sp>
        <p:nvSpPr>
          <p:cNvPr id="14" name="DSFR-stepper-pastille-3"/>
          <p:cNvSpPr/>
          <p:nvPr/>
        </p:nvSpPr>
        <p:spPr>
          <a:xfrm>
            <a:off x="7211186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16" name="DSFR-stepper-texte-3"/>
          <p:cNvSpPr txBox="1"/>
          <p:nvPr/>
        </p:nvSpPr>
        <p:spPr>
          <a:xfrm>
            <a:off x="6240779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Tests manuels (clavier, lecteur d’écran)</a:t>
            </a:r>
          </a:p>
        </p:txBody>
      </p:sp>
      <p:sp>
        <p:nvSpPr>
          <p:cNvPr id="17" name="DSFR-stepper-pastille-4"/>
          <p:cNvSpPr/>
          <p:nvPr/>
        </p:nvSpPr>
        <p:spPr>
          <a:xfrm>
            <a:off x="10093832" y="2450592"/>
            <a:ext cx="640080" cy="64008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8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18" name="DSFR-stepper-texte-4"/>
          <p:cNvSpPr txBox="1"/>
          <p:nvPr/>
        </p:nvSpPr>
        <p:spPr>
          <a:xfrm>
            <a:off x="9123426" y="3182112"/>
            <a:ext cx="2580894" cy="18287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fr-FR">
                <a:solidFill>
                  <a:srgbClr val="161616"/>
                </a:solidFill>
                <a:latin typeface="Marianne"/>
              </a:rPr>
              <a:t>Rédaction du rapport et plan d’action</a:t>
            </a:r>
          </a:p>
        </p:txBody>
      </p:sp>
      <p:sp>
        <p:nvSpPr>
          <p:cNvPr id="20" name="DSFR-box"/>
          <p:cNvSpPr/>
          <p:nvPr/>
        </p:nvSpPr>
        <p:spPr>
          <a:xfrm>
            <a:off x="585216" y="5193792"/>
            <a:ext cx="11119104" cy="82296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highlight"/>
          <p:cNvSpPr txBox="1"/>
          <p:nvPr/>
        </p:nvSpPr>
        <p:spPr>
          <a:xfrm>
            <a:off x="749808" y="5285231"/>
            <a:ext cx="10863072" cy="64008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La durée moyenne d’un audit complet est de 10 à 15 jours ouvrés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Bureautique</a:t>
            </a:r>
          </a:p>
        </p:txBody>
      </p:sp>
      <p:sp>
        <p:nvSpPr>
          <p:cNvPr id="9" name="DSFR-stepper-connecteur-1-decoratif" descr=""/>
          <p:cNvSpPr/>
          <p:nvPr/>
        </p:nvSpPr>
        <p:spPr>
          <a:xfrm>
            <a:off x="2085975" y="2752344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stepper-connecteur-2-decoratif" descr=""/>
          <p:cNvSpPr/>
          <p:nvPr/>
        </p:nvSpPr>
        <p:spPr>
          <a:xfrm>
            <a:off x="4968621" y="2752344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stepper-connecteur-3-decoratif" descr=""/>
          <p:cNvSpPr/>
          <p:nvPr/>
        </p:nvSpPr>
        <p:spPr>
          <a:xfrm>
            <a:off x="7851267" y="2752344"/>
            <a:ext cx="2242565" cy="36576"/>
          </a:xfrm>
          <a:prstGeom prst="rect">
            <a:avLst/>
          </a:prstGeom>
          <a:solidFill>
            <a:srgbClr val="E3E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SFR-accent-decoratif" descr=""/>
          <p:cNvSpPr/>
          <p:nvPr/>
        </p:nvSpPr>
        <p:spPr>
          <a:xfrm>
            <a:off x="475488" y="5193792"/>
            <a:ext cx="109728" cy="82296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Outils d’audit recommandés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Web | Outils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8</a:t>
            </a:r>
            <a:endParaRPr lang="fr-FR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75488" y="2450592"/>
          <a:ext cx="1122882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2943"/>
                <a:gridCol w="3742943"/>
                <a:gridCol w="3742943"/>
              </a:tblGrid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Outil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Usage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200" b="1" i="0" lang="fr-FR">
                          <a:solidFill>
                            <a:srgbClr val="FFFFFF"/>
                          </a:solidFill>
                          <a:latin typeface="Marianne"/>
                        </a:rPr>
                        <a:t>Coût</a:t>
                      </a:r>
                    </a:p>
                  </a:txBody>
                  <a:tcPr marL="91440" marR="91440" marT="45720" marB="45720">
                    <a:solidFill>
                      <a:srgbClr val="000091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axe-core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Tests automatisés navigateur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WAVE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Audit visuel WCAG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Lighthouse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Audit performance et accessibilité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NVDA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Lecteur d’écran Windows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Gratuit</a:t>
                      </a:r>
                    </a:p>
                  </a:txBody>
                  <a:tcPr marL="91440" marR="91440" marT="45720" marB="45720">
                    <a:solidFill>
                      <a:srgbClr val="F5F5FE"/>
                    </a:solidFill>
                  </a:tcPr>
                </a:tc>
              </a:tr>
              <a:tr h="411480"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VoiceOver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Lecteur d’écran macOS/iOS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73152" rIns="73152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00" b="0" i="0" lang="fr-FR">
                          <a:solidFill>
                            <a:srgbClr val="161616"/>
                          </a:solidFill>
                          <a:latin typeface="Marianne"/>
                        </a:rPr>
                        <a:t>Intégré 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DSFR-box"/>
          <p:cNvSpPr/>
          <p:nvPr/>
        </p:nvSpPr>
        <p:spPr>
          <a:xfrm>
            <a:off x="548640" y="5193792"/>
            <a:ext cx="11155680" cy="11887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quote-texte"/>
          <p:cNvSpPr txBox="1"/>
          <p:nvPr/>
        </p:nvSpPr>
        <p:spPr>
          <a:xfrm>
            <a:off x="749808" y="5330952"/>
            <a:ext cx="10863072" cy="640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 lang="fr-FR">
                <a:solidFill>
                  <a:srgbClr val="161616"/>
                </a:solidFill>
                <a:latin typeface="Marianne"/>
              </a:rPr>
              <a:t>“ L’accessibilité n’est pas un coût, c’est un investissement dans la qualité du service public. ”</a:t>
            </a:r>
          </a:p>
        </p:txBody>
      </p:sp>
      <p:sp>
        <p:nvSpPr>
          <p:cNvPr id="12" name="DSFR-quote-auteur"/>
          <p:cNvSpPr txBox="1"/>
          <p:nvPr/>
        </p:nvSpPr>
        <p:spPr>
          <a:xfrm>
            <a:off x="749808" y="5925312"/>
            <a:ext cx="1086307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lang="fr-FR">
                <a:solidFill>
                  <a:srgbClr val="000091"/>
                </a:solidFill>
                <a:latin typeface="Marianne"/>
              </a:rPr>
              <a:t>— Circulaire DINUM 2024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Web</a:t>
            </a:r>
          </a:p>
        </p:txBody>
      </p:sp>
      <p:sp>
        <p:nvSpPr>
          <p:cNvPr id="9" name="DSFR-accent-decoratif" descr=""/>
          <p:cNvSpPr/>
          <p:nvPr/>
        </p:nvSpPr>
        <p:spPr>
          <a:xfrm>
            <a:off x="475488" y="5193792"/>
            <a:ext cx="73152" cy="11887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Bonnes pratiques et pièges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3. Web | Récapitulatif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9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2450592"/>
            <a:ext cx="5390388" cy="32004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SFR-callout-titre"/>
          <p:cNvSpPr txBox="1"/>
          <p:nvPr/>
        </p:nvSpPr>
        <p:spPr>
          <a:xfrm>
            <a:off x="704088" y="2542032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Bonnes pratiques</a:t>
            </a:r>
          </a:p>
        </p:txBody>
      </p:sp>
      <p:sp>
        <p:nvSpPr>
          <p:cNvPr id="11" name="DSFR-callout-body"/>
          <p:cNvSpPr txBox="1"/>
          <p:nvPr/>
        </p:nvSpPr>
        <p:spPr>
          <a:xfrm>
            <a:off x="704088" y="2953512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Structurer le document avec des styles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Ajouter un alt text à chaque image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Vérifier le contraste (≥ 4.5:1)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Tester au clavier avant livraison</a:t>
            </a:r>
          </a:p>
        </p:txBody>
      </p:sp>
      <p:sp>
        <p:nvSpPr>
          <p:cNvPr id="13" name="DSFR-box"/>
          <p:cNvSpPr/>
          <p:nvPr/>
        </p:nvSpPr>
        <p:spPr>
          <a:xfrm>
            <a:off x="6313931" y="2450592"/>
            <a:ext cx="5390388" cy="3200400"/>
          </a:xfrm>
          <a:prstGeom prst="rect">
            <a:avLst/>
          </a:prstGeom>
          <a:solidFill>
            <a:srgbClr val="FE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SFR-alert-warning-titre"/>
          <p:cNvSpPr txBox="1"/>
          <p:nvPr/>
        </p:nvSpPr>
        <p:spPr>
          <a:xfrm>
            <a:off x="6469379" y="2542032"/>
            <a:ext cx="5143500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B34E00"/>
                </a:solidFill>
                <a:latin typeface="Marianne"/>
              </a:rPr>
              <a:t>Pièges à éviter</a:t>
            </a:r>
          </a:p>
        </p:txBody>
      </p:sp>
      <p:sp>
        <p:nvSpPr>
          <p:cNvPr id="15" name="DSFR-alert-warning-body"/>
          <p:cNvSpPr txBox="1"/>
          <p:nvPr/>
        </p:nvSpPr>
        <p:spPr>
          <a:xfrm>
            <a:off x="6469379" y="2953512"/>
            <a:ext cx="5143500" cy="2606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tableau pour la mise en page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capture d’écran de texte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de justification (alignement gauche)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Pas d’acronyme sans explicitation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Récapitulatif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450592"/>
            <a:ext cx="73152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SFR-accent-decoratif" descr=""/>
          <p:cNvSpPr/>
          <p:nvPr/>
        </p:nvSpPr>
        <p:spPr>
          <a:xfrm>
            <a:off x="6240779" y="2450592"/>
            <a:ext cx="73152" cy="3200400"/>
          </a:xfrm>
          <a:prstGeom prst="rect">
            <a:avLst/>
          </a:prstGeom>
          <a:solidFill>
            <a:srgbClr val="B34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10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2. Créer des documents bureautiques accessibles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2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11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3. Pratiquer les évaluations rapides d’accessibilité web (Easy Checks)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3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12</a:t>
            </a:r>
            <a:endParaRPr lang="fr-FR" dirty="0"/>
          </a:p>
        </p:txBody>
      </p:sp>
      <p:sp>
        <p:nvSpPr>
          <p:cNvPr id="7" name="DSFR-box"/>
          <p:cNvSpPr/>
          <p:nvPr/>
        </p:nvSpPr>
        <p:spPr>
          <a:xfrm>
            <a:off x="621792" y="2743200"/>
            <a:ext cx="11082528" cy="16459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SFR-section-titre"/>
          <p:cNvSpPr txBox="1"/>
          <p:nvPr/>
        </p:nvSpPr>
        <p:spPr>
          <a:xfrm>
            <a:off x="886968" y="2880360"/>
            <a:ext cx="10680192" cy="13716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 lang="fr-FR">
                <a:solidFill>
                  <a:srgbClr val="000091"/>
                </a:solidFill>
                <a:latin typeface="Marianne"/>
              </a:rPr>
              <a:t>4. Améliorer l’accessibilité numérique des publications sur les réseaux sociaux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Partie 4</a:t>
            </a:r>
          </a:p>
        </p:txBody>
      </p:sp>
      <p:sp>
        <p:nvSpPr>
          <p:cNvPr id="6" name="DSFR-accent-decoratif" descr=""/>
          <p:cNvSpPr/>
          <p:nvPr/>
        </p:nvSpPr>
        <p:spPr>
          <a:xfrm>
            <a:off x="475488" y="2743200"/>
            <a:ext cx="146304" cy="16459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Layout une carte — message central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1 carte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13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11137392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fondamental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10863072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information doit être perceptible,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utilisable, compréhensible et robuste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(acronyme POUR de WCAG 2.2).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Layout deux cartes — comparer ou opposer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2 cartes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14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5372100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automatique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Rapide (quelques minutes)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30 % des critères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Outils : axe-core, WAVE, Lighthouse</a:t>
            </a:r>
          </a:p>
        </p:txBody>
      </p:sp>
      <p:sp>
        <p:nvSpPr>
          <p:cNvPr id="14" name="DSFR-box"/>
          <p:cNvSpPr/>
          <p:nvPr/>
        </p:nvSpPr>
        <p:spPr>
          <a:xfrm>
            <a:off x="6332219" y="2240280"/>
            <a:ext cx="5372100" cy="32004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manuel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383280"/>
            <a:ext cx="5097779" cy="1920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Long (journées à semaines)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100 % des critères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Tests clavier, lecteur d’écran, contraste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240280"/>
            <a:ext cx="91440" cy="32004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Layout trois cartes — triptyque ou séquence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3 cartes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15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3450335" cy="27432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Analyser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3176016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Identifier les points de blocage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Prioriser par impact utilisateur</a:t>
            </a:r>
          </a:p>
        </p:txBody>
      </p:sp>
      <p:sp>
        <p:nvSpPr>
          <p:cNvPr id="14" name="DSFR-box"/>
          <p:cNvSpPr/>
          <p:nvPr/>
        </p:nvSpPr>
        <p:spPr>
          <a:xfrm>
            <a:off x="4410455" y="2240280"/>
            <a:ext cx="3450335" cy="27432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Corriger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383280"/>
            <a:ext cx="3176016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Appliquer les remédiations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Documenter les écarts restants</a:t>
            </a:r>
          </a:p>
        </p:txBody>
      </p:sp>
      <p:sp>
        <p:nvSpPr>
          <p:cNvPr id="19" name="DSFR-box"/>
          <p:cNvSpPr/>
          <p:nvPr/>
        </p:nvSpPr>
        <p:spPr>
          <a:xfrm>
            <a:off x="8253983" y="2240280"/>
            <a:ext cx="3450335" cy="27432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Vérifier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383280"/>
            <a:ext cx="3176016" cy="14630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Tester sur le terrain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Mesurer la progression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240280"/>
            <a:ext cx="91440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240280"/>
            <a:ext cx="91440" cy="27432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Une carte + callout — accroche et renforcement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1 carte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16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11137392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10863072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Principe fondamental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10863072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Une information doit être perceptible,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utilisable, compréhensible et robuste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(acronyme POUR de WCAG 2.2).</a:t>
            </a:r>
          </a:p>
        </p:txBody>
      </p:sp>
      <p:sp>
        <p:nvSpPr>
          <p:cNvPr id="14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SFR-callout-titre"/>
          <p:cNvSpPr txBox="1"/>
          <p:nvPr/>
        </p:nvSpPr>
        <p:spPr>
          <a:xfrm>
            <a:off x="704088" y="4709160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Point d’attention</a:t>
            </a:r>
          </a:p>
        </p:txBody>
      </p:sp>
      <p:sp>
        <p:nvSpPr>
          <p:cNvPr id="16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Ces 4 principes structurent l’ensemble des 50 critères RGAA 4.1.2.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retenir facilite la lecture du référentiel.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Deux cartes + callout — comparaison et synthèse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2 cartes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17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5372100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automatique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5097779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Rapide (quelques minutes)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30 % des critères</a:t>
            </a:r>
          </a:p>
        </p:txBody>
      </p:sp>
      <p:sp>
        <p:nvSpPr>
          <p:cNvPr id="14" name="DSFR-box"/>
          <p:cNvSpPr/>
          <p:nvPr/>
        </p:nvSpPr>
        <p:spPr>
          <a:xfrm>
            <a:off x="6332219" y="2240280"/>
            <a:ext cx="5372100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92608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Audit manuel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3383280"/>
            <a:ext cx="5097779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Long (journées à semaines)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Couvre 100 % des critères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SFR-callout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À retenir</a:t>
            </a:r>
          </a:p>
        </p:txBody>
      </p:sp>
      <p:sp>
        <p:nvSpPr>
          <p:cNvPr id="21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Les deux approches sont complémentaires :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automatique pour détecter, manuel pour qualifier.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Trois cartes + callout — processus et rappel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Démo | 3 cartes + callout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18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66928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Analyser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3383280"/>
            <a:ext cx="3176016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Identifier les blocages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Prioriser par impact</a:t>
            </a:r>
          </a:p>
        </p:txBody>
      </p:sp>
      <p:sp>
        <p:nvSpPr>
          <p:cNvPr id="14" name="DSFR-box"/>
          <p:cNvSpPr/>
          <p:nvPr/>
        </p:nvSpPr>
        <p:spPr>
          <a:xfrm>
            <a:off x="4410455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4547615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Corriger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4547615" y="3383280"/>
            <a:ext cx="3176016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Appliquer les remédiations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Documenter les écarts</a:t>
            </a:r>
          </a:p>
        </p:txBody>
      </p:sp>
      <p:sp>
        <p:nvSpPr>
          <p:cNvPr id="19" name="DSFR-box"/>
          <p:cNvSpPr/>
          <p:nvPr/>
        </p:nvSpPr>
        <p:spPr>
          <a:xfrm>
            <a:off x="8253983" y="2240280"/>
            <a:ext cx="3450335" cy="210312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8391144" y="2926080"/>
            <a:ext cx="3176016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Vérifier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8391144" y="3383280"/>
            <a:ext cx="3176016" cy="8229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Tester sur le terrain</a:t>
            </a:r>
          </a:p>
          <a:p>
            <a:pPr algn="l">
              <a:lnSpc>
                <a:spcPct val="125000"/>
              </a:lnSpc>
            </a:pPr>
            <a:r>
              <a:rPr sz="1100" lang="fr-FR">
                <a:solidFill>
                  <a:srgbClr val="161616"/>
                </a:solidFill>
                <a:latin typeface="Marianne"/>
              </a:rPr>
              <a:t>• Mesurer la progression</a:t>
            </a:r>
          </a:p>
        </p:txBody>
      </p:sp>
      <p:sp>
        <p:nvSpPr>
          <p:cNvPr id="24" name="DSFR-box"/>
          <p:cNvSpPr/>
          <p:nvPr/>
        </p:nvSpPr>
        <p:spPr>
          <a:xfrm>
            <a:off x="548640" y="4617720"/>
            <a:ext cx="11155680" cy="137160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SFR-callout-titre"/>
          <p:cNvSpPr txBox="1"/>
          <p:nvPr/>
        </p:nvSpPr>
        <p:spPr>
          <a:xfrm>
            <a:off x="704088" y="4709159"/>
            <a:ext cx="10908792" cy="36576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Règle d’or</a:t>
            </a:r>
          </a:p>
        </p:txBody>
      </p:sp>
      <p:sp>
        <p:nvSpPr>
          <p:cNvPr id="26" name="DSFR-callout-body"/>
          <p:cNvSpPr txBox="1"/>
          <p:nvPr/>
        </p:nvSpPr>
        <p:spPr>
          <a:xfrm>
            <a:off x="704088" y="5120640"/>
            <a:ext cx="10908792" cy="7772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Un cycle Analyser-Corriger-Vérifier dure 2 à 3 semaines.</a:t>
            </a:r>
          </a:p>
          <a:p>
            <a:pPr algn="l">
              <a:lnSpc>
                <a:spcPct val="125000"/>
              </a:lnSpc>
            </a:pPr>
            <a:r>
              <a:rPr sz="1200" lang="fr-FR">
                <a:solidFill>
                  <a:srgbClr val="161616"/>
                </a:solidFill>
                <a:latin typeface="Marianne"/>
              </a:rPr>
              <a:t>• Le répéter tant qu’il reste des non-conformités bloquantes.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Démo composants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4547615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8391144" y="237744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4319015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8162543" y="2240280"/>
            <a:ext cx="91440" cy="2103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475488" y="4617720"/>
            <a:ext cx="73152" cy="137160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IGPDE-DSFR — démonstration</dc:title>
  <dc:subject>Démonstration des composants DSFR sur template IGPDE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