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L'accessibilité numérique pour la bureautique et le web</a:t>
            </a:r>
          </a:p>
          <a:p/>
          <a:p>
            <a:r>
              <a:t>Formation 102846 | Bureautique et web</a:t>
            </a:r>
          </a:p>
          <a:p/>
          <a:p>
            <a:r>
              <a:t>Lire le discours oral</a:t>
            </a:r>
          </a:p>
          <a:p/>
          <a:p>
            <a:r>
              <a:t>Slide de couverture - accueil des stagiaires et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Objectifs pédagogiques</a:t>
            </a:r>
          </a:p>
          <a:p/>
          <a:p>
            <a:r>
              <a:t>- Expliquer les enjeux de l'accessibilité numérique et son cadre légal dans le contexte de la communication</a:t>
            </a:r>
          </a:p>
          <a:p>
            <a:r>
              <a:t>- Identifier et évaluer les principales erreurs d'accessibilité</a:t>
            </a:r>
          </a:p>
          <a:p>
            <a:r>
              <a:t>- Rendre des contenus numériques accessibles</a:t>
            </a:r>
          </a:p>
          <a:p/>
          <a:p>
            <a:r>
              <a:t>Description de l'affiche : Affiche du Service d'information du Gouvernement pour les 20 ans de la loi handicap. Un ordinateur à l'écran inversé illustre un outil inaccessible. L'affiche invite les agents publics à utiliser les outils disponibles sur accessibilite.gouv.fr.</a:t>
            </a:r>
          </a:p>
          <a:p/>
          <a:p>
            <a:r>
              <a:t>Scannez-moi !</a:t>
            </a:r>
          </a:p>
          <a:p/>
          <a:p>
            <a:r>
              <a:t>Lien : https://www.info.gouv.fr/accessibilite</a:t>
            </a:r>
          </a:p>
          <a:p/>
          <a:p>
            <a:r>
              <a:t>Lire le discours oral</a:t>
            </a:r>
          </a:p>
          <a:p/>
          <a:p>
            <a:r>
              <a:t>Objectifs repris mot pour mot de la fiche catalogue 102846. Présenter les 3 objectifs, insister sur le caractère opérationnel : cette formation débouche sur des gestes concrets, pas seulement de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Programme de la journée</a:t>
            </a:r>
          </a:p>
          <a:p/>
          <a:p>
            <a:r>
              <a:t>1.  Accessibilité et cadre légal</a:t>
            </a:r>
          </a:p>
          <a:p>
            <a:r>
              <a:t>    - Enjeux et obligations des acteurs publics</a:t>
            </a:r>
          </a:p>
          <a:p>
            <a:r>
              <a:t>    - Déclaration d'accessibilité</a:t>
            </a:r>
          </a:p>
          <a:p>
            <a:r>
              <a:t>2.  Bureautique accessible</a:t>
            </a:r>
          </a:p>
          <a:p>
            <a:r>
              <a:t>    - Documents Word (LibreOffice)</a:t>
            </a:r>
          </a:p>
          <a:p>
            <a:r>
              <a:t>    - Export PDF accessible</a:t>
            </a:r>
          </a:p>
          <a:p>
            <a:r>
              <a:t>3.  Points de contrôle rapides W3C</a:t>
            </a:r>
          </a:p>
          <a:p>
            <a:r>
              <a:t>    - 13 vérifications rapides W3C WAI</a:t>
            </a:r>
          </a:p>
          <a:p>
            <a:r>
              <a:t>    - Démonstration et exercice pratique</a:t>
            </a:r>
          </a:p>
          <a:p>
            <a:r>
              <a:t>4.  Réseaux sociaux</a:t>
            </a:r>
          </a:p>
          <a:p>
            <a:r>
              <a:t>    - Enjeux et obligations</a:t>
            </a:r>
          </a:p>
          <a:p>
            <a:r>
              <a:t>    - Alt text, hashtags, émojis</a:t>
            </a:r>
          </a:p>
          <a:p/>
          <a:p>
            <a:r>
              <a:t>Lire le discours oral</a:t>
            </a:r>
          </a:p>
          <a:p/>
          <a:p>
            <a:r>
              <a:t>Présenter les 4 modules, indiquer les horaires approximatifs. Signaler que chaque module se termine par un geste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Bertrand Matge</a:t>
            </a:r>
          </a:p>
          <a:p/>
          <a:p>
            <a:r>
              <a:t>Responsable pôle support web - Mission Ingénierie du Web, SG-SNUM</a:t>
            </a:r>
          </a:p>
          <a:p/>
          <a:p>
            <a:r>
              <a:t>Alternative de la photographie : Photo Bertrand Matge</a:t>
            </a:r>
          </a:p>
          <a:p/>
          <a:p>
            <a:r>
              <a:t>- Formateur Opquast certifié, référent Assurance Qualité Web</a:t>
            </a:r>
          </a:p>
          <a:p>
            <a:r>
              <a:t>- Forme et sensibilise à l'accessibilité depuis plusieurs années</a:t>
            </a:r>
          </a:p>
          <a:p>
            <a:r>
              <a:t>- Passionné par la conception inclusive et l'expérience utilisateur</a:t>
            </a:r>
          </a:p>
          <a:p>
            <a:r>
              <a:t>- Formé à l'audit d'accessibilité numérique</a:t>
            </a:r>
          </a:p>
          <a:p>
            <a:r>
              <a:t>- Email : bertrand.matge@finances.gouv.fr</a:t>
            </a:r>
          </a:p>
          <a:p/>
          <a:p>
            <a:r>
              <a:t>Lire le discours oral</a:t>
            </a:r>
          </a:p>
          <a:p/>
          <a:p>
            <a:r>
              <a:t>Présentation de Bertrand : parcours SIRCOM, Opquast, sensibilisation 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Alexandra Guiderdoni</a:t>
            </a:r>
          </a:p>
          <a:p/>
          <a:p>
            <a:r>
              <a:t>Chef de projet - Mission Ingénierie du Web, SG-SNUM</a:t>
            </a:r>
          </a:p>
          <a:p/>
          <a:p>
            <a:r>
              <a:t>Alternative de la photographie : Photo Alexandra Guiderdoni</a:t>
            </a:r>
          </a:p>
          <a:p/>
          <a:p>
            <a:r>
              <a:t>- Spécialisée dans les technologies web et l'accessibilité numérique</a:t>
            </a:r>
          </a:p>
          <a:p>
            <a:r>
              <a:t>- Expérience : Ministère des affaires étrangères, ESN</a:t>
            </a:r>
          </a:p>
          <a:p>
            <a:r>
              <a:t>- DU-RAN (diplôme universitaire référent accessibilité numérique), 1re session 2024</a:t>
            </a:r>
          </a:p>
          <a:p>
            <a:r>
              <a:t>- Formée à l'audit d'accessibilité numérique RGAA</a:t>
            </a:r>
          </a:p>
          <a:p>
            <a:r>
              <a:t>- Formatrice et Référente en Assurance Qualité pour le Web - Opquast</a:t>
            </a:r>
          </a:p>
          <a:p>
            <a:r>
              <a:t>- Email : alexandra.guiderdoni@finances.gouv.fr</a:t>
            </a:r>
          </a:p>
          <a:p/>
          <a:p>
            <a:r>
              <a:t>Lire le discours oral</a:t>
            </a:r>
          </a:p>
          <a:p/>
          <a:p>
            <a:r>
              <a:t>Présentation d'Alexandra : parcours, spécialisation accessibilité, DU-RAN.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Présentez-vous</a:t>
            </a:r>
          </a:p>
          <a:p/>
          <a:p>
            <a:r>
              <a:t>Qui êtes-vous ?</a:t>
            </a:r>
          </a:p>
          <a:p/>
          <a:p>
            <a:r>
              <a:t>Bonjour, je m'appelle [prénom]</a:t>
            </a:r>
          </a:p>
          <a:p/>
          <a:p>
            <a:r>
              <a:t>Je suis [métier / fonction]</a:t>
            </a:r>
          </a:p>
          <a:p/>
          <a:p>
            <a:r>
              <a:t>chez [direction / service]</a:t>
            </a:r>
          </a:p>
          <a:p/>
          <a:p>
            <a:r>
              <a:t>depuis [durée]</a:t>
            </a:r>
          </a:p>
          <a:p/>
          <a:p>
            <a:r>
              <a:t>Mon rapport à l'accessibilité</a:t>
            </a:r>
          </a:p>
          <a:p/>
          <a:p>
            <a:r>
              <a:t>Quand j'entends « accessibilité numérique », je pense à [premier mot]</a:t>
            </a:r>
          </a:p>
          <a:p/>
          <a:p>
            <a:r>
              <a:t>Je me situe plutôt :</a:t>
            </a:r>
          </a:p>
          <a:p/>
          <a:p>
            <a:r>
              <a:t>- ☐ Complet débutant</a:t>
            </a:r>
          </a:p>
          <a:p>
            <a:r>
              <a:t>- ☐ J'en ai entendu parler</a:t>
            </a:r>
          </a:p>
          <a:p>
            <a:r>
              <a:t>- ☐ J'ai déjà appliqué quelques règles</a:t>
            </a:r>
          </a:p>
          <a:p/>
          <a:p>
            <a:r>
              <a:t>Ce que j'attends</a:t>
            </a:r>
          </a:p>
          <a:p/>
          <a:p>
            <a:r>
              <a:t>Je produis principalement [type de contenu]</a:t>
            </a:r>
          </a:p>
          <a:p/>
          <a:p>
            <a:r>
              <a:t>Pour un usage :</a:t>
            </a:r>
          </a:p>
          <a:p/>
          <a:p>
            <a:r>
              <a:t>- ☐ Interne</a:t>
            </a:r>
          </a:p>
          <a:p>
            <a:r>
              <a:t>- ☐ Grand public</a:t>
            </a:r>
          </a:p>
          <a:p/>
          <a:p>
            <a:r>
              <a:t>Ce que j'espère retirer :</a:t>
            </a:r>
          </a:p>
          <a:p/>
          <a:p>
            <a:r>
              <a:t>J'aimerais [objectif personnel]</a:t>
            </a:r>
          </a:p>
          <a:p/>
          <a:p>
            <a:r>
              <a:t>Lire le discours oral</a:t>
            </a:r>
          </a:p>
          <a:p/>
          <a:p>
            <a:r>
              <a:t>Chaque stagiaire suit la grille à voix haute - 2 minutes maxi par personne. Colonne 1 : ancre les métiers présents dans la salle (utile pour choisir les exemples). Colonne 2 : révèle le niveau réel du groupe - adapter le rythme en conséquence. Colonne 3 : noter les attentes au tableau, y revenir en clôture pour montrer qu'elles ont été traitées.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Organisation des activités</a:t>
            </a:r>
          </a:p>
          <a:p/>
          <a:p>
            <a:r>
              <a:t>Activité idées reçues</a:t>
            </a:r>
          </a:p>
          <a:p/>
          <a:p>
            <a:r>
              <a:t>- Mettez-vous par deux et piochez une carte idée reçue</a:t>
            </a:r>
          </a:p>
          <a:p>
            <a:r>
              <a:t>- Présentez-vous et échangez sur votre quotidien</a:t>
            </a:r>
          </a:p>
          <a:p>
            <a:r>
              <a:t>- Confrontez vos cartes : qu'en pensez-vous ?</a:t>
            </a:r>
          </a:p>
          <a:p>
            <a:r>
              <a:t>- Présentez vos réflexions au groupe - débat ouvert</a:t>
            </a:r>
          </a:p>
          <a:p/>
          <a:p>
            <a:r>
              <a:t>Pour les ateliers Word et Web</a:t>
            </a:r>
          </a:p>
          <a:p/>
          <a:p>
            <a:r>
              <a:t>- N'hésitez pas à travailler en binôme</a:t>
            </a:r>
          </a:p>
          <a:p>
            <a:r>
              <a:t>- Deux regards repèrent ce qu'un seul ne voit pas</a:t>
            </a:r>
          </a:p>
          <a:p>
            <a:r>
              <a:t>- Expliquer à quelqu'un consolide l'apprentissage</a:t>
            </a:r>
          </a:p>
          <a:p/>
          <a:p>
            <a:r>
              <a:t>Mise en avant</a:t>
            </a:r>
          </a:p>
          <a:p/>
          <a:p>
            <a:r>
              <a:t>Première étape : trouvez votre binôme et piochez votre carte !</a:t>
            </a:r>
          </a:p>
          <a:p/>
          <a:p>
            <a:r>
              <a:t>Lire le discours oral</a:t>
            </a:r>
          </a:p>
          <a:p/>
          <a:p>
            <a:r>
              <a:t>Constituer les binômes en mélangeant les directions si possible - éviter que deux personnes du même bureau soient ensemble (échanges plus riches entre services différents). Si nombre impair : un trinôme. Chaque binôme pioche une carte idée reçue puis prend 2-3 minutes pour se présenter et échanger sur leur quotidien. Ensuite ils confrontent leurs cartes et préparent une courte restitution au groupe. Lancer le débat ouvert après chaque présentation - laisser circuler la parole. Les binômes ne sont pas imposés pour les ateliers Word/Web mais encouragés : insister sur le bénéfice mutuel (relecture croisée, explication = ancrage).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Ensemble, faisons tomber les préjugés !</a:t>
            </a:r>
          </a:p>
          <a:p/>
          <a:p>
            <a:r>
              <a:t>Accroche</a:t>
            </a:r>
          </a:p>
          <a:p/>
          <a:p>
            <a:r>
              <a:t>L'accessibilité numérique, ça fait peur ... mais souvent pour de mauvaises raisons.</a:t>
            </a:r>
          </a:p>
          <a:p/>
          <a:p>
            <a:r>
              <a:t>Activité : vrai ou faux ?</a:t>
            </a:r>
          </a:p>
          <a:p/>
          <a:p>
            <a:r>
              <a:t>- En binôme, confrontez vos cartes : vrai ou faux ?</a:t>
            </a:r>
          </a:p>
          <a:p>
            <a:r>
              <a:t>- Échangez vos arguments, préparez votre position</a:t>
            </a:r>
          </a:p>
          <a:p>
            <a:r>
              <a:t>- Chaque binôme présente sa carte au groupe - débat ouvert</a:t>
            </a:r>
          </a:p>
          <a:p/>
          <a:p>
            <a:r>
              <a:t>Lire le discours oral</a:t>
            </a:r>
          </a:p>
          <a:p/>
          <a:p>
            <a:r>
              <a:t>Les cartes ont été piochées au moment de la constitution des binômes. Laisser 2-3 minutes aux binômes pour discuter entre eux de leurs cartes. Puis chaque binôme présente sa carte et dit ce qu'il en pense - le reste du groupe réagit librement. Ne pas corriger immédiatement - laisser le débat s'installer avant d'afficher la slide de décryptage. Objectif : casser les freins avant même de commencer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1 / 6</a:t>
            </a:r>
          </a:p>
          <a:p/>
          <a:p>
            <a:r>
              <a:t>Texte visible des cartes</a:t>
            </a:r>
          </a:p>
          <a:p/>
          <a:p>
            <a:r>
              <a:t>Recto</a:t>
            </a:r>
          </a:p>
          <a:p/>
          <a:p>
            <a:r>
              <a:t>Accessibilité numérique</a:t>
            </a:r>
          </a:p>
          <a:p/>
          <a:p>
            <a:r>
              <a:t>Cela ne concerne qu’une minorité de personnes 🤨</a:t>
            </a:r>
          </a:p>
          <a:p/>
          <a:p>
            <a:r>
              <a:t>Idée reçue !</a:t>
            </a:r>
          </a:p>
          <a:p/>
          <a:p>
            <a:r>
              <a:t>Verso</a:t>
            </a:r>
          </a:p>
          <a:p/>
          <a:p>
            <a:r>
              <a:t>L'OMS (Organisation Mondiale de la Santé) estime que plus d'un milliard de personnes dans le monde vivent avec une forme de handicap significative.</a:t>
            </a:r>
          </a:p>
          <a:p/>
          <a:p>
            <a:r>
              <a:t>Soit environ 15 % de la population mondiale (1 personne sur 6).</a:t>
            </a:r>
          </a:p>
          <a:p/>
          <a:p>
            <a:r>
              <a:t>Décryptage complet : ideance.net/blog/4602/idees-recues-a11y (https://ideance.net/blog/4602/idees-recues-a11y)</a:t>
            </a:r>
          </a:p>
          <a:p/>
          <a:p>
            <a:r>
              <a:t>ideance</a:t>
            </a:r>
          </a:p>
          <a:p/>
          <a:p>
            <a:r>
              <a:t>Contenu exact du PPTX</a:t>
            </a:r>
          </a:p>
          <a:p/>
          <a:p>
            <a:r>
              <a:t>Idée reçue</a:t>
            </a:r>
          </a:p>
          <a:p/>
          <a:p>
            <a:r>
              <a:t>« Ça ne concerne qu'une minorité de personnes »</a:t>
            </a:r>
          </a:p>
          <a:p/>
          <a:p>
            <a:r>
              <a:t>Décryptage</a:t>
            </a:r>
          </a:p>
          <a:p/>
          <a:p>
            <a:r>
              <a:t>- 1 milliard+ de personnes dans le monde vivent avec un handicap (OMS)</a:t>
            </a:r>
          </a:p>
          <a:p>
            <a:r>
              <a:t>- Soit 15 % de la population mondiale - 1 personne sur 6</a:t>
            </a:r>
          </a:p>
          <a:p>
            <a:r>
              <a:t>- En France : 12 millions de personnes en situation de handicap</a:t>
            </a:r>
          </a:p>
          <a:p>
            <a:r>
              <a:t>- Et chacun sera concerné un jour : âge, accident, maladie temporaire</a:t>
            </a:r>
          </a:p>
          <a:p/>
          <a:p>
            <a:r>
              <a:t>Ressource</a:t>
            </a:r>
          </a:p>
          <a:p/>
          <a:p>
            <a:r>
              <a:t>Scannez-moi !</a:t>
            </a:r>
          </a:p>
          <a:p/>
          <a:p>
            <a:r>
              <a:t>https://ideance.net/blog/4602/idees-recues-a11y</a:t>
            </a:r>
          </a:p>
          <a:p/>
          <a:p>
            <a:r>
              <a:t>Lire le discours oral</a:t>
            </a:r>
          </a:p>
          <a:p/>
          <a:p>
            <a:r>
              <a:t>Laisser le groupe répondre vrai/faux avant d'afficher le décryptage. Insister : le handicap permanent n'est qu'une fraction. Le handicap temporaire (bras cassé, conjonctivite) et situationnel (plein soleil sur téléphone) touchent tout le monde. Analogie : l'ascenseur est utile aux personnes en fauteuil, aux parents avec poussette, aux livreurs les mains prises. L'accessibilité profite à tous.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2 / 6</a:t>
            </a:r>
          </a:p>
          <a:p/>
          <a:p>
            <a:r>
              <a:t>Texte visible des cartes</a:t>
            </a:r>
          </a:p>
          <a:p/>
          <a:p>
            <a:r>
              <a:t>Recto</a:t>
            </a:r>
          </a:p>
          <a:p/>
          <a:p>
            <a:r>
              <a:t>Accessibilité numérique</a:t>
            </a:r>
          </a:p>
          <a:p/>
          <a:p>
            <a:r>
              <a:t>La créativité et l’UX seront dégradées 🫣</a:t>
            </a:r>
          </a:p>
          <a:p/>
          <a:p>
            <a:r>
              <a:t>Idée reçue !</a:t>
            </a:r>
          </a:p>
          <a:p/>
          <a:p>
            <a:r>
              <a:t>Verso</a:t>
            </a:r>
          </a:p>
          <a:p/>
          <a:p>
            <a:r>
              <a:t>L'accessibilité numérique est parfois ressentie comme une contrainte fonctionnelle et esthétique.</a:t>
            </a:r>
          </a:p>
          <a:p/>
          <a:p>
            <a:r>
              <a:t>Pourtant, en réalité, l'accessibilité numérique n'est aucunement synonyme de design archaïque, austère, minimaliste, sans inspiration…</a:t>
            </a:r>
          </a:p>
          <a:p/>
          <a:p>
            <a:r>
              <a:t>Décryptage complet : ideance.net/blog/4602/idees-recues-a11y (https://ideance.net/blog/4602/idees-recues-a11y)</a:t>
            </a:r>
          </a:p>
          <a:p/>
          <a:p>
            <a:r>
              <a:t>ideance</a:t>
            </a:r>
          </a:p>
          <a:p/>
          <a:p>
            <a:r>
              <a:t>Contenu exact du PPTX</a:t>
            </a:r>
          </a:p>
          <a:p/>
          <a:p>
            <a:r>
              <a:t>Idée reçue</a:t>
            </a:r>
          </a:p>
          <a:p/>
          <a:p>
            <a:r>
              <a:t>« La créativité et l'UX seront dégradées »</a:t>
            </a:r>
          </a:p>
          <a:p/>
          <a:p>
            <a:r>
              <a:t>Décryptage</a:t>
            </a:r>
          </a:p>
          <a:p/>
          <a:p>
            <a:r>
              <a:t>- L'accessibilité n'impose pas un design archaïque, austère ou sans inspiration</a:t>
            </a:r>
          </a:p>
          <a:p>
            <a:r>
              <a:t>- Les contraintes sont des leviers de créativité, pas des freins</a:t>
            </a:r>
          </a:p>
          <a:p>
            <a:r>
              <a:t>- Les interfaces les plus accessibles sont souvent les plus claires et élégantes</a:t>
            </a:r>
          </a:p>
          <a:p>
            <a:r>
              <a:t>- Exemple : le DSFR (Design System de l'État) est à la fois accessible et soigné</a:t>
            </a:r>
          </a:p>
          <a:p/>
          <a:p>
            <a:r>
              <a:t>Ressource</a:t>
            </a:r>
          </a:p>
          <a:p/>
          <a:p>
            <a:r>
              <a:t>Scannez-moi !</a:t>
            </a:r>
          </a:p>
          <a:p/>
          <a:p>
            <a:r>
              <a:t>https://ideance.net/blog/4602/idees-recues-a11y</a:t>
            </a:r>
          </a:p>
          <a:p/>
          <a:p>
            <a:r>
              <a:t>Lire le discours oral</a:t>
            </a:r>
          </a:p>
          <a:p/>
          <a:p>
            <a:r>
              <a:t>Montrer un contre-exemple si possible : un site très accessible peut être très design. La contrainte de contraste 4,5:1 produit des palettes plus sereines, pas plus laides. Analogie : les normes de sécurité incendie n'ont pas empêché d'architecturer de beaux bâtiments.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3 / 6</a:t>
            </a:r>
          </a:p>
          <a:p/>
          <a:p>
            <a:r>
              <a:t>Texte visible des cartes</a:t>
            </a:r>
          </a:p>
          <a:p/>
          <a:p>
            <a:r>
              <a:t>Recto</a:t>
            </a:r>
          </a:p>
          <a:p/>
          <a:p>
            <a:r>
              <a:t>Accessibilité numérique</a:t>
            </a:r>
          </a:p>
          <a:p/>
          <a:p>
            <a:r>
              <a:t>C’est juste du contraste et des images décrites 😮‍💨</a:t>
            </a:r>
          </a:p>
          <a:p/>
          <a:p>
            <a:r>
              <a:t>Idée reçue !</a:t>
            </a:r>
          </a:p>
          <a:p/>
          <a:p>
            <a:r>
              <a:t>Verso</a:t>
            </a:r>
          </a:p>
          <a:p/>
          <a:p>
            <a:r>
              <a:t>Ces sujets sont effectivement fondamentaux. Notamment aux personnes déficientes visuelles.</a:t>
            </a:r>
          </a:p>
          <a:p/>
          <a:p>
            <a:r>
              <a:t>Toutefois, ces 2 exigences ne représentent qu'une petite partie de l'ensemble des autres règles et bonnes pratiques à suivre.</a:t>
            </a:r>
          </a:p>
          <a:p/>
          <a:p>
            <a:r>
              <a:t>Décryptage complet : ideance.net/blog/4602/idees-recues-a11y (https://ideance.net/blog/4602/idees-recues-a11y)</a:t>
            </a:r>
          </a:p>
          <a:p/>
          <a:p>
            <a:r>
              <a:t>ideance</a:t>
            </a:r>
          </a:p>
          <a:p/>
          <a:p>
            <a:r>
              <a:t>Contenu exact du PPTX</a:t>
            </a:r>
          </a:p>
          <a:p/>
          <a:p>
            <a:r>
              <a:t>Idée reçue</a:t>
            </a:r>
          </a:p>
          <a:p/>
          <a:p>
            <a:r>
              <a:t>« C'est juste du contraste et des images décrites »</a:t>
            </a:r>
          </a:p>
          <a:p/>
          <a:p>
            <a:r>
              <a:t>Décryptage</a:t>
            </a:r>
          </a:p>
          <a:p/>
          <a:p>
            <a:r>
              <a:t>- Le contraste et les textes alternatifs ne sont que 2 exigences sur des centaines</a:t>
            </a:r>
          </a:p>
          <a:p>
            <a:r>
              <a:t>- Le RGAA compte 106 critères, les WCAG 2.1 en comptent 78</a:t>
            </a:r>
          </a:p>
          <a:p>
            <a:r>
              <a:t>- Titres, liens, tableaux, formulaires, langue, ordre de lecture ... autant de dimensions</a:t>
            </a:r>
          </a:p>
          <a:p>
            <a:r>
              <a:t>- L'accessibilité touche toute la chaîne : rédaction, mise en forme, export, publication</a:t>
            </a:r>
          </a:p>
          <a:p/>
          <a:p>
            <a:r>
              <a:t>Ressource</a:t>
            </a:r>
          </a:p>
          <a:p/>
          <a:p>
            <a:r>
              <a:t>Scannez-moi !</a:t>
            </a:r>
          </a:p>
          <a:p/>
          <a:p>
            <a:r>
              <a:t>https://ideance.net/blog/4602/idees-recues-a11y</a:t>
            </a:r>
          </a:p>
          <a:p/>
          <a:p>
            <a:r>
              <a:t>Lire le discours oral</a:t>
            </a:r>
          </a:p>
          <a:p/>
          <a:p>
            <a:r>
              <a:t>Bonne nouvelle pour les stagiaires : on ne peut pas tout apprendre en 1 jour. L'objectif de cette formation, c'est d'ouvrir les yeux sur l'étendue du sujet et d'acquérir les réflexes sur les points les plus fréquents. Le reste vient avec la pratique et les ressources (RGAA, points de contrôle rapides W3C).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4 / 6</a:t>
            </a:r>
          </a:p>
          <a:p/>
          <a:p>
            <a:r>
              <a:t>Texte visible des cartes</a:t>
            </a:r>
          </a:p>
          <a:p/>
          <a:p>
            <a:r>
              <a:t>Recto</a:t>
            </a:r>
          </a:p>
          <a:p/>
          <a:p>
            <a:r>
              <a:t>Accessibilité numérique</a:t>
            </a:r>
          </a:p>
          <a:p/>
          <a:p>
            <a:r>
              <a:t>Ce n'est pas de mon ressort 😑</a:t>
            </a:r>
          </a:p>
          <a:p/>
          <a:p>
            <a:r>
              <a:t>Idée reçue !</a:t>
            </a:r>
          </a:p>
          <a:p/>
          <a:p>
            <a:r>
              <a:t>Verso</a:t>
            </a:r>
          </a:p>
          <a:p/>
          <a:p>
            <a:r>
              <a:t>En réalité, la prise en compte de l’accessibilité dans les projets numériques ne peut et ne doit pas être portée par une seule et unique équipe.</a:t>
            </a:r>
          </a:p>
          <a:p/>
          <a:p>
            <a:r>
              <a:t>Et encore moins par une seule et unique personne.</a:t>
            </a:r>
          </a:p>
          <a:p/>
          <a:p>
            <a:r>
              <a:t>Décryptage complet : ideance.net/blog/4602/idees-recues-a11y (https://ideance.net/blog/4602/idees-recues-a11y)</a:t>
            </a:r>
          </a:p>
          <a:p/>
          <a:p>
            <a:r>
              <a:t>ideance</a:t>
            </a:r>
          </a:p>
          <a:p/>
          <a:p>
            <a:r>
              <a:t>Contenu exact du PPTX</a:t>
            </a:r>
          </a:p>
          <a:p/>
          <a:p>
            <a:r>
              <a:t>Idée reçue</a:t>
            </a:r>
          </a:p>
          <a:p/>
          <a:p>
            <a:r>
              <a:t>« Ce n'est pas de mon ressort »</a:t>
            </a:r>
          </a:p>
          <a:p/>
          <a:p>
            <a:r>
              <a:t>Décryptage</a:t>
            </a:r>
          </a:p>
          <a:p/>
          <a:p>
            <a:r>
              <a:t>- L'accessibilité ne peut pas être portée par une seule équipe ou une seule personne</a:t>
            </a:r>
          </a:p>
          <a:p>
            <a:r>
              <a:t>- Elle implique tous les producteurs de contenu : rédacteurs, communicants, designers ...</a:t>
            </a:r>
          </a:p>
          <a:p>
            <a:r>
              <a:t>- Chaque document Word, chaque image publiée engage une responsabilité</a:t>
            </a:r>
          </a:p>
          <a:p>
            <a:r>
              <a:t>- La loi de 2005 et la directive européenne 2016/2102 s'appliquent à tous les agents publics</a:t>
            </a:r>
          </a:p>
          <a:p/>
          <a:p>
            <a:r>
              <a:t>Ressource</a:t>
            </a:r>
          </a:p>
          <a:p/>
          <a:p>
            <a:r>
              <a:t>Scannez-moi !</a:t>
            </a:r>
          </a:p>
          <a:p/>
          <a:p>
            <a:r>
              <a:t>https://ideance.net/blog/4602/idees-recues-a11y</a:t>
            </a:r>
          </a:p>
          <a:p/>
          <a:p>
            <a:r>
              <a:t>Lire le discours oral</a:t>
            </a:r>
          </a:p>
          <a:p/>
          <a:p>
            <a:r>
              <a:t>Cette idée reçue est la plus difficile à déconstruire car elle repose sur une logique réelle : il y a des spécialistes. Répondre : oui, les développeurs et chefs de projet ont leurs responsabilités. Mais vous aussi - c'est précisément pourquoi vous êtes là aujourd'hui. Votre document Word mal structuré empêche un lecteur d'écran de lire. Votre image sans texte alternatif prive un non-voyant de l'information. Personne n'est exempté.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5 / 6</a:t>
            </a:r>
          </a:p>
          <a:p/>
          <a:p>
            <a:r>
              <a:t>Texte visible des cartes</a:t>
            </a:r>
          </a:p>
          <a:p/>
          <a:p>
            <a:r>
              <a:t>Recto</a:t>
            </a:r>
          </a:p>
          <a:p/>
          <a:p>
            <a:r>
              <a:t>Accessibilité numérique</a:t>
            </a:r>
          </a:p>
          <a:p/>
          <a:p>
            <a:r>
              <a:t>Ça coûte trop cher 😞</a:t>
            </a:r>
          </a:p>
          <a:p/>
          <a:p>
            <a:r>
              <a:t>Idée reçue !</a:t>
            </a:r>
          </a:p>
          <a:p/>
          <a:p>
            <a:r>
              <a:t>Verso</a:t>
            </a:r>
          </a:p>
          <a:p/>
          <a:p>
            <a:r>
              <a:t>Effectivement, l’accessibilité numérique peut engendrer une charge financière conséquente.</a:t>
            </a:r>
          </a:p>
          <a:p/>
          <a:p>
            <a:r>
              <a:t>Mais essentiellement lorsqu’elle est traitée comme un simple ajustement en fin de projet.</a:t>
            </a:r>
          </a:p>
          <a:p/>
          <a:p>
            <a:r>
              <a:t>Décryptage complet : ideance.net/blog/4602/idees-recues-a11y (https://ideance.net/blog/4602/idees-recues-a11y)</a:t>
            </a:r>
          </a:p>
          <a:p/>
          <a:p>
            <a:r>
              <a:t>ideance</a:t>
            </a:r>
          </a:p>
          <a:p/>
          <a:p>
            <a:r>
              <a:t>Contenu exact du PPTX</a:t>
            </a:r>
          </a:p>
          <a:p/>
          <a:p>
            <a:r>
              <a:t>Idée reçue</a:t>
            </a:r>
          </a:p>
          <a:p/>
          <a:p>
            <a:r>
              <a:t>« Ça coûte trop cher »</a:t>
            </a:r>
          </a:p>
          <a:p/>
          <a:p>
            <a:r>
              <a:t>Décryptage</a:t>
            </a:r>
          </a:p>
          <a:p/>
          <a:p>
            <a:r>
              <a:t>- Oui - si l'accessibilité est traitée comme un ajustement en fin de projet</a:t>
            </a:r>
          </a:p>
          <a:p>
            <a:r>
              <a:t>- Non - si elle est intégrée dès la conception (approche « shift left »)</a:t>
            </a:r>
          </a:p>
          <a:p>
            <a:r>
              <a:t>- Corriger un document Word après publication : 10 fois plus cher que le faire d'emblée</a:t>
            </a:r>
          </a:p>
          <a:p>
            <a:r>
              <a:t>- Les réflexes appris aujourd'hui ne coûtent rien : juste un changement d'habitude</a:t>
            </a:r>
          </a:p>
          <a:p/>
          <a:p>
            <a:r>
              <a:t>Ressource</a:t>
            </a:r>
          </a:p>
          <a:p/>
          <a:p>
            <a:r>
              <a:t>Scannez-moi !</a:t>
            </a:r>
          </a:p>
          <a:p/>
          <a:p>
            <a:r>
              <a:t>https://ideance.net/blog/4602/idees-recues-a11y</a:t>
            </a:r>
          </a:p>
          <a:p/>
          <a:p>
            <a:r>
              <a:t>Lire le discours oral</a:t>
            </a:r>
          </a:p>
          <a:p/>
          <a:p>
            <a:r>
              <a:t>Analogie bâtiment : une rampe d'accès intégrée dès la construction coûte quelques centaines d'euros. La reprise après construction, plusieurs milliers. Pour les documents : appliquer les styles Titre dans Word, c'est 30 secondes de plus. Corriger un PDF de 50 pages après coup, c'est des heures. L'accessibilité est rentable quand elle est intégrée - c'est le message central.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transcription</a:t>
            </a:r>
          </a:p>
          <a:p/>
          <a:p>
            <a:r>
              <a:t>Idée reçue 6 / 6</a:t>
            </a:r>
          </a:p>
          <a:p/>
          <a:p>
            <a:r>
              <a:t>Texte visible des cartes</a:t>
            </a:r>
          </a:p>
          <a:p/>
          <a:p>
            <a:r>
              <a:t>Recto</a:t>
            </a:r>
          </a:p>
          <a:p/>
          <a:p>
            <a:r>
              <a:t>Accessibilité numérique</a:t>
            </a:r>
          </a:p>
          <a:p/>
          <a:p>
            <a:r>
              <a:t>On s’en occupe à la fin ! 🙂</a:t>
            </a:r>
          </a:p>
          <a:p/>
          <a:p>
            <a:r>
              <a:t>Idée reçue !</a:t>
            </a:r>
          </a:p>
          <a:p/>
          <a:p>
            <a:r>
              <a:t>Verso</a:t>
            </a:r>
          </a:p>
          <a:p/>
          <a:p>
            <a:r>
              <a:t>Quand ce sujet est pris en compte trop tard, cela entraîne souvent de grosses corrections après coup.</a:t>
            </a:r>
          </a:p>
          <a:p/>
          <a:p>
            <a:r>
              <a:t>Cela pèse sur l’efficacité des projets et peut générer de la frustration pour les équipes.</a:t>
            </a:r>
          </a:p>
          <a:p/>
          <a:p>
            <a:r>
              <a:t>Décryptage complet : ideance.net/blog/4602/idees-recues-a11y (https://ideance.net/blog/4602/idees-recues-a11y)</a:t>
            </a:r>
          </a:p>
          <a:p/>
          <a:p>
            <a:r>
              <a:t>ideance</a:t>
            </a:r>
          </a:p>
          <a:p/>
          <a:p>
            <a:r>
              <a:t>Contenu exact du PPTX</a:t>
            </a:r>
          </a:p>
          <a:p/>
          <a:p>
            <a:r>
              <a:t>Idée reçue</a:t>
            </a:r>
          </a:p>
          <a:p/>
          <a:p>
            <a:r>
              <a:t>« On s'en occupe à la fin ! »</a:t>
            </a:r>
          </a:p>
          <a:p/>
          <a:p>
            <a:r>
              <a:t>Décryptage</a:t>
            </a:r>
          </a:p>
          <a:p/>
          <a:p>
            <a:r>
              <a:t>- Prise en compte tardive = grosses corrections après coup</a:t>
            </a:r>
          </a:p>
          <a:p>
            <a:r>
              <a:t>- Cela pèse sur l'efficacité des projets et génère de la frustration pour les équipes</a:t>
            </a:r>
          </a:p>
          <a:p>
            <a:r>
              <a:t>- L'accessibilité « à la fin » est souvent l'accessibilité jamais faite</a:t>
            </a:r>
          </a:p>
          <a:p>
            <a:r>
              <a:t>- Solution : intégrer les bons réflexes à chaque étape, pas les accumuler en sprint final</a:t>
            </a:r>
          </a:p>
          <a:p/>
          <a:p>
            <a:r>
              <a:t>Ressource</a:t>
            </a:r>
          </a:p>
          <a:p/>
          <a:p>
            <a:r>
              <a:t>Scannez-moi !</a:t>
            </a:r>
          </a:p>
          <a:p/>
          <a:p>
            <a:r>
              <a:t>https://ideance.net/blog/4602/idees-recues-a11y</a:t>
            </a:r>
          </a:p>
          <a:p/>
          <a:p>
            <a:r>
              <a:t>Lire le discours oral</a:t>
            </a:r>
          </a:p>
          <a:p/>
          <a:p>
            <a:r>
              <a:t>Dernière idée reçue - transition naturelle vers la journée : « Aujourd'hui, on ne remet pas à la fin. On commence par les bons réflexes et on les ancre maintenant. » Demander au groupe : laquelle de ces 6 idées reçues vous parlait le plus ce matin ? Cette question fait le lien entre l'icebreaker et la suite du programme.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1 - L'accessibilité numérique pour la bureautique et le web" descr="Une communicante relie bureautique, web, vidéo et formulaire accessibles." title="L'accessibilité numérique pour la bureautique et le web"/>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2 - Objectifs pédagogiques" descr="Trois objectifs relient compréhension, repérage et correction." title="Objectifs pédagogique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3 - Programme de la journée" descr="Quatre modules structurent la journée, du cadre légal aux réseaux sociaux." title="Programme de la journé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4 - Bertrand Matge" descr="Bertrand Matge, intervenant en qualité web et accessibilité." title="Bertrand Matg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5 - Alexandra Guiderdoni" descr="Alexandra Guiderdoni, intervenante en accessibilité numérique." title="Alexandra Guiderdon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6 - Présentez-vous" descr="Trois questions guident la présentation de chaque personne." title="Présentez-vou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7 - Organisation des activités" descr="Le binôme relie débat initial et entraide pendant les ateliers." title="Organisation des activité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8 - Ensemble, faisons tomber les préjugés !" descr="Des binômes confrontent six idées reçues avant le débat." title="Ensemble, faisons tomber les préjugés !"/>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09 - Idée reçue 1 / 6" descr="L'accessibilité concerne bien plus qu'une minorité." title="Idée reçue 1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0 - Idée reçue 2 / 6" descr="L'accessibilité ne dégrade ni la créativité ni l'expérience." title="Idée reçue 2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1 - Idée reçue 3 / 6" descr="L'accessibilité dépasse le contraste et les descriptions d'images." title="Idée reçue 3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2 - Idée reçue 4 / 6" descr="L'accessibilité relève de tous les producteurs de contenu." title="Idée reçue 4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3 - Idée reçue 5 / 6" descr="Le coût augmente surtout quand l'accessibilité arrive trop tard." title="Idée reçue 5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4 - Idée reçue 6 / 6" descr="Traiter l'accessibilité à la fin entraîne corrections et frustration." title="Idée reçue 6 / 6"/>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0 - Introduction et idées reçues</dc:title>
  <dc:subject>Supports de projection IGPDE 102846</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