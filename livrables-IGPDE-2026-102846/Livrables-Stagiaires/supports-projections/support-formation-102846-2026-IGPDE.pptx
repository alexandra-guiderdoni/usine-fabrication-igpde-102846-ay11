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et installation.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102846.</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questions qui structurent la partie I.</a:t>
            </a:r>
          </a:p>
          <a:p>
            <a:r>
              <a:rPr lang="fr-FR"/>
              <a:t>Préciser que la progression va de la définition aux premiers gestes concrets.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si je vous dis accessibilité numérique, à quoi pensez-vous ?</a:t>
            </a:r>
          </a:p>
          <a:p>
            <a:r>
              <a:rPr lang="fr-FR"/>
              <a:t>Laisser 30 secondes de silence avant de basculer vers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Mnémonique : PUCC (Percevoir, Utiliser, Comprendre, Compatible).</a:t>
            </a:r>
          </a:p>
          <a:p>
            <a:r>
              <a:rPr lang="fr-FR"/>
              <a:t>Faire reformuler par le groupe : 'Si je suis aveugle, quel principe est en jeu ?' (Percevoir). 'Si je ne peux pas utiliser la souris ?' (Utiliser).</a:t>
            </a:r>
          </a:p>
          <a:p>
            <a:r>
              <a:rPr lang="fr-FR"/>
              <a:t>Ces 4 principes structurent le RGAA et reviendront dans les modules suivants.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les publics concernés.</a:t>
            </a:r>
          </a:p>
          <a:p>
            <a:r>
              <a:rPr lang="fr-FR"/>
              <a:t>Avant de montrer les 4 familles, demander au groupe : à votre avis, combien de personnes sont concernées par l'accessibilité numérique en France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Daltonisme : environ 8 % des hommes et 0,4 % des femmes.</a:t>
            </a:r>
          </a:p>
          <a:p>
            <a:r>
              <a:rPr lang="fr-FR"/>
              <a:t>Laisser les stagiaires naviguer librement sur le site Atalan pendant 5 minutes.</a:t>
            </a:r>
          </a:p>
          <a:p>
            <a:r>
              <a:rPr lang="fr-FR"/>
              <a:t>Chaque simulation illustre un type de handicap et montre ce que nos choix de mise en forme peuvent faciliter ou bloquer.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Amir est aveugle de naissance et utilise un lecteur d'écran (NVDA ou JAWS) pour tout son travail.</a:t>
            </a:r>
          </a:p>
          <a:p>
            <a:r>
              <a:rPr lang="fr-FR"/>
              <a:t>Ce profil est central pour les communicants : chaque image sans alt, chaque tableau sans structure, chaque lien « cliquez ici » est un mur pour lui.</a:t>
            </a:r>
          </a:p>
          <a:p>
            <a:r>
              <a:rPr lang="fr-FR"/>
              <a:t>Faire la demo du lecteur d'écran sur un document mal structure vs bien structure pour marquer les esprits.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Anaïs a une DMLA précoce diagnostiquée il y a 10 ans.</a:t>
            </a:r>
          </a:p>
          <a:p>
            <a:r>
              <a:rPr lang="fr-FR"/>
              <a:t>Ce profil illustre la déficience visuelle.</a:t>
            </a:r>
          </a:p>
          <a:p>
            <a:r>
              <a:rPr lang="fr-FR"/>
              <a:t>Insister sur le fait que le contraste et la taille de texte sont des leviers que le communicant maîtrise directement dans ses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Justine est sourde de naissance.</a:t>
            </a:r>
          </a:p>
          <a:p>
            <a:r>
              <a:rPr lang="fr-FR"/>
              <a:t>Ce profil illustre la déficience auditive.</a:t>
            </a:r>
          </a:p>
          <a:p>
            <a:r>
              <a:rPr lang="fr-FR"/>
              <a:t>Le message clé pour les communicants : tout contenu audio doit avoir un équivalent textuel.</a:t>
            </a:r>
          </a:p>
          <a:p>
            <a:r>
              <a:rPr lang="fr-FR"/>
              <a:t>Les sous-titres automatiques ne suffisent pas toujours, une relecture humaine est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Agathe utilise un fauteuil roulant et des contacteurs adaptés.</a:t>
            </a:r>
          </a:p>
          <a:p>
            <a:r>
              <a:rPr lang="fr-FR"/>
              <a:t>Ce profil illustre la déficience motrice.</a:t>
            </a:r>
          </a:p>
          <a:p>
            <a:r>
              <a:rPr lang="fr-FR"/>
              <a:t>Pour les communicants : penser aux zones cliquables suffisamment grandes dans les PDF et formulaires, et à la navigation au clavier.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Anatole illustre la déficience cognitive.</a:t>
            </a:r>
          </a:p>
          <a:p>
            <a:r>
              <a:rPr lang="fr-FR"/>
              <a:t>Pour les communicants : les règles du FALC et du langage clair ne profitent pas qu'aux personnes handicapees mentales - elles aident aussi les personnes agees, fatiguees, en situation de stress ou dont le français n'est pas la langue maternelle.</a:t>
            </a:r>
          </a:p>
          <a:p>
            <a:r>
              <a:rPr lang="fr-FR"/>
              <a:t>Faire le lien avec les slides FALC.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Paul illustre les troubles dys et le TDAH.</a:t>
            </a:r>
          </a:p>
          <a:p>
            <a:r>
              <a:rPr lang="fr-FR"/>
              <a:t>Pour les communicants : ne jamais justifier le texte dans un document Word ou PDF, privilegier les polices sans serif (Marianne, Arial), éviter les carrousels en lecture automatique sans bouton pause, et garder des paragraphes courts.</a:t>
            </a:r>
          </a:p>
          <a:p>
            <a:r>
              <a:rPr lang="fr-FR"/>
              <a:t>Ces règles beneficient a tous les lecteurs.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synthèse qui fait le lien entre les personas et les 4 principes WCAG.</a:t>
            </a:r>
          </a:p>
          <a:p>
            <a:r>
              <a:rPr lang="fr-FR"/>
              <a:t>Distribuer la fiche stagiaire (fiche-stagiaire-principes-wcag.pdf) à ce moment-là.</a:t>
            </a:r>
          </a:p>
          <a:p>
            <a:r>
              <a:rPr lang="fr-FR"/>
              <a:t>Dire : « Vous n'avez pas besoin de retenir tout WCAG.</a:t>
            </a:r>
          </a:p>
          <a:p>
            <a:r>
              <a:rPr lang="fr-FR"/>
              <a:t>Gardez les 4 questions sous la main.</a:t>
            </a:r>
          </a:p>
          <a:p>
            <a:r>
              <a:rPr lang="fr-FR"/>
              <a:t>À chaque anomalie Word ou web, demandez-vous : est-ce un problème pour percevoir, utiliser, comprendre ou être lu par les outils ?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les personas vus juste avant : Amir = aveugle, Anais = malvoyante, Justine = sourde.</a:t>
            </a:r>
          </a:p>
          <a:p>
            <a:r>
              <a:rPr lang="fr-FR"/>
              <a:t>Ce tableau récapitule les solutions de manière structurée.</a:t>
            </a:r>
          </a:p>
          <a:p>
            <a:r>
              <a:rPr lang="fr-FR"/>
              <a:t>La plage braille et la loupe logicielle sont des technologies d'assistance qu'on peut montrer en photo ou en vidéo courte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Agathe (motrice), Paul (dyslexie/TDAH) et Anatole (cognitif).</a:t>
            </a:r>
          </a:p>
          <a:p>
            <a:r>
              <a:rPr lang="fr-FR"/>
              <a:t>Pour le handicap mental et le TSA, insister sur le fait qu'il n'existe pas de technologie d'assistance spécifique : c'est le contenu et l'interface qui doivent s'adapter.</a:t>
            </a:r>
          </a:p>
          <a:p>
            <a:r>
              <a:rPr lang="fr-FR"/>
              <a:t>Le FALC et le langage clair sont les réponses principales.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schéma illustre le modèle social du handicap, opposé au modèle médical.</a:t>
            </a:r>
          </a:p>
          <a:p>
            <a:r>
              <a:rPr lang="fr-FR"/>
              <a:t>La personne en fauteuil n'est pas en situation de handicap devant un bureau adapté, mais le devient face à un escalier.</a:t>
            </a:r>
          </a:p>
          <a:p>
            <a:r>
              <a:rPr lang="fr-FR"/>
              <a:t>Transposer au numérique : un PDF non structuré = un escalier pour un lecteur d'écran.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les stagiaires découvrir le tableau.</a:t>
            </a:r>
          </a:p>
          <a:p>
            <a:r>
              <a:rPr lang="fr-FR"/>
              <a:t>Demander : dans quelle colonne vous êtes-vous déjà retrouvés ?</a:t>
            </a:r>
          </a:p>
          <a:p>
            <a:r>
              <a:rPr lang="fr-FR"/>
              <a:t>Tout le monde a déjà été en situation de handicap temporaire ou situationnel.</a:t>
            </a:r>
          </a:p>
          <a:p>
            <a:r>
              <a:rPr lang="fr-FR"/>
              <a:t>C'est là que le déclic se produit : l'accessibilité concerne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cadre juridique.</a:t>
            </a:r>
          </a:p>
          <a:p>
            <a:r>
              <a:rPr lang="fr-FR"/>
              <a:t>Rappeler que l'accessibilité n'est pas seulement une bonne pratique, c'est une obligation légale avec des sanctions.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Depuis 2023, l'Arcom est l'autorité de contrôle de l'article 47.</a:t>
            </a:r>
          </a:p>
          <a:p>
            <a:r>
              <a:rPr lang="fr-FR"/>
              <a:t>La DINUM édite le RGAA et accompagne les administrations.</a:t>
            </a:r>
          </a:p>
          <a:p>
            <a:r>
              <a:rPr lang="fr-FR"/>
              <a:t>La sanction peut atteindre 50 000 EUR pour le non-respect de l'obligation d'accessibilité par les organismes publics et assimilés, et 25 000 EUR pour le non-respect des obligations déclaratives.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Trois taux de conformité :</a:t>
            </a:r>
          </a:p>
          <a:p>
            <a:r>
              <a:rPr lang="fr-FR"/>
              <a:t>- Non conforme : site non audité ou niveau inférieur à 50 %</a:t>
            </a:r>
          </a:p>
          <a:p>
            <a:r>
              <a:rPr lang="fr-FR"/>
              <a:t>- Partiellement conforme : de 50 % a 99 %</a:t>
            </a:r>
          </a:p>
          <a:p>
            <a:r>
              <a:rPr lang="fr-FR"/>
              <a:t>- Totalement conforme : 100 % des critères validés</a:t>
            </a:r>
          </a:p>
          <a:p/>
          <a:p>
            <a:r>
              <a:rPr lang="fr-FR"/>
              <a:t>Exemptions :</a:t>
            </a:r>
          </a:p>
          <a:p>
            <a:r>
              <a:rPr lang="fr-FR"/>
              <a:t>- Fichiers bureautiques publiés avant le 23 septembre 2018</a:t>
            </a:r>
          </a:p>
          <a:p>
            <a:r>
              <a:rPr lang="fr-FR"/>
              <a:t>- Contenus intranets/extranets publiés avant le 23 septembre 2019</a:t>
            </a:r>
          </a:p>
          <a:p>
            <a:r>
              <a:rPr lang="fr-FR"/>
              <a:t>- Contenus audios/vidéos publiés avant le 23 septembre 2020</a:t>
            </a:r>
          </a:p>
          <a:p>
            <a:r>
              <a:rPr lang="fr-FR"/>
              <a:t>- Contenus vidéos, tiers, cartes peuvent aussi être exemptés</a:t>
            </a:r>
          </a:p>
          <a:p/>
          <a:p>
            <a:r>
              <a:rPr lang="fr-FR"/>
              <a:t>Exemples de critères :</a:t>
            </a:r>
          </a:p>
          <a:p>
            <a:r>
              <a:rPr lang="fr-FR"/>
              <a:t>1.</a:t>
            </a:r>
          </a:p>
          <a:p>
            <a:r>
              <a:rPr lang="fr-FR"/>
              <a:t>Les images porteuses d'informations doivent avoir un texte alternatif.</a:t>
            </a:r>
          </a:p>
          <a:p>
            <a:r>
              <a:rPr lang="fr-FR"/>
              <a:t>Les images décoratives ne doivent pas en avoir.</a:t>
            </a:r>
            <a:br/>
            <a:r>
              <a:rPr lang="fr-FR"/>
              <a:t>2.</a:t>
            </a:r>
          </a:p>
          <a:p>
            <a:r>
              <a:rPr lang="fr-FR"/>
              <a:t>Les médias avec du son doivent avoir une alternative (sous-titrage, LSF) et les vidéos une audiodescription.</a:t>
            </a:r>
            <a:br/>
            <a:r>
              <a:rPr lang="fr-FR"/>
              <a:t>3.</a:t>
            </a:r>
          </a:p>
          <a:p>
            <a:r>
              <a:rPr lang="fr-FR"/>
              <a:t>Plusieurs systèmes de navigation doivent être disponibles (menu, plan du site, recherche).</a:t>
            </a:r>
          </a:p>
          <a:p>
            <a:r>
              <a:rPr lang="fr-FR"/>
              <a:t>Les éléments-clés sont toujours au même endroit.</a:t>
            </a:r>
          </a:p>
          <a:p>
            <a:r>
              <a:rPr lang="fr-FR"/>
              <a:t>Ref : https://accessibilite.numerique.gouv.fr/</a:t>
            </a:r>
            <a:br/>
            <a:r>
              <a:rPr lang="fr-FR"/>
              <a:t>Critères : https://accessibilite.numerique.gouv.fr/methode/criteres-et-tests/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Activité individuelle 10 min + débrief collectif 5 min.</a:t>
            </a:r>
          </a:p>
          <a:p>
            <a:r>
              <a:rPr lang="fr-FR"/>
              <a:t>Faire ressortir : la plupart des structures publiques sont soumises au RGAA ; les communicants produisent des contenus concernés (PDF, vidéos, réseaux sociaux).</a:t>
            </a:r>
          </a:p>
          <a:p>
            <a:r>
              <a:rPr lang="fr-FR"/>
              <a:t>Fallback si pas de réseau : distribuer le PDF de l'arbre de décision Idéance (dans _source/références/).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Rappel : environ 25 % des tests RGAA sont automatisables, le reste nécessite un audit humain.</a:t>
            </a:r>
          </a:p>
          <a:p>
            <a:r>
              <a:rPr lang="fr-FR"/>
              <a:t>Attention : 100 % conforme ne veut pas forcément dire accessible - le RGAA ne couvre pas tous les usages.</a:t>
            </a:r>
          </a:p>
          <a:p>
            <a:r>
              <a:rPr lang="fr-FR"/>
              <a:t>Le RAN est le référent accessibilité numérique, interlocuteur interne pour piloter la démarche.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Au-delà du cadre légal, pourquoi s'investir ?</a:t>
            </a:r>
          </a:p>
          <a:p>
            <a:r>
              <a:rPr lang="fr-FR"/>
              <a:t>Cette section passe du devoir à la conviction : droit fondamental, charte de l'État, bénéfice pour tous.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tableau gagnant-gagnant est tire de la Charte d'accessibilité de la communication de l'État (SIG, mars 2021).</a:t>
            </a:r>
          </a:p>
          <a:p>
            <a:r>
              <a:rPr lang="fr-FR"/>
              <a:t>Cote gauche : ce que vit la personne face a un contenu inaccessible.</a:t>
            </a:r>
          </a:p>
          <a:p>
            <a:r>
              <a:rPr lang="fr-FR"/>
              <a:t>Cote droit : ce qu'une communication accessible lui apporte.</a:t>
            </a:r>
          </a:p>
          <a:p>
            <a:r>
              <a:rPr lang="fr-FR"/>
              <a:t>Pour le communicant, une communication accessible est une communication qui atteint son objectif.</a:t>
            </a:r>
          </a:p>
          <a:p>
            <a:r>
              <a:rPr lang="fr-FR"/>
              <a:t>Montrer la couverture de la charte : c'est un document officiel du Premier Ministre.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question du module : passer à l'action.</a:t>
            </a:r>
          </a:p>
          <a:p>
            <a:r>
              <a:rPr lang="fr-FR"/>
              <a:t>Les slides suivantes donnent les premiers outils concrets avant d'entrer dans les modules pratiques (Word, web,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rapidement où trouver ces réglages : Windows &gt; Paramètres &gt; Accessibilité / macOS &gt; Préférences Système &gt; Accessibilité.</a:t>
            </a:r>
          </a:p>
          <a:p>
            <a:r>
              <a:rPr lang="fr-FR"/>
              <a:t>Word et PowerPoint proposent un vérificateur d'accessibilité intégré (onglet Révision).</a:t>
            </a:r>
          </a:p>
          <a:p>
            <a:r>
              <a:rPr lang="fr-FR"/>
              <a:t>On le verra en détail dans le module 2.</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Rassurer les stagiaires : ils ne partent pas de zéro.</a:t>
            </a:r>
          </a:p>
          <a:p>
            <a:r>
              <a:rPr lang="fr-FR"/>
              <a:t>La sensibilisation d'aujourd'hui est la première étape.</a:t>
            </a:r>
          </a:p>
          <a:p>
            <a:r>
              <a:rPr lang="fr-FR"/>
              <a:t>Mentor est un parcours en ligne gratuit.</a:t>
            </a:r>
          </a:p>
          <a:p>
            <a:r>
              <a:rPr lang="fr-FR"/>
              <a:t>La formation IGPDE 102846 est le prolongement de cette journée.</a:t>
            </a:r>
          </a:p>
          <a:p>
            <a:r>
              <a:rPr lang="fr-FR"/>
              <a:t>La DINUM propose des formats plus techniques pour ceux qui veulent 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le fait que le FALC n'est pas juste 'ecrire simple'.</a:t>
            </a:r>
          </a:p>
          <a:p>
            <a:r>
              <a:rPr lang="fr-FR"/>
              <a:t>C'est un processus formalise avec une validation obligatoire par des personnes concernées. 'Rien pour nous sans nous' est le principe fondamental.</a:t>
            </a:r>
          </a:p>
          <a:p>
            <a:r>
              <a:rPr lang="fr-FR"/>
              <a:t>Le logo FALC ne peut pas être appose sans cette validation.</a:t>
            </a:r>
          </a:p>
          <a:p>
            <a:r>
              <a:rPr lang="fr-FR"/>
              <a:t>En pratique, contacter des associations comme l'Unapei ou des ESAT pour trouver des relecteurs.</a:t>
            </a:r>
          </a:p>
          <a:p>
            <a:r>
              <a:rPr lang="fr-FR"/>
              <a:t>Le guide Unapei 'L'information pour tous' est téléchargeable gratuitement.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les deux documents si possible.</a:t>
            </a:r>
          </a:p>
          <a:p>
            <a:r>
              <a:rPr lang="fr-FR"/>
              <a:t>Le rapport de la DIA est un bon exemple car il vient d'une institution publique et montre que le FALC n'est pas reserve aux associations.</a:t>
            </a:r>
          </a:p>
          <a:p>
            <a:r>
              <a:rPr lang="fr-FR"/>
              <a:t>Le PDF accessible et la version FALC sont complementaires : le premier est le document officiel rendu navigable, le second est une version simplifiee pour un public plus large.</a:t>
            </a:r>
          </a:p>
          <a:p>
            <a:r>
              <a:rPr lang="fr-FR"/>
              <a:t>PDF accessible : https://handicap.gouv.fr/sites/handicap/files/2025-03/delegation-interministerielle-accessibilite-rapport-activite-2024.pdf</a:t>
            </a:r>
            <a:br/>
            <a:r>
              <a:rPr lang="fr-FR"/>
              <a:t>Version FALC : https://handicap.gouv.fr/sites/handicap/files/2025-03/delegation-interministerielle-accessibilite-synthese-FLAC-rapport-activite-2024.pdf</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L'escalier avec rampe intégrée est un exemple emblématique du design universel.</a:t>
            </a:r>
          </a:p>
          <a:p>
            <a:r>
              <a:rPr lang="fr-FR"/>
              <a:t>Faire le parallèle avec la communication : un document structuré dès le départ (titres, alt text, contraste) est accessible sans effort supplémentaire.</a:t>
            </a:r>
          </a:p>
          <a:p>
            <a:r>
              <a:rPr lang="fr-FR"/>
              <a:t>Le bandeau #accessibleatous rappelle que les bénéficiaires dépassent largement le public handicapé.</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Annoncer un TP guidé de 90 minutes organisé en 5 stations.</a:t>
            </a:r>
          </a:p>
          <a:p>
            <a:pPr>
              <a:lnSpc>
                <a:spcPct val="150000"/>
              </a:lnSpc>
              <a:spcAft>
                <a:spcPts val="600"/>
              </a:spcAft>
            </a:pPr>
            <a:r>
              <a:rPr lang="fr-FR"/>
              <a:t>La théorie, la manipulation et la preuve avancent ensemble dans le document de Sami.</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Lire la citation à voix haute, lentement, avec des pauses.</a:t>
            </a:r>
          </a:p>
          <a:p>
            <a:pPr>
              <a:lnSpc>
                <a:spcPct val="150000"/>
              </a:lnSpc>
              <a:spcAft>
                <a:spcPts val="600"/>
              </a:spcAft>
            </a:pPr>
            <a:r>
              <a:rPr lang="fr-FR"/>
              <a:t>Ne pas commenter.</a:t>
            </a:r>
          </a:p>
          <a:p>
            <a:pPr>
              <a:lnSpc>
                <a:spcPct val="150000"/>
              </a:lnSpc>
              <a:spcAft>
                <a:spcPts val="600"/>
              </a:spcAft>
            </a:pPr>
            <a:r>
              <a:rPr lang="fr-FR"/>
              <a:t>Laisser le silence s'installer 5 secondes.</a:t>
            </a:r>
          </a:p>
          <a:p>
            <a:pPr>
              <a:lnSpc>
                <a:spcPct val="150000"/>
              </a:lnSpc>
              <a:spcAft>
                <a:spcPts val="600"/>
              </a:spcAft>
            </a:pPr>
            <a:r>
              <a:rPr b="1" lang="fr-FR"/>
              <a:t>Demander :</a:t>
            </a:r>
            <a:r>
              <a:rPr lang="fr-FR"/>
              <a:t> est-ce que vous avez déjà reçu un document ou un email illisible ?</a:t>
            </a:r>
          </a:p>
          <a:p>
            <a:pPr>
              <a:lnSpc>
                <a:spcPct val="150000"/>
              </a:lnSpc>
              <a:spcAft>
                <a:spcPts val="600"/>
              </a:spcAft>
            </a:pPr>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Laisser 30 secondes pour que chacun vote.</a:t>
            </a:r>
          </a:p>
          <a:p>
            <a:pPr>
              <a:lnSpc>
                <a:spcPct val="150000"/>
              </a:lnSpc>
              <a:spcAft>
                <a:spcPts val="600"/>
              </a:spcAft>
            </a:pPr>
            <a:r>
              <a:rPr lang="fr-FR"/>
              <a:t>Demander à main levée.</a:t>
            </a:r>
          </a:p>
          <a:p>
            <a:pPr>
              <a:lnSpc>
                <a:spcPct val="150000"/>
              </a:lnSpc>
              <a:spcAft>
                <a:spcPts val="600"/>
              </a:spcAft>
            </a:pPr>
            <a:r>
              <a:rPr lang="fr-FR"/>
              <a:t>Ne pas donner la réponse maintenant - la curiosité crée l'attention.</a:t>
            </a:r>
          </a:p>
          <a:p>
            <a:pPr>
              <a:lnSpc>
                <a:spcPct val="150000"/>
              </a:lnSpc>
              <a:spcAft>
                <a:spcPts val="600"/>
              </a:spcAft>
            </a:pPr>
            <a:r>
              <a:rPr b="1" lang="fr-FR"/>
              <a:t>Zeigarnik :</a:t>
            </a:r>
            <a:r>
              <a:rPr lang="fr-FR"/>
              <a:t>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Donner la réponse :</a:t>
            </a:r>
            <a:r>
              <a:rPr lang="fr-FR"/>
              <a:t> le document B.</a:t>
            </a:r>
          </a:p>
          <a:p>
            <a:pPr>
              <a:lnSpc>
                <a:spcPct val="150000"/>
              </a:lnSpc>
              <a:spcAft>
                <a:spcPts val="600"/>
              </a:spcAft>
            </a:pPr>
            <a:r>
              <a:rPr lang="fr-FR"/>
              <a:t>Expliquer que les deux documents peuvent être identiques à l'écran, mais que NVDA dépend des styles de titres, des textes alternatifs et d'un nom de fichier explicite.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Faire formuler le message :</a:t>
            </a:r>
            <a:r>
              <a:rPr lang="fr-FR"/>
              <a:t> l'accessibilité ne se voit pas, elle se manipule et se vérifie.</a:t>
            </a:r>
          </a:p>
          <a:p>
            <a:pPr>
              <a:lnSpc>
                <a:spcPct val="150000"/>
              </a:lnSpc>
              <a:spcAft>
                <a:spcPts val="600"/>
              </a:spcAft>
            </a:pPr>
            <a:r>
              <a:rPr lang="fr-FR"/>
              <a:t>Revenir sur les propriétés qui distinguent les deux documents. 15 % = moyenne nationale Source : OMS 2024.</a:t>
            </a:r>
          </a:p>
          <a:p>
            <a:pPr>
              <a:lnSpc>
                <a:spcPct val="150000"/>
              </a:lnSpc>
              <a:spcAft>
                <a:spcPts val="600"/>
              </a:spcAft>
            </a:pPr>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Préambule limité à 5 minutes, quiz compris.</a:t>
            </a:r>
          </a:p>
          <a:p>
            <a:pPr>
              <a:lnSpc>
                <a:spcPct val="150000"/>
              </a:lnSpc>
              <a:spcAft>
                <a:spcPts val="600"/>
              </a:spcAft>
            </a:pPr>
            <a:r>
              <a:rPr lang="fr-FR"/>
              <a:t>Distribuer la checklist et les cartes WCAG, puis proposer le DOCX avec pistes comme point de départ conseillé.</a:t>
            </a:r>
          </a:p>
          <a:p>
            <a:pPr>
              <a:lnSpc>
                <a:spcPct val="150000"/>
              </a:lnSpc>
              <a:spcAft>
                <a:spcPts val="600"/>
              </a:spcAft>
            </a:pPr>
            <a:r>
              <a:rPr lang="fr-FR"/>
              <a:t>Le DOCX inaccessible constitue la variante autonome.</a:t>
            </a:r>
          </a:p>
          <a:p>
            <a:pPr>
              <a:lnSpc>
                <a:spcPct val="150000"/>
              </a:lnSpc>
              <a:spcAft>
                <a:spcPts val="600"/>
              </a:spcAft>
            </a:pPr>
            <a:r>
              <a:rPr lang="fr-FR"/>
              <a:t>Ne pas révéler le corrigé avant la remise finale.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17 minutes, synthèse comprise.</a:t>
            </a:r>
          </a:p>
          <a:p>
            <a:pPr>
              <a:lnSpc>
                <a:spcPct val="150000"/>
              </a:lnSpc>
              <a:spcAft>
                <a:spcPts val="600"/>
              </a:spcAft>
            </a:pPr>
            <a:r>
              <a:rPr b="1" lang="fr-FR"/>
              <a:t>Contrôles travaillés sur cette slide :</a:t>
            </a:r>
            <a:r>
              <a:rPr lang="fr-FR"/>
              <a:t> P-01, P-02, P-03, P-04, P-05.</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distinguer le rôle du texte de son apparence avant d'ouvrir le ruban.</a:t>
            </a:r>
          </a:p>
          <a:p>
            <a:pPr>
              <a:lnSpc>
                <a:spcPct val="150000"/>
              </a:lnSpc>
              <a:spcAft>
                <a:spcPts val="600"/>
              </a:spcAft>
            </a:pPr>
            <a:r>
              <a:rPr b="1" lang="fr-FR"/>
              <a:t>Question de synthèse :</a:t>
            </a:r>
            <a:r>
              <a:rPr lang="fr-FR"/>
              <a:t> Comment prouver que le document est réellement navigable ?</a:t>
            </a:r>
          </a:p>
          <a:p>
            <a:pPr>
              <a:lnSpc>
                <a:spcPct val="150000"/>
              </a:lnSpc>
              <a:spcAft>
                <a:spcPts val="600"/>
              </a:spcAft>
            </a:pPr>
            <a:r>
              <a:rPr b="1" lang="fr-FR"/>
              <a:t>Preuves attendues :</a:t>
            </a:r>
          </a:p>
          <a:p>
            <a:pPr lvl="1">
              <a:lnSpc>
                <a:spcPct val="150000"/>
              </a:lnSpc>
              <a:spcAft>
                <a:spcPts val="600"/>
              </a:spcAft>
            </a:pPr>
            <a:r>
              <a:rPr b="1" lang="fr-FR"/>
              <a:t>P-01 :</a:t>
            </a:r>
            <a:r>
              <a:rPr lang="fr-FR"/>
              <a:t> Styles vérifiables dans le DOCX et structure lisible dans le volet de navigation.</a:t>
            </a:r>
          </a:p>
          <a:p>
            <a:pPr lvl="1">
              <a:lnSpc>
                <a:spcPct val="150000"/>
              </a:lnSpc>
              <a:spcAft>
                <a:spcPts val="600"/>
              </a:spcAft>
            </a:pPr>
            <a:r>
              <a:rPr b="1" lang="fr-FR"/>
              <a:t>P-02 :</a:t>
            </a:r>
            <a:r>
              <a:rPr lang="fr-FR"/>
              <a:t> Ordre des niveaux contrôlé dans le XML et confirmé dans le volet de navigation.</a:t>
            </a:r>
          </a:p>
          <a:p>
            <a:pPr lvl="1">
              <a:lnSpc>
                <a:spcPct val="150000"/>
              </a:lnSpc>
              <a:spcAft>
                <a:spcPts val="600"/>
              </a:spcAft>
            </a:pPr>
            <a:r>
              <a:rPr b="1" lang="fr-FR"/>
              <a:t>P-03 :</a:t>
            </a:r>
            <a:r>
              <a:rPr lang="fr-FR"/>
              <a:t> Navigation cohérente et sommaire actualisable après modification d'un titre.</a:t>
            </a:r>
          </a:p>
          <a:p>
            <a:pPr lvl="1">
              <a:lnSpc>
                <a:spcPct val="150000"/>
              </a:lnSpc>
              <a:spcAft>
                <a:spcPts val="600"/>
              </a:spcAft>
            </a:pPr>
            <a:r>
              <a:rPr b="1" lang="fr-FR"/>
              <a:t>P-04 :</a:t>
            </a:r>
            <a:r>
              <a:rPr lang="fr-FR"/>
              <a:t> Structure de liste présente dans le DOCX et annoncée comme liste.</a:t>
            </a:r>
          </a:p>
          <a:p>
            <a:pPr lvl="1">
              <a:lnSpc>
                <a:spcPct val="150000"/>
              </a:lnSpc>
              <a:spcAft>
                <a:spcPts val="600"/>
              </a:spcAft>
            </a:pPr>
            <a:r>
              <a:rPr b="1" lang="fr-FR"/>
              <a:t>P-05 :</a:t>
            </a:r>
            <a:r>
              <a:rPr lang="fr-FR"/>
              <a:t> Absence des artifices ciblés dans le XML et contrôle visuel avec marques affichées.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17 minutes, synthèse comprise.</a:t>
            </a:r>
          </a:p>
          <a:p>
            <a:pPr>
              <a:lnSpc>
                <a:spcPct val="150000"/>
              </a:lnSpc>
              <a:spcAft>
                <a:spcPts val="600"/>
              </a:spcAft>
            </a:pPr>
            <a:r>
              <a:rPr b="1" lang="fr-FR"/>
              <a:t>Contrôles travaillés sur cette slide :</a:t>
            </a:r>
            <a:r>
              <a:rPr lang="fr-FR"/>
              <a:t> P-01, P-02, P-03.</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ouvrir le volet avant de corriger les styles et rappeler que le sommaire en découle.</a:t>
            </a:r>
          </a:p>
          <a:p>
            <a:pPr>
              <a:lnSpc>
                <a:spcPct val="150000"/>
              </a:lnSpc>
              <a:spcAft>
                <a:spcPts val="600"/>
              </a:spcAft>
            </a:pPr>
            <a:r>
              <a:rPr b="1" lang="fr-FR"/>
              <a:t>Question de synthèse :</a:t>
            </a:r>
            <a:r>
              <a:rPr lang="fr-FR"/>
              <a:t> Le volet et le sommaire racontent-ils le même plan ?</a:t>
            </a:r>
          </a:p>
          <a:p>
            <a:pPr>
              <a:lnSpc>
                <a:spcPct val="150000"/>
              </a:lnSpc>
              <a:spcAft>
                <a:spcPts val="600"/>
              </a:spcAft>
            </a:pPr>
            <a:r>
              <a:rPr b="1" lang="fr-FR"/>
              <a:t>Preuves attendues :</a:t>
            </a:r>
          </a:p>
          <a:p>
            <a:pPr lvl="1">
              <a:lnSpc>
                <a:spcPct val="150000"/>
              </a:lnSpc>
              <a:spcAft>
                <a:spcPts val="600"/>
              </a:spcAft>
            </a:pPr>
            <a:r>
              <a:rPr b="1" lang="fr-FR"/>
              <a:t>P-01 :</a:t>
            </a:r>
            <a:r>
              <a:rPr lang="fr-FR"/>
              <a:t> Styles vérifiables dans le DOCX et structure lisible dans le volet de navigation.</a:t>
            </a:r>
          </a:p>
          <a:p>
            <a:pPr lvl="1">
              <a:lnSpc>
                <a:spcPct val="150000"/>
              </a:lnSpc>
              <a:spcAft>
                <a:spcPts val="600"/>
              </a:spcAft>
            </a:pPr>
            <a:r>
              <a:rPr b="1" lang="fr-FR"/>
              <a:t>P-02 :</a:t>
            </a:r>
            <a:r>
              <a:rPr lang="fr-FR"/>
              <a:t> Ordre des niveaux contrôlé dans le XML et confirmé dans le volet de navigation.</a:t>
            </a:r>
          </a:p>
          <a:p>
            <a:pPr lvl="1">
              <a:lnSpc>
                <a:spcPct val="150000"/>
              </a:lnSpc>
              <a:spcAft>
                <a:spcPts val="600"/>
              </a:spcAft>
            </a:pPr>
            <a:r>
              <a:rPr b="1" lang="fr-FR"/>
              <a:t>P-03 :</a:t>
            </a:r>
            <a:r>
              <a:rPr lang="fr-FR"/>
              <a:t> Navigation cohérente et sommaire actualisable après modification d'un titre.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17 minutes, synthèse comprise.</a:t>
            </a:r>
          </a:p>
          <a:p>
            <a:pPr>
              <a:lnSpc>
                <a:spcPct val="150000"/>
              </a:lnSpc>
              <a:spcAft>
                <a:spcPts val="600"/>
              </a:spcAft>
            </a:pPr>
            <a:r>
              <a:rPr b="1" lang="fr-FR"/>
              <a:t>Contrôles travaillés sur cette slide :</a:t>
            </a:r>
            <a:r>
              <a:rPr lang="fr-FR"/>
              <a:t> P-04, P-05.</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activer les marques avant toute correction et traiter les artifices dans leur ordre d'apparition.</a:t>
            </a:r>
          </a:p>
          <a:p>
            <a:pPr>
              <a:lnSpc>
                <a:spcPct val="150000"/>
              </a:lnSpc>
              <a:spcAft>
                <a:spcPts val="600"/>
              </a:spcAft>
            </a:pPr>
            <a:r>
              <a:rPr b="1" lang="fr-FR"/>
              <a:t>Question de synthèse :</a:t>
            </a:r>
            <a:r>
              <a:rPr lang="fr-FR"/>
              <a:t> Les listes sont-elles annoncées comme telles et la mise en page résiste-t-elle aux marques affichées ?</a:t>
            </a:r>
          </a:p>
          <a:p>
            <a:pPr>
              <a:lnSpc>
                <a:spcPct val="150000"/>
              </a:lnSpc>
              <a:spcAft>
                <a:spcPts val="600"/>
              </a:spcAft>
            </a:pPr>
            <a:r>
              <a:rPr b="1" lang="fr-FR"/>
              <a:t>Preuves attendues :</a:t>
            </a:r>
          </a:p>
          <a:p>
            <a:pPr lvl="1">
              <a:lnSpc>
                <a:spcPct val="150000"/>
              </a:lnSpc>
              <a:spcAft>
                <a:spcPts val="600"/>
              </a:spcAft>
            </a:pPr>
            <a:r>
              <a:rPr b="1" lang="fr-FR"/>
              <a:t>P-04 :</a:t>
            </a:r>
            <a:r>
              <a:rPr lang="fr-FR"/>
              <a:t> Structure de liste présente dans le DOCX et annoncée comme liste.</a:t>
            </a:r>
          </a:p>
          <a:p>
            <a:pPr lvl="1">
              <a:lnSpc>
                <a:spcPct val="150000"/>
              </a:lnSpc>
              <a:spcAft>
                <a:spcPts val="600"/>
              </a:spcAft>
            </a:pPr>
            <a:r>
              <a:rPr b="1" lang="fr-FR"/>
              <a:t>P-05 :</a:t>
            </a:r>
            <a:r>
              <a:rPr lang="fr-FR"/>
              <a:t> Absence des artifices ciblés dans le XML et contrôle visuel avec marques affichées.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P-06, P-07, P-08, P-09, P-10, P-11.</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identifier la fonction de chaque contenu avant d'ouvrir le volet du texte alternatif.</a:t>
            </a:r>
          </a:p>
          <a:p>
            <a:pPr>
              <a:lnSpc>
                <a:spcPct val="150000"/>
              </a:lnSpc>
              <a:spcAft>
                <a:spcPts val="600"/>
              </a:spcAft>
            </a:pPr>
            <a:r>
              <a:rPr b="1" lang="fr-FR"/>
              <a:t>Question de synthèse :</a:t>
            </a:r>
            <a:r>
              <a:rPr lang="fr-FR"/>
              <a:t> L'information reste-t-elle compréhensible si l'image ou le contexte disparaît ?</a:t>
            </a:r>
          </a:p>
          <a:p>
            <a:pPr>
              <a:lnSpc>
                <a:spcPct val="150000"/>
              </a:lnSpc>
              <a:spcAft>
                <a:spcPts val="600"/>
              </a:spcAft>
            </a:pPr>
            <a:r>
              <a:rPr b="1" lang="fr-FR"/>
              <a:t>Preuves attendues :</a:t>
            </a:r>
          </a:p>
          <a:p>
            <a:pPr lvl="1">
              <a:lnSpc>
                <a:spcPct val="150000"/>
              </a:lnSpc>
              <a:spcAft>
                <a:spcPts val="600"/>
              </a:spcAft>
            </a:pPr>
            <a:r>
              <a:rPr b="1" lang="fr-FR"/>
              <a:t>P-06 :</a:t>
            </a:r>
            <a:r>
              <a:rPr lang="fr-FR"/>
              <a:t> Alternative présente dans le DOCX et jugée pertinente par lecture humaine.</a:t>
            </a:r>
          </a:p>
          <a:p>
            <a:pPr lvl="1">
              <a:lnSpc>
                <a:spcPct val="150000"/>
              </a:lnSpc>
              <a:spcAft>
                <a:spcPts val="600"/>
              </a:spcAft>
            </a:pPr>
            <a:r>
              <a:rPr b="1" lang="fr-FR"/>
              <a:t>P-07 :</a:t>
            </a:r>
            <a:r>
              <a:rPr lang="fr-FR"/>
              <a:t> Équivalence d'information vérifiée sans consulter l'image.</a:t>
            </a:r>
          </a:p>
          <a:p>
            <a:pPr lvl="1">
              <a:lnSpc>
                <a:spcPct val="150000"/>
              </a:lnSpc>
              <a:spcAft>
                <a:spcPts val="600"/>
              </a:spcAft>
            </a:pPr>
            <a:r>
              <a:rPr b="1" lang="fr-FR"/>
              <a:t>P-08 :</a:t>
            </a:r>
            <a:r>
              <a:rPr lang="fr-FR"/>
              <a:t> Marqueur décoratif ou équivalent vérifié et absence de perte d'information confirmée.</a:t>
            </a:r>
          </a:p>
          <a:p>
            <a:pPr lvl="1">
              <a:lnSpc>
                <a:spcPct val="150000"/>
              </a:lnSpc>
              <a:spcAft>
                <a:spcPts val="600"/>
              </a:spcAft>
            </a:pPr>
            <a:r>
              <a:rPr b="1" lang="fr-FR"/>
              <a:t>P-09 :</a:t>
            </a:r>
            <a:r>
              <a:rPr lang="fr-FR"/>
              <a:t> Texte sélectionnable présent dans le DOCX et image de texte absente.</a:t>
            </a:r>
          </a:p>
          <a:p>
            <a:pPr lvl="1">
              <a:lnSpc>
                <a:spcPct val="150000"/>
              </a:lnSpc>
              <a:spcAft>
                <a:spcPts val="600"/>
              </a:spcAft>
            </a:pPr>
            <a:r>
              <a:rPr b="1" lang="fr-FR"/>
              <a:t>P-10 :</a:t>
            </a:r>
            <a:r>
              <a:rPr lang="fr-FR"/>
              <a:t> Destination inchangée, libellé explicite et identification visuelle vérifiées.</a:t>
            </a:r>
          </a:p>
          <a:p>
            <a:pPr lvl="1">
              <a:lnSpc>
                <a:spcPct val="150000"/>
              </a:lnSpc>
              <a:spcAft>
                <a:spcPts val="600"/>
              </a:spcAft>
            </a:pPr>
            <a:r>
              <a:rPr b="1" lang="fr-FR"/>
              <a:t>P-11 :</a:t>
            </a:r>
            <a:r>
              <a:rPr lang="fr-FR"/>
              <a:t> Statut compréhensible dans le texte linéarisé sans en-tête ni arrière-plan.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P-06, P-07, P-08.</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verbaliser l'information utile avant de rédiger ou de supprimer une alternative.</a:t>
            </a:r>
          </a:p>
          <a:p>
            <a:pPr>
              <a:lnSpc>
                <a:spcPct val="150000"/>
              </a:lnSpc>
              <a:spcAft>
                <a:spcPts val="600"/>
              </a:spcAft>
            </a:pPr>
            <a:r>
              <a:rPr b="1" lang="fr-FR"/>
              <a:t>Question de synthèse :</a:t>
            </a:r>
            <a:r>
              <a:rPr lang="fr-FR"/>
              <a:t> Que perd-on si l'image est masquée ?</a:t>
            </a:r>
          </a:p>
          <a:p>
            <a:pPr>
              <a:lnSpc>
                <a:spcPct val="150000"/>
              </a:lnSpc>
              <a:spcAft>
                <a:spcPts val="600"/>
              </a:spcAft>
            </a:pPr>
            <a:r>
              <a:rPr b="1" lang="fr-FR"/>
              <a:t>Preuves attendues :</a:t>
            </a:r>
          </a:p>
          <a:p>
            <a:pPr lvl="1">
              <a:lnSpc>
                <a:spcPct val="150000"/>
              </a:lnSpc>
              <a:spcAft>
                <a:spcPts val="600"/>
              </a:spcAft>
            </a:pPr>
            <a:r>
              <a:rPr b="1" lang="fr-FR"/>
              <a:t>P-06 :</a:t>
            </a:r>
            <a:r>
              <a:rPr lang="fr-FR"/>
              <a:t> Alternative présente dans le DOCX et jugée pertinente par lecture humaine.</a:t>
            </a:r>
          </a:p>
          <a:p>
            <a:pPr lvl="1">
              <a:lnSpc>
                <a:spcPct val="150000"/>
              </a:lnSpc>
              <a:spcAft>
                <a:spcPts val="600"/>
              </a:spcAft>
            </a:pPr>
            <a:r>
              <a:rPr b="1" lang="fr-FR"/>
              <a:t>P-07 :</a:t>
            </a:r>
            <a:r>
              <a:rPr lang="fr-FR"/>
              <a:t> Équivalence d'information vérifiée sans consulter l'image.</a:t>
            </a:r>
          </a:p>
          <a:p>
            <a:pPr lvl="1">
              <a:lnSpc>
                <a:spcPct val="150000"/>
              </a:lnSpc>
              <a:spcAft>
                <a:spcPts val="600"/>
              </a:spcAft>
            </a:pPr>
            <a:r>
              <a:rPr b="1" lang="fr-FR"/>
              <a:t>P-08 :</a:t>
            </a:r>
            <a:r>
              <a:rPr lang="fr-FR"/>
              <a:t> Marqueur décoratif ou équivalent vérifié et absence de perte d'information confirmée.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P-09, P-10.</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tester la sélection du texte puis lire uniquement le libellé du lien.</a:t>
            </a:r>
          </a:p>
          <a:p>
            <a:pPr>
              <a:lnSpc>
                <a:spcPct val="150000"/>
              </a:lnSpc>
              <a:spcAft>
                <a:spcPts val="600"/>
              </a:spcAft>
            </a:pPr>
            <a:r>
              <a:rPr b="1" lang="fr-FR"/>
              <a:t>Question de synthèse :</a:t>
            </a:r>
            <a:r>
              <a:rPr lang="fr-FR"/>
              <a:t> Le texte peut-il être sélectionné et le lien compris tout seul ?</a:t>
            </a:r>
          </a:p>
          <a:p>
            <a:pPr>
              <a:lnSpc>
                <a:spcPct val="150000"/>
              </a:lnSpc>
              <a:spcAft>
                <a:spcPts val="600"/>
              </a:spcAft>
            </a:pPr>
            <a:r>
              <a:rPr b="1" lang="fr-FR"/>
              <a:t>Preuves attendues :</a:t>
            </a:r>
          </a:p>
          <a:p>
            <a:pPr lvl="1">
              <a:lnSpc>
                <a:spcPct val="150000"/>
              </a:lnSpc>
              <a:spcAft>
                <a:spcPts val="600"/>
              </a:spcAft>
            </a:pPr>
            <a:r>
              <a:rPr b="1" lang="fr-FR"/>
              <a:t>P-09 :</a:t>
            </a:r>
            <a:r>
              <a:rPr lang="fr-FR"/>
              <a:t> Texte sélectionnable présent dans le DOCX et image de texte absente.</a:t>
            </a:r>
          </a:p>
          <a:p>
            <a:pPr lvl="1">
              <a:lnSpc>
                <a:spcPct val="150000"/>
              </a:lnSpc>
              <a:spcAft>
                <a:spcPts val="600"/>
              </a:spcAft>
            </a:pPr>
            <a:r>
              <a:rPr b="1" lang="fr-FR"/>
              <a:t>P-10 :</a:t>
            </a:r>
            <a:r>
              <a:rPr lang="fr-FR"/>
              <a:t> Destination inchangée, libellé explicite et identification visuelle vérifiées.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P-11.</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masquer mentalement l'en-tête et l'arrière-plan, sans recréer de filigrane dans l'exercice.</a:t>
            </a:r>
          </a:p>
          <a:p>
            <a:pPr>
              <a:lnSpc>
                <a:spcPct val="150000"/>
              </a:lnSpc>
              <a:spcAft>
                <a:spcPts val="600"/>
              </a:spcAft>
            </a:pPr>
            <a:r>
              <a:rPr b="1" lang="fr-FR"/>
              <a:t>Question de synthèse :</a:t>
            </a:r>
            <a:r>
              <a:rPr lang="fr-FR"/>
              <a:t> Le statut reste-t-il compréhensible quand on lit uniquement le corps ?</a:t>
            </a:r>
          </a:p>
          <a:p>
            <a:pPr>
              <a:lnSpc>
                <a:spcPct val="150000"/>
              </a:lnSpc>
              <a:spcAft>
                <a:spcPts val="600"/>
              </a:spcAft>
            </a:pPr>
            <a:r>
              <a:rPr b="1" lang="fr-FR"/>
              <a:t>Preuves attendues :</a:t>
            </a:r>
            <a:r>
              <a:rPr lang="fr-FR"/>
              <a:t> P-11 : Statut compréhensible dans le texte linéarisé sans en-tête ni arrière-plan.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P-12, P-13, P-14.</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choisir le seuil avant la mesure et rappeler que le graphique se reconstruit directement dans Word.</a:t>
            </a:r>
          </a:p>
          <a:p>
            <a:pPr>
              <a:lnSpc>
                <a:spcPct val="150000"/>
              </a:lnSpc>
              <a:spcAft>
                <a:spcPts val="600"/>
              </a:spcAft>
            </a:pPr>
            <a:r>
              <a:rPr b="1" lang="fr-FR"/>
              <a:t>Question de synthèse :</a:t>
            </a:r>
            <a:r>
              <a:rPr lang="fr-FR"/>
              <a:t> Quelle preuve distingue une impression visuelle d'un contrôle vérifiable ?</a:t>
            </a:r>
          </a:p>
          <a:p>
            <a:pPr>
              <a:lnSpc>
                <a:spcPct val="150000"/>
              </a:lnSpc>
              <a:spcAft>
                <a:spcPts val="600"/>
              </a:spcAft>
            </a:pPr>
            <a:r>
              <a:rPr b="1" lang="fr-FR"/>
              <a:t>Preuves attendues :</a:t>
            </a:r>
          </a:p>
          <a:p>
            <a:pPr lvl="1">
              <a:lnSpc>
                <a:spcPct val="150000"/>
              </a:lnSpc>
              <a:spcAft>
                <a:spcPts val="600"/>
              </a:spcAft>
            </a:pPr>
            <a:r>
              <a:rPr b="1" lang="fr-FR"/>
              <a:t>P-12 :</a:t>
            </a:r>
            <a:r>
              <a:rPr lang="fr-FR"/>
              <a:t> Ratio calculé conservé et couleurs finales vérifiées dans le document.</a:t>
            </a:r>
          </a:p>
          <a:p>
            <a:pPr lvl="1">
              <a:lnSpc>
                <a:spcPct val="150000"/>
              </a:lnSpc>
              <a:spcAft>
                <a:spcPts val="600"/>
              </a:spcAft>
            </a:pPr>
            <a:r>
              <a:rPr b="1" lang="fr-FR"/>
              <a:t>P-13 :</a:t>
            </a:r>
            <a:r>
              <a:rPr lang="fr-FR"/>
              <a:t> Séries et conclusions identifiables en niveaux de gris et dans l'équivalent textuel.</a:t>
            </a:r>
          </a:p>
          <a:p>
            <a:pPr lvl="1">
              <a:lnSpc>
                <a:spcPct val="150000"/>
              </a:lnSpc>
              <a:spcAft>
                <a:spcPts val="600"/>
              </a:spcAft>
            </a:pPr>
            <a:r>
              <a:rPr b="1" lang="fr-FR"/>
              <a:t>P-14 :</a:t>
            </a:r>
            <a:r>
              <a:rPr lang="fr-FR"/>
              <a:t> XML sans fusion ni imbrication et relations de cellules vérifiées à la lecture.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P-12.</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relever les couleurs, choisir le seuil, puis seulement lancer l'outil de mesure.</a:t>
            </a:r>
          </a:p>
          <a:p>
            <a:pPr>
              <a:lnSpc>
                <a:spcPct val="150000"/>
              </a:lnSpc>
              <a:spcAft>
                <a:spcPts val="600"/>
              </a:spcAft>
            </a:pPr>
            <a:r>
              <a:rPr b="1" lang="fr-FR"/>
              <a:t>Question de synthèse :</a:t>
            </a:r>
            <a:r>
              <a:rPr lang="fr-FR"/>
              <a:t> Quel seuil s'applique avant même de lire le résultat ?</a:t>
            </a:r>
          </a:p>
          <a:p>
            <a:pPr>
              <a:lnSpc>
                <a:spcPct val="150000"/>
              </a:lnSpc>
              <a:spcAft>
                <a:spcPts val="600"/>
              </a:spcAft>
            </a:pPr>
            <a:r>
              <a:rPr b="1" lang="fr-FR"/>
              <a:t>Preuves attendues :</a:t>
            </a:r>
            <a:r>
              <a:rPr lang="fr-FR"/>
              <a:t> P-12 : Ratio calculé conservé et couleurs finales vérifiées dans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P-13.</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reconstruire le graphique dans Word à partir des valeurs, puis ajouter étiquettes et motifs.</a:t>
            </a:r>
          </a:p>
          <a:p>
            <a:pPr>
              <a:lnSpc>
                <a:spcPct val="150000"/>
              </a:lnSpc>
              <a:spcAft>
                <a:spcPts val="600"/>
              </a:spcAft>
            </a:pPr>
            <a:r>
              <a:rPr b="1" lang="fr-FR"/>
              <a:t>Question de synthèse :</a:t>
            </a:r>
            <a:r>
              <a:rPr lang="fr-FR"/>
              <a:t> Les séries restent-elles identifiables en niveaux de gris ?</a:t>
            </a:r>
          </a:p>
          <a:p>
            <a:pPr>
              <a:lnSpc>
                <a:spcPct val="150000"/>
              </a:lnSpc>
              <a:spcAft>
                <a:spcPts val="600"/>
              </a:spcAft>
            </a:pPr>
            <a:r>
              <a:rPr b="1" lang="fr-FR"/>
              <a:t>Preuves attendues :</a:t>
            </a:r>
            <a:r>
              <a:rPr lang="fr-FR"/>
              <a:t> P-13 : Séries et conclusions identifiables en niveaux de gris et dans l'équivalent textuel.</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P-14.</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distinguer tableau de données et mise en page avant d'ouvrir les propriétés du tableau.</a:t>
            </a:r>
          </a:p>
          <a:p>
            <a:pPr>
              <a:lnSpc>
                <a:spcPct val="150000"/>
              </a:lnSpc>
              <a:spcAft>
                <a:spcPts val="600"/>
              </a:spcAft>
            </a:pPr>
            <a:r>
              <a:rPr b="1" lang="fr-FR"/>
              <a:t>Question de synthèse :</a:t>
            </a:r>
            <a:r>
              <a:rPr lang="fr-FR"/>
              <a:t> Chaque cellule appartient-elle à une grille de données simple ?</a:t>
            </a:r>
          </a:p>
          <a:p>
            <a:pPr>
              <a:lnSpc>
                <a:spcPct val="150000"/>
              </a:lnSpc>
              <a:spcAft>
                <a:spcPts val="600"/>
              </a:spcAft>
            </a:pPr>
            <a:r>
              <a:rPr b="1" lang="fr-FR"/>
              <a:t>Preuves attendues :</a:t>
            </a:r>
            <a:r>
              <a:rPr lang="fr-FR"/>
              <a:t> P-14 : XML sans fusion ni imbrication et relations de cellules vérifiées à la lecture.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P-15, P-16, P-17, P-18.</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corriger le style source et la langue du passage plutôt que les paragraphes un par un.</a:t>
            </a:r>
          </a:p>
          <a:p>
            <a:pPr>
              <a:lnSpc>
                <a:spcPct val="150000"/>
              </a:lnSpc>
              <a:spcAft>
                <a:spcPts val="600"/>
              </a:spcAft>
            </a:pPr>
            <a:r>
              <a:rPr b="1" lang="fr-FR"/>
              <a:t>Question de synthèse :</a:t>
            </a:r>
            <a:r>
              <a:rPr lang="fr-FR"/>
              <a:t> Le réglage est-il porté par les propriétés et les styles, ou seulement par l'apparence ?</a:t>
            </a:r>
          </a:p>
          <a:p>
            <a:pPr>
              <a:lnSpc>
                <a:spcPct val="150000"/>
              </a:lnSpc>
              <a:spcAft>
                <a:spcPts val="600"/>
              </a:spcAft>
            </a:pPr>
            <a:r>
              <a:rPr b="1" lang="fr-FR"/>
              <a:t>Preuves attendues :</a:t>
            </a:r>
          </a:p>
          <a:p>
            <a:pPr lvl="1">
              <a:lnSpc>
                <a:spcPct val="150000"/>
              </a:lnSpc>
              <a:spcAft>
                <a:spcPts val="600"/>
              </a:spcAft>
            </a:pPr>
            <a:r>
              <a:rPr b="1" lang="fr-FR"/>
              <a:t>P-15 :</a:t>
            </a:r>
            <a:r>
              <a:rPr lang="fr-FR"/>
              <a:t> Propriétés et XML de langue cohérents</a:t>
            </a:r>
          </a:p>
          <a:p>
            <a:pPr lvl="1">
              <a:lnSpc>
                <a:spcPct val="150000"/>
              </a:lnSpc>
              <a:spcAft>
                <a:spcPts val="600"/>
              </a:spcAft>
            </a:pPr>
            <a:r>
              <a:rPr b="1" lang="fr-FR"/>
              <a:t>P-16 :</a:t>
            </a:r>
            <a:r>
              <a:rPr lang="fr-FR"/>
              <a:t> Propriétés typographiques contrôlées dans le DOCX et lisibilité relue.</a:t>
            </a:r>
          </a:p>
          <a:p>
            <a:pPr lvl="1">
              <a:lnSpc>
                <a:spcPct val="150000"/>
              </a:lnSpc>
              <a:spcAft>
                <a:spcPts val="600"/>
              </a:spcAft>
            </a:pPr>
            <a:r>
              <a:rPr b="1" lang="fr-FR"/>
              <a:t>P-17 :</a:t>
            </a:r>
            <a:r>
              <a:rPr lang="fr-FR"/>
              <a:t> Texte XML accentué et contrôle visuel de la casse.</a:t>
            </a:r>
          </a:p>
          <a:p>
            <a:pPr lvl="1">
              <a:lnSpc>
                <a:spcPct val="150000"/>
              </a:lnSpc>
              <a:spcAft>
                <a:spcPts val="600"/>
              </a:spcAft>
            </a:pPr>
            <a:r>
              <a:rPr b="1" lang="fr-FR"/>
              <a:t>P-18 :</a:t>
            </a:r>
            <a:r>
              <a:rPr lang="fr-FR"/>
              <a:t> Première occurrence compréhensible et faute témoin en majuscules détectée.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P-15, P-16.</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distinguer la langue principale de celle du passage, puis modifier le style plutôt que chaque paragraphe.</a:t>
            </a:r>
          </a:p>
          <a:p>
            <a:pPr>
              <a:lnSpc>
                <a:spcPct val="150000"/>
              </a:lnSpc>
              <a:spcAft>
                <a:spcPts val="600"/>
              </a:spcAft>
            </a:pPr>
            <a:r>
              <a:rPr b="1" lang="fr-FR"/>
              <a:t>Question de synthèse :</a:t>
            </a:r>
            <a:r>
              <a:rPr lang="fr-FR"/>
              <a:t> Une correction du style Normal améliore-t-elle tout le corps ?</a:t>
            </a:r>
          </a:p>
          <a:p>
            <a:pPr>
              <a:lnSpc>
                <a:spcPct val="150000"/>
              </a:lnSpc>
              <a:spcAft>
                <a:spcPts val="600"/>
              </a:spcAft>
            </a:pPr>
            <a:r>
              <a:rPr b="1" lang="fr-FR"/>
              <a:t>Preuves attendues :</a:t>
            </a:r>
          </a:p>
          <a:p>
            <a:pPr lvl="1">
              <a:lnSpc>
                <a:spcPct val="150000"/>
              </a:lnSpc>
              <a:spcAft>
                <a:spcPts val="600"/>
              </a:spcAft>
            </a:pPr>
            <a:r>
              <a:rPr b="1" lang="fr-FR"/>
              <a:t>P-15 :</a:t>
            </a:r>
            <a:r>
              <a:rPr lang="fr-FR"/>
              <a:t> Propriétés et XML de langue cohérents</a:t>
            </a:r>
          </a:p>
          <a:p>
            <a:pPr lvl="1">
              <a:lnSpc>
                <a:spcPct val="150000"/>
              </a:lnSpc>
              <a:spcAft>
                <a:spcPts val="600"/>
              </a:spcAft>
            </a:pPr>
            <a:r>
              <a:rPr b="1" lang="fr-FR"/>
              <a:t>P-16 :</a:t>
            </a:r>
            <a:r>
              <a:rPr lang="fr-FR"/>
              <a:t> Propriétés typographiques contrôlées dans le DOCX et lisibilité relue.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P-17, P-18.</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restaurer la saisie normale avant d'appliquer la casse, puis rechercher la première occurrence du sigle.</a:t>
            </a:r>
          </a:p>
          <a:p>
            <a:pPr>
              <a:lnSpc>
                <a:spcPct val="150000"/>
              </a:lnSpc>
              <a:spcAft>
                <a:spcPts val="600"/>
              </a:spcAft>
            </a:pPr>
            <a:r>
              <a:rPr b="1" lang="fr-FR"/>
              <a:t>Question de synthèse :</a:t>
            </a:r>
            <a:r>
              <a:rPr lang="fr-FR"/>
              <a:t> Le texte reste-t-il correctement écrit sous son apparence visuelle ?</a:t>
            </a:r>
          </a:p>
          <a:p>
            <a:pPr>
              <a:lnSpc>
                <a:spcPct val="150000"/>
              </a:lnSpc>
              <a:spcAft>
                <a:spcPts val="600"/>
              </a:spcAft>
            </a:pPr>
            <a:r>
              <a:rPr b="1" lang="fr-FR"/>
              <a:t>Preuves attendues :</a:t>
            </a:r>
          </a:p>
          <a:p>
            <a:pPr lvl="1">
              <a:lnSpc>
                <a:spcPct val="150000"/>
              </a:lnSpc>
              <a:spcAft>
                <a:spcPts val="600"/>
              </a:spcAft>
            </a:pPr>
            <a:r>
              <a:rPr b="1" lang="fr-FR"/>
              <a:t>P-17 :</a:t>
            </a:r>
            <a:r>
              <a:rPr lang="fr-FR"/>
              <a:t> Texte XML accentué et contrôle visuel de la casse.</a:t>
            </a:r>
          </a:p>
          <a:p>
            <a:pPr lvl="1">
              <a:lnSpc>
                <a:spcPct val="150000"/>
              </a:lnSpc>
              <a:spcAft>
                <a:spcPts val="600"/>
              </a:spcAft>
            </a:pPr>
            <a:r>
              <a:rPr b="1" lang="fr-FR"/>
              <a:t>P-18 :</a:t>
            </a:r>
            <a:r>
              <a:rPr lang="fr-FR"/>
              <a:t> Première occurrence compréhensible et faute témoin en majuscules détectée.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18 minutes, synthèse comprise.</a:t>
            </a:r>
          </a:p>
          <a:p>
            <a:pPr>
              <a:lnSpc>
                <a:spcPct val="150000"/>
              </a:lnSpc>
              <a:spcAft>
                <a:spcPts val="600"/>
              </a:spcAft>
            </a:pPr>
            <a:r>
              <a:rPr b="1" lang="fr-FR"/>
              <a:t>Contrôles travaillés sur cette slide :</a:t>
            </a:r>
            <a:r>
              <a:rPr lang="fr-FR"/>
              <a:t> P-19, P-20, C-01, C-02.</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distinguer propriété, vérification Word, export PDF et contrôle post-export.</a:t>
            </a:r>
          </a:p>
          <a:p>
            <a:pPr>
              <a:lnSpc>
                <a:spcPct val="150000"/>
              </a:lnSpc>
              <a:spcAft>
                <a:spcPts val="600"/>
              </a:spcAft>
            </a:pPr>
            <a:r>
              <a:rPr b="1" lang="fr-FR"/>
              <a:t>Question de synthèse :</a:t>
            </a:r>
            <a:r>
              <a:rPr lang="fr-FR"/>
              <a:t> Qu'est-ce que l'outil automatique ne peut pas décider à votre place ?</a:t>
            </a:r>
          </a:p>
          <a:p>
            <a:pPr>
              <a:lnSpc>
                <a:spcPct val="150000"/>
              </a:lnSpc>
              <a:spcAft>
                <a:spcPts val="600"/>
              </a:spcAft>
            </a:pPr>
            <a:r>
              <a:rPr b="1" lang="fr-FR"/>
              <a:t>Preuves attendues :</a:t>
            </a:r>
          </a:p>
          <a:p>
            <a:pPr lvl="1">
              <a:lnSpc>
                <a:spcPct val="150000"/>
              </a:lnSpc>
              <a:spcAft>
                <a:spcPts val="600"/>
              </a:spcAft>
            </a:pPr>
            <a:r>
              <a:rPr b="1" lang="fr-FR"/>
              <a:t>P-19 :</a:t>
            </a:r>
            <a:r>
              <a:rPr lang="fr-FR"/>
              <a:t> Métadonnées inspectées dans le DOCX et nom de sortie relu.</a:t>
            </a:r>
          </a:p>
          <a:p>
            <a:pPr lvl="1">
              <a:lnSpc>
                <a:spcPct val="150000"/>
              </a:lnSpc>
              <a:spcAft>
                <a:spcPts val="600"/>
              </a:spcAft>
            </a:pPr>
            <a:r>
              <a:rPr b="1" lang="fr-FR"/>
              <a:t>P-20 :</a:t>
            </a:r>
            <a:r>
              <a:rPr lang="fr-FR"/>
              <a:t> Propriétés et structure inspectées dans le PDF</a:t>
            </a:r>
          </a:p>
          <a:p>
            <a:pPr lvl="1">
              <a:lnSpc>
                <a:spcPct val="150000"/>
              </a:lnSpc>
              <a:spcAft>
                <a:spcPts val="600"/>
              </a:spcAft>
            </a:pPr>
            <a:r>
              <a:rPr b="1" lang="fr-FR"/>
              <a:t>C-01 :</a:t>
            </a:r>
            <a:r>
              <a:rPr lang="fr-FR"/>
              <a:t> Relevé du vérificateur conservé et alertes résiduelles justifiées.</a:t>
            </a:r>
          </a:p>
          <a:p>
            <a:pPr lvl="1">
              <a:lnSpc>
                <a:spcPct val="150000"/>
              </a:lnSpc>
              <a:spcAft>
                <a:spcPts val="600"/>
              </a:spcAft>
            </a:pPr>
            <a:r>
              <a:rPr b="1" lang="fr-FR"/>
              <a:t>C-02 :</a:t>
            </a:r>
            <a:r>
              <a:rPr lang="fr-FR"/>
              <a:t> Rapport PAC ou Acrobat conservé</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18 minutes, synthèse comprise.</a:t>
            </a:r>
          </a:p>
          <a:p>
            <a:pPr>
              <a:lnSpc>
                <a:spcPct val="150000"/>
              </a:lnSpc>
              <a:spcAft>
                <a:spcPts val="600"/>
              </a:spcAft>
            </a:pPr>
            <a:r>
              <a:rPr b="1" lang="fr-FR"/>
              <a:t>Contrôles travaillés sur cette slide :</a:t>
            </a:r>
            <a:r>
              <a:rPr lang="fr-FR"/>
              <a:t> P-19, C-01.</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renseigner les propriétés avant l'analyse, puis discuter chaque alerte au lieu de viser un écran vert à tout prix.</a:t>
            </a:r>
          </a:p>
          <a:p>
            <a:pPr>
              <a:lnSpc>
                <a:spcPct val="150000"/>
              </a:lnSpc>
              <a:spcAft>
                <a:spcPts val="600"/>
              </a:spcAft>
            </a:pPr>
            <a:r>
              <a:rPr b="1" lang="fr-FR"/>
              <a:t>Question de synthèse :</a:t>
            </a:r>
            <a:r>
              <a:rPr lang="fr-FR"/>
              <a:t> Une absence d'erreur suffit-elle à prouver l'accessibilité ?</a:t>
            </a:r>
          </a:p>
          <a:p>
            <a:pPr>
              <a:lnSpc>
                <a:spcPct val="150000"/>
              </a:lnSpc>
              <a:spcAft>
                <a:spcPts val="600"/>
              </a:spcAft>
            </a:pPr>
            <a:r>
              <a:rPr b="1" lang="fr-FR"/>
              <a:t>Preuves attendues :</a:t>
            </a:r>
          </a:p>
          <a:p>
            <a:pPr lvl="1">
              <a:lnSpc>
                <a:spcPct val="150000"/>
              </a:lnSpc>
              <a:spcAft>
                <a:spcPts val="600"/>
              </a:spcAft>
            </a:pPr>
            <a:r>
              <a:rPr b="1" lang="fr-FR"/>
              <a:t>P-19 :</a:t>
            </a:r>
            <a:r>
              <a:rPr lang="fr-FR"/>
              <a:t> Métadonnées inspectées dans le DOCX et nom de sortie relu.</a:t>
            </a:r>
          </a:p>
          <a:p>
            <a:pPr lvl="1">
              <a:lnSpc>
                <a:spcPct val="150000"/>
              </a:lnSpc>
              <a:spcAft>
                <a:spcPts val="600"/>
              </a:spcAft>
            </a:pPr>
            <a:r>
              <a:rPr b="1" lang="fr-FR"/>
              <a:t>C-01 :</a:t>
            </a:r>
            <a:r>
              <a:rPr lang="fr-FR"/>
              <a:t> Relevé du vérificateur conservé et alertes résiduelles justifiées.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18 minutes, synthèse comprise.</a:t>
            </a:r>
          </a:p>
          <a:p>
            <a:pPr>
              <a:lnSpc>
                <a:spcPct val="150000"/>
              </a:lnSpc>
              <a:spcAft>
                <a:spcPts val="600"/>
              </a:spcAft>
            </a:pPr>
            <a:r>
              <a:rPr b="1" lang="fr-FR"/>
              <a:t>Contrôles travaillés sur cette slide :</a:t>
            </a:r>
            <a:r>
              <a:rPr lang="fr-FR"/>
              <a:t> P-20, C-02.</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vérifier les options avant l'export, puis commenter le rapport PAC sans enseigner la remédiation avancée.</a:t>
            </a:r>
          </a:p>
          <a:p>
            <a:pPr>
              <a:lnSpc>
                <a:spcPct val="150000"/>
              </a:lnSpc>
              <a:spcAft>
                <a:spcPts val="600"/>
              </a:spcAft>
            </a:pPr>
            <a:r>
              <a:rPr b="1" lang="fr-FR"/>
              <a:t>Question de synthèse :</a:t>
            </a:r>
            <a:r>
              <a:rPr lang="fr-FR"/>
              <a:t> Le PDF conserve-t-il le titre, la langue, les balises, les signets et un ordre lisible ?</a:t>
            </a:r>
          </a:p>
          <a:p>
            <a:pPr>
              <a:lnSpc>
                <a:spcPct val="150000"/>
              </a:lnSpc>
              <a:spcAft>
                <a:spcPts val="600"/>
              </a:spcAft>
            </a:pPr>
            <a:r>
              <a:rPr b="1" lang="fr-FR"/>
              <a:t>Preuves attendues :</a:t>
            </a:r>
          </a:p>
          <a:p>
            <a:pPr lvl="1">
              <a:lnSpc>
                <a:spcPct val="150000"/>
              </a:lnSpc>
              <a:spcAft>
                <a:spcPts val="600"/>
              </a:spcAft>
            </a:pPr>
            <a:r>
              <a:rPr b="1" lang="fr-FR"/>
              <a:t>P-20 :</a:t>
            </a:r>
            <a:r>
              <a:rPr lang="fr-FR"/>
              <a:t> Propriétés et structure inspectées dans le PDF</a:t>
            </a:r>
          </a:p>
          <a:p>
            <a:pPr lvl="1">
              <a:lnSpc>
                <a:spcPct val="150000"/>
              </a:lnSpc>
              <a:spcAft>
                <a:spcPts val="600"/>
              </a:spcAft>
            </a:pPr>
            <a:r>
              <a:rPr b="1" lang="fr-FR"/>
              <a:t>C-02 :</a:t>
            </a:r>
            <a:r>
              <a:rPr lang="fr-FR"/>
              <a:t> Rapport PAC ou Acrobat conservé</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Faire relire les cases renseignées après les deux premières stations.</a:t>
            </a:r>
          </a:p>
          <a:p>
            <a:pPr>
              <a:lnSpc>
                <a:spcPct val="150000"/>
              </a:lnSpc>
              <a:spcAft>
                <a:spcPts val="600"/>
              </a:spcAft>
            </a:pPr>
            <a:r>
              <a:rPr lang="fr-FR"/>
              <a:t>La formulation et l'ordre proviennent de la matrice et de la checklist distribuée.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Faire relire les cases renseignées après les stations 3 et 4.</a:t>
            </a:r>
          </a:p>
          <a:p>
            <a:pPr>
              <a:lnSpc>
                <a:spcPct val="150000"/>
              </a:lnSpc>
              <a:spcAft>
                <a:spcPts val="600"/>
              </a:spcAft>
            </a:pPr>
            <a:r>
              <a:rPr lang="fr-FR"/>
              <a:t>Demander quelle preuve a été conservée pour chaque correction.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Faire terminer la checklist humaine.</a:t>
            </a:r>
          </a:p>
          <a:p>
            <a:pPr>
              <a:lnSpc>
                <a:spcPct val="150000"/>
              </a:lnSpc>
              <a:spcAft>
                <a:spcPts val="600"/>
              </a:spcAft>
            </a:pPr>
            <a:r>
              <a:rPr lang="fr-FR"/>
              <a:t>Les contrôles signalés restent importants, mais ne deviennent pas des manipulations obligatoires dans ce TP.</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Cette synthèse dure 15 minutes, de 12 h à 12 h 15, hors des 90 minutes du TP.</a:t>
            </a:r>
          </a:p>
          <a:p>
            <a:pPr>
              <a:lnSpc>
                <a:spcPct val="150000"/>
              </a:lnSpc>
              <a:spcAft>
                <a:spcPts val="600"/>
              </a:spcAft>
            </a:pPr>
            <a:r>
              <a:rPr lang="fr-FR"/>
              <a:t>Recueillir les questions, faire formuler un acquis transférable et annoncer la partie III consacrée aux points de contrôle rapides sur le Web.</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III consacrée au Web.</a:t>
            </a:r>
          </a:p>
          <a:p>
            <a:r>
              <a:rPr lang="fr-FR"/>
              <a:t>Préciser que les points de contrôle rapides permettent de repérer les principaux signaux d’alerte avant un audit approfondi.</a:t>
            </a:r>
          </a:p>
          <a:p>
            <a:r>
              <a:rPr lang="fr-FR"/>
              <a:t>À la fin de la partie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a:p>
            <a:r>
              <a:rPr lang="fr-FR"/>
              <a:t>Faire ouvrir le site d’entraînement : https://alexandra-guiderdoni.github.io/tp-fabrication-igpde-102846-ay11/</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L’audio-description rend accessibles les informations visuelles essentielles : lieux, actions, gestes, expressions et textes affichés.</a:t>
            </a:r>
          </a:p>
          <a:p>
            <a:r>
              <a:rPr lang="fr-FR"/>
              <a:t>Elle s’insère dans les silences sans couvrir les dialogues ni les sons utiles.</a:t>
            </a:r>
          </a:p>
          <a:p>
            <a:r>
              <a:rPr lang="fr-FR"/>
              <a:t>Pour la transcription, faire choisir le niveau adapté à l’usage : semi-intégrale pour restituer l’essentiel, intégrale éditée pour une lecture complète et fluide, verbatim lorsqu’une restitution mot à mot est nécessaire.</a:t>
            </a:r>
          </a:p>
          <a:p>
            <a:r>
              <a:rPr lang="fr-FR"/>
              <a:t>Un outil d’IA peut produire un premier jet, mais la publication exige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la grille d’audit grille-audit-easy-checks.xlsx, téléchargeable depuis la page d’accueil du site d’exercice.</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grille-audit-easy-checks.xlsx, téléchargeable depuis la page d’accueil du site d’exercice.</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IV.</a:t>
            </a:r>
          </a:p>
          <a:p>
            <a:r>
              <a:rPr lang="fr-FR"/>
              <a:t>Préciser que la progression va de l’analyse d’un post à la vérification complète avant publication.</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La checklist réseaux sociaux de fin de module reprend ces réflexes.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un temps pour les questions.</a:t>
            </a:r>
          </a:p>
          <a:p>
            <a:r>
              <a:rPr lang="fr-FR"/>
              <a:t>Rappeler que les stagiaires peuvent nous contacter par mail pour toute question post-formation.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5488" y="320040"/>
            <a:ext cx="2560320" cy="2319695"/>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875520" y="777240"/>
            <a:ext cx="1828800" cy="1828800"/>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atalan.fr/agissons/fr/index.html"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hyperlink" Target="https://obligations-legales-accessibilite-numerique.fr/fr/" TargetMode="External"/><Relationship Id="rId4" Type="http://schemas.openxmlformats.org/officeDocument/2006/relationships/hyperlink" Target="https://obligations-legales-accessibilite-numerique.fr/fr/simulation/" TargetMode="External"/><Relationship Id="rId5" Type="http://schemas.openxmlformats.org/officeDocument/2006/relationships/hyperlink" Target="https://obligations-legales-accessibilite-numerique.fr/fr/comprendre/" TargetMode="Externa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hyperlink" Target="https://handicap.gouv.fr/sites/handicap/files/2025-03/delegation-interministerielle-accessibilite-rapport-activite-2024.pdf" TargetMode="External"/><Relationship Id="rId5" Type="http://schemas.openxmlformats.org/officeDocument/2006/relationships/hyperlink" Target="https://handicap.gouv.fr/sites/handicap/files/2025-03/delegation-interministerielle-accessibilite-synthese-FLAC-rapport-activite-2024.pdf" TargetMode="Externa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jpg"/><Relationship Id="rId3" Type="http://schemas.openxmlformats.org/officeDocument/2006/relationships/image" Target="../media/image29.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hyperlink" Target="https://alexandra-guiderdoni.github.io/tp-fabrication-igpde-102846-ay11/" TargetMode="Externa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hyperlink" Target="https://alexandra-guiderdoni.github.io/tp-fabrication-igpde-102846-ay11/" TargetMode="Externa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303520" y="4114800"/>
            <a:ext cx="6492240" cy="1188720"/>
          </a:xfrm>
        </p:spPr>
        <p:txBody>
          <a:bodyPr wrap="square" anchor="t" lIns="73152" rIns="73152"/>
          <a:lstStyle/>
          <a:p>
            <a:pPr algn="r">
              <a:lnSpc>
                <a:spcPct val="125000"/>
              </a:lnSpc>
            </a:pPr>
            <a:r>
              <a:rPr sz="3200" b="1" i="0" lang="fr-FR">
                <a:solidFill>
                  <a:srgbClr val="000091"/>
                </a:solidFill>
                <a:latin typeface="Marianne"/>
              </a:rPr>
              <a:t>L'accessibilité numérique pour la bureautique et le web</a:t>
            </a:r>
          </a:p>
        </p:txBody>
      </p:sp>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1</a:t>
            </a:r>
            <a:endParaRPr lang="fr-FR" dirty="0"/>
          </a:p>
        </p:txBody>
      </p:sp>
      <p:sp>
        <p:nvSpPr>
          <p:cNvPr id="8" name="DSFR-couverture-soustitre"/>
          <p:cNvSpPr txBox="1"/>
          <p:nvPr/>
        </p:nvSpPr>
        <p:spPr>
          <a:xfrm>
            <a:off x="5303520" y="544068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Marianne"/>
              </a:rPr>
              <a:t>Formation 102846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9 octobre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Marianne"/>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560320" y="868680"/>
            <a:ext cx="7315200" cy="822960"/>
          </a:xfrm>
        </p:spPr>
        <p:txBody>
          <a:bodyPr wrap="square" anchor="t" lIns="73152" rIns="73152"/>
          <a:lstStyle/>
          <a:p>
            <a:pPr algn="ctr">
              <a:lnSpc>
                <a:spcPct val="125000"/>
              </a:lnSpc>
            </a:pPr>
            <a:r>
              <a:rPr sz="3600" b="1" i="0" lang="fr-FR">
                <a:solidFill>
                  <a:srgbClr val="000091"/>
                </a:solidFill>
                <a:latin typeface="Marianne"/>
              </a:rPr>
              <a:t>Objectifs pédagogiques</a:t>
            </a:r>
          </a:p>
        </p:txBody>
      </p:sp>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a:t>
            </a:r>
            <a:endParaRPr lang="fr-FR" dirty="0"/>
          </a:p>
        </p:txBody>
      </p:sp>
      <p:sp>
        <p:nvSpPr>
          <p:cNvPr id="15" name="DSFR-box"/>
          <p:cNvSpPr/>
          <p:nvPr/>
        </p:nvSpPr>
        <p:spPr>
          <a:xfrm>
            <a:off x="548640" y="2103120"/>
            <a:ext cx="5390388" cy="23820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body"/>
          <p:cNvSpPr txBox="1"/>
          <p:nvPr/>
        </p:nvSpPr>
        <p:spPr>
          <a:xfrm>
            <a:off x="704088" y="224027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Expliquer les enjeux de l'accessibilité numérique et son cadre légal dans le contexte de la communication</a:t>
            </a:r>
          </a:p>
          <a:p>
            <a:pPr algn="l">
              <a:lnSpc>
                <a:spcPct val="150000"/>
              </a:lnSpc>
            </a:pPr>
            <a:r>
              <a:rPr sz="1400" lang="fr-FR">
                <a:solidFill>
                  <a:srgbClr val="161616"/>
                </a:solidFill>
                <a:latin typeface="Marianne"/>
              </a:rPr>
              <a:t>• </a:t>
            </a:r>
            <a:r>
              <a:rPr sz="1400" b="0" lang="fr-FR">
                <a:solidFill>
                  <a:srgbClr val="161616"/>
                </a:solidFill>
                <a:latin typeface="Marianne"/>
              </a:rPr>
              <a:t>Identifier et évaluer les principales erreurs d'accessibilité</a:t>
            </a:r>
          </a:p>
          <a:p>
            <a:pPr algn="l">
              <a:lnSpc>
                <a:spcPct val="150000"/>
              </a:lnSpc>
            </a:pPr>
            <a:r>
              <a:rPr sz="1400" lang="fr-FR">
                <a:solidFill>
                  <a:srgbClr val="161616"/>
                </a:solidFill>
                <a:latin typeface="Marianne"/>
              </a:rPr>
              <a:t>• </a:t>
            </a:r>
            <a:r>
              <a:rPr sz="1400" b="0" lang="fr-FR">
                <a:solidFill>
                  <a:srgbClr val="161616"/>
                </a:solidFill>
                <a:latin typeface="Marianne"/>
              </a:rPr>
              <a:t>Rendre des contenus numériques accessibles</a:t>
            </a:r>
          </a:p>
        </p:txBody>
      </p:sp>
      <p:pic>
        <p:nvPicPr>
          <p:cNvPr id="17" name="Picture 16" descr="Affiche du Service d'information du Gouvernement pour les 20 ans de la loi handicap. Un ordinateur à l'écran inversé illustre un outil inaccessible. L'affiche invite les agents publics à utiliser les outils disponibles sur accessibilite.gouv.fr."/>
          <p:cNvPicPr>
            <a:picLocks noChangeAspect="1"/>
          </p:cNvPicPr>
          <p:nvPr/>
        </p:nvPicPr>
        <p:blipFill>
          <a:blip r:embed="rId2"/>
          <a:stretch>
            <a:fillRect/>
          </a:stretch>
        </p:blipFill>
        <p:spPr>
          <a:xfrm>
            <a:off x="6885432" y="1920240"/>
            <a:ext cx="3493008" cy="4167097"/>
          </a:xfrm>
          <a:prstGeom prst="rect">
            <a:avLst/>
          </a:prstGeom>
        </p:spPr>
      </p:pic>
      <p:pic>
        <p:nvPicPr>
          <p:cNvPr id="18" name="DSFR-qrcode" descr="QR code : https://www.info.gouv.fr/accessibilite"/>
          <p:cNvPicPr>
            <a:picLocks noChangeAspect="1"/>
          </p:cNvPicPr>
          <p:nvPr/>
        </p:nvPicPr>
        <p:blipFill>
          <a:blip r:embed="rId3"/>
          <a:stretch>
            <a:fillRect/>
          </a:stretch>
        </p:blipFill>
        <p:spPr>
          <a:xfrm>
            <a:off x="475488" y="4846320"/>
            <a:ext cx="1024128" cy="1024128"/>
          </a:xfrm>
          <a:prstGeom prst="rect">
            <a:avLst/>
          </a:prstGeom>
        </p:spPr>
      </p:pic>
      <p:sp>
        <p:nvSpPr>
          <p:cNvPr id="19" name="DSFR-qrcode-cta"/>
          <p:cNvSpPr txBox="1"/>
          <p:nvPr/>
        </p:nvSpPr>
        <p:spPr>
          <a:xfrm>
            <a:off x="1627632" y="4919472"/>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0" name="DSFR-qrcode-url-visible"/>
          <p:cNvSpPr txBox="1"/>
          <p:nvPr/>
        </p:nvSpPr>
        <p:spPr>
          <a:xfrm>
            <a:off x="1627632" y="5212080"/>
            <a:ext cx="4311396" cy="749808"/>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Marianne"/>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Objectifs</a:t>
            </a:r>
          </a:p>
        </p:txBody>
      </p:sp>
      <p:sp>
        <p:nvSpPr>
          <p:cNvPr id="14" name="DSFR-accent-decoratif" descr=""/>
          <p:cNvSpPr/>
          <p:nvPr/>
        </p:nvSpPr>
        <p:spPr>
          <a:xfrm>
            <a:off x="475488" y="2103120"/>
            <a:ext cx="73152" cy="23820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a:t>
            </a:r>
            <a:endParaRPr lang="fr-FR" dirty="0"/>
          </a:p>
        </p:txBody>
      </p:sp>
      <p:sp>
        <p:nvSpPr>
          <p:cNvPr id="9" name="DSFR-box"/>
          <p:cNvSpPr/>
          <p:nvPr/>
        </p:nvSpPr>
        <p:spPr>
          <a:xfrm>
            <a:off x="548640"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1408176"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Marianne"/>
              </a:rPr>
              <a:t>Accessibilité et cadre légal</a:t>
            </a:r>
          </a:p>
        </p:txBody>
      </p:sp>
      <p:sp>
        <p:nvSpPr>
          <p:cNvPr id="12" name="DSFR-card-contenu"/>
          <p:cNvSpPr txBox="1"/>
          <p:nvPr/>
        </p:nvSpPr>
        <p:spPr>
          <a:xfrm>
            <a:off x="704088"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Enjeux et obligations des acteurs publics</a:t>
            </a:r>
          </a:p>
          <a:p>
            <a:pPr algn="l">
              <a:lnSpc>
                <a:spcPct val="125000"/>
              </a:lnSpc>
            </a:pPr>
            <a:r>
              <a:rPr sz="1400" lang="fr-FR">
                <a:solidFill>
                  <a:srgbClr val="161616"/>
                </a:solidFill>
                <a:latin typeface="Marianne"/>
              </a:rPr>
              <a:t>• </a:t>
            </a:r>
            <a:r>
              <a:rPr sz="1400" b="0" lang="fr-FR">
                <a:solidFill>
                  <a:srgbClr val="161616"/>
                </a:solidFill>
                <a:latin typeface="Marianne"/>
              </a:rPr>
              <a:t>Déclaration d'accessibilité</a:t>
            </a:r>
          </a:p>
        </p:txBody>
      </p:sp>
      <p:sp>
        <p:nvSpPr>
          <p:cNvPr id="14" name="DSFR-box"/>
          <p:cNvSpPr/>
          <p:nvPr/>
        </p:nvSpPr>
        <p:spPr>
          <a:xfrm>
            <a:off x="6313931"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7173467"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Marianne"/>
              </a:rPr>
              <a:t>Bureautique accessible</a:t>
            </a:r>
          </a:p>
        </p:txBody>
      </p:sp>
      <p:sp>
        <p:nvSpPr>
          <p:cNvPr id="17" name="DSFR-card-contenu"/>
          <p:cNvSpPr txBox="1"/>
          <p:nvPr/>
        </p:nvSpPr>
        <p:spPr>
          <a:xfrm>
            <a:off x="6469379"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Documents Word (LibreOffice)</a:t>
            </a:r>
          </a:p>
          <a:p>
            <a:pPr algn="l">
              <a:lnSpc>
                <a:spcPct val="125000"/>
              </a:lnSpc>
            </a:pPr>
            <a:r>
              <a:rPr sz="1400" lang="fr-FR">
                <a:solidFill>
                  <a:srgbClr val="161616"/>
                </a:solidFill>
                <a:latin typeface="Marianne"/>
              </a:rPr>
              <a:t>• </a:t>
            </a:r>
            <a:r>
              <a:rPr sz="1400" b="0" lang="fr-FR">
                <a:solidFill>
                  <a:srgbClr val="161616"/>
                </a:solidFill>
                <a:latin typeface="Marianne"/>
              </a:rPr>
              <a:t>Export PDF accessible</a:t>
            </a:r>
          </a:p>
        </p:txBody>
      </p:sp>
      <p:sp>
        <p:nvSpPr>
          <p:cNvPr id="19" name="DSFR-box"/>
          <p:cNvSpPr/>
          <p:nvPr/>
        </p:nvSpPr>
        <p:spPr>
          <a:xfrm>
            <a:off x="548640"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1408176"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Marianne"/>
              </a:rPr>
              <a:t>Points de contrôle rapides W3C</a:t>
            </a:r>
          </a:p>
        </p:txBody>
      </p:sp>
      <p:sp>
        <p:nvSpPr>
          <p:cNvPr id="22" name="DSFR-card-contenu"/>
          <p:cNvSpPr txBox="1"/>
          <p:nvPr/>
        </p:nvSpPr>
        <p:spPr>
          <a:xfrm>
            <a:off x="704088"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13 vérifications rapides W3C WAI</a:t>
            </a:r>
          </a:p>
          <a:p>
            <a:pPr algn="l">
              <a:lnSpc>
                <a:spcPct val="125000"/>
              </a:lnSpc>
            </a:pPr>
            <a:r>
              <a:rPr sz="1400" lang="fr-FR">
                <a:solidFill>
                  <a:srgbClr val="161616"/>
                </a:solidFill>
                <a:latin typeface="Marianne"/>
              </a:rPr>
              <a:t>• </a:t>
            </a:r>
            <a:r>
              <a:rPr sz="1400" b="0" lang="fr-FR">
                <a:solidFill>
                  <a:srgbClr val="161616"/>
                </a:solidFill>
                <a:latin typeface="Marianne"/>
              </a:rPr>
              <a:t>Démonstration et exercice pratique</a:t>
            </a:r>
          </a:p>
        </p:txBody>
      </p:sp>
      <p:sp>
        <p:nvSpPr>
          <p:cNvPr id="24" name="DSFR-box"/>
          <p:cNvSpPr/>
          <p:nvPr/>
        </p:nvSpPr>
        <p:spPr>
          <a:xfrm>
            <a:off x="6313931"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7173467"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Marianne"/>
              </a:rPr>
              <a:t>Réseaux sociaux</a:t>
            </a:r>
          </a:p>
        </p:txBody>
      </p:sp>
      <p:sp>
        <p:nvSpPr>
          <p:cNvPr id="27" name="DSFR-card-contenu"/>
          <p:cNvSpPr txBox="1"/>
          <p:nvPr/>
        </p:nvSpPr>
        <p:spPr>
          <a:xfrm>
            <a:off x="6469379"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Enjeux et obligations</a:t>
            </a:r>
          </a:p>
          <a:p>
            <a:pPr algn="l">
              <a:lnSpc>
                <a:spcPct val="125000"/>
              </a:lnSpc>
            </a:pPr>
            <a:r>
              <a:rPr sz="1400" lang="fr-FR">
                <a:solidFill>
                  <a:srgbClr val="161616"/>
                </a:solidFill>
                <a:latin typeface="Marianne"/>
              </a:rPr>
              <a:t>• </a:t>
            </a:r>
            <a:r>
              <a:rPr sz="1400" b="0" lang="fr-FR">
                <a:solidFill>
                  <a:srgbClr val="161616"/>
                </a:solidFill>
                <a:latin typeface="Marianne"/>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Programme</a:t>
            </a:r>
          </a:p>
        </p:txBody>
      </p:sp>
      <p:sp>
        <p:nvSpPr>
          <p:cNvPr id="10" name="DSFR-card-numero"/>
          <p:cNvSpPr/>
          <p:nvPr/>
        </p:nvSpPr>
        <p:spPr>
          <a:xfrm>
            <a:off x="704088"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Marianne"/>
              </a:rPr>
              <a:t>1</a:t>
            </a:r>
          </a:p>
        </p:txBody>
      </p:sp>
      <p:sp>
        <p:nvSpPr>
          <p:cNvPr id="15" name="DSFR-card-numero"/>
          <p:cNvSpPr/>
          <p:nvPr/>
        </p:nvSpPr>
        <p:spPr>
          <a:xfrm>
            <a:off x="6469379"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Marianne"/>
              </a:rPr>
              <a:t>2</a:t>
            </a:r>
          </a:p>
        </p:txBody>
      </p:sp>
      <p:sp>
        <p:nvSpPr>
          <p:cNvPr id="20" name="DSFR-card-numero"/>
          <p:cNvSpPr/>
          <p:nvPr/>
        </p:nvSpPr>
        <p:spPr>
          <a:xfrm>
            <a:off x="704088"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Marianne"/>
              </a:rPr>
              <a:t>3</a:t>
            </a:r>
          </a:p>
        </p:txBody>
      </p:sp>
      <p:sp>
        <p:nvSpPr>
          <p:cNvPr id="25" name="DSFR-card-numero"/>
          <p:cNvSpPr/>
          <p:nvPr/>
        </p:nvSpPr>
        <p:spPr>
          <a:xfrm>
            <a:off x="6469379"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Marianne"/>
              </a:rPr>
              <a:t>4</a:t>
            </a:r>
          </a:p>
        </p:txBody>
      </p:sp>
      <p:sp>
        <p:nvSpPr>
          <p:cNvPr id="8" name="DSFR-accent-decoratif" descr=""/>
          <p:cNvSpPr/>
          <p:nvPr/>
        </p:nvSpPr>
        <p:spPr>
          <a:xfrm>
            <a:off x="475488"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Formateur Opquast certifié, référent Assurance Qualité Web</a:t>
            </a:r>
          </a:p>
          <a:p>
            <a:pPr algn="l">
              <a:lnSpc>
                <a:spcPct val="150000"/>
              </a:lnSpc>
            </a:pPr>
            <a:r>
              <a:rPr sz="1400" lang="fr-FR">
                <a:solidFill>
                  <a:srgbClr val="161616"/>
                </a:solidFill>
                <a:latin typeface="Marianne"/>
              </a:rPr>
              <a:t>• </a:t>
            </a:r>
            <a:r>
              <a:rPr sz="1400" b="0" lang="fr-FR">
                <a:solidFill>
                  <a:srgbClr val="161616"/>
                </a:solidFill>
                <a:latin typeface="Marianne"/>
              </a:rPr>
              <a:t>Forme et sensibilise à l'accessibilité depuis plusieurs années</a:t>
            </a:r>
          </a:p>
          <a:p>
            <a:pPr algn="l">
              <a:lnSpc>
                <a:spcPct val="150000"/>
              </a:lnSpc>
            </a:pPr>
            <a:r>
              <a:rPr sz="1400" lang="fr-FR">
                <a:solidFill>
                  <a:srgbClr val="161616"/>
                </a:solidFill>
                <a:latin typeface="Marianne"/>
              </a:rPr>
              <a:t>• </a:t>
            </a:r>
            <a:r>
              <a:rPr sz="1400" b="0" lang="fr-FR">
                <a:solidFill>
                  <a:srgbClr val="161616"/>
                </a:solidFill>
                <a:latin typeface="Marianne"/>
              </a:rPr>
              <a:t>Passionné par la conception inclusive et l'expérience utilisateur</a:t>
            </a:r>
          </a:p>
          <a:p>
            <a:pPr algn="l">
              <a:lnSpc>
                <a:spcPct val="150000"/>
              </a:lnSpc>
            </a:pPr>
            <a:r>
              <a:rPr sz="1400" lang="fr-FR">
                <a:solidFill>
                  <a:srgbClr val="161616"/>
                </a:solidFill>
                <a:latin typeface="Marianne"/>
              </a:rPr>
              <a:t>• </a:t>
            </a:r>
            <a:r>
              <a:rPr sz="1400" b="0" lang="fr-FR">
                <a:solidFill>
                  <a:srgbClr val="161616"/>
                </a:solidFill>
                <a:latin typeface="Marianne"/>
              </a:rPr>
              <a:t>Formé à l'audit d'accessibilité numérique</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Spécialisée dans les technologies web et l'accessibilité numérique</a:t>
            </a:r>
          </a:p>
          <a:p>
            <a:pPr algn="l">
              <a:lnSpc>
                <a:spcPct val="150000"/>
              </a:lnSpc>
            </a:pPr>
            <a:r>
              <a:rPr sz="1400" lang="fr-FR">
                <a:solidFill>
                  <a:srgbClr val="161616"/>
                </a:solidFill>
                <a:latin typeface="Marianne"/>
              </a:rPr>
              <a:t>• </a:t>
            </a:r>
            <a:r>
              <a:rPr sz="1400" b="0" lang="fr-FR">
                <a:solidFill>
                  <a:srgbClr val="161616"/>
                </a:solidFill>
                <a:latin typeface="Marianne"/>
              </a:rPr>
              <a:t>Expérience : Ministère des affaires étrangères, ESN</a:t>
            </a:r>
          </a:p>
          <a:p>
            <a:pPr algn="l">
              <a:lnSpc>
                <a:spcPct val="150000"/>
              </a:lnSpc>
            </a:pPr>
            <a:r>
              <a:rPr sz="1400" lang="fr-FR">
                <a:solidFill>
                  <a:srgbClr val="161616"/>
                </a:solidFill>
                <a:latin typeface="Marianne"/>
              </a:rPr>
              <a:t>• </a:t>
            </a:r>
            <a:r>
              <a:rPr sz="1400" b="0" lang="fr-FR">
                <a:solidFill>
                  <a:srgbClr val="161616"/>
                </a:solidFill>
                <a:latin typeface="Marianne"/>
              </a:rPr>
              <a:t>DU-RAN (diplôme universitaire référent accessibilité numérique), 1re session 2024</a:t>
            </a:r>
          </a:p>
          <a:p>
            <a:pPr algn="l">
              <a:lnSpc>
                <a:spcPct val="150000"/>
              </a:lnSpc>
            </a:pPr>
            <a:r>
              <a:rPr sz="1400" lang="fr-FR">
                <a:solidFill>
                  <a:srgbClr val="161616"/>
                </a:solidFill>
                <a:latin typeface="Marianne"/>
              </a:rPr>
              <a:t>• </a:t>
            </a:r>
            <a:r>
              <a:rPr sz="1400" b="0" lang="fr-FR">
                <a:solidFill>
                  <a:srgbClr val="161616"/>
                </a:solidFill>
                <a:latin typeface="Marianne"/>
              </a:rPr>
              <a:t>Formée à l'audit d'accessibilité numérique RGAA</a:t>
            </a:r>
          </a:p>
          <a:p>
            <a:pPr algn="l">
              <a:lnSpc>
                <a:spcPct val="150000"/>
              </a:lnSpc>
            </a:pPr>
            <a:r>
              <a:rPr sz="1400" lang="fr-FR">
                <a:solidFill>
                  <a:srgbClr val="161616"/>
                </a:solidFill>
                <a:latin typeface="Marianne"/>
              </a:rPr>
              <a:t>• </a:t>
            </a:r>
            <a:r>
              <a:rPr sz="1400" b="0" lang="fr-FR">
                <a:solidFill>
                  <a:srgbClr val="161616"/>
                </a:solidFill>
                <a:latin typeface="Marianne"/>
              </a:rPr>
              <a:t>Formatrice et Référente en Assurance Qualité pour le Web - Opquast</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a:t>
            </a:r>
            <a:endParaRPr lang="fr-FR" dirty="0"/>
          </a:p>
        </p:txBody>
      </p:sp>
      <p:sp>
        <p:nvSpPr>
          <p:cNvPr id="9" name="DSFR-box"/>
          <p:cNvSpPr/>
          <p:nvPr/>
        </p:nvSpPr>
        <p:spPr>
          <a:xfrm>
            <a:off x="548640"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êtes-vous ?</a:t>
            </a:r>
          </a:p>
        </p:txBody>
      </p:sp>
      <p:sp>
        <p:nvSpPr>
          <p:cNvPr id="11" name="DSFR-card-contenu"/>
          <p:cNvSpPr txBox="1"/>
          <p:nvPr/>
        </p:nvSpPr>
        <p:spPr>
          <a:xfrm>
            <a:off x="704088"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Marianne"/>
              </a:rPr>
              <a:t>Bonjour, je m'appelle [prénom]
Je suis [métier / fonction]
chez [direction / service]
depuis [durée]</a:t>
            </a:r>
          </a:p>
        </p:txBody>
      </p:sp>
      <p:sp>
        <p:nvSpPr>
          <p:cNvPr id="13" name="DSFR-box"/>
          <p:cNvSpPr/>
          <p:nvPr/>
        </p:nvSpPr>
        <p:spPr>
          <a:xfrm>
            <a:off x="4392167"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Mon rapport à l'accessibilité</a:t>
            </a:r>
          </a:p>
        </p:txBody>
      </p:sp>
      <p:sp>
        <p:nvSpPr>
          <p:cNvPr id="15" name="DSFR-card-contenu"/>
          <p:cNvSpPr txBox="1"/>
          <p:nvPr/>
        </p:nvSpPr>
        <p:spPr>
          <a:xfrm>
            <a:off x="4547615"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Marianne"/>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j'attends</a:t>
            </a:r>
          </a:p>
        </p:txBody>
      </p:sp>
      <p:sp>
        <p:nvSpPr>
          <p:cNvPr id="19" name="DSFR-card-contenu"/>
          <p:cNvSpPr txBox="1"/>
          <p:nvPr/>
        </p:nvSpPr>
        <p:spPr>
          <a:xfrm>
            <a:off x="8391144"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Marianne"/>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8" name="DSFR-accent-decoratif" descr=""/>
          <p:cNvSpPr/>
          <p:nvPr/>
        </p:nvSpPr>
        <p:spPr>
          <a:xfrm>
            <a:off x="475488"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a:t>
            </a:r>
            <a:endParaRPr lang="fr-FR" dirty="0"/>
          </a:p>
        </p:txBody>
      </p:sp>
      <p:sp>
        <p:nvSpPr>
          <p:cNvPr id="9" name="DSFR-box"/>
          <p:cNvSpPr/>
          <p:nvPr/>
        </p:nvSpPr>
        <p:spPr>
          <a:xfrm>
            <a:off x="548640"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idées reçues</a:t>
            </a:r>
          </a:p>
        </p:txBody>
      </p:sp>
      <p:sp>
        <p:nvSpPr>
          <p:cNvPr id="11" name="DSFR-card-contenu"/>
          <p:cNvSpPr txBox="1"/>
          <p:nvPr/>
        </p:nvSpPr>
        <p:spPr>
          <a:xfrm>
            <a:off x="704088"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Mettez-vous par deux et piochez une carte idée reçue</a:t>
            </a:r>
          </a:p>
          <a:p>
            <a:pPr algn="l">
              <a:lnSpc>
                <a:spcPct val="125000"/>
              </a:lnSpc>
            </a:pPr>
            <a:r>
              <a:rPr sz="1400" lang="fr-FR">
                <a:solidFill>
                  <a:srgbClr val="161616"/>
                </a:solidFill>
                <a:latin typeface="Marianne"/>
              </a:rPr>
              <a:t>• </a:t>
            </a:r>
            <a:r>
              <a:rPr sz="1400" b="0" lang="fr-FR">
                <a:solidFill>
                  <a:srgbClr val="161616"/>
                </a:solidFill>
                <a:latin typeface="Marianne"/>
              </a:rPr>
              <a:t>Présentez-vous et échangez sur votre quotidien</a:t>
            </a:r>
          </a:p>
          <a:p>
            <a:pPr algn="l">
              <a:lnSpc>
                <a:spcPct val="125000"/>
              </a:lnSpc>
            </a:pPr>
            <a:r>
              <a:rPr sz="1400" lang="fr-FR">
                <a:solidFill>
                  <a:srgbClr val="161616"/>
                </a:solidFill>
                <a:latin typeface="Marianne"/>
              </a:rPr>
              <a:t>• </a:t>
            </a:r>
            <a:r>
              <a:rPr sz="1400" b="0" lang="fr-FR">
                <a:solidFill>
                  <a:srgbClr val="161616"/>
                </a:solidFill>
                <a:latin typeface="Marianne"/>
              </a:rPr>
              <a:t>Confrontez vos cartes : qu'en pensez-vous ?</a:t>
            </a:r>
          </a:p>
          <a:p>
            <a:pPr algn="l">
              <a:lnSpc>
                <a:spcPct val="125000"/>
              </a:lnSpc>
            </a:pPr>
            <a:r>
              <a:rPr sz="1400" lang="fr-FR">
                <a:solidFill>
                  <a:srgbClr val="161616"/>
                </a:solidFill>
                <a:latin typeface="Marianne"/>
              </a:rPr>
              <a:t>• </a:t>
            </a:r>
            <a:r>
              <a:rPr sz="1400" b="0" lang="fr-FR">
                <a:solidFill>
                  <a:srgbClr val="161616"/>
                </a:solidFill>
                <a:latin typeface="Marianne"/>
              </a:rPr>
              <a:t>Présentez vos réflexions au groupe - débat ouvert</a:t>
            </a:r>
          </a:p>
        </p:txBody>
      </p:sp>
      <p:sp>
        <p:nvSpPr>
          <p:cNvPr id="13" name="DSFR-box"/>
          <p:cNvSpPr/>
          <p:nvPr/>
        </p:nvSpPr>
        <p:spPr>
          <a:xfrm>
            <a:off x="6313931"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ateliers Word et Web</a:t>
            </a:r>
          </a:p>
        </p:txBody>
      </p:sp>
      <p:sp>
        <p:nvSpPr>
          <p:cNvPr id="15" name="DSFR-card-contenu"/>
          <p:cNvSpPr txBox="1"/>
          <p:nvPr/>
        </p:nvSpPr>
        <p:spPr>
          <a:xfrm>
            <a:off x="6469379"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N'hésitez pas à travailler en binôme</a:t>
            </a:r>
          </a:p>
          <a:p>
            <a:pPr algn="l">
              <a:lnSpc>
                <a:spcPct val="125000"/>
              </a:lnSpc>
            </a:pPr>
            <a:r>
              <a:rPr sz="1400" lang="fr-FR">
                <a:solidFill>
                  <a:srgbClr val="161616"/>
                </a:solidFill>
                <a:latin typeface="Marianne"/>
              </a:rPr>
              <a:t>• </a:t>
            </a:r>
            <a:r>
              <a:rPr sz="1400" b="0" lang="fr-FR">
                <a:solidFill>
                  <a:srgbClr val="161616"/>
                </a:solidFill>
                <a:latin typeface="Marianne"/>
              </a:rPr>
              <a:t>Deux regards repèrent ce qu'un seul ne voit pas</a:t>
            </a:r>
          </a:p>
          <a:p>
            <a:pPr algn="l">
              <a:lnSpc>
                <a:spcPct val="125000"/>
              </a:lnSpc>
            </a:pPr>
            <a:r>
              <a:rPr sz="1400" lang="fr-FR">
                <a:solidFill>
                  <a:srgbClr val="161616"/>
                </a:solidFill>
                <a:latin typeface="Marianne"/>
              </a:rPr>
              <a:t>• </a:t>
            </a:r>
            <a:r>
              <a:rPr sz="1400" b="0" lang="fr-FR">
                <a:solidFill>
                  <a:srgbClr val="161616"/>
                </a:solidFill>
                <a:latin typeface="Marianne"/>
              </a:rPr>
              <a:t>Expliquer à quelqu'un consolide l'apprentissage</a:t>
            </a:r>
          </a:p>
        </p:txBody>
      </p:sp>
      <p:sp>
        <p:nvSpPr>
          <p:cNvPr id="17" name="DSFR-box"/>
          <p:cNvSpPr/>
          <p:nvPr/>
        </p:nvSpPr>
        <p:spPr>
          <a:xfrm>
            <a:off x="548640" y="47548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463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8" name="DSFR-accent-decoratif" descr=""/>
          <p:cNvSpPr/>
          <p:nvPr/>
        </p:nvSpPr>
        <p:spPr>
          <a:xfrm>
            <a:off x="475488"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548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 binôme, confrontez vos cartes : vrai ou faux ?</a:t>
            </a:r>
          </a:p>
          <a:p>
            <a:pPr algn="l">
              <a:lnSpc>
                <a:spcPct val="150000"/>
              </a:lnSpc>
            </a:pPr>
            <a:r>
              <a:rPr sz="1400" lang="fr-FR">
                <a:solidFill>
                  <a:srgbClr val="161616"/>
                </a:solidFill>
                <a:latin typeface="Marianne"/>
              </a:rPr>
              <a:t>• </a:t>
            </a:r>
            <a:r>
              <a:rPr sz="1400" b="0" lang="fr-FR">
                <a:solidFill>
                  <a:srgbClr val="161616"/>
                </a:solidFill>
                <a:latin typeface="Marianne"/>
              </a:rPr>
              <a:t>Échangez vos arguments, préparez votre position</a:t>
            </a:r>
          </a:p>
          <a:p>
            <a:pPr algn="l">
              <a:lnSpc>
                <a:spcPct val="150000"/>
              </a:lnSpc>
            </a:pPr>
            <a:r>
              <a:rPr sz="1400" lang="fr-FR">
                <a:solidFill>
                  <a:srgbClr val="161616"/>
                </a:solidFill>
                <a:latin typeface="Marianne"/>
              </a:rPr>
              <a:t>• </a:t>
            </a:r>
            <a:r>
              <a:rPr sz="1400" b="0" lang="fr-FR">
                <a:solidFill>
                  <a:srgbClr val="161616"/>
                </a:solidFill>
                <a:latin typeface="Marianne"/>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a:t>
            </a:r>
            <a:endParaRPr lang="fr-FR" dirty="0"/>
          </a:p>
        </p:txBody>
      </p:sp>
      <p:sp>
        <p:nvSpPr>
          <p:cNvPr id="9" name="DSFR-box"/>
          <p:cNvSpPr/>
          <p:nvPr/>
        </p:nvSpPr>
        <p:spPr>
          <a:xfrm>
            <a:off x="548640" y="2103120"/>
            <a:ext cx="5390388" cy="272856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49412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ne concerne qu'une minorité de personnes »</a:t>
            </a:r>
          </a:p>
        </p:txBody>
      </p:sp>
      <p:sp>
        <p:nvSpPr>
          <p:cNvPr id="14" name="DSFR-box"/>
          <p:cNvSpPr/>
          <p:nvPr/>
        </p:nvSpPr>
        <p:spPr>
          <a:xfrm>
            <a:off x="6313931" y="2103120"/>
            <a:ext cx="5390388" cy="27285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134209"/>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1 milliard+ de personnes dans le monde vivent avec un handicap (OMS)</a:t>
            </a:r>
          </a:p>
          <a:p>
            <a:pPr algn="l">
              <a:lnSpc>
                <a:spcPct val="130000"/>
              </a:lnSpc>
            </a:pPr>
            <a:r>
              <a:rPr sz="1400" lang="fr-FR">
                <a:solidFill>
                  <a:srgbClr val="161616"/>
                </a:solidFill>
                <a:latin typeface="Marianne"/>
              </a:rPr>
              <a:t>• </a:t>
            </a:r>
            <a:r>
              <a:rPr sz="1400" b="0" lang="fr-FR">
                <a:solidFill>
                  <a:srgbClr val="161616"/>
                </a:solidFill>
                <a:latin typeface="Marianne"/>
              </a:rPr>
              <a:t>Soit 15 % de la population mondiale - 1 personne sur 6</a:t>
            </a:r>
          </a:p>
          <a:p>
            <a:pPr algn="l">
              <a:lnSpc>
                <a:spcPct val="130000"/>
              </a:lnSpc>
            </a:pPr>
            <a:r>
              <a:rPr sz="1400" lang="fr-FR">
                <a:solidFill>
                  <a:srgbClr val="161616"/>
                </a:solidFill>
                <a:latin typeface="Marianne"/>
              </a:rPr>
              <a:t>• </a:t>
            </a:r>
            <a:r>
              <a:rPr sz="1400" b="0" lang="fr-FR">
                <a:solidFill>
                  <a:srgbClr val="161616"/>
                </a:solidFill>
                <a:latin typeface="Marianne"/>
              </a:rPr>
              <a:t>En France : 12 millions de personnes en situation de handicap</a:t>
            </a:r>
          </a:p>
          <a:p>
            <a:pPr algn="l">
              <a:lnSpc>
                <a:spcPct val="130000"/>
              </a:lnSpc>
            </a:pPr>
            <a:r>
              <a:rPr sz="1400" lang="fr-FR">
                <a:solidFill>
                  <a:srgbClr val="161616"/>
                </a:solidFill>
                <a:latin typeface="Marianne"/>
              </a:rPr>
              <a:t>• </a:t>
            </a:r>
            <a:r>
              <a:rPr sz="1400" b="0" lang="fr-FR">
                <a:solidFill>
                  <a:srgbClr val="161616"/>
                </a:solidFill>
                <a:latin typeface="Marianne"/>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919472"/>
            <a:ext cx="868680" cy="868680"/>
          </a:xfrm>
          <a:prstGeom prst="rect">
            <a:avLst/>
          </a:prstGeom>
        </p:spPr>
      </p:pic>
      <p:sp>
        <p:nvSpPr>
          <p:cNvPr id="18" name="DSFR-qrcode-cta"/>
          <p:cNvSpPr txBox="1"/>
          <p:nvPr/>
        </p:nvSpPr>
        <p:spPr>
          <a:xfrm>
            <a:off x="7237475" y="49926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2852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8" name="DSFR-accent-decoratif" descr=""/>
          <p:cNvSpPr/>
          <p:nvPr/>
        </p:nvSpPr>
        <p:spPr>
          <a:xfrm>
            <a:off x="475488"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La créativité et l'UX seront dégradées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L'accessibilité n'impose pas un design archaïque, austère ou sans inspiration</a:t>
            </a:r>
          </a:p>
          <a:p>
            <a:pPr algn="l">
              <a:lnSpc>
                <a:spcPct val="130000"/>
              </a:lnSpc>
            </a:pPr>
            <a:r>
              <a:rPr sz="1400" lang="fr-FR">
                <a:solidFill>
                  <a:srgbClr val="161616"/>
                </a:solidFill>
                <a:latin typeface="Marianne"/>
              </a:rPr>
              <a:t>• </a:t>
            </a:r>
            <a:r>
              <a:rPr sz="1400" b="0" lang="fr-FR">
                <a:solidFill>
                  <a:srgbClr val="161616"/>
                </a:solidFill>
                <a:latin typeface="Marianne"/>
              </a:rPr>
              <a:t>Les contraintes sont des leviers de créativité, pas des freins</a:t>
            </a:r>
          </a:p>
          <a:p>
            <a:pPr algn="l">
              <a:lnSpc>
                <a:spcPct val="130000"/>
              </a:lnSpc>
            </a:pPr>
            <a:r>
              <a:rPr sz="1400" lang="fr-FR">
                <a:solidFill>
                  <a:srgbClr val="161616"/>
                </a:solidFill>
                <a:latin typeface="Marianne"/>
              </a:rPr>
              <a:t>• </a:t>
            </a:r>
            <a:r>
              <a:rPr sz="1400" b="0" lang="fr-FR">
                <a:solidFill>
                  <a:srgbClr val="161616"/>
                </a:solidFill>
                <a:latin typeface="Marianne"/>
              </a:rPr>
              <a:t>Les interfaces les plus accessibles sont souvent les plus claires et élégantes</a:t>
            </a:r>
          </a:p>
          <a:p>
            <a:pPr algn="l">
              <a:lnSpc>
                <a:spcPct val="130000"/>
              </a:lnSpc>
            </a:pPr>
            <a:r>
              <a:rPr sz="1400" lang="fr-FR">
                <a:solidFill>
                  <a:srgbClr val="161616"/>
                </a:solidFill>
                <a:latin typeface="Marianne"/>
              </a:rPr>
              <a:t>• </a:t>
            </a:r>
            <a:r>
              <a:rPr sz="1400" b="0" lang="fr-FR">
                <a:solidFill>
                  <a:srgbClr val="161616"/>
                </a:solidFill>
                <a:latin typeface="Marianne"/>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C'est juste du contraste et des images décrites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Le contraste et les textes alternatifs ne sont que 2 exigences sur des centaines</a:t>
            </a:r>
          </a:p>
          <a:p>
            <a:pPr algn="l">
              <a:lnSpc>
                <a:spcPct val="130000"/>
              </a:lnSpc>
            </a:pPr>
            <a:r>
              <a:rPr sz="1400" lang="fr-FR">
                <a:solidFill>
                  <a:srgbClr val="161616"/>
                </a:solidFill>
                <a:latin typeface="Marianne"/>
              </a:rPr>
              <a:t>• </a:t>
            </a:r>
            <a:r>
              <a:rPr sz="1400" b="0" lang="fr-FR">
                <a:solidFill>
                  <a:srgbClr val="161616"/>
                </a:solidFill>
                <a:latin typeface="Marianne"/>
              </a:rPr>
              <a:t>Le RGAA compte 106 critères, les WCAG 2.1 en comptent 78</a:t>
            </a:r>
          </a:p>
          <a:p>
            <a:pPr algn="l">
              <a:lnSpc>
                <a:spcPct val="130000"/>
              </a:lnSpc>
            </a:pPr>
            <a:r>
              <a:rPr sz="1400" lang="fr-FR">
                <a:solidFill>
                  <a:srgbClr val="161616"/>
                </a:solidFill>
                <a:latin typeface="Marianne"/>
              </a:rPr>
              <a:t>• </a:t>
            </a:r>
            <a:r>
              <a:rPr sz="1400" b="0" lang="fr-FR">
                <a:solidFill>
                  <a:srgbClr val="161616"/>
                </a:solidFill>
                <a:latin typeface="Marianne"/>
              </a:rPr>
              <a:t>Titres, liens, tableaux, formulaires, langue, ordre de lecture ... autant de dimensions</a:t>
            </a:r>
          </a:p>
          <a:p>
            <a:pPr algn="l">
              <a:lnSpc>
                <a:spcPct val="130000"/>
              </a:lnSpc>
            </a:pPr>
            <a:r>
              <a:rPr sz="1400" lang="fr-FR">
                <a:solidFill>
                  <a:srgbClr val="161616"/>
                </a:solidFill>
                <a:latin typeface="Marianne"/>
              </a:rPr>
              <a:t>• </a:t>
            </a:r>
            <a:r>
              <a:rPr sz="1400" b="0" lang="fr-FR">
                <a:solidFill>
                  <a:srgbClr val="161616"/>
                </a:solidFill>
                <a:latin typeface="Marianne"/>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 n'est pas de mon ressort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L'accessibilité ne peut pas être portée par une seule équipe ou une seule personne</a:t>
            </a:r>
          </a:p>
          <a:p>
            <a:pPr algn="l">
              <a:lnSpc>
                <a:spcPct val="130000"/>
              </a:lnSpc>
            </a:pPr>
            <a:r>
              <a:rPr sz="1400" lang="fr-FR">
                <a:solidFill>
                  <a:srgbClr val="161616"/>
                </a:solidFill>
                <a:latin typeface="Marianne"/>
              </a:rPr>
              <a:t>• </a:t>
            </a:r>
            <a:r>
              <a:rPr sz="1400" b="0" lang="fr-FR">
                <a:solidFill>
                  <a:srgbClr val="161616"/>
                </a:solidFill>
                <a:latin typeface="Marianne"/>
              </a:rPr>
              <a:t>Elle implique tous les producteurs de contenu : rédacteurs, communicants, designers ...</a:t>
            </a:r>
          </a:p>
          <a:p>
            <a:pPr algn="l">
              <a:lnSpc>
                <a:spcPct val="130000"/>
              </a:lnSpc>
            </a:pPr>
            <a:r>
              <a:rPr sz="1400" lang="fr-FR">
                <a:solidFill>
                  <a:srgbClr val="161616"/>
                </a:solidFill>
                <a:latin typeface="Marianne"/>
              </a:rPr>
              <a:t>• </a:t>
            </a:r>
            <a:r>
              <a:rPr sz="1400" b="0" lang="fr-FR">
                <a:solidFill>
                  <a:srgbClr val="161616"/>
                </a:solidFill>
                <a:latin typeface="Marianne"/>
              </a:rPr>
              <a:t>Chaque document Word, chaque image publiée engage une responsabilité</a:t>
            </a:r>
          </a:p>
          <a:p>
            <a:pPr algn="l">
              <a:lnSpc>
                <a:spcPct val="130000"/>
              </a:lnSpc>
            </a:pPr>
            <a:r>
              <a:rPr sz="1400" lang="fr-FR">
                <a:solidFill>
                  <a:srgbClr val="161616"/>
                </a:solidFill>
                <a:latin typeface="Marianne"/>
              </a:rPr>
              <a:t>• </a:t>
            </a:r>
            <a:r>
              <a:rPr sz="1400" b="0" lang="fr-FR">
                <a:solidFill>
                  <a:srgbClr val="161616"/>
                </a:solidFill>
                <a:latin typeface="Marianne"/>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coûte trop cher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Oui - si l'accessibilité est traitée comme un ajustement en fin de projet</a:t>
            </a:r>
          </a:p>
          <a:p>
            <a:pPr algn="l">
              <a:lnSpc>
                <a:spcPct val="130000"/>
              </a:lnSpc>
            </a:pPr>
            <a:r>
              <a:rPr sz="1400" lang="fr-FR">
                <a:solidFill>
                  <a:srgbClr val="161616"/>
                </a:solidFill>
                <a:latin typeface="Marianne"/>
              </a:rPr>
              <a:t>• </a:t>
            </a:r>
            <a:r>
              <a:rPr sz="1400" b="0" lang="fr-FR">
                <a:solidFill>
                  <a:srgbClr val="161616"/>
                </a:solidFill>
                <a:latin typeface="Marianne"/>
              </a:rPr>
              <a:t>Non - si elle est intégrée dès la conception (approche « shift left »)</a:t>
            </a:r>
          </a:p>
          <a:p>
            <a:pPr algn="l">
              <a:lnSpc>
                <a:spcPct val="130000"/>
              </a:lnSpc>
            </a:pPr>
            <a:r>
              <a:rPr sz="1400" lang="fr-FR">
                <a:solidFill>
                  <a:srgbClr val="161616"/>
                </a:solidFill>
                <a:latin typeface="Marianne"/>
              </a:rPr>
              <a:t>• </a:t>
            </a:r>
            <a:r>
              <a:rPr sz="1400" b="0" lang="fr-FR">
                <a:solidFill>
                  <a:srgbClr val="161616"/>
                </a:solidFill>
                <a:latin typeface="Marianne"/>
              </a:rPr>
              <a:t>Corriger un document Word après publication : 10 fois plus cher que le faire d'emblée</a:t>
            </a:r>
          </a:p>
          <a:p>
            <a:pPr algn="l">
              <a:lnSpc>
                <a:spcPct val="130000"/>
              </a:lnSpc>
            </a:pPr>
            <a:r>
              <a:rPr sz="1400" lang="fr-FR">
                <a:solidFill>
                  <a:srgbClr val="161616"/>
                </a:solidFill>
                <a:latin typeface="Marianne"/>
              </a:rPr>
              <a:t>• </a:t>
            </a:r>
            <a:r>
              <a:rPr sz="1400" b="0" lang="fr-FR">
                <a:solidFill>
                  <a:srgbClr val="161616"/>
                </a:solidFill>
                <a:latin typeface="Marianne"/>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5</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14</a:t>
            </a:r>
            <a:endParaRPr lang="fr-FR" dirty="0"/>
          </a:p>
        </p:txBody>
      </p:sp>
      <p:sp>
        <p:nvSpPr>
          <p:cNvPr id="9" name="DSFR-box"/>
          <p:cNvSpPr/>
          <p:nvPr/>
        </p:nvSpPr>
        <p:spPr>
          <a:xfrm>
            <a:off x="548640" y="2103120"/>
            <a:ext cx="5390388" cy="32918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20574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On s'en occupe à la fin ! »</a:t>
            </a:r>
          </a:p>
        </p:txBody>
      </p:sp>
      <p:sp>
        <p:nvSpPr>
          <p:cNvPr id="14" name="DSFR-box"/>
          <p:cNvSpPr/>
          <p:nvPr/>
        </p:nvSpPr>
        <p:spPr>
          <a:xfrm>
            <a:off x="6313931" y="2103120"/>
            <a:ext cx="5390388" cy="32918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697480"/>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Prise en compte tardive = grosses corrections après coup</a:t>
            </a:r>
          </a:p>
          <a:p>
            <a:pPr algn="l">
              <a:lnSpc>
                <a:spcPct val="130000"/>
              </a:lnSpc>
            </a:pPr>
            <a:r>
              <a:rPr sz="1400" lang="fr-FR">
                <a:solidFill>
                  <a:srgbClr val="161616"/>
                </a:solidFill>
                <a:latin typeface="Marianne"/>
              </a:rPr>
              <a:t>• </a:t>
            </a:r>
            <a:r>
              <a:rPr sz="1400" b="0" lang="fr-FR">
                <a:solidFill>
                  <a:srgbClr val="161616"/>
                </a:solidFill>
                <a:latin typeface="Marianne"/>
              </a:rPr>
              <a:t>Cela pèse sur l'efficacité des projets et génère de la frustration pour les équipes</a:t>
            </a:r>
          </a:p>
          <a:p>
            <a:pPr algn="l">
              <a:lnSpc>
                <a:spcPct val="130000"/>
              </a:lnSpc>
            </a:pPr>
            <a:r>
              <a:rPr sz="1400" lang="fr-FR">
                <a:solidFill>
                  <a:srgbClr val="161616"/>
                </a:solidFill>
                <a:latin typeface="Marianne"/>
              </a:rPr>
              <a:t>• </a:t>
            </a:r>
            <a:r>
              <a:rPr sz="1400" b="0" lang="fr-FR">
                <a:solidFill>
                  <a:srgbClr val="161616"/>
                </a:solidFill>
                <a:latin typeface="Marianne"/>
              </a:rPr>
              <a:t>L'accessibilité « à la fin » est souvent l'accessibilité jamais faite</a:t>
            </a:r>
          </a:p>
          <a:p>
            <a:pPr algn="l">
              <a:lnSpc>
                <a:spcPct val="130000"/>
              </a:lnSpc>
            </a:pPr>
            <a:r>
              <a:rPr sz="1400" lang="fr-FR">
                <a:solidFill>
                  <a:srgbClr val="161616"/>
                </a:solidFill>
                <a:latin typeface="Marianne"/>
              </a:rPr>
              <a:t>• </a:t>
            </a:r>
            <a:r>
              <a:rPr sz="1400" b="0" lang="fr-FR">
                <a:solidFill>
                  <a:srgbClr val="161616"/>
                </a:solidFill>
                <a:latin typeface="Marianne"/>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5440680"/>
            <a:ext cx="822960" cy="822960"/>
          </a:xfrm>
          <a:prstGeom prst="rect">
            <a:avLst/>
          </a:prstGeom>
        </p:spPr>
      </p:pic>
      <p:sp>
        <p:nvSpPr>
          <p:cNvPr id="18" name="DSFR-qrcode-cta"/>
          <p:cNvSpPr txBox="1"/>
          <p:nvPr/>
        </p:nvSpPr>
        <p:spPr>
          <a:xfrm>
            <a:off x="7191755" y="551383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191755" y="5806440"/>
            <a:ext cx="4457700" cy="54864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6</a:t>
            </a:r>
          </a:p>
        </p:txBody>
      </p:sp>
      <p:sp>
        <p:nvSpPr>
          <p:cNvPr id="8" name="DSFR-accent-decoratif" descr=""/>
          <p:cNvSpPr/>
          <p:nvPr/>
        </p:nvSpPr>
        <p:spPr>
          <a:xfrm>
            <a:off x="475488"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Partie I - Accessibilité et cadre légal</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Partie 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15</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L'accessibilité numérique, c'est quoi ?</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L'accessibilité numérique, c'est pour qui ?</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L'accessibilité numérique, quel cadre légal ?</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L'accessibilité numérique, pourquoi ?</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L'accessibilité numérique, comment s'y mettre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Partie 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1. L'accessibilité numérique, c'est 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Définition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Tous les contenus sont concernés</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applications, newsletters, courriels</a:t>
            </a:r>
          </a:p>
          <a:p>
            <a:pPr algn="l">
              <a:lnSpc>
                <a:spcPct val="120000"/>
              </a:lnSpc>
            </a:pPr>
            <a:r>
              <a:rPr sz="1400" lang="fr-FR">
                <a:solidFill>
                  <a:srgbClr val="161616"/>
                </a:solidFill>
                <a:latin typeface="Marianne"/>
              </a:rPr>
              <a:t>• </a:t>
            </a:r>
            <a:r>
              <a:rPr sz="1400" b="0" lang="fr-FR">
                <a:solidFill>
                  <a:srgbClr val="161616"/>
                </a:solidFill>
                <a:latin typeface="Marianne"/>
              </a:rPr>
              <a:t>Vidéos, podcasts, visuels animés</a:t>
            </a:r>
          </a:p>
          <a:p>
            <a:pPr algn="l">
              <a:lnSpc>
                <a:spcPct val="120000"/>
              </a:lnSpc>
            </a:pPr>
            <a:r>
              <a:rPr sz="1400" lang="fr-FR">
                <a:solidFill>
                  <a:srgbClr val="161616"/>
                </a:solidFill>
                <a:latin typeface="Marianne"/>
              </a:rPr>
              <a:t>• </a:t>
            </a:r>
            <a:r>
              <a:rPr sz="1400" b="0" lang="fr-FR">
                <a:solidFill>
                  <a:srgbClr val="161616"/>
                </a:solidFill>
                <a:latin typeface="Marianne"/>
              </a:rPr>
              <a:t>Documents bureautiques, PDF, formulaires</a:t>
            </a:r>
          </a:p>
          <a:p>
            <a:pPr algn="l">
              <a:lnSpc>
                <a:spcPct val="120000"/>
              </a:lnSpc>
            </a:pPr>
            <a:r>
              <a:rPr sz="1400" lang="fr-FR">
                <a:solidFill>
                  <a:srgbClr val="161616"/>
                </a:solidFill>
                <a:latin typeface="Marianne"/>
              </a:rPr>
              <a:t>• </a:t>
            </a:r>
            <a:r>
              <a:rPr sz="1400" b="0" lang="fr-FR">
                <a:solidFill>
                  <a:srgbClr val="161616"/>
                </a:solidFill>
                <a:latin typeface="Marianne"/>
              </a:rPr>
              <a:t>Affiches, flyers, plans, QR codes</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Utile pour tous, indispensable pour certains</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Handicap permanent, temporaire ou situationnel</a:t>
            </a:r>
          </a:p>
          <a:p>
            <a:pPr algn="l">
              <a:lnSpc>
                <a:spcPct val="120000"/>
              </a:lnSpc>
            </a:pPr>
            <a:r>
              <a:rPr sz="1400" lang="fr-FR">
                <a:solidFill>
                  <a:srgbClr val="161616"/>
                </a:solidFill>
                <a:latin typeface="Marianne"/>
              </a:rPr>
              <a:t>• </a:t>
            </a:r>
            <a:r>
              <a:rPr sz="1400" b="0" lang="fr-FR">
                <a:solidFill>
                  <a:srgbClr val="161616"/>
                </a:solidFill>
                <a:latin typeface="Marianne"/>
              </a:rPr>
              <a:t>Matériel ancien, connexion lente, écran petit</a:t>
            </a:r>
          </a:p>
          <a:p>
            <a:pPr algn="l">
              <a:lnSpc>
                <a:spcPct val="120000"/>
              </a:lnSpc>
            </a:pPr>
            <a:r>
              <a:rPr sz="1400" lang="fr-FR">
                <a:solidFill>
                  <a:srgbClr val="161616"/>
                </a:solidFill>
                <a:latin typeface="Marianne"/>
              </a:rPr>
              <a:t>• </a:t>
            </a:r>
            <a:r>
              <a:rPr sz="1400" b="0" lang="fr-FR">
                <a:solidFill>
                  <a:srgbClr val="161616"/>
                </a:solidFill>
                <a:latin typeface="Marianne"/>
              </a:rPr>
              <a:t>Environnement bruyant, lumineux ou contraint</a:t>
            </a:r>
          </a:p>
          <a:p>
            <a:pPr algn="l">
              <a:lnSpc>
                <a:spcPct val="120000"/>
              </a:lnSpc>
            </a:pPr>
            <a:r>
              <a:rPr sz="1400" lang="fr-FR">
                <a:solidFill>
                  <a:srgbClr val="161616"/>
                </a:solidFill>
                <a:latin typeface="Marianne"/>
              </a:rPr>
              <a:t>• </a:t>
            </a:r>
            <a:r>
              <a:rPr sz="1400" b="0" lang="fr-FR">
                <a:solidFill>
                  <a:srgbClr val="161616"/>
                </a:solidFill>
                <a:latin typeface="Marianne"/>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WCAG et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18</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106 / 13</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
            </a:r>
          </a:p>
        </p:txBody>
      </p:sp>
      <p:sp>
        <p:nvSpPr>
          <p:cNvPr id="17" name="DSFR-texte-libre"/>
          <p:cNvSpPr txBox="1"/>
          <p:nvPr/>
        </p:nvSpPr>
        <p:spPr>
          <a:xfrm>
            <a:off x="475488" y="5125212"/>
            <a:ext cx="11228832" cy="5486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WCAG : référence internationale du W3C. RGAA : référentiel français publié par la DINUM. 106 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principes pour tout retenir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4 principes WCAG</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19</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WCAG reposent sur 4 principes. Chacun se résume en une question à poser devant tout contenu.</a:t>
            </a:r>
          </a:p>
        </p:txBody>
      </p:sp>
      <p:sp>
        <p:nvSpPr>
          <p:cNvPr id="12" name="DSFR-box"/>
          <p:cNvSpPr/>
          <p:nvPr/>
        </p:nvSpPr>
        <p:spPr>
          <a:xfrm>
            <a:off x="548640"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Percevoir</a:t>
            </a:r>
          </a:p>
        </p:txBody>
      </p:sp>
      <p:sp>
        <p:nvSpPr>
          <p:cNvPr id="15" name="DSFR-card-contenu"/>
          <p:cNvSpPr txBox="1"/>
          <p:nvPr/>
        </p:nvSpPr>
        <p:spPr>
          <a:xfrm>
            <a:off x="704088"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L'information reste-t-elle disponible si je ne vois pas ou n'entends pas ?</a:t>
            </a:r>
          </a:p>
        </p:txBody>
      </p:sp>
      <p:sp>
        <p:nvSpPr>
          <p:cNvPr id="17" name="DSFR-box"/>
          <p:cNvSpPr/>
          <p:nvPr/>
        </p:nvSpPr>
        <p:spPr>
          <a:xfrm>
            <a:off x="3431286"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86734"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Utiliser</a:t>
            </a:r>
          </a:p>
        </p:txBody>
      </p:sp>
      <p:sp>
        <p:nvSpPr>
          <p:cNvPr id="20" name="DSFR-card-contenu"/>
          <p:cNvSpPr txBox="1"/>
          <p:nvPr/>
        </p:nvSpPr>
        <p:spPr>
          <a:xfrm>
            <a:off x="3586734"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Puis-je naviguer et agir sans souris, sans geste imposé ?</a:t>
            </a:r>
          </a:p>
        </p:txBody>
      </p:sp>
      <p:sp>
        <p:nvSpPr>
          <p:cNvPr id="22" name="DSFR-box"/>
          <p:cNvSpPr/>
          <p:nvPr/>
        </p:nvSpPr>
        <p:spPr>
          <a:xfrm>
            <a:off x="6313931"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69379"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Comprendre</a:t>
            </a:r>
          </a:p>
        </p:txBody>
      </p:sp>
      <p:sp>
        <p:nvSpPr>
          <p:cNvPr id="25" name="DSFR-card-contenu"/>
          <p:cNvSpPr txBox="1"/>
          <p:nvPr/>
        </p:nvSpPr>
        <p:spPr>
          <a:xfrm>
            <a:off x="6469379"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Les mots, formulaires et comportements sont-ils prévisibles ?</a:t>
            </a:r>
          </a:p>
        </p:txBody>
      </p:sp>
      <p:sp>
        <p:nvSpPr>
          <p:cNvPr id="27" name="DSFR-box"/>
          <p:cNvSpPr/>
          <p:nvPr/>
        </p:nvSpPr>
        <p:spPr>
          <a:xfrm>
            <a:off x="9196578"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52026"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Compatible</a:t>
            </a:r>
          </a:p>
        </p:txBody>
      </p:sp>
      <p:sp>
        <p:nvSpPr>
          <p:cNvPr id="30" name="DSFR-card-contenu"/>
          <p:cNvSpPr txBox="1"/>
          <p:nvPr/>
        </p:nvSpPr>
        <p:spPr>
          <a:xfrm>
            <a:off x="9352026"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Les aides techniques peuvent-elles interpréter l'interface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13" name="DSFR-card-numero"/>
          <p:cNvSpPr/>
          <p:nvPr/>
        </p:nvSpPr>
        <p:spPr>
          <a:xfrm>
            <a:off x="704088"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86734"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69379"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52026"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58134"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123426"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20</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2. L'accessibilité numérique, c'est pour qui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4 familles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type de handicap implique des besoins concrets que vos contenus doivent prendre en compte.</a:t>
            </a:r>
          </a:p>
        </p:txBody>
      </p:sp>
      <p:sp>
        <p:nvSpPr>
          <p:cNvPr id="12" name="DSFR-box"/>
          <p:cNvSpPr/>
          <p:nvPr/>
        </p:nvSpPr>
        <p:spPr>
          <a:xfrm>
            <a:off x="548640"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Visuelle</a:t>
            </a:r>
          </a:p>
        </p:txBody>
      </p:sp>
      <p:sp>
        <p:nvSpPr>
          <p:cNvPr id="14" name="DSFR-card-contenu"/>
          <p:cNvSpPr txBox="1"/>
          <p:nvPr/>
        </p:nvSpPr>
        <p:spPr>
          <a:xfrm>
            <a:off x="704088"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Lecteur d'écran, loupe, contraste</a:t>
            </a:r>
          </a:p>
          <a:p>
            <a:pPr algn="l">
              <a:lnSpc>
                <a:spcPct val="125000"/>
              </a:lnSpc>
            </a:pPr>
            <a:r>
              <a:rPr sz="1400" lang="fr-FR">
                <a:solidFill>
                  <a:srgbClr val="161616"/>
                </a:solidFill>
                <a:latin typeface="Marianne"/>
              </a:rPr>
              <a:t>• </a:t>
            </a:r>
            <a:r>
              <a:rPr sz="1400" b="0" lang="fr-FR">
                <a:solidFill>
                  <a:srgbClr val="161616"/>
                </a:solidFill>
                <a:latin typeface="Marianne"/>
              </a:rPr>
              <a:t>Alt text, structure, couleurs</a:t>
            </a:r>
          </a:p>
        </p:txBody>
      </p:sp>
      <p:sp>
        <p:nvSpPr>
          <p:cNvPr id="16" name="DSFR-box"/>
          <p:cNvSpPr/>
          <p:nvPr/>
        </p:nvSpPr>
        <p:spPr>
          <a:xfrm>
            <a:off x="3431286"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Auditive</a:t>
            </a:r>
          </a:p>
        </p:txBody>
      </p:sp>
      <p:sp>
        <p:nvSpPr>
          <p:cNvPr id="18" name="DSFR-card-contenu"/>
          <p:cNvSpPr txBox="1"/>
          <p:nvPr/>
        </p:nvSpPr>
        <p:spPr>
          <a:xfrm>
            <a:off x="3586734"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Sous-titres, transcription, LSF</a:t>
            </a:r>
          </a:p>
          <a:p>
            <a:pPr algn="l">
              <a:lnSpc>
                <a:spcPct val="125000"/>
              </a:lnSpc>
            </a:pPr>
            <a:r>
              <a:rPr sz="1400" lang="fr-FR">
                <a:solidFill>
                  <a:srgbClr val="161616"/>
                </a:solidFill>
                <a:latin typeface="Marianne"/>
              </a:rPr>
              <a:t>• </a:t>
            </a:r>
            <a:r>
              <a:rPr sz="1400" b="0" lang="fr-FR">
                <a:solidFill>
                  <a:srgbClr val="161616"/>
                </a:solidFill>
                <a:latin typeface="Marianne"/>
              </a:rPr>
              <a:t>Alertes visuelles, pas que sonores</a:t>
            </a:r>
          </a:p>
        </p:txBody>
      </p:sp>
      <p:sp>
        <p:nvSpPr>
          <p:cNvPr id="20" name="DSFR-box"/>
          <p:cNvSpPr/>
          <p:nvPr/>
        </p:nvSpPr>
        <p:spPr>
          <a:xfrm>
            <a:off x="6313931"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Motrice</a:t>
            </a:r>
          </a:p>
        </p:txBody>
      </p:sp>
      <p:sp>
        <p:nvSpPr>
          <p:cNvPr id="22" name="DSFR-card-contenu"/>
          <p:cNvSpPr txBox="1"/>
          <p:nvPr/>
        </p:nvSpPr>
        <p:spPr>
          <a:xfrm>
            <a:off x="6469379"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Clavier seul, contacteur, voix</a:t>
            </a:r>
          </a:p>
          <a:p>
            <a:pPr algn="l">
              <a:lnSpc>
                <a:spcPct val="125000"/>
              </a:lnSpc>
            </a:pPr>
            <a:r>
              <a:rPr sz="1400" lang="fr-FR">
                <a:solidFill>
                  <a:srgbClr val="161616"/>
                </a:solidFill>
                <a:latin typeface="Marianne"/>
              </a:rPr>
              <a:t>• </a:t>
            </a:r>
            <a:r>
              <a:rPr sz="1400" b="0" lang="fr-FR">
                <a:solidFill>
                  <a:srgbClr val="161616"/>
                </a:solidFill>
                <a:latin typeface="Marianne"/>
              </a:rPr>
              <a:t>Cibles larges, pas de geste imposé</a:t>
            </a:r>
          </a:p>
        </p:txBody>
      </p:sp>
      <p:sp>
        <p:nvSpPr>
          <p:cNvPr id="24" name="DSFR-box"/>
          <p:cNvSpPr/>
          <p:nvPr/>
        </p:nvSpPr>
        <p:spPr>
          <a:xfrm>
            <a:off x="9196578"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Cognitive</a:t>
            </a:r>
          </a:p>
        </p:txBody>
      </p:sp>
      <p:sp>
        <p:nvSpPr>
          <p:cNvPr id="26" name="DSFR-card-contenu"/>
          <p:cNvSpPr txBox="1"/>
          <p:nvPr/>
        </p:nvSpPr>
        <p:spPr>
          <a:xfrm>
            <a:off x="9352026"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Langage clair, mise en page aérée</a:t>
            </a:r>
          </a:p>
          <a:p>
            <a:pPr algn="l">
              <a:lnSpc>
                <a:spcPct val="125000"/>
              </a:lnSpc>
            </a:pPr>
            <a:r>
              <a:rPr sz="1400" lang="fr-FR">
                <a:solidFill>
                  <a:srgbClr val="161616"/>
                </a:solidFill>
                <a:latin typeface="Marianne"/>
              </a:rPr>
              <a:t>• </a:t>
            </a:r>
            <a:r>
              <a:rPr sz="1400" b="0" lang="fr-FR">
                <a:solidFill>
                  <a:srgbClr val="161616"/>
                </a:solidFill>
                <a:latin typeface="Marianne"/>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Comprendre pour mieux agir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Comprendre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22</a:t>
            </a:r>
            <a:endParaRPr lang="fr-FR" dirty="0"/>
          </a:p>
        </p:txBody>
      </p:sp>
      <p:sp>
        <p:nvSpPr>
          <p:cNvPr id="9" name="DSFR-box"/>
          <p:cNvSpPr/>
          <p:nvPr/>
        </p:nvSpPr>
        <p:spPr>
          <a:xfrm>
            <a:off x="548640" y="2103120"/>
            <a:ext cx="5390388" cy="18173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5097779" cy="163449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 ne s’agit pas de se mettre à la place d’une personne handicapée, mais d’observer ce que nos choix numériques peuvent faciliter ou bloquer.</a:t>
            </a:r>
          </a:p>
        </p:txBody>
      </p:sp>
      <p:sp>
        <p:nvSpPr>
          <p:cNvPr id="12" name="DSFR-box"/>
          <p:cNvSpPr/>
          <p:nvPr/>
        </p:nvSpPr>
        <p:spPr>
          <a:xfrm>
            <a:off x="548640" y="4148632"/>
            <a:ext cx="5390388"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424007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Testez les simulations suivantes</a:t>
            </a:r>
          </a:p>
        </p:txBody>
      </p:sp>
      <p:sp>
        <p:nvSpPr>
          <p:cNvPr id="14" name="DSFR-callout-body"/>
          <p:cNvSpPr txBox="1"/>
          <p:nvPr/>
        </p:nvSpPr>
        <p:spPr>
          <a:xfrm>
            <a:off x="704088" y="4651552"/>
            <a:ext cx="5143500" cy="1328166"/>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Daltonisme</a:t>
            </a:r>
          </a:p>
          <a:p>
            <a:pPr algn="l">
              <a:lnSpc>
                <a:spcPct val="125000"/>
              </a:lnSpc>
            </a:pPr>
            <a:r>
              <a:rPr sz="1400" lang="fr-FR">
                <a:solidFill>
                  <a:srgbClr val="161616"/>
                </a:solidFill>
                <a:latin typeface="Marianne"/>
              </a:rPr>
              <a:t>• </a:t>
            </a:r>
            <a:r>
              <a:rPr sz="1400" b="0" lang="fr-FR">
                <a:solidFill>
                  <a:srgbClr val="161616"/>
                </a:solidFill>
                <a:latin typeface="Marianne"/>
              </a:rPr>
              <a:t>Malvoyance</a:t>
            </a:r>
          </a:p>
          <a:p>
            <a:pPr algn="l">
              <a:lnSpc>
                <a:spcPct val="125000"/>
              </a:lnSpc>
            </a:pPr>
            <a:r>
              <a:rPr sz="1400" lang="fr-FR">
                <a:solidFill>
                  <a:srgbClr val="161616"/>
                </a:solidFill>
                <a:latin typeface="Marianne"/>
              </a:rPr>
              <a:t>• </a:t>
            </a:r>
            <a:r>
              <a:rPr sz="1400" b="0" lang="fr-FR">
                <a:solidFill>
                  <a:srgbClr val="161616"/>
                </a:solidFill>
                <a:latin typeface="Marianne"/>
              </a:rPr>
              <a:t>Cécité</a:t>
            </a:r>
          </a:p>
          <a:p>
            <a:pPr algn="l">
              <a:lnSpc>
                <a:spcPct val="125000"/>
              </a:lnSpc>
            </a:pPr>
            <a:r>
              <a:rPr sz="1400" lang="fr-FR">
                <a:solidFill>
                  <a:srgbClr val="161616"/>
                </a:solidFill>
                <a:latin typeface="Marianne"/>
              </a:rPr>
              <a:t>• </a:t>
            </a:r>
            <a:r>
              <a:rPr sz="1400" b="0" lang="fr-FR">
                <a:solidFill>
                  <a:srgbClr val="161616"/>
                </a:solidFill>
                <a:latin typeface="Marianne"/>
              </a:rPr>
              <a:t>Surdité</a:t>
            </a:r>
          </a:p>
          <a:p>
            <a:pPr algn="l">
              <a:lnSpc>
                <a:spcPct val="125000"/>
              </a:lnSpc>
            </a:pPr>
            <a:r>
              <a:rPr sz="1400" lang="fr-FR">
                <a:solidFill>
                  <a:srgbClr val="161616"/>
                </a:solidFill>
                <a:latin typeface="Marianne"/>
              </a:rPr>
              <a:t>• </a:t>
            </a:r>
            <a:r>
              <a:rPr sz="1400" b="0" lang="fr-FR">
                <a:solidFill>
                  <a:srgbClr val="161616"/>
                </a:solidFill>
                <a:latin typeface="Marianne"/>
              </a:rPr>
              <a:t>Handicap moteur</a:t>
            </a:r>
          </a:p>
        </p:txBody>
      </p:sp>
      <p:pic>
        <p:nvPicPr>
          <p:cNvPr id="15" name="Picture 14" descr="Page d'accueil du site Atalan - L'accessibilité numérique, et si nous agissions ?"/>
          <p:cNvPicPr>
            <a:picLocks noChangeAspect="1"/>
          </p:cNvPicPr>
          <p:nvPr/>
        </p:nvPicPr>
        <p:blipFill>
          <a:blip r:embed="rId2"/>
          <a:stretch>
            <a:fillRect/>
          </a:stretch>
        </p:blipFill>
        <p:spPr>
          <a:xfrm>
            <a:off x="6240779" y="2103120"/>
            <a:ext cx="5463540" cy="3017520"/>
          </a:xfrm>
          <a:prstGeom prst="rect">
            <a:avLst/>
          </a:prstGeom>
        </p:spPr>
      </p:pic>
      <p:sp>
        <p:nvSpPr>
          <p:cNvPr id="16" name="DSFR-texte-libre"/>
          <p:cNvSpPr txBox="1"/>
          <p:nvPr/>
        </p:nvSpPr>
        <p:spPr>
          <a:xfrm>
            <a:off x="6240779" y="5303520"/>
            <a:ext cx="5463540" cy="457200"/>
          </a:xfrm>
          <a:prstGeom prst="rect">
            <a:avLst/>
          </a:prstGeom>
          <a:noFill/>
        </p:spPr>
        <p:txBody>
          <a:bodyPr wrap="square">
            <a:spAutoFit/>
          </a:bodyPr>
          <a:lstStyle/>
          <a:p>
            <a:pPr algn="ctr"/>
            <a:r>
              <a:rPr sz="1400" b="1" u="sng" lang="fr-FR">
                <a:hlinkClick r:id="rId3"/>
              </a:rPr>
              <a:t>L'accessibilité numérique, et si nous agissions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103120"/>
            <a:ext cx="73152" cy="18173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148632"/>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Amir, chargé d'études - cécité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Amir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23</a:t>
            </a:r>
            <a:endParaRPr lang="fr-FR" dirty="0"/>
          </a:p>
        </p:txBody>
      </p:sp>
      <p:pic>
        <p:nvPicPr>
          <p:cNvPr id="8" name="Picture 7" descr="Portrait illustratif - Amir"/>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Alternative textuelle sur chaque image (attribut alt)</a:t>
            </a:r>
          </a:p>
          <a:p>
            <a:pPr algn="l">
              <a:lnSpc>
                <a:spcPct val="130000"/>
              </a:lnSpc>
            </a:pPr>
            <a:r>
              <a:rPr sz="1400" lang="fr-FR">
                <a:solidFill>
                  <a:srgbClr val="161616"/>
                </a:solidFill>
                <a:latin typeface="Marianne"/>
              </a:rPr>
              <a:t>• </a:t>
            </a:r>
            <a:r>
              <a:rPr sz="1400" b="0" lang="fr-FR">
                <a:solidFill>
                  <a:srgbClr val="161616"/>
                </a:solidFill>
                <a:latin typeface="Marianne"/>
              </a:rPr>
              <a:t>Structure logique du document (titres, listes, tableaux)</a:t>
            </a:r>
          </a:p>
          <a:p>
            <a:pPr algn="l">
              <a:lnSpc>
                <a:spcPct val="130000"/>
              </a:lnSpc>
            </a:pPr>
            <a:r>
              <a:rPr sz="1400" lang="fr-FR">
                <a:solidFill>
                  <a:srgbClr val="161616"/>
                </a:solidFill>
                <a:latin typeface="Marianne"/>
              </a:rPr>
              <a:t>• </a:t>
            </a:r>
            <a:r>
              <a:rPr sz="1400" b="0" lang="fr-FR">
                <a:solidFill>
                  <a:srgbClr val="161616"/>
                </a:solidFill>
                <a:latin typeface="Marianne"/>
              </a:rPr>
              <a:t>Liens explicites (pas de « cliquez ici »)</a:t>
            </a:r>
          </a:p>
          <a:p>
            <a:pPr algn="l">
              <a:lnSpc>
                <a:spcPct val="130000"/>
              </a:lnSpc>
            </a:pPr>
            <a:r>
              <a:rPr sz="1400" lang="fr-FR">
                <a:solidFill>
                  <a:srgbClr val="161616"/>
                </a:solidFill>
                <a:latin typeface="Marianne"/>
              </a:rPr>
              <a:t>• </a:t>
            </a:r>
            <a:r>
              <a:rPr sz="1400" b="0" lang="fr-FR">
                <a:solidFill>
                  <a:srgbClr val="161616"/>
                </a:solidFill>
                <a:latin typeface="Marianne"/>
              </a:rPr>
              <a:t>Formulaires avec des étiquettes associées aux champs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 + Compatible</a:t>
            </a:r>
          </a:p>
        </p:txBody>
      </p:sp>
      <p:pic>
        <p:nvPicPr>
          <p:cNvPr id="16" name="Picture 15" descr="Lecteurs d'écran"/>
          <p:cNvPicPr>
            <a:picLocks noChangeAspect="1"/>
          </p:cNvPicPr>
          <p:nvPr/>
        </p:nvPicPr>
        <p:blipFill>
          <a:blip r:embed="rId3"/>
          <a:stretch>
            <a:fillRect/>
          </a:stretch>
        </p:blipFill>
        <p:spPr>
          <a:xfrm>
            <a:off x="1918000" y="4617720"/>
            <a:ext cx="656751" cy="1201020"/>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Marianne"/>
              </a:rPr>
              <a:t>Lecteurs d'écran</a:t>
            </a:r>
          </a:p>
        </p:txBody>
      </p:sp>
      <p:pic>
        <p:nvPicPr>
          <p:cNvPr id="18" name="Picture 17" descr="Plage braille"/>
          <p:cNvPicPr>
            <a:picLocks noChangeAspect="1"/>
          </p:cNvPicPr>
          <p:nvPr/>
        </p:nvPicPr>
        <p:blipFill>
          <a:blip r:embed="rId4"/>
          <a:stretch>
            <a:fillRect/>
          </a:stretch>
        </p:blipFill>
        <p:spPr>
          <a:xfrm>
            <a:off x="5065145" y="4617720"/>
            <a:ext cx="2049517" cy="1358919"/>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Marianne"/>
              </a:rPr>
              <a:t>Plage braille</a:t>
            </a:r>
          </a:p>
        </p:txBody>
      </p:sp>
      <p:pic>
        <p:nvPicPr>
          <p:cNvPr id="20" name="Picture 19" descr="Synthèse vocale"/>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Marianne"/>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Anaïs, gestionnaire RH - malvoyance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Anaïs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24</a:t>
            </a:r>
            <a:endParaRPr lang="fr-FR" dirty="0"/>
          </a:p>
        </p:txBody>
      </p:sp>
      <p:pic>
        <p:nvPicPr>
          <p:cNvPr id="8" name="Picture 7" descr="Portrait illustratif - Anaïs"/>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Agrandir la taille des textes et des interfaces</a:t>
            </a:r>
          </a:p>
          <a:p>
            <a:pPr algn="l">
              <a:lnSpc>
                <a:spcPct val="130000"/>
              </a:lnSpc>
            </a:pPr>
            <a:r>
              <a:rPr sz="1400" lang="fr-FR">
                <a:solidFill>
                  <a:srgbClr val="161616"/>
                </a:solidFill>
                <a:latin typeface="Marianne"/>
              </a:rPr>
              <a:t>• </a:t>
            </a:r>
            <a:r>
              <a:rPr sz="1400" b="0" lang="fr-FR">
                <a:solidFill>
                  <a:srgbClr val="161616"/>
                </a:solidFill>
                <a:latin typeface="Marianne"/>
              </a:rPr>
              <a:t>Contraste suffisant entre texte et fond (ratio 4.5:1 minimum)</a:t>
            </a:r>
          </a:p>
          <a:p>
            <a:pPr algn="l">
              <a:lnSpc>
                <a:spcPct val="130000"/>
              </a:lnSpc>
            </a:pPr>
            <a:r>
              <a:rPr sz="1400" lang="fr-FR">
                <a:solidFill>
                  <a:srgbClr val="161616"/>
                </a:solidFill>
                <a:latin typeface="Marianne"/>
              </a:rPr>
              <a:t>• </a:t>
            </a:r>
            <a:r>
              <a:rPr sz="1400" b="0" lang="fr-FR">
                <a:solidFill>
                  <a:srgbClr val="161616"/>
                </a:solidFill>
                <a:latin typeface="Marianne"/>
              </a:rPr>
              <a:t>Pouvoir naviguer sans dépendre uniquement des couleurs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a:t>
            </a:r>
          </a:p>
        </p:txBody>
      </p:sp>
      <p:sp>
        <p:nvSpPr>
          <p:cNvPr id="17" name="DSFR-box"/>
          <p:cNvSpPr/>
          <p:nvPr/>
        </p:nvSpPr>
        <p:spPr>
          <a:xfrm>
            <a:off x="548640"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704088"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Agrandissement</a:t>
            </a:r>
          </a:p>
        </p:txBody>
      </p:sp>
      <p:sp>
        <p:nvSpPr>
          <p:cNvPr id="20" name="DSFR-box"/>
          <p:cNvSpPr/>
          <p:nvPr/>
        </p:nvSpPr>
        <p:spPr>
          <a:xfrm>
            <a:off x="4392167"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encadre-titre"/>
          <p:cNvSpPr txBox="1"/>
          <p:nvPr/>
        </p:nvSpPr>
        <p:spPr>
          <a:xfrm>
            <a:off x="4547615"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Contraste renforcé</a:t>
            </a:r>
          </a:p>
        </p:txBody>
      </p:sp>
      <p:sp>
        <p:nvSpPr>
          <p:cNvPr id="23" name="DSFR-box"/>
          <p:cNvSpPr/>
          <p:nvPr/>
        </p:nvSpPr>
        <p:spPr>
          <a:xfrm>
            <a:off x="8235695"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encadre-titre"/>
          <p:cNvSpPr txBox="1"/>
          <p:nvPr/>
        </p:nvSpPr>
        <p:spPr>
          <a:xfrm>
            <a:off x="8391144"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319015"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8162543"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Justine, chargée de communication - surdité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Justine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25</a:t>
            </a:r>
            <a:endParaRPr lang="fr-FR" dirty="0"/>
          </a:p>
        </p:txBody>
      </p:sp>
      <p:pic>
        <p:nvPicPr>
          <p:cNvPr id="8" name="Picture 7" descr="Portrait illustratif - Justin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Sous-titres sur toutes les vidéos et contenus audio</a:t>
            </a:r>
          </a:p>
          <a:p>
            <a:pPr algn="l">
              <a:lnSpc>
                <a:spcPct val="130000"/>
              </a:lnSpc>
            </a:pPr>
            <a:r>
              <a:rPr sz="1400" lang="fr-FR">
                <a:solidFill>
                  <a:srgbClr val="161616"/>
                </a:solidFill>
                <a:latin typeface="Marianne"/>
              </a:rPr>
              <a:t>• </a:t>
            </a:r>
            <a:r>
              <a:rPr sz="1400" b="0" lang="fr-FR">
                <a:solidFill>
                  <a:srgbClr val="161616"/>
                </a:solidFill>
                <a:latin typeface="Marianne"/>
              </a:rPr>
              <a:t>Transcription textuelle des podcasts et webinaires</a:t>
            </a:r>
          </a:p>
          <a:p>
            <a:pPr algn="l">
              <a:lnSpc>
                <a:spcPct val="130000"/>
              </a:lnSpc>
            </a:pPr>
            <a:r>
              <a:rPr sz="1400" lang="fr-FR">
                <a:solidFill>
                  <a:srgbClr val="161616"/>
                </a:solidFill>
                <a:latin typeface="Marianne"/>
              </a:rPr>
              <a:t>• </a:t>
            </a:r>
            <a:r>
              <a:rPr sz="1400" b="0" lang="fr-FR">
                <a:solidFill>
                  <a:srgbClr val="161616"/>
                </a:solidFill>
                <a:latin typeface="Marianne"/>
              </a:rPr>
              <a:t>Alertes visuelles, jamais uniquement sonores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a:t>
            </a:r>
          </a:p>
        </p:txBody>
      </p:sp>
      <p:sp>
        <p:nvSpPr>
          <p:cNvPr id="17" name="DSFR-box"/>
          <p:cNvSpPr/>
          <p:nvPr/>
        </p:nvSpPr>
        <p:spPr>
          <a:xfrm>
            <a:off x="548640"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704088"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Sous-titres relus</a:t>
            </a:r>
          </a:p>
        </p:txBody>
      </p:sp>
      <p:sp>
        <p:nvSpPr>
          <p:cNvPr id="20" name="DSFR-box"/>
          <p:cNvSpPr/>
          <p:nvPr/>
        </p:nvSpPr>
        <p:spPr>
          <a:xfrm>
            <a:off x="4392167"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encadre-titre"/>
          <p:cNvSpPr txBox="1"/>
          <p:nvPr/>
        </p:nvSpPr>
        <p:spPr>
          <a:xfrm>
            <a:off x="4547615"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Transcription</a:t>
            </a:r>
          </a:p>
        </p:txBody>
      </p:sp>
      <p:sp>
        <p:nvSpPr>
          <p:cNvPr id="23" name="DSFR-box"/>
          <p:cNvSpPr/>
          <p:nvPr/>
        </p:nvSpPr>
        <p:spPr>
          <a:xfrm>
            <a:off x="8235695"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encadre-titre"/>
          <p:cNvSpPr txBox="1"/>
          <p:nvPr/>
        </p:nvSpPr>
        <p:spPr>
          <a:xfrm>
            <a:off x="8391144"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Alertes visuelles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319015"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8162543"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Agathe, chargée de mission - déficience motrice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Agathe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26</a:t>
            </a:r>
            <a:endParaRPr lang="fr-FR" dirty="0"/>
          </a:p>
        </p:txBody>
      </p:sp>
      <p:pic>
        <p:nvPicPr>
          <p:cNvPr id="8" name="Picture 7" descr="Portrait illustratif - Agath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Naviguer sans souris, avec des contacteurs adaptés</a:t>
            </a:r>
          </a:p>
          <a:p>
            <a:pPr algn="l">
              <a:lnSpc>
                <a:spcPct val="130000"/>
              </a:lnSpc>
            </a:pPr>
            <a:r>
              <a:rPr sz="1400" lang="fr-FR">
                <a:solidFill>
                  <a:srgbClr val="161616"/>
                </a:solidFill>
                <a:latin typeface="Marianne"/>
              </a:rPr>
              <a:t>• </a:t>
            </a:r>
            <a:r>
              <a:rPr sz="1400" b="0" lang="fr-FR">
                <a:solidFill>
                  <a:srgbClr val="161616"/>
                </a:solidFill>
                <a:latin typeface="Marianne"/>
              </a:rPr>
              <a:t>Cibles cliquables suffisamment larges (44 x 44 px minimum)</a:t>
            </a:r>
          </a:p>
          <a:p>
            <a:pPr algn="l">
              <a:lnSpc>
                <a:spcPct val="130000"/>
              </a:lnSpc>
            </a:pPr>
            <a:r>
              <a:rPr sz="1400" lang="fr-FR">
                <a:solidFill>
                  <a:srgbClr val="161616"/>
                </a:solidFill>
                <a:latin typeface="Marianne"/>
              </a:rPr>
              <a:t>• </a:t>
            </a:r>
            <a:r>
              <a:rPr sz="1400" b="0" lang="fr-FR">
                <a:solidFill>
                  <a:srgbClr val="161616"/>
                </a:solidFill>
                <a:latin typeface="Marianne"/>
              </a:rPr>
              <a:t>Commande vocale pour piloter l'interface</a:t>
            </a:r>
          </a:p>
        </p:txBody>
      </p:sp>
      <p:sp>
        <p:nvSpPr>
          <p:cNvPr id="14" name="DSFR-box"/>
          <p:cNvSpPr/>
          <p:nvPr/>
        </p:nvSpPr>
        <p:spPr>
          <a:xfrm>
            <a:off x="548640" y="4041648"/>
            <a:ext cx="1938528" cy="41148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Marianne"/>
              </a:rPr>
              <a:t>Utiliser</a:t>
            </a:r>
          </a:p>
        </p:txBody>
      </p:sp>
      <p:sp>
        <p:nvSpPr>
          <p:cNvPr id="17" name="DSFR-box"/>
          <p:cNvSpPr/>
          <p:nvPr/>
        </p:nvSpPr>
        <p:spPr>
          <a:xfrm>
            <a:off x="548640" y="4617720"/>
            <a:ext cx="3468623" cy="123444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704088"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Marianne"/>
              </a:rPr>
              <a:t>Clavier et contacteurs</a:t>
            </a:r>
          </a:p>
        </p:txBody>
      </p:sp>
      <p:sp>
        <p:nvSpPr>
          <p:cNvPr id="20" name="DSFR-box"/>
          <p:cNvSpPr/>
          <p:nvPr/>
        </p:nvSpPr>
        <p:spPr>
          <a:xfrm>
            <a:off x="4392167" y="4617720"/>
            <a:ext cx="3468623" cy="123444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encadre-titre"/>
          <p:cNvSpPr txBox="1"/>
          <p:nvPr/>
        </p:nvSpPr>
        <p:spPr>
          <a:xfrm>
            <a:off x="4547615"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Marianne"/>
              </a:rPr>
              <a:t>Souris trackball</a:t>
            </a:r>
          </a:p>
        </p:txBody>
      </p:sp>
      <p:sp>
        <p:nvSpPr>
          <p:cNvPr id="23" name="DSFR-box"/>
          <p:cNvSpPr/>
          <p:nvPr/>
        </p:nvSpPr>
        <p:spPr>
          <a:xfrm>
            <a:off x="8235695" y="4617720"/>
            <a:ext cx="3468623" cy="123444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encadre-titre"/>
          <p:cNvSpPr txBox="1"/>
          <p:nvPr/>
        </p:nvSpPr>
        <p:spPr>
          <a:xfrm>
            <a:off x="8391144"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Marianne"/>
              </a:rPr>
              <a:t>Commande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17720"/>
            <a:ext cx="73152" cy="123444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319015" y="4617720"/>
            <a:ext cx="73152" cy="123444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8162543" y="4617720"/>
            <a:ext cx="73152" cy="123444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Anatole, lycéen - handicap cognitif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Anatole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27</a:t>
            </a:r>
            <a:endParaRPr lang="fr-FR" dirty="0"/>
          </a:p>
        </p:txBody>
      </p:sp>
      <p:pic>
        <p:nvPicPr>
          <p:cNvPr id="8" name="Picture 7" descr="Portrait illustratif - Anatol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Phrases courtes et simples, sans double négation</a:t>
            </a:r>
          </a:p>
          <a:p>
            <a:pPr algn="l">
              <a:lnSpc>
                <a:spcPct val="130000"/>
              </a:lnSpc>
            </a:pPr>
            <a:r>
              <a:rPr sz="1400" lang="fr-FR">
                <a:solidFill>
                  <a:srgbClr val="161616"/>
                </a:solidFill>
                <a:latin typeface="Marianne"/>
              </a:rPr>
              <a:t>• </a:t>
            </a:r>
            <a:r>
              <a:rPr sz="1400" b="0" lang="fr-FR">
                <a:solidFill>
                  <a:srgbClr val="161616"/>
                </a:solidFill>
                <a:latin typeface="Marianne"/>
              </a:rPr>
              <a:t>Mise en page aérée, une idée par paragraphe</a:t>
            </a:r>
          </a:p>
          <a:p>
            <a:pPr algn="l">
              <a:lnSpc>
                <a:spcPct val="130000"/>
              </a:lnSpc>
            </a:pPr>
            <a:r>
              <a:rPr sz="1400" lang="fr-FR">
                <a:solidFill>
                  <a:srgbClr val="161616"/>
                </a:solidFill>
                <a:latin typeface="Marianne"/>
              </a:rPr>
              <a:t>• </a:t>
            </a:r>
            <a:r>
              <a:rPr sz="1400" b="0" lang="fr-FR">
                <a:solidFill>
                  <a:srgbClr val="161616"/>
                </a:solidFill>
                <a:latin typeface="Marianne"/>
              </a:rPr>
              <a:t>Pictogrammes pour accompagner le texte</a:t>
            </a:r>
          </a:p>
          <a:p>
            <a:pPr algn="l">
              <a:lnSpc>
                <a:spcPct val="130000"/>
              </a:lnSpc>
            </a:pPr>
            <a:r>
              <a:rPr sz="1400" lang="fr-FR">
                <a:solidFill>
                  <a:srgbClr val="161616"/>
                </a:solidFill>
                <a:latin typeface="Marianne"/>
              </a:rPr>
              <a:t>• </a:t>
            </a:r>
            <a:r>
              <a:rPr sz="1400" b="0" lang="fr-FR">
                <a:solidFill>
                  <a:srgbClr val="161616"/>
                </a:solidFill>
                <a:latin typeface="Marianne"/>
              </a:rPr>
              <a:t>Navigation prévisible, sans changements inattendus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Marianne"/>
              </a:rPr>
              <a:t>Comprendre</a:t>
            </a:r>
          </a:p>
        </p:txBody>
      </p:sp>
      <p:sp>
        <p:nvSpPr>
          <p:cNvPr id="17" name="DSFR-box"/>
          <p:cNvSpPr/>
          <p:nvPr/>
        </p:nvSpPr>
        <p:spPr>
          <a:xfrm>
            <a:off x="548640" y="4498848"/>
            <a:ext cx="11155680"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59028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Profil</a:t>
            </a:r>
          </a:p>
        </p:txBody>
      </p:sp>
      <p:sp>
        <p:nvSpPr>
          <p:cNvPr id="19" name="DSFR-callout-body"/>
          <p:cNvSpPr txBox="1"/>
          <p:nvPr/>
        </p:nvSpPr>
        <p:spPr>
          <a:xfrm>
            <a:off x="704088" y="5001768"/>
            <a:ext cx="10908792" cy="104973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Porteur de trisomie 21</a:t>
            </a:r>
          </a:p>
          <a:p>
            <a:pPr algn="l">
              <a:lnSpc>
                <a:spcPct val="120000"/>
              </a:lnSpc>
            </a:pPr>
            <a:r>
              <a:rPr sz="1400" lang="fr-FR">
                <a:solidFill>
                  <a:srgbClr val="161616"/>
                </a:solidFill>
                <a:latin typeface="Marianne"/>
              </a:rPr>
              <a:t>• </a:t>
            </a:r>
            <a:r>
              <a:rPr sz="1400" b="0" lang="fr-FR">
                <a:solidFill>
                  <a:srgbClr val="161616"/>
                </a:solidFill>
                <a:latin typeface="Marianne"/>
              </a:rPr>
              <a:t>Lire lui demande du temps et de la concentration</a:t>
            </a:r>
          </a:p>
          <a:p>
            <a:pPr algn="l">
              <a:lnSpc>
                <a:spcPct val="120000"/>
              </a:lnSpc>
            </a:pPr>
            <a:r>
              <a:rPr sz="1400" lang="fr-FR">
                <a:solidFill>
                  <a:srgbClr val="161616"/>
                </a:solidFill>
                <a:latin typeface="Marianne"/>
              </a:rPr>
              <a:t>• </a:t>
            </a:r>
            <a:r>
              <a:rPr sz="1400" b="0" lang="fr-FR">
                <a:solidFill>
                  <a:srgbClr val="161616"/>
                </a:solidFill>
                <a:latin typeface="Marianne"/>
              </a:rPr>
              <a:t>Il comprend mieux les phrases simples et courtes</a:t>
            </a:r>
          </a:p>
          <a:p>
            <a:pPr algn="l">
              <a:lnSpc>
                <a:spcPct val="120000"/>
              </a:lnSpc>
            </a:pPr>
            <a:r>
              <a:rPr sz="1400" lang="fr-FR">
                <a:solidFill>
                  <a:srgbClr val="161616"/>
                </a:solidFill>
                <a:latin typeface="Marianne"/>
              </a:rPr>
              <a:t>• </a:t>
            </a:r>
            <a:r>
              <a:rPr sz="1400" b="0" lang="fr-FR">
                <a:solidFill>
                  <a:srgbClr val="161616"/>
                </a:solidFill>
                <a:latin typeface="Marianne"/>
              </a:rPr>
              <a:t>Le langage clair et le FALC lui sont indispensables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98848"/>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Paul, attaché de presse - TDAH et dyslexie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Paul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28</a:t>
            </a:r>
            <a:endParaRPr lang="fr-FR" dirty="0"/>
          </a:p>
        </p:txBody>
      </p:sp>
      <p:pic>
        <p:nvPicPr>
          <p:cNvPr id="8" name="Picture 7" descr="Portrait illustratif - Paul"/>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Mettre en pause les animations (carrousels, vidéo autoplay)</a:t>
            </a:r>
          </a:p>
          <a:p>
            <a:pPr algn="l">
              <a:lnSpc>
                <a:spcPct val="130000"/>
              </a:lnSpc>
            </a:pPr>
            <a:r>
              <a:rPr sz="1400" lang="fr-FR">
                <a:solidFill>
                  <a:srgbClr val="161616"/>
                </a:solidFill>
                <a:latin typeface="Marianne"/>
              </a:rPr>
              <a:t>• </a:t>
            </a:r>
            <a:r>
              <a:rPr sz="1400" b="0" lang="fr-FR">
                <a:solidFill>
                  <a:srgbClr val="161616"/>
                </a:solidFill>
                <a:latin typeface="Marianne"/>
              </a:rPr>
              <a:t>Textes non justifiés, avec un espacement suffisant</a:t>
            </a:r>
          </a:p>
          <a:p>
            <a:pPr algn="l">
              <a:lnSpc>
                <a:spcPct val="130000"/>
              </a:lnSpc>
            </a:pPr>
            <a:r>
              <a:rPr sz="1400" lang="fr-FR">
                <a:solidFill>
                  <a:srgbClr val="161616"/>
                </a:solidFill>
                <a:latin typeface="Marianne"/>
              </a:rPr>
              <a:t>• </a:t>
            </a:r>
            <a:r>
              <a:rPr sz="1400" b="0" lang="fr-FR">
                <a:solidFill>
                  <a:srgbClr val="161616"/>
                </a:solidFill>
                <a:latin typeface="Marianne"/>
              </a:rPr>
              <a:t>Polices lisibles, sans empattement (sans serif)</a:t>
            </a:r>
          </a:p>
          <a:p>
            <a:pPr algn="l">
              <a:lnSpc>
                <a:spcPct val="130000"/>
              </a:lnSpc>
            </a:pPr>
            <a:r>
              <a:rPr sz="1400" lang="fr-FR">
                <a:solidFill>
                  <a:srgbClr val="161616"/>
                </a:solidFill>
                <a:latin typeface="Marianne"/>
              </a:rPr>
              <a:t>• </a:t>
            </a:r>
            <a:r>
              <a:rPr sz="1400" b="0" lang="fr-FR">
                <a:solidFill>
                  <a:srgbClr val="161616"/>
                </a:solidFill>
                <a:latin typeface="Marianne"/>
              </a:rPr>
              <a:t>Mise en page aérée, paragraphes courts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Marianne"/>
              </a:rPr>
              <a:t>Comprendre + Percevoir</a:t>
            </a:r>
          </a:p>
        </p:txBody>
      </p:sp>
      <p:sp>
        <p:nvSpPr>
          <p:cNvPr id="17" name="DSFR-box"/>
          <p:cNvSpPr/>
          <p:nvPr/>
        </p:nvSpPr>
        <p:spPr>
          <a:xfrm>
            <a:off x="548640" y="4572000"/>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Profil</a:t>
            </a:r>
          </a:p>
        </p:txBody>
      </p:sp>
      <p:sp>
        <p:nvSpPr>
          <p:cNvPr id="19" name="DSFR-callout-body"/>
          <p:cNvSpPr txBox="1"/>
          <p:nvPr/>
        </p:nvSpPr>
        <p:spPr>
          <a:xfrm>
            <a:off x="704088" y="5074920"/>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Consulte quotidiennement des sites d'info pour ses revues de presse</a:t>
            </a:r>
          </a:p>
          <a:p>
            <a:pPr algn="l">
              <a:lnSpc>
                <a:spcPct val="120000"/>
              </a:lnSpc>
            </a:pPr>
            <a:r>
              <a:rPr sz="1400" lang="fr-FR">
                <a:solidFill>
                  <a:srgbClr val="161616"/>
                </a:solidFill>
                <a:latin typeface="Marianne"/>
              </a:rPr>
              <a:t>• </a:t>
            </a:r>
            <a:r>
              <a:rPr sz="1400" b="0" lang="fr-FR">
                <a:solidFill>
                  <a:srgbClr val="161616"/>
                </a:solidFill>
                <a:latin typeface="Marianne"/>
              </a:rPr>
              <a:t>Trouble de l'attention : les animations non contrôlables le déconcentrent</a:t>
            </a:r>
          </a:p>
          <a:p>
            <a:pPr algn="l">
              <a:lnSpc>
                <a:spcPct val="120000"/>
              </a:lnSpc>
            </a:pPr>
            <a:r>
              <a:rPr sz="1400" lang="fr-FR">
                <a:solidFill>
                  <a:srgbClr val="161616"/>
                </a:solidFill>
                <a:latin typeface="Marianne"/>
              </a:rPr>
              <a:t>• </a:t>
            </a:r>
            <a:r>
              <a:rPr sz="1400" b="0" lang="fr-FR">
                <a:solidFill>
                  <a:srgbClr val="161616"/>
                </a:solidFill>
                <a:latin typeface="Marianne"/>
              </a:rPr>
              <a:t>Dyslexie : le texte justifié et les polices à empattement ralentissent sa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57200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6 profils, 4 questions - votre boussole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29</a:t>
            </a:r>
            <a:endParaRPr lang="fr-FR" dirty="0"/>
          </a:p>
        </p:txBody>
      </p:sp>
      <p:graphicFrame>
        <p:nvGraphicFramePr>
          <p:cNvPr id="8" name="Table 7"/>
          <p:cNvGraphicFramePr>
            <a:graphicFrameLocks noGrp="1"/>
          </p:cNvGraphicFramePr>
          <p:nvPr/>
        </p:nvGraphicFramePr>
        <p:xfrm>
          <a:off x="475488" y="2103120"/>
          <a:ext cx="11228832" cy="2880360"/>
        </p:xfrm>
        <a:graphic>
          <a:graphicData uri="http://schemas.openxmlformats.org/drawingml/2006/table">
            <a:tbl>
              <a:tblPr firstRow="1" bandRow="1">
                <a:tableStyleId>{5C22544A-7EE6-4342-B048-85BDC9FD1C3A}</a:tableStyleId>
              </a:tblPr>
              <a:tblGrid>
                <a:gridCol w="2560320"/>
                <a:gridCol w="2377440"/>
                <a:gridCol w="2377440"/>
                <a:gridCol w="2377440"/>
                <a:gridCol w="1536192"/>
              </a:tblGrid>
              <a:tr h="411480">
                <a:tc>
                  <a:txBody>
                    <a:bodyPr wrap="square" anchor="ctr" lIns="73152" rIns="73152"/>
                    <a:lstStyle/>
                    <a:p>
                      <a:pPr algn="l">
                        <a:lnSpc>
                          <a:spcPct val="125000"/>
                        </a:lnSpc>
                      </a:pPr>
                      <a:r>
                        <a:rPr sz="1400" b="1" i="0" lang="fr-FR">
                          <a:solidFill>
                            <a:srgbClr val="FFFFFF"/>
                          </a:solidFill>
                          <a:latin typeface="Marianne"/>
                        </a:rPr>
                        <a:t>Persona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Percevoir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Utiliser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Comprendre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Compatible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Amir (aveugle)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 text,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Lecteur d'écran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Anaïs (malvoyante)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Contrastes, taille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Justine (sourde)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Sous-titres, transcription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Agathe (motrice)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Clavier, cibles 44px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Anatole (cognitif)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FALC, phrases courtes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Paul (TDAH, dyslexie)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Polices lisibles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Pas de justification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Solutions par type de déficience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30</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déficience appelle des solutions et des technologies d'assistance spécifiques.</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Aveugle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Malvoyant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au visuel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partielle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Remplacer par audio et tactile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Grossissement, contrastes, luminosité</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Plage braille, synthèse vocale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Loupe logicielle, synthèse vocale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Sourd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Malentendant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à l'audio</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partielle à l'audio</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Remplacer par le visuel (sous-titres, LSF)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Renforcement du signal auditif, visuel</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Sous-titrage, velotypie, LSF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Appareil auditif, boucle magnétique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Solutions par type de déficience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31</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déficiences motrices et cognitives impliquent des réponses différentes, mais un principe commun : simplifier l'interaction.</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Handicap moteur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Dyslexie / troubles dys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Manipulation, préhension, pointage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Lecture, repérage, décodage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Navigation clavier, zones cliquables larges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Polices simples, texte non justifié, mise en page aérée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Trackball, clavier virtuel, commande oculaire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Synthèse vocale, règle de lecture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Handicap mental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TSA</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Compréhension, défilement, animation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Structuration, repérage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Interfaces simples, FALC, pictogrammes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Consignes claires, structure documentaire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Pas de technologie d'assistance spécifique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Pas de technologie d'assistance spécifique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Chiffres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n'est pas une faveur : c'est une condition d'accès équitable à l'information.</a:t>
            </a:r>
          </a:p>
        </p:txBody>
      </p:sp>
      <p:sp>
        <p:nvSpPr>
          <p:cNvPr id="12" name="DSFR-box"/>
          <p:cNvSpPr/>
          <p:nvPr/>
        </p:nvSpPr>
        <p:spPr>
          <a:xfrm>
            <a:off x="548640"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Marianne"/>
              </a:rPr>
              <a:t>1/5</a:t>
            </a:r>
          </a:p>
        </p:txBody>
      </p:sp>
      <p:sp>
        <p:nvSpPr>
          <p:cNvPr id="14" name="DSFR-card-contenu"/>
          <p:cNvSpPr txBox="1"/>
          <p:nvPr/>
        </p:nvSpPr>
        <p:spPr>
          <a:xfrm>
            <a:off x="704088"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1 personne sur 5 est en situation de handicap ou connaît un trouble invalidant.</a:t>
            </a:r>
          </a:p>
        </p:txBody>
      </p:sp>
      <p:sp>
        <p:nvSpPr>
          <p:cNvPr id="16" name="DSFR-box"/>
          <p:cNvSpPr/>
          <p:nvPr/>
        </p:nvSpPr>
        <p:spPr>
          <a:xfrm>
            <a:off x="4392167"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Marianne"/>
              </a:rPr>
              <a:t>85%</a:t>
            </a:r>
          </a:p>
        </p:txBody>
      </p:sp>
      <p:sp>
        <p:nvSpPr>
          <p:cNvPr id="18" name="DSFR-card-contenu"/>
          <p:cNvSpPr txBox="1"/>
          <p:nvPr/>
        </p:nvSpPr>
        <p:spPr>
          <a:xfrm>
            <a:off x="4547615"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des handicaps sont acquis au cours de la vie</a:t>
            </a:r>
          </a:p>
        </p:txBody>
      </p:sp>
      <p:sp>
        <p:nvSpPr>
          <p:cNvPr id="20" name="DSFR-box"/>
          <p:cNvSpPr/>
          <p:nvPr/>
        </p:nvSpPr>
        <p:spPr>
          <a:xfrm>
            <a:off x="8235695"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Marianne"/>
              </a:rPr>
              <a:t>1er</a:t>
            </a:r>
          </a:p>
        </p:txBody>
      </p:sp>
      <p:sp>
        <p:nvSpPr>
          <p:cNvPr id="22" name="DSFR-card-contenu"/>
          <p:cNvSpPr txBox="1"/>
          <p:nvPr/>
        </p:nvSpPr>
        <p:spPr>
          <a:xfrm>
            <a:off x="8391144"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 handicap est le 1er facteur de discrimination selon le Défenseur des droits</a:t>
            </a:r>
          </a:p>
        </p:txBody>
      </p:sp>
      <p:sp>
        <p:nvSpPr>
          <p:cNvPr id="24" name="DSFR-box"/>
          <p:cNvSpPr/>
          <p:nvPr/>
        </p:nvSpPr>
        <p:spPr>
          <a:xfrm>
            <a:off x="548640" y="4637836"/>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llout-titre"/>
          <p:cNvSpPr txBox="1"/>
          <p:nvPr/>
        </p:nvSpPr>
        <p:spPr>
          <a:xfrm>
            <a:off x="704088" y="4729276"/>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Validisme : le piège à déconstruire</a:t>
            </a:r>
          </a:p>
        </p:txBody>
      </p:sp>
      <p:sp>
        <p:nvSpPr>
          <p:cNvPr id="26" name="DSFR-callout-body"/>
          <p:cNvSpPr txBox="1"/>
          <p:nvPr/>
        </p:nvSpPr>
        <p:spPr>
          <a:xfrm>
            <a:off x="704088" y="5140756"/>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Penser le public comme valide par défaut</a:t>
            </a:r>
          </a:p>
          <a:p>
            <a:pPr algn="l">
              <a:lnSpc>
                <a:spcPct val="120000"/>
              </a:lnSpc>
            </a:pPr>
            <a:r>
              <a:rPr sz="1400" lang="fr-FR">
                <a:solidFill>
                  <a:srgbClr val="161616"/>
                </a:solidFill>
                <a:latin typeface="Marianne"/>
              </a:rPr>
              <a:t>• </a:t>
            </a:r>
            <a:r>
              <a:rPr sz="1400" b="0" lang="fr-FR">
                <a:solidFill>
                  <a:srgbClr val="161616"/>
                </a:solidFill>
                <a:latin typeface="Marianne"/>
              </a:rPr>
              <a:t>Confondre bonne intention et accès réel</a:t>
            </a:r>
          </a:p>
          <a:p>
            <a:pPr algn="l">
              <a:lnSpc>
                <a:spcPct val="120000"/>
              </a:lnSpc>
            </a:pPr>
            <a:r>
              <a:rPr sz="1400" lang="fr-FR">
                <a:solidFill>
                  <a:srgbClr val="161616"/>
                </a:solidFill>
                <a:latin typeface="Marianne"/>
              </a:rPr>
              <a:t>• </a:t>
            </a:r>
            <a:r>
              <a:rPr sz="1400" b="0" lang="fr-FR">
                <a:solidFill>
                  <a:srgbClr val="161616"/>
                </a:solidFill>
                <a:latin typeface="Marianne"/>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637836"/>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Déficience n'est pas situation de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Déficience vs situation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handicap n'est pas un état fixe : c'est la rencontre entre une déficience et un environnement inadapté.</a:t>
            </a:r>
          </a:p>
        </p:txBody>
      </p:sp>
      <p:pic>
        <p:nvPicPr>
          <p:cNvPr id="11" name="Picture 10" descr="Schéma montrant 3 situations : une personne en fauteuil devant un bureau adapté (pas de handicap), en fauteuil seul (état de déficience), en fauteuil face à un escalier (situation de handicap)"/>
          <p:cNvPicPr>
            <a:picLocks noChangeAspect="1"/>
          </p:cNvPicPr>
          <p:nvPr/>
        </p:nvPicPr>
        <p:blipFill>
          <a:blip r:embed="rId2"/>
          <a:stretch>
            <a:fillRect/>
          </a:stretch>
        </p:blipFill>
        <p:spPr>
          <a:xfrm>
            <a:off x="475488" y="2994660"/>
            <a:ext cx="5029200" cy="2743200"/>
          </a:xfrm>
          <a:prstGeom prst="rect">
            <a:avLst/>
          </a:prstGeom>
        </p:spPr>
      </p:pic>
      <p:sp>
        <p:nvSpPr>
          <p:cNvPr id="13" name="DSFR-box"/>
          <p:cNvSpPr/>
          <p:nvPr/>
        </p:nvSpPr>
        <p:spPr>
          <a:xfrm>
            <a:off x="5897880" y="2994660"/>
            <a:ext cx="58064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053328" y="3086100"/>
            <a:ext cx="55595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ça change pour vous</a:t>
            </a:r>
          </a:p>
        </p:txBody>
      </p:sp>
      <p:sp>
        <p:nvSpPr>
          <p:cNvPr id="15" name="DSFR-callout-body"/>
          <p:cNvSpPr txBox="1"/>
          <p:nvPr/>
        </p:nvSpPr>
        <p:spPr>
          <a:xfrm>
            <a:off x="6053328" y="3497579"/>
            <a:ext cx="5559552" cy="1376172"/>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C'est l'</a:t>
            </a:r>
            <a:r>
              <a:rPr sz="1400" b="1" lang="fr-FR">
                <a:solidFill>
                  <a:srgbClr val="161616"/>
                </a:solidFill>
                <a:latin typeface="Marianne"/>
              </a:rPr>
              <a:t>environnement</a:t>
            </a:r>
            <a:r>
              <a:rPr sz="1400" b="0" lang="fr-FR">
                <a:solidFill>
                  <a:srgbClr val="161616"/>
                </a:solidFill>
                <a:latin typeface="Marianne"/>
              </a:rPr>
              <a:t> qui crée le handicap, pas la personne</a:t>
            </a:r>
          </a:p>
          <a:p>
            <a:pPr algn="l">
              <a:lnSpc>
                <a:spcPct val="130000"/>
              </a:lnSpc>
            </a:pPr>
            <a:r>
              <a:rPr sz="1400" lang="fr-FR">
                <a:solidFill>
                  <a:srgbClr val="161616"/>
                </a:solidFill>
                <a:latin typeface="Marianne"/>
              </a:rPr>
              <a:t>• </a:t>
            </a:r>
            <a:r>
              <a:rPr sz="1400" b="0" lang="fr-FR">
                <a:solidFill>
                  <a:srgbClr val="161616"/>
                </a:solidFill>
                <a:latin typeface="Marianne"/>
              </a:rPr>
              <a:t>Un document inaccessible = une barrière que vous pouvez lever</a:t>
            </a:r>
          </a:p>
          <a:p>
            <a:pPr algn="l">
              <a:lnSpc>
                <a:spcPct val="130000"/>
              </a:lnSpc>
            </a:pPr>
            <a:r>
              <a:rPr sz="1400" lang="fr-FR">
                <a:solidFill>
                  <a:srgbClr val="161616"/>
                </a:solidFill>
                <a:latin typeface="Marianne"/>
              </a:rPr>
              <a:t>• </a:t>
            </a:r>
            <a:r>
              <a:rPr sz="1400" b="0" lang="fr-FR">
                <a:solidFill>
                  <a:srgbClr val="161616"/>
                </a:solidFill>
                <a:latin typeface="Marianne"/>
              </a:rPr>
              <a:t>Mettre en accessibilité votre communication supprime la situation de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58247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spectre du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Spectre du handicap</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handicap n'est pas binaire. Il peut être permanent, temporaire, situationnel ou lié au vieillissement.</a:t>
            </a:r>
          </a:p>
        </p:txBody>
      </p:sp>
      <p:pic>
        <p:nvPicPr>
          <p:cNvPr id="11" name="Picture 10" descr="Tableau à 5 colonnes (permanent, temporaire, situationnel, vieillissement) et 4 lignes (manipulation, vision, cognition, mobilité). Exemples : une seule main, bras cassé, bébé dans les bras, douleurs ; visibilité faible, oeil gonflé, lumière tamisée, vue qui baisse ; amnésie, fatigue, première utilisation, Alzheimer ; fauteuil roulant, jambe cassée, chaussures inconfortables, canne."/>
          <p:cNvPicPr>
            <a:picLocks noChangeAspect="1"/>
          </p:cNvPicPr>
          <p:nvPr/>
        </p:nvPicPr>
        <p:blipFill>
          <a:blip r:embed="rId2"/>
          <a:stretch>
            <a:fillRect/>
          </a:stretch>
        </p:blipFill>
        <p:spPr>
          <a:xfrm>
            <a:off x="4064508" y="3040380"/>
            <a:ext cx="4050791" cy="3175938"/>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3. L'accessibilité numérique, quel cadre légal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Jalons législatifs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36</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2023 : l'Arcom devient l'autorité de contrôle</a:t>
            </a:r>
          </a:p>
        </p:txBody>
      </p:sp>
      <p:sp>
        <p:nvSpPr>
          <p:cNvPr id="20" name="DSFR-box"/>
          <p:cNvSpPr/>
          <p:nvPr/>
        </p:nvSpPr>
        <p:spPr>
          <a:xfrm>
            <a:off x="548640" y="4114800"/>
            <a:ext cx="11155680"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est concerné ?</a:t>
            </a:r>
          </a:p>
        </p:txBody>
      </p:sp>
      <p:sp>
        <p:nvSpPr>
          <p:cNvPr id="22" name="DSFR-alert-info-body"/>
          <p:cNvSpPr txBox="1"/>
          <p:nvPr/>
        </p:nvSpPr>
        <p:spPr>
          <a:xfrm>
            <a:off x="704088" y="4617720"/>
            <a:ext cx="10908792" cy="1280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État, collectivités, établissements publics</a:t>
            </a:r>
          </a:p>
          <a:p>
            <a:pPr algn="l">
              <a:lnSpc>
                <a:spcPct val="150000"/>
              </a:lnSpc>
            </a:pPr>
            <a:r>
              <a:rPr sz="1400" lang="fr-FR">
                <a:solidFill>
                  <a:srgbClr val="161616"/>
                </a:solidFill>
                <a:latin typeface="Marianne"/>
              </a:rPr>
              <a:t>• </a:t>
            </a:r>
            <a:r>
              <a:rPr sz="1400" b="0" lang="fr-FR">
                <a:solidFill>
                  <a:srgbClr val="161616"/>
                </a:solidFill>
                <a:latin typeface="Marianne"/>
              </a:rPr>
              <a:t>Entreprises privées gérant un service public ou CA &gt; 250 M EUR</a:t>
            </a:r>
          </a:p>
          <a:p>
            <a:pPr algn="l">
              <a:lnSpc>
                <a:spcPct val="150000"/>
              </a:lnSpc>
            </a:pPr>
            <a:r>
              <a:rPr sz="1400" lang="fr-FR">
                <a:solidFill>
                  <a:srgbClr val="161616"/>
                </a:solidFill>
                <a:latin typeface="Marianne"/>
              </a:rPr>
              <a:t>• </a:t>
            </a:r>
            <a:r>
              <a:rPr sz="1400" b="0" lang="fr-FR">
                <a:solidFill>
                  <a:srgbClr val="161616"/>
                </a:solidFill>
                <a:latin typeface="Marianne"/>
              </a:rPr>
              <a:t>Jusqu'à 50 000 EUR : accessibilité des organismes publics et assimilés</a:t>
            </a:r>
          </a:p>
          <a:p>
            <a:pPr algn="l">
              <a:lnSpc>
                <a:spcPct val="150000"/>
              </a:lnSpc>
            </a:pPr>
            <a:r>
              <a:rPr sz="1400" lang="fr-FR">
                <a:solidFill>
                  <a:srgbClr val="161616"/>
                </a:solidFill>
                <a:latin typeface="Marianne"/>
              </a:rPr>
              <a:t>• </a:t>
            </a:r>
            <a:r>
              <a:rPr sz="1400" b="0" lang="fr-FR">
                <a:solidFill>
                  <a:srgbClr val="161616"/>
                </a:solidFill>
                <a:latin typeface="Marianne"/>
              </a:rPr>
              <a:t>Jusqu'à 25 000 EUR : obligations déclaratives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Directives européennes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Deux directives européennes structurent l'obligation d'accessibilité numérique en France.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2016/2102 - secteur public</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et applications mobiles du secteur public</a:t>
            </a:r>
          </a:p>
          <a:p>
            <a:pPr algn="l">
              <a:lnSpc>
                <a:spcPct val="120000"/>
              </a:lnSpc>
            </a:pPr>
            <a:r>
              <a:rPr sz="1400" lang="fr-FR">
                <a:solidFill>
                  <a:srgbClr val="161616"/>
                </a:solidFill>
                <a:latin typeface="Marianne"/>
              </a:rPr>
              <a:t>• </a:t>
            </a:r>
            <a:r>
              <a:rPr sz="1400" b="0" lang="fr-FR">
                <a:solidFill>
                  <a:srgbClr val="161616"/>
                </a:solidFill>
                <a:latin typeface="Marianne"/>
              </a:rPr>
              <a:t>Transposée en droit français par le décret 2019-768</a:t>
            </a:r>
          </a:p>
          <a:p>
            <a:pPr algn="l">
              <a:lnSpc>
                <a:spcPct val="120000"/>
              </a:lnSpc>
            </a:pPr>
            <a:r>
              <a:rPr sz="1400" lang="fr-FR">
                <a:solidFill>
                  <a:srgbClr val="161616"/>
                </a:solidFill>
                <a:latin typeface="Marianne"/>
              </a:rPr>
              <a:t>• </a:t>
            </a:r>
            <a:r>
              <a:rPr sz="1400" b="0" lang="fr-FR">
                <a:solidFill>
                  <a:srgbClr val="161616"/>
                </a:solidFill>
                <a:latin typeface="Marianne"/>
              </a:rPr>
              <a:t>Obligation de déclaration d'accessibilité</a:t>
            </a:r>
          </a:p>
          <a:p>
            <a:pPr algn="l">
              <a:lnSpc>
                <a:spcPct val="120000"/>
              </a:lnSpc>
            </a:pPr>
            <a:r>
              <a:rPr sz="1400" lang="fr-FR">
                <a:solidFill>
                  <a:srgbClr val="161616"/>
                </a:solidFill>
                <a:latin typeface="Marianne"/>
              </a:rPr>
              <a:t>• </a:t>
            </a:r>
            <a:r>
              <a:rPr sz="1400" b="0" lang="fr-FR">
                <a:solidFill>
                  <a:srgbClr val="161616"/>
                </a:solidFill>
                <a:latin typeface="Marianne"/>
              </a:rPr>
              <a:t>Base du RGAA actuel</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2019/882 - secteur privé</a:t>
            </a:r>
          </a:p>
        </p:txBody>
      </p:sp>
      <p:sp>
        <p:nvSpPr>
          <p:cNvPr id="18" name="DSFR-alert-warning-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Acte européen d'accessibilité (EAA)</a:t>
            </a:r>
          </a:p>
          <a:p>
            <a:pPr algn="l">
              <a:lnSpc>
                <a:spcPct val="120000"/>
              </a:lnSpc>
            </a:pPr>
            <a:r>
              <a:rPr sz="1400" lang="fr-FR">
                <a:solidFill>
                  <a:srgbClr val="161616"/>
                </a:solidFill>
                <a:latin typeface="Marianne"/>
              </a:rPr>
              <a:t>• </a:t>
            </a:r>
            <a:r>
              <a:rPr sz="1400" b="0" lang="fr-FR">
                <a:solidFill>
                  <a:srgbClr val="161616"/>
                </a:solidFill>
                <a:latin typeface="Marianne"/>
              </a:rPr>
              <a:t>Applicable à partir du 28 juin 2025</a:t>
            </a:r>
          </a:p>
          <a:p>
            <a:pPr algn="l">
              <a:lnSpc>
                <a:spcPct val="120000"/>
              </a:lnSpc>
            </a:pPr>
            <a:r>
              <a:rPr sz="1400" lang="fr-FR">
                <a:solidFill>
                  <a:srgbClr val="161616"/>
                </a:solidFill>
                <a:latin typeface="Marianne"/>
              </a:rPr>
              <a:t>• </a:t>
            </a:r>
            <a:r>
              <a:rPr sz="1400" b="0" lang="fr-FR">
                <a:solidFill>
                  <a:srgbClr val="161616"/>
                </a:solidFill>
                <a:latin typeface="Marianne"/>
              </a:rPr>
              <a:t>Commerce en ligne, banque, transport, télécom</a:t>
            </a:r>
          </a:p>
          <a:p>
            <a:pPr algn="l">
              <a:lnSpc>
                <a:spcPct val="120000"/>
              </a:lnSpc>
            </a:pPr>
            <a:r>
              <a:rPr sz="1400" lang="fr-FR">
                <a:solidFill>
                  <a:srgbClr val="161616"/>
                </a:solidFill>
                <a:latin typeface="Marianne"/>
              </a:rPr>
              <a:t>• </a:t>
            </a:r>
            <a:r>
              <a:rPr sz="1400" b="0" lang="fr-FR">
                <a:solidFill>
                  <a:srgbClr val="161616"/>
                </a:solidFill>
                <a:latin typeface="Marianne"/>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13 thèmes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38</a:t>
            </a:r>
            <a:endParaRPr lang="fr-FR" dirty="0"/>
          </a:p>
        </p:txBody>
      </p:sp>
      <p:graphicFrame>
        <p:nvGraphicFramePr>
          <p:cNvPr id="8" name="Table 7"/>
          <p:cNvGraphicFramePr>
            <a:graphicFrameLocks noGrp="1"/>
          </p:cNvGraphicFramePr>
          <p:nvPr/>
        </p:nvGraphicFramePr>
        <p:xfrm>
          <a:off x="475488" y="173736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Marianne"/>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Marianne"/>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bl>
          </a:graphicData>
        </a:graphic>
      </p:graphicFrame>
      <p:sp>
        <p:nvSpPr>
          <p:cNvPr id="10" name="DSFR-box"/>
          <p:cNvSpPr/>
          <p:nvPr/>
        </p:nvSpPr>
        <p:spPr>
          <a:xfrm>
            <a:off x="548640" y="4663440"/>
            <a:ext cx="5390388" cy="107213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SPAN</a:t>
            </a:r>
          </a:p>
        </p:txBody>
      </p:sp>
      <p:sp>
        <p:nvSpPr>
          <p:cNvPr id="12" name="DSFR-card-contenu"/>
          <p:cNvSpPr txBox="1"/>
          <p:nvPr/>
        </p:nvSpPr>
        <p:spPr>
          <a:xfrm>
            <a:off x="704088" y="5257800"/>
            <a:ext cx="5097779" cy="386333"/>
          </a:xfrm>
          <a:prstGeom prst="rect">
            <a:avLst/>
          </a:prstGeom>
          <a:noFill/>
        </p:spPr>
        <p:txBody>
          <a:bodyPr wrap="square" anchor="t" lIns="73152" rIns="73152">
            <a:spAutoFit/>
          </a:bodyPr>
          <a:lstStyle/>
          <a:p>
            <a:pPr algn="l">
              <a:lnSpc>
                <a:spcPct val="120000"/>
              </a:lnSpc>
            </a:pPr>
            <a:r>
              <a:rPr sz="1400" b="0" i="0" lang="fr-FR">
                <a:solidFill>
                  <a:srgbClr val="161616"/>
                </a:solidFill>
                <a:latin typeface="Marianne"/>
              </a:rPr>
              <a:t>Schéma pluriannuel d'accessibilité sur 3 ans</a:t>
            </a:r>
          </a:p>
        </p:txBody>
      </p:sp>
      <p:sp>
        <p:nvSpPr>
          <p:cNvPr id="14" name="DSFR-box"/>
          <p:cNvSpPr/>
          <p:nvPr/>
        </p:nvSpPr>
        <p:spPr>
          <a:xfrm>
            <a:off x="6313931" y="4663440"/>
            <a:ext cx="5390388" cy="155219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Trois niveaux de conformité</a:t>
            </a:r>
          </a:p>
        </p:txBody>
      </p:sp>
      <p:sp>
        <p:nvSpPr>
          <p:cNvPr id="16" name="DSFR-card-contenu"/>
          <p:cNvSpPr txBox="1"/>
          <p:nvPr/>
        </p:nvSpPr>
        <p:spPr>
          <a:xfrm>
            <a:off x="6469379" y="5257800"/>
            <a:ext cx="5097779" cy="866393"/>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Non conforme : moins de 50 % des critères</a:t>
            </a:r>
          </a:p>
          <a:p>
            <a:pPr algn="l">
              <a:lnSpc>
                <a:spcPct val="120000"/>
              </a:lnSpc>
            </a:pPr>
            <a:r>
              <a:rPr sz="1400" lang="fr-FR">
                <a:solidFill>
                  <a:srgbClr val="161616"/>
                </a:solidFill>
                <a:latin typeface="Marianne"/>
              </a:rPr>
              <a:t>• </a:t>
            </a:r>
            <a:r>
              <a:rPr sz="1400" b="0" lang="fr-FR">
                <a:solidFill>
                  <a:srgbClr val="161616"/>
                </a:solidFill>
                <a:latin typeface="Marianne"/>
              </a:rPr>
              <a:t>Partiellement conforme : de 50 % à 99 %</a:t>
            </a:r>
          </a:p>
          <a:p>
            <a:pPr algn="l">
              <a:lnSpc>
                <a:spcPct val="120000"/>
              </a:lnSpc>
            </a:pPr>
            <a:r>
              <a:rPr sz="1400" lang="fr-FR">
                <a:solidFill>
                  <a:srgbClr val="161616"/>
                </a:solidFill>
                <a:latin typeface="Marianne"/>
              </a:rPr>
              <a:t>• </a:t>
            </a:r>
            <a:r>
              <a:rPr sz="1400" b="0" lang="fr-FR">
                <a:solidFill>
                  <a:srgbClr val="161616"/>
                </a:solidFill>
                <a:latin typeface="Marianne"/>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475488" y="4663440"/>
            <a:ext cx="73152" cy="107213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663440"/>
            <a:ext cx="73152" cy="155219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RGAA - Référentiel Général d'Amélioration de l'Accessibilité</a:t>
            </a:r>
          </a:p>
        </p:txBody>
      </p:sp>
      <p:sp>
        <p:nvSpPr>
          <p:cNvPr id="3" name="Text Placeholder 2"/>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RGAA détail</a:t>
            </a:r>
          </a:p>
        </p:txBody>
      </p:sp>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39</a:t>
            </a:r>
            <a:endParaRPr lang="fr-FR" dirty="0"/>
          </a:p>
        </p:txBody>
      </p:sp>
      <p:sp>
        <p:nvSpPr>
          <p:cNvPr id="7" name="DSFR-box"/>
          <p:cNvSpPr/>
          <p:nvPr/>
        </p:nvSpPr>
        <p:spPr>
          <a:xfrm>
            <a:off x="548640"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callout-titre"/>
          <p:cNvSpPr txBox="1"/>
          <p:nvPr/>
        </p:nvSpPr>
        <p:spPr>
          <a:xfrm>
            <a:off x="704088"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Structure en 2 parties</a:t>
            </a:r>
          </a:p>
        </p:txBody>
      </p:sp>
      <p:sp>
        <p:nvSpPr>
          <p:cNvPr id="9" name="DSFR-callout-body"/>
          <p:cNvSpPr txBox="1"/>
          <p:nvPr/>
        </p:nvSpPr>
        <p:spPr>
          <a:xfrm>
            <a:off x="704088"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Obligations légales</a:t>
            </a:r>
          </a:p>
          <a:p>
            <a:pPr algn="l">
              <a:lnSpc>
                <a:spcPct val="125000"/>
              </a:lnSpc>
            </a:pPr>
            <a:r>
              <a:rPr sz="1400" lang="fr-FR">
                <a:solidFill>
                  <a:srgbClr val="161616"/>
                </a:solidFill>
                <a:latin typeface="Marianne"/>
              </a:rPr>
              <a:t>• </a:t>
            </a:r>
            <a:r>
              <a:rPr sz="1400" b="0" lang="fr-FR">
                <a:solidFill>
                  <a:srgbClr val="161616"/>
                </a:solidFill>
                <a:latin typeface="Marianne"/>
              </a:rPr>
              <a:t>Méthode technique</a:t>
            </a:r>
          </a:p>
          <a:p>
            <a:pPr algn="l">
              <a:lnSpc>
                <a:spcPct val="125000"/>
              </a:lnSpc>
            </a:pPr>
            <a:r>
              <a:rPr sz="1400" lang="fr-FR">
                <a:solidFill>
                  <a:srgbClr val="161616"/>
                </a:solidFill>
                <a:latin typeface="Marianne"/>
              </a:rPr>
              <a:t>• </a:t>
            </a:r>
            <a:r>
              <a:rPr sz="1400" b="0" lang="fr-FR">
                <a:solidFill>
                  <a:srgbClr val="161616"/>
                </a:solidFill>
                <a:latin typeface="Marianne"/>
              </a:rPr>
              <a:t>13 thématiques</a:t>
            </a:r>
          </a:p>
          <a:p>
            <a:pPr algn="l">
              <a:lnSpc>
                <a:spcPct val="125000"/>
              </a:lnSpc>
            </a:pPr>
            <a:r>
              <a:rPr sz="1400" lang="fr-FR">
                <a:solidFill>
                  <a:srgbClr val="161616"/>
                </a:solidFill>
                <a:latin typeface="Marianne"/>
              </a:rPr>
              <a:t>• </a:t>
            </a:r>
            <a:r>
              <a:rPr sz="1400" b="0" lang="fr-FR">
                <a:solidFill>
                  <a:srgbClr val="161616"/>
                </a:solidFill>
                <a:latin typeface="Marianne"/>
              </a:rPr>
              <a:t>106 critères au total</a:t>
            </a:r>
          </a:p>
          <a:p>
            <a:pPr algn="l">
              <a:lnSpc>
                <a:spcPct val="125000"/>
              </a:lnSpc>
            </a:pPr>
            <a:r>
              <a:rPr sz="1400" lang="fr-FR">
                <a:solidFill>
                  <a:srgbClr val="161616"/>
                </a:solidFill>
                <a:latin typeface="Marianne"/>
              </a:rPr>
              <a:t>• </a:t>
            </a:r>
            <a:r>
              <a:rPr sz="1400" b="0" lang="fr-FR">
                <a:solidFill>
                  <a:srgbClr val="161616"/>
                </a:solidFill>
                <a:latin typeface="Marianne"/>
              </a:rPr>
              <a:t>258 tests unitaires</a:t>
            </a:r>
          </a:p>
        </p:txBody>
      </p:sp>
      <p:sp>
        <p:nvSpPr>
          <p:cNvPr id="11" name="DSFR-box"/>
          <p:cNvSpPr/>
          <p:nvPr/>
        </p:nvSpPr>
        <p:spPr>
          <a:xfrm>
            <a:off x="4392167" y="2103120"/>
            <a:ext cx="3468623" cy="223570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callout-titre"/>
          <p:cNvSpPr txBox="1"/>
          <p:nvPr/>
        </p:nvSpPr>
        <p:spPr>
          <a:xfrm>
            <a:off x="4547615"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Images</a:t>
            </a:r>
          </a:p>
        </p:txBody>
      </p:sp>
      <p:sp>
        <p:nvSpPr>
          <p:cNvPr id="13" name="DSFR-callout-body"/>
          <p:cNvSpPr txBox="1"/>
          <p:nvPr/>
        </p:nvSpPr>
        <p:spPr>
          <a:xfrm>
            <a:off x="4547615" y="2606039"/>
            <a:ext cx="3221735" cy="1641348"/>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Cadres</a:t>
            </a:r>
          </a:p>
          <a:p>
            <a:pPr algn="l">
              <a:lnSpc>
                <a:spcPct val="125000"/>
              </a:lnSpc>
            </a:pPr>
            <a:r>
              <a:rPr sz="1400" lang="fr-FR">
                <a:solidFill>
                  <a:srgbClr val="161616"/>
                </a:solidFill>
                <a:latin typeface="Marianne"/>
              </a:rPr>
              <a:t>• </a:t>
            </a:r>
            <a:r>
              <a:rPr sz="1400" b="0" lang="fr-FR">
                <a:solidFill>
                  <a:srgbClr val="161616"/>
                </a:solidFill>
                <a:latin typeface="Marianne"/>
              </a:rPr>
              <a:t>Couleurs</a:t>
            </a:r>
          </a:p>
          <a:p>
            <a:pPr algn="l">
              <a:lnSpc>
                <a:spcPct val="125000"/>
              </a:lnSpc>
            </a:pPr>
            <a:r>
              <a:rPr sz="1400" lang="fr-FR">
                <a:solidFill>
                  <a:srgbClr val="161616"/>
                </a:solidFill>
                <a:latin typeface="Marianne"/>
              </a:rPr>
              <a:t>• </a:t>
            </a:r>
            <a:r>
              <a:rPr sz="1400" b="0" lang="fr-FR">
                <a:solidFill>
                  <a:srgbClr val="161616"/>
                </a:solidFill>
                <a:latin typeface="Marianne"/>
              </a:rPr>
              <a:t>Multimédia</a:t>
            </a:r>
          </a:p>
          <a:p>
            <a:pPr algn="l">
              <a:lnSpc>
                <a:spcPct val="125000"/>
              </a:lnSpc>
            </a:pPr>
            <a:r>
              <a:rPr sz="1400" lang="fr-FR">
                <a:solidFill>
                  <a:srgbClr val="161616"/>
                </a:solidFill>
                <a:latin typeface="Marianne"/>
              </a:rPr>
              <a:t>• </a:t>
            </a:r>
            <a:r>
              <a:rPr sz="1400" b="0" lang="fr-FR">
                <a:solidFill>
                  <a:srgbClr val="161616"/>
                </a:solidFill>
                <a:latin typeface="Marianne"/>
              </a:rPr>
              <a:t>Tableaux</a:t>
            </a:r>
          </a:p>
          <a:p>
            <a:pPr algn="l">
              <a:lnSpc>
                <a:spcPct val="125000"/>
              </a:lnSpc>
            </a:pPr>
            <a:r>
              <a:rPr sz="1400" lang="fr-FR">
                <a:solidFill>
                  <a:srgbClr val="161616"/>
                </a:solidFill>
                <a:latin typeface="Marianne"/>
              </a:rPr>
              <a:t>• </a:t>
            </a:r>
            <a:r>
              <a:rPr sz="1400" b="0" lang="fr-FR">
                <a:solidFill>
                  <a:srgbClr val="161616"/>
                </a:solidFill>
                <a:latin typeface="Marianne"/>
              </a:rPr>
              <a:t>Liens</a:t>
            </a:r>
          </a:p>
          <a:p>
            <a:pPr algn="l">
              <a:lnSpc>
                <a:spcPct val="125000"/>
              </a:lnSpc>
            </a:pPr>
            <a:r>
              <a:rPr sz="1400" lang="fr-FR">
                <a:solidFill>
                  <a:srgbClr val="161616"/>
                </a:solidFill>
                <a:latin typeface="Marianne"/>
              </a:rPr>
              <a:t>• </a:t>
            </a:r>
            <a:r>
              <a:rPr sz="1400" b="0" lang="fr-FR">
                <a:solidFill>
                  <a:srgbClr val="161616"/>
                </a:solidFill>
                <a:latin typeface="Marianne"/>
              </a:rPr>
              <a:t>Scripts</a:t>
            </a:r>
          </a:p>
        </p:txBody>
      </p:sp>
      <p:sp>
        <p:nvSpPr>
          <p:cNvPr id="15" name="DSFR-box"/>
          <p:cNvSpPr/>
          <p:nvPr/>
        </p:nvSpPr>
        <p:spPr>
          <a:xfrm>
            <a:off x="8235695"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8391144"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Éléments obligatoires</a:t>
            </a:r>
          </a:p>
        </p:txBody>
      </p:sp>
      <p:sp>
        <p:nvSpPr>
          <p:cNvPr id="17" name="DSFR-callout-body"/>
          <p:cNvSpPr txBox="1"/>
          <p:nvPr/>
        </p:nvSpPr>
        <p:spPr>
          <a:xfrm>
            <a:off x="8391144"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Structuration</a:t>
            </a:r>
          </a:p>
          <a:p>
            <a:pPr algn="l">
              <a:lnSpc>
                <a:spcPct val="125000"/>
              </a:lnSpc>
            </a:pPr>
            <a:r>
              <a:rPr sz="1400" lang="fr-FR">
                <a:solidFill>
                  <a:srgbClr val="161616"/>
                </a:solidFill>
                <a:latin typeface="Marianne"/>
              </a:rPr>
              <a:t>• </a:t>
            </a:r>
            <a:r>
              <a:rPr sz="1400" b="0" lang="fr-FR">
                <a:solidFill>
                  <a:srgbClr val="161616"/>
                </a:solidFill>
                <a:latin typeface="Marianne"/>
              </a:rPr>
              <a:t>Navigation</a:t>
            </a:r>
          </a:p>
          <a:p>
            <a:pPr algn="l">
              <a:lnSpc>
                <a:spcPct val="125000"/>
              </a:lnSpc>
            </a:pPr>
            <a:r>
              <a:rPr sz="1400" lang="fr-FR">
                <a:solidFill>
                  <a:srgbClr val="161616"/>
                </a:solidFill>
                <a:latin typeface="Marianne"/>
              </a:rPr>
              <a:t>• </a:t>
            </a:r>
            <a:r>
              <a:rPr sz="1400" b="0" lang="fr-FR">
                <a:solidFill>
                  <a:srgbClr val="161616"/>
                </a:solidFill>
                <a:latin typeface="Marianne"/>
              </a:rPr>
              <a:t>Présentation</a:t>
            </a:r>
          </a:p>
          <a:p>
            <a:pPr algn="l">
              <a:lnSpc>
                <a:spcPct val="125000"/>
              </a:lnSpc>
            </a:pPr>
            <a:r>
              <a:rPr sz="1400" lang="fr-FR">
                <a:solidFill>
                  <a:srgbClr val="161616"/>
                </a:solidFill>
                <a:latin typeface="Marianne"/>
              </a:rPr>
              <a:t>• </a:t>
            </a:r>
            <a:r>
              <a:rPr sz="1400" b="0" lang="fr-FR">
                <a:solidFill>
                  <a:srgbClr val="161616"/>
                </a:solidFill>
                <a:latin typeface="Marianne"/>
              </a:rPr>
              <a:t>Formulaires</a:t>
            </a:r>
          </a:p>
          <a:p>
            <a:pPr algn="l">
              <a:lnSpc>
                <a:spcPct val="125000"/>
              </a:lnSpc>
            </a:pPr>
            <a:r>
              <a:rPr sz="1400" lang="fr-FR">
                <a:solidFill>
                  <a:srgbClr val="161616"/>
                </a:solidFill>
                <a:latin typeface="Marianne"/>
              </a:rPr>
              <a:t>• </a:t>
            </a:r>
            <a:r>
              <a:rPr sz="1400" b="0" lang="fr-FR">
                <a:solidFill>
                  <a:srgbClr val="161616"/>
                </a:solidFill>
                <a:latin typeface="Marianne"/>
              </a:rPr>
              <a:t>Consultation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ccent-decoratif" descr=""/>
          <p:cNvSpPr/>
          <p:nvPr/>
        </p:nvSpPr>
        <p:spPr>
          <a:xfrm>
            <a:off x="4319015" y="2103120"/>
            <a:ext cx="73152" cy="22357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ccent-decoratif" descr=""/>
          <p:cNvSpPr/>
          <p:nvPr/>
        </p:nvSpPr>
        <p:spPr>
          <a:xfrm>
            <a:off x="8162543"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Quelles obligations pour votre structure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connaissez le cadre. Mais concrètement, quelles obligations s'appliquent à votre poste et à votre structure ?</a:t>
            </a:r>
          </a:p>
        </p:txBody>
      </p:sp>
      <p:sp>
        <p:nvSpPr>
          <p:cNvPr id="12" name="DSFR-box"/>
          <p:cNvSpPr/>
          <p:nvPr/>
        </p:nvSpPr>
        <p:spPr>
          <a:xfrm>
            <a:off x="548640" y="3314700"/>
            <a:ext cx="9326880" cy="129844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406140"/>
            <a:ext cx="90799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simulateur Obligally (10 min)</a:t>
            </a:r>
          </a:p>
        </p:txBody>
      </p:sp>
      <p:sp>
        <p:nvSpPr>
          <p:cNvPr id="14" name="DSFR-alert-info-body"/>
          <p:cNvSpPr txBox="1"/>
          <p:nvPr/>
        </p:nvSpPr>
        <p:spPr>
          <a:xfrm>
            <a:off x="704088" y="3817620"/>
            <a:ext cx="9079992" cy="70408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Cliquez sur Simuler et répondez aux questions</a:t>
            </a:r>
          </a:p>
          <a:p>
            <a:pPr algn="l">
              <a:lnSpc>
                <a:spcPct val="150000"/>
              </a:lnSpc>
            </a:pPr>
            <a:r>
              <a:rPr sz="1400" lang="fr-FR">
                <a:solidFill>
                  <a:srgbClr val="161616"/>
                </a:solidFill>
                <a:latin typeface="Marianne"/>
              </a:rPr>
              <a:t>• </a:t>
            </a:r>
            <a:r>
              <a:rPr sz="1400" b="0" lang="fr-FR">
                <a:solidFill>
                  <a:srgbClr val="161616"/>
                </a:solidFill>
                <a:latin typeface="Marianne"/>
              </a:rPr>
              <a:t>Notez le résultat : quelles normes s'appliquent à vous ?</a:t>
            </a:r>
          </a:p>
        </p:txBody>
      </p:sp>
      <p:pic>
        <p:nvPicPr>
          <p:cNvPr id="15" name="Picture 14" descr="QR code vers le simulateur Obligally : https://obligations-legales-accessibilite-numerique.fr/fr/"/>
          <p:cNvPicPr>
            <a:picLocks noChangeAspect="1"/>
          </p:cNvPicPr>
          <p:nvPr/>
        </p:nvPicPr>
        <p:blipFill>
          <a:blip r:embed="rId2"/>
          <a:stretch>
            <a:fillRect/>
          </a:stretch>
        </p:blipFill>
        <p:spPr>
          <a:xfrm>
            <a:off x="10012680" y="3634739"/>
            <a:ext cx="1645920" cy="1645920"/>
          </a:xfrm>
          <a:prstGeom prst="rect">
            <a:avLst/>
          </a:prstGeom>
        </p:spPr>
      </p:pic>
      <p:sp>
        <p:nvSpPr>
          <p:cNvPr id="16" name="DSFR-texte-libre"/>
          <p:cNvSpPr txBox="1"/>
          <p:nvPr/>
        </p:nvSpPr>
        <p:spPr>
          <a:xfrm>
            <a:off x="10012680" y="5326379"/>
            <a:ext cx="1645920" cy="320040"/>
          </a:xfrm>
          <a:prstGeom prst="rect">
            <a:avLst/>
          </a:prstGeom>
          <a:noFill/>
        </p:spPr>
        <p:txBody>
          <a:bodyPr wrap="square" anchor="t" lIns="73152" rIns="73152">
            <a:spAutoFit/>
          </a:bodyPr>
          <a:lstStyle/>
          <a:p>
            <a:pPr algn="l">
              <a:lnSpc>
                <a:spcPct val="125000"/>
              </a:lnSpc>
            </a:pPr>
            <a:r>
              <a:rPr sz="1400" b="1" i="0" lang="fr-FR">
                <a:solidFill>
                  <a:srgbClr val="161616"/>
                </a:solidFill>
                <a:latin typeface="Marianne"/>
              </a:rPr>
              <a:t>Scannez-moi !</a:t>
            </a:r>
          </a:p>
        </p:txBody>
      </p:sp>
      <p:sp>
        <p:nvSpPr>
          <p:cNvPr id="17" name="TextBox 16"/>
          <p:cNvSpPr txBox="1"/>
          <p:nvPr/>
        </p:nvSpPr>
        <p:spPr>
          <a:xfrm>
            <a:off x="475488" y="4844491"/>
            <a:ext cx="11228832" cy="320040"/>
          </a:xfrm>
          <a:prstGeom prst="rect">
            <a:avLst/>
          </a:prstGeom>
          <a:noFill/>
        </p:spPr>
        <p:txBody>
          <a:bodyPr wrap="square">
            <a:spAutoFit/>
          </a:bodyPr>
          <a:lstStyle/>
          <a:p>
            <a:r>
              <a:rPr sz="1400" b="1" u="sng" lang="fr-FR">
                <a:solidFill>
                  <a:srgbClr val="000091"/>
                </a:solidFill>
                <a:hlinkClick r:id="rId3"/>
              </a:rPr>
              <a:t>https://obligations-legales-accessibilite-numerique.fr/fr/</a:t>
            </a:r>
          </a:p>
        </p:txBody>
      </p:sp>
      <p:sp>
        <p:nvSpPr>
          <p:cNvPr id="18" name="TextBox 17"/>
          <p:cNvSpPr txBox="1"/>
          <p:nvPr/>
        </p:nvSpPr>
        <p:spPr>
          <a:xfrm>
            <a:off x="475488" y="5164531"/>
            <a:ext cx="11228832" cy="297180"/>
          </a:xfrm>
          <a:prstGeom prst="rect">
            <a:avLst/>
          </a:prstGeom>
          <a:noFill/>
        </p:spPr>
        <p:txBody>
          <a:bodyPr wrap="none">
            <a:spAutoFit/>
          </a:bodyPr>
          <a:lstStyle/>
          <a:p>
            <a:r>
              <a:rPr sz="1400" b="1" lang="fr-FR">
                <a:solidFill>
                  <a:srgbClr val="161616"/>
                </a:solidFill>
              </a:rPr>
              <a:t>Simuler : </a:t>
            </a:r>
            <a:r>
              <a:rPr sz="1400" u="sng" lang="fr-FR">
                <a:solidFill>
                  <a:srgbClr val="000091"/>
                </a:solidFill>
                <a:hlinkClick r:id="rId4"/>
              </a:rPr>
              <a:t>https://obligations-legales-accessibilite-numerique.fr/fr/simulation/</a:t>
            </a:r>
          </a:p>
        </p:txBody>
      </p:sp>
      <p:sp>
        <p:nvSpPr>
          <p:cNvPr id="19" name="TextBox 18"/>
          <p:cNvSpPr txBox="1"/>
          <p:nvPr/>
        </p:nvSpPr>
        <p:spPr>
          <a:xfrm>
            <a:off x="475488" y="5466283"/>
            <a:ext cx="11228832" cy="297180"/>
          </a:xfrm>
          <a:prstGeom prst="rect">
            <a:avLst/>
          </a:prstGeom>
          <a:noFill/>
        </p:spPr>
        <p:txBody>
          <a:bodyPr wrap="none">
            <a:spAutoFit/>
          </a:bodyPr>
          <a:lstStyle/>
          <a:p>
            <a:r>
              <a:rPr sz="1400" b="1" lang="fr-FR">
                <a:solidFill>
                  <a:srgbClr val="161616"/>
                </a:solidFill>
              </a:rPr>
              <a:t>Comprendre : </a:t>
            </a:r>
            <a:r>
              <a:rPr sz="1400" u="sng" lang="fr-FR">
                <a:solidFill>
                  <a:srgbClr val="000091"/>
                </a:solidFill>
                <a:hlinkClick r:id="rId5"/>
              </a:rPr>
              <a:t>https://obligations-legales-accessibilite-numerique.fr/fr/comprendre/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29844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Déclaration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41</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864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Exercice pratique</a:t>
            </a:r>
          </a:p>
        </p:txBody>
      </p:sp>
      <p:sp>
        <p:nvSpPr>
          <p:cNvPr id="12" name="DSFR-alert-success-body"/>
          <p:cNvSpPr txBox="1"/>
          <p:nvPr/>
        </p:nvSpPr>
        <p:spPr>
          <a:xfrm>
            <a:off x="704088" y="5074920"/>
            <a:ext cx="10908792" cy="99212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Cherchez la déclaration d'accessibilité de votre site</a:t>
            </a:r>
          </a:p>
          <a:p>
            <a:pPr algn="l">
              <a:lnSpc>
                <a:spcPct val="150000"/>
              </a:lnSpc>
            </a:pPr>
            <a:r>
              <a:rPr sz="1400" lang="fr-FR">
                <a:solidFill>
                  <a:srgbClr val="161616"/>
                </a:solidFill>
                <a:latin typeface="Marianne"/>
              </a:rPr>
              <a:t>• </a:t>
            </a:r>
            <a:r>
              <a:rPr sz="1400" b="0" lang="fr-FR">
                <a:solidFill>
                  <a:srgbClr val="161616"/>
                </a:solidFill>
                <a:latin typeface="Marianne"/>
              </a:rPr>
              <a:t>URL type : /déclaration-accessibilité</a:t>
            </a:r>
          </a:p>
          <a:p>
            <a:pPr algn="l">
              <a:lnSpc>
                <a:spcPct val="150000"/>
              </a:lnSpc>
            </a:pPr>
            <a:r>
              <a:rPr sz="1400" lang="fr-FR">
                <a:solidFill>
                  <a:srgbClr val="161616"/>
                </a:solidFill>
                <a:latin typeface="Marianne"/>
              </a:rPr>
              <a:t>• </a:t>
            </a:r>
            <a:r>
              <a:rPr sz="1400" b="0" lang="fr-FR">
                <a:solidFill>
                  <a:srgbClr val="161616"/>
                </a:solidFill>
                <a:latin typeface="Marianne"/>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475488" y="4572000"/>
            <a:ext cx="73152" cy="15864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obligations légales de mise en 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Récap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42</a:t>
            </a:r>
            <a:endParaRPr lang="fr-FR" dirty="0"/>
          </a:p>
        </p:txBody>
      </p:sp>
      <p:sp>
        <p:nvSpPr>
          <p:cNvPr id="9" name="DSFR-box"/>
          <p:cNvSpPr/>
          <p:nvPr/>
        </p:nvSpPr>
        <p:spPr>
          <a:xfrm>
            <a:off x="548640" y="2103120"/>
            <a:ext cx="11155680"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obligatoires</a:t>
            </a:r>
          </a:p>
        </p:txBody>
      </p:sp>
      <p:sp>
        <p:nvSpPr>
          <p:cNvPr id="11" name="DSFR-callout-body"/>
          <p:cNvSpPr txBox="1"/>
          <p:nvPr/>
        </p:nvSpPr>
        <p:spPr>
          <a:xfrm>
            <a:off x="704088" y="2606039"/>
            <a:ext cx="10908792" cy="1328166"/>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Schéma pluriannuel d'accessibilité numérique (SPAN)</a:t>
            </a:r>
          </a:p>
          <a:p>
            <a:pPr algn="l">
              <a:lnSpc>
                <a:spcPct val="125000"/>
              </a:lnSpc>
            </a:pPr>
            <a:r>
              <a:rPr sz="1400" lang="fr-FR">
                <a:solidFill>
                  <a:srgbClr val="161616"/>
                </a:solidFill>
                <a:latin typeface="Marianne"/>
              </a:rPr>
              <a:t>• </a:t>
            </a:r>
            <a:r>
              <a:rPr sz="1400" b="0" lang="fr-FR">
                <a:solidFill>
                  <a:srgbClr val="161616"/>
                </a:solidFill>
                <a:latin typeface="Marianne"/>
              </a:rPr>
              <a:t>Plan d'action annuel</a:t>
            </a:r>
          </a:p>
          <a:p>
            <a:pPr algn="l">
              <a:lnSpc>
                <a:spcPct val="125000"/>
              </a:lnSpc>
            </a:pPr>
            <a:r>
              <a:rPr sz="1400" lang="fr-FR">
                <a:solidFill>
                  <a:srgbClr val="161616"/>
                </a:solidFill>
                <a:latin typeface="Marianne"/>
              </a:rPr>
              <a:t>• </a:t>
            </a:r>
            <a:r>
              <a:rPr sz="1400" b="0" lang="fr-FR">
                <a:solidFill>
                  <a:srgbClr val="161616"/>
                </a:solidFill>
                <a:latin typeface="Marianne"/>
              </a:rPr>
              <a:t>Audit d'accessibilité RGAA en version 4.1.2</a:t>
            </a:r>
          </a:p>
          <a:p>
            <a:pPr algn="l">
              <a:lnSpc>
                <a:spcPct val="125000"/>
              </a:lnSpc>
            </a:pPr>
            <a:r>
              <a:rPr sz="1400" lang="fr-FR">
                <a:solidFill>
                  <a:srgbClr val="161616"/>
                </a:solidFill>
                <a:latin typeface="Marianne"/>
              </a:rPr>
              <a:t>• </a:t>
            </a:r>
            <a:r>
              <a:rPr sz="1400" b="0" lang="fr-FR">
                <a:solidFill>
                  <a:srgbClr val="161616"/>
                </a:solidFill>
                <a:latin typeface="Marianne"/>
              </a:rPr>
              <a:t>Un moyen de contact</a:t>
            </a:r>
          </a:p>
          <a:p>
            <a:pPr algn="l">
              <a:lnSpc>
                <a:spcPct val="125000"/>
              </a:lnSpc>
            </a:pPr>
            <a:r>
              <a:rPr sz="1400" lang="fr-FR">
                <a:solidFill>
                  <a:srgbClr val="161616"/>
                </a:solidFill>
                <a:latin typeface="Marianne"/>
              </a:rPr>
              <a:t>• </a:t>
            </a:r>
            <a:r>
              <a:rPr sz="1400" b="0" lang="fr-FR">
                <a:solidFill>
                  <a:srgbClr val="161616"/>
                </a:solidFill>
                <a:latin typeface="Marianne"/>
              </a:rPr>
              <a:t>RAN (Référent Accessibilité Numérique)</a:t>
            </a:r>
          </a:p>
        </p:txBody>
      </p:sp>
      <p:graphicFrame>
        <p:nvGraphicFramePr>
          <p:cNvPr id="12" name="Table 11"/>
          <p:cNvGraphicFramePr>
            <a:graphicFrameLocks noGrp="1"/>
          </p:cNvGraphicFramePr>
          <p:nvPr/>
        </p:nvGraphicFramePr>
        <p:xfrm>
          <a:off x="475488" y="4572000"/>
          <a:ext cx="11228832" cy="1645920"/>
        </p:xfrm>
        <a:graphic>
          <a:graphicData uri="http://schemas.openxmlformats.org/drawingml/2006/table">
            <a:tbl>
              <a:tblPr firstRow="1" bandRow="1">
                <a:tableStyleId>{5C22544A-7EE6-4342-B048-85BDC9FD1C3A}</a:tableStyleId>
              </a:tblPr>
              <a:tblGrid>
                <a:gridCol w="4572000"/>
                <a:gridCol w="6656832"/>
              </a:tblGrid>
              <a:tr h="411480">
                <a:tc>
                  <a:txBody>
                    <a:bodyPr wrap="square" anchor="ctr" lIns="73152" rIns="73152"/>
                    <a:lstStyle/>
                    <a:p>
                      <a:pPr algn="l">
                        <a:lnSpc>
                          <a:spcPct val="125000"/>
                        </a:lnSpc>
                      </a:pPr>
                      <a:r>
                        <a:rPr sz="1400" b="1" i="0" lang="fr-FR">
                          <a:solidFill>
                            <a:srgbClr val="FFFFFF"/>
                          </a:solidFill>
                          <a:latin typeface="Marianne"/>
                        </a:rPr>
                        <a:t>Mention</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Signification</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Accessibilité : non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49 % et moins, ou aucun audit en cours de validité</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Accessibilité : partiellement conforme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De 50 % à 99 % des critères respectés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Accessibilité : totalement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100 % des critères applicables validés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103120"/>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43</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4. L'accessibilité numérique, pourquoi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Q4 - Pourquoi | Droit et charte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44</a:t>
            </a:r>
            <a:endParaRPr lang="fr-FR" dirty="0"/>
          </a:p>
        </p:txBody>
      </p:sp>
      <p:sp>
        <p:nvSpPr>
          <p:cNvPr id="9" name="DSFR-box"/>
          <p:cNvSpPr/>
          <p:nvPr/>
        </p:nvSpPr>
        <p:spPr>
          <a:xfrm>
            <a:off x="548640" y="2011680"/>
            <a:ext cx="9509759"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926287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droit, pas une faveur</a:t>
            </a:r>
          </a:p>
        </p:txBody>
      </p:sp>
      <p:sp>
        <p:nvSpPr>
          <p:cNvPr id="11" name="DSFR-callout-body"/>
          <p:cNvSpPr txBox="1"/>
          <p:nvPr/>
        </p:nvSpPr>
        <p:spPr>
          <a:xfrm>
            <a:off x="704088" y="2514600"/>
            <a:ext cx="9262872" cy="81930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Droit fondamental d'accès à l'information</a:t>
            </a:r>
          </a:p>
          <a:p>
            <a:pPr algn="l">
              <a:lnSpc>
                <a:spcPct val="120000"/>
              </a:lnSpc>
            </a:pPr>
            <a:r>
              <a:rPr sz="1400" lang="fr-FR">
                <a:solidFill>
                  <a:srgbClr val="161616"/>
                </a:solidFill>
                <a:latin typeface="Marianne"/>
              </a:rPr>
              <a:t>• </a:t>
            </a:r>
            <a:r>
              <a:rPr sz="1400" b="0" lang="fr-FR">
                <a:solidFill>
                  <a:srgbClr val="161616"/>
                </a:solidFill>
                <a:latin typeface="Marianne"/>
              </a:rPr>
              <a:t>Lutte contre la discrimination numérique</a:t>
            </a:r>
          </a:p>
          <a:p>
            <a:pPr algn="l">
              <a:lnSpc>
                <a:spcPct val="120000"/>
              </a:lnSpc>
            </a:pPr>
            <a:r>
              <a:rPr sz="1400" lang="fr-FR">
                <a:solidFill>
                  <a:srgbClr val="161616"/>
                </a:solidFill>
                <a:latin typeface="Marianne"/>
              </a:rPr>
              <a:t>• </a:t>
            </a:r>
            <a:r>
              <a:rPr sz="1400" b="0" lang="fr-FR">
                <a:solidFill>
                  <a:srgbClr val="161616"/>
                </a:solidFill>
                <a:latin typeface="Marianne"/>
              </a:rPr>
              <a:t>Inclusion dans la vie professionnelle et citoyenne</a:t>
            </a:r>
          </a:p>
        </p:txBody>
      </p:sp>
      <p:pic>
        <p:nvPicPr>
          <p:cNvPr id="12" name="Picture 11" descr="Couverture de la Charte d'accessibilité de la communication de l'État"/>
          <p:cNvPicPr>
            <a:picLocks noChangeAspect="1"/>
          </p:cNvPicPr>
          <p:nvPr/>
        </p:nvPicPr>
        <p:blipFill>
          <a:blip r:embed="rId2"/>
          <a:stretch>
            <a:fillRect/>
          </a:stretch>
        </p:blipFill>
        <p:spPr>
          <a:xfrm>
            <a:off x="10332719" y="2011680"/>
            <a:ext cx="1371600" cy="2882348"/>
          </a:xfrm>
          <a:prstGeom prst="rect">
            <a:avLst/>
          </a:prstGeom>
        </p:spPr>
      </p:pic>
      <p:graphicFrame>
        <p:nvGraphicFramePr>
          <p:cNvPr id="13" name="Table 12"/>
          <p:cNvGraphicFramePr>
            <a:graphicFrameLocks noGrp="1"/>
          </p:cNvGraphicFramePr>
          <p:nvPr/>
        </p:nvGraphicFramePr>
        <p:xfrm>
          <a:off x="475488" y="3653942"/>
          <a:ext cx="9582912" cy="2057400"/>
        </p:xfrm>
        <a:graphic>
          <a:graphicData uri="http://schemas.openxmlformats.org/drawingml/2006/table">
            <a:tbl>
              <a:tblPr firstRow="1" bandRow="1">
                <a:tableStyleId>{5C22544A-7EE6-4342-B048-85BDC9FD1C3A}</a:tableStyleId>
              </a:tblPr>
              <a:tblGrid>
                <a:gridCol w="4791456"/>
                <a:gridCol w="4791456"/>
              </a:tblGrid>
              <a:tr h="411480">
                <a:tc>
                  <a:txBody>
                    <a:bodyPr wrap="square" anchor="ctr" lIns="73152" rIns="73152"/>
                    <a:lstStyle/>
                    <a:p>
                      <a:pPr algn="l">
                        <a:lnSpc>
                          <a:spcPct val="125000"/>
                        </a:lnSpc>
                      </a:pPr>
                      <a:r>
                        <a:rPr sz="1400" b="1" i="0" lang="fr-FR">
                          <a:solidFill>
                            <a:srgbClr val="FFFFFF"/>
                          </a:solidFill>
                          <a:latin typeface="Marianne"/>
                        </a:rPr>
                        <a:t>Communication 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Communication 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Non compréhension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Accès à l'information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Frustration, énervement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Confiance en soi</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Décrochage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Autonomie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Exclusion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Inclusion sociale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01168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Communication accessible,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Q4 - Pourquoi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45</a:t>
            </a:r>
            <a:endParaRPr lang="fr-FR" dirty="0"/>
          </a:p>
        </p:txBody>
      </p:sp>
      <p:sp>
        <p:nvSpPr>
          <p:cNvPr id="9" name="DSFR-box"/>
          <p:cNvSpPr/>
          <p:nvPr/>
        </p:nvSpPr>
        <p:spPr>
          <a:xfrm>
            <a:off x="548640" y="187451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Contenus que le public peut lire, comprendre et utiliser.</a:t>
            </a:r>
          </a:p>
        </p:txBody>
      </p:sp>
      <p:sp>
        <p:nvSpPr>
          <p:cNvPr id="12" name="DSFR-box"/>
          <p:cNvSpPr/>
          <p:nvPr/>
        </p:nvSpPr>
        <p:spPr>
          <a:xfrm>
            <a:off x="548640" y="2679192"/>
            <a:ext cx="5390388" cy="16824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à garder en tête</a:t>
            </a:r>
          </a:p>
        </p:txBody>
      </p:sp>
      <p:sp>
        <p:nvSpPr>
          <p:cNvPr id="14" name="DSFR-callout-body"/>
          <p:cNvSpPr txBox="1"/>
          <p:nvPr/>
        </p:nvSpPr>
        <p:spPr>
          <a:xfrm>
            <a:off x="704088"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Qui risque d'être empêché par ce support ?</a:t>
            </a:r>
          </a:p>
          <a:p>
            <a:pPr algn="l">
              <a:lnSpc>
                <a:spcPct val="125000"/>
              </a:lnSpc>
            </a:pPr>
            <a:r>
              <a:rPr sz="1400" lang="fr-FR">
                <a:solidFill>
                  <a:srgbClr val="161616"/>
                </a:solidFill>
                <a:latin typeface="Marianne"/>
              </a:rPr>
              <a:t>• </a:t>
            </a:r>
            <a:r>
              <a:rPr sz="1400" b="0" lang="fr-FR">
                <a:solidFill>
                  <a:srgbClr val="161616"/>
                </a:solidFill>
                <a:latin typeface="Marianne"/>
              </a:rPr>
              <a:t>Quel autre chemin donne accès à la même information ?</a:t>
            </a:r>
          </a:p>
          <a:p>
            <a:pPr algn="l">
              <a:lnSpc>
                <a:spcPct val="125000"/>
              </a:lnSpc>
            </a:pPr>
            <a:r>
              <a:rPr sz="1400" lang="fr-FR">
                <a:solidFill>
                  <a:srgbClr val="161616"/>
                </a:solidFill>
                <a:latin typeface="Marianne"/>
              </a:rPr>
              <a:t>• </a:t>
            </a:r>
            <a:r>
              <a:rPr sz="1400" b="0" lang="fr-FR">
                <a:solidFill>
                  <a:srgbClr val="161616"/>
                </a:solidFill>
                <a:latin typeface="Marianne"/>
              </a:rPr>
              <a:t>Quelle règle simple peut être appliquée dès maintenant ?</a:t>
            </a:r>
          </a:p>
        </p:txBody>
      </p:sp>
      <p:sp>
        <p:nvSpPr>
          <p:cNvPr id="16" name="DSFR-box"/>
          <p:cNvSpPr/>
          <p:nvPr/>
        </p:nvSpPr>
        <p:spPr>
          <a:xfrm>
            <a:off x="6313931" y="2679192"/>
            <a:ext cx="5390388" cy="16824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supports concernés</a:t>
            </a:r>
          </a:p>
        </p:txBody>
      </p:sp>
      <p:sp>
        <p:nvSpPr>
          <p:cNvPr id="18" name="DSFR-alert-info-body"/>
          <p:cNvSpPr txBox="1"/>
          <p:nvPr/>
        </p:nvSpPr>
        <p:spPr>
          <a:xfrm>
            <a:off x="6469379"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Web : site, application, newsletter, mails</a:t>
            </a:r>
          </a:p>
          <a:p>
            <a:pPr algn="l">
              <a:lnSpc>
                <a:spcPct val="125000"/>
              </a:lnSpc>
            </a:pPr>
            <a:r>
              <a:rPr sz="1400" lang="fr-FR">
                <a:solidFill>
                  <a:srgbClr val="161616"/>
                </a:solidFill>
                <a:latin typeface="Marianne"/>
              </a:rPr>
              <a:t>• </a:t>
            </a:r>
            <a:r>
              <a:rPr sz="1400" b="0" lang="fr-FR">
                <a:solidFill>
                  <a:srgbClr val="161616"/>
                </a:solidFill>
                <a:latin typeface="Marianne"/>
              </a:rPr>
              <a:t>Médias : vidéo, podcast, visuel animé</a:t>
            </a:r>
          </a:p>
          <a:p>
            <a:pPr algn="l">
              <a:lnSpc>
                <a:spcPct val="125000"/>
              </a:lnSpc>
            </a:pPr>
            <a:r>
              <a:rPr sz="1400" lang="fr-FR">
                <a:solidFill>
                  <a:srgbClr val="161616"/>
                </a:solidFill>
                <a:latin typeface="Marianne"/>
              </a:rPr>
              <a:t>• </a:t>
            </a:r>
            <a:r>
              <a:rPr sz="1400" b="0" lang="fr-FR">
                <a:solidFill>
                  <a:srgbClr val="161616"/>
                </a:solidFill>
                <a:latin typeface="Marianne"/>
              </a:rPr>
              <a:t>Documents : PDF, bureautique, formulaires</a:t>
            </a:r>
          </a:p>
          <a:p>
            <a:pPr algn="l">
              <a:lnSpc>
                <a:spcPct val="125000"/>
              </a:lnSpc>
            </a:pPr>
            <a:r>
              <a:rPr sz="1400" lang="fr-FR">
                <a:solidFill>
                  <a:srgbClr val="161616"/>
                </a:solidFill>
                <a:latin typeface="Marianne"/>
              </a:rPr>
              <a:t>• </a:t>
            </a:r>
            <a:r>
              <a:rPr sz="1400" b="0" lang="fr-FR">
                <a:solidFill>
                  <a:srgbClr val="161616"/>
                </a:solidFill>
                <a:latin typeface="Marianne"/>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5. L'accessibilité numérique, comment s'y mettre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Des outils déjà intégrés à vos postes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Outils intégrés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systèmes d'exploitation et les suites bureautiques intègrent déjà des fonctions d'accessibilité. Pas besoin de tout réinventer.</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Vision</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Loupe et zoom intégrés</a:t>
            </a:r>
          </a:p>
          <a:p>
            <a:pPr algn="l">
              <a:lnSpc>
                <a:spcPct val="120000"/>
              </a:lnSpc>
            </a:pPr>
            <a:r>
              <a:rPr sz="1400" lang="fr-FR">
                <a:solidFill>
                  <a:srgbClr val="161616"/>
                </a:solidFill>
                <a:latin typeface="Marianne"/>
              </a:rPr>
              <a:t>• </a:t>
            </a:r>
            <a:r>
              <a:rPr sz="1400" b="0" lang="fr-FR">
                <a:solidFill>
                  <a:srgbClr val="161616"/>
                </a:solidFill>
                <a:latin typeface="Marianne"/>
              </a:rPr>
              <a:t>Filtres de couleur et mode sombre</a:t>
            </a:r>
          </a:p>
          <a:p>
            <a:pPr algn="l">
              <a:lnSpc>
                <a:spcPct val="120000"/>
              </a:lnSpc>
            </a:pPr>
            <a:r>
              <a:rPr sz="1400" lang="fr-FR">
                <a:solidFill>
                  <a:srgbClr val="161616"/>
                </a:solidFill>
                <a:latin typeface="Marianne"/>
              </a:rPr>
              <a:t>• </a:t>
            </a:r>
            <a:r>
              <a:rPr sz="1400" b="0" lang="fr-FR">
                <a:solidFill>
                  <a:srgbClr val="161616"/>
                </a:solidFill>
                <a:latin typeface="Marianne"/>
              </a:rPr>
              <a:t>Narrateur / NVDA (lecteur d'écran)</a:t>
            </a:r>
          </a:p>
          <a:p>
            <a:pPr algn="l">
              <a:lnSpc>
                <a:spcPct val="120000"/>
              </a:lnSpc>
            </a:pPr>
            <a:r>
              <a:rPr sz="1400" lang="fr-FR">
                <a:solidFill>
                  <a:srgbClr val="161616"/>
                </a:solidFill>
                <a:latin typeface="Marianne"/>
              </a:rPr>
              <a:t>• </a:t>
            </a:r>
            <a:r>
              <a:rPr sz="1400" b="0" lang="fr-FR">
                <a:solidFill>
                  <a:srgbClr val="161616"/>
                </a:solidFill>
                <a:latin typeface="Marianne"/>
              </a:rPr>
              <a:t>Réglage de la taille du texte</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Audition et interaction</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Sous-titres en temps réel</a:t>
            </a:r>
          </a:p>
          <a:p>
            <a:pPr algn="l">
              <a:lnSpc>
                <a:spcPct val="120000"/>
              </a:lnSpc>
            </a:pPr>
            <a:r>
              <a:rPr sz="1400" lang="fr-FR">
                <a:solidFill>
                  <a:srgbClr val="161616"/>
                </a:solidFill>
                <a:latin typeface="Marianne"/>
              </a:rPr>
              <a:t>• </a:t>
            </a:r>
            <a:r>
              <a:rPr sz="1400" b="0" lang="fr-FR">
                <a:solidFill>
                  <a:srgbClr val="161616"/>
                </a:solidFill>
                <a:latin typeface="Marianne"/>
              </a:rPr>
              <a:t>Commandes vocales</a:t>
            </a:r>
          </a:p>
          <a:p>
            <a:pPr algn="l">
              <a:lnSpc>
                <a:spcPct val="120000"/>
              </a:lnSpc>
            </a:pPr>
            <a:r>
              <a:rPr sz="1400" lang="fr-FR">
                <a:solidFill>
                  <a:srgbClr val="161616"/>
                </a:solidFill>
                <a:latin typeface="Marianne"/>
              </a:rPr>
              <a:t>• </a:t>
            </a:r>
            <a:r>
              <a:rPr sz="1400" b="0" lang="fr-FR">
                <a:solidFill>
                  <a:srgbClr val="161616"/>
                </a:solidFill>
                <a:latin typeface="Marianne"/>
              </a:rPr>
              <a:t>Navigation au clavier</a:t>
            </a:r>
          </a:p>
          <a:p>
            <a:pPr algn="l">
              <a:lnSpc>
                <a:spcPct val="120000"/>
              </a:lnSpc>
            </a:pPr>
            <a:r>
              <a:rPr sz="1400" lang="fr-FR">
                <a:solidFill>
                  <a:srgbClr val="161616"/>
                </a:solidFill>
                <a:latin typeface="Marianne"/>
              </a:rPr>
              <a:t>• </a:t>
            </a:r>
            <a:r>
              <a:rPr sz="1400" b="0" lang="fr-FR">
                <a:solidFill>
                  <a:srgbClr val="161616"/>
                </a:solidFill>
                <a:latin typeface="Marianne"/>
              </a:rPr>
              <a:t>Vérification d'accessibilité (Word, PowerPoint)</a:t>
            </a:r>
          </a:p>
        </p:txBody>
      </p:sp>
      <p:pic>
        <p:nvPicPr>
          <p:cNvPr id="19" name="Picture 18" descr="Logo NVDA - lecteur d'écran gratuit et open source"/>
          <p:cNvPicPr>
            <a:picLocks noChangeAspect="1"/>
          </p:cNvPicPr>
          <p:nvPr/>
        </p:nvPicPr>
        <p:blipFill>
          <a:blip r:embed="rId2"/>
          <a:stretch>
            <a:fillRect/>
          </a:stretch>
        </p:blipFill>
        <p:spPr>
          <a:xfrm>
            <a:off x="5632704" y="5056632"/>
            <a:ext cx="914400" cy="914400"/>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Règles transversales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48</a:t>
            </a:r>
            <a:endParaRPr lang="fr-FR" dirty="0"/>
          </a:p>
        </p:txBody>
      </p:sp>
      <p:sp>
        <p:nvSpPr>
          <p:cNvPr id="9" name="DSFR-box"/>
          <p:cNvSpPr/>
          <p:nvPr/>
        </p:nvSpPr>
        <p:spPr>
          <a:xfrm>
            <a:off x="548640"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Textes lisibles</a:t>
            </a:r>
          </a:p>
        </p:txBody>
      </p:sp>
      <p:sp>
        <p:nvSpPr>
          <p:cNvPr id="12" name="DSFR-card-contenu"/>
          <p:cNvSpPr txBox="1"/>
          <p:nvPr/>
        </p:nvSpPr>
        <p:spPr>
          <a:xfrm>
            <a:off x="704088"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Police simple, sans empattement</a:t>
            </a:r>
          </a:p>
          <a:p>
            <a:pPr algn="l">
              <a:lnSpc>
                <a:spcPct val="125000"/>
              </a:lnSpc>
            </a:pPr>
            <a:r>
              <a:rPr sz="1400" lang="fr-FR">
                <a:solidFill>
                  <a:srgbClr val="161616"/>
                </a:solidFill>
                <a:latin typeface="Marianne"/>
              </a:rPr>
              <a:t>• </a:t>
            </a:r>
            <a:r>
              <a:rPr sz="1400" b="0" lang="fr-FR">
                <a:solidFill>
                  <a:srgbClr val="161616"/>
                </a:solidFill>
                <a:latin typeface="Marianne"/>
              </a:rPr>
              <a:t>Alignement à gauche</a:t>
            </a:r>
          </a:p>
          <a:p>
            <a:pPr algn="l">
              <a:lnSpc>
                <a:spcPct val="125000"/>
              </a:lnSpc>
            </a:pPr>
            <a:r>
              <a:rPr sz="1400" lang="fr-FR">
                <a:solidFill>
                  <a:srgbClr val="161616"/>
                </a:solidFill>
                <a:latin typeface="Marianne"/>
              </a:rPr>
              <a:t>• </a:t>
            </a:r>
            <a:r>
              <a:rPr sz="1400" b="0" lang="fr-FR">
                <a:solidFill>
                  <a:srgbClr val="161616"/>
                </a:solidFill>
                <a:latin typeface="Marianne"/>
              </a:rPr>
              <a:t>Paragraphes courts et aérés</a:t>
            </a:r>
          </a:p>
          <a:p>
            <a:pPr algn="l">
              <a:lnSpc>
                <a:spcPct val="125000"/>
              </a:lnSpc>
            </a:pPr>
            <a:r>
              <a:rPr sz="1400" lang="fr-FR">
                <a:solidFill>
                  <a:srgbClr val="161616"/>
                </a:solidFill>
                <a:latin typeface="Marianne"/>
              </a:rPr>
              <a:t>• </a:t>
            </a:r>
            <a:r>
              <a:rPr sz="1400" b="0" lang="fr-FR">
                <a:solidFill>
                  <a:srgbClr val="161616"/>
                </a:solidFill>
                <a:latin typeface="Marianne"/>
              </a:rPr>
              <a:t>Taille adaptée au support final</a:t>
            </a:r>
          </a:p>
        </p:txBody>
      </p:sp>
      <p:sp>
        <p:nvSpPr>
          <p:cNvPr id="14" name="DSFR-box"/>
          <p:cNvSpPr/>
          <p:nvPr/>
        </p:nvSpPr>
        <p:spPr>
          <a:xfrm>
            <a:off x="4392167"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Contrastes testés</a:t>
            </a:r>
          </a:p>
        </p:txBody>
      </p:sp>
      <p:sp>
        <p:nvSpPr>
          <p:cNvPr id="17" name="DSFR-card-contenu"/>
          <p:cNvSpPr txBox="1"/>
          <p:nvPr/>
        </p:nvSpPr>
        <p:spPr>
          <a:xfrm>
            <a:off x="4547615"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Ratio 4,5:1 minimum</a:t>
            </a:r>
          </a:p>
          <a:p>
            <a:pPr algn="l">
              <a:lnSpc>
                <a:spcPct val="125000"/>
              </a:lnSpc>
            </a:pPr>
            <a:r>
              <a:rPr sz="1400" lang="fr-FR">
                <a:solidFill>
                  <a:srgbClr val="161616"/>
                </a:solidFill>
                <a:latin typeface="Marianne"/>
              </a:rPr>
              <a:t>• </a:t>
            </a:r>
            <a:r>
              <a:rPr sz="1400" b="0" lang="fr-FR">
                <a:solidFill>
                  <a:srgbClr val="161616"/>
                </a:solidFill>
                <a:latin typeface="Marianne"/>
              </a:rPr>
              <a:t>Idéal : viser 7:1</a:t>
            </a:r>
          </a:p>
          <a:p>
            <a:pPr algn="l">
              <a:lnSpc>
                <a:spcPct val="125000"/>
              </a:lnSpc>
            </a:pPr>
            <a:r>
              <a:rPr sz="1400" lang="fr-FR">
                <a:solidFill>
                  <a:srgbClr val="161616"/>
                </a:solidFill>
                <a:latin typeface="Marianne"/>
              </a:rPr>
              <a:t>• </a:t>
            </a:r>
            <a:r>
              <a:rPr sz="1400" b="0" lang="fr-FR">
                <a:solidFill>
                  <a:srgbClr val="161616"/>
                </a:solidFill>
                <a:latin typeface="Marianne"/>
              </a:rPr>
              <a:t>Éviter les dégradés sous le texte</a:t>
            </a:r>
          </a:p>
          <a:p>
            <a:pPr algn="l">
              <a:lnSpc>
                <a:spcPct val="125000"/>
              </a:lnSpc>
            </a:pPr>
            <a:r>
              <a:rPr sz="1400" lang="fr-FR">
                <a:solidFill>
                  <a:srgbClr val="161616"/>
                </a:solidFill>
                <a:latin typeface="Marianne"/>
              </a:rPr>
              <a:t>• </a:t>
            </a:r>
            <a:r>
              <a:rPr sz="1400" b="0" lang="fr-FR">
                <a:solidFill>
                  <a:srgbClr val="161616"/>
                </a:solidFill>
                <a:latin typeface="Marianne"/>
              </a:rPr>
              <a:t>Tester avec un outil, pas à l'œil</a:t>
            </a:r>
          </a:p>
        </p:txBody>
      </p:sp>
      <p:sp>
        <p:nvSpPr>
          <p:cNvPr id="19" name="DSFR-box"/>
          <p:cNvSpPr/>
          <p:nvPr/>
        </p:nvSpPr>
        <p:spPr>
          <a:xfrm>
            <a:off x="8235695"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QR codes utiles</a:t>
            </a:r>
          </a:p>
        </p:txBody>
      </p:sp>
      <p:sp>
        <p:nvSpPr>
          <p:cNvPr id="22" name="DSFR-card-contenu"/>
          <p:cNvSpPr txBox="1"/>
          <p:nvPr/>
        </p:nvSpPr>
        <p:spPr>
          <a:xfrm>
            <a:off x="8391144"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Jamais le seul accès</a:t>
            </a:r>
          </a:p>
          <a:p>
            <a:pPr algn="l">
              <a:lnSpc>
                <a:spcPct val="125000"/>
              </a:lnSpc>
            </a:pPr>
            <a:r>
              <a:rPr sz="1400" lang="fr-FR">
                <a:solidFill>
                  <a:srgbClr val="161616"/>
                </a:solidFill>
                <a:latin typeface="Marianne"/>
              </a:rPr>
              <a:t>• </a:t>
            </a:r>
            <a:r>
              <a:rPr sz="1400" b="0" lang="fr-FR">
                <a:solidFill>
                  <a:srgbClr val="161616"/>
                </a:solidFill>
                <a:latin typeface="Marianne"/>
              </a:rPr>
              <a:t>Lien visible à côté</a:t>
            </a:r>
          </a:p>
          <a:p>
            <a:pPr algn="l">
              <a:lnSpc>
                <a:spcPct val="125000"/>
              </a:lnSpc>
            </a:pPr>
            <a:r>
              <a:rPr sz="1400" lang="fr-FR">
                <a:solidFill>
                  <a:srgbClr val="161616"/>
                </a:solidFill>
                <a:latin typeface="Marianne"/>
              </a:rPr>
              <a:t>• </a:t>
            </a:r>
            <a:r>
              <a:rPr sz="1400" b="0" lang="fr-FR">
                <a:solidFill>
                  <a:srgbClr val="161616"/>
                </a:solidFill>
                <a:latin typeface="Marianne"/>
              </a:rPr>
              <a:t>Mention « Scannez-moi ! »</a:t>
            </a:r>
          </a:p>
          <a:p>
            <a:pPr algn="l">
              <a:lnSpc>
                <a:spcPct val="125000"/>
              </a:lnSpc>
            </a:pPr>
            <a:r>
              <a:rPr sz="1400" lang="fr-FR">
                <a:solidFill>
                  <a:srgbClr val="161616"/>
                </a:solidFill>
                <a:latin typeface="Marianne"/>
              </a:rPr>
              <a:t>• </a:t>
            </a:r>
            <a:r>
              <a:rPr sz="1400" b="0" lang="fr-FR">
                <a:solidFill>
                  <a:srgbClr val="161616"/>
                </a:solidFill>
                <a:latin typeface="Marianne"/>
              </a:rPr>
              <a:t>Taille et contraste suffisants</a:t>
            </a:r>
          </a:p>
        </p:txBody>
      </p:sp>
      <p:sp>
        <p:nvSpPr>
          <p:cNvPr id="24" name="DSFR-box"/>
          <p:cNvSpPr/>
          <p:nvPr/>
        </p:nvSpPr>
        <p:spPr>
          <a:xfrm>
            <a:off x="548640" y="4791455"/>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4882895"/>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791455"/>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et langage clair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Simplifier ne veut pas dire appauvrir : c'est rendre le message accessible au plus grand nombre.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FALC - Facile à lire et à comprendre</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Règles européennes d'accessibilité cognitive</a:t>
            </a:r>
          </a:p>
          <a:p>
            <a:pPr algn="l">
              <a:lnSpc>
                <a:spcPct val="120000"/>
              </a:lnSpc>
            </a:pPr>
            <a:r>
              <a:rPr sz="1400" lang="fr-FR">
                <a:solidFill>
                  <a:srgbClr val="161616"/>
                </a:solidFill>
                <a:latin typeface="Marianne"/>
              </a:rPr>
              <a:t>• </a:t>
            </a:r>
            <a:r>
              <a:rPr sz="1400" b="0" lang="fr-FR">
                <a:solidFill>
                  <a:srgbClr val="161616"/>
                </a:solidFill>
                <a:latin typeface="Marianne"/>
              </a:rPr>
              <a:t>Phrases courtes, mots simples, une idée par phrase</a:t>
            </a:r>
          </a:p>
          <a:p>
            <a:pPr algn="l">
              <a:lnSpc>
                <a:spcPct val="120000"/>
              </a:lnSpc>
            </a:pPr>
            <a:r>
              <a:rPr sz="1400" lang="fr-FR">
                <a:solidFill>
                  <a:srgbClr val="161616"/>
                </a:solidFill>
                <a:latin typeface="Marianne"/>
              </a:rPr>
              <a:t>• </a:t>
            </a:r>
            <a:r>
              <a:rPr sz="1400" b="0" lang="fr-FR">
                <a:solidFill>
                  <a:srgbClr val="161616"/>
                </a:solidFill>
                <a:latin typeface="Marianne"/>
              </a:rPr>
              <a:t>Images explicatives, mise en page aérée</a:t>
            </a:r>
          </a:p>
          <a:p>
            <a:pPr algn="l">
              <a:lnSpc>
                <a:spcPct val="120000"/>
              </a:lnSpc>
            </a:pPr>
            <a:r>
              <a:rPr sz="1400" lang="fr-FR">
                <a:solidFill>
                  <a:srgbClr val="161616"/>
                </a:solidFill>
                <a:latin typeface="Marianne"/>
              </a:rPr>
              <a:t>• </a:t>
            </a:r>
            <a:r>
              <a:rPr sz="1400" b="0" lang="fr-FR">
                <a:solidFill>
                  <a:srgbClr val="161616"/>
                </a:solidFill>
                <a:latin typeface="Marianne"/>
              </a:rPr>
              <a:t>Validation par des personnes concernées</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Langage clair</a:t>
            </a:r>
          </a:p>
        </p:txBody>
      </p:sp>
      <p:sp>
        <p:nvSpPr>
          <p:cNvPr id="18" name="DSFR-alert-info-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Structurer : titres, listes, paragraphes courts</a:t>
            </a:r>
          </a:p>
          <a:p>
            <a:pPr algn="l">
              <a:lnSpc>
                <a:spcPct val="120000"/>
              </a:lnSpc>
            </a:pPr>
            <a:r>
              <a:rPr sz="1400" lang="fr-FR">
                <a:solidFill>
                  <a:srgbClr val="161616"/>
                </a:solidFill>
                <a:latin typeface="Marianne"/>
              </a:rPr>
              <a:t>• </a:t>
            </a:r>
            <a:r>
              <a:rPr sz="1400" b="0" lang="fr-FR">
                <a:solidFill>
                  <a:srgbClr val="161616"/>
                </a:solidFill>
                <a:latin typeface="Marianne"/>
              </a:rPr>
              <a:t>Expliquer : sigles, jargon, termes techniques</a:t>
            </a:r>
          </a:p>
          <a:p>
            <a:pPr algn="l">
              <a:lnSpc>
                <a:spcPct val="120000"/>
              </a:lnSpc>
            </a:pPr>
            <a:r>
              <a:rPr sz="1400" lang="fr-FR">
                <a:solidFill>
                  <a:srgbClr val="161616"/>
                </a:solidFill>
                <a:latin typeface="Marianne"/>
              </a:rPr>
              <a:t>• </a:t>
            </a:r>
            <a:r>
              <a:rPr sz="1400" b="0" lang="fr-FR">
                <a:solidFill>
                  <a:srgbClr val="161616"/>
                </a:solidFill>
                <a:latin typeface="Marianne"/>
              </a:rPr>
              <a:t>Guider : verbes d'action, consignes explicites</a:t>
            </a:r>
          </a:p>
          <a:p>
            <a:pPr algn="l">
              <a:lnSpc>
                <a:spcPct val="120000"/>
              </a:lnSpc>
            </a:pPr>
            <a:r>
              <a:rPr sz="1400" lang="fr-FR">
                <a:solidFill>
                  <a:srgbClr val="161616"/>
                </a:solidFill>
                <a:latin typeface="Marianne"/>
              </a:rPr>
              <a:t>• </a:t>
            </a:r>
            <a:r>
              <a:rPr sz="1400" b="0" lang="fr-FR">
                <a:solidFill>
                  <a:srgbClr val="161616"/>
                </a:solidFill>
                <a:latin typeface="Marianne"/>
              </a:rPr>
              <a:t>Tester : relecture à voix haute, lisibilité</a:t>
            </a:r>
          </a:p>
        </p:txBody>
      </p:sp>
      <p:pic>
        <p:nvPicPr>
          <p:cNvPr id="19" name="Picture 18" descr="Logo FALC - Facile à lire et à comprendre"/>
          <p:cNvPicPr>
            <a:picLocks noChangeAspect="1"/>
          </p:cNvPicPr>
          <p:nvPr/>
        </p:nvPicPr>
        <p:blipFill>
          <a:blip r:embed="rId2"/>
          <a:stretch>
            <a:fillRect/>
          </a:stretch>
        </p:blipFill>
        <p:spPr>
          <a:xfrm>
            <a:off x="5815583" y="4730191"/>
            <a:ext cx="548640" cy="498037"/>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s'y mettre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Premiers pas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Des règles et bonnes pratiques simples permettent de garantir l'accessibilité à toutes et tous.</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étapes pour avancer</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Être sensibilisé - c'est ce qu'on fait aujourd'hui</a:t>
            </a:r>
          </a:p>
          <a:p>
            <a:pPr algn="l">
              <a:lnSpc>
                <a:spcPct val="120000"/>
              </a:lnSpc>
            </a:pPr>
            <a:r>
              <a:rPr sz="1400" lang="fr-FR">
                <a:solidFill>
                  <a:srgbClr val="161616"/>
                </a:solidFill>
                <a:latin typeface="Marianne"/>
              </a:rPr>
              <a:t>• </a:t>
            </a:r>
            <a:r>
              <a:rPr sz="1400" b="0" lang="fr-FR">
                <a:solidFill>
                  <a:srgbClr val="161616"/>
                </a:solidFill>
                <a:latin typeface="Marianne"/>
              </a:rPr>
              <a:t>Être à l'écoute des besoins spécifiques</a:t>
            </a:r>
          </a:p>
          <a:p>
            <a:pPr algn="l">
              <a:lnSpc>
                <a:spcPct val="120000"/>
              </a:lnSpc>
            </a:pPr>
            <a:r>
              <a:rPr sz="1400" lang="fr-FR">
                <a:solidFill>
                  <a:srgbClr val="161616"/>
                </a:solidFill>
                <a:latin typeface="Marianne"/>
              </a:rPr>
              <a:t>• </a:t>
            </a:r>
            <a:r>
              <a:rPr sz="1400" b="0" lang="fr-FR">
                <a:solidFill>
                  <a:srgbClr val="161616"/>
                </a:solidFill>
                <a:latin typeface="Marianne"/>
              </a:rPr>
              <a:t>Connaître les matériels et logiciels adaptés</a:t>
            </a:r>
          </a:p>
          <a:p>
            <a:pPr algn="l">
              <a:lnSpc>
                <a:spcPct val="120000"/>
              </a:lnSpc>
            </a:pPr>
            <a:r>
              <a:rPr sz="1400" lang="fr-FR">
                <a:solidFill>
                  <a:srgbClr val="161616"/>
                </a:solidFill>
                <a:latin typeface="Marianne"/>
              </a:rPr>
              <a:t>• </a:t>
            </a:r>
            <a:r>
              <a:rPr sz="1400" b="0" lang="fr-FR">
                <a:solidFill>
                  <a:srgbClr val="161616"/>
                </a:solidFill>
                <a:latin typeface="Marianne"/>
              </a:rPr>
              <a:t>Se former pour découvrir un nouvel univers</a:t>
            </a:r>
          </a:p>
        </p:txBody>
      </p:sp>
      <p:sp>
        <p:nvSpPr>
          <p:cNvPr id="16" name="DSFR-box"/>
          <p:cNvSpPr/>
          <p:nvPr/>
        </p:nvSpPr>
        <p:spPr>
          <a:xfrm>
            <a:off x="6313931" y="299466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Offre de formation</a:t>
            </a:r>
          </a:p>
        </p:txBody>
      </p:sp>
      <p:sp>
        <p:nvSpPr>
          <p:cNvPr id="18" name="DSFR-alert-success-body"/>
          <p:cNvSpPr txBox="1"/>
          <p:nvPr/>
        </p:nvSpPr>
        <p:spPr>
          <a:xfrm>
            <a:off x="6469379" y="3497579"/>
            <a:ext cx="5143500" cy="128016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Mentor (en ligne) : l'accessibilité numérique selon votre métier</a:t>
            </a:r>
          </a:p>
          <a:p>
            <a:pPr algn="l">
              <a:lnSpc>
                <a:spcPct val="120000"/>
              </a:lnSpc>
            </a:pPr>
            <a:r>
              <a:rPr sz="1400" lang="fr-FR">
                <a:solidFill>
                  <a:srgbClr val="161616"/>
                </a:solidFill>
                <a:latin typeface="Marianne"/>
              </a:rPr>
              <a:t>• </a:t>
            </a:r>
            <a:r>
              <a:rPr sz="1400" b="0" lang="fr-FR">
                <a:solidFill>
                  <a:srgbClr val="161616"/>
                </a:solidFill>
                <a:latin typeface="Marianne"/>
              </a:rPr>
              <a:t>IGPDE : l'accessibilité numérique pour la bureautique et le web (réf. 102846)</a:t>
            </a:r>
          </a:p>
          <a:p>
            <a:pPr algn="l">
              <a:lnSpc>
                <a:spcPct val="120000"/>
              </a:lnSpc>
            </a:pPr>
            <a:r>
              <a:rPr sz="1400" lang="fr-FR">
                <a:solidFill>
                  <a:srgbClr val="161616"/>
                </a:solidFill>
                <a:latin typeface="Marianne"/>
              </a:rPr>
              <a:t>• </a:t>
            </a:r>
            <a:r>
              <a:rPr sz="1400" b="0" lang="fr-FR">
                <a:solidFill>
                  <a:srgbClr val="161616"/>
                </a:solidFill>
                <a:latin typeface="Marianne"/>
              </a:rPr>
              <a:t>DINUM : sensibilisation, design inclusif, audit RGAA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FALC : la méthode en 5 étapes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méthode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 est très difficile de faire simple ! Le FALC suit un processus rigoureux.</a:t>
            </a:r>
          </a:p>
        </p:txBody>
      </p:sp>
      <p:sp>
        <p:nvSpPr>
          <p:cNvPr id="12" name="DSFR-box"/>
          <p:cNvSpPr/>
          <p:nvPr/>
        </p:nvSpPr>
        <p:spPr>
          <a:xfrm>
            <a:off x="548640" y="2948940"/>
            <a:ext cx="5390388" cy="293065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5 étapes</a:t>
            </a:r>
          </a:p>
        </p:txBody>
      </p:sp>
      <p:sp>
        <p:nvSpPr>
          <p:cNvPr id="14" name="DSFR-callout-body"/>
          <p:cNvSpPr txBox="1"/>
          <p:nvPr/>
        </p:nvSpPr>
        <p:spPr>
          <a:xfrm>
            <a:off x="704088" y="3451860"/>
            <a:ext cx="5143500" cy="2336292"/>
          </a:xfrm>
          <a:prstGeom prst="rect">
            <a:avLst/>
          </a:prstGeom>
          <a:noFill/>
        </p:spPr>
        <p:txBody>
          <a:bodyPr wrap="square" lIns="73152" rIns="73152">
            <a:spAutoFit/>
          </a:bodyPr>
          <a:lstStyle/>
          <a:p>
            <a:pPr algn="l">
              <a:lnSpc>
                <a:spcPct val="115000"/>
              </a:lnSpc>
            </a:pPr>
            <a:r>
              <a:rPr sz="1400" b="0" lang="fr-FR">
                <a:solidFill>
                  <a:srgbClr val="161616"/>
                </a:solidFill>
                <a:latin typeface="Marianne"/>
              </a:rPr>
              <a:t>1. </a:t>
            </a:r>
            <a:r>
              <a:rPr sz="1400" b="1" lang="fr-FR">
                <a:solidFill>
                  <a:srgbClr val="161616"/>
                </a:solidFill>
                <a:latin typeface="Marianne"/>
              </a:rPr>
              <a:t>Préparatoire</a:t>
            </a:r>
            <a:r>
              <a:rPr sz="1400" b="0" lang="fr-FR">
                <a:solidFill>
                  <a:srgbClr val="161616"/>
                </a:solidFill>
                <a:latin typeface="Marianne"/>
              </a:rPr>
              <a:t> : recherches, résumé simplifié, contrôle des contre-sens</a:t>
            </a:r>
          </a:p>
          <a:p>
            <a:pPr algn="l">
              <a:lnSpc>
                <a:spcPct val="115000"/>
              </a:lnSpc>
            </a:pPr>
            <a:r>
              <a:rPr sz="1400" b="0" lang="fr-FR">
                <a:solidFill>
                  <a:srgbClr val="161616"/>
                </a:solidFill>
                <a:latin typeface="Marianne"/>
              </a:rPr>
              <a:t>2. </a:t>
            </a:r>
            <a:r>
              <a:rPr sz="1400" b="1" lang="fr-FR">
                <a:solidFill>
                  <a:srgbClr val="161616"/>
                </a:solidFill>
                <a:latin typeface="Marianne"/>
              </a:rPr>
              <a:t>Transcription en duo</a:t>
            </a:r>
            <a:r>
              <a:rPr sz="1400" b="0" lang="fr-FR">
                <a:solidFill>
                  <a:srgbClr val="161616"/>
                </a:solidFill>
                <a:latin typeface="Marianne"/>
              </a:rPr>
              <a:t> : simplification, illustrations, mise en page</a:t>
            </a:r>
          </a:p>
          <a:p>
            <a:pPr algn="l">
              <a:lnSpc>
                <a:spcPct val="115000"/>
              </a:lnSpc>
            </a:pPr>
            <a:r>
              <a:rPr sz="1400" b="0" lang="fr-FR">
                <a:solidFill>
                  <a:srgbClr val="161616"/>
                </a:solidFill>
                <a:latin typeface="Marianne"/>
              </a:rPr>
              <a:t>3. </a:t>
            </a:r>
            <a:r>
              <a:rPr sz="1400" b="1" lang="fr-FR">
                <a:solidFill>
                  <a:srgbClr val="161616"/>
                </a:solidFill>
                <a:latin typeface="Marianne"/>
              </a:rPr>
              <a:t>Validation</a:t>
            </a:r>
            <a:r>
              <a:rPr sz="1400" b="0" lang="fr-FR">
                <a:solidFill>
                  <a:srgbClr val="161616"/>
                </a:solidFill>
                <a:latin typeface="Marianne"/>
              </a:rPr>
              <a:t> : relecture par des personnes handicapees intellectuelles</a:t>
            </a:r>
          </a:p>
          <a:p>
            <a:pPr algn="l">
              <a:lnSpc>
                <a:spcPct val="115000"/>
              </a:lnSpc>
            </a:pPr>
            <a:r>
              <a:rPr sz="1400" b="0" lang="fr-FR">
                <a:solidFill>
                  <a:srgbClr val="161616"/>
                </a:solidFill>
                <a:latin typeface="Marianne"/>
              </a:rPr>
              <a:t>4. </a:t>
            </a:r>
            <a:r>
              <a:rPr sz="1400" b="1" lang="fr-FR">
                <a:solidFill>
                  <a:srgbClr val="161616"/>
                </a:solidFill>
                <a:latin typeface="Marianne"/>
              </a:rPr>
              <a:t>Publication</a:t>
            </a:r>
            <a:r>
              <a:rPr sz="1400" b="0" lang="fr-FR">
                <a:solidFill>
                  <a:srgbClr val="161616"/>
                </a:solidFill>
                <a:latin typeface="Marianne"/>
              </a:rPr>
              <a:t> : logo FALC, credit des personnes impliquees</a:t>
            </a:r>
          </a:p>
          <a:p>
            <a:pPr algn="l">
              <a:lnSpc>
                <a:spcPct val="115000"/>
              </a:lnSpc>
            </a:pPr>
            <a:r>
              <a:rPr sz="1400" b="0" lang="fr-FR">
                <a:solidFill>
                  <a:srgbClr val="161616"/>
                </a:solidFill>
                <a:latin typeface="Marianne"/>
              </a:rPr>
              <a:t>5. </a:t>
            </a:r>
            <a:r>
              <a:rPr sz="1400" b="1" lang="fr-FR">
                <a:solidFill>
                  <a:srgbClr val="161616"/>
                </a:solidFill>
                <a:latin typeface="Marianne"/>
              </a:rPr>
              <a:t>Itération</a:t>
            </a:r>
            <a:r>
              <a:rPr sz="1400" b="0" lang="fr-FR">
                <a:solidFill>
                  <a:srgbClr val="161616"/>
                </a:solidFill>
                <a:latin typeface="Marianne"/>
              </a:rPr>
              <a:t> : savoir dire stop - un texte ne sera jamais compris a 100 %</a:t>
            </a:r>
          </a:p>
        </p:txBody>
      </p:sp>
      <p:sp>
        <p:nvSpPr>
          <p:cNvPr id="16" name="DSFR-box"/>
          <p:cNvSpPr/>
          <p:nvPr/>
        </p:nvSpPr>
        <p:spPr>
          <a:xfrm>
            <a:off x="6313931" y="2948940"/>
            <a:ext cx="5390388" cy="138485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Conditions obligatoires</a:t>
            </a:r>
          </a:p>
        </p:txBody>
      </p:sp>
      <p:sp>
        <p:nvSpPr>
          <p:cNvPr id="18" name="DSFR-alert-warning-body"/>
          <p:cNvSpPr txBox="1"/>
          <p:nvPr/>
        </p:nvSpPr>
        <p:spPr>
          <a:xfrm>
            <a:off x="6469379" y="345186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Validation par des personnes concernées (obligatoire)</a:t>
            </a:r>
          </a:p>
          <a:p>
            <a:pPr algn="l">
              <a:lnSpc>
                <a:spcPct val="115000"/>
              </a:lnSpc>
            </a:pPr>
            <a:r>
              <a:rPr sz="1400" lang="fr-FR">
                <a:solidFill>
                  <a:srgbClr val="161616"/>
                </a:solidFill>
                <a:latin typeface="Marianne"/>
              </a:rPr>
              <a:t>• </a:t>
            </a:r>
            <a:r>
              <a:rPr sz="1400" b="0" lang="fr-FR">
                <a:solidFill>
                  <a:srgbClr val="161616"/>
                </a:solidFill>
                <a:latin typeface="Marianne"/>
              </a:rPr>
              <a:t>80 % des critères FALC respectes (Unapei)</a:t>
            </a:r>
          </a:p>
          <a:p>
            <a:pPr algn="l">
              <a:lnSpc>
                <a:spcPct val="115000"/>
              </a:lnSpc>
            </a:pPr>
            <a:r>
              <a:rPr sz="1400" lang="fr-FR">
                <a:solidFill>
                  <a:srgbClr val="161616"/>
                </a:solidFill>
                <a:latin typeface="Marianne"/>
              </a:rPr>
              <a:t>• </a:t>
            </a:r>
            <a:r>
              <a:rPr sz="1400" b="0" lang="fr-FR">
                <a:solidFill>
                  <a:srgbClr val="161616"/>
                </a:solidFill>
                <a:latin typeface="Marianne"/>
              </a:rPr>
              <a:t>Logo europeen FALC + credit des valideurs</a:t>
            </a:r>
          </a:p>
        </p:txBody>
      </p:sp>
      <p:pic>
        <p:nvPicPr>
          <p:cNvPr id="19" name="Picture 18" descr="Couverture du guide Unapei - L'information pour tous"/>
          <p:cNvPicPr>
            <a:picLocks noChangeAspect="1"/>
          </p:cNvPicPr>
          <p:nvPr/>
        </p:nvPicPr>
        <p:blipFill>
          <a:blip r:embed="rId2"/>
          <a:stretch>
            <a:fillRect/>
          </a:stretch>
        </p:blipFill>
        <p:spPr>
          <a:xfrm>
            <a:off x="8721090" y="5074920"/>
            <a:ext cx="502920" cy="104886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293065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4894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Exemple : le rapport DIA en version accessible et FALC</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exemple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52</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rapport d'activité 2024 de la Délégation interministérielle à l'accessibilité existe en PDF accessible et en version FALC.</a:t>
            </a:r>
          </a:p>
        </p:txBody>
      </p:sp>
      <p:pic>
        <p:nvPicPr>
          <p:cNvPr id="11" name="Picture 10" descr="Logo europeen FALC - personnage lisant un document avec pouce leve"/>
          <p:cNvPicPr>
            <a:picLocks noChangeAspect="1"/>
          </p:cNvPicPr>
          <p:nvPr/>
        </p:nvPicPr>
        <p:blipFill>
          <a:blip r:embed="rId2"/>
          <a:stretch>
            <a:fillRect/>
          </a:stretch>
        </p:blipFill>
        <p:spPr>
          <a:xfrm>
            <a:off x="2658618" y="2766060"/>
            <a:ext cx="1097280" cy="1097280"/>
          </a:xfrm>
          <a:prstGeom prst="rect">
            <a:avLst/>
          </a:prstGeom>
        </p:spPr>
      </p:pic>
      <p:pic>
        <p:nvPicPr>
          <p:cNvPr id="12" name="Picture 11" descr="Couverture du rapport d'activité 2024 de la DIA en version FALC"/>
          <p:cNvPicPr>
            <a:picLocks noChangeAspect="1"/>
          </p:cNvPicPr>
          <p:nvPr/>
        </p:nvPicPr>
        <p:blipFill>
          <a:blip r:embed="rId3"/>
          <a:stretch>
            <a:fillRect/>
          </a:stretch>
        </p:blipFill>
        <p:spPr>
          <a:xfrm>
            <a:off x="8423909" y="2766060"/>
            <a:ext cx="1097280" cy="1097280"/>
          </a:xfrm>
          <a:prstGeom prst="rect">
            <a:avLst/>
          </a:prstGeom>
        </p:spPr>
      </p:pic>
      <p:sp>
        <p:nvSpPr>
          <p:cNvPr id="14" name="DSFR-box"/>
          <p:cNvSpPr/>
          <p:nvPr/>
        </p:nvSpPr>
        <p:spPr>
          <a:xfrm>
            <a:off x="548640"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704088"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PDF accessible</a:t>
            </a:r>
          </a:p>
        </p:txBody>
      </p:sp>
      <p:sp>
        <p:nvSpPr>
          <p:cNvPr id="16" name="DSFR-callout-body"/>
          <p:cNvSpPr txBox="1"/>
          <p:nvPr/>
        </p:nvSpPr>
        <p:spPr>
          <a:xfrm>
            <a:off x="704088"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Structure balisée (titres, listes, tableaux)</a:t>
            </a:r>
          </a:p>
          <a:p>
            <a:pPr algn="l">
              <a:lnSpc>
                <a:spcPct val="115000"/>
              </a:lnSpc>
            </a:pPr>
            <a:r>
              <a:rPr sz="1400" lang="fr-FR">
                <a:solidFill>
                  <a:srgbClr val="161616"/>
                </a:solidFill>
                <a:latin typeface="Marianne"/>
              </a:rPr>
              <a:t>• </a:t>
            </a:r>
            <a:r>
              <a:rPr sz="1400" b="0" lang="fr-FR">
                <a:solidFill>
                  <a:srgbClr val="161616"/>
                </a:solidFill>
                <a:latin typeface="Marianne"/>
              </a:rPr>
              <a:t>Alt text sur les images, ordre de lecture logique</a:t>
            </a:r>
          </a:p>
          <a:p>
            <a:pPr algn="l">
              <a:lnSpc>
                <a:spcPct val="115000"/>
              </a:lnSpc>
            </a:pPr>
            <a:r>
              <a:rPr sz="1400" lang="fr-FR">
                <a:solidFill>
                  <a:srgbClr val="161616"/>
                </a:solidFill>
                <a:latin typeface="Marianne"/>
              </a:rPr>
              <a:t>• </a:t>
            </a:r>
            <a:r>
              <a:rPr sz="1400" b="0" u="sng" lang="fr-FR">
                <a:solidFill>
                  <a:srgbClr val="000091"/>
                </a:solidFill>
                <a:latin typeface="Marianne"/>
                <a:hlinkClick r:id="rId4"/>
              </a:rPr>
              <a:t>Télécharger (handicap.gouv.fr)</a:t>
            </a:r>
          </a:p>
        </p:txBody>
      </p:sp>
      <p:sp>
        <p:nvSpPr>
          <p:cNvPr id="18" name="DSFR-box"/>
          <p:cNvSpPr/>
          <p:nvPr/>
        </p:nvSpPr>
        <p:spPr>
          <a:xfrm>
            <a:off x="6313931"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6469379"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FALC</a:t>
            </a:r>
          </a:p>
        </p:txBody>
      </p:sp>
      <p:sp>
        <p:nvSpPr>
          <p:cNvPr id="20" name="DSFR-callout-body"/>
          <p:cNvSpPr txBox="1"/>
          <p:nvPr/>
        </p:nvSpPr>
        <p:spPr>
          <a:xfrm>
            <a:off x="6469379"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Phrases courtes, vocabulaire simple, pictogrammes</a:t>
            </a:r>
          </a:p>
          <a:p>
            <a:pPr algn="l">
              <a:lnSpc>
                <a:spcPct val="115000"/>
              </a:lnSpc>
            </a:pPr>
            <a:r>
              <a:rPr sz="1400" lang="fr-FR">
                <a:solidFill>
                  <a:srgbClr val="161616"/>
                </a:solidFill>
                <a:latin typeface="Marianne"/>
              </a:rPr>
              <a:t>• </a:t>
            </a:r>
            <a:r>
              <a:rPr sz="1400" b="0" lang="fr-FR">
                <a:solidFill>
                  <a:srgbClr val="161616"/>
                </a:solidFill>
                <a:latin typeface="Marianne"/>
              </a:rPr>
              <a:t>Validé par des personnes concernées</a:t>
            </a:r>
          </a:p>
          <a:p>
            <a:pPr algn="l">
              <a:lnSpc>
                <a:spcPct val="115000"/>
              </a:lnSpc>
            </a:pPr>
            <a:r>
              <a:rPr sz="1400" lang="fr-FR">
                <a:solidFill>
                  <a:srgbClr val="161616"/>
                </a:solidFill>
                <a:latin typeface="Marianne"/>
              </a:rPr>
              <a:t>• </a:t>
            </a:r>
            <a:r>
              <a:rPr sz="1400" b="0" u="sng" lang="fr-FR">
                <a:solidFill>
                  <a:srgbClr val="000091"/>
                </a:solidFill>
                <a:latin typeface="Marianne"/>
                <a:hlinkClick r:id="rId5"/>
              </a:rPr>
              <a:t>Télécharger (handicap.gouv.fr)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6240779"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dès la conception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Conception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rend les choses possibles pour certains et plus simples pour tous.</a:t>
            </a:r>
          </a:p>
        </p:txBody>
      </p:sp>
      <p:pic>
        <p:nvPicPr>
          <p:cNvPr id="11" name="Picture 10" descr="Escalier avec rampe intégrée dès la conception : la pente douce est fondue dans les marches, utilisable par tous sans aménagement postérieur"/>
          <p:cNvPicPr>
            <a:picLocks noChangeAspect="1"/>
          </p:cNvPicPr>
          <p:nvPr/>
        </p:nvPicPr>
        <p:blipFill>
          <a:blip r:embed="rId2"/>
          <a:stretch>
            <a:fillRect/>
          </a:stretch>
        </p:blipFill>
        <p:spPr>
          <a:xfrm>
            <a:off x="475488" y="2994660"/>
            <a:ext cx="5486400" cy="2560320"/>
          </a:xfrm>
          <a:prstGeom prst="rect">
            <a:avLst/>
          </a:prstGeom>
        </p:spPr>
      </p:pic>
      <p:sp>
        <p:nvSpPr>
          <p:cNvPr id="13" name="DSFR-box"/>
          <p:cNvSpPr/>
          <p:nvPr/>
        </p:nvSpPr>
        <p:spPr>
          <a:xfrm>
            <a:off x="6355080" y="2994660"/>
            <a:ext cx="53492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510528" y="3086100"/>
            <a:ext cx="51023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Concevoir accessible, pas adapter après</a:t>
            </a:r>
          </a:p>
        </p:txBody>
      </p:sp>
      <p:sp>
        <p:nvSpPr>
          <p:cNvPr id="15" name="DSFR-callout-body"/>
          <p:cNvSpPr txBox="1"/>
          <p:nvPr/>
        </p:nvSpPr>
        <p:spPr>
          <a:xfrm>
            <a:off x="6510528" y="3497579"/>
            <a:ext cx="5102352" cy="1376172"/>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Intégrer l'accessibilité dès le début, pas en rattrapage</a:t>
            </a:r>
          </a:p>
          <a:p>
            <a:pPr algn="l">
              <a:lnSpc>
                <a:spcPct val="130000"/>
              </a:lnSpc>
            </a:pPr>
            <a:r>
              <a:rPr sz="1400" lang="fr-FR">
                <a:solidFill>
                  <a:srgbClr val="161616"/>
                </a:solidFill>
                <a:latin typeface="Marianne"/>
              </a:rPr>
              <a:t>• </a:t>
            </a:r>
            <a:r>
              <a:rPr sz="1400" b="0" lang="fr-FR">
                <a:solidFill>
                  <a:srgbClr val="161616"/>
                </a:solidFill>
                <a:latin typeface="Marianne"/>
              </a:rPr>
              <a:t>Un document bien structuré profite à tous les lecteurs</a:t>
            </a:r>
          </a:p>
          <a:p>
            <a:pPr algn="l">
              <a:lnSpc>
                <a:spcPct val="130000"/>
              </a:lnSpc>
            </a:pPr>
            <a:r>
              <a:rPr sz="1400" lang="fr-FR">
                <a:solidFill>
                  <a:srgbClr val="161616"/>
                </a:solidFill>
                <a:latin typeface="Marianne"/>
              </a:rPr>
              <a:t>• </a:t>
            </a:r>
            <a:r>
              <a:rPr sz="1400" b="0" lang="fr-FR">
                <a:solidFill>
                  <a:srgbClr val="161616"/>
                </a:solidFill>
                <a:latin typeface="Marianne"/>
              </a:rPr>
              <a:t>La rampe intégrée est plus élégante que la rampe ajoutée</a:t>
            </a:r>
          </a:p>
        </p:txBody>
      </p:sp>
      <p:pic>
        <p:nvPicPr>
          <p:cNvPr id="16" name="Picture 15" descr="Bandeau #accessibleatous : pictogrammes poussette, personne âgée, femme enceinte, fauteuil roulant"/>
          <p:cNvPicPr>
            <a:picLocks noChangeAspect="1"/>
          </p:cNvPicPr>
          <p:nvPr/>
        </p:nvPicPr>
        <p:blipFill>
          <a:blip r:embed="rId3"/>
          <a:stretch>
            <a:fillRect/>
          </a:stretch>
        </p:blipFill>
        <p:spPr>
          <a:xfrm>
            <a:off x="8078724" y="5349240"/>
            <a:ext cx="1828800" cy="702706"/>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819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Partie II - Documents bureautiques accessibles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Partie II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54</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Structurer et naviguer</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Rendre les contenus et les liens compréhensibles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Sécuriser couleurs, graphiques et tableaux</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Régler langues et lisibilité</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Finaliser, vérifier, exporter et contrôler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Partie II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55</a:t>
            </a:r>
            <a:endParaRPr lang="fr-FR" dirty="0"/>
          </a:p>
        </p:txBody>
      </p:sp>
      <p:sp>
        <p:nvSpPr>
          <p:cNvPr id="9" name="DSFR-box"/>
          <p:cNvSpPr/>
          <p:nvPr/>
        </p:nvSpPr>
        <p:spPr>
          <a:xfrm>
            <a:off x="548640" y="224028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377440"/>
            <a:ext cx="5097779" cy="411480"/>
          </a:xfrm>
          <a:prstGeom prst="rect">
            <a:avLst/>
          </a:prstGeom>
          <a:noFill/>
        </p:spPr>
        <p:txBody>
          <a:bodyPr wrap="square" anchor="t" lIns="73152" rIns="73152">
            <a:spAutoFit/>
          </a:bodyPr>
          <a:lstStyle/>
          <a:p>
            <a:pPr algn="l">
              <a:lnSpc>
                <a:spcPct val="125000"/>
              </a:lnSpc>
            </a:pPr>
            <a:r>
              <a:rPr sz="1600" b="1" i="0" lang="fr-FR">
                <a:solidFill>
                  <a:srgbClr val="000091"/>
                </a:solidFill>
                <a:latin typeface="Marianne"/>
              </a:rPr>
              <a:t>Ce qu’entend le lecteur d’écran</a:t>
            </a:r>
          </a:p>
        </p:txBody>
      </p:sp>
      <p:sp>
        <p:nvSpPr>
          <p:cNvPr id="11" name="DSFR-card-contenu"/>
          <p:cNvSpPr txBox="1"/>
          <p:nvPr/>
        </p:nvSpPr>
        <p:spPr>
          <a:xfrm>
            <a:off x="704088" y="2834640"/>
            <a:ext cx="5097779" cy="2446020"/>
          </a:xfrm>
          <a:prstGeom prst="rect">
            <a:avLst/>
          </a:prstGeom>
          <a:noFill/>
        </p:spPr>
        <p:txBody>
          <a:bodyPr wrap="square" anchor="t" lIns="73152" rIns="73152">
            <a:spAutoFit/>
          </a:bodyPr>
          <a:lstStyle/>
          <a:p>
            <a:pPr algn="l">
              <a:lnSpc>
                <a:spcPct val="130000"/>
              </a:lnSpc>
            </a:pPr>
            <a:r>
              <a:rPr sz="1400" b="0" i="0" lang="fr-FR">
                <a:solidFill>
                  <a:srgbClr val="161616"/>
                </a:solidFill>
                <a:latin typeface="Marianne"/>
              </a:rPr>
              <a:t>Texte, texte, texte, texte, texte, texte ...
Pendant 4 minutes. Sans titre. Sans repère.
Sans pouvoir naviguer vers la section qui le concerne.
-&gt; C'est ce qu'entend une personne malvoyante face à votre document Word.</a:t>
            </a:r>
          </a:p>
        </p:txBody>
      </p:sp>
      <p:sp>
        <p:nvSpPr>
          <p:cNvPr id="13" name="DSFR-box"/>
          <p:cNvSpPr/>
          <p:nvPr/>
        </p:nvSpPr>
        <p:spPr>
          <a:xfrm>
            <a:off x="6313931" y="224028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377440"/>
            <a:ext cx="5097779" cy="411480"/>
          </a:xfrm>
          <a:prstGeom prst="rect">
            <a:avLst/>
          </a:prstGeom>
          <a:noFill/>
        </p:spPr>
        <p:txBody>
          <a:bodyPr wrap="square" anchor="t" lIns="73152" rIns="73152">
            <a:spAutoFit/>
          </a:bodyPr>
          <a:lstStyle/>
          <a:p>
            <a:pPr algn="l">
              <a:lnSpc>
                <a:spcPct val="125000"/>
              </a:lnSpc>
            </a:pPr>
            <a:r>
              <a:rPr sz="1600" b="1" i="0" lang="fr-FR">
                <a:solidFill>
                  <a:srgbClr val="000091"/>
                </a:solidFill>
                <a:latin typeface="Marianne"/>
              </a:rPr>
              <a:t>15 % de vos destinataires sont concernés</a:t>
            </a:r>
          </a:p>
        </p:txBody>
      </p:sp>
      <p:sp>
        <p:nvSpPr>
          <p:cNvPr id="15" name="DSFR-card-contenu"/>
          <p:cNvSpPr txBox="1"/>
          <p:nvPr/>
        </p:nvSpPr>
        <p:spPr>
          <a:xfrm>
            <a:off x="6469379" y="2834640"/>
            <a:ext cx="5097779" cy="244602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80 % de ces handicaps sont invisibles</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Dans une réunion de 12 personnes :</a:t>
            </a:r>
            <a:r>
              <a:rPr sz="1400" b="0" lang="fr-FR">
                <a:solidFill>
                  <a:srgbClr val="161616"/>
                </a:solidFill>
                <a:latin typeface="Marianne"/>
              </a:rPr>
              <a:t> au moins 1 daltonien</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Parmi 30 destinataires :</a:t>
            </a:r>
            <a:r>
              <a:rPr sz="1400" b="0" lang="fr-FR">
                <a:solidFill>
                  <a:srgbClr val="161616"/>
                </a:solidFill>
                <a:latin typeface="Marianne"/>
              </a:rPr>
              <a:t>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Contexte</a:t>
            </a:r>
          </a:p>
        </p:txBody>
      </p:sp>
      <p:sp>
        <p:nvSpPr>
          <p:cNvPr id="8" name="DSFR-accent-decoratif" descr=""/>
          <p:cNvSpPr/>
          <p:nvPr/>
        </p:nvSpPr>
        <p:spPr>
          <a:xfrm>
            <a:off x="475488" y="224028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56</a:t>
            </a:r>
            <a:endParaRPr lang="fr-FR" dirty="0"/>
          </a:p>
        </p:txBody>
      </p:sp>
      <p:sp>
        <p:nvSpPr>
          <p:cNvPr id="9" name="DSFR-box"/>
          <p:cNvSpPr/>
          <p:nvPr/>
        </p:nvSpPr>
        <p:spPr>
          <a:xfrm>
            <a:off x="548640" y="19659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Ils sont visuellement identiques. Lequel préférez-vous pour NVDA ?</a:t>
            </a:r>
          </a:p>
        </p:txBody>
      </p:sp>
      <p:sp>
        <p:nvSpPr>
          <p:cNvPr id="11" name="DSFR-texte-libre"/>
          <p:cNvSpPr txBox="1"/>
          <p:nvPr/>
        </p:nvSpPr>
        <p:spPr>
          <a:xfrm>
            <a:off x="475488" y="2743200"/>
            <a:ext cx="5463540" cy="365760"/>
          </a:xfrm>
          <a:prstGeom prst="rect">
            <a:avLst/>
          </a:prstGeom>
          <a:noFill/>
        </p:spPr>
        <p:txBody>
          <a:bodyPr wrap="square" anchor="t" lIns="73152" rIns="73152">
            <a:spAutoFit/>
          </a:bodyPr>
          <a:lstStyle/>
          <a:p>
            <a:pPr algn="ctr">
              <a:lnSpc>
                <a:spcPct val="125000"/>
              </a:lnSpc>
            </a:pPr>
            <a:r>
              <a:rPr sz="1800" b="1" i="0" lang="fr-FR">
                <a:solidFill>
                  <a:srgbClr val="161616"/>
                </a:solidFill>
                <a:latin typeface="Marianne"/>
              </a:rPr>
              <a:t>Document A</a:t>
            </a:r>
          </a:p>
        </p:txBody>
      </p:sp>
      <p:pic>
        <p:nvPicPr>
          <p:cNvPr id="12" name="Picture 11" descr="Aperçu stylisé du document a, visuellement identique à l'autre document."/>
          <p:cNvPicPr>
            <a:picLocks noChangeAspect="1"/>
          </p:cNvPicPr>
          <p:nvPr/>
        </p:nvPicPr>
        <p:blipFill>
          <a:blip r:embed="rId2"/>
          <a:stretch>
            <a:fillRect/>
          </a:stretch>
        </p:blipFill>
        <p:spPr>
          <a:xfrm>
            <a:off x="2224278" y="3154680"/>
            <a:ext cx="1965960" cy="2778433"/>
          </a:xfrm>
          <a:prstGeom prst="rect">
            <a:avLst/>
          </a:prstGeom>
        </p:spPr>
      </p:pic>
      <p:sp>
        <p:nvSpPr>
          <p:cNvPr id="13" name="DSFR-texte-libre"/>
          <p:cNvSpPr txBox="1"/>
          <p:nvPr/>
        </p:nvSpPr>
        <p:spPr>
          <a:xfrm>
            <a:off x="6240779" y="2743200"/>
            <a:ext cx="5463540" cy="365760"/>
          </a:xfrm>
          <a:prstGeom prst="rect">
            <a:avLst/>
          </a:prstGeom>
          <a:noFill/>
        </p:spPr>
        <p:txBody>
          <a:bodyPr wrap="square" anchor="t" lIns="73152" rIns="73152">
            <a:spAutoFit/>
          </a:bodyPr>
          <a:lstStyle/>
          <a:p>
            <a:pPr algn="ctr">
              <a:lnSpc>
                <a:spcPct val="125000"/>
              </a:lnSpc>
            </a:pPr>
            <a:r>
              <a:rPr sz="1800" b="1" i="0" lang="fr-FR">
                <a:solidFill>
                  <a:srgbClr val="161616"/>
                </a:solidFill>
                <a:latin typeface="Marianne"/>
              </a:rPr>
              <a:t>Document B</a:t>
            </a:r>
          </a:p>
        </p:txBody>
      </p:sp>
      <p:pic>
        <p:nvPicPr>
          <p:cNvPr id="14" name="Picture 13" descr="Aperçu stylisé du document b, visuellement identique à l'autre document."/>
          <p:cNvPicPr>
            <a:picLocks noChangeAspect="1"/>
          </p:cNvPicPr>
          <p:nvPr/>
        </p:nvPicPr>
        <p:blipFill>
          <a:blip r:embed="rId2"/>
          <a:stretch>
            <a:fillRect/>
          </a:stretch>
        </p:blipFill>
        <p:spPr>
          <a:xfrm>
            <a:off x="7989569" y="3154680"/>
            <a:ext cx="1965960" cy="277843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Quiz</a:t>
            </a:r>
          </a:p>
        </p:txBody>
      </p:sp>
      <p:sp>
        <p:nvSpPr>
          <p:cNvPr id="8" name="DSFR-accent-decoratif" descr=""/>
          <p:cNvSpPr/>
          <p:nvPr/>
        </p:nvSpPr>
        <p:spPr>
          <a:xfrm>
            <a:off x="475488" y="19659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Réponse - le document B est accessible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À l'écran, rien ne les distingue. La différence se trouve dans la structure du fichier.</a:t>
            </a:r>
          </a:p>
        </p:txBody>
      </p:sp>
      <p:sp>
        <p:nvSpPr>
          <p:cNvPr id="12" name="DSFR-box"/>
          <p:cNvSpPr/>
          <p:nvPr/>
        </p:nvSpPr>
        <p:spPr>
          <a:xfrm>
            <a:off x="548640" y="3314700"/>
            <a:ext cx="5390388" cy="17716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A</a:t>
            </a:r>
          </a:p>
        </p:txBody>
      </p:sp>
      <p:sp>
        <p:nvSpPr>
          <p:cNvPr id="14" name="DSFR-card-contenu"/>
          <p:cNvSpPr txBox="1"/>
          <p:nvPr/>
        </p:nvSpPr>
        <p:spPr>
          <a:xfrm>
            <a:off x="704088" y="3909059"/>
            <a:ext cx="5097779" cy="108585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Titres mis en gras, police Arial 16</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Image sans description</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Fichier nommé Document1.docx</a:t>
            </a:r>
          </a:p>
        </p:txBody>
      </p:sp>
      <p:sp>
        <p:nvSpPr>
          <p:cNvPr id="16" name="DSFR-box"/>
          <p:cNvSpPr/>
          <p:nvPr/>
        </p:nvSpPr>
        <p:spPr>
          <a:xfrm>
            <a:off x="6313931" y="3314700"/>
            <a:ext cx="5390388" cy="17716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B</a:t>
            </a:r>
          </a:p>
        </p:txBody>
      </p:sp>
      <p:sp>
        <p:nvSpPr>
          <p:cNvPr id="18" name="DSFR-card-contenu"/>
          <p:cNvSpPr txBox="1"/>
          <p:nvPr/>
        </p:nvSpPr>
        <p:spPr>
          <a:xfrm>
            <a:off x="6469379" y="3909059"/>
            <a:ext cx="5097779" cy="108585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Titres avec le style « Titre 1 »</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Image avec texte alternatif</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Fichier nommé rapport-bilan-2024.docx</a:t>
            </a:r>
          </a:p>
        </p:txBody>
      </p:sp>
      <p:sp>
        <p:nvSpPr>
          <p:cNvPr id="20" name="DSFR-box"/>
          <p:cNvSpPr/>
          <p:nvPr/>
        </p:nvSpPr>
        <p:spPr>
          <a:xfrm>
            <a:off x="548640" y="540639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49782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 structure du fichier détermine ce que NVDA peut restituer.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Réponse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7716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7716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40639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ça vous concerne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58</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L'accessibilité ne se voit pas : elle se manipule et se vérifie</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style Titre 1 crée une structure de navigation</a:t>
            </a:r>
          </a:p>
          <a:p>
            <a:pPr algn="l">
              <a:lnSpc>
                <a:spcPct val="125000"/>
              </a:lnSpc>
            </a:pPr>
            <a:r>
              <a:rPr sz="1400" lang="fr-FR">
                <a:solidFill>
                  <a:srgbClr val="161616"/>
                </a:solidFill>
                <a:latin typeface="Marianne"/>
              </a:rPr>
              <a:t>• </a:t>
            </a:r>
            <a:r>
              <a:rPr sz="1400" b="0" lang="fr-FR">
                <a:solidFill>
                  <a:srgbClr val="161616"/>
                </a:solidFill>
                <a:latin typeface="Marianne"/>
              </a:rPr>
              <a:t>Le texte de remplacement décrit la fonction de l'image</a:t>
            </a:r>
          </a:p>
          <a:p>
            <a:pPr algn="l">
              <a:lnSpc>
                <a:spcPct val="125000"/>
              </a:lnSpc>
            </a:pPr>
            <a:r>
              <a:rPr sz="1400" lang="fr-FR">
                <a:solidFill>
                  <a:srgbClr val="161616"/>
                </a:solidFill>
                <a:latin typeface="Marianne"/>
              </a:rPr>
              <a:t>• </a:t>
            </a:r>
            <a:r>
              <a:rPr sz="1400" b="0" lang="fr-FR">
                <a:solidFill>
                  <a:srgbClr val="161616"/>
                </a:solidFill>
                <a:latin typeface="Marianne"/>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 : rendre accessible le guide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Préambule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59</a:t>
            </a:r>
            <a:endParaRPr lang="fr-FR" dirty="0"/>
          </a:p>
        </p:txBody>
      </p:sp>
      <p:sp>
        <p:nvSpPr>
          <p:cNvPr id="9" name="DSFR-box"/>
          <p:cNvSpPr/>
          <p:nvPr/>
        </p:nvSpPr>
        <p:spPr>
          <a:xfrm>
            <a:off x="548640" y="210312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Point de départ</a:t>
            </a:r>
          </a:p>
        </p:txBody>
      </p:sp>
      <p:sp>
        <p:nvSpPr>
          <p:cNvPr id="11" name="DSFR-card-contenu"/>
          <p:cNvSpPr txBox="1"/>
          <p:nvPr/>
        </p:nvSpPr>
        <p:spPr>
          <a:xfrm>
            <a:off x="704088" y="2697479"/>
            <a:ext cx="5097779" cy="1188719"/>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Conseillé :</a:t>
            </a:r>
            <a:r>
              <a:rPr sz="1400" b="0" lang="fr-FR">
                <a:solidFill>
                  <a:srgbClr val="161616"/>
                </a:solidFill>
                <a:latin typeface="Marianne"/>
              </a:rPr>
              <a:t> tp-doc-aide-correction.docx</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Variante autonome :</a:t>
            </a:r>
            <a:r>
              <a:rPr sz="1400" b="0" lang="fr-FR">
                <a:solidFill>
                  <a:srgbClr val="161616"/>
                </a:solidFill>
                <a:latin typeface="Marianne"/>
              </a:rPr>
              <a:t> tp-doc-inaccessible.docx</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5 stations en 90 minutes</a:t>
            </a:r>
          </a:p>
        </p:txBody>
      </p:sp>
      <p:sp>
        <p:nvSpPr>
          <p:cNvPr id="13" name="DSFR-box"/>
          <p:cNvSpPr/>
          <p:nvPr/>
        </p:nvSpPr>
        <p:spPr>
          <a:xfrm>
            <a:off x="6313931" y="210312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Productions à remettre</a:t>
            </a:r>
          </a:p>
        </p:txBody>
      </p:sp>
      <p:sp>
        <p:nvSpPr>
          <p:cNvPr id="15" name="DSFR-card-contenu"/>
          <p:cNvSpPr txBox="1"/>
          <p:nvPr/>
        </p:nvSpPr>
        <p:spPr>
          <a:xfrm>
            <a:off x="6469379" y="2697479"/>
            <a:ext cx="5097779" cy="1188719"/>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Le DOCX corrigé par votre binôme</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La checklist renseignée au fil des stations</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Le PDF exporté puis contrôlé</a:t>
            </a:r>
          </a:p>
        </p:txBody>
      </p:sp>
      <p:sp>
        <p:nvSpPr>
          <p:cNvPr id="17" name="DSFR-box"/>
          <p:cNvSpPr/>
          <p:nvPr/>
        </p:nvSpPr>
        <p:spPr>
          <a:xfrm>
            <a:off x="548640" y="431596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40740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Checklist dès le départ ; cartes WCAG reliées informellement à chaque contrôle.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Mission</a:t>
            </a:r>
          </a:p>
        </p:txBody>
      </p:sp>
      <p:sp>
        <p:nvSpPr>
          <p:cNvPr id="8" name="DSFR-accent-decoratif" descr=""/>
          <p:cNvSpPr/>
          <p:nvPr/>
        </p:nvSpPr>
        <p:spPr>
          <a:xfrm>
            <a:off x="475488" y="210312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31596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Station 1 - Structurer et naviguer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Station 1</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60</a:t>
            </a:r>
            <a:endParaRPr lang="fr-FR" dirty="0"/>
          </a:p>
        </p:txBody>
      </p:sp>
      <p:graphicFrame>
        <p:nvGraphicFramePr>
          <p:cNvPr id="8" name="Table 7"/>
          <p:cNvGraphicFramePr>
            <a:graphicFrameLocks noGrp="1"/>
          </p:cNvGraphicFramePr>
          <p:nvPr/>
        </p:nvGraphicFramePr>
        <p:xfrm>
          <a:off x="475488" y="2057400"/>
          <a:ext cx="11228832" cy="3072384"/>
        </p:xfrm>
        <a:graphic>
          <a:graphicData uri="http://schemas.openxmlformats.org/drawingml/2006/table">
            <a:tbl>
              <a:tblPr firstRow="1" bandRow="1">
                <a:tableStyleId>{5C22544A-7EE6-4342-B048-85BDC9FD1C3A}</a:tableStyleId>
              </a:tblPr>
              <a:tblGrid>
                <a:gridCol w="1051560"/>
                <a:gridCol w="1143000"/>
                <a:gridCol w="9034272"/>
              </a:tblGrid>
              <a:tr h="512064">
                <a:tc>
                  <a:txBody>
                    <a:bodyPr wrap="square" anchor="ctr" lIns="73152" rIns="73152"/>
                    <a:lstStyle/>
                    <a:p>
                      <a:pPr algn="l">
                        <a:lnSpc>
                          <a:spcPct val="125000"/>
                        </a:lnSpc>
                      </a:pPr>
                      <a:r>
                        <a:rPr sz="1400" b="1" i="0" lang="fr-FR">
                          <a:solidFill>
                            <a:srgbClr val="FFFFFF"/>
                          </a:solidFill>
                          <a:latin typeface="Marianne"/>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Points travaillés</a:t>
                      </a:r>
                    </a:p>
                  </a:txBody>
                  <a:tcPr marL="91440" marR="91440" marT="45720" marB="45720">
                    <a:solidFill>
                      <a:srgbClr val="000091"/>
                    </a:solidFill>
                  </a:tcPr>
                </a:tc>
              </a:tr>
              <a:tr h="512064">
                <a:tc>
                  <a:txBody>
                    <a:bodyPr wrap="square" anchor="ctr" lIns="73152" rIns="73152"/>
                    <a:lstStyle/>
                    <a:p>
                      <a:pPr algn="l">
                        <a:lnSpc>
                          <a:spcPct val="125000"/>
                        </a:lnSpc>
                      </a:pPr>
                      <a:r>
                        <a:rPr sz="1400" b="0" i="0" lang="fr-FR">
                          <a:solidFill>
                            <a:srgbClr val="161616"/>
                          </a:solidFill>
                          <a:latin typeface="Marianne"/>
                        </a:rPr>
                        <a:t>P-01</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Distinguer le titre principal des titres hiérarchiques</a:t>
                      </a:r>
                    </a:p>
                  </a:txBody>
                  <a:tcPr marL="91440" marR="91440" marT="45720" marB="45720">
                    <a:solidFill>
                      <a:srgbClr val="FFFFFF"/>
                    </a:solidFill>
                  </a:tcPr>
                </a:tc>
              </a:tr>
              <a:tr h="512064">
                <a:tc>
                  <a:txBody>
                    <a:bodyPr wrap="square" anchor="ctr" lIns="73152" rIns="73152"/>
                    <a:lstStyle/>
                    <a:p>
                      <a:pPr algn="l">
                        <a:lnSpc>
                          <a:spcPct val="125000"/>
                        </a:lnSpc>
                      </a:pPr>
                      <a:r>
                        <a:rPr sz="1400" b="0" i="0" lang="fr-FR">
                          <a:solidFill>
                            <a:srgbClr val="161616"/>
                          </a:solidFill>
                          <a:latin typeface="Marianne"/>
                        </a:rPr>
                        <a:t>P-02</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Construire une hiérarchie de titres cohérente</a:t>
                      </a:r>
                    </a:p>
                  </a:txBody>
                  <a:tcPr marL="91440" marR="91440" marT="45720" marB="45720">
                    <a:solidFill>
                      <a:srgbClr val="F5F5FE"/>
                    </a:solidFill>
                  </a:tcPr>
                </a:tc>
              </a:tr>
              <a:tr h="512064">
                <a:tc>
                  <a:txBody>
                    <a:bodyPr wrap="square" anchor="ctr" lIns="73152" rIns="73152"/>
                    <a:lstStyle/>
                    <a:p>
                      <a:pPr algn="l">
                        <a:lnSpc>
                          <a:spcPct val="125000"/>
                        </a:lnSpc>
                      </a:pPr>
                      <a:r>
                        <a:rPr sz="1400" b="0" i="0" lang="fr-FR">
                          <a:solidFill>
                            <a:srgbClr val="161616"/>
                          </a:solidFill>
                          <a:latin typeface="Marianne"/>
                        </a:rPr>
                        <a:t>P-03</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Naviguer et générer un sommaire automatique</a:t>
                      </a:r>
                    </a:p>
                  </a:txBody>
                  <a:tcPr marL="91440" marR="91440" marT="45720" marB="45720">
                    <a:solidFill>
                      <a:srgbClr val="FFFFFF"/>
                    </a:solidFill>
                  </a:tcPr>
                </a:tc>
              </a:tr>
              <a:tr h="512064">
                <a:tc>
                  <a:txBody>
                    <a:bodyPr wrap="square" anchor="ctr" lIns="73152" rIns="73152"/>
                    <a:lstStyle/>
                    <a:p>
                      <a:pPr algn="l">
                        <a:lnSpc>
                          <a:spcPct val="125000"/>
                        </a:lnSpc>
                      </a:pPr>
                      <a:r>
                        <a:rPr sz="1400" b="0" i="0" lang="fr-FR">
                          <a:solidFill>
                            <a:srgbClr val="161616"/>
                          </a:solidFill>
                          <a:latin typeface="Marianne"/>
                        </a:rPr>
                        <a:t>P-04</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Utiliser des listes natives</a:t>
                      </a:r>
                    </a:p>
                  </a:txBody>
                  <a:tcPr marL="91440" marR="91440" marT="45720" marB="45720">
                    <a:solidFill>
                      <a:srgbClr val="F5F5FE"/>
                    </a:solidFill>
                  </a:tcPr>
                </a:tc>
              </a:tr>
              <a:tr h="512064">
                <a:tc>
                  <a:txBody>
                    <a:bodyPr wrap="square" anchor="ctr" lIns="73152" rIns="73152"/>
                    <a:lstStyle/>
                    <a:p>
                      <a:pPr algn="l">
                        <a:lnSpc>
                          <a:spcPct val="125000"/>
                        </a:lnSpc>
                      </a:pPr>
                      <a:r>
                        <a:rPr sz="1400" b="0" i="0" lang="fr-FR">
                          <a:solidFill>
                            <a:srgbClr val="161616"/>
                          </a:solidFill>
                          <a:latin typeface="Marianne"/>
                        </a:rPr>
                        <a:t>P-05</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Employer les fonctions de mise en page adaptées</a:t>
                      </a:r>
                    </a:p>
                  </a:txBody>
                  <a:tcPr marL="91440" marR="91440" marT="45720" marB="45720">
                    <a:solidFill>
                      <a:srgbClr val="FFFFFF"/>
                    </a:solidFill>
                  </a:tcPr>
                </a:tc>
              </a:tr>
            </a:tbl>
          </a:graphicData>
        </a:graphic>
      </p:graphicFrame>
      <p:sp>
        <p:nvSpPr>
          <p:cNvPr id="10" name="DSFR-box"/>
          <p:cNvSpPr/>
          <p:nvPr/>
        </p:nvSpPr>
        <p:spPr>
          <a:xfrm>
            <a:off x="548640" y="52578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3492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Manipuler la structure, puis prouver le résultat dans le volet et le sommaire.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Station 1</a:t>
            </a:r>
          </a:p>
        </p:txBody>
      </p:sp>
      <p:sp>
        <p:nvSpPr>
          <p:cNvPr id="9" name="DSFR-accent-decoratif" descr=""/>
          <p:cNvSpPr/>
          <p:nvPr/>
        </p:nvSpPr>
        <p:spPr>
          <a:xfrm>
            <a:off x="475488" y="52578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Station 1 - Titres, hiérarchie et sommaire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Station 1</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61</a:t>
            </a:r>
            <a:endParaRPr lang="fr-FR" dirty="0"/>
          </a:p>
        </p:txBody>
      </p:sp>
      <p:sp>
        <p:nvSpPr>
          <p:cNvPr id="9" name="DSFR-box"/>
          <p:cNvSpPr/>
          <p:nvPr/>
        </p:nvSpPr>
        <p:spPr>
          <a:xfrm>
            <a:off x="548640" y="2103120"/>
            <a:ext cx="5390388" cy="35204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Word - procédure principale</a:t>
            </a:r>
          </a:p>
        </p:txBody>
      </p:sp>
      <p:sp>
        <p:nvSpPr>
          <p:cNvPr id="11" name="DSFR-card-contenu"/>
          <p:cNvSpPr txBox="1"/>
          <p:nvPr/>
        </p:nvSpPr>
        <p:spPr>
          <a:xfrm>
            <a:off x="704088" y="2697479"/>
            <a:ext cx="5097779" cy="283464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P-01</a:t>
            </a:r>
            <a:r>
              <a:rPr sz="1400" b="0" lang="fr-FR">
                <a:solidFill>
                  <a:srgbClr val="161616"/>
                </a:solidFill>
                <a:latin typeface="Marianne"/>
              </a:rPr>
              <a:t> - Accueil &gt; Styles, puis appliquer Titre au titre principal et les niveaux de titre aux sections.</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P-02</a:t>
            </a:r>
            <a:r>
              <a:rPr sz="1400" b="0" lang="fr-FR">
                <a:solidFill>
                  <a:srgbClr val="161616"/>
                </a:solidFill>
                <a:latin typeface="Marianne"/>
              </a:rPr>
              <a:t> - Affichage &gt; Volet de navigation, puis corriger les styles depuis Accueil &gt; Styles.</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P-03</a:t>
            </a:r>
            <a:r>
              <a:rPr sz="1400" b="0" lang="fr-FR">
                <a:solidFill>
                  <a:srgbClr val="161616"/>
                </a:solidFill>
                <a:latin typeface="Marianne"/>
              </a:rPr>
              <a:t> - Références &gt; Table des matières &gt; Table automatique, puis clic droit &gt; Mettre à jour les champs.</a:t>
            </a:r>
          </a:p>
        </p:txBody>
      </p:sp>
      <p:sp>
        <p:nvSpPr>
          <p:cNvPr id="13" name="DSFR-box"/>
          <p:cNvSpPr/>
          <p:nvPr/>
        </p:nvSpPr>
        <p:spPr>
          <a:xfrm>
            <a:off x="6313931" y="2103120"/>
            <a:ext cx="5390388" cy="35204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Writer - complément</a:t>
            </a:r>
          </a:p>
        </p:txBody>
      </p:sp>
      <p:sp>
        <p:nvSpPr>
          <p:cNvPr id="15" name="DSFR-card-contenu"/>
          <p:cNvSpPr txBox="1"/>
          <p:nvPr/>
        </p:nvSpPr>
        <p:spPr>
          <a:xfrm>
            <a:off x="6469379" y="2697479"/>
            <a:ext cx="5097779" cy="283464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P-01</a:t>
            </a:r>
            <a:r>
              <a:rPr sz="1400" b="0" lang="fr-FR">
                <a:solidFill>
                  <a:srgbClr val="161616"/>
                </a:solidFill>
                <a:latin typeface="Marianne"/>
              </a:rPr>
              <a:t> - Styles &gt; Gérer les styles, puis appliquer Titre et Titre 1 à Titre 3 selon le niveau.</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P-02</a:t>
            </a:r>
            <a:r>
              <a:rPr sz="1400" b="0" lang="fr-FR">
                <a:solidFill>
                  <a:srgbClr val="161616"/>
                </a:solidFill>
                <a:latin typeface="Marianne"/>
              </a:rPr>
              <a:t> - Affichage &gt; Navigateur, puis corriger les styles depuis Styles &gt; Gérer les styles.</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P-03</a:t>
            </a:r>
            <a:r>
              <a:rPr sz="1400" b="0" lang="fr-FR">
                <a:solidFill>
                  <a:srgbClr val="161616"/>
                </a:solidFill>
                <a:latin typeface="Marianne"/>
              </a:rPr>
              <a:t> - Insertion &gt; Table des matières et index &gt; Table des matières, index ou bibliographie.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Station 1</a:t>
            </a:r>
          </a:p>
        </p:txBody>
      </p:sp>
      <p:sp>
        <p:nvSpPr>
          <p:cNvPr id="8" name="DSFR-accent-decoratif" descr=""/>
          <p:cNvSpPr/>
          <p:nvPr/>
        </p:nvSpPr>
        <p:spPr>
          <a:xfrm>
            <a:off x="475488" y="2103120"/>
            <a:ext cx="73152" cy="35204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5204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Station 1 - Listes et mise en page robuste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Station 1</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62</a:t>
            </a:r>
            <a:endParaRPr lang="fr-FR" dirty="0"/>
          </a:p>
        </p:txBody>
      </p:sp>
      <p:sp>
        <p:nvSpPr>
          <p:cNvPr id="9" name="DSFR-box"/>
          <p:cNvSpPr/>
          <p:nvPr/>
        </p:nvSpPr>
        <p:spPr>
          <a:xfrm>
            <a:off x="548640" y="2103120"/>
            <a:ext cx="5390388" cy="26060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Word - procédure principale</a:t>
            </a:r>
          </a:p>
        </p:txBody>
      </p:sp>
      <p:sp>
        <p:nvSpPr>
          <p:cNvPr id="11" name="DSFR-card-contenu"/>
          <p:cNvSpPr txBox="1"/>
          <p:nvPr/>
        </p:nvSpPr>
        <p:spPr>
          <a:xfrm>
            <a:off x="704088" y="2697479"/>
            <a:ext cx="5097779" cy="192024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P-04</a:t>
            </a:r>
            <a:r>
              <a:rPr sz="1400" b="0" lang="fr-FR">
                <a:solidFill>
                  <a:srgbClr val="161616"/>
                </a:solidFill>
                <a:latin typeface="Marianne"/>
              </a:rPr>
              <a:t> - Sélectionner les paragraphes, puis Accueil &gt; Puces ou Numérotation.</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P-05</a:t>
            </a:r>
            <a:r>
              <a:rPr sz="1400" b="0" lang="fr-FR">
                <a:solidFill>
                  <a:srgbClr val="161616"/>
                </a:solidFill>
                <a:latin typeface="Marianne"/>
              </a:rPr>
              <a:t> - Accueil &gt; Afficher tout, puis régler Paragraphe, Mise en page &gt; Sauts et Mise en page &gt; Colonnes.</a:t>
            </a:r>
          </a:p>
        </p:txBody>
      </p:sp>
      <p:sp>
        <p:nvSpPr>
          <p:cNvPr id="13" name="DSFR-box"/>
          <p:cNvSpPr/>
          <p:nvPr/>
        </p:nvSpPr>
        <p:spPr>
          <a:xfrm>
            <a:off x="6313931" y="2103120"/>
            <a:ext cx="5390388" cy="26060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Writer - complément</a:t>
            </a:r>
          </a:p>
        </p:txBody>
      </p:sp>
      <p:sp>
        <p:nvSpPr>
          <p:cNvPr id="15" name="DSFR-card-contenu"/>
          <p:cNvSpPr txBox="1"/>
          <p:nvPr/>
        </p:nvSpPr>
        <p:spPr>
          <a:xfrm>
            <a:off x="6469379" y="2697479"/>
            <a:ext cx="5097779" cy="192024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P-04</a:t>
            </a:r>
            <a:r>
              <a:rPr sz="1400" b="0" lang="fr-FR">
                <a:solidFill>
                  <a:srgbClr val="161616"/>
                </a:solidFill>
                <a:latin typeface="Marianne"/>
              </a:rPr>
              <a:t> - Sélectionner les paragraphes, puis Format &gt; Puces et numérotation.</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P-05</a:t>
            </a:r>
            <a:r>
              <a:rPr sz="1400" b="0" lang="fr-FR">
                <a:solidFill>
                  <a:srgbClr val="161616"/>
                </a:solidFill>
                <a:latin typeface="Marianne"/>
              </a:rPr>
              <a:t> - Affichage &gt; Marques de formatage, puis Format &gt; Paragraphe et Format &gt; Style de page.</a:t>
            </a:r>
          </a:p>
        </p:txBody>
      </p:sp>
      <p:sp>
        <p:nvSpPr>
          <p:cNvPr id="17" name="DSFR-box"/>
          <p:cNvSpPr/>
          <p:nvPr/>
        </p:nvSpPr>
        <p:spPr>
          <a:xfrm>
            <a:off x="548640" y="500176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09320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Manipulation : afficher les marques, corriger les artifices, puis vérifier la structure.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Station 1</a:t>
            </a:r>
          </a:p>
        </p:txBody>
      </p:sp>
      <p:sp>
        <p:nvSpPr>
          <p:cNvPr id="8" name="DSFR-accent-decoratif" descr=""/>
          <p:cNvSpPr/>
          <p:nvPr/>
        </p:nvSpPr>
        <p:spPr>
          <a:xfrm>
            <a:off x="475488" y="2103120"/>
            <a:ext cx="73152" cy="26060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6060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00176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Station 2 - Rendre les contenus et les liens compréhensibles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Station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63</a:t>
            </a:r>
            <a:endParaRPr lang="fr-FR" dirty="0"/>
          </a:p>
        </p:txBody>
      </p:sp>
      <p:graphicFrame>
        <p:nvGraphicFramePr>
          <p:cNvPr id="8" name="Table 7"/>
          <p:cNvGraphicFramePr>
            <a:graphicFrameLocks noGrp="1"/>
          </p:cNvGraphicFramePr>
          <p:nvPr/>
        </p:nvGraphicFramePr>
        <p:xfrm>
          <a:off x="475488" y="2011680"/>
          <a:ext cx="11228832" cy="3136392"/>
        </p:xfrm>
        <a:graphic>
          <a:graphicData uri="http://schemas.openxmlformats.org/drawingml/2006/table">
            <a:tbl>
              <a:tblPr firstRow="1" bandRow="1">
                <a:tableStyleId>{5C22544A-7EE6-4342-B048-85BDC9FD1C3A}</a:tableStyleId>
              </a:tblPr>
              <a:tblGrid>
                <a:gridCol w="1051560"/>
                <a:gridCol w="1143000"/>
                <a:gridCol w="9034272"/>
              </a:tblGrid>
              <a:tr h="448056">
                <a:tc>
                  <a:txBody>
                    <a:bodyPr wrap="square" anchor="ctr" lIns="73152" rIns="73152"/>
                    <a:lstStyle/>
                    <a:p>
                      <a:pPr algn="l">
                        <a:lnSpc>
                          <a:spcPct val="125000"/>
                        </a:lnSpc>
                      </a:pPr>
                      <a:r>
                        <a:rPr sz="1400" b="1" i="0" lang="fr-FR">
                          <a:solidFill>
                            <a:srgbClr val="FFFFFF"/>
                          </a:solidFill>
                          <a:latin typeface="Marianne"/>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Points travaillés</a:t>
                      </a:r>
                    </a:p>
                  </a:txBody>
                  <a:tcPr marL="91440" marR="91440" marT="45720" marB="45720">
                    <a:solidFill>
                      <a:srgbClr val="000091"/>
                    </a:solidFill>
                  </a:tcPr>
                </a:tc>
              </a:tr>
              <a:tr h="448056">
                <a:tc>
                  <a:txBody>
                    <a:bodyPr wrap="square" anchor="ctr" lIns="73152" rIns="73152"/>
                    <a:lstStyle/>
                    <a:p>
                      <a:pPr algn="l">
                        <a:lnSpc>
                          <a:spcPct val="125000"/>
                        </a:lnSpc>
                      </a:pPr>
                      <a:r>
                        <a:rPr sz="1400" b="0" i="0" lang="fr-FR">
                          <a:solidFill>
                            <a:srgbClr val="161616"/>
                          </a:solidFill>
                          <a:latin typeface="Marianne"/>
                        </a:rPr>
                        <a:t>P-06</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Rédiger l'alternative d'une image informative simple</a:t>
                      </a:r>
                    </a:p>
                  </a:txBody>
                  <a:tcPr marL="91440" marR="91440" marT="45720" marB="45720">
                    <a:solidFill>
                      <a:srgbClr val="FFFFFF"/>
                    </a:solidFill>
                  </a:tcPr>
                </a:tc>
              </a:tr>
              <a:tr h="448056">
                <a:tc>
                  <a:txBody>
                    <a:bodyPr wrap="square" anchor="ctr" lIns="73152" rIns="73152"/>
                    <a:lstStyle/>
                    <a:p>
                      <a:pPr algn="l">
                        <a:lnSpc>
                          <a:spcPct val="125000"/>
                        </a:lnSpc>
                      </a:pPr>
                      <a:r>
                        <a:rPr sz="1400" b="0" i="0" lang="fr-FR">
                          <a:solidFill>
                            <a:srgbClr val="161616"/>
                          </a:solidFill>
                          <a:latin typeface="Marianne"/>
                        </a:rPr>
                        <a:t>P-07</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Décrire une image complexe</a:t>
                      </a:r>
                    </a:p>
                  </a:txBody>
                  <a:tcPr marL="91440" marR="91440" marT="45720" marB="45720">
                    <a:solidFill>
                      <a:srgbClr val="F5F5FE"/>
                    </a:solidFill>
                  </a:tcPr>
                </a:tc>
              </a:tr>
              <a:tr h="448056">
                <a:tc>
                  <a:txBody>
                    <a:bodyPr wrap="square" anchor="ctr" lIns="73152" rIns="73152"/>
                    <a:lstStyle/>
                    <a:p>
                      <a:pPr algn="l">
                        <a:lnSpc>
                          <a:spcPct val="125000"/>
                        </a:lnSpc>
                      </a:pPr>
                      <a:r>
                        <a:rPr sz="1400" b="0" i="0" lang="fr-FR">
                          <a:solidFill>
                            <a:srgbClr val="161616"/>
                          </a:solidFill>
                          <a:latin typeface="Marianne"/>
                        </a:rPr>
                        <a:t>P-08</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Marquer une image redondante comme décorative</a:t>
                      </a:r>
                    </a:p>
                  </a:txBody>
                  <a:tcPr marL="91440" marR="91440" marT="45720" marB="45720">
                    <a:solidFill>
                      <a:srgbClr val="FFFFFF"/>
                    </a:solidFill>
                  </a:tcPr>
                </a:tc>
              </a:tr>
              <a:tr h="448056">
                <a:tc>
                  <a:txBody>
                    <a:bodyPr wrap="square" anchor="ctr" lIns="73152" rIns="73152"/>
                    <a:lstStyle/>
                    <a:p>
                      <a:pPr algn="l">
                        <a:lnSpc>
                          <a:spcPct val="125000"/>
                        </a:lnSpc>
                      </a:pPr>
                      <a:r>
                        <a:rPr sz="1400" b="0" i="0" lang="fr-FR">
                          <a:solidFill>
                            <a:srgbClr val="161616"/>
                          </a:solidFill>
                          <a:latin typeface="Marianne"/>
                        </a:rPr>
                        <a:t>P-09</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Remplacer une image de texte par du vrai texte</a:t>
                      </a:r>
                    </a:p>
                  </a:txBody>
                  <a:tcPr marL="91440" marR="91440" marT="45720" marB="45720">
                    <a:solidFill>
                      <a:srgbClr val="F5F5FE"/>
                    </a:solidFill>
                  </a:tcPr>
                </a:tc>
              </a:tr>
              <a:tr h="448056">
                <a:tc>
                  <a:txBody>
                    <a:bodyPr wrap="square" anchor="ctr" lIns="73152" rIns="73152"/>
                    <a:lstStyle/>
                    <a:p>
                      <a:pPr algn="l">
                        <a:lnSpc>
                          <a:spcPct val="125000"/>
                        </a:lnSpc>
                      </a:pPr>
                      <a:r>
                        <a:rPr sz="1400" b="0" i="0" lang="fr-FR">
                          <a:solidFill>
                            <a:srgbClr val="161616"/>
                          </a:solidFill>
                          <a:latin typeface="Marianne"/>
                        </a:rPr>
                        <a:t>P-10</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Rendre les liens autonomes et identifiables</a:t>
                      </a:r>
                    </a:p>
                  </a:txBody>
                  <a:tcPr marL="91440" marR="91440" marT="45720" marB="45720">
                    <a:solidFill>
                      <a:srgbClr val="FFFFFF"/>
                    </a:solidFill>
                  </a:tcPr>
                </a:tc>
              </a:tr>
              <a:tr h="448056">
                <a:tc>
                  <a:txBody>
                    <a:bodyPr wrap="square" anchor="ctr" lIns="73152" rIns="73152"/>
                    <a:lstStyle/>
                    <a:p>
                      <a:pPr algn="l">
                        <a:lnSpc>
                          <a:spcPct val="125000"/>
                        </a:lnSpc>
                      </a:pPr>
                      <a:r>
                        <a:rPr sz="1400" b="0" i="0" lang="fr-FR">
                          <a:solidFill>
                            <a:srgbClr val="161616"/>
                          </a:solidFill>
                          <a:latin typeface="Marianne"/>
                        </a:rPr>
                        <a:t>P-11</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Reprendre dans le corps l'information d'un en-tête</a:t>
                      </a:r>
                    </a:p>
                  </a:txBody>
                  <a:tcPr marL="91440" marR="91440" marT="45720" marB="45720">
                    <a:solidFill>
                      <a:srgbClr val="F5F5FE"/>
                    </a:solidFill>
                  </a:tcPr>
                </a:tc>
              </a:tr>
            </a:tbl>
          </a:graphicData>
        </a:graphic>
      </p:graphicFrame>
      <p:sp>
        <p:nvSpPr>
          <p:cNvPr id="10" name="DSFR-box"/>
          <p:cNvSpPr/>
          <p:nvPr/>
        </p:nvSpPr>
        <p:spPr>
          <a:xfrm>
            <a:off x="548640" y="532180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41324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Choisir le traitement selon l'usage : informative, complexe, décorative ou textuelle.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Station 2</a:t>
            </a:r>
          </a:p>
        </p:txBody>
      </p:sp>
      <p:sp>
        <p:nvSpPr>
          <p:cNvPr id="9" name="DSFR-accent-decoratif" descr=""/>
          <p:cNvSpPr/>
          <p:nvPr/>
        </p:nvSpPr>
        <p:spPr>
          <a:xfrm>
            <a:off x="475488" y="532180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Station 2 - Choisir le bon traitement pour chaque 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Station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64</a:t>
            </a:r>
            <a:endParaRPr lang="fr-FR" dirty="0"/>
          </a:p>
        </p:txBody>
      </p:sp>
      <p:sp>
        <p:nvSpPr>
          <p:cNvPr id="9" name="DSFR-box"/>
          <p:cNvSpPr/>
          <p:nvPr/>
        </p:nvSpPr>
        <p:spPr>
          <a:xfrm>
            <a:off x="548640" y="2103120"/>
            <a:ext cx="5390388" cy="36118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Word - procédure principale</a:t>
            </a:r>
          </a:p>
        </p:txBody>
      </p:sp>
      <p:sp>
        <p:nvSpPr>
          <p:cNvPr id="11" name="DSFR-card-contenu"/>
          <p:cNvSpPr txBox="1"/>
          <p:nvPr/>
        </p:nvSpPr>
        <p:spPr>
          <a:xfrm>
            <a:off x="704088" y="2697479"/>
            <a:ext cx="5097779" cy="29260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P-06</a:t>
            </a:r>
            <a:r>
              <a:rPr sz="1400" b="0" lang="fr-FR">
                <a:solidFill>
                  <a:srgbClr val="161616"/>
                </a:solidFill>
                <a:latin typeface="Marianne"/>
              </a:rPr>
              <a:t> - Clic droit sur l'image &gt; Afficher le texte de remplacement, puis renseigner la description.</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P-07</a:t>
            </a:r>
            <a:r>
              <a:rPr sz="1400" b="0" lang="fr-FR">
                <a:solidFill>
                  <a:srgbClr val="161616"/>
                </a:solidFill>
                <a:latin typeface="Marianne"/>
              </a:rPr>
              <a:t> - Ajouter le texte de remplacement, puis saisir la description détaillée dans un paragraphe voisin.</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P-08</a:t>
            </a:r>
            <a:r>
              <a:rPr sz="1400" b="0" lang="fr-FR">
                <a:solidFill>
                  <a:srgbClr val="161616"/>
                </a:solidFill>
                <a:latin typeface="Marianne"/>
              </a:rPr>
              <a:t> - Afficher le texte de remplacement puis cocher Marquer comme décoratif.</a:t>
            </a:r>
          </a:p>
        </p:txBody>
      </p:sp>
      <p:sp>
        <p:nvSpPr>
          <p:cNvPr id="13" name="DSFR-box"/>
          <p:cNvSpPr/>
          <p:nvPr/>
        </p:nvSpPr>
        <p:spPr>
          <a:xfrm>
            <a:off x="6313931" y="2103120"/>
            <a:ext cx="5390388" cy="36118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Writer - complément</a:t>
            </a:r>
          </a:p>
        </p:txBody>
      </p:sp>
      <p:sp>
        <p:nvSpPr>
          <p:cNvPr id="15" name="DSFR-card-contenu"/>
          <p:cNvSpPr txBox="1"/>
          <p:nvPr/>
        </p:nvSpPr>
        <p:spPr>
          <a:xfrm>
            <a:off x="6469379" y="2697479"/>
            <a:ext cx="5097779" cy="29260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P-06</a:t>
            </a:r>
            <a:r>
              <a:rPr sz="1400" b="0" lang="fr-FR">
                <a:solidFill>
                  <a:srgbClr val="161616"/>
                </a:solidFill>
                <a:latin typeface="Marianne"/>
              </a:rPr>
              <a:t> - Clic droit sur l'image &gt; Propriétés &gt; Options, puis renseigner le texte alternatif.</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P-07</a:t>
            </a:r>
            <a:r>
              <a:rPr sz="1400" b="0" lang="fr-FR">
                <a:solidFill>
                  <a:srgbClr val="161616"/>
                </a:solidFill>
                <a:latin typeface="Marianne"/>
              </a:rPr>
              <a:t> - Renseigner le texte alternatif dans les propriétés, puis ajouter la description dans le corps.</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P-08</a:t>
            </a:r>
            <a:r>
              <a:rPr sz="1400" b="0" lang="fr-FR">
                <a:solidFill>
                  <a:srgbClr val="161616"/>
                </a:solidFill>
                <a:latin typeface="Marianne"/>
              </a:rPr>
              <a:t> - Si l'option Décoratif existe, l'activer ; sinon laisser titre et description vides seulement après vérification de la redondance.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Station 2</a:t>
            </a:r>
          </a:p>
        </p:txBody>
      </p:sp>
      <p:sp>
        <p:nvSpPr>
          <p:cNvPr id="8" name="DSFR-accent-decoratif" descr=""/>
          <p:cNvSpPr/>
          <p:nvPr/>
        </p:nvSpPr>
        <p:spPr>
          <a:xfrm>
            <a:off x="475488" y="2103120"/>
            <a:ext cx="73152" cy="36118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6118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Station 2 - Vrai texte et liens compréhensibles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Station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65</a:t>
            </a:r>
            <a:endParaRPr lang="fr-FR" dirty="0"/>
          </a:p>
        </p:txBody>
      </p:sp>
      <p:sp>
        <p:nvSpPr>
          <p:cNvPr id="9" name="DSFR-box"/>
          <p:cNvSpPr/>
          <p:nvPr/>
        </p:nvSpPr>
        <p:spPr>
          <a:xfrm>
            <a:off x="548640" y="2103120"/>
            <a:ext cx="5390388" cy="2514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Word - procédure principale</a:t>
            </a:r>
          </a:p>
        </p:txBody>
      </p:sp>
      <p:sp>
        <p:nvSpPr>
          <p:cNvPr id="11" name="DSFR-card-contenu"/>
          <p:cNvSpPr txBox="1"/>
          <p:nvPr/>
        </p:nvSpPr>
        <p:spPr>
          <a:xfrm>
            <a:off x="704088" y="2697479"/>
            <a:ext cx="5097779" cy="182880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P-09</a:t>
            </a:r>
            <a:r>
              <a:rPr sz="1400" b="0" lang="fr-FR">
                <a:solidFill>
                  <a:srgbClr val="161616"/>
                </a:solidFill>
                <a:latin typeface="Marianne"/>
              </a:rPr>
              <a:t> - Insérer le texte dans un paragraphe structuré, appliquer les styles utiles puis supprimer l'image de texte.</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P-10</a:t>
            </a:r>
            <a:r>
              <a:rPr sz="1400" b="0" lang="fr-FR">
                <a:solidFill>
                  <a:srgbClr val="161616"/>
                </a:solidFill>
                <a:latin typeface="Marianne"/>
              </a:rPr>
              <a:t> - Modifier le texte affiché du lien via clic droit &gt; Modifier le lien, puis compléter le libellé dans le corps.</a:t>
            </a:r>
          </a:p>
        </p:txBody>
      </p:sp>
      <p:sp>
        <p:nvSpPr>
          <p:cNvPr id="13" name="DSFR-box"/>
          <p:cNvSpPr/>
          <p:nvPr/>
        </p:nvSpPr>
        <p:spPr>
          <a:xfrm>
            <a:off x="6313931" y="2103120"/>
            <a:ext cx="5390388" cy="2514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Writer - complément</a:t>
            </a:r>
          </a:p>
        </p:txBody>
      </p:sp>
      <p:sp>
        <p:nvSpPr>
          <p:cNvPr id="15" name="DSFR-card-contenu"/>
          <p:cNvSpPr txBox="1"/>
          <p:nvPr/>
        </p:nvSpPr>
        <p:spPr>
          <a:xfrm>
            <a:off x="6469379" y="2697479"/>
            <a:ext cx="5097779" cy="182880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P-09</a:t>
            </a:r>
            <a:r>
              <a:rPr sz="1400" b="0" lang="fr-FR">
                <a:solidFill>
                  <a:srgbClr val="161616"/>
                </a:solidFill>
                <a:latin typeface="Marianne"/>
              </a:rPr>
              <a:t> - Saisir le texte dans le corps, appliquer les styles utiles puis supprimer l'image de texte.</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P-10</a:t>
            </a:r>
            <a:r>
              <a:rPr sz="1400" b="0" lang="fr-FR">
                <a:solidFill>
                  <a:srgbClr val="161616"/>
                </a:solidFill>
                <a:latin typeface="Marianne"/>
              </a:rPr>
              <a:t> - Clic droit &gt; Modifier l'hyperlien, puis compléter le libellé dans le corps.</a:t>
            </a:r>
          </a:p>
        </p:txBody>
      </p:sp>
      <p:sp>
        <p:nvSpPr>
          <p:cNvPr id="17" name="DSFR-box"/>
          <p:cNvSpPr/>
          <p:nvPr/>
        </p:nvSpPr>
        <p:spPr>
          <a:xfrm>
            <a:off x="548640" y="49651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056631"/>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Preuve : le texte se sélectionne et chaque lien reste clair hors contexte.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Station 2</a:t>
            </a:r>
          </a:p>
        </p:txBody>
      </p:sp>
      <p:sp>
        <p:nvSpPr>
          <p:cNvPr id="8" name="DSFR-accent-decoratif" descr=""/>
          <p:cNvSpPr/>
          <p:nvPr/>
        </p:nvSpPr>
        <p:spPr>
          <a:xfrm>
            <a:off x="475488" y="2103120"/>
            <a:ext cx="73152" cy="2514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514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651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Station 2 - L'information essentielle reste dans le corps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Station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66</a:t>
            </a:r>
            <a:endParaRPr lang="fr-FR" dirty="0"/>
          </a:p>
        </p:txBody>
      </p:sp>
      <p:sp>
        <p:nvSpPr>
          <p:cNvPr id="9" name="DSFR-box"/>
          <p:cNvSpPr/>
          <p:nvPr/>
        </p:nvSpPr>
        <p:spPr>
          <a:xfrm>
            <a:off x="548640" y="20116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P-11 [P] - Reprendre dans le corps l'information d'un en-tête</a:t>
            </a:r>
          </a:p>
        </p:txBody>
      </p:sp>
      <p:sp>
        <p:nvSpPr>
          <p:cNvPr id="12" name="DSFR-box"/>
          <p:cNvSpPr/>
          <p:nvPr/>
        </p:nvSpPr>
        <p:spPr>
          <a:xfrm>
            <a:off x="548640" y="2990088"/>
            <a:ext cx="5390388" cy="28803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27248"/>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Word - procédure principale</a:t>
            </a:r>
          </a:p>
        </p:txBody>
      </p:sp>
      <p:sp>
        <p:nvSpPr>
          <p:cNvPr id="14" name="DSFR-card-contenu"/>
          <p:cNvSpPr txBox="1"/>
          <p:nvPr/>
        </p:nvSpPr>
        <p:spPr>
          <a:xfrm>
            <a:off x="704088" y="3584448"/>
            <a:ext cx="5097779" cy="21945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Ne jamais faire porter une information essentielle uniquement par un filigrane, un en-tête ou un arrière-plan.</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Ajouter le statut dans le corps avec un style adapté ; l'en-tête peut le conserver, sans en être l'unique porteur.</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Reprendre le même statut à un emplacement logique du corps.</a:t>
            </a:r>
          </a:p>
        </p:txBody>
      </p:sp>
      <p:sp>
        <p:nvSpPr>
          <p:cNvPr id="16" name="DSFR-box"/>
          <p:cNvSpPr/>
          <p:nvPr/>
        </p:nvSpPr>
        <p:spPr>
          <a:xfrm>
            <a:off x="6313931" y="2990088"/>
            <a:ext cx="5390388" cy="28803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127248"/>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Writer - complément</a:t>
            </a:r>
          </a:p>
        </p:txBody>
      </p:sp>
      <p:sp>
        <p:nvSpPr>
          <p:cNvPr id="18" name="DSFR-card-contenu"/>
          <p:cNvSpPr txBox="1"/>
          <p:nvPr/>
        </p:nvSpPr>
        <p:spPr>
          <a:xfrm>
            <a:off x="6469379" y="3584448"/>
            <a:ext cx="5097779" cy="21945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Ajouter le statut dans le corps avec un style adapté ; l'en-tête peut le conserver, sans en être l'unique porteur.</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Preuve :</a:t>
            </a:r>
            <a:r>
              <a:rPr sz="1400" b="0" lang="fr-FR">
                <a:solidFill>
                  <a:srgbClr val="161616"/>
                </a:solidFill>
                <a:latin typeface="Marianne"/>
              </a:rPr>
              <a:t> Statut compréhensible dans le texte linéarisé sans en-tête ni arrière-plan.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Station 2</a:t>
            </a:r>
          </a:p>
        </p:txBody>
      </p:sp>
      <p:sp>
        <p:nvSpPr>
          <p:cNvPr id="8" name="DSFR-accent-decoratif" descr=""/>
          <p:cNvSpPr/>
          <p:nvPr/>
        </p:nvSpPr>
        <p:spPr>
          <a:xfrm>
            <a:off x="475488" y="20116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0088"/>
            <a:ext cx="73152" cy="28803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0088"/>
            <a:ext cx="73152" cy="28803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Station 3 - Sécuriser couleurs, graphiques et tableaux</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Station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67</a:t>
            </a:r>
            <a:endParaRPr lang="fr-FR" dirty="0"/>
          </a:p>
        </p:txBody>
      </p:sp>
      <p:graphicFrame>
        <p:nvGraphicFramePr>
          <p:cNvPr id="8" name="Table 7"/>
          <p:cNvGraphicFramePr>
            <a:graphicFrameLocks noGrp="1"/>
          </p:cNvGraphicFramePr>
          <p:nvPr/>
        </p:nvGraphicFramePr>
        <p:xfrm>
          <a:off x="475488" y="2103120"/>
          <a:ext cx="11228832" cy="2414016"/>
        </p:xfrm>
        <a:graphic>
          <a:graphicData uri="http://schemas.openxmlformats.org/drawingml/2006/table">
            <a:tbl>
              <a:tblPr firstRow="1" bandRow="1">
                <a:tableStyleId>{5C22544A-7EE6-4342-B048-85BDC9FD1C3A}</a:tableStyleId>
              </a:tblPr>
              <a:tblGrid>
                <a:gridCol w="1051560"/>
                <a:gridCol w="1143000"/>
                <a:gridCol w="9034272"/>
              </a:tblGrid>
              <a:tr h="603504">
                <a:tc>
                  <a:txBody>
                    <a:bodyPr wrap="square" anchor="ctr" lIns="73152" rIns="73152"/>
                    <a:lstStyle/>
                    <a:p>
                      <a:pPr algn="l">
                        <a:lnSpc>
                          <a:spcPct val="125000"/>
                        </a:lnSpc>
                      </a:pPr>
                      <a:r>
                        <a:rPr sz="1400" b="1" i="0" lang="fr-FR">
                          <a:solidFill>
                            <a:srgbClr val="FFFFFF"/>
                          </a:solidFill>
                          <a:latin typeface="Marianne"/>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Points travaillés</a:t>
                      </a:r>
                    </a:p>
                  </a:txBody>
                  <a:tcPr marL="91440" marR="91440" marT="45720" marB="45720">
                    <a:solidFill>
                      <a:srgbClr val="000091"/>
                    </a:solidFill>
                  </a:tcPr>
                </a:tc>
              </a:tr>
              <a:tr h="603504">
                <a:tc>
                  <a:txBody>
                    <a:bodyPr wrap="square" anchor="ctr" lIns="73152" rIns="73152"/>
                    <a:lstStyle/>
                    <a:p>
                      <a:pPr algn="l">
                        <a:lnSpc>
                          <a:spcPct val="125000"/>
                        </a:lnSpc>
                      </a:pPr>
                      <a:r>
                        <a:rPr sz="1400" b="0" i="0" lang="fr-FR">
                          <a:solidFill>
                            <a:srgbClr val="161616"/>
                          </a:solidFill>
                          <a:latin typeface="Marianne"/>
                        </a:rPr>
                        <a:t>P-12</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Mesurer les contrastes utiles</a:t>
                      </a:r>
                    </a:p>
                  </a:txBody>
                  <a:tcPr marL="91440" marR="91440" marT="45720" marB="45720">
                    <a:solidFill>
                      <a:srgbClr val="FFFFFF"/>
                    </a:solidFill>
                  </a:tcPr>
                </a:tc>
              </a:tr>
              <a:tr h="603504">
                <a:tc>
                  <a:txBody>
                    <a:bodyPr wrap="square" anchor="ctr" lIns="73152" rIns="73152"/>
                    <a:lstStyle/>
                    <a:p>
                      <a:pPr algn="l">
                        <a:lnSpc>
                          <a:spcPct val="125000"/>
                        </a:lnSpc>
                      </a:pPr>
                      <a:r>
                        <a:rPr sz="1400" b="0" i="0" lang="fr-FR">
                          <a:solidFill>
                            <a:srgbClr val="161616"/>
                          </a:solidFill>
                          <a:latin typeface="Marianne"/>
                        </a:rPr>
                        <a:t>P-13</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Ne pas transmettre une information par la couleur seule</a:t>
                      </a:r>
                    </a:p>
                  </a:txBody>
                  <a:tcPr marL="91440" marR="91440" marT="45720" marB="45720">
                    <a:solidFill>
                      <a:srgbClr val="F5F5FE"/>
                    </a:solidFill>
                  </a:tcPr>
                </a:tc>
              </a:tr>
              <a:tr h="603504">
                <a:tc>
                  <a:txBody>
                    <a:bodyPr wrap="square" anchor="ctr" lIns="73152" rIns="73152"/>
                    <a:lstStyle/>
                    <a:p>
                      <a:pPr algn="l">
                        <a:lnSpc>
                          <a:spcPct val="125000"/>
                        </a:lnSpc>
                      </a:pPr>
                      <a:r>
                        <a:rPr sz="1400" b="0" i="0" lang="fr-FR">
                          <a:solidFill>
                            <a:srgbClr val="161616"/>
                          </a:solidFill>
                          <a:latin typeface="Marianne"/>
                        </a:rPr>
                        <a:t>P-14</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Structurer un tableau de données simple</a:t>
                      </a:r>
                    </a:p>
                  </a:txBody>
                  <a:tcPr marL="91440" marR="91440" marT="45720" marB="45720">
                    <a:solidFill>
                      <a:srgbClr val="FFFFFF"/>
                    </a:solidFill>
                  </a:tcPr>
                </a:tc>
              </a:tr>
            </a:tbl>
          </a:graphicData>
        </a:graphic>
      </p:graphicFrame>
      <p:sp>
        <p:nvSpPr>
          <p:cNvPr id="10" name="DSFR-box"/>
          <p:cNvSpPr/>
          <p:nvPr/>
        </p:nvSpPr>
        <p:spPr>
          <a:xfrm>
            <a:off x="548640" y="49377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0292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Mesurer, rendre l'information indépendante de la couleur, puis vérifier la structure.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Station 3</a:t>
            </a:r>
          </a:p>
        </p:txBody>
      </p:sp>
      <p:sp>
        <p:nvSpPr>
          <p:cNvPr id="9" name="DSFR-accent-decoratif" descr=""/>
          <p:cNvSpPr/>
          <p:nvPr/>
        </p:nvSpPr>
        <p:spPr>
          <a:xfrm>
            <a:off x="475488" y="49377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Station 3 - Le contraste se mesure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Station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68</a:t>
            </a:r>
            <a:endParaRPr lang="fr-FR" dirty="0"/>
          </a:p>
        </p:txBody>
      </p:sp>
      <p:sp>
        <p:nvSpPr>
          <p:cNvPr id="9" name="DSFR-box"/>
          <p:cNvSpPr/>
          <p:nvPr/>
        </p:nvSpPr>
        <p:spPr>
          <a:xfrm>
            <a:off x="548640" y="196596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P-12 [P] - Mesurer les contrastes utiles</a:t>
            </a:r>
          </a:p>
        </p:txBody>
      </p:sp>
      <p:sp>
        <p:nvSpPr>
          <p:cNvPr id="11" name="DSFR-kpi-pave"/>
          <p:cNvSpPr/>
          <p:nvPr/>
        </p:nvSpPr>
        <p:spPr>
          <a:xfrm>
            <a:off x="475488" y="2926080"/>
            <a:ext cx="5463540" cy="7132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12" name="DSFR-kpi-label"/>
          <p:cNvSpPr txBox="1"/>
          <p:nvPr/>
        </p:nvSpPr>
        <p:spPr>
          <a:xfrm>
            <a:off x="475488" y="3694176"/>
            <a:ext cx="5463540" cy="329184"/>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a:t>
            </a:r>
          </a:p>
        </p:txBody>
      </p:sp>
      <p:sp>
        <p:nvSpPr>
          <p:cNvPr id="13" name="DSFR-kpi-pave"/>
          <p:cNvSpPr/>
          <p:nvPr/>
        </p:nvSpPr>
        <p:spPr>
          <a:xfrm>
            <a:off x="6240779" y="2926080"/>
            <a:ext cx="5463540" cy="7132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14" name="DSFR-kpi-label"/>
          <p:cNvSpPr txBox="1"/>
          <p:nvPr/>
        </p:nvSpPr>
        <p:spPr>
          <a:xfrm>
            <a:off x="6240779" y="3694176"/>
            <a:ext cx="5463540" cy="329184"/>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Grand texte et éléments graphiques</a:t>
            </a:r>
          </a:p>
        </p:txBody>
      </p:sp>
      <p:sp>
        <p:nvSpPr>
          <p:cNvPr id="16" name="DSFR-box"/>
          <p:cNvSpPr/>
          <p:nvPr/>
        </p:nvSpPr>
        <p:spPr>
          <a:xfrm>
            <a:off x="548640" y="4160520"/>
            <a:ext cx="5390388" cy="2011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704088" y="429768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Word - procédure principale</a:t>
            </a:r>
          </a:p>
        </p:txBody>
      </p:sp>
      <p:sp>
        <p:nvSpPr>
          <p:cNvPr id="18" name="DSFR-card-contenu"/>
          <p:cNvSpPr txBox="1"/>
          <p:nvPr/>
        </p:nvSpPr>
        <p:spPr>
          <a:xfrm>
            <a:off x="704088" y="4754880"/>
            <a:ext cx="5097779" cy="1325879"/>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Relever les couleurs de police et de fond, mesurer avec l'outil de contraste, puis modifier la couleur de police.</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Mesurer la combinaison puis choisir une couleur qui atteint le seuil applicable.</a:t>
            </a:r>
          </a:p>
        </p:txBody>
      </p:sp>
      <p:sp>
        <p:nvSpPr>
          <p:cNvPr id="20" name="DSFR-box"/>
          <p:cNvSpPr/>
          <p:nvPr/>
        </p:nvSpPr>
        <p:spPr>
          <a:xfrm>
            <a:off x="6313931" y="4160520"/>
            <a:ext cx="5390388" cy="2011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429768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Writer - complément</a:t>
            </a:r>
          </a:p>
        </p:txBody>
      </p:sp>
      <p:sp>
        <p:nvSpPr>
          <p:cNvPr id="22" name="DSFR-card-contenu"/>
          <p:cNvSpPr txBox="1"/>
          <p:nvPr/>
        </p:nvSpPr>
        <p:spPr>
          <a:xfrm>
            <a:off x="6469379" y="4754880"/>
            <a:ext cx="5097779" cy="1325879"/>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Relever les couleurs de caractère et d'arrière-plan, mesurer, puis modifier la couleur de caractère.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Station 3</a:t>
            </a:r>
          </a:p>
        </p:txBody>
      </p:sp>
      <p:sp>
        <p:nvSpPr>
          <p:cNvPr id="8" name="DSFR-accent-decoratif" descr=""/>
          <p:cNvSpPr/>
          <p:nvPr/>
        </p:nvSpPr>
        <p:spPr>
          <a:xfrm>
            <a:off x="475488" y="196596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160520"/>
            <a:ext cx="73152" cy="2011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4160520"/>
            <a:ext cx="73152" cy="2011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Station 3 - Un graphique compréhensible sans la couleur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Station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69</a:t>
            </a:r>
            <a:endParaRPr lang="fr-FR" dirty="0"/>
          </a:p>
        </p:txBody>
      </p:sp>
      <p:sp>
        <p:nvSpPr>
          <p:cNvPr id="9" name="DSFR-box"/>
          <p:cNvSpPr/>
          <p:nvPr/>
        </p:nvSpPr>
        <p:spPr>
          <a:xfrm>
            <a:off x="548640" y="20116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P-13 [P] - Ne pas transmettre une information par la couleur seule</a:t>
            </a:r>
          </a:p>
        </p:txBody>
      </p:sp>
      <p:sp>
        <p:nvSpPr>
          <p:cNvPr id="12" name="DSFR-box"/>
          <p:cNvSpPr/>
          <p:nvPr/>
        </p:nvSpPr>
        <p:spPr>
          <a:xfrm>
            <a:off x="548640" y="3017520"/>
            <a:ext cx="5390388" cy="31089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Word - procédure principale</a:t>
            </a:r>
          </a:p>
        </p:txBody>
      </p:sp>
      <p:sp>
        <p:nvSpPr>
          <p:cNvPr id="14" name="DSFR-card-contenu"/>
          <p:cNvSpPr txBox="1"/>
          <p:nvPr/>
        </p:nvSpPr>
        <p:spPr>
          <a:xfrm>
            <a:off x="704088" y="3611879"/>
            <a:ext cx="5097779" cy="24231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Ajouter étiquettes, motifs ou un équivalent textuel complet à tout code couleur porteur d'information.</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Insertion &gt; Graphique &gt; Histogramme groupé, reporter les valeurs affichées dans l'image, puis afficher les étiquettes et appliquer des motifs distincts.</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Reconstruire dans Word le graphique à partir des valeurs affichées dans l'image, puis ajouter des étiquettes et des motifs ou conserver un équivalent textuel complet.</a:t>
            </a:r>
          </a:p>
        </p:txBody>
      </p:sp>
      <p:sp>
        <p:nvSpPr>
          <p:cNvPr id="16" name="DSFR-box"/>
          <p:cNvSpPr/>
          <p:nvPr/>
        </p:nvSpPr>
        <p:spPr>
          <a:xfrm>
            <a:off x="6313931" y="3017520"/>
            <a:ext cx="5390388" cy="31089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Writer - complément</a:t>
            </a:r>
          </a:p>
        </p:txBody>
      </p:sp>
      <p:sp>
        <p:nvSpPr>
          <p:cNvPr id="18" name="DSFR-card-contenu"/>
          <p:cNvSpPr txBox="1"/>
          <p:nvPr/>
        </p:nvSpPr>
        <p:spPr>
          <a:xfrm>
            <a:off x="6469379" y="3611879"/>
            <a:ext cx="5097779" cy="24231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Insertion &gt; Diagramme, reporter les valeurs affichées dans l'image, puis afficher les étiquettes et choisir des remplissages distincts.</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Preuve :</a:t>
            </a:r>
            <a:r>
              <a:rPr sz="1400" b="0" lang="fr-FR">
                <a:solidFill>
                  <a:srgbClr val="161616"/>
                </a:solidFill>
                <a:latin typeface="Marianne"/>
              </a:rPr>
              <a:t> Séries et conclusions identifiables en niveaux de gris et dans l'équivalent textuel.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Station 3</a:t>
            </a:r>
          </a:p>
        </p:txBody>
      </p:sp>
      <p:sp>
        <p:nvSpPr>
          <p:cNvPr id="8" name="DSFR-accent-decoratif" descr=""/>
          <p:cNvSpPr/>
          <p:nvPr/>
        </p:nvSpPr>
        <p:spPr>
          <a:xfrm>
            <a:off x="475488" y="20116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017520"/>
            <a:ext cx="73152" cy="31089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017520"/>
            <a:ext cx="73152" cy="31089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Station 3 - Un tableau de données simple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Station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70</a:t>
            </a:r>
            <a:endParaRPr lang="fr-FR" dirty="0"/>
          </a:p>
        </p:txBody>
      </p:sp>
      <p:sp>
        <p:nvSpPr>
          <p:cNvPr id="9" name="DSFR-box"/>
          <p:cNvSpPr/>
          <p:nvPr/>
        </p:nvSpPr>
        <p:spPr>
          <a:xfrm>
            <a:off x="548640" y="20116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P-14 [P] - Structurer un tableau de données simple</a:t>
            </a:r>
          </a:p>
        </p:txBody>
      </p:sp>
      <p:sp>
        <p:nvSpPr>
          <p:cNvPr id="12" name="DSFR-box"/>
          <p:cNvSpPr/>
          <p:nvPr/>
        </p:nvSpPr>
        <p:spPr>
          <a:xfrm>
            <a:off x="548640" y="3017520"/>
            <a:ext cx="5390388" cy="31089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Word - procédure principale</a:t>
            </a:r>
          </a:p>
        </p:txBody>
      </p:sp>
      <p:sp>
        <p:nvSpPr>
          <p:cNvPr id="14" name="DSFR-card-contenu"/>
          <p:cNvSpPr txBox="1"/>
          <p:nvPr/>
        </p:nvSpPr>
        <p:spPr>
          <a:xfrm>
            <a:off x="704088" y="3611879"/>
            <a:ext cx="5097779" cy="24231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Utiliser un tableau de données titré, sans fusion, imbrication, fractionnement de ligne ni usage de mise en page, avec en-tête identifié et répété.</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Outils de tableau &gt; Disposition pour défusionner ; Propriétés du tableau pour répéter l'en-tête et interdire le fractionnement des lignes.</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Simplifier la structure, identifier l'en-tête et régler sa répétition ainsi que les lignes.</a:t>
            </a:r>
          </a:p>
        </p:txBody>
      </p:sp>
      <p:sp>
        <p:nvSpPr>
          <p:cNvPr id="16" name="DSFR-box"/>
          <p:cNvSpPr/>
          <p:nvPr/>
        </p:nvSpPr>
        <p:spPr>
          <a:xfrm>
            <a:off x="6313931" y="3017520"/>
            <a:ext cx="5390388" cy="31089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Writer - complément</a:t>
            </a:r>
          </a:p>
        </p:txBody>
      </p:sp>
      <p:sp>
        <p:nvSpPr>
          <p:cNvPr id="18" name="DSFR-card-contenu"/>
          <p:cNvSpPr txBox="1"/>
          <p:nvPr/>
        </p:nvSpPr>
        <p:spPr>
          <a:xfrm>
            <a:off x="6469379" y="3611879"/>
            <a:ext cx="5097779" cy="24231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Tableau &gt; Propriétés pour simplifier la grille, répéter les premières lignes et éviter le fractionnement.</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Preuve :</a:t>
            </a:r>
            <a:r>
              <a:rPr sz="1400" b="0" lang="fr-FR">
                <a:solidFill>
                  <a:srgbClr val="161616"/>
                </a:solidFill>
                <a:latin typeface="Marianne"/>
              </a:rPr>
              <a:t> XML sans fusion ni imbrication et relations de cellules vérifiées à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Station 3</a:t>
            </a:r>
          </a:p>
        </p:txBody>
      </p:sp>
      <p:sp>
        <p:nvSpPr>
          <p:cNvPr id="8" name="DSFR-accent-decoratif" descr=""/>
          <p:cNvSpPr/>
          <p:nvPr/>
        </p:nvSpPr>
        <p:spPr>
          <a:xfrm>
            <a:off x="475488" y="20116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017520"/>
            <a:ext cx="73152" cy="31089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017520"/>
            <a:ext cx="73152" cy="31089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Station 4 - Régler langues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Station 4</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71</a:t>
            </a:r>
            <a:endParaRPr lang="fr-FR" dirty="0"/>
          </a:p>
        </p:txBody>
      </p:sp>
      <p:graphicFrame>
        <p:nvGraphicFramePr>
          <p:cNvPr id="8" name="Table 7"/>
          <p:cNvGraphicFramePr>
            <a:graphicFrameLocks noGrp="1"/>
          </p:cNvGraphicFramePr>
          <p:nvPr/>
        </p:nvGraphicFramePr>
        <p:xfrm>
          <a:off x="475488" y="2103120"/>
          <a:ext cx="11228832" cy="2834640"/>
        </p:xfrm>
        <a:graphic>
          <a:graphicData uri="http://schemas.openxmlformats.org/drawingml/2006/table">
            <a:tbl>
              <a:tblPr firstRow="1" bandRow="1">
                <a:tableStyleId>{5C22544A-7EE6-4342-B048-85BDC9FD1C3A}</a:tableStyleId>
              </a:tblPr>
              <a:tblGrid>
                <a:gridCol w="1051560"/>
                <a:gridCol w="1143000"/>
                <a:gridCol w="9034272"/>
              </a:tblGrid>
              <a:tr h="566928">
                <a:tc>
                  <a:txBody>
                    <a:bodyPr wrap="square" anchor="ctr" lIns="73152" rIns="73152"/>
                    <a:lstStyle/>
                    <a:p>
                      <a:pPr algn="l">
                        <a:lnSpc>
                          <a:spcPct val="125000"/>
                        </a:lnSpc>
                      </a:pPr>
                      <a:r>
                        <a:rPr sz="1400" b="1" i="0" lang="fr-FR">
                          <a:solidFill>
                            <a:srgbClr val="FFFFFF"/>
                          </a:solidFill>
                          <a:latin typeface="Marianne"/>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Points travaillés</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Marianne"/>
                        </a:rPr>
                        <a:t>P-15</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Définir les langues du document et des passages</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P-16</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Régler une typographie lisible par les styles</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P-17</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Appliquer la casse par la mise en forme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P-18</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Développer les sigles et vérifier les majuscules</a:t>
                      </a:r>
                    </a:p>
                  </a:txBody>
                  <a:tcPr marL="91440" marR="91440" marT="45720" marB="45720">
                    <a:solidFill>
                      <a:srgbClr val="F5F5FE"/>
                    </a:solidFill>
                  </a:tcPr>
                </a:tc>
              </a:tr>
            </a:tbl>
          </a:graphicData>
        </a:graphic>
      </p:graphicFrame>
      <p:sp>
        <p:nvSpPr>
          <p:cNvPr id="10" name="DSFR-box"/>
          <p:cNvSpPr/>
          <p:nvPr/>
        </p:nvSpPr>
        <p:spPr>
          <a:xfrm>
            <a:off x="548640" y="50749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16635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Corriger les styles sources : la langue et la lisibilité se règlent à l'échelle du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Station 4</a:t>
            </a:r>
          </a:p>
        </p:txBody>
      </p:sp>
      <p:sp>
        <p:nvSpPr>
          <p:cNvPr id="9" name="DSFR-accent-decoratif" descr=""/>
          <p:cNvSpPr/>
          <p:nvPr/>
        </p:nvSpPr>
        <p:spPr>
          <a:xfrm>
            <a:off x="475488" y="50749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Station 4 - Langues et styles typographiques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Station 4</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72</a:t>
            </a:r>
            <a:endParaRPr lang="fr-FR" dirty="0"/>
          </a:p>
        </p:txBody>
      </p:sp>
      <p:sp>
        <p:nvSpPr>
          <p:cNvPr id="9" name="DSFR-box"/>
          <p:cNvSpPr/>
          <p:nvPr/>
        </p:nvSpPr>
        <p:spPr>
          <a:xfrm>
            <a:off x="548640"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Word - procédure principale</a:t>
            </a:r>
          </a:p>
        </p:txBody>
      </p:sp>
      <p:sp>
        <p:nvSpPr>
          <p:cNvPr id="11" name="DSFR-card-contenu"/>
          <p:cNvSpPr txBox="1"/>
          <p:nvPr/>
        </p:nvSpPr>
        <p:spPr>
          <a:xfrm>
            <a:off x="704088" y="2697479"/>
            <a:ext cx="5097779" cy="20116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P-15</a:t>
            </a:r>
            <a:r>
              <a:rPr sz="1400" b="0" lang="fr-FR">
                <a:solidFill>
                  <a:srgbClr val="161616"/>
                </a:solidFill>
                <a:latin typeface="Marianne"/>
              </a:rPr>
              <a:t> - Révision &gt; Langue &gt; Définir la langue de vérification pour le document puis pour le passage sélectionné.</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P-16</a:t>
            </a:r>
            <a:r>
              <a:rPr sz="1400" b="0" lang="fr-FR">
                <a:solidFill>
                  <a:srgbClr val="161616"/>
                </a:solidFill>
                <a:latin typeface="Marianne"/>
              </a:rPr>
              <a:t> - Accueil &gt; Styles &gt; Modifier le style Normal, puis régler police, taille, alignement et paragraphe.</a:t>
            </a:r>
          </a:p>
        </p:txBody>
      </p:sp>
      <p:sp>
        <p:nvSpPr>
          <p:cNvPr id="13" name="DSFR-box"/>
          <p:cNvSpPr/>
          <p:nvPr/>
        </p:nvSpPr>
        <p:spPr>
          <a:xfrm>
            <a:off x="6313931"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Writer - complément</a:t>
            </a:r>
          </a:p>
        </p:txBody>
      </p:sp>
      <p:sp>
        <p:nvSpPr>
          <p:cNvPr id="15" name="DSFR-card-contenu"/>
          <p:cNvSpPr txBox="1"/>
          <p:nvPr/>
        </p:nvSpPr>
        <p:spPr>
          <a:xfrm>
            <a:off x="6469379" y="2697479"/>
            <a:ext cx="5097779" cy="20116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P-15</a:t>
            </a:r>
            <a:r>
              <a:rPr sz="1400" b="0" lang="fr-FR">
                <a:solidFill>
                  <a:srgbClr val="161616"/>
                </a:solidFill>
                <a:latin typeface="Marianne"/>
              </a:rPr>
              <a:t> - Outils &gt; Langue pour tout le texte, puis langue du caractère pour le passage sélectionné.</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P-16</a:t>
            </a:r>
            <a:r>
              <a:rPr sz="1400" b="0" lang="fr-FR">
                <a:solidFill>
                  <a:srgbClr val="161616"/>
                </a:solidFill>
                <a:latin typeface="Marianne"/>
              </a:rPr>
              <a:t> - Styles &gt; Gérer les styles &gt; modifier Style de paragraphe par défaut, puis régler police et retraits et espacement.</a:t>
            </a:r>
          </a:p>
        </p:txBody>
      </p:sp>
      <p:sp>
        <p:nvSpPr>
          <p:cNvPr id="17" name="DSFR-box"/>
          <p:cNvSpPr/>
          <p:nvPr/>
        </p:nvSpPr>
        <p:spPr>
          <a:xfrm>
            <a:off x="548640" y="509320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18464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Preuve : langue cohérente, corps à 12 points minimum, interligne 1,15 et alignement à gauche.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Station 4</a:t>
            </a:r>
          </a:p>
        </p:txBody>
      </p:sp>
      <p:sp>
        <p:nvSpPr>
          <p:cNvPr id="8" name="DSFR-accent-decoratif" descr=""/>
          <p:cNvSpPr/>
          <p:nvPr/>
        </p:nvSpPr>
        <p:spPr>
          <a:xfrm>
            <a:off x="475488"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09320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Station 4 - Casse, accents et sigles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Station 4</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73</a:t>
            </a:r>
            <a:endParaRPr lang="fr-FR" dirty="0"/>
          </a:p>
        </p:txBody>
      </p:sp>
      <p:sp>
        <p:nvSpPr>
          <p:cNvPr id="9" name="DSFR-box"/>
          <p:cNvSpPr/>
          <p:nvPr/>
        </p:nvSpPr>
        <p:spPr>
          <a:xfrm>
            <a:off x="548640"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Word - procédure principale</a:t>
            </a:r>
          </a:p>
        </p:txBody>
      </p:sp>
      <p:sp>
        <p:nvSpPr>
          <p:cNvPr id="11" name="DSFR-card-contenu"/>
          <p:cNvSpPr txBox="1"/>
          <p:nvPr/>
        </p:nvSpPr>
        <p:spPr>
          <a:xfrm>
            <a:off x="704088" y="2697479"/>
            <a:ext cx="5097779" cy="20116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P-17</a:t>
            </a:r>
            <a:r>
              <a:rPr sz="1400" b="0" lang="fr-FR">
                <a:solidFill>
                  <a:srgbClr val="161616"/>
                </a:solidFill>
                <a:latin typeface="Marianne"/>
              </a:rPr>
              <a:t> - Corriger le texte, puis Police &gt; Effets &gt; Majuscules si cette apparence est nécessaire.</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P-18</a:t>
            </a:r>
            <a:r>
              <a:rPr sz="1400" b="0" lang="fr-FR">
                <a:solidFill>
                  <a:srgbClr val="161616"/>
                </a:solidFill>
                <a:latin typeface="Marianne"/>
              </a:rPr>
              <a:t> - Développer le terme dans le corps, puis Fichier &gt; Options &gt; Vérification et décocher Ignorer les mots en MAJUSCULES.</a:t>
            </a:r>
          </a:p>
        </p:txBody>
      </p:sp>
      <p:sp>
        <p:nvSpPr>
          <p:cNvPr id="13" name="DSFR-box"/>
          <p:cNvSpPr/>
          <p:nvPr/>
        </p:nvSpPr>
        <p:spPr>
          <a:xfrm>
            <a:off x="6313931"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Writer - complément</a:t>
            </a:r>
          </a:p>
        </p:txBody>
      </p:sp>
      <p:sp>
        <p:nvSpPr>
          <p:cNvPr id="15" name="DSFR-card-contenu"/>
          <p:cNvSpPr txBox="1"/>
          <p:nvPr/>
        </p:nvSpPr>
        <p:spPr>
          <a:xfrm>
            <a:off x="6469379" y="2697479"/>
            <a:ext cx="5097779" cy="20116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P-17</a:t>
            </a:r>
            <a:r>
              <a:rPr sz="1400" b="0" lang="fr-FR">
                <a:solidFill>
                  <a:srgbClr val="161616"/>
                </a:solidFill>
                <a:latin typeface="Marianne"/>
              </a:rPr>
              <a:t> - Corriger le texte, puis Format &gt; Caractère &gt; Effets de caractères &gt; Majuscules.</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P-18</a:t>
            </a:r>
            <a:r>
              <a:rPr sz="1400" b="0" lang="fr-FR">
                <a:solidFill>
                  <a:srgbClr val="161616"/>
                </a:solidFill>
                <a:latin typeface="Marianne"/>
              </a:rPr>
              <a:t> - Développer le terme dans le corps, puis Outils &gt; Options &gt; Paramètres linguistiques &gt; Linguistique et vérifier les options de contrôle.</a:t>
            </a:r>
          </a:p>
        </p:txBody>
      </p:sp>
      <p:sp>
        <p:nvSpPr>
          <p:cNvPr id="17" name="DSFR-box"/>
          <p:cNvSpPr/>
          <p:nvPr/>
        </p:nvSpPr>
        <p:spPr>
          <a:xfrm>
            <a:off x="548640" y="509320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18464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Preuve : texte source accentué, première occurrence développée et majuscules contrôlées.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Station 4</a:t>
            </a:r>
          </a:p>
        </p:txBody>
      </p:sp>
      <p:sp>
        <p:nvSpPr>
          <p:cNvPr id="8" name="DSFR-accent-decoratif" descr=""/>
          <p:cNvSpPr/>
          <p:nvPr/>
        </p:nvSpPr>
        <p:spPr>
          <a:xfrm>
            <a:off x="475488"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09320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Station 5 - Finaliser, vérifier, exporter et contrôler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Station 5</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74</a:t>
            </a:r>
            <a:endParaRPr lang="fr-FR" dirty="0"/>
          </a:p>
        </p:txBody>
      </p:sp>
      <p:graphicFrame>
        <p:nvGraphicFramePr>
          <p:cNvPr id="8" name="Table 7"/>
          <p:cNvGraphicFramePr>
            <a:graphicFrameLocks noGrp="1"/>
          </p:cNvGraphicFramePr>
          <p:nvPr/>
        </p:nvGraphicFramePr>
        <p:xfrm>
          <a:off x="475488" y="2103120"/>
          <a:ext cx="11228832" cy="2834640"/>
        </p:xfrm>
        <a:graphic>
          <a:graphicData uri="http://schemas.openxmlformats.org/drawingml/2006/table">
            <a:tbl>
              <a:tblPr firstRow="1" bandRow="1">
                <a:tableStyleId>{5C22544A-7EE6-4342-B048-85BDC9FD1C3A}</a:tableStyleId>
              </a:tblPr>
              <a:tblGrid>
                <a:gridCol w="1051560"/>
                <a:gridCol w="1143000"/>
                <a:gridCol w="9034272"/>
              </a:tblGrid>
              <a:tr h="566928">
                <a:tc>
                  <a:txBody>
                    <a:bodyPr wrap="square" anchor="ctr" lIns="73152" rIns="73152"/>
                    <a:lstStyle/>
                    <a:p>
                      <a:pPr algn="l">
                        <a:lnSpc>
                          <a:spcPct val="125000"/>
                        </a:lnSpc>
                      </a:pPr>
                      <a:r>
                        <a:rPr sz="1400" b="1" i="0" lang="fr-FR">
                          <a:solidFill>
                            <a:srgbClr val="FFFFFF"/>
                          </a:solidFill>
                          <a:latin typeface="Marianne"/>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Points travaillés</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Marianne"/>
                        </a:rPr>
                        <a:t>P-19</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Renseigner les propriétés et le nom du fichier</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P-20</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Exporter un PDF structuré</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C-01</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Utiliser le vérificateur d'accessibilité Word</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C-02</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Contrôler le PDF après export</a:t>
                      </a:r>
                    </a:p>
                  </a:txBody>
                  <a:tcPr marL="91440" marR="91440" marT="45720" marB="45720">
                    <a:solidFill>
                      <a:srgbClr val="F5F5FE"/>
                    </a:solidFill>
                  </a:tcPr>
                </a:tc>
              </a:tr>
            </a:tbl>
          </a:graphicData>
        </a:graphic>
      </p:graphicFrame>
      <p:sp>
        <p:nvSpPr>
          <p:cNvPr id="10" name="DSFR-box"/>
          <p:cNvSpPr/>
          <p:nvPr/>
        </p:nvSpPr>
        <p:spPr>
          <a:xfrm>
            <a:off x="548640" y="50749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16635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outils automatiques filtrent ; la checklist et la vérification humaine concluent.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Station 5</a:t>
            </a:r>
          </a:p>
        </p:txBody>
      </p:sp>
      <p:sp>
        <p:nvSpPr>
          <p:cNvPr id="9" name="DSFR-accent-decoratif" descr=""/>
          <p:cNvSpPr/>
          <p:nvPr/>
        </p:nvSpPr>
        <p:spPr>
          <a:xfrm>
            <a:off x="475488" y="50749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Station 5 - Propriétés et vérificateur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Station 5</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75</a:t>
            </a:r>
            <a:endParaRPr lang="fr-FR" dirty="0"/>
          </a:p>
        </p:txBody>
      </p:sp>
      <p:sp>
        <p:nvSpPr>
          <p:cNvPr id="9" name="DSFR-box"/>
          <p:cNvSpPr/>
          <p:nvPr/>
        </p:nvSpPr>
        <p:spPr>
          <a:xfrm>
            <a:off x="548640" y="2103120"/>
            <a:ext cx="5390388" cy="2926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Word - P-19 [P] - Renseigner les propriétés et le nom du fichier</a:t>
            </a:r>
          </a:p>
        </p:txBody>
      </p:sp>
      <p:sp>
        <p:nvSpPr>
          <p:cNvPr id="11" name="DSFR-card-contenu"/>
          <p:cNvSpPr txBox="1"/>
          <p:nvPr/>
        </p:nvSpPr>
        <p:spPr>
          <a:xfrm>
            <a:off x="704088" y="2697479"/>
            <a:ext cx="5097779" cy="22402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Renseigner titre, auteur et langue puis enregistrer sous un nom descriptif.</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Fichier &gt; Informations &gt; Propriétés &gt; Propriétés avancées, puis Fichier &gt; Enregistrer sous.</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Preuve :</a:t>
            </a:r>
            <a:r>
              <a:rPr sz="1400" b="0" lang="fr-FR">
                <a:solidFill>
                  <a:srgbClr val="161616"/>
                </a:solidFill>
                <a:latin typeface="Marianne"/>
              </a:rPr>
              <a:t> Métadonnées inspectées dans le DOCX et nom de sortie relu.</a:t>
            </a:r>
          </a:p>
        </p:txBody>
      </p:sp>
      <p:sp>
        <p:nvSpPr>
          <p:cNvPr id="13" name="DSFR-box"/>
          <p:cNvSpPr/>
          <p:nvPr/>
        </p:nvSpPr>
        <p:spPr>
          <a:xfrm>
            <a:off x="6313931" y="2103120"/>
            <a:ext cx="5390388" cy="2926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Word - C-01 [C] - Utiliser le vérificateur d'accessibilité Word</a:t>
            </a:r>
          </a:p>
        </p:txBody>
      </p:sp>
      <p:sp>
        <p:nvSpPr>
          <p:cNvPr id="15" name="DSFR-card-contenu"/>
          <p:cNvSpPr txBox="1"/>
          <p:nvPr/>
        </p:nvSpPr>
        <p:spPr>
          <a:xfrm>
            <a:off x="6469379" y="2697479"/>
            <a:ext cx="5097779" cy="22402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Traiter les alertes pertinentes et expliquer toute alerte résiduelle ; viser zéro erreur sans en faire une preuve de conformité.</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Révision &gt; Vérifier l'accessibilité, parcourir chaque résultat et utiliser les actions recommandées avec discernement.</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Preuve :</a:t>
            </a:r>
            <a:r>
              <a:rPr sz="1400" b="0" lang="fr-FR">
                <a:solidFill>
                  <a:srgbClr val="161616"/>
                </a:solidFill>
                <a:latin typeface="Marianne"/>
              </a:rPr>
              <a:t> Relevé du vérificateur conservé et alertes résiduelles justifiées.</a:t>
            </a:r>
          </a:p>
        </p:txBody>
      </p:sp>
      <p:sp>
        <p:nvSpPr>
          <p:cNvPr id="16" name="DSFR-texte-libre"/>
          <p:cNvSpPr txBox="1"/>
          <p:nvPr/>
        </p:nvSpPr>
        <p:spPr>
          <a:xfrm>
            <a:off x="475488" y="5193792"/>
            <a:ext cx="11228832" cy="8229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Dans Writer - complément : Fichier &gt; Propriétés, puis Fichier &gt; Enregistrer sous. | Outils &gt; Vérification de l'accessibilité, parcourir les résultats et vérifier manuellement les points non couverts.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Station 5</a:t>
            </a:r>
          </a:p>
        </p:txBody>
      </p:sp>
      <p:sp>
        <p:nvSpPr>
          <p:cNvPr id="8" name="DSFR-accent-decoratif" descr=""/>
          <p:cNvSpPr/>
          <p:nvPr/>
        </p:nvSpPr>
        <p:spPr>
          <a:xfrm>
            <a:off x="475488" y="2103120"/>
            <a:ext cx="73152" cy="2926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926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Station 5 - Exporter puis contrôler le PDF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Station 5</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76</a:t>
            </a:r>
            <a:endParaRPr lang="fr-FR" dirty="0"/>
          </a:p>
        </p:txBody>
      </p:sp>
      <p:sp>
        <p:nvSpPr>
          <p:cNvPr id="9" name="DSFR-box"/>
          <p:cNvSpPr/>
          <p:nvPr/>
        </p:nvSpPr>
        <p:spPr>
          <a:xfrm>
            <a:off x="548640" y="2103120"/>
            <a:ext cx="5390388" cy="30175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Word - P-20 [P] - Exporter un PDF structuré</a:t>
            </a:r>
          </a:p>
        </p:txBody>
      </p:sp>
      <p:sp>
        <p:nvSpPr>
          <p:cNvPr id="11" name="DSFR-card-contenu"/>
          <p:cNvSpPr txBox="1"/>
          <p:nvPr/>
        </p:nvSpPr>
        <p:spPr>
          <a:xfrm>
            <a:off x="704088" y="2697479"/>
            <a:ext cx="5097779" cy="233172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Exporter avec propriétés, balises de structure et signets générés depuis les titres.</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Vérifier les propriétés dans Fichier &gt; Informations, puis Fichier &gt; Enregistrer sous ou Exporter &gt; PDF &gt; Options et activer les balises de structure ainsi que les signets issus des titres.</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Preuve :</a:t>
            </a:r>
            <a:r>
              <a:rPr sz="1400" b="0" lang="fr-FR">
                <a:solidFill>
                  <a:srgbClr val="161616"/>
                </a:solidFill>
                <a:latin typeface="Marianne"/>
              </a:rPr>
              <a:t> Propriétés et structure inspectées dans le PDF</a:t>
            </a:r>
          </a:p>
        </p:txBody>
      </p:sp>
      <p:sp>
        <p:nvSpPr>
          <p:cNvPr id="13" name="DSFR-box"/>
          <p:cNvSpPr/>
          <p:nvPr/>
        </p:nvSpPr>
        <p:spPr>
          <a:xfrm>
            <a:off x="6313931" y="2103120"/>
            <a:ext cx="5390388" cy="30175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Word - C-02 [C] - Contrôler le PDF après export</a:t>
            </a:r>
          </a:p>
        </p:txBody>
      </p:sp>
      <p:sp>
        <p:nvSpPr>
          <p:cNvPr id="15" name="DSFR-card-contenu"/>
          <p:cNvSpPr txBox="1"/>
          <p:nvPr/>
        </p:nvSpPr>
        <p:spPr>
          <a:xfrm>
            <a:off x="6469379" y="2697479"/>
            <a:ext cx="5097779" cy="233172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Contrôler avec PAC, ou Acrobat Pro en alternative, le titre, la langue, les balises et l'ordre de lecture, puis terminer par la checklist humaine.</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Ouvrir le PDF exporté dans PAC ; utiliser Acrobat Pro comme alternative si PAC n'est pas disponible.</a:t>
            </a:r>
          </a:p>
          <a:p>
            <a:pPr algn="l">
              <a:lnSpc>
                <a:spcPct val="130000"/>
              </a:lnSpc>
              <a:spcAft>
                <a:spcPts val="1000"/>
              </a:spcAft>
            </a:pPr>
            <a:r>
              <a:rPr sz="1400" lang="fr-FR">
                <a:solidFill>
                  <a:srgbClr val="161616"/>
                </a:solidFill>
                <a:latin typeface="Marianne"/>
              </a:rPr>
              <a:t>• </a:t>
            </a:r>
            <a:r>
              <a:rPr sz="1400" b="1" lang="fr-FR">
                <a:solidFill>
                  <a:srgbClr val="161616"/>
                </a:solidFill>
                <a:latin typeface="Marianne"/>
              </a:rPr>
              <a:t>Preuve :</a:t>
            </a:r>
            <a:r>
              <a:rPr sz="1400" b="0" lang="fr-FR">
                <a:solidFill>
                  <a:srgbClr val="161616"/>
                </a:solidFill>
                <a:latin typeface="Marianne"/>
              </a:rPr>
              <a:t> Rapport PAC ou Acrobat conservé</a:t>
            </a:r>
          </a:p>
        </p:txBody>
      </p:sp>
      <p:sp>
        <p:nvSpPr>
          <p:cNvPr id="16" name="DSFR-texte-libre"/>
          <p:cNvSpPr txBox="1"/>
          <p:nvPr/>
        </p:nvSpPr>
        <p:spPr>
          <a:xfrm>
            <a:off x="475488" y="5230368"/>
            <a:ext cx="11228832" cy="8229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Dans Writer - complément : Vérifier les propriétés dans Fichier &gt; Propriétés, puis Fichier &gt; Exporter vers &gt; Exporter au format PDF et activer PDF balisé ainsi que l'export des repères. | Ouvrir le PDF exporté dans PAC ; utiliser Acrobat Pro comme alternative si PAC n'est pas disponible.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Station 5</a:t>
            </a:r>
          </a:p>
        </p:txBody>
      </p:sp>
      <p:sp>
        <p:nvSpPr>
          <p:cNvPr id="8" name="DSFR-accent-decoratif" descr=""/>
          <p:cNvSpPr/>
          <p:nvPr/>
        </p:nvSpPr>
        <p:spPr>
          <a:xfrm>
            <a:off x="475488" y="2103120"/>
            <a:ext cx="73152" cy="30175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0175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progressive - Stations 1 et 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77</a:t>
            </a:r>
            <a:endParaRPr lang="fr-FR" dirty="0"/>
          </a:p>
        </p:txBody>
      </p:sp>
      <p:sp>
        <p:nvSpPr>
          <p:cNvPr id="9" name="DSFR-box"/>
          <p:cNvSpPr/>
          <p:nvPr/>
        </p:nvSpPr>
        <p:spPr>
          <a:xfrm>
            <a:off x="548640" y="2103120"/>
            <a:ext cx="5390388" cy="4114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Structurer et naviguer</a:t>
            </a:r>
          </a:p>
        </p:txBody>
      </p:sp>
      <p:sp>
        <p:nvSpPr>
          <p:cNvPr id="11" name="DSFR-card-contenu"/>
          <p:cNvSpPr txBox="1"/>
          <p:nvPr/>
        </p:nvSpPr>
        <p:spPr>
          <a:xfrm>
            <a:off x="704088" y="2697479"/>
            <a:ext cx="5097779" cy="3429000"/>
          </a:xfrm>
          <a:prstGeom prst="rect">
            <a:avLst/>
          </a:prstGeom>
          <a:noFill/>
        </p:spPr>
        <p:txBody>
          <a:bodyPr wrap="square" lIns="73152" rIns="73152">
            <a:spAutoFit/>
          </a:bodyPr>
          <a:lstStyle/>
          <a:p>
            <a:pPr algn="l">
              <a:lnSpc>
                <a:spcPct val="115000"/>
              </a:lnSpc>
              <a:spcAft>
                <a:spcPts val="400"/>
              </a:spcAft>
            </a:pPr>
            <a:r>
              <a:rPr sz="1400" lang="fr-FR">
                <a:solidFill>
                  <a:srgbClr val="161616"/>
                </a:solidFill>
                <a:latin typeface="Marianne"/>
              </a:rPr>
              <a:t>• </a:t>
            </a:r>
            <a:r>
              <a:rPr sz="1400" b="1" lang="fr-FR">
                <a:solidFill>
                  <a:srgbClr val="161616"/>
                </a:solidFill>
                <a:latin typeface="Marianne"/>
              </a:rPr>
              <a:t>P-01 [P]</a:t>
            </a:r>
            <a:r>
              <a:rPr sz="1400" b="0" lang="fr-FR">
                <a:solidFill>
                  <a:srgbClr val="161616"/>
                </a:solidFill>
                <a:latin typeface="Marianne"/>
              </a:rPr>
              <a:t> - Le titre principal et les titres de section utilisent des styles adaptés.</a:t>
            </a:r>
          </a:p>
          <a:p>
            <a:pPr algn="l">
              <a:lnSpc>
                <a:spcPct val="115000"/>
              </a:lnSpc>
              <a:spcAft>
                <a:spcPts val="400"/>
              </a:spcAft>
            </a:pPr>
            <a:r>
              <a:rPr sz="1400" lang="fr-FR">
                <a:solidFill>
                  <a:srgbClr val="161616"/>
                </a:solidFill>
                <a:latin typeface="Marianne"/>
              </a:rPr>
              <a:t>• </a:t>
            </a:r>
            <a:r>
              <a:rPr sz="1400" b="1" lang="fr-FR">
                <a:solidFill>
                  <a:srgbClr val="161616"/>
                </a:solidFill>
                <a:latin typeface="Marianne"/>
              </a:rPr>
              <a:t>P-02 [P]</a:t>
            </a:r>
            <a:r>
              <a:rPr sz="1400" b="0" lang="fr-FR">
                <a:solidFill>
                  <a:srgbClr val="161616"/>
                </a:solidFill>
                <a:latin typeface="Marianne"/>
              </a:rPr>
              <a:t> - La hiérarchie des titres ne saute aucun niveau.</a:t>
            </a:r>
          </a:p>
          <a:p>
            <a:pPr algn="l">
              <a:lnSpc>
                <a:spcPct val="115000"/>
              </a:lnSpc>
              <a:spcAft>
                <a:spcPts val="400"/>
              </a:spcAft>
            </a:pPr>
            <a:r>
              <a:rPr sz="1400" lang="fr-FR">
                <a:solidFill>
                  <a:srgbClr val="161616"/>
                </a:solidFill>
                <a:latin typeface="Marianne"/>
              </a:rPr>
              <a:t>• </a:t>
            </a:r>
            <a:r>
              <a:rPr sz="1400" b="1" lang="fr-FR">
                <a:solidFill>
                  <a:srgbClr val="161616"/>
                </a:solidFill>
                <a:latin typeface="Marianne"/>
              </a:rPr>
              <a:t>P-03 [P]</a:t>
            </a:r>
            <a:r>
              <a:rPr sz="1400" b="0" lang="fr-FR">
                <a:solidFill>
                  <a:srgbClr val="161616"/>
                </a:solidFill>
                <a:latin typeface="Marianne"/>
              </a:rPr>
              <a:t> - Le volet de navigation et le sommaire automatique reflètent le même plan.</a:t>
            </a:r>
          </a:p>
          <a:p>
            <a:pPr algn="l">
              <a:lnSpc>
                <a:spcPct val="115000"/>
              </a:lnSpc>
              <a:spcAft>
                <a:spcPts val="400"/>
              </a:spcAft>
            </a:pPr>
            <a:r>
              <a:rPr sz="1400" lang="fr-FR">
                <a:solidFill>
                  <a:srgbClr val="161616"/>
                </a:solidFill>
                <a:latin typeface="Marianne"/>
              </a:rPr>
              <a:t>• </a:t>
            </a:r>
            <a:r>
              <a:rPr sz="1400" b="1" lang="fr-FR">
                <a:solidFill>
                  <a:srgbClr val="161616"/>
                </a:solidFill>
                <a:latin typeface="Marianne"/>
              </a:rPr>
              <a:t>P-04 [P]</a:t>
            </a:r>
            <a:r>
              <a:rPr sz="1400" b="0" lang="fr-FR">
                <a:solidFill>
                  <a:srgbClr val="161616"/>
                </a:solidFill>
                <a:latin typeface="Marianne"/>
              </a:rPr>
              <a:t> - Les listes sont créées avec les fonctions de puces ou de numérotation.</a:t>
            </a:r>
          </a:p>
          <a:p>
            <a:pPr algn="l">
              <a:lnSpc>
                <a:spcPct val="115000"/>
              </a:lnSpc>
              <a:spcAft>
                <a:spcPts val="400"/>
              </a:spcAft>
            </a:pPr>
            <a:r>
              <a:rPr sz="1400" lang="fr-FR">
                <a:solidFill>
                  <a:srgbClr val="161616"/>
                </a:solidFill>
                <a:latin typeface="Marianne"/>
              </a:rPr>
              <a:t>• </a:t>
            </a:r>
            <a:r>
              <a:rPr sz="1400" b="1" lang="fr-FR">
                <a:solidFill>
                  <a:srgbClr val="161616"/>
                </a:solidFill>
                <a:latin typeface="Marianne"/>
              </a:rPr>
              <a:t>P-05 [P]</a:t>
            </a:r>
            <a:r>
              <a:rPr sz="1400" b="0" lang="fr-FR">
                <a:solidFill>
                  <a:srgbClr val="161616"/>
                </a:solidFill>
                <a:latin typeface="Marianne"/>
              </a:rPr>
              <a:t> - La mise en page n'est pas simulée par des caractères ou des paragraphes vides.</a:t>
            </a:r>
          </a:p>
        </p:txBody>
      </p:sp>
      <p:sp>
        <p:nvSpPr>
          <p:cNvPr id="13" name="DSFR-box"/>
          <p:cNvSpPr/>
          <p:nvPr/>
        </p:nvSpPr>
        <p:spPr>
          <a:xfrm>
            <a:off x="6313931" y="2103120"/>
            <a:ext cx="5390388" cy="4114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Rendre les contenus et les liens compréhensibles</a:t>
            </a:r>
          </a:p>
        </p:txBody>
      </p:sp>
      <p:sp>
        <p:nvSpPr>
          <p:cNvPr id="15" name="DSFR-card-contenu"/>
          <p:cNvSpPr txBox="1"/>
          <p:nvPr/>
        </p:nvSpPr>
        <p:spPr>
          <a:xfrm>
            <a:off x="6469379" y="2697479"/>
            <a:ext cx="5097779" cy="3429000"/>
          </a:xfrm>
          <a:prstGeom prst="rect">
            <a:avLst/>
          </a:prstGeom>
          <a:noFill/>
        </p:spPr>
        <p:txBody>
          <a:bodyPr wrap="square" lIns="73152" rIns="73152">
            <a:spAutoFit/>
          </a:bodyPr>
          <a:lstStyle/>
          <a:p>
            <a:pPr algn="l">
              <a:lnSpc>
                <a:spcPct val="115000"/>
              </a:lnSpc>
              <a:spcAft>
                <a:spcPts val="400"/>
              </a:spcAft>
            </a:pPr>
            <a:r>
              <a:rPr sz="1400" lang="fr-FR">
                <a:solidFill>
                  <a:srgbClr val="161616"/>
                </a:solidFill>
                <a:latin typeface="Marianne"/>
              </a:rPr>
              <a:t>• </a:t>
            </a:r>
            <a:r>
              <a:rPr sz="1400" b="1" lang="fr-FR">
                <a:solidFill>
                  <a:srgbClr val="161616"/>
                </a:solidFill>
                <a:latin typeface="Marianne"/>
              </a:rPr>
              <a:t>P-06 [P]</a:t>
            </a:r>
            <a:r>
              <a:rPr sz="1400" b="0" lang="fr-FR">
                <a:solidFill>
                  <a:srgbClr val="161616"/>
                </a:solidFill>
                <a:latin typeface="Marianne"/>
              </a:rPr>
              <a:t> - Chaque image informative simple possède une alternative pertinente.</a:t>
            </a:r>
          </a:p>
          <a:p>
            <a:pPr algn="l">
              <a:lnSpc>
                <a:spcPct val="115000"/>
              </a:lnSpc>
              <a:spcAft>
                <a:spcPts val="400"/>
              </a:spcAft>
            </a:pPr>
            <a:r>
              <a:rPr sz="1400" lang="fr-FR">
                <a:solidFill>
                  <a:srgbClr val="161616"/>
                </a:solidFill>
                <a:latin typeface="Marianne"/>
              </a:rPr>
              <a:t>• </a:t>
            </a:r>
            <a:r>
              <a:rPr sz="1400" b="1" lang="fr-FR">
                <a:solidFill>
                  <a:srgbClr val="161616"/>
                </a:solidFill>
                <a:latin typeface="Marianne"/>
              </a:rPr>
              <a:t>P-07 [P]</a:t>
            </a:r>
            <a:r>
              <a:rPr sz="1400" b="0" lang="fr-FR">
                <a:solidFill>
                  <a:srgbClr val="161616"/>
                </a:solidFill>
                <a:latin typeface="Marianne"/>
              </a:rPr>
              <a:t> - Une image complexe possède une alternative courte et une description détaillée adjacente.</a:t>
            </a:r>
          </a:p>
          <a:p>
            <a:pPr algn="l">
              <a:lnSpc>
                <a:spcPct val="115000"/>
              </a:lnSpc>
              <a:spcAft>
                <a:spcPts val="400"/>
              </a:spcAft>
            </a:pPr>
            <a:r>
              <a:rPr sz="1400" lang="fr-FR">
                <a:solidFill>
                  <a:srgbClr val="161616"/>
                </a:solidFill>
                <a:latin typeface="Marianne"/>
              </a:rPr>
              <a:t>• </a:t>
            </a:r>
            <a:r>
              <a:rPr sz="1400" b="1" lang="fr-FR">
                <a:solidFill>
                  <a:srgbClr val="161616"/>
                </a:solidFill>
                <a:latin typeface="Marianne"/>
              </a:rPr>
              <a:t>P-08 [P]</a:t>
            </a:r>
            <a:r>
              <a:rPr sz="1400" b="0" lang="fr-FR">
                <a:solidFill>
                  <a:srgbClr val="161616"/>
                </a:solidFill>
                <a:latin typeface="Marianne"/>
              </a:rPr>
              <a:t> - Les images redondantes sont traitées comme décoratives sans masquer d'information.</a:t>
            </a:r>
          </a:p>
          <a:p>
            <a:pPr algn="l">
              <a:lnSpc>
                <a:spcPct val="115000"/>
              </a:lnSpc>
              <a:spcAft>
                <a:spcPts val="400"/>
              </a:spcAft>
            </a:pPr>
            <a:r>
              <a:rPr sz="1400" lang="fr-FR">
                <a:solidFill>
                  <a:srgbClr val="161616"/>
                </a:solidFill>
                <a:latin typeface="Marianne"/>
              </a:rPr>
              <a:t>• </a:t>
            </a:r>
            <a:r>
              <a:rPr sz="1400" b="1" lang="fr-FR">
                <a:solidFill>
                  <a:srgbClr val="161616"/>
                </a:solidFill>
                <a:latin typeface="Marianne"/>
              </a:rPr>
              <a:t>P-09 [P]</a:t>
            </a:r>
            <a:r>
              <a:rPr sz="1400" b="0" lang="fr-FR">
                <a:solidFill>
                  <a:srgbClr val="161616"/>
                </a:solidFill>
                <a:latin typeface="Marianne"/>
              </a:rPr>
              <a:t> - Les informations textuelles sont fournies en vrai texte, pas seulement en image.</a:t>
            </a:r>
          </a:p>
          <a:p>
            <a:pPr algn="l">
              <a:lnSpc>
                <a:spcPct val="115000"/>
              </a:lnSpc>
              <a:spcAft>
                <a:spcPts val="400"/>
              </a:spcAft>
            </a:pPr>
            <a:r>
              <a:rPr sz="1400" lang="fr-FR">
                <a:solidFill>
                  <a:srgbClr val="161616"/>
                </a:solidFill>
                <a:latin typeface="Marianne"/>
              </a:rPr>
              <a:t>• </a:t>
            </a:r>
            <a:r>
              <a:rPr sz="1400" b="1" lang="fr-FR">
                <a:solidFill>
                  <a:srgbClr val="161616"/>
                </a:solidFill>
                <a:latin typeface="Marianne"/>
              </a:rPr>
              <a:t>P-10 [P]</a:t>
            </a:r>
            <a:r>
              <a:rPr sz="1400" b="0" lang="fr-FR">
                <a:solidFill>
                  <a:srgbClr val="161616"/>
                </a:solidFill>
                <a:latin typeface="Marianne"/>
              </a:rPr>
              <a:t> - Chaque lien est compréhensible hors contexte et chaque téléchargement est décrit.</a:t>
            </a:r>
          </a:p>
          <a:p>
            <a:pPr algn="l">
              <a:lnSpc>
                <a:spcPct val="115000"/>
              </a:lnSpc>
              <a:spcAft>
                <a:spcPts val="400"/>
              </a:spcAft>
            </a:pPr>
            <a:r>
              <a:rPr sz="1400" lang="fr-FR">
                <a:solidFill>
                  <a:srgbClr val="161616"/>
                </a:solidFill>
                <a:latin typeface="Marianne"/>
              </a:rPr>
              <a:t>• </a:t>
            </a:r>
            <a:r>
              <a:rPr sz="1400" b="1" lang="fr-FR">
                <a:solidFill>
                  <a:srgbClr val="161616"/>
                </a:solidFill>
                <a:latin typeface="Marianne"/>
              </a:rPr>
              <a:t>P-11 [P]</a:t>
            </a:r>
            <a:r>
              <a:rPr sz="1400" b="0" lang="fr-FR">
                <a:solidFill>
                  <a:srgbClr val="161616"/>
                </a:solidFill>
                <a:latin typeface="Marianne"/>
              </a:rPr>
              <a:t> - Toute information essentielle portée par un en-tête, un filigrane ou un arrière-plan est aussi présente dans le corps.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Checklist</a:t>
            </a:r>
          </a:p>
        </p:txBody>
      </p:sp>
      <p:sp>
        <p:nvSpPr>
          <p:cNvPr id="8" name="DSFR-accent-decoratif" descr=""/>
          <p:cNvSpPr/>
          <p:nvPr/>
        </p:nvSpPr>
        <p:spPr>
          <a:xfrm>
            <a:off x="475488" y="2103120"/>
            <a:ext cx="73152" cy="4114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4114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progressive - Stations 3 et 4</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78</a:t>
            </a:r>
            <a:endParaRPr lang="fr-FR" dirty="0"/>
          </a:p>
        </p:txBody>
      </p:sp>
      <p:sp>
        <p:nvSpPr>
          <p:cNvPr id="9" name="DSFR-box"/>
          <p:cNvSpPr/>
          <p:nvPr/>
        </p:nvSpPr>
        <p:spPr>
          <a:xfrm>
            <a:off x="548640" y="2103120"/>
            <a:ext cx="5390388" cy="4114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Sécuriser couleurs, graphiques et tableaux</a:t>
            </a:r>
          </a:p>
        </p:txBody>
      </p:sp>
      <p:sp>
        <p:nvSpPr>
          <p:cNvPr id="11" name="DSFR-card-contenu"/>
          <p:cNvSpPr txBox="1"/>
          <p:nvPr/>
        </p:nvSpPr>
        <p:spPr>
          <a:xfrm>
            <a:off x="704088" y="2697479"/>
            <a:ext cx="5097779" cy="3429000"/>
          </a:xfrm>
          <a:prstGeom prst="rect">
            <a:avLst/>
          </a:prstGeom>
          <a:noFill/>
        </p:spPr>
        <p:txBody>
          <a:bodyPr wrap="square" lIns="73152" rIns="73152">
            <a:spAutoFit/>
          </a:bodyPr>
          <a:lstStyle/>
          <a:p>
            <a:pPr algn="l">
              <a:lnSpc>
                <a:spcPct val="120000"/>
              </a:lnSpc>
              <a:spcAft>
                <a:spcPts val="600"/>
              </a:spcAft>
            </a:pPr>
            <a:r>
              <a:rPr sz="1400" lang="fr-FR">
                <a:solidFill>
                  <a:srgbClr val="161616"/>
                </a:solidFill>
                <a:latin typeface="Marianne"/>
              </a:rPr>
              <a:t>• </a:t>
            </a:r>
            <a:r>
              <a:rPr sz="1400" b="1" lang="fr-FR">
                <a:solidFill>
                  <a:srgbClr val="161616"/>
                </a:solidFill>
                <a:latin typeface="Marianne"/>
              </a:rPr>
              <a:t>P-12 [P]</a:t>
            </a:r>
            <a:r>
              <a:rPr sz="1400" b="0" lang="fr-FR">
                <a:solidFill>
                  <a:srgbClr val="161616"/>
                </a:solidFill>
                <a:latin typeface="Marianne"/>
              </a:rPr>
              <a:t> - Les contrastes sont mesurés et atteignent le seuil correspondant au contenu.</a:t>
            </a:r>
          </a:p>
          <a:p>
            <a:pPr algn="l">
              <a:lnSpc>
                <a:spcPct val="120000"/>
              </a:lnSpc>
              <a:spcAft>
                <a:spcPts val="600"/>
              </a:spcAft>
            </a:pPr>
            <a:r>
              <a:rPr sz="1400" lang="fr-FR">
                <a:solidFill>
                  <a:srgbClr val="161616"/>
                </a:solidFill>
                <a:latin typeface="Marianne"/>
              </a:rPr>
              <a:t>• </a:t>
            </a:r>
            <a:r>
              <a:rPr sz="1400" b="1" lang="fr-FR">
                <a:solidFill>
                  <a:srgbClr val="161616"/>
                </a:solidFill>
                <a:latin typeface="Marianne"/>
              </a:rPr>
              <a:t>P-13 [P]</a:t>
            </a:r>
            <a:r>
              <a:rPr sz="1400" b="0" lang="fr-FR">
                <a:solidFill>
                  <a:srgbClr val="161616"/>
                </a:solidFill>
                <a:latin typeface="Marianne"/>
              </a:rPr>
              <a:t> - Une information donnée par la couleur possède aussi un repère non coloré.</a:t>
            </a:r>
          </a:p>
          <a:p>
            <a:pPr algn="l">
              <a:lnSpc>
                <a:spcPct val="120000"/>
              </a:lnSpc>
              <a:spcAft>
                <a:spcPts val="600"/>
              </a:spcAft>
            </a:pPr>
            <a:r>
              <a:rPr sz="1400" lang="fr-FR">
                <a:solidFill>
                  <a:srgbClr val="161616"/>
                </a:solidFill>
                <a:latin typeface="Marianne"/>
              </a:rPr>
              <a:t>• </a:t>
            </a:r>
            <a:r>
              <a:rPr sz="1400" b="1" lang="fr-FR">
                <a:solidFill>
                  <a:srgbClr val="161616"/>
                </a:solidFill>
                <a:latin typeface="Marianne"/>
              </a:rPr>
              <a:t>P-14 [P]</a:t>
            </a:r>
            <a:r>
              <a:rPr sz="1400" b="0" lang="fr-FR">
                <a:solidFill>
                  <a:srgbClr val="161616"/>
                </a:solidFill>
                <a:latin typeface="Marianne"/>
              </a:rPr>
              <a:t> - Les tableaux de données sont simples, titrés et possèdent des en-têtes identifiés.</a:t>
            </a:r>
          </a:p>
        </p:txBody>
      </p:sp>
      <p:sp>
        <p:nvSpPr>
          <p:cNvPr id="13" name="DSFR-box"/>
          <p:cNvSpPr/>
          <p:nvPr/>
        </p:nvSpPr>
        <p:spPr>
          <a:xfrm>
            <a:off x="6313931" y="2103120"/>
            <a:ext cx="5390388" cy="4114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Régler langues et lisibilité</a:t>
            </a:r>
          </a:p>
        </p:txBody>
      </p:sp>
      <p:sp>
        <p:nvSpPr>
          <p:cNvPr id="15" name="DSFR-card-contenu"/>
          <p:cNvSpPr txBox="1"/>
          <p:nvPr/>
        </p:nvSpPr>
        <p:spPr>
          <a:xfrm>
            <a:off x="6469379" y="2697479"/>
            <a:ext cx="5097779" cy="3429000"/>
          </a:xfrm>
          <a:prstGeom prst="rect">
            <a:avLst/>
          </a:prstGeom>
          <a:noFill/>
        </p:spPr>
        <p:txBody>
          <a:bodyPr wrap="square" lIns="73152" rIns="73152">
            <a:spAutoFit/>
          </a:bodyPr>
          <a:lstStyle/>
          <a:p>
            <a:pPr algn="l">
              <a:lnSpc>
                <a:spcPct val="120000"/>
              </a:lnSpc>
              <a:spcAft>
                <a:spcPts val="600"/>
              </a:spcAft>
            </a:pPr>
            <a:r>
              <a:rPr sz="1400" lang="fr-FR">
                <a:solidFill>
                  <a:srgbClr val="161616"/>
                </a:solidFill>
                <a:latin typeface="Marianne"/>
              </a:rPr>
              <a:t>• </a:t>
            </a:r>
            <a:r>
              <a:rPr sz="1400" b="1" lang="fr-FR">
                <a:solidFill>
                  <a:srgbClr val="161616"/>
                </a:solidFill>
                <a:latin typeface="Marianne"/>
              </a:rPr>
              <a:t>P-15 [P]</a:t>
            </a:r>
            <a:r>
              <a:rPr sz="1400" b="0" lang="fr-FR">
                <a:solidFill>
                  <a:srgbClr val="161616"/>
                </a:solidFill>
                <a:latin typeface="Marianne"/>
              </a:rPr>
              <a:t> - La langue principale et les changements de langue sont correctement définis.</a:t>
            </a:r>
          </a:p>
          <a:p>
            <a:pPr algn="l">
              <a:lnSpc>
                <a:spcPct val="120000"/>
              </a:lnSpc>
              <a:spcAft>
                <a:spcPts val="600"/>
              </a:spcAft>
            </a:pPr>
            <a:r>
              <a:rPr sz="1400" lang="fr-FR">
                <a:solidFill>
                  <a:srgbClr val="161616"/>
                </a:solidFill>
                <a:latin typeface="Marianne"/>
              </a:rPr>
              <a:t>• </a:t>
            </a:r>
            <a:r>
              <a:rPr sz="1400" b="1" lang="fr-FR">
                <a:solidFill>
                  <a:srgbClr val="161616"/>
                </a:solidFill>
                <a:latin typeface="Marianne"/>
              </a:rPr>
              <a:t>P-16 [P]</a:t>
            </a:r>
            <a:r>
              <a:rPr sz="1400" b="0" lang="fr-FR">
                <a:solidFill>
                  <a:srgbClr val="161616"/>
                </a:solidFill>
                <a:latin typeface="Marianne"/>
              </a:rPr>
              <a:t> - Le corps utilise une police sans sérif, au moins 12 points, un interligne de 1,15 et un alignement à gauche.</a:t>
            </a:r>
          </a:p>
          <a:p>
            <a:pPr algn="l">
              <a:lnSpc>
                <a:spcPct val="120000"/>
              </a:lnSpc>
              <a:spcAft>
                <a:spcPts val="600"/>
              </a:spcAft>
            </a:pPr>
            <a:r>
              <a:rPr sz="1400" lang="fr-FR">
                <a:solidFill>
                  <a:srgbClr val="161616"/>
                </a:solidFill>
                <a:latin typeface="Marianne"/>
              </a:rPr>
              <a:t>• </a:t>
            </a:r>
            <a:r>
              <a:rPr sz="1400" b="1" lang="fr-FR">
                <a:solidFill>
                  <a:srgbClr val="161616"/>
                </a:solidFill>
                <a:latin typeface="Marianne"/>
              </a:rPr>
              <a:t>P-17 [P]</a:t>
            </a:r>
            <a:r>
              <a:rPr sz="1400" b="0" lang="fr-FR">
                <a:solidFill>
                  <a:srgbClr val="161616"/>
                </a:solidFill>
                <a:latin typeface="Marianne"/>
              </a:rPr>
              <a:t> - Les mots sont saisis normalement avec leurs accents avant toute mise en forme en majuscules.</a:t>
            </a:r>
          </a:p>
          <a:p>
            <a:pPr algn="l">
              <a:lnSpc>
                <a:spcPct val="120000"/>
              </a:lnSpc>
              <a:spcAft>
                <a:spcPts val="600"/>
              </a:spcAft>
            </a:pPr>
            <a:r>
              <a:rPr sz="1400" lang="fr-FR">
                <a:solidFill>
                  <a:srgbClr val="161616"/>
                </a:solidFill>
                <a:latin typeface="Marianne"/>
              </a:rPr>
              <a:t>• </a:t>
            </a:r>
            <a:r>
              <a:rPr sz="1400" b="1" lang="fr-FR">
                <a:solidFill>
                  <a:srgbClr val="161616"/>
                </a:solidFill>
                <a:latin typeface="Marianne"/>
              </a:rPr>
              <a:t>P-18 [P]</a:t>
            </a:r>
            <a:r>
              <a:rPr sz="1400" b="0" lang="fr-FR">
                <a:solidFill>
                  <a:srgbClr val="161616"/>
                </a:solidFill>
                <a:latin typeface="Marianne"/>
              </a:rPr>
              <a:t> - Les sigles sont développés à leur première occurrence et les majuscules sont vérifiées.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Checklist</a:t>
            </a:r>
          </a:p>
        </p:txBody>
      </p:sp>
      <p:sp>
        <p:nvSpPr>
          <p:cNvPr id="8" name="DSFR-accent-decoratif" descr=""/>
          <p:cNvSpPr/>
          <p:nvPr/>
        </p:nvSpPr>
        <p:spPr>
          <a:xfrm>
            <a:off x="475488" y="2103120"/>
            <a:ext cx="73152" cy="4114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4114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progressive - Station 5 et points signalés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79</a:t>
            </a:r>
            <a:endParaRPr lang="fr-FR" dirty="0"/>
          </a:p>
        </p:txBody>
      </p:sp>
      <p:sp>
        <p:nvSpPr>
          <p:cNvPr id="9" name="DSFR-box"/>
          <p:cNvSpPr/>
          <p:nvPr/>
        </p:nvSpPr>
        <p:spPr>
          <a:xfrm>
            <a:off x="548640" y="2103120"/>
            <a:ext cx="5390388" cy="4114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Finaliser, vérifier, exporter et contrôler</a:t>
            </a:r>
          </a:p>
        </p:txBody>
      </p:sp>
      <p:sp>
        <p:nvSpPr>
          <p:cNvPr id="11" name="DSFR-card-contenu"/>
          <p:cNvSpPr txBox="1"/>
          <p:nvPr/>
        </p:nvSpPr>
        <p:spPr>
          <a:xfrm>
            <a:off x="704088" y="2697479"/>
            <a:ext cx="5097779" cy="3429000"/>
          </a:xfrm>
          <a:prstGeom prst="rect">
            <a:avLst/>
          </a:prstGeom>
          <a:noFill/>
        </p:spPr>
        <p:txBody>
          <a:bodyPr wrap="square" lIns="73152" rIns="73152">
            <a:spAutoFit/>
          </a:bodyPr>
          <a:lstStyle/>
          <a:p>
            <a:pPr algn="l">
              <a:lnSpc>
                <a:spcPct val="120000"/>
              </a:lnSpc>
              <a:spcAft>
                <a:spcPts val="600"/>
              </a:spcAft>
            </a:pPr>
            <a:r>
              <a:rPr sz="1400" lang="fr-FR">
                <a:solidFill>
                  <a:srgbClr val="161616"/>
                </a:solidFill>
                <a:latin typeface="Marianne"/>
              </a:rPr>
              <a:t>• </a:t>
            </a:r>
            <a:r>
              <a:rPr sz="1400" b="1" lang="fr-FR">
                <a:solidFill>
                  <a:srgbClr val="161616"/>
                </a:solidFill>
                <a:latin typeface="Marianne"/>
              </a:rPr>
              <a:t>P-19 [P]</a:t>
            </a:r>
            <a:r>
              <a:rPr sz="1400" b="0" lang="fr-FR">
                <a:solidFill>
                  <a:srgbClr val="161616"/>
                </a:solidFill>
                <a:latin typeface="Marianne"/>
              </a:rPr>
              <a:t> - Le titre, l'auteur, la langue et le nom de fichier sont renseignés de façon descriptive.</a:t>
            </a:r>
          </a:p>
          <a:p>
            <a:pPr algn="l">
              <a:lnSpc>
                <a:spcPct val="120000"/>
              </a:lnSpc>
              <a:spcAft>
                <a:spcPts val="600"/>
              </a:spcAft>
            </a:pPr>
            <a:r>
              <a:rPr sz="1400" lang="fr-FR">
                <a:solidFill>
                  <a:srgbClr val="161616"/>
                </a:solidFill>
                <a:latin typeface="Marianne"/>
              </a:rPr>
              <a:t>• </a:t>
            </a:r>
            <a:r>
              <a:rPr sz="1400" b="1" lang="fr-FR">
                <a:solidFill>
                  <a:srgbClr val="161616"/>
                </a:solidFill>
                <a:latin typeface="Marianne"/>
              </a:rPr>
              <a:t>P-20 [P]</a:t>
            </a:r>
            <a:r>
              <a:rPr sz="1400" b="0" lang="fr-FR">
                <a:solidFill>
                  <a:srgbClr val="161616"/>
                </a:solidFill>
                <a:latin typeface="Marianne"/>
              </a:rPr>
              <a:t> - Le PDF est exporté avec ses propriétés, ses balises et ses signets.</a:t>
            </a:r>
          </a:p>
          <a:p>
            <a:pPr algn="l">
              <a:lnSpc>
                <a:spcPct val="120000"/>
              </a:lnSpc>
              <a:spcAft>
                <a:spcPts val="600"/>
              </a:spcAft>
            </a:pPr>
            <a:r>
              <a:rPr sz="1400" lang="fr-FR">
                <a:solidFill>
                  <a:srgbClr val="161616"/>
                </a:solidFill>
                <a:latin typeface="Marianne"/>
              </a:rPr>
              <a:t>• </a:t>
            </a:r>
            <a:r>
              <a:rPr sz="1400" b="1" lang="fr-FR">
                <a:solidFill>
                  <a:srgbClr val="161616"/>
                </a:solidFill>
                <a:latin typeface="Marianne"/>
              </a:rPr>
              <a:t>C-01 [C]</a:t>
            </a:r>
            <a:r>
              <a:rPr sz="1400" b="0" lang="fr-FR">
                <a:solidFill>
                  <a:srgbClr val="161616"/>
                </a:solidFill>
                <a:latin typeface="Marianne"/>
              </a:rPr>
              <a:t> - Le vérificateur a été exécuté, ses alertes pertinentes traitées et les alertes résiduelles expliquées.</a:t>
            </a:r>
          </a:p>
          <a:p>
            <a:pPr algn="l">
              <a:lnSpc>
                <a:spcPct val="120000"/>
              </a:lnSpc>
              <a:spcAft>
                <a:spcPts val="600"/>
              </a:spcAft>
            </a:pPr>
            <a:r>
              <a:rPr sz="1400" lang="fr-FR">
                <a:solidFill>
                  <a:srgbClr val="161616"/>
                </a:solidFill>
                <a:latin typeface="Marianne"/>
              </a:rPr>
              <a:t>• </a:t>
            </a:r>
            <a:r>
              <a:rPr sz="1400" b="1" lang="fr-FR">
                <a:solidFill>
                  <a:srgbClr val="161616"/>
                </a:solidFill>
                <a:latin typeface="Marianne"/>
              </a:rPr>
              <a:t>C-02 [C]</a:t>
            </a:r>
            <a:r>
              <a:rPr sz="1400" b="0" lang="fr-FR">
                <a:solidFill>
                  <a:srgbClr val="161616"/>
                </a:solidFill>
                <a:latin typeface="Marianne"/>
              </a:rPr>
              <a:t> - Le PDF a été contrôlé après export avec PAC ou Acrobat Pro puis avec la checklist humaine.</a:t>
            </a:r>
          </a:p>
        </p:txBody>
      </p:sp>
      <p:sp>
        <p:nvSpPr>
          <p:cNvPr id="13" name="DSFR-box"/>
          <p:cNvSpPr/>
          <p:nvPr/>
        </p:nvSpPr>
        <p:spPr>
          <a:xfrm>
            <a:off x="6313931" y="2103120"/>
            <a:ext cx="5390388" cy="4114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Contrôles signalés</a:t>
            </a:r>
          </a:p>
        </p:txBody>
      </p:sp>
      <p:sp>
        <p:nvSpPr>
          <p:cNvPr id="15" name="DSFR-card-contenu"/>
          <p:cNvSpPr txBox="1"/>
          <p:nvPr/>
        </p:nvSpPr>
        <p:spPr>
          <a:xfrm>
            <a:off x="6469379" y="2697479"/>
            <a:ext cx="5097779" cy="3429000"/>
          </a:xfrm>
          <a:prstGeom prst="rect">
            <a:avLst/>
          </a:prstGeom>
          <a:noFill/>
        </p:spPr>
        <p:txBody>
          <a:bodyPr wrap="square" lIns="73152" rIns="73152">
            <a:spAutoFit/>
          </a:bodyPr>
          <a:lstStyle/>
          <a:p>
            <a:pPr algn="l">
              <a:lnSpc>
                <a:spcPct val="120000"/>
              </a:lnSpc>
              <a:spcAft>
                <a:spcPts val="600"/>
              </a:spcAft>
            </a:pPr>
            <a:r>
              <a:rPr sz="1400" lang="fr-FR">
                <a:solidFill>
                  <a:srgbClr val="161616"/>
                </a:solidFill>
                <a:latin typeface="Marianne"/>
              </a:rPr>
              <a:t>• </a:t>
            </a:r>
            <a:r>
              <a:rPr sz="1400" b="1" lang="fr-FR">
                <a:solidFill>
                  <a:srgbClr val="161616"/>
                </a:solidFill>
                <a:latin typeface="Marianne"/>
              </a:rPr>
              <a:t>S-01 [S]</a:t>
            </a:r>
            <a:r>
              <a:rPr sz="1400" b="0" lang="fr-FR">
                <a:solidFill>
                  <a:srgbClr val="161616"/>
                </a:solidFill>
                <a:latin typeface="Marianne"/>
              </a:rPr>
              <a:t> - Le document n'est pas protégé lorsque sa modification doit rester possible.</a:t>
            </a:r>
          </a:p>
          <a:p>
            <a:pPr algn="l">
              <a:lnSpc>
                <a:spcPct val="120000"/>
              </a:lnSpc>
              <a:spcAft>
                <a:spcPts val="600"/>
              </a:spcAft>
            </a:pPr>
            <a:r>
              <a:rPr sz="1400" lang="fr-FR">
                <a:solidFill>
                  <a:srgbClr val="161616"/>
                </a:solidFill>
                <a:latin typeface="Marianne"/>
              </a:rPr>
              <a:t>• </a:t>
            </a:r>
            <a:r>
              <a:rPr sz="1400" b="1" lang="fr-FR">
                <a:solidFill>
                  <a:srgbClr val="161616"/>
                </a:solidFill>
                <a:latin typeface="Marianne"/>
              </a:rPr>
              <a:t>S-02 [S]</a:t>
            </a:r>
            <a:r>
              <a:rPr sz="1400" b="0" lang="fr-FR">
                <a:solidFill>
                  <a:srgbClr val="161616"/>
                </a:solidFill>
                <a:latin typeface="Marianne"/>
              </a:rPr>
              <a:t> - Le document ne contient aucun contenu clignotant.</a:t>
            </a:r>
          </a:p>
          <a:p>
            <a:pPr algn="l">
              <a:lnSpc>
                <a:spcPct val="120000"/>
              </a:lnSpc>
              <a:spcAft>
                <a:spcPts val="600"/>
              </a:spcAft>
            </a:pPr>
            <a:r>
              <a:rPr sz="1400" lang="fr-FR">
                <a:solidFill>
                  <a:srgbClr val="161616"/>
                </a:solidFill>
                <a:latin typeface="Marianne"/>
              </a:rPr>
              <a:t>• </a:t>
            </a:r>
            <a:r>
              <a:rPr sz="1400" b="1" lang="fr-FR">
                <a:solidFill>
                  <a:srgbClr val="161616"/>
                </a:solidFill>
                <a:latin typeface="Marianne"/>
              </a:rPr>
              <a:t>S-03 [S]</a:t>
            </a:r>
            <a:r>
              <a:rPr sz="1400" b="0" lang="fr-FR">
                <a:solidFill>
                  <a:srgbClr val="161616"/>
                </a:solidFill>
                <a:latin typeface="Marianne"/>
              </a:rPr>
              <a:t> - Le document ne contient pas de formulaire Word interactif.</a:t>
            </a:r>
          </a:p>
          <a:p>
            <a:pPr algn="l">
              <a:lnSpc>
                <a:spcPct val="120000"/>
              </a:lnSpc>
              <a:spcAft>
                <a:spcPts val="600"/>
              </a:spcAft>
            </a:pPr>
            <a:r>
              <a:rPr sz="1400" lang="fr-FR">
                <a:solidFill>
                  <a:srgbClr val="161616"/>
                </a:solidFill>
                <a:latin typeface="Marianne"/>
              </a:rPr>
              <a:t>• </a:t>
            </a:r>
            <a:r>
              <a:rPr sz="1400" b="1" lang="fr-FR">
                <a:solidFill>
                  <a:srgbClr val="161616"/>
                </a:solidFill>
                <a:latin typeface="Marianne"/>
              </a:rPr>
              <a:t>S-04 [S]</a:t>
            </a:r>
            <a:r>
              <a:rPr sz="1400" b="0" lang="fr-FR">
                <a:solidFill>
                  <a:srgbClr val="161616"/>
                </a:solidFill>
                <a:latin typeface="Marianne"/>
              </a:rPr>
              <a:t> - Les objets et zones de texte flottants ne portent aucune information essentielle.</a:t>
            </a:r>
          </a:p>
          <a:p>
            <a:pPr algn="l">
              <a:lnSpc>
                <a:spcPct val="120000"/>
              </a:lnSpc>
              <a:spcAft>
                <a:spcPts val="600"/>
              </a:spcAft>
            </a:pPr>
            <a:r>
              <a:rPr sz="1400" lang="fr-FR">
                <a:solidFill>
                  <a:srgbClr val="161616"/>
                </a:solidFill>
                <a:latin typeface="Marianne"/>
              </a:rPr>
              <a:t>• </a:t>
            </a:r>
            <a:r>
              <a:rPr sz="1400" b="1" lang="fr-FR">
                <a:solidFill>
                  <a:srgbClr val="161616"/>
                </a:solidFill>
                <a:latin typeface="Marianne"/>
              </a:rPr>
              <a:t>S-05 [S]</a:t>
            </a:r>
            <a:r>
              <a:rPr sz="1400" b="0" lang="fr-FR">
                <a:solidFill>
                  <a:srgbClr val="161616"/>
                </a:solidFill>
                <a:latin typeface="Marianne"/>
              </a:rPr>
              <a:t> - Les tableaux ne servent pas à la mise en page et ne sont pas flottants.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Checklist</a:t>
            </a:r>
          </a:p>
        </p:txBody>
      </p:sp>
      <p:sp>
        <p:nvSpPr>
          <p:cNvPr id="8" name="DSFR-accent-decoratif" descr=""/>
          <p:cNvSpPr/>
          <p:nvPr/>
        </p:nvSpPr>
        <p:spPr>
          <a:xfrm>
            <a:off x="475488" y="2103120"/>
            <a:ext cx="73152" cy="4114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4114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Synthèse de la matinée - de l'intention à la preuve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Matin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80</a:t>
            </a:r>
            <a:endParaRPr lang="fr-FR" dirty="0"/>
          </a:p>
        </p:txBody>
      </p:sp>
      <p:sp>
        <p:nvSpPr>
          <p:cNvPr id="9" name="DSFR-box"/>
          <p:cNvSpPr/>
          <p:nvPr/>
        </p:nvSpPr>
        <p:spPr>
          <a:xfrm>
            <a:off x="548640" y="2103120"/>
            <a:ext cx="5390388" cy="24231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nous retenons</a:t>
            </a:r>
          </a:p>
        </p:txBody>
      </p:sp>
      <p:sp>
        <p:nvSpPr>
          <p:cNvPr id="11" name="DSFR-card-contenu"/>
          <p:cNvSpPr txBox="1"/>
          <p:nvPr/>
        </p:nvSpPr>
        <p:spPr>
          <a:xfrm>
            <a:off x="704088" y="2697479"/>
            <a:ext cx="5097779" cy="17373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L'environnement peut créer ou supprimer une situation de handicap</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La structure et le sens comptent autant que l'apparence</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Une correction doit produire une preuve vérifiable</a:t>
            </a:r>
          </a:p>
        </p:txBody>
      </p:sp>
      <p:sp>
        <p:nvSpPr>
          <p:cNvPr id="13" name="DSFR-box"/>
          <p:cNvSpPr/>
          <p:nvPr/>
        </p:nvSpPr>
        <p:spPr>
          <a:xfrm>
            <a:off x="6313931" y="2103120"/>
            <a:ext cx="5390388" cy="24231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Questions et transition</a:t>
            </a:r>
          </a:p>
        </p:txBody>
      </p:sp>
      <p:sp>
        <p:nvSpPr>
          <p:cNvPr id="15" name="DSFR-card-contenu"/>
          <p:cNvSpPr txBox="1"/>
          <p:nvPr/>
        </p:nvSpPr>
        <p:spPr>
          <a:xfrm>
            <a:off x="6469379" y="2697479"/>
            <a:ext cx="5097779" cy="17373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Quel réflexe allez-vous réutiliser dans votre prochain document ?</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Quel point demande encore une clarification ?</a:t>
            </a:r>
          </a:p>
          <a:p>
            <a:pPr algn="l">
              <a:lnSpc>
                <a:spcPct val="130000"/>
              </a:lnSpc>
              <a:spcAft>
                <a:spcPts val="1000"/>
              </a:spcAft>
            </a:pPr>
            <a:r>
              <a:rPr sz="1400" lang="fr-FR">
                <a:solidFill>
                  <a:srgbClr val="161616"/>
                </a:solidFill>
                <a:latin typeface="Marianne"/>
              </a:rPr>
              <a:t>• </a:t>
            </a:r>
            <a:r>
              <a:rPr sz="1400" b="0" lang="fr-FR">
                <a:solidFill>
                  <a:srgbClr val="161616"/>
                </a:solidFill>
                <a:latin typeface="Marianne"/>
              </a:rPr>
              <a:t>Après les documents, nous appliquerons la même démarche au Web</a:t>
            </a:r>
          </a:p>
        </p:txBody>
      </p:sp>
      <p:sp>
        <p:nvSpPr>
          <p:cNvPr id="17" name="DSFR-box"/>
          <p:cNvSpPr/>
          <p:nvPr/>
        </p:nvSpPr>
        <p:spPr>
          <a:xfrm>
            <a:off x="548640" y="48920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98347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Structurer, rendre compréhensible, vérifier avec les outils, puis contrôler humainement.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Synthèse de la matinée</a:t>
            </a:r>
          </a:p>
        </p:txBody>
      </p:sp>
      <p:sp>
        <p:nvSpPr>
          <p:cNvPr id="8" name="DSFR-accent-decoratif" descr=""/>
          <p:cNvSpPr/>
          <p:nvPr/>
        </p:nvSpPr>
        <p:spPr>
          <a:xfrm>
            <a:off x="475488" y="2103120"/>
            <a:ext cx="73152" cy="2423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23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920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Partie III - Web accessible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Partie III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81</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Repérer les erreurs fréquentes</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les images et les titres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Contrôler les contrastes, les liens et le clavier</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Tester la langue, le zoom et les médias</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Examiner les formulaires et réaliser un audit rapide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Partie III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82</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WebAIM analyse automatiquement les pages d’accueil : c’est un thermomètre, pas un audit RGAA complet.</a:t>
            </a:r>
          </a:p>
          <a:p>
            <a:pPr algn="l">
              <a:lnSpc>
                <a:spcPct val="115000"/>
              </a:lnSpc>
            </a:pPr>
            <a:r>
              <a:rPr sz="1400" lang="fr-FR">
                <a:solidFill>
                  <a:srgbClr val="161616"/>
                </a:solidFill>
                <a:latin typeface="Marianne"/>
              </a:rPr>
              <a:t>• </a:t>
            </a:r>
            <a:r>
              <a:rPr sz="1400" b="0" lang="fr-FR">
                <a:solidFill>
                  <a:srgbClr val="161616"/>
                </a:solidFill>
                <a:latin typeface="Marianne"/>
              </a:rPr>
              <a:t>L’absence d’erreur détectée ne prouve pas qu’une page est accessible.</a:t>
            </a:r>
          </a:p>
          <a:p>
            <a:pPr algn="l">
              <a:lnSpc>
                <a:spcPct val="115000"/>
              </a:lnSpc>
            </a:pPr>
            <a:r>
              <a:rPr sz="1400" lang="fr-FR">
                <a:solidFill>
                  <a:srgbClr val="161616"/>
                </a:solidFill>
                <a:latin typeface="Marianne"/>
              </a:rPr>
              <a:t>• </a:t>
            </a:r>
            <a:r>
              <a:rPr sz="1400" b="0" lang="fr-FR">
                <a:solidFill>
                  <a:srgbClr val="161616"/>
                </a:solidFill>
                <a:latin typeface="Marianne"/>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WebAIM</a:t>
            </a:r>
          </a:p>
        </p:txBody>
      </p:sp>
      <p:sp>
        <p:nvSpPr>
          <p:cNvPr id="14" name="DSFR-accent-decoratif" descr=""/>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83</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Marianne"/>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Marianne"/>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a:t>
                      </a:r>
                    </a:p>
                  </a:txBody>
                  <a:tcPr marL="91440" marR="91440" marT="45720" marB="45720">
                    <a:solidFill>
                      <a:srgbClr val="F5F5FE"/>
                    </a:solidFill>
                  </a:tcPr>
                </a:tc>
              </a:tr>
            </a:tbl>
          </a:graphicData>
        </a:graphic>
      </p:graphicFrame>
      <p:sp>
        <p:nvSpPr>
          <p:cNvPr id="10" name="DSFR-box"/>
          <p:cNvSpPr/>
          <p:nvPr/>
        </p:nvSpPr>
        <p:spPr>
          <a:xfrm>
            <a:off x="548640" y="480060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retenir</a:t>
            </a:r>
          </a:p>
        </p:txBody>
      </p:sp>
      <p:sp>
        <p:nvSpPr>
          <p:cNvPr id="12" name="DSFR-callout-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Ces six familles représentent 96 % des erreurs détectées par WebAIM.</a:t>
            </a:r>
          </a:p>
          <a:p>
            <a:pPr algn="l">
              <a:lnSpc>
                <a:spcPct val="115000"/>
              </a:lnSpc>
            </a:pPr>
            <a:r>
              <a:rPr sz="1400" lang="fr-FR">
                <a:solidFill>
                  <a:srgbClr val="161616"/>
                </a:solidFill>
                <a:latin typeface="Marianne"/>
              </a:rPr>
              <a:t>• </a:t>
            </a:r>
            <a:r>
              <a:rPr sz="1400" b="0" lang="fr-FR">
                <a:solidFill>
                  <a:srgbClr val="161616"/>
                </a:solidFill>
                <a:latin typeface="Marianne"/>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WebAIM</a:t>
            </a:r>
          </a:p>
        </p:txBody>
      </p:sp>
      <p:sp>
        <p:nvSpPr>
          <p:cNvPr id="9"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85</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Concis : une phrase courte, centrée sur l’information utile</a:t>
            </a:r>
          </a:p>
          <a:p>
            <a:pPr algn="l">
              <a:lnSpc>
                <a:spcPct val="125000"/>
              </a:lnSpc>
            </a:pPr>
            <a:r>
              <a:rPr sz="1400" lang="fr-FR">
                <a:solidFill>
                  <a:srgbClr val="161616"/>
                </a:solidFill>
                <a:latin typeface="Marianne"/>
              </a:rPr>
              <a:t>• </a:t>
            </a:r>
            <a:r>
              <a:rPr sz="1400" b="0" lang="fr-FR">
                <a:solidFill>
                  <a:srgbClr val="161616"/>
                </a:solidFill>
                <a:latin typeface="Marianne"/>
              </a:rPr>
              <a:t>Objectif : décrit, ne commente pas</a:t>
            </a:r>
          </a:p>
          <a:p>
            <a:pPr algn="l">
              <a:lnSpc>
                <a:spcPct val="125000"/>
              </a:lnSpc>
            </a:pPr>
            <a:r>
              <a:rPr sz="1400" lang="fr-FR">
                <a:solidFill>
                  <a:srgbClr val="161616"/>
                </a:solidFill>
                <a:latin typeface="Marianne"/>
              </a:rPr>
              <a:t>• </a:t>
            </a:r>
            <a:r>
              <a:rPr sz="1400" b="0" lang="fr-FR">
                <a:solidFill>
                  <a:srgbClr val="161616"/>
                </a:solidFill>
                <a:latin typeface="Marianne"/>
              </a:rPr>
              <a:t>Pas de « photo de » ni « image de » - le lecteur d’écran le dit déjà</a:t>
            </a:r>
          </a:p>
          <a:p>
            <a:pPr algn="l">
              <a:lnSpc>
                <a:spcPct val="125000"/>
              </a:lnSpc>
            </a:pPr>
            <a:r>
              <a:rPr sz="1400" lang="fr-FR">
                <a:solidFill>
                  <a:srgbClr val="161616"/>
                </a:solidFill>
                <a:latin typeface="Marianne"/>
              </a:rPr>
              <a:t>• </a:t>
            </a:r>
            <a:r>
              <a:rPr sz="1400" b="0" lang="fr-FR">
                <a:solidFill>
                  <a:srgbClr val="161616"/>
                </a:solidFill>
                <a:latin typeface="Marianne"/>
              </a:rPr>
              <a:t>Contextuel : ce qui compte dans cette page, pas tout ce qui est visible</a:t>
            </a:r>
          </a:p>
          <a:p>
            <a:pPr algn="l">
              <a:lnSpc>
                <a:spcPct val="125000"/>
              </a:lnSpc>
            </a:pPr>
            <a:r>
              <a:rPr sz="1400" lang="fr-FR">
                <a:solidFill>
                  <a:srgbClr val="161616"/>
                </a:solidFill>
                <a:latin typeface="Marianne"/>
              </a:rPr>
              <a:t>• </a:t>
            </a:r>
            <a:r>
              <a:rPr sz="1400" b="0" lang="fr-FR">
                <a:solidFill>
                  <a:srgbClr val="161616"/>
                </a:solidFill>
                <a:latin typeface="Marianne"/>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nom de fichier (IMG_4578.jpg) en guise de texte alternatif = information perdue</a:t>
            </a:r>
          </a:p>
          <a:p>
            <a:pPr algn="l">
              <a:lnSpc>
                <a:spcPct val="150000"/>
              </a:lnSpc>
            </a:pPr>
            <a:r>
              <a:rPr sz="1400" lang="fr-FR">
                <a:solidFill>
                  <a:srgbClr val="161616"/>
                </a:solidFill>
                <a:latin typeface="Marianne"/>
              </a:rPr>
              <a:t>• </a:t>
            </a:r>
            <a:r>
              <a:rPr sz="1400" b="0" lang="fr-FR">
                <a:solidFill>
                  <a:srgbClr val="161616"/>
                </a:solidFill>
                <a:latin typeface="Marianne"/>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86</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Marianne"/>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Marianne"/>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Texte alternatif des images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page a un titre unique, différent des autres pages du site</a:t>
            </a:r>
          </a:p>
          <a:p>
            <a:pPr algn="l">
              <a:lnSpc>
                <a:spcPct val="125000"/>
              </a:lnSpc>
            </a:pPr>
            <a:r>
              <a:rPr sz="1400" lang="fr-FR">
                <a:solidFill>
                  <a:srgbClr val="161616"/>
                </a:solidFill>
                <a:latin typeface="Marianne"/>
              </a:rPr>
              <a:t>• </a:t>
            </a:r>
            <a:r>
              <a:rPr sz="1400" b="0" lang="fr-FR">
                <a:solidFill>
                  <a:srgbClr val="161616"/>
                </a:solidFill>
                <a:latin typeface="Marianne"/>
              </a:rPr>
              <a:t>Le titre décrit le contenu puis le nom du site (« Déclarer - impots.gouv.fr »)</a:t>
            </a:r>
          </a:p>
          <a:p>
            <a:pPr algn="l">
              <a:lnSpc>
                <a:spcPct val="125000"/>
              </a:lnSpc>
            </a:pPr>
            <a:r>
              <a:rPr sz="1400" lang="fr-FR">
                <a:solidFill>
                  <a:srgbClr val="161616"/>
                </a:solidFill>
                <a:latin typeface="Marianne"/>
              </a:rPr>
              <a:t>• </a:t>
            </a:r>
            <a:r>
              <a:rPr sz="1400" b="0" lang="fr-FR">
                <a:solidFill>
                  <a:srgbClr val="161616"/>
                </a:solidFill>
                <a:latin typeface="Marianne"/>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OK : « Résultats de recherche : accessibilité - Ministère de la Culture »</a:t>
            </a:r>
          </a:p>
          <a:p>
            <a:pPr algn="l">
              <a:lnSpc>
                <a:spcPct val="150000"/>
              </a:lnSpc>
            </a:pPr>
            <a:r>
              <a:rPr sz="1400" lang="fr-FR">
                <a:solidFill>
                  <a:srgbClr val="161616"/>
                </a:solidFill>
                <a:latin typeface="Marianne"/>
              </a:rPr>
              <a:t>• </a:t>
            </a:r>
            <a:r>
              <a:rPr sz="1400" b="0" lang="fr-FR">
                <a:solidFill>
                  <a:srgbClr val="161616"/>
                </a:solidFill>
                <a:latin typeface="Marianne"/>
              </a:rPr>
              <a:t>KO : « Accueil » sur chaque page du site</a:t>
            </a:r>
          </a:p>
          <a:p>
            <a:pPr algn="l">
              <a:lnSpc>
                <a:spcPct val="150000"/>
              </a:lnSpc>
            </a:pPr>
            <a:r>
              <a:rPr sz="1400" lang="fr-FR">
                <a:solidFill>
                  <a:srgbClr val="161616"/>
                </a:solidFill>
                <a:latin typeface="Marianne"/>
              </a:rPr>
              <a:t>• </a:t>
            </a:r>
            <a:r>
              <a:rPr sz="1400" b="0" lang="fr-FR">
                <a:solidFill>
                  <a:srgbClr val="161616"/>
                </a:solidFill>
                <a:latin typeface="Marianne"/>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Un seul H1 par page, qui reprend le sujet principal</a:t>
            </a:r>
          </a:p>
          <a:p>
            <a:pPr algn="l">
              <a:lnSpc>
                <a:spcPct val="125000"/>
              </a:lnSpc>
            </a:pPr>
            <a:r>
              <a:rPr sz="1400" lang="fr-FR">
                <a:solidFill>
                  <a:srgbClr val="161616"/>
                </a:solidFill>
                <a:latin typeface="Marianne"/>
              </a:rPr>
              <a:t>• </a:t>
            </a:r>
            <a:r>
              <a:rPr sz="1400" b="0" lang="fr-FR">
                <a:solidFill>
                  <a:srgbClr val="161616"/>
                </a:solidFill>
                <a:latin typeface="Marianne"/>
              </a:rPr>
              <a:t>Les niveaux s’emboîtent sans saut : H1 → H2 → H3, jamais H2 → H4</a:t>
            </a:r>
          </a:p>
          <a:p>
            <a:pPr algn="l">
              <a:lnSpc>
                <a:spcPct val="125000"/>
              </a:lnSpc>
            </a:pPr>
            <a:r>
              <a:rPr sz="1400" lang="fr-FR">
                <a:solidFill>
                  <a:srgbClr val="161616"/>
                </a:solidFill>
                <a:latin typeface="Marianne"/>
              </a:rPr>
              <a:t>• </a:t>
            </a:r>
            <a:r>
              <a:rPr sz="1400" b="0" lang="fr-FR">
                <a:solidFill>
                  <a:srgbClr val="161616"/>
                </a:solidFill>
                <a:latin typeface="Marianne"/>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89</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Marianne"/>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Marianne"/>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Marianne"/>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Marianne"/>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Titres et hiérarchie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rapport entre la couleur du texte et celle du fond (ou l’arrière-plan visible)</a:t>
            </a:r>
          </a:p>
          <a:p>
            <a:pPr algn="l">
              <a:lnSpc>
                <a:spcPct val="125000"/>
              </a:lnSpc>
            </a:pPr>
            <a:r>
              <a:rPr sz="1400" lang="fr-FR">
                <a:solidFill>
                  <a:srgbClr val="161616"/>
                </a:solidFill>
                <a:latin typeface="Marianne"/>
              </a:rPr>
              <a:t>• </a:t>
            </a:r>
            <a:r>
              <a:rPr sz="1400" b="0" lang="fr-FR">
                <a:solidFill>
                  <a:srgbClr val="161616"/>
                </a:solidFill>
                <a:latin typeface="Marianne"/>
              </a:rPr>
              <a:t>Sur un dégradé ou une image, mesurer à l’endroit le moins contrasté</a:t>
            </a:r>
          </a:p>
          <a:p>
            <a:pPr algn="l">
              <a:lnSpc>
                <a:spcPct val="125000"/>
              </a:lnSpc>
            </a:pPr>
            <a:r>
              <a:rPr sz="1400" lang="fr-FR">
                <a:solidFill>
                  <a:srgbClr val="161616"/>
                </a:solidFill>
                <a:latin typeface="Marianne"/>
              </a:rPr>
              <a:t>• </a:t>
            </a:r>
            <a:r>
              <a:rPr sz="1400" b="0" lang="fr-FR">
                <a:solidFill>
                  <a:srgbClr val="161616"/>
                </a:solidFill>
                <a:latin typeface="Marianne"/>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91</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Marianne"/>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Marianne"/>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Marianne"/>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Marianne"/>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Texte gris clair sur fond blanc (#999 sur #FFF) : 2,85:1 - échec même en texte large</a:t>
            </a:r>
          </a:p>
          <a:p>
            <a:pPr algn="l">
              <a:lnSpc>
                <a:spcPct val="150000"/>
              </a:lnSpc>
            </a:pPr>
            <a:r>
              <a:rPr sz="1400" lang="fr-FR">
                <a:solidFill>
                  <a:srgbClr val="161616"/>
                </a:solidFill>
                <a:latin typeface="Marianne"/>
              </a:rPr>
              <a:t>• </a:t>
            </a:r>
            <a:r>
              <a:rPr sz="1400" b="0" lang="fr-FR">
                <a:solidFill>
                  <a:srgbClr val="161616"/>
                </a:solidFill>
                <a:latin typeface="Marianne"/>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92</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premier lien interactif permet d’aller directement au contenu principal</a:t>
            </a:r>
          </a:p>
          <a:p>
            <a:pPr algn="l">
              <a:lnSpc>
                <a:spcPct val="125000"/>
              </a:lnSpc>
            </a:pPr>
            <a:r>
              <a:rPr sz="1400" lang="fr-FR">
                <a:solidFill>
                  <a:srgbClr val="161616"/>
                </a:solidFill>
                <a:latin typeface="Marianne"/>
              </a:rPr>
              <a:t>• </a:t>
            </a:r>
            <a:r>
              <a:rPr sz="1400" b="0" lang="fr-FR">
                <a:solidFill>
                  <a:srgbClr val="161616"/>
                </a:solidFill>
                <a:latin typeface="Marianne"/>
              </a:rPr>
              <a:t>Il devient visible dès qu’il a le focus, même s’il était masqué</a:t>
            </a:r>
          </a:p>
          <a:p>
            <a:pPr algn="l">
              <a:lnSpc>
                <a:spcPct val="125000"/>
              </a:lnSpc>
            </a:pPr>
            <a:r>
              <a:rPr sz="1400" lang="fr-FR">
                <a:solidFill>
                  <a:srgbClr val="161616"/>
                </a:solidFill>
                <a:latin typeface="Marianne"/>
              </a:rPr>
              <a:t>• </a:t>
            </a:r>
            <a:r>
              <a:rPr sz="1400" b="0" lang="fr-FR">
                <a:solidFill>
                  <a:srgbClr val="161616"/>
                </a:solidFill>
                <a:latin typeface="Marianne"/>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gouvernement.fr et appuyez Tab : le lien « Contenu » apparaît en haut</a:t>
            </a:r>
          </a:p>
          <a:p>
            <a:pPr algn="l">
              <a:lnSpc>
                <a:spcPct val="150000"/>
              </a:lnSpc>
            </a:pPr>
            <a:r>
              <a:rPr sz="1400" lang="fr-FR">
                <a:solidFill>
                  <a:srgbClr val="161616"/>
                </a:solidFill>
                <a:latin typeface="Marianne"/>
              </a:rPr>
              <a:t>• </a:t>
            </a:r>
            <a:r>
              <a:rPr sz="1400" b="0" lang="fr-FR">
                <a:solidFill>
                  <a:srgbClr val="161616"/>
                </a:solidFill>
                <a:latin typeface="Marianne"/>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Utiliser 5 touches pour tester n’importe quelle page</a:t>
            </a:r>
          </a:p>
          <a:p>
            <a:pPr algn="l">
              <a:lnSpc>
                <a:spcPct val="125000"/>
              </a:lnSpc>
            </a:pPr>
            <a:r>
              <a:rPr sz="1400" lang="fr-FR">
                <a:solidFill>
                  <a:srgbClr val="161616"/>
                </a:solidFill>
                <a:latin typeface="Marianne"/>
              </a:rPr>
              <a:t>• </a:t>
            </a:r>
            <a:r>
              <a:rPr sz="1400" b="0" lang="fr-FR">
                <a:solidFill>
                  <a:srgbClr val="161616"/>
                </a:solidFill>
                <a:latin typeface="Marianne"/>
              </a:rPr>
              <a:t>Repérer 3 signaux qui trahissent un défaut d’accessibilité</a:t>
            </a:r>
          </a:p>
          <a:p>
            <a:pPr algn="l">
              <a:lnSpc>
                <a:spcPct val="125000"/>
              </a:lnSpc>
            </a:pPr>
            <a:r>
              <a:rPr sz="1400" lang="fr-FR">
                <a:solidFill>
                  <a:srgbClr val="161616"/>
                </a:solidFill>
                <a:latin typeface="Marianne"/>
              </a:rPr>
              <a:t>• </a:t>
            </a:r>
            <a:r>
              <a:rPr sz="1400" b="0" lang="fr-FR">
                <a:solidFill>
                  <a:srgbClr val="161616"/>
                </a:solidFill>
                <a:latin typeface="Marianne"/>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Marianne"/>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Marianne"/>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95</a:t>
            </a:r>
            <a:endParaRPr lang="fr-FR" dirty="0"/>
          </a:p>
        </p:txBody>
      </p:sp>
      <p:sp>
        <p:nvSpPr>
          <p:cNvPr id="9" name="DSFR-box"/>
          <p:cNvSpPr/>
          <p:nvPr/>
        </p:nvSpPr>
        <p:spPr>
          <a:xfrm>
            <a:off x="54864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140817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Marianne"/>
              </a:rPr>
              <a:t>Le focus disparaît</a:t>
            </a:r>
          </a:p>
        </p:txBody>
      </p:sp>
      <p:sp>
        <p:nvSpPr>
          <p:cNvPr id="12" name="DSFR-card-contenu"/>
          <p:cNvSpPr txBox="1"/>
          <p:nvPr/>
        </p:nvSpPr>
        <p:spPr>
          <a:xfrm>
            <a:off x="70408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Marianne"/>
              </a:rPr>
              <a:t>Plus de contour visible pendant la tabulation. L’utilisateur est perdu dès la 3ᵉ touche Tab.</a:t>
            </a:r>
          </a:p>
        </p:txBody>
      </p:sp>
      <p:sp>
        <p:nvSpPr>
          <p:cNvPr id="14" name="DSFR-box"/>
          <p:cNvSpPr/>
          <p:nvPr/>
        </p:nvSpPr>
        <p:spPr>
          <a:xfrm>
            <a:off x="438912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524865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Marianne"/>
              </a:rPr>
              <a:t>L’ordre est illogique</a:t>
            </a:r>
          </a:p>
        </p:txBody>
      </p:sp>
      <p:sp>
        <p:nvSpPr>
          <p:cNvPr id="17" name="DSFR-card-contenu"/>
          <p:cNvSpPr txBox="1"/>
          <p:nvPr/>
        </p:nvSpPr>
        <p:spPr>
          <a:xfrm>
            <a:off x="454456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Marianne"/>
              </a:rPr>
              <a:t>Le focus saute à droite avant le menu à gauche. Le lecteur d’écran parcourt la page dans le désordre.</a:t>
            </a:r>
          </a:p>
        </p:txBody>
      </p:sp>
      <p:sp>
        <p:nvSpPr>
          <p:cNvPr id="19" name="DSFR-box"/>
          <p:cNvSpPr/>
          <p:nvPr/>
        </p:nvSpPr>
        <p:spPr>
          <a:xfrm>
            <a:off x="822960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908913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Marianne"/>
              </a:rPr>
              <a:t>L’état n’est pas annoncé</a:t>
            </a:r>
          </a:p>
        </p:txBody>
      </p:sp>
      <p:sp>
        <p:nvSpPr>
          <p:cNvPr id="22" name="DSFR-card-contenu"/>
          <p:cNvSpPr txBox="1"/>
          <p:nvPr/>
        </p:nvSpPr>
        <p:spPr>
          <a:xfrm>
            <a:off x="838504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Marianne"/>
              </a:rPr>
              <a:t>Une case qui coche sans dire « coché ». L’information est invisible pour qui ne voit pas l’écran.</a:t>
            </a:r>
          </a:p>
        </p:txBody>
      </p:sp>
      <p:pic>
        <p:nvPicPr>
          <p:cNvPr id="23" name="DSFR-qrcode" descr="QR code : https://alexandra-guiderdoni.github.io/tp-fabrication-igpde-102846-ay11/"/>
          <p:cNvPicPr>
            <a:picLocks noChangeAspect="1"/>
          </p:cNvPicPr>
          <p:nvPr/>
        </p:nvPicPr>
        <p:blipFill>
          <a:blip r:embed="rId2"/>
          <a:stretch>
            <a:fillRect/>
          </a:stretch>
        </p:blipFill>
        <p:spPr>
          <a:xfrm>
            <a:off x="475488" y="4663440"/>
            <a:ext cx="1005840" cy="1005840"/>
          </a:xfrm>
          <a:prstGeom prst="rect">
            <a:avLst/>
          </a:prstGeom>
        </p:spPr>
      </p:pic>
      <p:sp>
        <p:nvSpPr>
          <p:cNvPr id="24" name="DSFR-qrcode-cta"/>
          <p:cNvSpPr txBox="1"/>
          <p:nvPr/>
        </p:nvSpPr>
        <p:spPr>
          <a:xfrm>
            <a:off x="1609344" y="4736592"/>
            <a:ext cx="1009497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5" name="DSFR-qrcode-url-visible"/>
          <p:cNvSpPr txBox="1"/>
          <p:nvPr/>
        </p:nvSpPr>
        <p:spPr>
          <a:xfrm>
            <a:off x="1609344" y="5029200"/>
            <a:ext cx="10094976" cy="731520"/>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Marianne"/>
                <a:hlinkClick r:id="rId3"/>
              </a:rPr>
              <a:t>https://alexandra-guiderdoni.github.io/tp-fabrication-igpde-102846-ay11/</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10" name="DSFR-card-numero"/>
          <p:cNvSpPr/>
          <p:nvPr/>
        </p:nvSpPr>
        <p:spPr>
          <a:xfrm>
            <a:off x="70408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Marianne"/>
              </a:rPr>
              <a:t>1</a:t>
            </a:r>
          </a:p>
        </p:txBody>
      </p:sp>
      <p:sp>
        <p:nvSpPr>
          <p:cNvPr id="15" name="DSFR-card-numero"/>
          <p:cNvSpPr/>
          <p:nvPr/>
        </p:nvSpPr>
        <p:spPr>
          <a:xfrm>
            <a:off x="454456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Marianne"/>
              </a:rPr>
              <a:t>2</a:t>
            </a:r>
          </a:p>
        </p:txBody>
      </p:sp>
      <p:sp>
        <p:nvSpPr>
          <p:cNvPr id="20" name="DSFR-card-numero"/>
          <p:cNvSpPr/>
          <p:nvPr/>
        </p:nvSpPr>
        <p:spPr>
          <a:xfrm>
            <a:off x="838504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Marianne"/>
              </a:rPr>
              <a:t>3</a:t>
            </a:r>
          </a:p>
        </p:txBody>
      </p:sp>
      <p:sp>
        <p:nvSpPr>
          <p:cNvPr id="8" name="DSFR-accent-decoratif" descr=""/>
          <p:cNvSpPr/>
          <p:nvPr/>
        </p:nvSpPr>
        <p:spPr>
          <a:xfrm>
            <a:off x="47548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96</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Site d’entraînement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Cachez votre souris derrière l’écran</a:t>
            </a:r>
          </a:p>
          <a:p>
            <a:pPr algn="l">
              <a:lnSpc>
                <a:spcPct val="125000"/>
              </a:lnSpc>
            </a:pPr>
            <a:r>
              <a:rPr sz="1400" lang="fr-FR">
                <a:solidFill>
                  <a:srgbClr val="161616"/>
                </a:solidFill>
                <a:latin typeface="Marianne"/>
              </a:rPr>
              <a:t>• </a:t>
            </a:r>
            <a:r>
              <a:rPr sz="1400" b="0" lang="fr-FR">
                <a:solidFill>
                  <a:srgbClr val="161616"/>
                </a:solidFill>
                <a:latin typeface="Marianne"/>
              </a:rPr>
              <a:t>Tabulez 10 fois et notez chaque fois que le focus disparaît</a:t>
            </a:r>
          </a:p>
          <a:p>
            <a:pPr algn="l">
              <a:lnSpc>
                <a:spcPct val="125000"/>
              </a:lnSpc>
            </a:pPr>
            <a:r>
              <a:rPr sz="1400" lang="fr-FR">
                <a:solidFill>
                  <a:srgbClr val="161616"/>
                </a:solidFill>
                <a:latin typeface="Marianne"/>
              </a:rPr>
              <a:t>• </a:t>
            </a:r>
            <a:r>
              <a:rPr sz="1400" b="0" lang="fr-FR">
                <a:solidFill>
                  <a:srgbClr val="161616"/>
                </a:solidFill>
                <a:latin typeface="Marianne"/>
              </a:rPr>
              <a:t>Essayez Entrée sur un bouton, Espace sur une case à cocher</a:t>
            </a:r>
          </a:p>
          <a:p>
            <a:pPr algn="l">
              <a:lnSpc>
                <a:spcPct val="125000"/>
              </a:lnSpc>
            </a:pPr>
            <a:r>
              <a:rPr sz="1400" lang="fr-FR">
                <a:solidFill>
                  <a:srgbClr val="161616"/>
                </a:solidFill>
                <a:latin typeface="Marianne"/>
              </a:rPr>
              <a:t>• </a:t>
            </a:r>
            <a:r>
              <a:rPr sz="1400" b="0" lang="fr-FR">
                <a:solidFill>
                  <a:srgbClr val="161616"/>
                </a:solidFill>
                <a:latin typeface="Marianne"/>
              </a:rPr>
              <a:t>Listez les pièges détectés et associez-les aux 3 signaux</a:t>
            </a:r>
          </a:p>
        </p:txBody>
      </p:sp>
      <p:sp>
        <p:nvSpPr>
          <p:cNvPr id="13" name="DSFR-box"/>
          <p:cNvSpPr/>
          <p:nvPr/>
        </p:nvSpPr>
        <p:spPr>
          <a:xfrm>
            <a:off x="548640" y="4306824"/>
            <a:ext cx="5390388"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Objectif : votre permis clavier</a:t>
            </a:r>
          </a:p>
        </p:txBody>
      </p:sp>
      <p:sp>
        <p:nvSpPr>
          <p:cNvPr id="15" name="DSFR-alert-success-body"/>
          <p:cNvSpPr txBox="1"/>
          <p:nvPr/>
        </p:nvSpPr>
        <p:spPr>
          <a:xfrm>
            <a:off x="704088" y="4809744"/>
            <a:ext cx="5143500"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signal détecté = vous avez l’œil</a:t>
            </a:r>
          </a:p>
          <a:p>
            <a:pPr algn="l">
              <a:lnSpc>
                <a:spcPct val="150000"/>
              </a:lnSpc>
            </a:pPr>
            <a:r>
              <a:rPr sz="1400" lang="fr-FR">
                <a:solidFill>
                  <a:srgbClr val="161616"/>
                </a:solidFill>
                <a:latin typeface="Marianne"/>
              </a:rPr>
              <a:t>• </a:t>
            </a:r>
            <a:r>
              <a:rPr sz="1400" b="0" lang="fr-FR">
                <a:solidFill>
                  <a:srgbClr val="161616"/>
                </a:solidFill>
                <a:latin typeface="Marianne"/>
              </a:rPr>
              <a:t>3 signaux détectés = vous êtes auditeur clavier</a:t>
            </a:r>
          </a:p>
        </p:txBody>
      </p:sp>
      <p:pic>
        <p:nvPicPr>
          <p:cNvPr id="16" name="DSFR-qrcode" descr="QR code : https://alexandra-guiderdoni.github.io/tp-fabrication-igpde-102846-ay11/"/>
          <p:cNvPicPr>
            <a:picLocks noChangeAspect="1"/>
          </p:cNvPicPr>
          <p:nvPr/>
        </p:nvPicPr>
        <p:blipFill>
          <a:blip r:embed="rId2"/>
          <a:stretch>
            <a:fillRect/>
          </a:stretch>
        </p:blipFill>
        <p:spPr>
          <a:xfrm>
            <a:off x="6240779" y="4306824"/>
            <a:ext cx="1005840" cy="1005840"/>
          </a:xfrm>
          <a:prstGeom prst="rect">
            <a:avLst/>
          </a:prstGeom>
        </p:spPr>
      </p:pic>
      <p:sp>
        <p:nvSpPr>
          <p:cNvPr id="17" name="DSFR-qrcode-cta"/>
          <p:cNvSpPr txBox="1"/>
          <p:nvPr/>
        </p:nvSpPr>
        <p:spPr>
          <a:xfrm>
            <a:off x="7374636" y="4379976"/>
            <a:ext cx="4329683"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8" name="DSFR-qrcode-url-visible"/>
          <p:cNvSpPr txBox="1"/>
          <p:nvPr/>
        </p:nvSpPr>
        <p:spPr>
          <a:xfrm>
            <a:off x="7374636" y="4672584"/>
            <a:ext cx="4329683" cy="731520"/>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Marianne"/>
                <a:hlinkClick r:id="rId3"/>
              </a:rPr>
              <a:t>https://alexandra-guiderdoni.github.io/tp-fabrication-igpde-102846-ay11/</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97</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 balise &lt;html&gt; porte un attribut lang (ex. lang="fr")</a:t>
            </a:r>
          </a:p>
          <a:p>
            <a:pPr algn="l">
              <a:lnSpc>
                <a:spcPct val="125000"/>
              </a:lnSpc>
            </a:pPr>
            <a:r>
              <a:rPr sz="1400" lang="fr-FR">
                <a:solidFill>
                  <a:srgbClr val="161616"/>
                </a:solidFill>
                <a:latin typeface="Marianne"/>
              </a:rPr>
              <a:t>• </a:t>
            </a:r>
            <a:r>
              <a:rPr sz="1400" b="0" lang="fr-FR">
                <a:solidFill>
                  <a:srgbClr val="161616"/>
                </a:solidFill>
                <a:latin typeface="Marianne"/>
              </a:rPr>
              <a:t>Les passages dans une autre langue sont balisés : &lt;span lang="en"&gt;workshop&lt;/span&gt;</a:t>
            </a:r>
          </a:p>
          <a:p>
            <a:pPr algn="l">
              <a:lnSpc>
                <a:spcPct val="125000"/>
              </a:lnSpc>
            </a:pPr>
            <a:r>
              <a:rPr sz="1400" lang="fr-FR">
                <a:solidFill>
                  <a:srgbClr val="161616"/>
                </a:solidFill>
                <a:latin typeface="Marianne"/>
              </a:rPr>
              <a:t>• </a:t>
            </a:r>
            <a:r>
              <a:rPr sz="1400" b="0" lang="fr-FR">
                <a:solidFill>
                  <a:srgbClr val="161616"/>
                </a:solidFill>
                <a:latin typeface="Marianne"/>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Clic droit → Afficher le code source → regarder la 1ʳᵉ ligne &lt;html lang="…"&gt;</a:t>
            </a:r>
          </a:p>
          <a:p>
            <a:pPr algn="l">
              <a:lnSpc>
                <a:spcPct val="150000"/>
              </a:lnSpc>
            </a:pPr>
            <a:r>
              <a:rPr sz="1400" lang="fr-FR">
                <a:solidFill>
                  <a:srgbClr val="161616"/>
                </a:solidFill>
                <a:latin typeface="Marianne"/>
              </a:rPr>
              <a:t>• </a:t>
            </a:r>
            <a:r>
              <a:rPr sz="1400" b="0" lang="fr-FR">
                <a:solidFill>
                  <a:srgbClr val="161616"/>
                </a:solidFill>
                <a:latin typeface="Marianne"/>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98</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À 200 % de zoom, aucun texte n’est coupé ni superposé</a:t>
            </a:r>
          </a:p>
          <a:p>
            <a:pPr algn="l">
              <a:lnSpc>
                <a:spcPct val="125000"/>
              </a:lnSpc>
            </a:pPr>
            <a:r>
              <a:rPr sz="1400" lang="fr-FR">
                <a:solidFill>
                  <a:srgbClr val="161616"/>
                </a:solidFill>
                <a:latin typeface="Marianne"/>
              </a:rPr>
              <a:t>• </a:t>
            </a:r>
            <a:r>
              <a:rPr sz="1400" b="0" lang="fr-FR">
                <a:solidFill>
                  <a:srgbClr val="161616"/>
                </a:solidFill>
                <a:latin typeface="Marianne"/>
              </a:rPr>
              <a:t>Pas d’apparition d’un défilement horizontal sur une page classique</a:t>
            </a:r>
          </a:p>
          <a:p>
            <a:pPr algn="l">
              <a:lnSpc>
                <a:spcPct val="125000"/>
              </a:lnSpc>
            </a:pPr>
            <a:r>
              <a:rPr sz="1400" lang="fr-FR">
                <a:solidFill>
                  <a:srgbClr val="161616"/>
                </a:solidFill>
                <a:latin typeface="Marianne"/>
              </a:rPr>
              <a:t>• </a:t>
            </a:r>
            <a:r>
              <a:rPr sz="1400" b="0" lang="fr-FR">
                <a:solidFill>
                  <a:srgbClr val="161616"/>
                </a:solidFill>
                <a:latin typeface="Marianne"/>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Ctrl + (ou Cmd + sur Mac) pour zoomer jusqu’à 200 % - répéter 4 fois depuis 100 %</a:t>
            </a:r>
          </a:p>
          <a:p>
            <a:pPr algn="l">
              <a:lnSpc>
                <a:spcPct val="150000"/>
              </a:lnSpc>
            </a:pPr>
            <a:r>
              <a:rPr sz="1400" lang="fr-FR">
                <a:solidFill>
                  <a:srgbClr val="161616"/>
                </a:solidFill>
                <a:latin typeface="Marianne"/>
              </a:rPr>
              <a:t>• </a:t>
            </a:r>
            <a:r>
              <a:rPr sz="1400" b="0" lang="fr-FR">
                <a:solidFill>
                  <a:srgbClr val="161616"/>
                </a:solidFill>
                <a:latin typeface="Marianne"/>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des sous-titres synchronisés (pas seulement une transcription)</a:t>
            </a:r>
          </a:p>
          <a:p>
            <a:pPr algn="l">
              <a:lnSpc>
                <a:spcPct val="115000"/>
              </a:lnSpc>
            </a:pPr>
            <a:r>
              <a:rPr sz="1400" lang="fr-FR">
                <a:solidFill>
                  <a:srgbClr val="161616"/>
                </a:solidFill>
                <a:latin typeface="Marianne"/>
              </a:rPr>
              <a:t>• </a:t>
            </a:r>
            <a:r>
              <a:rPr sz="1400" b="0" lang="fr-FR">
                <a:solidFill>
                  <a:srgbClr val="161616"/>
                </a:solidFill>
                <a:latin typeface="Marianne"/>
              </a:rPr>
              <a:t>Les sous-titres incluent les paroles ET les informations sonores importantes : « (rires) », « (sonnerie) »</a:t>
            </a:r>
          </a:p>
          <a:p>
            <a:pPr algn="l">
              <a:lnSpc>
                <a:spcPct val="115000"/>
              </a:lnSpc>
            </a:pPr>
            <a:r>
              <a:rPr sz="1400" lang="fr-FR">
                <a:solidFill>
                  <a:srgbClr val="161616"/>
                </a:solidFill>
                <a:latin typeface="Marianne"/>
              </a:rPr>
              <a:t>• </a:t>
            </a:r>
            <a:r>
              <a:rPr sz="1400" b="0" lang="fr-FR">
                <a:solidFill>
                  <a:srgbClr val="161616"/>
                </a:solidFill>
                <a:latin typeface="Marianne"/>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100</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Les sous-titres automatiques peuvent déformer les mots, surtout les noms propres et acronymes</a:t>
            </a:r>
          </a:p>
          <a:p>
            <a:pPr algn="l">
              <a:lnSpc>
                <a:spcPct val="125000"/>
              </a:lnSpc>
            </a:pPr>
            <a:r>
              <a:rPr sz="1400" lang="fr-FR">
                <a:solidFill>
                  <a:srgbClr val="161616"/>
                </a:solidFill>
                <a:latin typeface="Marianne"/>
              </a:rPr>
              <a:t>• </a:t>
            </a:r>
            <a:r>
              <a:rPr sz="1400" b="0" lang="fr-FR">
                <a:solidFill>
                  <a:srgbClr val="161616"/>
                </a:solidFill>
                <a:latin typeface="Marianne"/>
              </a:rPr>
              <a:t>Noms propres, acronymes, chiffres : souvent mal reconnus</a:t>
            </a:r>
          </a:p>
          <a:p>
            <a:pPr algn="l">
              <a:lnSpc>
                <a:spcPct val="125000"/>
              </a:lnSpc>
            </a:pPr>
            <a:r>
              <a:rPr sz="1400" lang="fr-FR">
                <a:solidFill>
                  <a:srgbClr val="161616"/>
                </a:solidFill>
                <a:latin typeface="Marianne"/>
              </a:rPr>
              <a:t>• </a:t>
            </a:r>
            <a:r>
              <a:rPr sz="1400" b="0" lang="fr-FR">
                <a:solidFill>
                  <a:srgbClr val="161616"/>
                </a:solidFill>
                <a:latin typeface="Marianne"/>
              </a:rPr>
              <a:t>Ponctuation absente : « on mange les enfants » vs « on mange, les enfants »</a:t>
            </a:r>
          </a:p>
          <a:p>
            <a:pPr algn="l">
              <a:lnSpc>
                <a:spcPct val="125000"/>
              </a:lnSpc>
            </a:pPr>
            <a:r>
              <a:rPr sz="1400" lang="fr-FR">
                <a:solidFill>
                  <a:srgbClr val="161616"/>
                </a:solidFill>
                <a:latin typeface="Marianne"/>
              </a:rPr>
              <a:t>• </a:t>
            </a:r>
            <a:r>
              <a:rPr sz="1400" b="0" lang="fr-FR">
                <a:solidFill>
                  <a:srgbClr val="161616"/>
                </a:solidFill>
                <a:latin typeface="Marianne"/>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Générer l’auto (YouTube, Whisper, outil interne) pour accélérer le brouillon</a:t>
            </a:r>
          </a:p>
          <a:p>
            <a:pPr algn="l">
              <a:lnSpc>
                <a:spcPct val="115000"/>
              </a:lnSpc>
            </a:pPr>
            <a:r>
              <a:rPr sz="1400" lang="fr-FR">
                <a:solidFill>
                  <a:srgbClr val="161616"/>
                </a:solidFill>
                <a:latin typeface="Marianne"/>
              </a:rPr>
              <a:t>• </a:t>
            </a:r>
            <a:r>
              <a:rPr sz="1400" b="0" lang="fr-FR">
                <a:solidFill>
                  <a:srgbClr val="161616"/>
                </a:solidFill>
                <a:latin typeface="Marianne"/>
              </a:rPr>
              <a:t>Relire : noms, chiffres, ponctuation et [indications sonores]</a:t>
            </a:r>
          </a:p>
          <a:p>
            <a:pPr algn="l">
              <a:lnSpc>
                <a:spcPct val="115000"/>
              </a:lnSpc>
            </a:pPr>
            <a:r>
              <a:rPr sz="1400" lang="fr-FR">
                <a:solidFill>
                  <a:srgbClr val="161616"/>
                </a:solidFill>
                <a:latin typeface="Marianne"/>
              </a:rPr>
              <a:t>• </a:t>
            </a:r>
            <a:r>
              <a:rPr sz="1400" b="0" lang="fr-FR">
                <a:solidFill>
                  <a:srgbClr val="161616"/>
                </a:solidFill>
                <a:latin typeface="Marianne"/>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Toute vidéo / audio propose un lien visible « Lire la transcription »</a:t>
            </a:r>
          </a:p>
          <a:p>
            <a:pPr algn="l">
              <a:lnSpc>
                <a:spcPct val="125000"/>
              </a:lnSpc>
            </a:pPr>
            <a:r>
              <a:rPr sz="1400" lang="fr-FR">
                <a:solidFill>
                  <a:srgbClr val="161616"/>
                </a:solidFill>
                <a:latin typeface="Marianne"/>
              </a:rPr>
              <a:t>• </a:t>
            </a:r>
            <a:r>
              <a:rPr sz="1400" b="0" lang="fr-FR">
                <a:solidFill>
                  <a:srgbClr val="161616"/>
                </a:solidFill>
                <a:latin typeface="Marianne"/>
              </a:rPr>
              <a:t>La transcription est complète : paroles + informations sonores essentielles</a:t>
            </a:r>
          </a:p>
          <a:p>
            <a:pPr algn="l">
              <a:lnSpc>
                <a:spcPct val="125000"/>
              </a:lnSpc>
            </a:pPr>
            <a:r>
              <a:rPr sz="1400" lang="fr-FR">
                <a:solidFill>
                  <a:srgbClr val="161616"/>
                </a:solidFill>
                <a:latin typeface="Marianne"/>
              </a:rPr>
              <a:t>• </a:t>
            </a:r>
            <a:r>
              <a:rPr sz="1400" b="0" lang="fr-FR">
                <a:solidFill>
                  <a:srgbClr val="161616"/>
                </a:solidFill>
                <a:latin typeface="Marianne"/>
              </a:rPr>
              <a:t>Elle est sur la même page ou à un clic, pas cachée à deux étages de menu</a:t>
            </a:r>
          </a:p>
          <a:p>
            <a:pPr algn="l">
              <a:lnSpc>
                <a:spcPct val="125000"/>
              </a:lnSpc>
            </a:pPr>
            <a:r>
              <a:rPr sz="1400" lang="fr-FR">
                <a:solidFill>
                  <a:srgbClr val="161616"/>
                </a:solidFill>
                <a:latin typeface="Marianne"/>
              </a:rPr>
              <a:t>• </a:t>
            </a:r>
            <a:r>
              <a:rPr sz="1400" b="0" lang="fr-FR">
                <a:solidFill>
                  <a:srgbClr val="161616"/>
                </a:solidFill>
                <a:latin typeface="Marianne"/>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 transcription rend le contenu plus facile à retrouver, relire et citer</a:t>
            </a:r>
          </a:p>
          <a:p>
            <a:pPr algn="l">
              <a:lnSpc>
                <a:spcPct val="150000"/>
              </a:lnSpc>
            </a:pPr>
            <a:r>
              <a:rPr sz="1400" lang="fr-FR">
                <a:solidFill>
                  <a:srgbClr val="161616"/>
                </a:solidFill>
                <a:latin typeface="Marianne"/>
              </a:rPr>
              <a:t>• </a:t>
            </a:r>
            <a:r>
              <a:rPr sz="1400" b="0" lang="fr-FR">
                <a:solidFill>
                  <a:srgbClr val="161616"/>
                </a:solidFill>
                <a:latin typeface="Marianne"/>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102</a:t>
            </a:r>
            <a:endParaRPr lang="fr-FR" dirty="0"/>
          </a:p>
        </p:txBody>
      </p:sp>
      <p:sp>
        <p:nvSpPr>
          <p:cNvPr id="9" name="DSFR-box"/>
          <p:cNvSpPr/>
          <p:nvPr/>
        </p:nvSpPr>
        <p:spPr>
          <a:xfrm>
            <a:off x="548640" y="20116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L’audiodescription ajoute une voix off qui décrit les images clés pendant les silences.</a:t>
            </a:r>
          </a:p>
        </p:txBody>
      </p:sp>
      <p:sp>
        <p:nvSpPr>
          <p:cNvPr id="12" name="DSFR-box"/>
          <p:cNvSpPr/>
          <p:nvPr/>
        </p:nvSpPr>
        <p:spPr>
          <a:xfrm>
            <a:off x="548640" y="29946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97579"/>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une piste audiodécrite activable (bouton AD)</a:t>
            </a:r>
          </a:p>
          <a:p>
            <a:pPr algn="l">
              <a:lnSpc>
                <a:spcPct val="115000"/>
              </a:lnSpc>
            </a:pPr>
            <a:r>
              <a:rPr sz="1400" lang="fr-FR">
                <a:solidFill>
                  <a:srgbClr val="161616"/>
                </a:solidFill>
                <a:latin typeface="Marianne"/>
              </a:rPr>
              <a:t>• </a:t>
            </a:r>
            <a:r>
              <a:rPr sz="1400" b="0" lang="fr-FR">
                <a:solidFill>
                  <a:srgbClr val="161616"/>
                </a:solidFill>
                <a:latin typeface="Marianne"/>
              </a:rPr>
              <a:t>L’audiodescription décrit les éléments visuels essentiels à la compréhension</a:t>
            </a:r>
          </a:p>
          <a:p>
            <a:pPr algn="l">
              <a:lnSpc>
                <a:spcPct val="115000"/>
              </a:lnSpc>
            </a:pPr>
            <a:r>
              <a:rPr sz="1400" lang="fr-FR">
                <a:solidFill>
                  <a:srgbClr val="161616"/>
                </a:solidFill>
                <a:latin typeface="Marianne"/>
              </a:rPr>
              <a:t>• </a:t>
            </a:r>
            <a:r>
              <a:rPr sz="1400" b="0" lang="fr-FR">
                <a:solidFill>
                  <a:srgbClr val="161616"/>
                </a:solidFill>
                <a:latin typeface="Marianne"/>
              </a:rPr>
              <a:t>Elle s’intercale dans les silences, sans couvrir les dialogues</a:t>
            </a:r>
          </a:p>
          <a:p>
            <a:pPr algn="l">
              <a:lnSpc>
                <a:spcPct val="115000"/>
              </a:lnSpc>
            </a:pPr>
            <a:r>
              <a:rPr sz="1400" lang="fr-FR">
                <a:solidFill>
                  <a:srgbClr val="161616"/>
                </a:solidFill>
                <a:latin typeface="Marianne"/>
              </a:rPr>
              <a:t>• </a:t>
            </a:r>
            <a:r>
              <a:rPr sz="1400" b="0" lang="fr-FR">
                <a:solidFill>
                  <a:srgbClr val="161616"/>
                </a:solidFill>
                <a:latin typeface="Marianne"/>
              </a:rPr>
              <a:t>Pour une vidéo sans dialogue essentiel : une description textuelle synchronisée suffit</a:t>
            </a:r>
          </a:p>
        </p:txBody>
      </p:sp>
      <p:sp>
        <p:nvSpPr>
          <p:cNvPr id="16" name="DSFR-box"/>
          <p:cNvSpPr/>
          <p:nvPr/>
        </p:nvSpPr>
        <p:spPr>
          <a:xfrm>
            <a:off x="548640" y="4922215"/>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059375"/>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Quand l’image porte l’information, elle doit aussi être disponible autrement que par la vue.</a:t>
            </a:r>
          </a:p>
        </p:txBody>
      </p:sp>
      <p:sp>
        <p:nvSpPr>
          <p:cNvPr id="18" name="DSFR-quote-auteur"/>
          <p:cNvSpPr txBox="1"/>
          <p:nvPr/>
        </p:nvSpPr>
        <p:spPr>
          <a:xfrm>
            <a:off x="749808" y="5745175"/>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Audiodescription</a:t>
            </a:r>
          </a:p>
        </p:txBody>
      </p:sp>
      <p:sp>
        <p:nvSpPr>
          <p:cNvPr id="8" name="DSFR-accent-decoratif" descr=""/>
          <p:cNvSpPr/>
          <p:nvPr/>
        </p:nvSpPr>
        <p:spPr>
          <a:xfrm>
            <a:off x="475488" y="20116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922215"/>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Image, schéma ou plan -&gt; description ou texte alternatif</a:t>
            </a:r>
          </a:p>
          <a:p>
            <a:pPr algn="l">
              <a:lnSpc>
                <a:spcPct val="120000"/>
              </a:lnSpc>
            </a:pPr>
            <a:r>
              <a:rPr sz="1400" lang="fr-FR">
                <a:solidFill>
                  <a:srgbClr val="161616"/>
                </a:solidFill>
                <a:latin typeface="Marianne"/>
              </a:rPr>
              <a:t>• </a:t>
            </a:r>
            <a:r>
              <a:rPr sz="1400" b="0" lang="fr-FR">
                <a:solidFill>
                  <a:srgbClr val="161616"/>
                </a:solidFill>
                <a:latin typeface="Marianne"/>
              </a:rPr>
              <a:t>Vidéo -&gt; sous-titres + informations visuelles essentielles</a:t>
            </a:r>
          </a:p>
          <a:p>
            <a:pPr algn="l">
              <a:lnSpc>
                <a:spcPct val="120000"/>
              </a:lnSpc>
            </a:pPr>
            <a:r>
              <a:rPr sz="1400" lang="fr-FR">
                <a:solidFill>
                  <a:srgbClr val="161616"/>
                </a:solidFill>
                <a:latin typeface="Marianne"/>
              </a:rPr>
              <a:t>• </a:t>
            </a:r>
            <a:r>
              <a:rPr sz="1400" b="0" lang="fr-FR">
                <a:solidFill>
                  <a:srgbClr val="161616"/>
                </a:solidFill>
                <a:latin typeface="Marianne"/>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Sous-titres lisibles : contraste fort, bandeau si besoin</a:t>
            </a:r>
          </a:p>
          <a:p>
            <a:pPr algn="l">
              <a:lnSpc>
                <a:spcPct val="120000"/>
              </a:lnSpc>
            </a:pPr>
            <a:r>
              <a:rPr sz="1400" lang="fr-FR">
                <a:solidFill>
                  <a:srgbClr val="161616"/>
                </a:solidFill>
                <a:latin typeface="Marianne"/>
              </a:rPr>
              <a:t>• </a:t>
            </a:r>
            <a:r>
              <a:rPr sz="1400" b="0" lang="fr-FR">
                <a:solidFill>
                  <a:srgbClr val="161616"/>
                </a:solidFill>
                <a:latin typeface="Marianne"/>
              </a:rPr>
              <a:t>Format réseau social : sous-titres non masqués par l'interface</a:t>
            </a:r>
          </a:p>
          <a:p>
            <a:pPr algn="l">
              <a:lnSpc>
                <a:spcPct val="120000"/>
              </a:lnSpc>
            </a:pPr>
            <a:r>
              <a:rPr sz="1400" lang="fr-FR">
                <a:solidFill>
                  <a:srgbClr val="161616"/>
                </a:solidFill>
                <a:latin typeface="Marianne"/>
              </a:rPr>
              <a:t>• </a:t>
            </a:r>
            <a:r>
              <a:rPr sz="1400" b="0" lang="fr-FR">
                <a:solidFill>
                  <a:srgbClr val="161616"/>
                </a:solidFill>
                <a:latin typeface="Marianne"/>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Audio-description et transcription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104</a:t>
            </a:r>
            <a:endParaRPr lang="fr-FR" dirty="0"/>
          </a:p>
        </p:txBody>
      </p:sp>
      <p:sp>
        <p:nvSpPr>
          <p:cNvPr id="9" name="DSFR-box"/>
          <p:cNvSpPr/>
          <p:nvPr/>
        </p:nvSpPr>
        <p:spPr>
          <a:xfrm>
            <a:off x="548640" y="187451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Image et son : proposer un autre accès à toute information utile.</a:t>
            </a:r>
          </a:p>
        </p:txBody>
      </p:sp>
      <p:sp>
        <p:nvSpPr>
          <p:cNvPr id="12" name="DSFR-box"/>
          <p:cNvSpPr/>
          <p:nvPr/>
        </p:nvSpPr>
        <p:spPr>
          <a:xfrm>
            <a:off x="548640" y="2660904"/>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75234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Audio-description : ce que ça ajoute</a:t>
            </a:r>
          </a:p>
        </p:txBody>
      </p:sp>
      <p:sp>
        <p:nvSpPr>
          <p:cNvPr id="14" name="DSFR-callout-body"/>
          <p:cNvSpPr txBox="1"/>
          <p:nvPr/>
        </p:nvSpPr>
        <p:spPr>
          <a:xfrm>
            <a:off x="704088" y="3163824"/>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Décors, lieux et changements de scène utiles</a:t>
            </a:r>
          </a:p>
          <a:p>
            <a:pPr algn="l">
              <a:lnSpc>
                <a:spcPct val="115000"/>
              </a:lnSpc>
            </a:pPr>
            <a:r>
              <a:rPr sz="1400" lang="fr-FR">
                <a:solidFill>
                  <a:srgbClr val="161616"/>
                </a:solidFill>
                <a:latin typeface="Marianne"/>
              </a:rPr>
              <a:t>• </a:t>
            </a:r>
            <a:r>
              <a:rPr sz="1400" b="0" lang="fr-FR">
                <a:solidFill>
                  <a:srgbClr val="161616"/>
                </a:solidFill>
                <a:latin typeface="Marianne"/>
              </a:rPr>
              <a:t>Actions, gestes et expressions qui ne s’entendent pas</a:t>
            </a:r>
          </a:p>
          <a:p>
            <a:pPr algn="l">
              <a:lnSpc>
                <a:spcPct val="115000"/>
              </a:lnSpc>
            </a:pPr>
            <a:r>
              <a:rPr sz="1400" lang="fr-FR">
                <a:solidFill>
                  <a:srgbClr val="161616"/>
                </a:solidFill>
                <a:latin typeface="Marianne"/>
              </a:rPr>
              <a:t>• </a:t>
            </a:r>
            <a:r>
              <a:rPr sz="1400" b="0" lang="fr-FR">
                <a:solidFill>
                  <a:srgbClr val="161616"/>
                </a:solidFill>
                <a:latin typeface="Marianne"/>
              </a:rPr>
              <a:t>Textes et informations importantes affichés à l’écran</a:t>
            </a:r>
          </a:p>
          <a:p>
            <a:pPr algn="l">
              <a:lnSpc>
                <a:spcPct val="115000"/>
              </a:lnSpc>
            </a:pPr>
            <a:r>
              <a:rPr sz="1400" lang="fr-FR">
                <a:solidFill>
                  <a:srgbClr val="161616"/>
                </a:solidFill>
                <a:latin typeface="Marianne"/>
              </a:rPr>
              <a:t>• </a:t>
            </a:r>
            <a:r>
              <a:rPr sz="1400" b="0" lang="fr-FR">
                <a:solidFill>
                  <a:srgbClr val="161616"/>
                </a:solidFill>
                <a:latin typeface="Marianne"/>
              </a:rPr>
              <a:t>Une voix placée dans les silences, sans couvrir les dialogues</a:t>
            </a:r>
          </a:p>
        </p:txBody>
      </p:sp>
      <p:sp>
        <p:nvSpPr>
          <p:cNvPr id="16" name="DSFR-box"/>
          <p:cNvSpPr/>
          <p:nvPr/>
        </p:nvSpPr>
        <p:spPr>
          <a:xfrm>
            <a:off x="6313931" y="266090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275234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Transcription : choisir le niveau</a:t>
            </a:r>
          </a:p>
        </p:txBody>
      </p:sp>
      <p:sp>
        <p:nvSpPr>
          <p:cNvPr id="18" name="DSFR-alert-info-body"/>
          <p:cNvSpPr txBox="1"/>
          <p:nvPr/>
        </p:nvSpPr>
        <p:spPr>
          <a:xfrm>
            <a:off x="6469379" y="316382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Semi-intégrale : résumé détaillé + citations</a:t>
            </a:r>
          </a:p>
          <a:p>
            <a:pPr algn="l">
              <a:lnSpc>
                <a:spcPct val="115000"/>
              </a:lnSpc>
            </a:pPr>
            <a:r>
              <a:rPr sz="1400" lang="fr-FR">
                <a:solidFill>
                  <a:srgbClr val="161616"/>
                </a:solidFill>
                <a:latin typeface="Marianne"/>
              </a:rPr>
              <a:t>• </a:t>
            </a:r>
            <a:r>
              <a:rPr sz="1400" b="0" lang="fr-FR">
                <a:solidFill>
                  <a:srgbClr val="161616"/>
                </a:solidFill>
                <a:latin typeface="Marianne"/>
              </a:rPr>
              <a:t>Intégrale éditée : texte complet, corrigé et lisible</a:t>
            </a:r>
          </a:p>
          <a:p>
            <a:pPr algn="l">
              <a:lnSpc>
                <a:spcPct val="115000"/>
              </a:lnSpc>
            </a:pPr>
            <a:r>
              <a:rPr sz="1400" lang="fr-FR">
                <a:solidFill>
                  <a:srgbClr val="161616"/>
                </a:solidFill>
                <a:latin typeface="Marianne"/>
              </a:rPr>
              <a:t>• </a:t>
            </a:r>
            <a:r>
              <a:rPr sz="1400" b="0" lang="fr-FR">
                <a:solidFill>
                  <a:srgbClr val="161616"/>
                </a:solidFill>
                <a:latin typeface="Marianne"/>
              </a:rPr>
              <a:t>Verbatim : mot à mot, hésitations et sons inclus</a:t>
            </a:r>
          </a:p>
        </p:txBody>
      </p:sp>
      <p:sp>
        <p:nvSpPr>
          <p:cNvPr id="20" name="DSFR-box"/>
          <p:cNvSpPr/>
          <p:nvPr/>
        </p:nvSpPr>
        <p:spPr>
          <a:xfrm>
            <a:off x="548640" y="53053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3967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Bonus médias</a:t>
            </a:r>
          </a:p>
        </p:txBody>
      </p:sp>
      <p:sp>
        <p:nvSpPr>
          <p:cNvPr id="8" name="DSFR-accent-decoratif" descr=""/>
          <p:cNvSpPr/>
          <p:nvPr/>
        </p:nvSpPr>
        <p:spPr>
          <a:xfrm>
            <a:off x="475488" y="187451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660904"/>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66090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3053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champ (texte, case, menu déroulant) a une étiquette visible à côté</a:t>
            </a:r>
          </a:p>
          <a:p>
            <a:pPr algn="l">
              <a:lnSpc>
                <a:spcPct val="125000"/>
              </a:lnSpc>
            </a:pPr>
            <a:r>
              <a:rPr sz="1400" lang="fr-FR">
                <a:solidFill>
                  <a:srgbClr val="161616"/>
                </a:solidFill>
                <a:latin typeface="Marianne"/>
              </a:rPr>
              <a:t>• </a:t>
            </a:r>
            <a:r>
              <a:rPr sz="1400" b="0" lang="fr-FR">
                <a:solidFill>
                  <a:srgbClr val="161616"/>
                </a:solidFill>
                <a:latin typeface="Marianne"/>
              </a:rPr>
              <a:t>L’étiquette reste affichée quand on commence à saisir - elle ne disparaît pas</a:t>
            </a:r>
          </a:p>
          <a:p>
            <a:pPr algn="l">
              <a:lnSpc>
                <a:spcPct val="125000"/>
              </a:lnSpc>
            </a:pPr>
            <a:r>
              <a:rPr sz="1400" lang="fr-FR">
                <a:solidFill>
                  <a:srgbClr val="161616"/>
                </a:solidFill>
                <a:latin typeface="Marianne"/>
              </a:rPr>
              <a:t>• </a:t>
            </a:r>
            <a:r>
              <a:rPr sz="1400" b="0" lang="fr-FR">
                <a:solidFill>
                  <a:srgbClr val="161616"/>
                </a:solidFill>
                <a:latin typeface="Marianne"/>
              </a:rPr>
              <a:t>Cliquer sur l’étiquette déplace le focus dans le champ (test rapide et décisif)</a:t>
            </a:r>
          </a:p>
          <a:p>
            <a:pPr algn="l">
              <a:lnSpc>
                <a:spcPct val="125000"/>
              </a:lnSpc>
            </a:pPr>
            <a:r>
              <a:rPr sz="1400" lang="fr-FR">
                <a:solidFill>
                  <a:srgbClr val="161616"/>
                </a:solidFill>
                <a:latin typeface="Marianne"/>
              </a:rPr>
              <a:t>• </a:t>
            </a:r>
            <a:r>
              <a:rPr sz="1400" b="0" lang="fr-FR">
                <a:solidFill>
                  <a:srgbClr val="161616"/>
                </a:solidFill>
                <a:latin typeface="Marianne"/>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106</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Il disparaît dès qu’on commence à saisir - on oublie ce qu’on remplit</a:t>
            </a:r>
          </a:p>
          <a:p>
            <a:pPr algn="l">
              <a:lnSpc>
                <a:spcPct val="125000"/>
              </a:lnSpc>
            </a:pPr>
            <a:r>
              <a:rPr sz="1400" lang="fr-FR">
                <a:solidFill>
                  <a:srgbClr val="161616"/>
                </a:solidFill>
                <a:latin typeface="Marianne"/>
              </a:rPr>
              <a:t>• </a:t>
            </a:r>
            <a:r>
              <a:rPr sz="1400" b="0" lang="fr-FR">
                <a:solidFill>
                  <a:srgbClr val="161616"/>
                </a:solidFill>
                <a:latin typeface="Marianne"/>
              </a:rPr>
              <a:t>Son contraste est souvent trop faible pour passer le check 4</a:t>
            </a:r>
          </a:p>
          <a:p>
            <a:pPr algn="l">
              <a:lnSpc>
                <a:spcPct val="125000"/>
              </a:lnSpc>
            </a:pPr>
            <a:r>
              <a:rPr sz="1400" lang="fr-FR">
                <a:solidFill>
                  <a:srgbClr val="161616"/>
                </a:solidFill>
                <a:latin typeface="Marianne"/>
              </a:rPr>
              <a:t>• </a:t>
            </a:r>
            <a:r>
              <a:rPr sz="1400" b="0" lang="fr-FR">
                <a:solidFill>
                  <a:srgbClr val="161616"/>
                </a:solidFill>
                <a:latin typeface="Marianne"/>
              </a:rPr>
              <a:t>Il peut être annoncé comme exemple, pas comme nom fiable du champ</a:t>
            </a:r>
          </a:p>
          <a:p>
            <a:pPr algn="l">
              <a:lnSpc>
                <a:spcPct val="125000"/>
              </a:lnSpc>
            </a:pPr>
            <a:r>
              <a:rPr sz="1400" lang="fr-FR">
                <a:solidFill>
                  <a:srgbClr val="161616"/>
                </a:solidFill>
                <a:latin typeface="Marianne"/>
              </a:rPr>
              <a:t>• </a:t>
            </a:r>
            <a:r>
              <a:rPr sz="1400" b="0" lang="fr-FR">
                <a:solidFill>
                  <a:srgbClr val="161616"/>
                </a:solidFill>
                <a:latin typeface="Marianne"/>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Étiquette visible au-dessus du champ (ou à gauche)</a:t>
            </a:r>
          </a:p>
          <a:p>
            <a:pPr algn="l">
              <a:lnSpc>
                <a:spcPct val="150000"/>
              </a:lnSpc>
            </a:pPr>
            <a:r>
              <a:rPr sz="1400" lang="fr-FR">
                <a:solidFill>
                  <a:srgbClr val="161616"/>
                </a:solidFill>
                <a:latin typeface="Marianne"/>
              </a:rPr>
              <a:t>• </a:t>
            </a:r>
            <a:r>
              <a:rPr sz="1400" b="0" lang="fr-FR">
                <a:solidFill>
                  <a:srgbClr val="161616"/>
                </a:solidFill>
                <a:latin typeface="Marianne"/>
              </a:rPr>
              <a:t>Placeholder optionnel, pour donner un exemple de format : « JJ/MM/AAAA »</a:t>
            </a:r>
          </a:p>
          <a:p>
            <a:pPr algn="l">
              <a:lnSpc>
                <a:spcPct val="150000"/>
              </a:lnSpc>
            </a:pPr>
            <a:r>
              <a:rPr sz="1400" lang="fr-FR">
                <a:solidFill>
                  <a:srgbClr val="161616"/>
                </a:solidFill>
                <a:latin typeface="Marianne"/>
              </a:rPr>
              <a:t>• </a:t>
            </a:r>
            <a:r>
              <a:rPr sz="1400" b="0" lang="fr-FR">
                <a:solidFill>
                  <a:srgbClr val="161616"/>
                </a:solidFill>
                <a:latin typeface="Marianne"/>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107</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Plusieurs boutons radio qui répondent à la même question (« Civilité : M / Mme / autre »)</a:t>
            </a:r>
          </a:p>
          <a:p>
            <a:pPr algn="l">
              <a:lnSpc>
                <a:spcPct val="125000"/>
              </a:lnSpc>
            </a:pPr>
            <a:r>
              <a:rPr sz="1400" lang="fr-FR">
                <a:solidFill>
                  <a:srgbClr val="161616"/>
                </a:solidFill>
                <a:latin typeface="Marianne"/>
              </a:rPr>
              <a:t>• </a:t>
            </a:r>
            <a:r>
              <a:rPr sz="1400" b="0" lang="fr-FR">
                <a:solidFill>
                  <a:srgbClr val="161616"/>
                </a:solidFill>
                <a:latin typeface="Marianne"/>
              </a:rPr>
              <a:t>Plusieurs cases à cocher qui partagent un thème (« Jours travaillés »)</a:t>
            </a:r>
          </a:p>
          <a:p>
            <a:pPr algn="l">
              <a:lnSpc>
                <a:spcPct val="125000"/>
              </a:lnSpc>
            </a:pPr>
            <a:r>
              <a:rPr sz="1400" lang="fr-FR">
                <a:solidFill>
                  <a:srgbClr val="161616"/>
                </a:solidFill>
                <a:latin typeface="Marianne"/>
              </a:rPr>
              <a:t>• </a:t>
            </a:r>
            <a:r>
              <a:rPr sz="1400" b="0" lang="fr-FR">
                <a:solidFill>
                  <a:srgbClr val="161616"/>
                </a:solidFill>
                <a:latin typeface="Marianne"/>
              </a:rPr>
              <a:t>Adresse découpée en plusieurs champs (n°, rue, code postal, ville)</a:t>
            </a:r>
          </a:p>
        </p:txBody>
      </p:sp>
      <p:graphicFrame>
        <p:nvGraphicFramePr>
          <p:cNvPr id="12" name="Table 11"/>
          <p:cNvGraphicFramePr>
            <a:graphicFrameLocks noGrp="1"/>
          </p:cNvGraphicFramePr>
          <p:nvPr/>
        </p:nvGraphicFramePr>
        <p:xfrm>
          <a:off x="475488" y="3977639"/>
          <a:ext cx="11228832" cy="2194560"/>
        </p:xfrm>
        <a:graphic>
          <a:graphicData uri="http://schemas.openxmlformats.org/drawingml/2006/table">
            <a:tbl>
              <a:tblPr firstRow="1" bandRow="1">
                <a:tableStyleId>{5C22544A-7EE6-4342-B048-85BDC9FD1C3A}</a:tableStyleId>
              </a:tblPr>
              <a:tblGrid>
                <a:gridCol w="2926080"/>
                <a:gridCol w="4187952"/>
                <a:gridCol w="4114800"/>
              </a:tblGrid>
              <a:tr h="731520">
                <a:tc>
                  <a:txBody>
                    <a:bodyPr wrap="square" anchor="ctr" lIns="73152" rIns="73152"/>
                    <a:lstStyle/>
                    <a:p>
                      <a:pPr algn="l">
                        <a:lnSpc>
                          <a:spcPct val="125000"/>
                        </a:lnSpc>
                      </a:pPr>
                      <a:r>
                        <a:rPr sz="1400" b="1" i="0" lang="fr-FR">
                          <a:solidFill>
                            <a:srgbClr val="FFFFFF"/>
                          </a:solidFill>
                          <a:latin typeface="Marianne"/>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 lecteur d’écran</a:t>
                      </a:r>
                    </a:p>
                  </a:txBody>
                  <a:tcPr marL="91440" marR="91440" marT="45720" marB="45720">
                    <a:solidFill>
                      <a:srgbClr val="000091"/>
                    </a:solidFill>
                  </a:tcPr>
                </a:tc>
              </a:tr>
              <a:tr h="731520">
                <a:tc>
                  <a:txBody>
                    <a:bodyPr wrap="square" anchor="ctr" lIns="73152" rIns="73152"/>
                    <a:lstStyle/>
                    <a:p>
                      <a:pPr algn="l">
                        <a:lnSpc>
                          <a:spcPct val="125000"/>
                        </a:lnSpc>
                      </a:pPr>
                      <a:r>
                        <a:rPr sz="1400" b="0" i="0" lang="fr-FR">
                          <a:solidFill>
                            <a:srgbClr val="161616"/>
                          </a:solidFill>
                          <a:latin typeface="Marianne"/>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M, bouton radio » - question perdue</a:t>
                      </a:r>
                    </a:p>
                  </a:txBody>
                  <a:tcPr marL="91440" marR="91440" marT="45720" marB="45720">
                    <a:solidFill>
                      <a:srgbClr val="FFFFFF"/>
                    </a:solidFill>
                  </a:tcPr>
                </a:tc>
              </a:tr>
              <a:tr h="731520">
                <a:tc>
                  <a:txBody>
                    <a:bodyPr wrap="square" anchor="ctr" lIns="73152" rIns="73152"/>
                    <a:lstStyle/>
                    <a:p>
                      <a:pPr algn="l">
                        <a:lnSpc>
                          <a:spcPct val="125000"/>
                        </a:lnSpc>
                      </a:pPr>
                      <a:r>
                        <a:rPr sz="1400" b="0" i="0" lang="fr-FR">
                          <a:solidFill>
                            <a:srgbClr val="161616"/>
                          </a:solidFill>
                          <a:latin typeface="Marianne"/>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108</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 écrite : « obligatoire » ou règle « tous sauf téléphone »</a:t>
            </a:r>
          </a:p>
          <a:p>
            <a:pPr algn="l">
              <a:lnSpc>
                <a:spcPct val="125000"/>
              </a:lnSpc>
            </a:pPr>
            <a:r>
              <a:rPr sz="1400" lang="fr-FR">
                <a:solidFill>
                  <a:srgbClr val="161616"/>
                </a:solidFill>
                <a:latin typeface="Marianne"/>
              </a:rPr>
              <a:t>• </a:t>
            </a:r>
            <a:r>
              <a:rPr sz="1400" b="0" lang="fr-FR">
                <a:solidFill>
                  <a:srgbClr val="161616"/>
                </a:solidFill>
                <a:latin typeface="Marianne"/>
              </a:rPr>
              <a:t>Astérisque expliqué s'il est utilisé</a:t>
            </a:r>
          </a:p>
          <a:p>
            <a:pPr algn="l">
              <a:lnSpc>
                <a:spcPct val="125000"/>
              </a:lnSpc>
            </a:pPr>
            <a:r>
              <a:rPr sz="1400" lang="fr-FR">
                <a:solidFill>
                  <a:srgbClr val="161616"/>
                </a:solidFill>
                <a:latin typeface="Marianne"/>
              </a:rPr>
              <a:t>• </a:t>
            </a:r>
            <a:r>
              <a:rPr sz="1400" b="0" lang="fr-FR">
                <a:solidFill>
                  <a:srgbClr val="161616"/>
                </a:solidFill>
                <a:latin typeface="Marianne"/>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Aucune erreur ne doit apparaître avant l'envoi</a:t>
            </a:r>
          </a:p>
          <a:p>
            <a:pPr algn="l">
              <a:lnSpc>
                <a:spcPct val="125000"/>
              </a:lnSpc>
            </a:pPr>
            <a:r>
              <a:rPr sz="1400" lang="fr-FR">
                <a:solidFill>
                  <a:srgbClr val="161616"/>
                </a:solidFill>
                <a:latin typeface="Marianne"/>
              </a:rPr>
              <a:t>• </a:t>
            </a:r>
            <a:r>
              <a:rPr sz="1400" b="0" lang="fr-FR">
                <a:solidFill>
                  <a:srgbClr val="161616"/>
                </a:solidFill>
                <a:latin typeface="Marianne"/>
              </a:rPr>
              <a:t>Message précis relié au champ, avec aria-invalid si erreur</a:t>
            </a:r>
          </a:p>
          <a:p>
            <a:pPr algn="l">
              <a:lnSpc>
                <a:spcPct val="125000"/>
              </a:lnSpc>
            </a:pPr>
            <a:r>
              <a:rPr sz="1400" lang="fr-FR">
                <a:solidFill>
                  <a:srgbClr val="161616"/>
                </a:solidFill>
                <a:latin typeface="Marianne"/>
              </a:rPr>
              <a:t>• </a:t>
            </a:r>
            <a:r>
              <a:rPr sz="1400" b="0" lang="fr-FR">
                <a:solidFill>
                  <a:srgbClr val="161616"/>
                </a:solidFill>
                <a:latin typeface="Marianne"/>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109</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Marianne"/>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Marianne"/>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7317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Règle de travail</a:t>
            </a:r>
          </a:p>
        </p:txBody>
      </p:sp>
      <p:sp>
        <p:nvSpPr>
          <p:cNvPr id="12" name="DSFR-callout-body"/>
          <p:cNvSpPr txBox="1"/>
          <p:nvPr/>
        </p:nvSpPr>
        <p:spPr>
          <a:xfrm>
            <a:off x="704088" y="5486400"/>
            <a:ext cx="10908792" cy="57881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Un défaut sans preuve est difficile à traiter.</a:t>
            </a:r>
          </a:p>
          <a:p>
            <a:pPr algn="l">
              <a:lnSpc>
                <a:spcPct val="115000"/>
              </a:lnSpc>
            </a:pPr>
            <a:r>
              <a:rPr sz="1400" lang="fr-FR">
                <a:solidFill>
                  <a:srgbClr val="161616"/>
                </a:solidFill>
                <a:latin typeface="Marianne"/>
              </a:rPr>
              <a:t>• </a:t>
            </a:r>
            <a:r>
              <a:rPr sz="1400" b="0" lang="fr-FR">
                <a:solidFill>
                  <a:srgbClr val="161616"/>
                </a:solidFill>
                <a:latin typeface="Marianne"/>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Grille</a:t>
            </a:r>
          </a:p>
        </p:txBody>
      </p:sp>
      <p:sp>
        <p:nvSpPr>
          <p:cNvPr id="9" name="DSFR-accent-decoratif" descr=""/>
          <p:cNvSpPr/>
          <p:nvPr/>
        </p:nvSpPr>
        <p:spPr>
          <a:xfrm>
            <a:off x="475488" y="4983480"/>
            <a:ext cx="73152" cy="117317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110</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Éviter les pages saturées de liens sans hiérarchie</a:t>
            </a:r>
          </a:p>
          <a:p>
            <a:pPr algn="l">
              <a:lnSpc>
                <a:spcPct val="120000"/>
              </a:lnSpc>
            </a:pPr>
            <a:r>
              <a:rPr sz="1400" lang="fr-FR">
                <a:solidFill>
                  <a:srgbClr val="161616"/>
                </a:solidFill>
                <a:latin typeface="Marianne"/>
              </a:rPr>
              <a:t>• </a:t>
            </a:r>
            <a:r>
              <a:rPr sz="1400" b="0" lang="fr-FR">
                <a:solidFill>
                  <a:srgbClr val="161616"/>
                </a:solidFill>
                <a:latin typeface="Marianne"/>
              </a:rPr>
              <a:t>Libellé explicite : « programme de l'exposition photo »</a:t>
            </a:r>
          </a:p>
          <a:p>
            <a:pPr algn="l">
              <a:lnSpc>
                <a:spcPct val="120000"/>
              </a:lnSpc>
            </a:pPr>
            <a:r>
              <a:rPr sz="1400" lang="fr-FR">
                <a:solidFill>
                  <a:srgbClr val="161616"/>
                </a:solidFill>
                <a:latin typeface="Marianne"/>
              </a:rPr>
              <a:t>• </a:t>
            </a:r>
            <a:r>
              <a:rPr sz="1400" b="0" lang="fr-FR">
                <a:solidFill>
                  <a:srgbClr val="161616"/>
                </a:solidFill>
                <a:latin typeface="Marianne"/>
              </a:rPr>
              <a:t>Éviter « cliquez ici », « en savoir plus », « programme » seul</a:t>
            </a:r>
          </a:p>
          <a:p>
            <a:pPr algn="l">
              <a:lnSpc>
                <a:spcPct val="120000"/>
              </a:lnSpc>
            </a:pPr>
            <a:r>
              <a:rPr sz="1400" lang="fr-FR">
                <a:solidFill>
                  <a:srgbClr val="161616"/>
                </a:solidFill>
                <a:latin typeface="Marianne"/>
              </a:rPr>
              <a:t>• </a:t>
            </a:r>
            <a:r>
              <a:rPr sz="1400" b="0" lang="fr-FR">
                <a:solidFill>
                  <a:srgbClr val="161616"/>
                </a:solidFill>
                <a:latin typeface="Marianne"/>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Texte sélectionnable : pas de PDF image ou scanné non navigable</a:t>
            </a:r>
          </a:p>
          <a:p>
            <a:pPr algn="l">
              <a:lnSpc>
                <a:spcPct val="120000"/>
              </a:lnSpc>
            </a:pPr>
            <a:r>
              <a:rPr sz="1400" lang="fr-FR">
                <a:solidFill>
                  <a:srgbClr val="161616"/>
                </a:solidFill>
                <a:latin typeface="Marianne"/>
              </a:rPr>
              <a:t>• </a:t>
            </a:r>
            <a:r>
              <a:rPr sz="1400" b="0" lang="fr-FR">
                <a:solidFill>
                  <a:srgbClr val="161616"/>
                </a:solidFill>
                <a:latin typeface="Marianne"/>
              </a:rPr>
              <a:t>Structure : titres, sommaire et liens internes si le document est long</a:t>
            </a:r>
          </a:p>
          <a:p>
            <a:pPr algn="l">
              <a:lnSpc>
                <a:spcPct val="120000"/>
              </a:lnSpc>
            </a:pPr>
            <a:r>
              <a:rPr sz="1400" lang="fr-FR">
                <a:solidFill>
                  <a:srgbClr val="161616"/>
                </a:solidFill>
                <a:latin typeface="Marianne"/>
              </a:rPr>
              <a:t>• </a:t>
            </a:r>
            <a:r>
              <a:rPr sz="1400" b="0" lang="fr-FR">
                <a:solidFill>
                  <a:srgbClr val="161616"/>
                </a:solidFill>
                <a:latin typeface="Marianne"/>
              </a:rPr>
              <a:t>Images avec texte alternatif</a:t>
            </a:r>
          </a:p>
          <a:p>
            <a:pPr algn="l">
              <a:lnSpc>
                <a:spcPct val="120000"/>
              </a:lnSpc>
            </a:pPr>
            <a:r>
              <a:rPr sz="1400" lang="fr-FR">
                <a:solidFill>
                  <a:srgbClr val="161616"/>
                </a:solidFill>
                <a:latin typeface="Marianne"/>
              </a:rPr>
              <a:t>• </a:t>
            </a:r>
            <a:r>
              <a:rPr sz="1400" b="0" lang="fr-FR">
                <a:solidFill>
                  <a:srgbClr val="161616"/>
                </a:solidFill>
                <a:latin typeface="Marianne"/>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 : audit en binôme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111</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Choisissez quelques points avec votre binôme : vous n’avez pas à tout couvrir</a:t>
            </a:r>
          </a:p>
          <a:p>
            <a:pPr algn="l">
              <a:lnSpc>
                <a:spcPct val="125000"/>
              </a:lnSpc>
            </a:pPr>
            <a:r>
              <a:rPr sz="1400" lang="fr-FR">
                <a:solidFill>
                  <a:srgbClr val="161616"/>
                </a:solidFill>
                <a:latin typeface="Marianne"/>
              </a:rPr>
              <a:t>• </a:t>
            </a:r>
            <a:r>
              <a:rPr sz="1400" b="0" lang="fr-FR">
                <a:solidFill>
                  <a:srgbClr val="161616"/>
                </a:solidFill>
                <a:latin typeface="Marianne"/>
              </a:rPr>
              <a:t>Une seule NC prouvée suffit à invalider le critère</a:t>
            </a:r>
          </a:p>
          <a:p>
            <a:pPr algn="l">
              <a:lnSpc>
                <a:spcPct val="125000"/>
              </a:lnSpc>
            </a:pPr>
            <a:r>
              <a:rPr sz="1400" lang="fr-FR">
                <a:solidFill>
                  <a:srgbClr val="161616"/>
                </a:solidFill>
                <a:latin typeface="Marianne"/>
              </a:rPr>
              <a:t>• </a:t>
            </a:r>
            <a:r>
              <a:rPr sz="1400" b="0" lang="fr-FR">
                <a:solidFill>
                  <a:srgbClr val="161616"/>
                </a:solidFill>
                <a:latin typeface="Marianne"/>
              </a:rPr>
              <a:t>Certains binômes commencent au début, d’autres par la fin</a:t>
            </a:r>
          </a:p>
          <a:p>
            <a:pPr algn="l">
              <a:lnSpc>
                <a:spcPct val="125000"/>
              </a:lnSpc>
            </a:pPr>
            <a:r>
              <a:rPr sz="1400" lang="fr-FR">
                <a:solidFill>
                  <a:srgbClr val="161616"/>
                </a:solidFill>
                <a:latin typeface="Marianne"/>
              </a:rPr>
              <a:t>• </a:t>
            </a:r>
            <a:r>
              <a:rPr sz="1400" b="0" lang="fr-FR">
                <a:solidFill>
                  <a:srgbClr val="161616"/>
                </a:solidFill>
                <a:latin typeface="Marianne"/>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Partie IV - Réseaux sociaux accessibles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Partie IV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112</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Comprendre les enjeux des réseaux sociaux</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Décrire les images et choisir les plateformes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Rendre les textes et les caractères lisibles</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Représenter les publics et écrire clairement</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avant de publier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Partie IV</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113</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12 millions de personnes en situation de handicap en France (INSEE 2021)</a:t>
            </a:r>
          </a:p>
          <a:p>
            <a:pPr algn="l">
              <a:lnSpc>
                <a:spcPct val="120000"/>
              </a:lnSpc>
            </a:pPr>
            <a:r>
              <a:rPr sz="1400" lang="fr-FR">
                <a:solidFill>
                  <a:srgbClr val="161616"/>
                </a:solidFill>
                <a:latin typeface="Marianne"/>
              </a:rPr>
              <a:t>• </a:t>
            </a:r>
            <a:r>
              <a:rPr sz="1400" b="0" lang="fr-FR">
                <a:solidFill>
                  <a:srgbClr val="161616"/>
                </a:solidFill>
                <a:latin typeface="Marianne"/>
              </a:rPr>
              <a:t>Utilisateurs en contexte défavorable : faible luminosité, connexion lente, bruit</a:t>
            </a:r>
          </a:p>
          <a:p>
            <a:pPr algn="l">
              <a:lnSpc>
                <a:spcPct val="120000"/>
              </a:lnSpc>
            </a:pPr>
            <a:r>
              <a:rPr sz="1400" lang="fr-FR">
                <a:solidFill>
                  <a:srgbClr val="161616"/>
                </a:solidFill>
                <a:latin typeface="Marianne"/>
              </a:rPr>
              <a:t>• </a:t>
            </a:r>
            <a:r>
              <a:rPr sz="1400" b="0" lang="fr-FR">
                <a:solidFill>
                  <a:srgbClr val="161616"/>
                </a:solidFill>
                <a:latin typeface="Marianne"/>
              </a:rPr>
              <a:t>Moteurs de recherche et outils d'IA qui analysent vos contenus</a:t>
            </a:r>
          </a:p>
          <a:p>
            <a:pPr algn="l">
              <a:lnSpc>
                <a:spcPct val="120000"/>
              </a:lnSpc>
            </a:pPr>
            <a:r>
              <a:rPr sz="1400" lang="fr-FR">
                <a:solidFill>
                  <a:srgbClr val="161616"/>
                </a:solidFill>
                <a:latin typeface="Marianne"/>
              </a:rPr>
              <a:t>• </a:t>
            </a:r>
            <a:r>
              <a:rPr sz="1400" b="0" lang="fr-FR">
                <a:solidFill>
                  <a:srgbClr val="161616"/>
                </a:solidFill>
                <a:latin typeface="Marianne"/>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Geste 1 - Texte alternatif : décrire chaque image en 1 phrase</a:t>
            </a:r>
          </a:p>
          <a:p>
            <a:pPr algn="l">
              <a:lnSpc>
                <a:spcPct val="120000"/>
              </a:lnSpc>
            </a:pPr>
            <a:r>
              <a:rPr sz="1400" lang="fr-FR">
                <a:solidFill>
                  <a:srgbClr val="161616"/>
                </a:solidFill>
                <a:latin typeface="Marianne"/>
              </a:rPr>
              <a:t>• </a:t>
            </a:r>
            <a:r>
              <a:rPr sz="1400" b="0" lang="fr-FR">
                <a:solidFill>
                  <a:srgbClr val="161616"/>
                </a:solidFill>
                <a:latin typeface="Marianne"/>
              </a:rPr>
              <a:t>Geste 2 - Émojis : 1 ou 2 maximum, en fin de message</a:t>
            </a:r>
          </a:p>
          <a:p>
            <a:pPr algn="l">
              <a:lnSpc>
                <a:spcPct val="120000"/>
              </a:lnSpc>
            </a:pPr>
            <a:r>
              <a:rPr sz="1400" lang="fr-FR">
                <a:solidFill>
                  <a:srgbClr val="161616"/>
                </a:solidFill>
                <a:latin typeface="Marianne"/>
              </a:rPr>
              <a:t>• </a:t>
            </a:r>
            <a:r>
              <a:rPr sz="1400" b="0" lang="fr-FR">
                <a:solidFill>
                  <a:srgbClr val="161616"/>
                </a:solidFill>
                <a:latin typeface="Marianne"/>
              </a:rPr>
              <a:t>Geste 3 - Hashtags : CamelCase et regroupés en fin de post</a:t>
            </a:r>
          </a:p>
          <a:p>
            <a:pPr algn="l">
              <a:lnSpc>
                <a:spcPct val="120000"/>
              </a:lnSpc>
            </a:pPr>
            <a:r>
              <a:rPr sz="1400" lang="fr-FR">
                <a:solidFill>
                  <a:srgbClr val="161616"/>
                </a:solidFill>
                <a:latin typeface="Marianne"/>
              </a:rPr>
              <a:t>• </a:t>
            </a:r>
            <a:r>
              <a:rPr sz="1400" b="0" lang="fr-FR">
                <a:solidFill>
                  <a:srgbClr val="161616"/>
                </a:solidFill>
                <a:latin typeface="Marianne"/>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114</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Identifiez le maximum de problèmes d'accessibilité</a:t>
            </a:r>
          </a:p>
          <a:p>
            <a:pPr algn="l">
              <a:lnSpc>
                <a:spcPct val="150000"/>
              </a:lnSpc>
            </a:pPr>
            <a:r>
              <a:rPr sz="1400" lang="fr-FR">
                <a:solidFill>
                  <a:srgbClr val="161616"/>
                </a:solidFill>
                <a:latin typeface="Marianne"/>
              </a:rPr>
              <a:t>• </a:t>
            </a:r>
            <a:r>
              <a:rPr sz="1400" b="0" lang="fr-FR">
                <a:solidFill>
                  <a:srgbClr val="161616"/>
                </a:solidFill>
                <a:latin typeface="Marianne"/>
              </a:rPr>
              <a:t>Ne lisez pas le tweet à voix haute</a:t>
            </a:r>
          </a:p>
          <a:p>
            <a:pPr algn="l">
              <a:lnSpc>
                <a:spcPct val="150000"/>
              </a:lnSpc>
            </a:pPr>
            <a:r>
              <a:rPr sz="1400" lang="fr-FR">
                <a:solidFill>
                  <a:srgbClr val="161616"/>
                </a:solidFill>
                <a:latin typeface="Marianne"/>
              </a:rPr>
              <a:t>• </a:t>
            </a:r>
            <a:r>
              <a:rPr sz="1400" b="0" lang="fr-FR">
                <a:solidFill>
                  <a:srgbClr val="161616"/>
                </a:solidFill>
                <a:latin typeface="Marianne"/>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115</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Lavez-vous les 👐 avec du 🧼 &amp; de l'💦.</a:t>
            </a:r>
          </a:p>
          <a:p>
            <a:pPr algn="l">
              <a:lnSpc>
                <a:spcPct val="125000"/>
              </a:lnSpc>
            </a:pPr>
            <a:r>
              <a:rPr sz="1400" lang="fr-FR">
                <a:solidFill>
                  <a:srgbClr val="161616"/>
                </a:solidFill>
                <a:latin typeface="Marianne"/>
              </a:rPr>
              <a:t>• </a:t>
            </a:r>
            <a:r>
              <a:rPr sz="1400" b="0" lang="fr-FR">
                <a:solidFill>
                  <a:srgbClr val="161616"/>
                </a:solidFill>
                <a:latin typeface="Marianne"/>
              </a:rPr>
              <a:t>Quand vous toussez ou 🤧 couvrez votre 👄.</a:t>
            </a:r>
          </a:p>
          <a:p>
            <a:pPr algn="l">
              <a:lnSpc>
                <a:spcPct val="125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mains ouvertes avec du savon et éclaboussures de sueur.</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visage qui éternue couvrez votre bouche.</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116</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 avec 1 désinfectant à base d'alcool, du 🧼 &amp; de l'💦.</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 couvrez votre 👄 &amp; le 👃🏻.</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du #COVID19 - trois gestes essentiels :</a:t>
            </a:r>
          </a:p>
          <a:p>
            <a:pPr algn="l">
              <a:lnSpc>
                <a:spcPct val="125000"/>
              </a:lnSpc>
            </a:pPr>
            <a:r>
              <a:rPr sz="1400" lang="fr-FR">
                <a:solidFill>
                  <a:srgbClr val="161616"/>
                </a:solidFill>
                <a:latin typeface="Marianne"/>
              </a:rPr>
              <a:t>• </a:t>
            </a:r>
            <a:r>
              <a:rPr sz="1400" b="0" lang="fr-FR">
                <a:solidFill>
                  <a:srgbClr val="161616"/>
                </a:solidFill>
                <a:latin typeface="Marianne"/>
              </a:rPr>
              <a:t>1. Lavez-vous régulièrement les mains avec du savon et de l'eau 🧼</a:t>
            </a:r>
          </a:p>
          <a:p>
            <a:pPr algn="l">
              <a:lnSpc>
                <a:spcPct val="125000"/>
              </a:lnSpc>
            </a:pPr>
            <a:r>
              <a:rPr sz="1400" lang="fr-FR">
                <a:solidFill>
                  <a:srgbClr val="161616"/>
                </a:solidFill>
                <a:latin typeface="Marianne"/>
              </a:rPr>
              <a:t>• </a:t>
            </a:r>
            <a:r>
              <a:rPr sz="1400" b="0" lang="fr-FR">
                <a:solidFill>
                  <a:srgbClr val="161616"/>
                </a:solidFill>
                <a:latin typeface="Marianne"/>
              </a:rPr>
              <a:t>2. Quand vous toussez, couvrez-vous avec le pli du coude</a:t>
            </a:r>
          </a:p>
          <a:p>
            <a:pPr algn="l">
              <a:lnSpc>
                <a:spcPct val="125000"/>
              </a:lnSpc>
            </a:pPr>
            <a:r>
              <a:rPr sz="1400" lang="fr-FR">
                <a:solidFill>
                  <a:srgbClr val="161616"/>
                </a:solidFill>
                <a:latin typeface="Marianne"/>
              </a:rPr>
              <a:t>• </a:t>
            </a:r>
            <a:r>
              <a:rPr sz="1400" b="0" lang="fr-FR">
                <a:solidFill>
                  <a:srgbClr val="161616"/>
                </a:solidFill>
                <a:latin typeface="Marianne"/>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Émojis réduits à 1, placé en fin de phrase - le message tient sans eux</a:t>
            </a:r>
          </a:p>
          <a:p>
            <a:pPr algn="l">
              <a:lnSpc>
                <a:spcPct val="115000"/>
              </a:lnSpc>
            </a:pPr>
            <a:r>
              <a:rPr sz="1400" lang="fr-FR">
                <a:solidFill>
                  <a:srgbClr val="161616"/>
                </a:solidFill>
                <a:latin typeface="Marianne"/>
              </a:rPr>
              <a:t>• </a:t>
            </a:r>
            <a:r>
              <a:rPr sz="1400" b="0" lang="fr-FR">
                <a:solidFill>
                  <a:srgbClr val="161616"/>
                </a:solidFill>
                <a:latin typeface="Marianne"/>
              </a:rPr>
              <a:t>Structure numérotée - navigation facile pour tous les utilisateurs</a:t>
            </a:r>
          </a:p>
          <a:p>
            <a:pPr algn="l">
              <a:lnSpc>
                <a:spcPct val="115000"/>
              </a:lnSpc>
            </a:pPr>
            <a:r>
              <a:rPr sz="1400" lang="fr-FR">
                <a:solidFill>
                  <a:srgbClr val="161616"/>
                </a:solidFill>
                <a:latin typeface="Marianne"/>
              </a:rPr>
              <a:t>• </a:t>
            </a:r>
            <a:r>
              <a:rPr sz="1400" b="0" lang="fr-FR">
                <a:solidFill>
                  <a:srgbClr val="161616"/>
                </a:solidFill>
                <a:latin typeface="Marianne"/>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117</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Fermez les yeux ou regardez ailleurs - écoutez uniquement</a:t>
            </a:r>
          </a:p>
          <a:p>
            <a:pPr algn="l">
              <a:lnSpc>
                <a:spcPct val="150000"/>
              </a:lnSpc>
            </a:pPr>
            <a:r>
              <a:rPr sz="1400" lang="fr-FR">
                <a:solidFill>
                  <a:srgbClr val="161616"/>
                </a:solidFill>
                <a:latin typeface="Marianne"/>
              </a:rPr>
              <a:t>• </a:t>
            </a:r>
            <a:r>
              <a:rPr sz="1400" b="0" lang="fr-FR">
                <a:solidFill>
                  <a:srgbClr val="161616"/>
                </a:solidFill>
                <a:latin typeface="Marianne"/>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118</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Décrire chaque image en 1 à 2 phrases</a:t>
            </a:r>
          </a:p>
          <a:p>
            <a:pPr algn="l">
              <a:lnSpc>
                <a:spcPct val="125000"/>
              </a:lnSpc>
            </a:pPr>
            <a:r>
              <a:rPr sz="1400" lang="fr-FR">
                <a:solidFill>
                  <a:srgbClr val="161616"/>
                </a:solidFill>
                <a:latin typeface="Marianne"/>
              </a:rPr>
              <a:t>• </a:t>
            </a:r>
            <a:r>
              <a:rPr sz="1400" b="0" lang="fr-FR">
                <a:solidFill>
                  <a:srgbClr val="161616"/>
                </a:solidFill>
                <a:latin typeface="Marianne"/>
              </a:rPr>
              <a:t>Image décorative : utiliser l’option « Décorative » si la plateforme la propose. Sinon, indiquer « Image décorative » dans le texte alternatif.</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1 ou 2 maximum, en fin de message uniquement</a:t>
            </a:r>
          </a:p>
          <a:p>
            <a:pPr algn="l">
              <a:lnSpc>
                <a:spcPct val="125000"/>
              </a:lnSpc>
            </a:pPr>
            <a:r>
              <a:rPr sz="1400" lang="fr-FR">
                <a:solidFill>
                  <a:srgbClr val="161616"/>
                </a:solidFill>
                <a:latin typeface="Marianne"/>
              </a:rPr>
              <a:t>• </a:t>
            </a:r>
            <a:r>
              <a:rPr sz="1400" b="0" lang="fr-FR">
                <a:solidFill>
                  <a:srgbClr val="161616"/>
                </a:solidFill>
                <a:latin typeface="Marianne"/>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#ServicePublic pas #servicepublic</a:t>
            </a:r>
          </a:p>
          <a:p>
            <a:pPr algn="l">
              <a:lnSpc>
                <a:spcPct val="125000"/>
              </a:lnSpc>
            </a:pPr>
            <a:r>
              <a:rPr sz="1400" lang="fr-FR">
                <a:solidFill>
                  <a:srgbClr val="161616"/>
                </a:solidFill>
                <a:latin typeface="Marianne"/>
              </a:rPr>
              <a:t>• </a:t>
            </a:r>
            <a:r>
              <a:rPr sz="1400" b="0" lang="fr-FR">
                <a:solidFill>
                  <a:srgbClr val="161616"/>
                </a:solidFill>
                <a:latin typeface="Marianne"/>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Jamais de faux gras ou faux italique (InstaFont ...)</a:t>
            </a:r>
          </a:p>
          <a:p>
            <a:pPr algn="l">
              <a:lnSpc>
                <a:spcPct val="125000"/>
              </a:lnSpc>
            </a:pPr>
            <a:r>
              <a:rPr sz="1400" lang="fr-FR">
                <a:solidFill>
                  <a:srgbClr val="161616"/>
                </a:solidFill>
                <a:latin typeface="Marianne"/>
              </a:rPr>
              <a:t>• </a:t>
            </a:r>
            <a:r>
              <a:rPr sz="1400" b="0" lang="fr-FR">
                <a:solidFill>
                  <a:srgbClr val="161616"/>
                </a:solidFill>
                <a:latin typeface="Marianne"/>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Personnes aveugles ou malvoyantes (lecteur d'écran)</a:t>
            </a:r>
          </a:p>
          <a:p>
            <a:pPr algn="l">
              <a:lnSpc>
                <a:spcPct val="115000"/>
              </a:lnSpc>
            </a:pPr>
            <a:r>
              <a:rPr sz="1400" lang="fr-FR">
                <a:solidFill>
                  <a:srgbClr val="161616"/>
                </a:solidFill>
                <a:latin typeface="Marianne"/>
              </a:rPr>
              <a:t>• </a:t>
            </a:r>
            <a:r>
              <a:rPr sz="1400" b="0" lang="fr-FR">
                <a:solidFill>
                  <a:srgbClr val="161616"/>
                </a:solidFill>
                <a:latin typeface="Marianne"/>
              </a:rPr>
              <a:t>Connexion lente ou image non chargée</a:t>
            </a:r>
          </a:p>
          <a:p>
            <a:pPr algn="l">
              <a:lnSpc>
                <a:spcPct val="115000"/>
              </a:lnSpc>
            </a:pPr>
            <a:r>
              <a:rPr sz="1400" lang="fr-FR">
                <a:solidFill>
                  <a:srgbClr val="161616"/>
                </a:solidFill>
                <a:latin typeface="Marianne"/>
              </a:rPr>
              <a:t>• </a:t>
            </a:r>
            <a:r>
              <a:rPr sz="1400" b="0" lang="fr-FR">
                <a:solidFill>
                  <a:srgbClr val="161616"/>
                </a:solidFill>
                <a:latin typeface="Marianne"/>
              </a:rPr>
              <a:t>Moteurs de recherche (Google indexe via l'alt text)</a:t>
            </a:r>
          </a:p>
          <a:p>
            <a:pPr algn="l">
              <a:lnSpc>
                <a:spcPct val="115000"/>
              </a:lnSpc>
            </a:pPr>
            <a:r>
              <a:rPr sz="1400" lang="fr-FR">
                <a:solidFill>
                  <a:srgbClr val="161616"/>
                </a:solidFill>
                <a:latin typeface="Marianne"/>
              </a:rPr>
              <a:t>• </a:t>
            </a:r>
            <a:r>
              <a:rPr sz="1400" b="0" lang="fr-FR">
                <a:solidFill>
                  <a:srgbClr val="161616"/>
                </a:solidFill>
                <a:latin typeface="Marianne"/>
              </a:rPr>
              <a:t>IA et outils d'analyse d'image</a:t>
            </a:r>
          </a:p>
          <a:p>
            <a:pPr algn="l">
              <a:lnSpc>
                <a:spcPct val="115000"/>
              </a:lnSpc>
            </a:pPr>
            <a:r>
              <a:rPr sz="1400" lang="fr-FR">
                <a:solidFill>
                  <a:srgbClr val="161616"/>
                </a:solidFill>
                <a:latin typeface="Marianne"/>
              </a:rPr>
              <a:t>• </a:t>
            </a:r>
            <a:r>
              <a:rPr sz="1400" b="0" lang="fr-FR">
                <a:solidFill>
                  <a:srgbClr val="161616"/>
                </a:solidFill>
                <a:latin typeface="Marianne"/>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LinkedIn : Modifier → Texte alternatif</a:t>
            </a:r>
          </a:p>
          <a:p>
            <a:pPr algn="l">
              <a:lnSpc>
                <a:spcPct val="115000"/>
              </a:lnSpc>
            </a:pPr>
            <a:r>
              <a:rPr sz="1400" lang="fr-FR">
                <a:solidFill>
                  <a:srgbClr val="161616"/>
                </a:solidFill>
                <a:latin typeface="Marianne"/>
              </a:rPr>
              <a:t>• </a:t>
            </a:r>
            <a:r>
              <a:rPr sz="1400" b="0" lang="fr-FR">
                <a:solidFill>
                  <a:srgbClr val="161616"/>
                </a:solidFill>
                <a:latin typeface="Marianne"/>
              </a:rPr>
              <a:t>Facebook : Modifier l'image → Alt text</a:t>
            </a:r>
          </a:p>
          <a:p>
            <a:pPr algn="l">
              <a:lnSpc>
                <a:spcPct val="115000"/>
              </a:lnSpc>
            </a:pPr>
            <a:r>
              <a:rPr sz="1400" lang="fr-FR">
                <a:solidFill>
                  <a:srgbClr val="161616"/>
                </a:solidFill>
                <a:latin typeface="Marianne"/>
              </a:rPr>
              <a:t>• </a:t>
            </a:r>
            <a:r>
              <a:rPr sz="1400" b="0" lang="fr-FR">
                <a:solidFill>
                  <a:srgbClr val="161616"/>
                </a:solidFill>
                <a:latin typeface="Marianne"/>
              </a:rPr>
              <a:t>Twitter/X : intégré à la publication</a:t>
            </a:r>
          </a:p>
          <a:p>
            <a:pPr algn="l">
              <a:lnSpc>
                <a:spcPct val="115000"/>
              </a:lnSpc>
            </a:pPr>
            <a:r>
              <a:rPr sz="1400" lang="fr-FR">
                <a:solidFill>
                  <a:srgbClr val="161616"/>
                </a:solidFill>
                <a:latin typeface="Marianne"/>
              </a:rPr>
              <a:t>• </a:t>
            </a:r>
            <a:r>
              <a:rPr sz="1400" b="0" lang="fr-FR">
                <a:solidFill>
                  <a:srgbClr val="161616"/>
                </a:solidFill>
                <a:latin typeface="Marianne"/>
              </a:rPr>
              <a:t>Instagram : Paramètres avancés → Alt text</a:t>
            </a:r>
          </a:p>
          <a:p>
            <a:pPr algn="l">
              <a:lnSpc>
                <a:spcPct val="115000"/>
              </a:lnSpc>
            </a:pPr>
            <a:r>
              <a:rPr sz="1400" lang="fr-FR">
                <a:solidFill>
                  <a:srgbClr val="161616"/>
                </a:solidFill>
                <a:latin typeface="Marianne"/>
              </a:rPr>
              <a:t>• </a:t>
            </a:r>
            <a:r>
              <a:rPr sz="1400" b="0" lang="fr-FR">
                <a:solidFill>
                  <a:srgbClr val="161616"/>
                </a:solidFill>
                <a:latin typeface="Marianne"/>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120</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"image.jpg" - nom de fichier, aucun sens</a:t>
            </a:r>
          </a:p>
          <a:p>
            <a:pPr algn="l">
              <a:lnSpc>
                <a:spcPct val="150000"/>
              </a:lnSpc>
            </a:pPr>
            <a:r>
              <a:rPr sz="1400" lang="fr-FR">
                <a:solidFill>
                  <a:srgbClr val="161616"/>
                </a:solidFill>
                <a:latin typeface="Marianne"/>
              </a:rPr>
              <a:t>• </a:t>
            </a:r>
            <a:r>
              <a:rPr sz="1400" b="0" lang="fr-FR">
                <a:solidFill>
                  <a:srgbClr val="161616"/>
                </a:solidFill>
                <a:latin typeface="Marianne"/>
              </a:rPr>
              <a:t>"Photo" - trop vague, aucune information</a:t>
            </a:r>
          </a:p>
          <a:p>
            <a:pPr algn="l">
              <a:lnSpc>
                <a:spcPct val="150000"/>
              </a:lnSpc>
            </a:pPr>
            <a:r>
              <a:rPr sz="1400" lang="fr-FR">
                <a:solidFill>
                  <a:srgbClr val="161616"/>
                </a:solidFill>
                <a:latin typeface="Marianne"/>
              </a:rPr>
              <a:t>• </a:t>
            </a:r>
            <a:r>
              <a:rPr sz="1400" b="0" lang="fr-FR">
                <a:solidFill>
                  <a:srgbClr val="161616"/>
                </a:solidFill>
                <a:latin typeface="Marianne"/>
              </a:rPr>
              <a:t>"Image de la réunion du 12 mars 2026" - date inutile sans contexte</a:t>
            </a:r>
          </a:p>
          <a:p>
            <a:pPr algn="l">
              <a:lnSpc>
                <a:spcPct val="150000"/>
              </a:lnSpc>
            </a:pPr>
            <a:r>
              <a:rPr sz="1400" lang="fr-FR">
                <a:solidFill>
                  <a:srgbClr val="161616"/>
                </a:solidFill>
                <a:latin typeface="Marianne"/>
              </a:rPr>
              <a:t>• </a:t>
            </a:r>
            <a:r>
              <a:rPr sz="1400" b="0" lang="fr-FR">
                <a:solidFill>
                  <a:srgbClr val="161616"/>
                </a:solidFill>
                <a:latin typeface="Marianne"/>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"Trois agents discutent autour d'une table, documents ouverts"</a:t>
            </a:r>
          </a:p>
          <a:p>
            <a:pPr algn="l">
              <a:lnSpc>
                <a:spcPct val="125000"/>
              </a:lnSpc>
            </a:pPr>
            <a:r>
              <a:rPr sz="1400" lang="fr-FR">
                <a:solidFill>
                  <a:srgbClr val="161616"/>
                </a:solidFill>
                <a:latin typeface="Marianne"/>
              </a:rPr>
              <a:t>• </a:t>
            </a:r>
            <a:r>
              <a:rPr sz="1400" b="0" lang="fr-FR">
                <a:solidFill>
                  <a:srgbClr val="161616"/>
                </a:solidFill>
                <a:latin typeface="Marianne"/>
              </a:rPr>
              <a:t>"Logo DINUM - bleu avec texte blanc"</a:t>
            </a:r>
          </a:p>
          <a:p>
            <a:pPr algn="l">
              <a:lnSpc>
                <a:spcPct val="125000"/>
              </a:lnSpc>
            </a:pPr>
            <a:r>
              <a:rPr sz="1400" lang="fr-FR">
                <a:solidFill>
                  <a:srgbClr val="161616"/>
                </a:solidFill>
                <a:latin typeface="Marianne"/>
              </a:rPr>
              <a:t>• </a:t>
            </a:r>
            <a:r>
              <a:rPr sz="1400" b="0" lang="fr-FR">
                <a:solidFill>
                  <a:srgbClr val="161616"/>
                </a:solidFill>
                <a:latin typeface="Marianne"/>
              </a:rPr>
              <a:t>"Graphique : le taux d'accessibilité passe de 45 à 78 % entre 2023 et 2025"</a:t>
            </a:r>
          </a:p>
          <a:p>
            <a:pPr algn="l">
              <a:lnSpc>
                <a:spcPct val="125000"/>
              </a:lnSpc>
            </a:pPr>
            <a:r>
              <a:rPr sz="1400" lang="fr-FR">
                <a:solidFill>
                  <a:srgbClr val="161616"/>
                </a:solidFill>
                <a:latin typeface="Marianne"/>
              </a:rPr>
              <a:t>• </a:t>
            </a:r>
            <a:r>
              <a:rPr sz="1400" b="0" lang="fr-FR">
                <a:solidFill>
                  <a:srgbClr val="161616"/>
                </a:solidFill>
                <a:latin typeface="Marianne"/>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121</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Marianne"/>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Marianne"/>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LinkedIn et Instagram proposent un rappel si vous oubliez l'alt text</a:t>
            </a:r>
          </a:p>
          <a:p>
            <a:pPr algn="l">
              <a:lnSpc>
                <a:spcPct val="150000"/>
              </a:lnSpc>
            </a:pPr>
            <a:r>
              <a:rPr sz="1400" lang="fr-FR">
                <a:solidFill>
                  <a:srgbClr val="161616"/>
                </a:solidFill>
                <a:latin typeface="Marianne"/>
              </a:rPr>
              <a:t>• </a:t>
            </a:r>
            <a:r>
              <a:rPr sz="1400" b="0" lang="fr-FR">
                <a:solidFill>
                  <a:srgbClr val="161616"/>
                </a:solidFill>
                <a:latin typeface="Marianne"/>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122</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Retirez tous les émojis du texte</a:t>
            </a:r>
          </a:p>
          <a:p>
            <a:pPr algn="l">
              <a:lnSpc>
                <a:spcPct val="120000"/>
              </a:lnSpc>
            </a:pPr>
            <a:r>
              <a:rPr sz="1400" lang="fr-FR">
                <a:solidFill>
                  <a:srgbClr val="161616"/>
                </a:solidFill>
                <a:latin typeface="Marianne"/>
              </a:rPr>
              <a:t>• </a:t>
            </a:r>
            <a:r>
              <a:rPr sz="1400" b="0" lang="fr-FR">
                <a:solidFill>
                  <a:srgbClr val="161616"/>
                </a:solidFill>
                <a:latin typeface="Marianne"/>
              </a:rPr>
              <a:t>Le message est-il toujours clair et complet ? Si oui : bon signe</a:t>
            </a:r>
          </a:p>
          <a:p>
            <a:pPr algn="l">
              <a:lnSpc>
                <a:spcPct val="120000"/>
              </a:lnSpc>
            </a:pPr>
            <a:r>
              <a:rPr sz="1400" lang="fr-FR">
                <a:solidFill>
                  <a:srgbClr val="161616"/>
                </a:solidFill>
                <a:latin typeface="Marianne"/>
              </a:rPr>
              <a:t>• </a:t>
            </a:r>
            <a:r>
              <a:rPr sz="1400" b="0" lang="fr-FR">
                <a:solidFill>
                  <a:srgbClr val="161616"/>
                </a:solidFill>
                <a:latin typeface="Marianne"/>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123</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124</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#ServicePublic : les mots sont séparés naturellement</a:t>
            </a:r>
          </a:p>
          <a:p>
            <a:pPr algn="l">
              <a:lnSpc>
                <a:spcPct val="115000"/>
              </a:lnSpc>
            </a:pPr>
            <a:r>
              <a:rPr sz="1400" lang="fr-FR">
                <a:solidFill>
                  <a:srgbClr val="161616"/>
                </a:solidFill>
                <a:latin typeface="Marianne"/>
              </a:rPr>
              <a:t>• </a:t>
            </a:r>
            <a:r>
              <a:rPr sz="1400" b="0" lang="fr-FR">
                <a:solidFill>
                  <a:srgbClr val="161616"/>
                </a:solidFill>
                <a:latin typeface="Marianne"/>
              </a:rPr>
              <a:t>#servicepublic : un seul bloc, plus difficile à comprendre</a:t>
            </a:r>
          </a:p>
          <a:p>
            <a:pPr algn="l">
              <a:lnSpc>
                <a:spcPct val="115000"/>
              </a:lnSpc>
            </a:pPr>
            <a:r>
              <a:rPr sz="1400" lang="fr-FR">
                <a:solidFill>
                  <a:srgbClr val="161616"/>
                </a:solidFill>
                <a:latin typeface="Marianne"/>
              </a:rPr>
              <a:t>• </a:t>
            </a:r>
            <a:r>
              <a:rPr sz="1400" b="0" lang="fr-FR">
                <a:solidFill>
                  <a:srgbClr val="161616"/>
                </a:solidFill>
                <a:latin typeface="Marianne"/>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Majuscule au début de chaque mot</a:t>
            </a:r>
          </a:p>
          <a:p>
            <a:pPr algn="l">
              <a:lnSpc>
                <a:spcPct val="115000"/>
              </a:lnSpc>
            </a:pPr>
            <a:r>
              <a:rPr sz="1400" lang="fr-FR">
                <a:solidFill>
                  <a:srgbClr val="161616"/>
                </a:solidFill>
                <a:latin typeface="Marianne"/>
              </a:rPr>
              <a:t>• </a:t>
            </a:r>
            <a:r>
              <a:rPr sz="1400" b="0" lang="fr-FR">
                <a:solidFill>
                  <a:srgbClr val="161616"/>
                </a:solidFill>
                <a:latin typeface="Marianne"/>
              </a:rPr>
              <a:t>Hashtags regroupés à la fin du post</a:t>
            </a:r>
          </a:p>
          <a:p>
            <a:pPr algn="l">
              <a:lnSpc>
                <a:spcPct val="115000"/>
              </a:lnSpc>
            </a:pPr>
            <a:r>
              <a:rPr sz="1400" lang="fr-FR">
                <a:solidFill>
                  <a:srgbClr val="161616"/>
                </a:solidFill>
                <a:latin typeface="Marianne"/>
              </a:rPr>
              <a:t>• </a:t>
            </a:r>
            <a:r>
              <a:rPr sz="1400" b="0" lang="fr-FR">
                <a:solidFill>
                  <a:srgbClr val="161616"/>
                </a:solidFill>
                <a:latin typeface="Marianne"/>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125</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InstaFont, LingoJam ... transforment les lettres en symboles</a:t>
            </a:r>
          </a:p>
          <a:p>
            <a:pPr algn="l">
              <a:lnSpc>
                <a:spcPct val="115000"/>
              </a:lnSpc>
            </a:pPr>
            <a:r>
              <a:rPr sz="1400" lang="fr-FR">
                <a:solidFill>
                  <a:srgbClr val="161616"/>
                </a:solidFill>
                <a:latin typeface="Marianne"/>
              </a:rPr>
              <a:t>• </a:t>
            </a:r>
            <a:r>
              <a:rPr sz="1400" b="0" lang="fr-FR">
                <a:solidFill>
                  <a:srgbClr val="161616"/>
                </a:solidFill>
                <a:latin typeface="Marianne"/>
              </a:rPr>
              <a:t>Le lecteur d'écran peut épeler, déformer ou ignorer le message</a:t>
            </a:r>
          </a:p>
          <a:p>
            <a:pPr algn="l">
              <a:lnSpc>
                <a:spcPct val="115000"/>
              </a:lnSpc>
            </a:pPr>
            <a:r>
              <a:rPr sz="1400" lang="fr-FR">
                <a:solidFill>
                  <a:srgbClr val="161616"/>
                </a:solidFill>
                <a:latin typeface="Marianne"/>
              </a:rPr>
              <a:t>• </a:t>
            </a:r>
            <a:r>
              <a:rPr sz="1400" b="0" lang="fr-FR">
                <a:solidFill>
                  <a:srgbClr val="161616"/>
                </a:solidFill>
                <a:latin typeface="Marianne"/>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Utiliser le gras natif de la plateforme quand il existe</a:t>
            </a:r>
          </a:p>
          <a:p>
            <a:pPr algn="l">
              <a:lnSpc>
                <a:spcPct val="115000"/>
              </a:lnSpc>
            </a:pPr>
            <a:r>
              <a:rPr sz="1400" lang="fr-FR">
                <a:solidFill>
                  <a:srgbClr val="161616"/>
                </a:solidFill>
                <a:latin typeface="Marianne"/>
              </a:rPr>
              <a:t>• </a:t>
            </a:r>
            <a:r>
              <a:rPr sz="1400" b="0" lang="fr-FR">
                <a:solidFill>
                  <a:srgbClr val="161616"/>
                </a:solidFill>
                <a:latin typeface="Marianne"/>
              </a:rPr>
              <a:t>Sinon : écrire en texte simple</a:t>
            </a:r>
          </a:p>
          <a:p>
            <a:pPr algn="l">
              <a:lnSpc>
                <a:spcPct val="115000"/>
              </a:lnSpc>
            </a:pPr>
            <a:r>
              <a:rPr sz="1400" lang="fr-FR">
                <a:solidFill>
                  <a:srgbClr val="161616"/>
                </a:solidFill>
                <a:latin typeface="Marianne"/>
              </a:rPr>
              <a:t>• </a:t>
            </a:r>
            <a:r>
              <a:rPr sz="1400" b="0" lang="fr-FR">
                <a:solidFill>
                  <a:srgbClr val="161616"/>
                </a:solidFill>
                <a:latin typeface="Marianne"/>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126</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Qui est visible dans cette communication ?</a:t>
            </a:r>
          </a:p>
          <a:p>
            <a:pPr algn="l">
              <a:lnSpc>
                <a:spcPct val="115000"/>
              </a:lnSpc>
            </a:pPr>
            <a:r>
              <a:rPr sz="1400" lang="fr-FR">
                <a:solidFill>
                  <a:srgbClr val="161616"/>
                </a:solidFill>
                <a:latin typeface="Marianne"/>
              </a:rPr>
              <a:t>• </a:t>
            </a:r>
            <a:r>
              <a:rPr sz="1400" b="0" lang="fr-FR">
                <a:solidFill>
                  <a:srgbClr val="161616"/>
                </a:solidFill>
                <a:latin typeface="Marianne"/>
              </a:rPr>
              <a:t>Qui est absent ou toujours montré en marge ?</a:t>
            </a:r>
          </a:p>
          <a:p>
            <a:pPr algn="l">
              <a:lnSpc>
                <a:spcPct val="115000"/>
              </a:lnSpc>
            </a:pPr>
            <a:r>
              <a:rPr sz="1400" lang="fr-FR">
                <a:solidFill>
                  <a:srgbClr val="161616"/>
                </a:solidFill>
                <a:latin typeface="Marianne"/>
              </a:rPr>
              <a:t>• </a:t>
            </a:r>
            <a:r>
              <a:rPr sz="1400" b="0" lang="fr-FR">
                <a:solidFill>
                  <a:srgbClr val="161616"/>
                </a:solidFill>
                <a:latin typeface="Marianne"/>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Les personnes concernées peuvent se sentir attendues</a:t>
            </a:r>
          </a:p>
          <a:p>
            <a:pPr algn="l">
              <a:lnSpc>
                <a:spcPct val="115000"/>
              </a:lnSpc>
            </a:pPr>
            <a:r>
              <a:rPr sz="1400" lang="fr-FR">
                <a:solidFill>
                  <a:srgbClr val="161616"/>
                </a:solidFill>
                <a:latin typeface="Marianne"/>
              </a:rPr>
              <a:t>• </a:t>
            </a:r>
            <a:r>
              <a:rPr sz="1400" b="0" lang="fr-FR">
                <a:solidFill>
                  <a:srgbClr val="161616"/>
                </a:solidFill>
                <a:latin typeface="Marianne"/>
              </a:rPr>
              <a:t>La communication évite de reconduire une seule norme</a:t>
            </a:r>
          </a:p>
          <a:p>
            <a:pPr algn="l">
              <a:lnSpc>
                <a:spcPct val="115000"/>
              </a:lnSpc>
            </a:pPr>
            <a:r>
              <a:rPr sz="1400" lang="fr-FR">
                <a:solidFill>
                  <a:srgbClr val="161616"/>
                </a:solidFill>
                <a:latin typeface="Marianne"/>
              </a:rPr>
              <a:t>• </a:t>
            </a:r>
            <a:r>
              <a:rPr sz="1400" b="0" lang="fr-FR">
                <a:solidFill>
                  <a:srgbClr val="161616"/>
                </a:solidFill>
                <a:latin typeface="Marianne"/>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127</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Diversité montrée dans des situations ordinaires</a:t>
            </a:r>
          </a:p>
          <a:p>
            <a:pPr algn="l">
              <a:lnSpc>
                <a:spcPct val="115000"/>
              </a:lnSpc>
            </a:pPr>
            <a:r>
              <a:rPr sz="1400" lang="fr-FR">
                <a:solidFill>
                  <a:srgbClr val="161616"/>
                </a:solidFill>
                <a:latin typeface="Marianne"/>
              </a:rPr>
              <a:t>• </a:t>
            </a:r>
            <a:r>
              <a:rPr sz="1400" b="0" lang="fr-FR">
                <a:solidFill>
                  <a:srgbClr val="161616"/>
                </a:solidFill>
                <a:latin typeface="Marianne"/>
              </a:rPr>
              <a:t>Personnes concernées en rôle actif, pas seulement décoratif</a:t>
            </a:r>
          </a:p>
          <a:p>
            <a:pPr algn="l">
              <a:lnSpc>
                <a:spcPct val="115000"/>
              </a:lnSpc>
            </a:pPr>
            <a:r>
              <a:rPr sz="1400" lang="fr-FR">
                <a:solidFill>
                  <a:srgbClr val="161616"/>
                </a:solidFill>
                <a:latin typeface="Marianne"/>
              </a:rPr>
              <a:t>• </a:t>
            </a:r>
            <a:r>
              <a:rPr sz="1400" b="0" lang="fr-FR">
                <a:solidFill>
                  <a:srgbClr val="161616"/>
                </a:solidFill>
                <a:latin typeface="Marianne"/>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Image symbolique sans réalité derrière</a:t>
            </a:r>
          </a:p>
          <a:p>
            <a:pPr algn="l">
              <a:lnSpc>
                <a:spcPct val="115000"/>
              </a:lnSpc>
            </a:pPr>
            <a:r>
              <a:rPr sz="1400" lang="fr-FR">
                <a:solidFill>
                  <a:srgbClr val="161616"/>
                </a:solidFill>
                <a:latin typeface="Marianne"/>
              </a:rPr>
              <a:t>• </a:t>
            </a:r>
            <a:r>
              <a:rPr sz="1400" b="0" lang="fr-FR">
                <a:solidFill>
                  <a:srgbClr val="161616"/>
                </a:solidFill>
                <a:latin typeface="Marianne"/>
              </a:rPr>
              <a:t>Personne réduite à son handicap ou à son identité</a:t>
            </a:r>
          </a:p>
          <a:p>
            <a:pPr algn="l">
              <a:lnSpc>
                <a:spcPct val="115000"/>
              </a:lnSpc>
            </a:pPr>
            <a:r>
              <a:rPr sz="1400" lang="fr-FR">
                <a:solidFill>
                  <a:srgbClr val="161616"/>
                </a:solidFill>
                <a:latin typeface="Marianne"/>
              </a:rPr>
              <a:t>• </a:t>
            </a:r>
            <a:r>
              <a:rPr sz="1400" b="0" lang="fr-FR">
                <a:solidFill>
                  <a:srgbClr val="161616"/>
                </a:solidFill>
                <a:latin typeface="Marianne"/>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128</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Formules épicènes : 'Nous vous convions', 'les personnes concernées'</a:t>
            </a:r>
          </a:p>
          <a:p>
            <a:pPr algn="l">
              <a:lnSpc>
                <a:spcPct val="120000"/>
              </a:lnSpc>
            </a:pPr>
            <a:r>
              <a:rPr sz="1400" lang="fr-FR">
                <a:solidFill>
                  <a:srgbClr val="161616"/>
                </a:solidFill>
                <a:latin typeface="Marianne"/>
              </a:rPr>
              <a:t>• </a:t>
            </a:r>
            <a:r>
              <a:rPr sz="1400" b="0" lang="fr-FR">
                <a:solidFill>
                  <a:srgbClr val="161616"/>
                </a:solidFill>
                <a:latin typeface="Marianne"/>
              </a:rPr>
              <a:t>Mots collectifs : 'le public', 'l'équipe', 'la clientèle'</a:t>
            </a:r>
          </a:p>
          <a:p>
            <a:pPr algn="l">
              <a:lnSpc>
                <a:spcPct val="120000"/>
              </a:lnSpc>
            </a:pPr>
            <a:r>
              <a:rPr sz="1400" lang="fr-FR">
                <a:solidFill>
                  <a:srgbClr val="161616"/>
                </a:solidFill>
                <a:latin typeface="Marianne"/>
              </a:rPr>
              <a:t>• </a:t>
            </a:r>
            <a:r>
              <a:rPr sz="1400" b="0" lang="fr-FR">
                <a:solidFill>
                  <a:srgbClr val="161616"/>
                </a:solidFill>
                <a:latin typeface="Marianne"/>
              </a:rPr>
              <a:t>Double flexion si nécessaire : 'les utilisateurs et utilisatrices'</a:t>
            </a:r>
          </a:p>
          <a:p>
            <a:pPr algn="l">
              <a:lnSpc>
                <a:spcPct val="120000"/>
              </a:lnSpc>
            </a:pPr>
            <a:r>
              <a:rPr sz="1400" lang="fr-FR">
                <a:solidFill>
                  <a:srgbClr val="161616"/>
                </a:solidFill>
                <a:latin typeface="Marianne"/>
              </a:rPr>
              <a:t>• </a:t>
            </a:r>
            <a:r>
              <a:rPr sz="1400" b="0" lang="fr-FR">
                <a:solidFill>
                  <a:srgbClr val="161616"/>
                </a:solidFill>
                <a:latin typeface="Marianne"/>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Point médian ou ponctuation répétée quand cela gêne la lecture</a:t>
            </a:r>
          </a:p>
          <a:p>
            <a:pPr algn="l">
              <a:lnSpc>
                <a:spcPct val="120000"/>
              </a:lnSpc>
            </a:pPr>
            <a:r>
              <a:rPr sz="1400" lang="fr-FR">
                <a:solidFill>
                  <a:srgbClr val="161616"/>
                </a:solidFill>
                <a:latin typeface="Marianne"/>
              </a:rPr>
              <a:t>• </a:t>
            </a:r>
            <a:r>
              <a:rPr sz="1400" b="0" lang="fr-FR">
                <a:solidFill>
                  <a:srgbClr val="161616"/>
                </a:solidFill>
                <a:latin typeface="Marianne"/>
              </a:rPr>
              <a:t>Formes trop compressées : elles ralentissent aussi la lecture visuelle</a:t>
            </a:r>
          </a:p>
          <a:p>
            <a:pPr algn="l">
              <a:lnSpc>
                <a:spcPct val="120000"/>
              </a:lnSpc>
            </a:pPr>
            <a:r>
              <a:rPr sz="1400" lang="fr-FR">
                <a:solidFill>
                  <a:srgbClr val="161616"/>
                </a:solidFill>
                <a:latin typeface="Marianne"/>
              </a:rPr>
              <a:t>• </a:t>
            </a:r>
            <a:r>
              <a:rPr sz="1400" b="0" lang="fr-FR">
                <a:solidFill>
                  <a:srgbClr val="161616"/>
                </a:solidFill>
                <a:latin typeface="Marianne"/>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51713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129</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Choisissez un post réel ou un exemple fourni. Objectif : trouver 2 améliorations utiles : accès, lisibilité ou représentation.</a:t>
            </a:r>
          </a:p>
        </p:txBody>
      </p:sp>
      <p:sp>
        <p:nvSpPr>
          <p:cNvPr id="11" name="DSFR-stepper-pastille-1"/>
          <p:cNvSpPr/>
          <p:nvPr/>
        </p:nvSpPr>
        <p:spPr>
          <a:xfrm>
            <a:off x="1445894"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1 publication</a:t>
            </a:r>
          </a:p>
        </p:txBody>
      </p:sp>
      <p:sp>
        <p:nvSpPr>
          <p:cNvPr id="14" name="DSFR-stepper-pastille-2"/>
          <p:cNvSpPr/>
          <p:nvPr/>
        </p:nvSpPr>
        <p:spPr>
          <a:xfrm>
            <a:off x="4328541"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3358134"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Anticiper / Rédiger / Publier</a:t>
            </a:r>
          </a:p>
        </p:txBody>
      </p:sp>
      <p:sp>
        <p:nvSpPr>
          <p:cNvPr id="17" name="DSFR-stepper-pastille-3"/>
          <p:cNvSpPr/>
          <p:nvPr/>
        </p:nvSpPr>
        <p:spPr>
          <a:xfrm>
            <a:off x="7211186"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9" name="DSFR-stepper-texte-3"/>
          <p:cNvSpPr txBox="1"/>
          <p:nvPr/>
        </p:nvSpPr>
        <p:spPr>
          <a:xfrm>
            <a:off x="6240779"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Retenir 2 risques prioritaires</a:t>
            </a:r>
          </a:p>
        </p:txBody>
      </p:sp>
      <p:sp>
        <p:nvSpPr>
          <p:cNvPr id="20" name="DSFR-stepper-pastille-4"/>
          <p:cNvSpPr/>
          <p:nvPr/>
        </p:nvSpPr>
        <p:spPr>
          <a:xfrm>
            <a:off x="10093832"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1" name="DSFR-stepper-texte-4"/>
          <p:cNvSpPr txBox="1"/>
          <p:nvPr/>
        </p:nvSpPr>
        <p:spPr>
          <a:xfrm>
            <a:off x="9123426"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Préparer 1 min de restitution</a:t>
            </a:r>
          </a:p>
        </p:txBody>
      </p:sp>
      <p:sp>
        <p:nvSpPr>
          <p:cNvPr id="23" name="DSFR-box"/>
          <p:cNvSpPr/>
          <p:nvPr/>
        </p:nvSpPr>
        <p:spPr>
          <a:xfrm>
            <a:off x="548640" y="4503420"/>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Déroulé</a:t>
            </a:r>
          </a:p>
        </p:txBody>
      </p:sp>
      <p:sp>
        <p:nvSpPr>
          <p:cNvPr id="25" name="DSFR-alert-info-body"/>
          <p:cNvSpPr txBox="1"/>
          <p:nvPr/>
        </p:nvSpPr>
        <p:spPr>
          <a:xfrm>
            <a:off x="704088" y="5006340"/>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3 min : choisir le post et le contexte</a:t>
            </a:r>
          </a:p>
          <a:p>
            <a:pPr algn="l">
              <a:lnSpc>
                <a:spcPct val="115000"/>
              </a:lnSpc>
            </a:pPr>
            <a:r>
              <a:rPr sz="1400" lang="fr-FR">
                <a:solidFill>
                  <a:srgbClr val="161616"/>
                </a:solidFill>
                <a:latin typeface="Marianne"/>
              </a:rPr>
              <a:t>• </a:t>
            </a:r>
            <a:r>
              <a:rPr sz="1400" b="0" lang="fr-FR">
                <a:solidFill>
                  <a:srgbClr val="161616"/>
                </a:solidFill>
                <a:latin typeface="Marianne"/>
              </a:rPr>
              <a:t>8 min : passer les 3 checklists</a:t>
            </a:r>
          </a:p>
          <a:p>
            <a:pPr algn="l">
              <a:lnSpc>
                <a:spcPct val="115000"/>
              </a:lnSpc>
            </a:pPr>
            <a:r>
              <a:rPr sz="1400" lang="fr-FR">
                <a:solidFill>
                  <a:srgbClr val="161616"/>
                </a:solidFill>
                <a:latin typeface="Marianne"/>
              </a:rPr>
              <a:t>• </a:t>
            </a:r>
            <a:r>
              <a:rPr sz="1400" b="0" lang="fr-FR">
                <a:solidFill>
                  <a:srgbClr val="161616"/>
                </a:solidFill>
                <a:latin typeface="Marianne"/>
              </a:rPr>
              <a:t>4 min : formuler 2 corrections</a:t>
            </a:r>
          </a:p>
        </p:txBody>
      </p:sp>
      <p:sp>
        <p:nvSpPr>
          <p:cNvPr id="27" name="DSFR-box"/>
          <p:cNvSpPr/>
          <p:nvPr/>
        </p:nvSpPr>
        <p:spPr>
          <a:xfrm>
            <a:off x="6313931" y="4503420"/>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restituer</a:t>
            </a:r>
          </a:p>
        </p:txBody>
      </p:sp>
      <p:sp>
        <p:nvSpPr>
          <p:cNvPr id="29" name="DSFR-alert-success-body"/>
          <p:cNvSpPr txBox="1"/>
          <p:nvPr/>
        </p:nvSpPr>
        <p:spPr>
          <a:xfrm>
            <a:off x="6469379" y="50063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 point le plus bloquant</a:t>
            </a:r>
          </a:p>
          <a:p>
            <a:pPr algn="l">
              <a:lnSpc>
                <a:spcPct val="115000"/>
              </a:lnSpc>
            </a:pPr>
            <a:r>
              <a:rPr sz="1400" lang="fr-FR">
                <a:solidFill>
                  <a:srgbClr val="161616"/>
                </a:solidFill>
                <a:latin typeface="Marianne"/>
              </a:rPr>
              <a:t>• </a:t>
            </a:r>
            <a:r>
              <a:rPr sz="1400" b="0" lang="fr-FR">
                <a:solidFill>
                  <a:srgbClr val="161616"/>
                </a:solidFill>
                <a:latin typeface="Marianne"/>
              </a:rPr>
              <a:t>La correction proposée</a:t>
            </a:r>
          </a:p>
          <a:p>
            <a:pPr algn="l">
              <a:lnSpc>
                <a:spcPct val="115000"/>
              </a:lnSpc>
            </a:pPr>
            <a:r>
              <a:rPr sz="1400" lang="fr-FR">
                <a:solidFill>
                  <a:srgbClr val="161616"/>
                </a:solidFill>
                <a:latin typeface="Marianne"/>
              </a:rPr>
              <a:t>• </a:t>
            </a:r>
            <a:r>
              <a:rPr sz="1400" b="0" lang="fr-FR">
                <a:solidFill>
                  <a:srgbClr val="161616"/>
                </a:solidFill>
                <a:latin typeface="Marianne"/>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50342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5034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Média prévu ? image = alt text, audio = transcription, vidéo = sous-titres</a:t>
            </a:r>
          </a:p>
          <a:p>
            <a:pPr algn="l">
              <a:lnSpc>
                <a:spcPct val="150000"/>
              </a:lnSpc>
            </a:pPr>
            <a:r>
              <a:rPr sz="1800" b="1" lang="fr-FR">
                <a:solidFill>
                  <a:srgbClr val="000091"/>
                </a:solidFill>
                <a:latin typeface="Marianne"/>
              </a:rPr>
              <a:t>☐  </a:t>
            </a:r>
            <a:r>
              <a:rPr sz="1400" lang="fr-FR">
                <a:solidFill>
                  <a:srgbClr val="161616"/>
                </a:solidFill>
                <a:latin typeface="Marianne"/>
              </a:rPr>
              <a:t>Visuels : représentations diverses et cohérentes avec la réalité accessible</a:t>
            </a:r>
          </a:p>
          <a:p>
            <a:pPr algn="l">
              <a:lnSpc>
                <a:spcPct val="150000"/>
              </a:lnSpc>
            </a:pPr>
            <a:r>
              <a:rPr sz="1800" b="1" lang="fr-FR">
                <a:solidFill>
                  <a:srgbClr val="000091"/>
                </a:solidFill>
                <a:latin typeface="Marianne"/>
              </a:rPr>
              <a:t>☐  </a:t>
            </a:r>
            <a:r>
              <a:rPr sz="1400" lang="fr-FR">
                <a:solidFill>
                  <a:srgbClr val="161616"/>
                </a:solidFill>
                <a:latin typeface="Marianne"/>
              </a:rPr>
              <a:t>Visuel très chargé ? prévoir une version complète en ligne ou dans le post</a:t>
            </a:r>
          </a:p>
          <a:p>
            <a:pPr algn="l">
              <a:lnSpc>
                <a:spcPct val="150000"/>
              </a:lnSpc>
            </a:pPr>
            <a:r>
              <a:rPr sz="1800" b="1" lang="fr-FR">
                <a:solidFill>
                  <a:srgbClr val="000091"/>
                </a:solidFill>
                <a:latin typeface="Marianne"/>
              </a:rPr>
              <a:t>☐  </a:t>
            </a:r>
            <a:r>
              <a:rPr sz="1400" lang="fr-FR">
                <a:solidFill>
                  <a:srgbClr val="161616"/>
                </a:solidFill>
                <a:latin typeface="Marianne"/>
              </a:rPr>
              <a:t>Police lisible, sans fantaisie, assez épaisse pour un écran mobile</a:t>
            </a:r>
          </a:p>
          <a:p>
            <a:pPr algn="l">
              <a:lnSpc>
                <a:spcPct val="150000"/>
              </a:lnSpc>
            </a:pPr>
            <a:r>
              <a:rPr sz="1800" b="1" lang="fr-FR">
                <a:solidFill>
                  <a:srgbClr val="000091"/>
                </a:solidFill>
                <a:latin typeface="Marianne"/>
              </a:rPr>
              <a:t>☐  </a:t>
            </a:r>
            <a:r>
              <a:rPr sz="1400" lang="fr-FR">
                <a:solidFill>
                  <a:srgbClr val="161616"/>
                </a:solidFill>
                <a:latin typeface="Marianne"/>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Informations essentielles écrites dans le texte du post</a:t>
            </a:r>
          </a:p>
          <a:p>
            <a:pPr algn="l">
              <a:lnSpc>
                <a:spcPct val="150000"/>
              </a:lnSpc>
            </a:pPr>
            <a:r>
              <a:rPr sz="1800" b="1" lang="fr-FR">
                <a:solidFill>
                  <a:srgbClr val="000091"/>
                </a:solidFill>
                <a:latin typeface="Marianne"/>
              </a:rPr>
              <a:t>☐  </a:t>
            </a:r>
            <a:r>
              <a:rPr sz="1400" lang="fr-FR">
                <a:solidFill>
                  <a:srgbClr val="161616"/>
                </a:solidFill>
                <a:latin typeface="Marianne"/>
              </a:rPr>
              <a:t>Paragraphes courts, texte natif, pas de faux gras Unicode</a:t>
            </a:r>
          </a:p>
          <a:p>
            <a:pPr algn="l">
              <a:lnSpc>
                <a:spcPct val="150000"/>
              </a:lnSpc>
            </a:pPr>
            <a:r>
              <a:rPr sz="1800" b="1" lang="fr-FR">
                <a:solidFill>
                  <a:srgbClr val="000091"/>
                </a:solidFill>
                <a:latin typeface="Marianne"/>
              </a:rPr>
              <a:t>☐  </a:t>
            </a:r>
            <a:r>
              <a:rPr sz="1400" lang="fr-FR">
                <a:solidFill>
                  <a:srgbClr val="161616"/>
                </a:solidFill>
                <a:latin typeface="Marianne"/>
              </a:rPr>
              <a:t>Émojis : 1 ou 2, en fin de message, sens vérifié</a:t>
            </a:r>
          </a:p>
          <a:p>
            <a:pPr algn="l">
              <a:lnSpc>
                <a:spcPct val="150000"/>
              </a:lnSpc>
            </a:pPr>
            <a:r>
              <a:rPr sz="1800" b="1" lang="fr-FR">
                <a:solidFill>
                  <a:srgbClr val="000091"/>
                </a:solidFill>
                <a:latin typeface="Marianne"/>
              </a:rPr>
              <a:t>☐  </a:t>
            </a:r>
            <a:r>
              <a:rPr sz="1400" lang="fr-FR">
                <a:solidFill>
                  <a:srgbClr val="161616"/>
                </a:solidFill>
                <a:latin typeface="Marianne"/>
              </a:rPr>
              <a:t>Hashtags : CamelCase, courts, regroupés à la fin, 2 ou 3 maximum</a:t>
            </a:r>
          </a:p>
          <a:p>
            <a:pPr algn="l">
              <a:lnSpc>
                <a:spcPct val="150000"/>
              </a:lnSpc>
            </a:pPr>
            <a:r>
              <a:rPr sz="1800" b="1" lang="fr-FR">
                <a:solidFill>
                  <a:srgbClr val="000091"/>
                </a:solidFill>
                <a:latin typeface="Marianne"/>
              </a:rPr>
              <a:t>☐  </a:t>
            </a:r>
            <a:r>
              <a:rPr sz="1400" lang="fr-FR">
                <a:solidFill>
                  <a:srgbClr val="161616"/>
                </a:solidFill>
                <a:latin typeface="Marianne"/>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Alt text clair et unique pour chaque image informative</a:t>
            </a:r>
          </a:p>
          <a:p>
            <a:pPr algn="l">
              <a:lnSpc>
                <a:spcPct val="150000"/>
              </a:lnSpc>
            </a:pPr>
            <a:r>
              <a:rPr sz="1800" b="1" lang="fr-FR">
                <a:solidFill>
                  <a:srgbClr val="000091"/>
                </a:solidFill>
                <a:latin typeface="Marianne"/>
              </a:rPr>
              <a:t>☐  </a:t>
            </a:r>
            <a:r>
              <a:rPr sz="1400" lang="fr-FR">
                <a:solidFill>
                  <a:srgbClr val="161616"/>
                </a:solidFill>
                <a:latin typeface="Marianne"/>
              </a:rPr>
              <a:t>Infographie ou carrousel : chiffres et messages clés repris dans le post</a:t>
            </a:r>
          </a:p>
          <a:p>
            <a:pPr algn="l">
              <a:lnSpc>
                <a:spcPct val="150000"/>
              </a:lnSpc>
            </a:pPr>
            <a:r>
              <a:rPr sz="1800" b="1" lang="fr-FR">
                <a:solidFill>
                  <a:srgbClr val="000091"/>
                </a:solidFill>
                <a:latin typeface="Marianne"/>
              </a:rPr>
              <a:t>☐  </a:t>
            </a:r>
            <a:r>
              <a:rPr sz="1400" lang="fr-FR">
                <a:solidFill>
                  <a:srgbClr val="161616"/>
                </a:solidFill>
                <a:latin typeface="Marianne"/>
              </a:rPr>
              <a:t>Audio : transcription écrite jointe ou lien visible</a:t>
            </a:r>
          </a:p>
          <a:p>
            <a:pPr algn="l">
              <a:lnSpc>
                <a:spcPct val="150000"/>
              </a:lnSpc>
            </a:pPr>
            <a:r>
              <a:rPr sz="1800" b="1" lang="fr-FR">
                <a:solidFill>
                  <a:srgbClr val="000091"/>
                </a:solidFill>
                <a:latin typeface="Marianne"/>
              </a:rPr>
              <a:t>☐  </a:t>
            </a:r>
            <a:r>
              <a:rPr sz="1400" lang="fr-FR">
                <a:solidFill>
                  <a:srgbClr val="161616"/>
                </a:solidFill>
                <a:latin typeface="Marianne"/>
              </a:rPr>
              <a:t>Vidéo : sous-titres relus, transcription si nécessaire</a:t>
            </a:r>
          </a:p>
          <a:p>
            <a:pPr algn="l">
              <a:lnSpc>
                <a:spcPct val="150000"/>
              </a:lnSpc>
            </a:pPr>
            <a:r>
              <a:rPr sz="1800" b="1" lang="fr-FR">
                <a:solidFill>
                  <a:srgbClr val="000091"/>
                </a:solidFill>
                <a:latin typeface="Marianne"/>
              </a:rPr>
              <a:t>☐  </a:t>
            </a:r>
            <a:r>
              <a:rPr sz="1400" lang="fr-FR">
                <a:solidFill>
                  <a:srgbClr val="161616"/>
                </a:solidFill>
                <a:latin typeface="Marianne"/>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Des questions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Clôture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133</a:t>
            </a:r>
            <a:endParaRPr lang="fr-FR" dirty="0"/>
          </a:p>
        </p:txBody>
      </p:sp>
      <p:sp>
        <p:nvSpPr>
          <p:cNvPr id="9" name="DSFR-box"/>
          <p:cNvSpPr/>
          <p:nvPr/>
        </p:nvSpPr>
        <p:spPr>
          <a:xfrm>
            <a:off x="548640" y="228600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37744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Merci pour votre participation !</a:t>
            </a:r>
          </a:p>
        </p:txBody>
      </p:sp>
      <p:sp>
        <p:nvSpPr>
          <p:cNvPr id="12" name="DSFR-box"/>
          <p:cNvSpPr/>
          <p:nvPr/>
        </p:nvSpPr>
        <p:spPr>
          <a:xfrm>
            <a:off x="548640" y="3474720"/>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5661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Vos contacts</a:t>
            </a:r>
          </a:p>
        </p:txBody>
      </p:sp>
      <p:sp>
        <p:nvSpPr>
          <p:cNvPr id="14" name="DSFR-callout-body"/>
          <p:cNvSpPr txBox="1"/>
          <p:nvPr/>
        </p:nvSpPr>
        <p:spPr>
          <a:xfrm>
            <a:off x="704088" y="3977639"/>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Bertrand Matge - bertrand.matge@finances.gouv.fr</a:t>
            </a:r>
          </a:p>
          <a:p>
            <a:pPr algn="l">
              <a:lnSpc>
                <a:spcPct val="125000"/>
              </a:lnSpc>
            </a:pPr>
            <a:r>
              <a:rPr sz="1400" lang="fr-FR">
                <a:solidFill>
                  <a:srgbClr val="161616"/>
                </a:solidFill>
                <a:latin typeface="Marianne"/>
              </a:rPr>
              <a:t>• </a:t>
            </a:r>
            <a:r>
              <a:rPr sz="1400" b="0" lang="fr-FR">
                <a:solidFill>
                  <a:srgbClr val="161616"/>
                </a:solidFill>
                <a:latin typeface="Marianne"/>
              </a:rPr>
              <a:t>Alexandra Guiderdoni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a:t>
            </a:r>
          </a:p>
        </p:txBody>
      </p:sp>
      <p:sp>
        <p:nvSpPr>
          <p:cNvPr id="8" name="DSFR-accent-decoratif" descr=""/>
          <p:cNvSpPr/>
          <p:nvPr/>
        </p:nvSpPr>
        <p:spPr>
          <a:xfrm>
            <a:off x="475488" y="228600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474720"/>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133</Slides>
  <Notes>133</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102846 - Accessibilité numérique</dc:title>
  <dc:subject>Support de formation IGPDE - DSFR accessible</dc:subject>
  <dc:creator>Alex Guiderdoni</dc:creator>
  <cp:lastModifiedBy>Alex Guiderdoni</cp:lastModifiedBy>
  <cp:revision>15</cp:revision>
  <dcterms:created xsi:type="dcterms:W3CDTF">2020-03-06T09:47:41Z</dcterms:created>
  <dcterms:modified xsi:type="dcterms:W3CDTF">2026-10-02T22:04:56Z</dcterms:modified>
  <dc:language>fr-FR</dc:language>
</cp:coreProperties>
</file>