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et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questions qui structurent la partie I.</a:t>
            </a:r>
          </a:p>
          <a:p>
            <a:r>
              <a:rPr lang="fr-FR"/>
              <a:t>Préciser que la progression va de la définition aux premiers gestes concrets.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Mnémonique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(fiche-stagiaire-principes-wcag.pdf) à ce moment-là.</a:t>
            </a:r>
          </a:p>
          <a:p>
            <a:r>
              <a:rPr lang="fr-FR"/>
              <a:t>Dire : « Vous n'avez pas besoin de retenir tout WCAG.</a:t>
            </a:r>
          </a:p>
          <a:p>
            <a:r>
              <a:rPr lang="fr-FR"/>
              <a:t>Gardez les 4 questions sous la main.</a:t>
            </a:r>
          </a:p>
          <a:p>
            <a:r>
              <a:rPr lang="fr-FR"/>
              <a:t>À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Depuis 2023, l'Arcom est l'autorité de contrôle de l'article 47.</a:t>
            </a:r>
          </a:p>
          <a:p>
            <a:r>
              <a:rPr lang="fr-FR"/>
              <a:t>La DINUM édite le RGAA et accompagne les administrations.</a:t>
            </a:r>
          </a:p>
          <a:p>
            <a:r>
              <a:rPr lang="fr-FR"/>
              <a:t>La sanction peut atteindre 50 000 EUR pour le non-respect de l'obligation d'accessibilité par les organismes publics et assimilés, et 25 000 EUR pour le non-respect des obligations déclaratives.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conformité :</a:t>
            </a:r>
          </a:p>
          <a:p>
            <a:r>
              <a:rPr lang="fr-FR"/>
              <a:t>- Non conforme : site non audité ou niveau inférieur à 50 %</a:t>
            </a:r>
          </a:p>
          <a:p>
            <a:r>
              <a:rPr lang="fr-FR"/>
              <a:t>- Partiellement conforme : de 50 % a 99 %</a:t>
            </a:r>
          </a:p>
          <a:p>
            <a:r>
              <a:rPr lang="fr-FR"/>
              <a:t>- Totalement conforme : 100 % des critères validés</a:t>
            </a:r>
          </a:p>
          <a:p/>
          <a:p>
            <a:r>
              <a:rPr lang="fr-FR"/>
              <a:t>Exemptions :</a:t>
            </a:r>
          </a:p>
          <a:p>
            <a:r>
              <a:rPr lang="fr-FR"/>
              <a:t>- Fichiers bureautiques publiés avant le 23 septembre 2018</a:t>
            </a:r>
          </a:p>
          <a:p>
            <a:r>
              <a:rPr lang="fr-FR"/>
              <a:t>- Contenus intranets/extranets publiés avant le 23 septembre 2019</a:t>
            </a:r>
          </a:p>
          <a:p>
            <a:r>
              <a:rPr lang="fr-FR"/>
              <a:t>- Contenus audios/vidéos publiés avant le 23 septembre 2020</a:t>
            </a:r>
          </a:p>
          <a:p>
            <a:r>
              <a:rPr lang="fr-FR"/>
              <a:t>- Contenus vidéos, tiers, cartes peuvent aussi être exemptés</a:t>
            </a:r>
          </a:p>
          <a:p/>
          <a:p>
            <a:r>
              <a:rPr lang="fr-FR"/>
              <a:t>Exemples de critères :</a:t>
            </a:r>
          </a:p>
          <a:p>
            <a:r>
              <a:rPr lang="fr-FR"/>
              <a:t>1.</a:t>
            </a:r>
          </a:p>
          <a:p>
            <a:r>
              <a:rPr lang="fr-FR"/>
              <a:t>Les images porteuses d'informations doivent avoir un texte alternatif.</a:t>
            </a:r>
          </a:p>
          <a:p>
            <a:r>
              <a:rPr lang="fr-FR"/>
              <a:t>Les images décoratives ne doivent pas en avoir.</a:t>
            </a:r>
            <a:br/>
            <a:r>
              <a:rPr lang="fr-FR"/>
              <a:t>2.</a:t>
            </a:r>
          </a:p>
          <a:p>
            <a:r>
              <a:rPr lang="fr-FR"/>
              <a:t>Les médias avec du son doivent avoir une alternative (sous-titrage, LSF) et les vidéos une audiodescription.</a:t>
            </a:r>
            <a:br/>
            <a:r>
              <a:rPr lang="fr-FR"/>
              <a:t>3.</a:t>
            </a:r>
          </a:p>
          <a:p>
            <a:r>
              <a:rPr lang="fr-FR"/>
              <a:t>Plusieurs systèmes de navigation doivent être disponibles (menu, plan du site, recherche).</a:t>
            </a:r>
          </a:p>
          <a:p>
            <a:r>
              <a:rPr lang="fr-FR"/>
              <a:t>Les éléments-clés sont toujours au même endroit.</a:t>
            </a:r>
          </a:p>
          <a:p>
            <a:r>
              <a:rPr lang="fr-FR"/>
              <a:t>Ref : https://accessibilite.numerique.gouv.fr/</a:t>
            </a:r>
            <a:br/>
            <a:r>
              <a:rPr lang="fr-FR"/>
              <a:t>Critères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nécessite un audit humain.</a:t>
            </a:r>
          </a:p>
          <a:p>
            <a:r>
              <a:rPr lang="fr-FR"/>
              <a:t>Attention : 100 % conforme ne veut pas forcément dire accessible - le RGAA ne couvre pas tous les usages.</a:t>
            </a:r>
          </a:p>
          <a:p>
            <a:r>
              <a:rPr lang="fr-FR"/>
              <a:t>Le RAN est le référent accessibilité numérique, interlocuteur interne pour piloter la démarche.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https://handicap.gouv.fr/sites/handicap/files/2025-03/delegation-interministerielle-accessibilite-synthese-FLAC-rapport-activite-2024.pdf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Annoncer un TP guidé de 90 minutes organisé en 5 étapes.</a:t>
            </a:r>
          </a:p>
          <a:p>
            <a:pPr>
              <a:lnSpc>
                <a:spcPct val="150000"/>
              </a:lnSpc>
              <a:spcAft>
                <a:spcPts val="600"/>
              </a:spcAft>
            </a:pPr>
            <a:r>
              <a:rPr lang="fr-FR"/>
              <a:t>La théorie, la manipulation et la preuve avancent ensemble dans le document de Sami.</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Lire la citation à voix haute, lentement, avec des pauses.</a:t>
            </a:r>
          </a:p>
          <a:p>
            <a:pPr>
              <a:lnSpc>
                <a:spcPct val="150000"/>
              </a:lnSpc>
              <a:spcAft>
                <a:spcPts val="600"/>
              </a:spcAft>
            </a:pPr>
            <a:r>
              <a:rPr lang="fr-FR"/>
              <a:t>Ne pas commenter.</a:t>
            </a:r>
          </a:p>
          <a:p>
            <a:pPr>
              <a:lnSpc>
                <a:spcPct val="150000"/>
              </a:lnSpc>
              <a:spcAft>
                <a:spcPts val="600"/>
              </a:spcAft>
            </a:pPr>
            <a:r>
              <a:rPr lang="fr-FR"/>
              <a:t>Laisser le silence s'installer 5 secondes.</a:t>
            </a:r>
          </a:p>
          <a:p>
            <a:pPr>
              <a:lnSpc>
                <a:spcPct val="150000"/>
              </a:lnSpc>
              <a:spcAft>
                <a:spcPts val="600"/>
              </a:spcAft>
            </a:pPr>
            <a:r>
              <a:rPr b="1" lang="fr-FR"/>
              <a:t>Demander :</a:t>
            </a:r>
            <a:r>
              <a:rPr lang="fr-FR"/>
              <a:t> est-ce que vous avez déjà reçu un document ou un email illisible ?</a:t>
            </a:r>
          </a:p>
          <a:p>
            <a:pPr>
              <a:lnSpc>
                <a:spcPct val="150000"/>
              </a:lnSpc>
              <a:spcAft>
                <a:spcPts val="600"/>
              </a:spcAft>
            </a:pPr>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Laisser 30 secondes pour que chacun vote.</a:t>
            </a:r>
          </a:p>
          <a:p>
            <a:pPr>
              <a:lnSpc>
                <a:spcPct val="150000"/>
              </a:lnSpc>
              <a:spcAft>
                <a:spcPts val="600"/>
              </a:spcAft>
            </a:pPr>
            <a:r>
              <a:rPr lang="fr-FR"/>
              <a:t>Demander à main levée.</a:t>
            </a:r>
          </a:p>
          <a:p>
            <a:pPr>
              <a:lnSpc>
                <a:spcPct val="150000"/>
              </a:lnSpc>
              <a:spcAft>
                <a:spcPts val="600"/>
              </a:spcAft>
            </a:pPr>
            <a:r>
              <a:rPr lang="fr-FR"/>
              <a:t>Ne pas donner la réponse maintenant - la curiosité crée l'attention.</a:t>
            </a:r>
          </a:p>
          <a:p>
            <a:pPr>
              <a:lnSpc>
                <a:spcPct val="150000"/>
              </a:lnSpc>
              <a:spcAft>
                <a:spcPts val="600"/>
              </a:spcAft>
            </a:pPr>
            <a:r>
              <a:rPr b="1" lang="fr-FR"/>
              <a:t>Zeigarnik :</a:t>
            </a:r>
            <a:r>
              <a:rPr lang="fr-FR"/>
              <a:t>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Donner la réponse :</a:t>
            </a:r>
            <a:r>
              <a:rPr lang="fr-FR"/>
              <a:t> le document B.</a:t>
            </a:r>
          </a:p>
          <a:p>
            <a:pPr>
              <a:lnSpc>
                <a:spcPct val="150000"/>
              </a:lnSpc>
              <a:spcAft>
                <a:spcPts val="600"/>
              </a:spcAft>
            </a:pPr>
            <a:r>
              <a:rPr lang="fr-FR"/>
              <a:t>Expliquer que les deux documents peuvent être identiques à l'écran, mais que NVDA dépend des styles de titres, des textes alternatifs et d'un nom de fichier explicite.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Faire formuler le message :</a:t>
            </a:r>
            <a:r>
              <a:rPr lang="fr-FR"/>
              <a:t> l'accessibilité ne se voit pas, elle se manipule et se vérifie.</a:t>
            </a:r>
          </a:p>
          <a:p>
            <a:pPr>
              <a:lnSpc>
                <a:spcPct val="150000"/>
              </a:lnSpc>
              <a:spcAft>
                <a:spcPts val="600"/>
              </a:spcAft>
            </a:pPr>
            <a:r>
              <a:rPr lang="fr-FR"/>
              <a:t>Revenir sur les propriétés qui distinguent les deux documents. 15 % = moyenne nationale Source : OMS 2024.</a:t>
            </a:r>
          </a:p>
          <a:p>
            <a:pPr>
              <a:lnSpc>
                <a:spcPct val="150000"/>
              </a:lnSpc>
              <a:spcAft>
                <a:spcPts val="600"/>
              </a:spcAft>
            </a:pPr>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Préambule limité à 5 minutes, quiz compris.</a:t>
            </a:r>
          </a:p>
          <a:p>
            <a:pPr>
              <a:lnSpc>
                <a:spcPct val="150000"/>
              </a:lnSpc>
              <a:spcAft>
                <a:spcPts val="600"/>
              </a:spcAft>
            </a:pPr>
            <a:r>
              <a:rPr lang="fr-FR"/>
              <a:t>Distribuer la checklist et les cartes WCAG, puis proposer le DOCX avec pistes comme point de départ conseillé.</a:t>
            </a:r>
          </a:p>
          <a:p>
            <a:pPr>
              <a:lnSpc>
                <a:spcPct val="150000"/>
              </a:lnSpc>
              <a:spcAft>
                <a:spcPts val="600"/>
              </a:spcAft>
            </a:pPr>
            <a:r>
              <a:rPr lang="fr-FR"/>
              <a:t>Le DOCX inaccessible constitue la variante autonome.</a:t>
            </a:r>
          </a:p>
          <a:p>
            <a:pPr>
              <a:lnSpc>
                <a:spcPct val="150000"/>
              </a:lnSpc>
              <a:spcAft>
                <a:spcPts val="600"/>
              </a:spcAft>
            </a:pPr>
            <a:r>
              <a:rPr lang="fr-FR"/>
              <a:t>Ne pas révéler le corrigé avant la remise finale.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17 minutes, synthèse comprise.</a:t>
            </a:r>
          </a:p>
          <a:p>
            <a:pPr>
              <a:lnSpc>
                <a:spcPct val="150000"/>
              </a:lnSpc>
              <a:spcAft>
                <a:spcPts val="600"/>
              </a:spcAft>
            </a:pPr>
            <a:r>
              <a:rPr b="1" lang="fr-FR"/>
              <a:t>Contrôles travaillés sur cette slide :</a:t>
            </a:r>
            <a:r>
              <a:rPr lang="fr-FR"/>
              <a:t> P-01, P-02, P-03, P-04, P-05.</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distinguer le rôle du texte de son apparence avant d'ouvrir le ruban.</a:t>
            </a:r>
          </a:p>
          <a:p>
            <a:pPr>
              <a:lnSpc>
                <a:spcPct val="150000"/>
              </a:lnSpc>
              <a:spcAft>
                <a:spcPts val="600"/>
              </a:spcAft>
            </a:pPr>
            <a:r>
              <a:rPr b="1" lang="fr-FR"/>
              <a:t>Question de synthèse :</a:t>
            </a:r>
            <a:r>
              <a:rPr lang="fr-FR"/>
              <a:t> Comment prouver que le document est réellement navigable ?</a:t>
            </a:r>
          </a:p>
          <a:p>
            <a:pPr>
              <a:lnSpc>
                <a:spcPct val="150000"/>
              </a:lnSpc>
              <a:spcAft>
                <a:spcPts val="600"/>
              </a:spcAft>
            </a:pPr>
            <a:r>
              <a:rPr b="1" lang="fr-FR"/>
              <a:t>Preuves attendues :</a:t>
            </a:r>
          </a:p>
          <a:p>
            <a:pPr lvl="1">
              <a:lnSpc>
                <a:spcPct val="150000"/>
              </a:lnSpc>
              <a:spcAft>
                <a:spcPts val="600"/>
              </a:spcAft>
            </a:pPr>
            <a:r>
              <a:rPr b="1" lang="fr-FR"/>
              <a:t>P-01 :</a:t>
            </a:r>
            <a:r>
              <a:rPr lang="fr-FR"/>
              <a:t> Styles vérifiables dans le DOCX et structure lisible dans le volet de navigation.</a:t>
            </a:r>
          </a:p>
          <a:p>
            <a:pPr lvl="1">
              <a:lnSpc>
                <a:spcPct val="150000"/>
              </a:lnSpc>
              <a:spcAft>
                <a:spcPts val="600"/>
              </a:spcAft>
            </a:pPr>
            <a:r>
              <a:rPr b="1" lang="fr-FR"/>
              <a:t>P-02 :</a:t>
            </a:r>
            <a:r>
              <a:rPr lang="fr-FR"/>
              <a:t> Ordre des niveaux contrôlé dans le XML et confirmé dans le volet de navigation.</a:t>
            </a:r>
          </a:p>
          <a:p>
            <a:pPr lvl="1">
              <a:lnSpc>
                <a:spcPct val="150000"/>
              </a:lnSpc>
              <a:spcAft>
                <a:spcPts val="600"/>
              </a:spcAft>
            </a:pPr>
            <a:r>
              <a:rPr b="1" lang="fr-FR"/>
              <a:t>P-03 :</a:t>
            </a:r>
            <a:r>
              <a:rPr lang="fr-FR"/>
              <a:t> Navigation cohérente et sommaire actualisable après modification d'un titre.</a:t>
            </a:r>
          </a:p>
          <a:p>
            <a:pPr lvl="1">
              <a:lnSpc>
                <a:spcPct val="150000"/>
              </a:lnSpc>
              <a:spcAft>
                <a:spcPts val="600"/>
              </a:spcAft>
            </a:pPr>
            <a:r>
              <a:rPr b="1" lang="fr-FR"/>
              <a:t>P-04 :</a:t>
            </a:r>
            <a:r>
              <a:rPr lang="fr-FR"/>
              <a:t> Structure de liste présente dans le DOCX et annoncée comme liste.</a:t>
            </a:r>
          </a:p>
          <a:p>
            <a:pPr lvl="1">
              <a:lnSpc>
                <a:spcPct val="150000"/>
              </a:lnSpc>
              <a:spcAft>
                <a:spcPts val="600"/>
              </a:spcAft>
            </a:pPr>
            <a:r>
              <a:rPr b="1" lang="fr-FR"/>
              <a:t>P-05 :</a:t>
            </a:r>
            <a:r>
              <a:rPr lang="fr-FR"/>
              <a:t> Absence des artifices ciblés dans le XML et contrôle visuel avec marques affichées.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17 minutes, synthèse comprise.</a:t>
            </a:r>
          </a:p>
          <a:p>
            <a:pPr>
              <a:lnSpc>
                <a:spcPct val="150000"/>
              </a:lnSpc>
              <a:spcAft>
                <a:spcPts val="600"/>
              </a:spcAft>
            </a:pPr>
            <a:r>
              <a:rPr b="1" lang="fr-FR"/>
              <a:t>Contrôles travaillés sur cette slide :</a:t>
            </a:r>
            <a:r>
              <a:rPr lang="fr-FR"/>
              <a:t> P-01, P-02, P-03.</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ouvrir le volet avant de corriger les styles et rappeler que le sommaire en découle.</a:t>
            </a:r>
          </a:p>
          <a:p>
            <a:pPr>
              <a:lnSpc>
                <a:spcPct val="150000"/>
              </a:lnSpc>
              <a:spcAft>
                <a:spcPts val="600"/>
              </a:spcAft>
            </a:pPr>
            <a:r>
              <a:rPr b="1" lang="fr-FR"/>
              <a:t>Question de synthèse :</a:t>
            </a:r>
            <a:r>
              <a:rPr lang="fr-FR"/>
              <a:t> Le volet et le sommaire racontent-ils le même plan ?</a:t>
            </a:r>
          </a:p>
          <a:p>
            <a:pPr>
              <a:lnSpc>
                <a:spcPct val="150000"/>
              </a:lnSpc>
              <a:spcAft>
                <a:spcPts val="600"/>
              </a:spcAft>
            </a:pPr>
            <a:r>
              <a:rPr b="1" lang="fr-FR"/>
              <a:t>Preuves attendues :</a:t>
            </a:r>
          </a:p>
          <a:p>
            <a:pPr lvl="1">
              <a:lnSpc>
                <a:spcPct val="150000"/>
              </a:lnSpc>
              <a:spcAft>
                <a:spcPts val="600"/>
              </a:spcAft>
            </a:pPr>
            <a:r>
              <a:rPr b="1" lang="fr-FR"/>
              <a:t>P-01 :</a:t>
            </a:r>
            <a:r>
              <a:rPr lang="fr-FR"/>
              <a:t> Styles vérifiables dans le DOCX et structure lisible dans le volet de navigation.</a:t>
            </a:r>
          </a:p>
          <a:p>
            <a:pPr lvl="1">
              <a:lnSpc>
                <a:spcPct val="150000"/>
              </a:lnSpc>
              <a:spcAft>
                <a:spcPts val="600"/>
              </a:spcAft>
            </a:pPr>
            <a:r>
              <a:rPr b="1" lang="fr-FR"/>
              <a:t>P-02 :</a:t>
            </a:r>
            <a:r>
              <a:rPr lang="fr-FR"/>
              <a:t> Ordre des niveaux contrôlé dans le XML et confirmé dans le volet de navigation.</a:t>
            </a:r>
          </a:p>
          <a:p>
            <a:pPr lvl="1">
              <a:lnSpc>
                <a:spcPct val="150000"/>
              </a:lnSpc>
              <a:spcAft>
                <a:spcPts val="600"/>
              </a:spcAft>
            </a:pPr>
            <a:r>
              <a:rPr b="1" lang="fr-FR"/>
              <a:t>P-03 :</a:t>
            </a:r>
            <a:r>
              <a:rPr lang="fr-FR"/>
              <a:t> Navigation cohérente et sommaire actualisable après modification d'un titre.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17 minutes, synthèse comprise.</a:t>
            </a:r>
          </a:p>
          <a:p>
            <a:pPr>
              <a:lnSpc>
                <a:spcPct val="150000"/>
              </a:lnSpc>
              <a:spcAft>
                <a:spcPts val="600"/>
              </a:spcAft>
            </a:pPr>
            <a:r>
              <a:rPr b="1" lang="fr-FR"/>
              <a:t>Contrôles travaillés sur cette slide :</a:t>
            </a:r>
            <a:r>
              <a:rPr lang="fr-FR"/>
              <a:t> P-04, P-05.</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activer les marques avant toute correction et traiter les artifices dans leur ordre d'apparition.</a:t>
            </a:r>
          </a:p>
          <a:p>
            <a:pPr>
              <a:lnSpc>
                <a:spcPct val="150000"/>
              </a:lnSpc>
              <a:spcAft>
                <a:spcPts val="600"/>
              </a:spcAft>
            </a:pPr>
            <a:r>
              <a:rPr b="1" lang="fr-FR"/>
              <a:t>Question de synthèse :</a:t>
            </a:r>
            <a:r>
              <a:rPr lang="fr-FR"/>
              <a:t> Les listes sont-elles annoncées comme telles et la mise en page résiste-t-elle aux marques affichées ?</a:t>
            </a:r>
          </a:p>
          <a:p>
            <a:pPr>
              <a:lnSpc>
                <a:spcPct val="150000"/>
              </a:lnSpc>
              <a:spcAft>
                <a:spcPts val="600"/>
              </a:spcAft>
            </a:pPr>
            <a:r>
              <a:rPr b="1" lang="fr-FR"/>
              <a:t>Preuves attendues :</a:t>
            </a:r>
          </a:p>
          <a:p>
            <a:pPr lvl="1">
              <a:lnSpc>
                <a:spcPct val="150000"/>
              </a:lnSpc>
              <a:spcAft>
                <a:spcPts val="600"/>
              </a:spcAft>
            </a:pPr>
            <a:r>
              <a:rPr b="1" lang="fr-FR"/>
              <a:t>P-04 :</a:t>
            </a:r>
            <a:r>
              <a:rPr lang="fr-FR"/>
              <a:t> Structure de liste présente dans le DOCX et annoncée comme liste.</a:t>
            </a:r>
          </a:p>
          <a:p>
            <a:pPr lvl="1">
              <a:lnSpc>
                <a:spcPct val="150000"/>
              </a:lnSpc>
              <a:spcAft>
                <a:spcPts val="600"/>
              </a:spcAft>
            </a:pPr>
            <a:r>
              <a:rPr b="1" lang="fr-FR"/>
              <a:t>P-05 :</a:t>
            </a:r>
            <a:r>
              <a:rPr lang="fr-FR"/>
              <a:t> Absence des artifices ciblés dans le XML et contrôle visuel avec marques affichées.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15 minutes, synthèse comprise.</a:t>
            </a:r>
          </a:p>
          <a:p>
            <a:pPr>
              <a:lnSpc>
                <a:spcPct val="150000"/>
              </a:lnSpc>
              <a:spcAft>
                <a:spcPts val="600"/>
              </a:spcAft>
            </a:pPr>
            <a:r>
              <a:rPr b="1" lang="fr-FR"/>
              <a:t>Contrôles travaillés sur cette slide :</a:t>
            </a:r>
            <a:r>
              <a:rPr lang="fr-FR"/>
              <a:t> P-06, P-07, P-08, P-09, P-10, P-11.</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identifier la fonction de chaque contenu avant d'ouvrir le volet du texte alternatif.</a:t>
            </a:r>
          </a:p>
          <a:p>
            <a:pPr>
              <a:lnSpc>
                <a:spcPct val="150000"/>
              </a:lnSpc>
              <a:spcAft>
                <a:spcPts val="600"/>
              </a:spcAft>
            </a:pPr>
            <a:r>
              <a:rPr b="1" lang="fr-FR"/>
              <a:t>Question de synthèse :</a:t>
            </a:r>
            <a:r>
              <a:rPr lang="fr-FR"/>
              <a:t> L'information reste-t-elle compréhensible si l'image ou le contexte disparaît ?</a:t>
            </a:r>
          </a:p>
          <a:p>
            <a:pPr>
              <a:lnSpc>
                <a:spcPct val="150000"/>
              </a:lnSpc>
              <a:spcAft>
                <a:spcPts val="600"/>
              </a:spcAft>
            </a:pPr>
            <a:r>
              <a:rPr b="1" lang="fr-FR"/>
              <a:t>Preuves attendues :</a:t>
            </a:r>
          </a:p>
          <a:p>
            <a:pPr lvl="1">
              <a:lnSpc>
                <a:spcPct val="150000"/>
              </a:lnSpc>
              <a:spcAft>
                <a:spcPts val="600"/>
              </a:spcAft>
            </a:pPr>
            <a:r>
              <a:rPr b="1" lang="fr-FR"/>
              <a:t>P-06 :</a:t>
            </a:r>
            <a:r>
              <a:rPr lang="fr-FR"/>
              <a:t> Alternative présente dans le DOCX et jugée pertinente par lecture humaine.</a:t>
            </a:r>
          </a:p>
          <a:p>
            <a:pPr lvl="1">
              <a:lnSpc>
                <a:spcPct val="150000"/>
              </a:lnSpc>
              <a:spcAft>
                <a:spcPts val="600"/>
              </a:spcAft>
            </a:pPr>
            <a:r>
              <a:rPr b="1" lang="fr-FR"/>
              <a:t>P-07 :</a:t>
            </a:r>
            <a:r>
              <a:rPr lang="fr-FR"/>
              <a:t> Équivalence d'information vérifiée sans consulter l'image.</a:t>
            </a:r>
          </a:p>
          <a:p>
            <a:pPr lvl="1">
              <a:lnSpc>
                <a:spcPct val="150000"/>
              </a:lnSpc>
              <a:spcAft>
                <a:spcPts val="600"/>
              </a:spcAft>
            </a:pPr>
            <a:r>
              <a:rPr b="1" lang="fr-FR"/>
              <a:t>P-08 :</a:t>
            </a:r>
            <a:r>
              <a:rPr lang="fr-FR"/>
              <a:t> Marqueur décoratif ou équivalent vérifié et absence de perte d'information confirmée.</a:t>
            </a:r>
          </a:p>
          <a:p>
            <a:pPr lvl="1">
              <a:lnSpc>
                <a:spcPct val="150000"/>
              </a:lnSpc>
              <a:spcAft>
                <a:spcPts val="600"/>
              </a:spcAft>
            </a:pPr>
            <a:r>
              <a:rPr b="1" lang="fr-FR"/>
              <a:t>P-09 :</a:t>
            </a:r>
            <a:r>
              <a:rPr lang="fr-FR"/>
              <a:t> Texte sélectionnable présent dans le DOCX et image de texte absente.</a:t>
            </a:r>
          </a:p>
          <a:p>
            <a:pPr lvl="1">
              <a:lnSpc>
                <a:spcPct val="150000"/>
              </a:lnSpc>
              <a:spcAft>
                <a:spcPts val="600"/>
              </a:spcAft>
            </a:pPr>
            <a:r>
              <a:rPr b="1" lang="fr-FR"/>
              <a:t>P-10 :</a:t>
            </a:r>
            <a:r>
              <a:rPr lang="fr-FR"/>
              <a:t> Destination inchangée, libellé explicite et identification visuelle vérifiées.</a:t>
            </a:r>
          </a:p>
          <a:p>
            <a:pPr lvl="1">
              <a:lnSpc>
                <a:spcPct val="150000"/>
              </a:lnSpc>
              <a:spcAft>
                <a:spcPts val="600"/>
              </a:spcAft>
            </a:pPr>
            <a:r>
              <a:rPr b="1" lang="fr-FR"/>
              <a:t>P-11 :</a:t>
            </a:r>
            <a:r>
              <a:rPr lang="fr-FR"/>
              <a:t> Statut compréhensible dans le texte linéarisé sans en-tête ni arrière-plan.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15 minutes, synthèse comprise.</a:t>
            </a:r>
          </a:p>
          <a:p>
            <a:pPr>
              <a:lnSpc>
                <a:spcPct val="150000"/>
              </a:lnSpc>
              <a:spcAft>
                <a:spcPts val="600"/>
              </a:spcAft>
            </a:pPr>
            <a:r>
              <a:rPr b="1" lang="fr-FR"/>
              <a:t>Contrôles travaillés sur cette slide :</a:t>
            </a:r>
            <a:r>
              <a:rPr lang="fr-FR"/>
              <a:t> P-06, P-07, P-08.</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verbaliser l'information utile avant de rédiger ou de supprimer une alternative.</a:t>
            </a:r>
          </a:p>
          <a:p>
            <a:pPr>
              <a:lnSpc>
                <a:spcPct val="150000"/>
              </a:lnSpc>
              <a:spcAft>
                <a:spcPts val="600"/>
              </a:spcAft>
            </a:pPr>
            <a:r>
              <a:rPr b="1" lang="fr-FR"/>
              <a:t>Question de synthèse :</a:t>
            </a:r>
            <a:r>
              <a:rPr lang="fr-FR"/>
              <a:t> Que perd-on si l'image est masquée ?</a:t>
            </a:r>
          </a:p>
          <a:p>
            <a:pPr>
              <a:lnSpc>
                <a:spcPct val="150000"/>
              </a:lnSpc>
              <a:spcAft>
                <a:spcPts val="600"/>
              </a:spcAft>
            </a:pPr>
            <a:r>
              <a:rPr b="1" lang="fr-FR"/>
              <a:t>Preuves attendues :</a:t>
            </a:r>
          </a:p>
          <a:p>
            <a:pPr lvl="1">
              <a:lnSpc>
                <a:spcPct val="150000"/>
              </a:lnSpc>
              <a:spcAft>
                <a:spcPts val="600"/>
              </a:spcAft>
            </a:pPr>
            <a:r>
              <a:rPr b="1" lang="fr-FR"/>
              <a:t>P-06 :</a:t>
            </a:r>
            <a:r>
              <a:rPr lang="fr-FR"/>
              <a:t> Alternative présente dans le DOCX et jugée pertinente par lecture humaine.</a:t>
            </a:r>
          </a:p>
          <a:p>
            <a:pPr lvl="1">
              <a:lnSpc>
                <a:spcPct val="150000"/>
              </a:lnSpc>
              <a:spcAft>
                <a:spcPts val="600"/>
              </a:spcAft>
            </a:pPr>
            <a:r>
              <a:rPr b="1" lang="fr-FR"/>
              <a:t>P-07 :</a:t>
            </a:r>
            <a:r>
              <a:rPr lang="fr-FR"/>
              <a:t> Équivalence d'information vérifiée sans consulter l'image.</a:t>
            </a:r>
          </a:p>
          <a:p>
            <a:pPr lvl="1">
              <a:lnSpc>
                <a:spcPct val="150000"/>
              </a:lnSpc>
              <a:spcAft>
                <a:spcPts val="600"/>
              </a:spcAft>
            </a:pPr>
            <a:r>
              <a:rPr b="1" lang="fr-FR"/>
              <a:t>P-08 :</a:t>
            </a:r>
            <a:r>
              <a:rPr lang="fr-FR"/>
              <a:t> Marqueur décoratif ou équivalent vérifié et absence de perte d'information confirmée.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15 minutes, synthèse comprise.</a:t>
            </a:r>
          </a:p>
          <a:p>
            <a:pPr>
              <a:lnSpc>
                <a:spcPct val="150000"/>
              </a:lnSpc>
              <a:spcAft>
                <a:spcPts val="600"/>
              </a:spcAft>
            </a:pPr>
            <a:r>
              <a:rPr b="1" lang="fr-FR"/>
              <a:t>Contrôles travaillés sur cette slide :</a:t>
            </a:r>
            <a:r>
              <a:rPr lang="fr-FR"/>
              <a:t> P-09, P-10.</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tester la sélection du texte puis lire uniquement le libellé du lien.</a:t>
            </a:r>
          </a:p>
          <a:p>
            <a:pPr>
              <a:lnSpc>
                <a:spcPct val="150000"/>
              </a:lnSpc>
              <a:spcAft>
                <a:spcPts val="600"/>
              </a:spcAft>
            </a:pPr>
            <a:r>
              <a:rPr b="1" lang="fr-FR"/>
              <a:t>Question de synthèse :</a:t>
            </a:r>
            <a:r>
              <a:rPr lang="fr-FR"/>
              <a:t> Le texte peut-il être sélectionné et le lien compris tout seul ?</a:t>
            </a:r>
          </a:p>
          <a:p>
            <a:pPr>
              <a:lnSpc>
                <a:spcPct val="150000"/>
              </a:lnSpc>
              <a:spcAft>
                <a:spcPts val="600"/>
              </a:spcAft>
            </a:pPr>
            <a:r>
              <a:rPr b="1" lang="fr-FR"/>
              <a:t>Preuves attendues :</a:t>
            </a:r>
          </a:p>
          <a:p>
            <a:pPr lvl="1">
              <a:lnSpc>
                <a:spcPct val="150000"/>
              </a:lnSpc>
              <a:spcAft>
                <a:spcPts val="600"/>
              </a:spcAft>
            </a:pPr>
            <a:r>
              <a:rPr b="1" lang="fr-FR"/>
              <a:t>P-09 :</a:t>
            </a:r>
            <a:r>
              <a:rPr lang="fr-FR"/>
              <a:t> Texte sélectionnable présent dans le DOCX et image de texte absente.</a:t>
            </a:r>
          </a:p>
          <a:p>
            <a:pPr lvl="1">
              <a:lnSpc>
                <a:spcPct val="150000"/>
              </a:lnSpc>
              <a:spcAft>
                <a:spcPts val="600"/>
              </a:spcAft>
            </a:pPr>
            <a:r>
              <a:rPr b="1" lang="fr-FR"/>
              <a:t>P-10 :</a:t>
            </a:r>
            <a:r>
              <a:rPr lang="fr-FR"/>
              <a:t> Destination inchangée, libellé explicite et identification visuelle vérifiées.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15 minutes, synthèse comprise.</a:t>
            </a:r>
          </a:p>
          <a:p>
            <a:pPr>
              <a:lnSpc>
                <a:spcPct val="150000"/>
              </a:lnSpc>
              <a:spcAft>
                <a:spcPts val="600"/>
              </a:spcAft>
            </a:pPr>
            <a:r>
              <a:rPr b="1" lang="fr-FR"/>
              <a:t>Contrôles travaillés sur cette slide :</a:t>
            </a:r>
            <a:r>
              <a:rPr lang="fr-FR"/>
              <a:t> P-11.</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masquer mentalement l'en-tête et l'arrière-plan, sans recréer de filigrane dans l'exercice.</a:t>
            </a:r>
          </a:p>
          <a:p>
            <a:pPr>
              <a:lnSpc>
                <a:spcPct val="150000"/>
              </a:lnSpc>
              <a:spcAft>
                <a:spcPts val="600"/>
              </a:spcAft>
            </a:pPr>
            <a:r>
              <a:rPr b="1" lang="fr-FR"/>
              <a:t>Question de synthèse :</a:t>
            </a:r>
            <a:r>
              <a:rPr lang="fr-FR"/>
              <a:t> Le statut reste-t-il compréhensible quand on lit uniquement le corps ?</a:t>
            </a:r>
          </a:p>
          <a:p>
            <a:pPr>
              <a:lnSpc>
                <a:spcPct val="150000"/>
              </a:lnSpc>
              <a:spcAft>
                <a:spcPts val="600"/>
              </a:spcAft>
            </a:pPr>
            <a:r>
              <a:rPr b="1" lang="fr-FR"/>
              <a:t>Preuves attendues :</a:t>
            </a:r>
            <a:r>
              <a:rPr lang="fr-FR"/>
              <a:t> P-11 : Statut compréhensible dans le texte linéarisé sans en-tête ni arrière-plan.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15 minutes, synthèse comprise.</a:t>
            </a:r>
          </a:p>
          <a:p>
            <a:pPr>
              <a:lnSpc>
                <a:spcPct val="150000"/>
              </a:lnSpc>
              <a:spcAft>
                <a:spcPts val="600"/>
              </a:spcAft>
            </a:pPr>
            <a:r>
              <a:rPr b="1" lang="fr-FR"/>
              <a:t>Contrôles travaillés sur cette slide :</a:t>
            </a:r>
            <a:r>
              <a:rPr lang="fr-FR"/>
              <a:t> P-12, P-13, P-14.</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choisir le seuil avant la mesure et rappeler que le graphique se reconstruit directement dans Word.</a:t>
            </a:r>
          </a:p>
          <a:p>
            <a:pPr>
              <a:lnSpc>
                <a:spcPct val="150000"/>
              </a:lnSpc>
              <a:spcAft>
                <a:spcPts val="600"/>
              </a:spcAft>
            </a:pPr>
            <a:r>
              <a:rPr b="1" lang="fr-FR"/>
              <a:t>Question de synthèse :</a:t>
            </a:r>
            <a:r>
              <a:rPr lang="fr-FR"/>
              <a:t> Quelle preuve distingue une impression visuelle d'un contrôle vérifiable ?</a:t>
            </a:r>
          </a:p>
          <a:p>
            <a:pPr>
              <a:lnSpc>
                <a:spcPct val="150000"/>
              </a:lnSpc>
              <a:spcAft>
                <a:spcPts val="600"/>
              </a:spcAft>
            </a:pPr>
            <a:r>
              <a:rPr b="1" lang="fr-FR"/>
              <a:t>Preuves attendues :</a:t>
            </a:r>
          </a:p>
          <a:p>
            <a:pPr lvl="1">
              <a:lnSpc>
                <a:spcPct val="150000"/>
              </a:lnSpc>
              <a:spcAft>
                <a:spcPts val="600"/>
              </a:spcAft>
            </a:pPr>
            <a:r>
              <a:rPr b="1" lang="fr-FR"/>
              <a:t>P-12 :</a:t>
            </a:r>
            <a:r>
              <a:rPr lang="fr-FR"/>
              <a:t> Ratio calculé conservé et couleurs finales vérifiées dans le document.</a:t>
            </a:r>
          </a:p>
          <a:p>
            <a:pPr lvl="1">
              <a:lnSpc>
                <a:spcPct val="150000"/>
              </a:lnSpc>
              <a:spcAft>
                <a:spcPts val="600"/>
              </a:spcAft>
            </a:pPr>
            <a:r>
              <a:rPr b="1" lang="fr-FR"/>
              <a:t>P-13 :</a:t>
            </a:r>
            <a:r>
              <a:rPr lang="fr-FR"/>
              <a:t> Séries et conclusions identifiables en niveaux de gris et dans l'équivalent textuel.</a:t>
            </a:r>
          </a:p>
          <a:p>
            <a:pPr lvl="1">
              <a:lnSpc>
                <a:spcPct val="150000"/>
              </a:lnSpc>
              <a:spcAft>
                <a:spcPts val="600"/>
              </a:spcAft>
            </a:pPr>
            <a:r>
              <a:rPr b="1" lang="fr-FR"/>
              <a:t>P-14 :</a:t>
            </a:r>
            <a:r>
              <a:rPr lang="fr-FR"/>
              <a:t> XML sans fusion ni imbrication et relations de cellules vérifiées à la lecture.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15 minutes, synthèse comprise.</a:t>
            </a:r>
          </a:p>
          <a:p>
            <a:pPr>
              <a:lnSpc>
                <a:spcPct val="150000"/>
              </a:lnSpc>
              <a:spcAft>
                <a:spcPts val="600"/>
              </a:spcAft>
            </a:pPr>
            <a:r>
              <a:rPr b="1" lang="fr-FR"/>
              <a:t>Contrôles travaillés sur cette slide :</a:t>
            </a:r>
            <a:r>
              <a:rPr lang="fr-FR"/>
              <a:t> P-12.</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relever les couleurs, choisir le seuil, puis seulement lancer l'outil de mesure.</a:t>
            </a:r>
          </a:p>
          <a:p>
            <a:pPr>
              <a:lnSpc>
                <a:spcPct val="150000"/>
              </a:lnSpc>
              <a:spcAft>
                <a:spcPts val="600"/>
              </a:spcAft>
            </a:pPr>
            <a:r>
              <a:rPr b="1" lang="fr-FR"/>
              <a:t>Question de synthèse :</a:t>
            </a:r>
            <a:r>
              <a:rPr lang="fr-FR"/>
              <a:t> Quel seuil s'applique avant même de lire le résultat ?</a:t>
            </a:r>
          </a:p>
          <a:p>
            <a:pPr>
              <a:lnSpc>
                <a:spcPct val="150000"/>
              </a:lnSpc>
              <a:spcAft>
                <a:spcPts val="600"/>
              </a:spcAft>
            </a:pPr>
            <a:r>
              <a:rPr b="1" lang="fr-FR"/>
              <a:t>Preuves attendues :</a:t>
            </a:r>
            <a:r>
              <a:rPr lang="fr-FR"/>
              <a:t> P-12 : Ratio calculé conservé et couleurs finales vérifiées dans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15 minutes, synthèse comprise.</a:t>
            </a:r>
          </a:p>
          <a:p>
            <a:pPr>
              <a:lnSpc>
                <a:spcPct val="150000"/>
              </a:lnSpc>
              <a:spcAft>
                <a:spcPts val="600"/>
              </a:spcAft>
            </a:pPr>
            <a:r>
              <a:rPr b="1" lang="fr-FR"/>
              <a:t>Contrôles travaillés sur cette slide :</a:t>
            </a:r>
            <a:r>
              <a:rPr lang="fr-FR"/>
              <a:t> P-13.</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reconstruire le graphique dans Word à partir des valeurs, puis ajouter étiquettes et motifs.</a:t>
            </a:r>
          </a:p>
          <a:p>
            <a:pPr>
              <a:lnSpc>
                <a:spcPct val="150000"/>
              </a:lnSpc>
              <a:spcAft>
                <a:spcPts val="600"/>
              </a:spcAft>
            </a:pPr>
            <a:r>
              <a:rPr b="1" lang="fr-FR"/>
              <a:t>Question de synthèse :</a:t>
            </a:r>
            <a:r>
              <a:rPr lang="fr-FR"/>
              <a:t> Les séries restent-elles identifiables en niveaux de gris ?</a:t>
            </a:r>
          </a:p>
          <a:p>
            <a:pPr>
              <a:lnSpc>
                <a:spcPct val="150000"/>
              </a:lnSpc>
              <a:spcAft>
                <a:spcPts val="600"/>
              </a:spcAft>
            </a:pPr>
            <a:r>
              <a:rPr b="1" lang="fr-FR"/>
              <a:t>Preuves attendues :</a:t>
            </a:r>
            <a:r>
              <a:rPr lang="fr-FR"/>
              <a:t> P-13 : Séries et conclusions identifiables en niveaux de gris et dans l'équivalent textuel.</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15 minutes, synthèse comprise.</a:t>
            </a:r>
          </a:p>
          <a:p>
            <a:pPr>
              <a:lnSpc>
                <a:spcPct val="150000"/>
              </a:lnSpc>
              <a:spcAft>
                <a:spcPts val="600"/>
              </a:spcAft>
            </a:pPr>
            <a:r>
              <a:rPr b="1" lang="fr-FR"/>
              <a:t>Contrôles travaillés sur cette slide :</a:t>
            </a:r>
            <a:r>
              <a:rPr lang="fr-FR"/>
              <a:t> P-14.</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distinguer tableau de données et mise en page avant d'ouvrir les propriétés du tableau.</a:t>
            </a:r>
          </a:p>
          <a:p>
            <a:pPr>
              <a:lnSpc>
                <a:spcPct val="150000"/>
              </a:lnSpc>
              <a:spcAft>
                <a:spcPts val="600"/>
              </a:spcAft>
            </a:pPr>
            <a:r>
              <a:rPr b="1" lang="fr-FR"/>
              <a:t>Question de synthèse :</a:t>
            </a:r>
            <a:r>
              <a:rPr lang="fr-FR"/>
              <a:t> Chaque cellule appartient-elle à une grille de données simple ?</a:t>
            </a:r>
          </a:p>
          <a:p>
            <a:pPr>
              <a:lnSpc>
                <a:spcPct val="150000"/>
              </a:lnSpc>
              <a:spcAft>
                <a:spcPts val="600"/>
              </a:spcAft>
            </a:pPr>
            <a:r>
              <a:rPr b="1" lang="fr-FR"/>
              <a:t>Preuves attendues :</a:t>
            </a:r>
            <a:r>
              <a:rPr lang="fr-FR"/>
              <a:t> P-14 : XML sans fusion ni imbrication et relations de cellules vérifiées à la lecture.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15 minutes, synthèse comprise.</a:t>
            </a:r>
          </a:p>
          <a:p>
            <a:pPr>
              <a:lnSpc>
                <a:spcPct val="150000"/>
              </a:lnSpc>
              <a:spcAft>
                <a:spcPts val="600"/>
              </a:spcAft>
            </a:pPr>
            <a:r>
              <a:rPr b="1" lang="fr-FR"/>
              <a:t>Contrôles travaillés sur cette slide :</a:t>
            </a:r>
            <a:r>
              <a:rPr lang="fr-FR"/>
              <a:t> P-15, P-16, P-17, P-18.</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corriger le style source et la langue du passage plutôt que les paragraphes un par un.</a:t>
            </a:r>
          </a:p>
          <a:p>
            <a:pPr>
              <a:lnSpc>
                <a:spcPct val="150000"/>
              </a:lnSpc>
              <a:spcAft>
                <a:spcPts val="600"/>
              </a:spcAft>
            </a:pPr>
            <a:r>
              <a:rPr b="1" lang="fr-FR"/>
              <a:t>Question de synthèse :</a:t>
            </a:r>
            <a:r>
              <a:rPr lang="fr-FR"/>
              <a:t> Le réglage est-il porté par les propriétés et les styles, ou seulement par l'apparence ?</a:t>
            </a:r>
          </a:p>
          <a:p>
            <a:pPr>
              <a:lnSpc>
                <a:spcPct val="150000"/>
              </a:lnSpc>
              <a:spcAft>
                <a:spcPts val="600"/>
              </a:spcAft>
            </a:pPr>
            <a:r>
              <a:rPr b="1" lang="fr-FR"/>
              <a:t>Preuves attendues :</a:t>
            </a:r>
          </a:p>
          <a:p>
            <a:pPr lvl="1">
              <a:lnSpc>
                <a:spcPct val="150000"/>
              </a:lnSpc>
              <a:spcAft>
                <a:spcPts val="600"/>
              </a:spcAft>
            </a:pPr>
            <a:r>
              <a:rPr b="1" lang="fr-FR"/>
              <a:t>P-15 :</a:t>
            </a:r>
            <a:r>
              <a:rPr lang="fr-FR"/>
              <a:t> Propriétés et XML de langue cohérents</a:t>
            </a:r>
          </a:p>
          <a:p>
            <a:pPr lvl="1">
              <a:lnSpc>
                <a:spcPct val="150000"/>
              </a:lnSpc>
              <a:spcAft>
                <a:spcPts val="600"/>
              </a:spcAft>
            </a:pPr>
            <a:r>
              <a:rPr b="1" lang="fr-FR"/>
              <a:t>P-16 :</a:t>
            </a:r>
            <a:r>
              <a:rPr lang="fr-FR"/>
              <a:t> Propriétés typographiques contrôlées dans le DOCX et lisibilité relue.</a:t>
            </a:r>
          </a:p>
          <a:p>
            <a:pPr lvl="1">
              <a:lnSpc>
                <a:spcPct val="150000"/>
              </a:lnSpc>
              <a:spcAft>
                <a:spcPts val="600"/>
              </a:spcAft>
            </a:pPr>
            <a:r>
              <a:rPr b="1" lang="fr-FR"/>
              <a:t>P-17 :</a:t>
            </a:r>
            <a:r>
              <a:rPr lang="fr-FR"/>
              <a:t> Texte XML accentué et contrôle visuel de la casse.</a:t>
            </a:r>
          </a:p>
          <a:p>
            <a:pPr lvl="1">
              <a:lnSpc>
                <a:spcPct val="150000"/>
              </a:lnSpc>
              <a:spcAft>
                <a:spcPts val="600"/>
              </a:spcAft>
            </a:pPr>
            <a:r>
              <a:rPr b="1" lang="fr-FR"/>
              <a:t>P-18 :</a:t>
            </a:r>
            <a:r>
              <a:rPr lang="fr-FR"/>
              <a:t> Première occurrence compréhensible et faute témoin en majuscules détectée.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15 minutes, synthèse comprise.</a:t>
            </a:r>
          </a:p>
          <a:p>
            <a:pPr>
              <a:lnSpc>
                <a:spcPct val="150000"/>
              </a:lnSpc>
              <a:spcAft>
                <a:spcPts val="600"/>
              </a:spcAft>
            </a:pPr>
            <a:r>
              <a:rPr b="1" lang="fr-FR"/>
              <a:t>Contrôles travaillés sur cette slide :</a:t>
            </a:r>
            <a:r>
              <a:rPr lang="fr-FR"/>
              <a:t> P-15, P-16.</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distinguer la langue principale de celle du passage, puis modifier le style plutôt que chaque paragraphe.</a:t>
            </a:r>
          </a:p>
          <a:p>
            <a:pPr>
              <a:lnSpc>
                <a:spcPct val="150000"/>
              </a:lnSpc>
              <a:spcAft>
                <a:spcPts val="600"/>
              </a:spcAft>
            </a:pPr>
            <a:r>
              <a:rPr b="1" lang="fr-FR"/>
              <a:t>Question de synthèse :</a:t>
            </a:r>
            <a:r>
              <a:rPr lang="fr-FR"/>
              <a:t> Une correction du style Normal améliore-t-elle tout le corps ?</a:t>
            </a:r>
          </a:p>
          <a:p>
            <a:pPr>
              <a:lnSpc>
                <a:spcPct val="150000"/>
              </a:lnSpc>
              <a:spcAft>
                <a:spcPts val="600"/>
              </a:spcAft>
            </a:pPr>
            <a:r>
              <a:rPr b="1" lang="fr-FR"/>
              <a:t>Preuves attendues :</a:t>
            </a:r>
          </a:p>
          <a:p>
            <a:pPr lvl="1">
              <a:lnSpc>
                <a:spcPct val="150000"/>
              </a:lnSpc>
              <a:spcAft>
                <a:spcPts val="600"/>
              </a:spcAft>
            </a:pPr>
            <a:r>
              <a:rPr b="1" lang="fr-FR"/>
              <a:t>P-15 :</a:t>
            </a:r>
            <a:r>
              <a:rPr lang="fr-FR"/>
              <a:t> Propriétés et XML de langue cohérents</a:t>
            </a:r>
          </a:p>
          <a:p>
            <a:pPr lvl="1">
              <a:lnSpc>
                <a:spcPct val="150000"/>
              </a:lnSpc>
              <a:spcAft>
                <a:spcPts val="600"/>
              </a:spcAft>
            </a:pPr>
            <a:r>
              <a:rPr b="1" lang="fr-FR"/>
              <a:t>P-16 :</a:t>
            </a:r>
            <a:r>
              <a:rPr lang="fr-FR"/>
              <a:t> Propriétés typographiques contrôlées dans le DOCX et lisibilité relue.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15 minutes, synthèse comprise.</a:t>
            </a:r>
          </a:p>
          <a:p>
            <a:pPr>
              <a:lnSpc>
                <a:spcPct val="150000"/>
              </a:lnSpc>
              <a:spcAft>
                <a:spcPts val="600"/>
              </a:spcAft>
            </a:pPr>
            <a:r>
              <a:rPr b="1" lang="fr-FR"/>
              <a:t>Contrôles travaillés sur cette slide :</a:t>
            </a:r>
            <a:r>
              <a:rPr lang="fr-FR"/>
              <a:t> P-17, P-18.</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restaurer la saisie normale avant d'appliquer la casse, puis rechercher la première occurrence du sigle.</a:t>
            </a:r>
          </a:p>
          <a:p>
            <a:pPr>
              <a:lnSpc>
                <a:spcPct val="150000"/>
              </a:lnSpc>
              <a:spcAft>
                <a:spcPts val="600"/>
              </a:spcAft>
            </a:pPr>
            <a:r>
              <a:rPr b="1" lang="fr-FR"/>
              <a:t>Question de synthèse :</a:t>
            </a:r>
            <a:r>
              <a:rPr lang="fr-FR"/>
              <a:t> Le texte reste-t-il correctement écrit sous son apparence visuelle ?</a:t>
            </a:r>
          </a:p>
          <a:p>
            <a:pPr>
              <a:lnSpc>
                <a:spcPct val="150000"/>
              </a:lnSpc>
              <a:spcAft>
                <a:spcPts val="600"/>
              </a:spcAft>
            </a:pPr>
            <a:r>
              <a:rPr b="1" lang="fr-FR"/>
              <a:t>Preuves attendues :</a:t>
            </a:r>
          </a:p>
          <a:p>
            <a:pPr lvl="1">
              <a:lnSpc>
                <a:spcPct val="150000"/>
              </a:lnSpc>
              <a:spcAft>
                <a:spcPts val="600"/>
              </a:spcAft>
            </a:pPr>
            <a:r>
              <a:rPr b="1" lang="fr-FR"/>
              <a:t>P-17 :</a:t>
            </a:r>
            <a:r>
              <a:rPr lang="fr-FR"/>
              <a:t> Texte XML accentué et contrôle visuel de la casse.</a:t>
            </a:r>
          </a:p>
          <a:p>
            <a:pPr lvl="1">
              <a:lnSpc>
                <a:spcPct val="150000"/>
              </a:lnSpc>
              <a:spcAft>
                <a:spcPts val="600"/>
              </a:spcAft>
            </a:pPr>
            <a:r>
              <a:rPr b="1" lang="fr-FR"/>
              <a:t>P-18 :</a:t>
            </a:r>
            <a:r>
              <a:rPr lang="fr-FR"/>
              <a:t> Première occurrence compréhensible et faute témoin en majuscules détectée.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18 minutes, synthèse comprise.</a:t>
            </a:r>
          </a:p>
          <a:p>
            <a:pPr>
              <a:lnSpc>
                <a:spcPct val="150000"/>
              </a:lnSpc>
              <a:spcAft>
                <a:spcPts val="600"/>
              </a:spcAft>
            </a:pPr>
            <a:r>
              <a:rPr b="1" lang="fr-FR"/>
              <a:t>Contrôles travaillés sur cette slide :</a:t>
            </a:r>
            <a:r>
              <a:rPr lang="fr-FR"/>
              <a:t> P-19, P-20, C-01, C-02.</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distinguer propriété, vérification Word, export PDF et contrôle post-export.</a:t>
            </a:r>
          </a:p>
          <a:p>
            <a:pPr>
              <a:lnSpc>
                <a:spcPct val="150000"/>
              </a:lnSpc>
              <a:spcAft>
                <a:spcPts val="600"/>
              </a:spcAft>
            </a:pPr>
            <a:r>
              <a:rPr b="1" lang="fr-FR"/>
              <a:t>Question de synthèse :</a:t>
            </a:r>
            <a:r>
              <a:rPr lang="fr-FR"/>
              <a:t> Qu'est-ce que l'outil automatique ne peut pas décider à votre place ?</a:t>
            </a:r>
          </a:p>
          <a:p>
            <a:pPr>
              <a:lnSpc>
                <a:spcPct val="150000"/>
              </a:lnSpc>
              <a:spcAft>
                <a:spcPts val="600"/>
              </a:spcAft>
            </a:pPr>
            <a:r>
              <a:rPr b="1" lang="fr-FR"/>
              <a:t>Preuves attendues :</a:t>
            </a:r>
          </a:p>
          <a:p>
            <a:pPr lvl="1">
              <a:lnSpc>
                <a:spcPct val="150000"/>
              </a:lnSpc>
              <a:spcAft>
                <a:spcPts val="600"/>
              </a:spcAft>
            </a:pPr>
            <a:r>
              <a:rPr b="1" lang="fr-FR"/>
              <a:t>P-19 :</a:t>
            </a:r>
            <a:r>
              <a:rPr lang="fr-FR"/>
              <a:t> Métadonnées inspectées dans le DOCX et nom de sortie relu.</a:t>
            </a:r>
          </a:p>
          <a:p>
            <a:pPr lvl="1">
              <a:lnSpc>
                <a:spcPct val="150000"/>
              </a:lnSpc>
              <a:spcAft>
                <a:spcPts val="600"/>
              </a:spcAft>
            </a:pPr>
            <a:r>
              <a:rPr b="1" lang="fr-FR"/>
              <a:t>P-20 :</a:t>
            </a:r>
            <a:r>
              <a:rPr lang="fr-FR"/>
              <a:t> Propriétés et structure inspectées dans le PDF</a:t>
            </a:r>
          </a:p>
          <a:p>
            <a:pPr lvl="1">
              <a:lnSpc>
                <a:spcPct val="150000"/>
              </a:lnSpc>
              <a:spcAft>
                <a:spcPts val="600"/>
              </a:spcAft>
            </a:pPr>
            <a:r>
              <a:rPr b="1" lang="fr-FR"/>
              <a:t>C-01 :</a:t>
            </a:r>
            <a:r>
              <a:rPr lang="fr-FR"/>
              <a:t> Relevé du vérificateur conservé et alertes résiduelles justifiées.</a:t>
            </a:r>
          </a:p>
          <a:p>
            <a:pPr lvl="1">
              <a:lnSpc>
                <a:spcPct val="150000"/>
              </a:lnSpc>
              <a:spcAft>
                <a:spcPts val="600"/>
              </a:spcAft>
            </a:pPr>
            <a:r>
              <a:rPr b="1" lang="fr-FR"/>
              <a:t>C-02 :</a:t>
            </a:r>
            <a:r>
              <a:rPr lang="fr-FR"/>
              <a:t> Rapport PAC ou Acrobat conservé</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18 minutes, synthèse comprise.</a:t>
            </a:r>
          </a:p>
          <a:p>
            <a:pPr>
              <a:lnSpc>
                <a:spcPct val="150000"/>
              </a:lnSpc>
              <a:spcAft>
                <a:spcPts val="600"/>
              </a:spcAft>
            </a:pPr>
            <a:r>
              <a:rPr b="1" lang="fr-FR"/>
              <a:t>Contrôles travaillés sur cette slide :</a:t>
            </a:r>
            <a:r>
              <a:rPr lang="fr-FR"/>
              <a:t> P-19, C-01.</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renseigner les propriétés avant l'analyse, puis discuter chaque alerte au lieu de viser un écran vert à tout prix.</a:t>
            </a:r>
          </a:p>
          <a:p>
            <a:pPr>
              <a:lnSpc>
                <a:spcPct val="150000"/>
              </a:lnSpc>
              <a:spcAft>
                <a:spcPts val="600"/>
              </a:spcAft>
            </a:pPr>
            <a:r>
              <a:rPr b="1" lang="fr-FR"/>
              <a:t>Question de synthèse :</a:t>
            </a:r>
            <a:r>
              <a:rPr lang="fr-FR"/>
              <a:t> Une absence d'erreur suffit-elle à prouver l'accessibilité ?</a:t>
            </a:r>
          </a:p>
          <a:p>
            <a:pPr>
              <a:lnSpc>
                <a:spcPct val="150000"/>
              </a:lnSpc>
              <a:spcAft>
                <a:spcPts val="600"/>
              </a:spcAft>
            </a:pPr>
            <a:r>
              <a:rPr b="1" lang="fr-FR"/>
              <a:t>Preuves attendues :</a:t>
            </a:r>
          </a:p>
          <a:p>
            <a:pPr lvl="1">
              <a:lnSpc>
                <a:spcPct val="150000"/>
              </a:lnSpc>
              <a:spcAft>
                <a:spcPts val="600"/>
              </a:spcAft>
            </a:pPr>
            <a:r>
              <a:rPr b="1" lang="fr-FR"/>
              <a:t>P-19 :</a:t>
            </a:r>
            <a:r>
              <a:rPr lang="fr-FR"/>
              <a:t> Métadonnées inspectées dans le DOCX et nom de sortie relu.</a:t>
            </a:r>
          </a:p>
          <a:p>
            <a:pPr lvl="1">
              <a:lnSpc>
                <a:spcPct val="150000"/>
              </a:lnSpc>
              <a:spcAft>
                <a:spcPts val="600"/>
              </a:spcAft>
            </a:pPr>
            <a:r>
              <a:rPr b="1" lang="fr-FR"/>
              <a:t>C-01 :</a:t>
            </a:r>
            <a:r>
              <a:rPr lang="fr-FR"/>
              <a:t> Relevé du vérificateur conservé et alertes résiduelles justifiées.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l'étape :</a:t>
            </a:r>
            <a:r>
              <a:rPr lang="fr-FR"/>
              <a:t> 18 minutes, synthèse comprise.</a:t>
            </a:r>
          </a:p>
          <a:p>
            <a:pPr>
              <a:lnSpc>
                <a:spcPct val="150000"/>
              </a:lnSpc>
              <a:spcAft>
                <a:spcPts val="600"/>
              </a:spcAft>
            </a:pPr>
            <a:r>
              <a:rPr b="1" lang="fr-FR"/>
              <a:t>Contrôles travaillés sur cette slide :</a:t>
            </a:r>
            <a:r>
              <a:rPr lang="fr-FR"/>
              <a:t> P-20, C-02.</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vérifier les options avant l'export, puis commenter le rapport PAC sans enseigner la remédiation avancée.</a:t>
            </a:r>
          </a:p>
          <a:p>
            <a:pPr>
              <a:lnSpc>
                <a:spcPct val="150000"/>
              </a:lnSpc>
              <a:spcAft>
                <a:spcPts val="600"/>
              </a:spcAft>
            </a:pPr>
            <a:r>
              <a:rPr b="1" lang="fr-FR"/>
              <a:t>Question de synthèse :</a:t>
            </a:r>
            <a:r>
              <a:rPr lang="fr-FR"/>
              <a:t> Le PDF conserve-t-il le titre, la langue, les balises, les signets et un ordre lisible ?</a:t>
            </a:r>
          </a:p>
          <a:p>
            <a:pPr>
              <a:lnSpc>
                <a:spcPct val="150000"/>
              </a:lnSpc>
              <a:spcAft>
                <a:spcPts val="600"/>
              </a:spcAft>
            </a:pPr>
            <a:r>
              <a:rPr b="1" lang="fr-FR"/>
              <a:t>Preuves attendues :</a:t>
            </a:r>
          </a:p>
          <a:p>
            <a:pPr lvl="1">
              <a:lnSpc>
                <a:spcPct val="150000"/>
              </a:lnSpc>
              <a:spcAft>
                <a:spcPts val="600"/>
              </a:spcAft>
            </a:pPr>
            <a:r>
              <a:rPr b="1" lang="fr-FR"/>
              <a:t>P-20 :</a:t>
            </a:r>
            <a:r>
              <a:rPr lang="fr-FR"/>
              <a:t> Propriétés et structure inspectées dans le PDF</a:t>
            </a:r>
          </a:p>
          <a:p>
            <a:pPr lvl="1">
              <a:lnSpc>
                <a:spcPct val="150000"/>
              </a:lnSpc>
              <a:spcAft>
                <a:spcPts val="600"/>
              </a:spcAft>
            </a:pPr>
            <a:r>
              <a:rPr b="1" lang="fr-FR"/>
              <a:t>C-02 :</a:t>
            </a:r>
            <a:r>
              <a:rPr lang="fr-FR"/>
              <a:t> Rapport PAC ou Acrobat conservé</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Faire relire les cases renseignées après les deux premières étapes.</a:t>
            </a:r>
          </a:p>
          <a:p>
            <a:pPr>
              <a:lnSpc>
                <a:spcPct val="150000"/>
              </a:lnSpc>
              <a:spcAft>
                <a:spcPts val="600"/>
              </a:spcAft>
            </a:pPr>
            <a:r>
              <a:rPr lang="fr-FR"/>
              <a:t>La formulation et l'ordre proviennent de la matrice et de la checklist distribuée.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Faire relire les cases renseignées après les étapes 3 et 4.</a:t>
            </a:r>
          </a:p>
          <a:p>
            <a:pPr>
              <a:lnSpc>
                <a:spcPct val="150000"/>
              </a:lnSpc>
              <a:spcAft>
                <a:spcPts val="600"/>
              </a:spcAft>
            </a:pPr>
            <a:r>
              <a:rPr lang="fr-FR"/>
              <a:t>Demander quelle preuve a été conservée pour chaque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Faire terminer la checklist humaine.</a:t>
            </a:r>
          </a:p>
          <a:p>
            <a:pPr>
              <a:lnSpc>
                <a:spcPct val="150000"/>
              </a:lnSpc>
              <a:spcAft>
                <a:spcPts val="600"/>
              </a:spcAft>
            </a:pPr>
            <a:r>
              <a:rPr lang="fr-FR"/>
              <a:t>Les contrôles signalés restent importants, mais ne deviennent pas des manipulations obligatoires dans ce TP.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Cette synthèse dure 15 minutes, de 12 h à 12 h 15, hors des 90 minutes du TP.</a:t>
            </a:r>
          </a:p>
          <a:p>
            <a:pPr>
              <a:lnSpc>
                <a:spcPct val="150000"/>
              </a:lnSpc>
              <a:spcAft>
                <a:spcPts val="600"/>
              </a:spcAft>
            </a:pPr>
            <a:r>
              <a:rPr lang="fr-FR"/>
              <a:t>Recueillir les questions, faire formuler un acquis transférable et annoncer la partie III consacrée aux points de contrôle rapides sur le Web.</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III consacrée au Web.</a:t>
            </a:r>
          </a:p>
          <a:p>
            <a:r>
              <a:rPr lang="fr-FR"/>
              <a:t>Préciser que les points de contrôle rapides permettent de repérer les principaux signaux d’alerte avant un audit approfondi.</a:t>
            </a:r>
          </a:p>
          <a:p>
            <a:r>
              <a:rPr lang="fr-FR"/>
              <a:t>À la fin de la partie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a:p>
            <a:r>
              <a:rPr lang="fr-FR"/>
              <a:t>Faire ouvrir le site d’entraînement : https://alexandra-guiderdoni.github.io/tp-fabrication-igpde-102846-ay11/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L’audio-description rend accessibles les informations visuelles essentielles : lieux, actions, gestes, expressions et textes affichés.</a:t>
            </a:r>
          </a:p>
          <a:p>
            <a:r>
              <a:rPr lang="fr-FR"/>
              <a:t>Elle s’insère dans les silences sans couvrir les dialogues ni les sons utiles.</a:t>
            </a:r>
          </a:p>
          <a:p>
            <a:r>
              <a:rPr lang="fr-FR"/>
              <a:t>Pour la transcription, faire choisir le niveau adapté à l’usage : semi-intégrale pour restituer l’essentiel, intégrale éditée pour une lecture complète et fluide, verbatim lorsqu’une restitution mot à mot est nécessaire.</a:t>
            </a:r>
          </a:p>
          <a:p>
            <a:r>
              <a:rPr lang="fr-FR"/>
              <a:t>Un outil d’IA peut produire un premier jet, mais la publication exige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la grille d’audit grille-audit-easy-checks.xlsx, téléchargeable depuis la page d’accueil du site d’exercice.</a:t>
            </a:r>
          </a:p>
          <a:p>
            <a:r>
              <a:rPr lang="fr-FR"/>
              <a:t>Expliquer que l’objectif est de documenter un problème et sa correction, pas de produire un verdict ni un taux.</a:t>
            </a:r>
          </a:p>
          <a:p>
            <a:r>
              <a:rPr lang="fr-FR"/>
              <a:t>Une remontée utile doit permettre à l’équipe web de comprendre le problème, retrouver l’endroit exact et corriger sans refaire toute l’enquête.</a:t>
            </a:r>
          </a:p>
          <a:p>
            <a:r>
              <a:rPr lang="fr-FR"/>
              <a:t>Faire renseigner les trois champs : constat, mise en conformité à réaliser et preuve de l’écart.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grille-audit-easy-checks.xlsx, téléchargeable depuis la page d’accueil du site d’exercice.</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de diagnostic : un seul écart correctement prouvé suffit à documenter le point ; inutile de chercher toutes les occurrences possibles.</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l’exercice ne produit aucun taux de conformité.</a:t>
            </a:r>
          </a:p>
          <a:p>
            <a:r>
              <a:rPr lang="fr-FR"/>
              <a:t>Restitution orale en binôme : point contrôlé, constat, preuve de l’écart et mise en conformité proposée.</a:t>
            </a:r>
          </a:p>
          <a:p>
            <a:r>
              <a:rPr lang="fr-FR"/>
              <a:t>Si un binôme trouve un lien non explicite ou un PDF problématique, le traiter comme signal bonus utile à remonter.</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IV.</a:t>
            </a:r>
          </a:p>
          <a:p>
            <a:r>
              <a:rPr lang="fr-FR"/>
              <a:t>Préciser que la progression va de l’analyse d’un post à la vérification complète avant publication.</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La checklist réseaux sociaux de fin de module reprend ces réflexes.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pdf"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jpg"/><Relationship Id="rId3" Type="http://schemas.openxmlformats.org/officeDocument/2006/relationships/image" Target="../media/image2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303520" y="4114800"/>
            <a:ext cx="6492240" cy="1188720"/>
          </a:xfrm>
        </p:spPr>
        <p:txBody>
          <a:bodyPr wrap="square" anchor="t" lIns="73152" rIns="73152"/>
          <a:lstStyle/>
          <a:p>
            <a:pPr algn="r">
              <a:lnSpc>
                <a:spcPct val="125000"/>
              </a:lnSpc>
            </a:pPr>
            <a:r>
              <a:rPr sz="3200" b="1" i="0" lang="fr-FR">
                <a:solidFill>
                  <a:srgbClr val="000091"/>
                </a:solidFill>
                <a:latin typeface="Arial"/>
              </a:rPr>
              <a:t>L'accessibilité numérique pour la bureautique et le web</a:t>
            </a:r>
          </a:p>
        </p:txBody>
      </p:sp>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1</a:t>
            </a:r>
            <a:endParaRPr lang="fr-FR" dirty="0"/>
          </a:p>
        </p:txBody>
      </p:sp>
      <p:sp>
        <p:nvSpPr>
          <p:cNvPr id="8" name="DSFR-couverture-soustitre"/>
          <p:cNvSpPr txBox="1"/>
          <p:nvPr/>
        </p:nvSpPr>
        <p:spPr>
          <a:xfrm>
            <a:off x="5303520" y="544068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Arial"/>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Arial"/>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560320" y="868680"/>
            <a:ext cx="7315200" cy="822960"/>
          </a:xfrm>
        </p:spPr>
        <p:txBody>
          <a:bodyPr wrap="square" anchor="t" lIns="73152" rIns="73152"/>
          <a:lstStyle/>
          <a:p>
            <a:pPr algn="ctr">
              <a:lnSpc>
                <a:spcPct val="125000"/>
              </a:lnSpc>
            </a:pPr>
            <a:r>
              <a:rPr sz="3600" b="1" i="0" lang="fr-FR">
                <a:solidFill>
                  <a:srgbClr val="000091"/>
                </a:solidFill>
                <a:latin typeface="Arial"/>
              </a:rPr>
              <a:t>Objectifs pédagogiques</a:t>
            </a:r>
          </a:p>
        </p:txBody>
      </p:sp>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a:t>
            </a:r>
            <a:endParaRPr lang="fr-FR" dirty="0"/>
          </a:p>
        </p:txBody>
      </p:sp>
      <p:sp>
        <p:nvSpPr>
          <p:cNvPr id="15" name="DSFR-box"/>
          <p:cNvSpPr/>
          <p:nvPr/>
        </p:nvSpPr>
        <p:spPr>
          <a:xfrm>
            <a:off x="548640" y="2103120"/>
            <a:ext cx="5390388" cy="23820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body"/>
          <p:cNvSpPr txBox="1"/>
          <p:nvPr/>
        </p:nvSpPr>
        <p:spPr>
          <a:xfrm>
            <a:off x="704088" y="224027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Expliquer les enjeux de l'accessibilité numérique et son cadre légal dans le contexte de la communication</a:t>
            </a:r>
          </a:p>
          <a:p>
            <a:pPr algn="l">
              <a:lnSpc>
                <a:spcPct val="150000"/>
              </a:lnSpc>
            </a:pPr>
            <a:r>
              <a:rPr sz="1400" lang="fr-FR">
                <a:solidFill>
                  <a:srgbClr val="161616"/>
                </a:solidFill>
                <a:latin typeface="Arial"/>
              </a:rPr>
              <a:t>• </a:t>
            </a:r>
            <a:r>
              <a:rPr sz="1400" b="0" lang="fr-FR">
                <a:solidFill>
                  <a:srgbClr val="161616"/>
                </a:solidFill>
                <a:latin typeface="Arial"/>
              </a:rPr>
              <a:t>Identifier et évaluer les principales erreurs d'accessibilité</a:t>
            </a:r>
          </a:p>
          <a:p>
            <a:pPr algn="l">
              <a:lnSpc>
                <a:spcPct val="150000"/>
              </a:lnSpc>
            </a:pPr>
            <a:r>
              <a:rPr sz="1400" lang="fr-FR">
                <a:solidFill>
                  <a:srgbClr val="161616"/>
                </a:solidFill>
                <a:latin typeface="Arial"/>
              </a:rPr>
              <a:t>• </a:t>
            </a:r>
            <a:r>
              <a:rPr sz="1400" b="0" lang="fr-FR">
                <a:solidFill>
                  <a:srgbClr val="161616"/>
                </a:solidFill>
                <a:latin typeface="Arial"/>
              </a:rPr>
              <a:t>Rendre des contenus numériques accessibles</a:t>
            </a:r>
          </a:p>
        </p:txBody>
      </p:sp>
      <p:pic>
        <p:nvPicPr>
          <p:cNvPr id="17" name="Picture 16" descr="Affiche du Service d'information du Gouvernement pour les 20 ans de la loi handicap. Un ordinateur à l'écran inversé illustre un outil inaccessible. L'affiche invite les agents publics à utiliser les outils disponibles sur accessibilite.gouv.fr."/>
          <p:cNvPicPr>
            <a:picLocks noChangeAspect="1"/>
          </p:cNvPicPr>
          <p:nvPr/>
        </p:nvPicPr>
        <p:blipFill>
          <a:blip r:embed="rId2"/>
          <a:stretch>
            <a:fillRect/>
          </a:stretch>
        </p:blipFill>
        <p:spPr>
          <a:xfrm>
            <a:off x="6885432" y="1920240"/>
            <a:ext cx="3493008" cy="4167097"/>
          </a:xfrm>
          <a:prstGeom prst="rect">
            <a:avLst/>
          </a:prstGeom>
        </p:spPr>
      </p:pic>
      <p:pic>
        <p:nvPicPr>
          <p:cNvPr id="18" name="DSFR-qrcode" descr="QR code : https://www.info.gouv.fr/accessibilite"/>
          <p:cNvPicPr>
            <a:picLocks noChangeAspect="1"/>
          </p:cNvPicPr>
          <p:nvPr/>
        </p:nvPicPr>
        <p:blipFill>
          <a:blip r:embed="rId3"/>
          <a:stretch>
            <a:fillRect/>
          </a:stretch>
        </p:blipFill>
        <p:spPr>
          <a:xfrm>
            <a:off x="475488" y="4846320"/>
            <a:ext cx="1024128" cy="1024128"/>
          </a:xfrm>
          <a:prstGeom prst="rect">
            <a:avLst/>
          </a:prstGeom>
        </p:spPr>
      </p:pic>
      <p:sp>
        <p:nvSpPr>
          <p:cNvPr id="19" name="DSFR-qrcode-cta"/>
          <p:cNvSpPr txBox="1"/>
          <p:nvPr/>
        </p:nvSpPr>
        <p:spPr>
          <a:xfrm>
            <a:off x="1627632" y="4919472"/>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0" name="DSFR-qrcode-url-visible"/>
          <p:cNvSpPr txBox="1"/>
          <p:nvPr/>
        </p:nvSpPr>
        <p:spPr>
          <a:xfrm>
            <a:off x="1627632" y="5212080"/>
            <a:ext cx="4311396" cy="749808"/>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Objectifs</a:t>
            </a:r>
          </a:p>
        </p:txBody>
      </p:sp>
      <p:sp>
        <p:nvSpPr>
          <p:cNvPr id="14" name="DSFR-accent-decoratif" descr=""/>
          <p:cNvSpPr/>
          <p:nvPr/>
        </p:nvSpPr>
        <p:spPr>
          <a:xfrm>
            <a:off x="475488" y="2103120"/>
            <a:ext cx="73152" cy="23820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a:t>
            </a:r>
            <a:endParaRPr lang="fr-FR" dirty="0"/>
          </a:p>
        </p:txBody>
      </p:sp>
      <p:sp>
        <p:nvSpPr>
          <p:cNvPr id="9" name="DSFR-box"/>
          <p:cNvSpPr/>
          <p:nvPr/>
        </p:nvSpPr>
        <p:spPr>
          <a:xfrm>
            <a:off x="548640"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Accessibilité et cadre légal</a:t>
            </a:r>
          </a:p>
        </p:txBody>
      </p:sp>
      <p:sp>
        <p:nvSpPr>
          <p:cNvPr id="12" name="DSFR-card-contenu"/>
          <p:cNvSpPr txBox="1"/>
          <p:nvPr/>
        </p:nvSpPr>
        <p:spPr>
          <a:xfrm>
            <a:off x="704088"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 des acteurs publics</a:t>
            </a:r>
          </a:p>
          <a:p>
            <a:pPr algn="l">
              <a:lnSpc>
                <a:spcPct val="125000"/>
              </a:lnSpc>
            </a:pPr>
            <a:r>
              <a:rPr sz="1400" lang="fr-FR">
                <a:solidFill>
                  <a:srgbClr val="161616"/>
                </a:solidFill>
                <a:latin typeface="Arial"/>
              </a:rPr>
              <a:t>• </a:t>
            </a:r>
            <a:r>
              <a:rPr sz="1400" b="0" lang="fr-FR">
                <a:solidFill>
                  <a:srgbClr val="161616"/>
                </a:solidFill>
                <a:latin typeface="Arial"/>
              </a:rPr>
              <a:t>Déclaration d'accessibilité</a:t>
            </a:r>
          </a:p>
        </p:txBody>
      </p:sp>
      <p:sp>
        <p:nvSpPr>
          <p:cNvPr id="14" name="DSFR-box"/>
          <p:cNvSpPr/>
          <p:nvPr/>
        </p:nvSpPr>
        <p:spPr>
          <a:xfrm>
            <a:off x="6313931"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7173467"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Bureautique accessible</a:t>
            </a:r>
          </a:p>
        </p:txBody>
      </p:sp>
      <p:sp>
        <p:nvSpPr>
          <p:cNvPr id="17" name="DSFR-card-contenu"/>
          <p:cNvSpPr txBox="1"/>
          <p:nvPr/>
        </p:nvSpPr>
        <p:spPr>
          <a:xfrm>
            <a:off x="6469379"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Documents Word (LibreOffice)</a:t>
            </a:r>
          </a:p>
          <a:p>
            <a:pPr algn="l">
              <a:lnSpc>
                <a:spcPct val="125000"/>
              </a:lnSpc>
            </a:pPr>
            <a:r>
              <a:rPr sz="1400" lang="fr-FR">
                <a:solidFill>
                  <a:srgbClr val="161616"/>
                </a:solidFill>
                <a:latin typeface="Arial"/>
              </a:rPr>
              <a:t>• </a:t>
            </a:r>
            <a:r>
              <a:rPr sz="1400" b="0" lang="fr-FR">
                <a:solidFill>
                  <a:srgbClr val="161616"/>
                </a:solidFill>
                <a:latin typeface="Arial"/>
              </a:rPr>
              <a:t>Export PDF accessible</a:t>
            </a:r>
          </a:p>
        </p:txBody>
      </p:sp>
      <p:sp>
        <p:nvSpPr>
          <p:cNvPr id="19" name="DSFR-box"/>
          <p:cNvSpPr/>
          <p:nvPr/>
        </p:nvSpPr>
        <p:spPr>
          <a:xfrm>
            <a:off x="548640"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1408176"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Points de contrôle rapides W3C</a:t>
            </a:r>
          </a:p>
        </p:txBody>
      </p:sp>
      <p:sp>
        <p:nvSpPr>
          <p:cNvPr id="22" name="DSFR-card-contenu"/>
          <p:cNvSpPr txBox="1"/>
          <p:nvPr/>
        </p:nvSpPr>
        <p:spPr>
          <a:xfrm>
            <a:off x="704088"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13 vérifications rapides W3C WAI</a:t>
            </a:r>
          </a:p>
          <a:p>
            <a:pPr algn="l">
              <a:lnSpc>
                <a:spcPct val="125000"/>
              </a:lnSpc>
            </a:pPr>
            <a:r>
              <a:rPr sz="1400" lang="fr-FR">
                <a:solidFill>
                  <a:srgbClr val="161616"/>
                </a:solidFill>
                <a:latin typeface="Arial"/>
              </a:rPr>
              <a:t>• </a:t>
            </a:r>
            <a:r>
              <a:rPr sz="1400" b="0" lang="fr-FR">
                <a:solidFill>
                  <a:srgbClr val="161616"/>
                </a:solidFill>
                <a:latin typeface="Arial"/>
              </a:rPr>
              <a:t>Démonstration et exercice pratique</a:t>
            </a:r>
          </a:p>
        </p:txBody>
      </p:sp>
      <p:sp>
        <p:nvSpPr>
          <p:cNvPr id="24" name="DSFR-box"/>
          <p:cNvSpPr/>
          <p:nvPr/>
        </p:nvSpPr>
        <p:spPr>
          <a:xfrm>
            <a:off x="6313931"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7173467"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Réseaux sociaux</a:t>
            </a:r>
          </a:p>
        </p:txBody>
      </p:sp>
      <p:sp>
        <p:nvSpPr>
          <p:cNvPr id="27" name="DSFR-card-contenu"/>
          <p:cNvSpPr txBox="1"/>
          <p:nvPr/>
        </p:nvSpPr>
        <p:spPr>
          <a:xfrm>
            <a:off x="6469379"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a:t>
            </a:r>
          </a:p>
          <a:p>
            <a:pPr algn="l">
              <a:lnSpc>
                <a:spcPct val="125000"/>
              </a:lnSpc>
            </a:pPr>
            <a:r>
              <a:rPr sz="1400" lang="fr-FR">
                <a:solidFill>
                  <a:srgbClr val="161616"/>
                </a:solidFill>
                <a:latin typeface="Arial"/>
              </a:rPr>
              <a:t>• </a:t>
            </a:r>
            <a:r>
              <a:rPr sz="1400" b="0" lang="fr-FR">
                <a:solidFill>
                  <a:srgbClr val="161616"/>
                </a:solidFill>
                <a:latin typeface="Arial"/>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Programme</a:t>
            </a:r>
          </a:p>
        </p:txBody>
      </p:sp>
      <p:sp>
        <p:nvSpPr>
          <p:cNvPr id="10" name="DSFR-card-numero"/>
          <p:cNvSpPr/>
          <p:nvPr/>
        </p:nvSpPr>
        <p:spPr>
          <a:xfrm>
            <a:off x="704088"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6469379"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704088"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25" name="DSFR-card-numero"/>
          <p:cNvSpPr/>
          <p:nvPr/>
        </p:nvSpPr>
        <p:spPr>
          <a:xfrm>
            <a:off x="6469379"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4</a:t>
            </a:r>
          </a:p>
        </p:txBody>
      </p:sp>
      <p:sp>
        <p:nvSpPr>
          <p:cNvPr id="8" name="DSFR-accent-decoratif" descr=""/>
          <p:cNvSpPr/>
          <p:nvPr/>
        </p:nvSpPr>
        <p:spPr>
          <a:xfrm>
            <a:off x="475488"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Formateur Opquast certifié, référent Assurance Qualité Web</a:t>
            </a:r>
          </a:p>
          <a:p>
            <a:pPr algn="l">
              <a:lnSpc>
                <a:spcPct val="150000"/>
              </a:lnSpc>
            </a:pPr>
            <a:r>
              <a:rPr sz="1400" lang="fr-FR">
                <a:solidFill>
                  <a:srgbClr val="161616"/>
                </a:solidFill>
                <a:latin typeface="Arial"/>
              </a:rPr>
              <a:t>• </a:t>
            </a:r>
            <a:r>
              <a:rPr sz="1400" b="0" lang="fr-FR">
                <a:solidFill>
                  <a:srgbClr val="161616"/>
                </a:solidFill>
                <a:latin typeface="Arial"/>
              </a:rPr>
              <a:t>Forme et sensibilise à l'accessibilité depuis plusieurs années</a:t>
            </a:r>
          </a:p>
          <a:p>
            <a:pPr algn="l">
              <a:lnSpc>
                <a:spcPct val="150000"/>
              </a:lnSpc>
            </a:pPr>
            <a:r>
              <a:rPr sz="1400" lang="fr-FR">
                <a:solidFill>
                  <a:srgbClr val="161616"/>
                </a:solidFill>
                <a:latin typeface="Arial"/>
              </a:rPr>
              <a:t>• </a:t>
            </a:r>
            <a:r>
              <a:rPr sz="1400" b="0" lang="fr-FR">
                <a:solidFill>
                  <a:srgbClr val="161616"/>
                </a:solidFill>
                <a:latin typeface="Arial"/>
              </a:rPr>
              <a:t>Passionné par la conception inclusive et l'expérience utilisateur</a:t>
            </a:r>
          </a:p>
          <a:p>
            <a:pPr algn="l">
              <a:lnSpc>
                <a:spcPct val="150000"/>
              </a:lnSpc>
            </a:pPr>
            <a:r>
              <a:rPr sz="1400" lang="fr-FR">
                <a:solidFill>
                  <a:srgbClr val="161616"/>
                </a:solidFill>
                <a:latin typeface="Arial"/>
              </a:rPr>
              <a:t>• </a:t>
            </a:r>
            <a:r>
              <a:rPr sz="1400" b="0" lang="fr-FR">
                <a:solidFill>
                  <a:srgbClr val="161616"/>
                </a:solidFill>
                <a:latin typeface="Arial"/>
              </a:rPr>
              <a:t>Formé à l'audit d'accessibilité numérique</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Spécialisée dans les technologies web et l'accessibilité numérique</a:t>
            </a:r>
          </a:p>
          <a:p>
            <a:pPr algn="l">
              <a:lnSpc>
                <a:spcPct val="150000"/>
              </a:lnSpc>
            </a:pPr>
            <a:r>
              <a:rPr sz="1400" lang="fr-FR">
                <a:solidFill>
                  <a:srgbClr val="161616"/>
                </a:solidFill>
                <a:latin typeface="Arial"/>
              </a:rPr>
              <a:t>• </a:t>
            </a:r>
            <a:r>
              <a:rPr sz="1400" b="0" lang="fr-FR">
                <a:solidFill>
                  <a:srgbClr val="161616"/>
                </a:solidFill>
                <a:latin typeface="Arial"/>
              </a:rPr>
              <a:t>Expérience : Ministère des affaires étrangères, ESN</a:t>
            </a:r>
          </a:p>
          <a:p>
            <a:pPr algn="l">
              <a:lnSpc>
                <a:spcPct val="150000"/>
              </a:lnSpc>
            </a:pPr>
            <a:r>
              <a:rPr sz="1400" lang="fr-FR">
                <a:solidFill>
                  <a:srgbClr val="161616"/>
                </a:solidFill>
                <a:latin typeface="Arial"/>
              </a:rPr>
              <a:t>• </a:t>
            </a:r>
            <a:r>
              <a:rPr sz="1400" b="0" lang="fr-FR">
                <a:solidFill>
                  <a:srgbClr val="161616"/>
                </a:solidFill>
                <a:latin typeface="Arial"/>
              </a:rPr>
              <a:t>DU-RAN (diplôme universitaire référent accessibilité numérique), 1re session 2024</a:t>
            </a:r>
          </a:p>
          <a:p>
            <a:pPr algn="l">
              <a:lnSpc>
                <a:spcPct val="150000"/>
              </a:lnSpc>
            </a:pPr>
            <a:r>
              <a:rPr sz="1400" lang="fr-FR">
                <a:solidFill>
                  <a:srgbClr val="161616"/>
                </a:solidFill>
                <a:latin typeface="Arial"/>
              </a:rPr>
              <a:t>• </a:t>
            </a:r>
            <a:r>
              <a:rPr sz="1400" b="0" lang="fr-FR">
                <a:solidFill>
                  <a:srgbClr val="161616"/>
                </a:solidFill>
                <a:latin typeface="Arial"/>
              </a:rPr>
              <a:t>Formée à l'audit d'accessibilité numérique RGAA</a:t>
            </a:r>
          </a:p>
          <a:p>
            <a:pPr algn="l">
              <a:lnSpc>
                <a:spcPct val="150000"/>
              </a:lnSpc>
            </a:pPr>
            <a:r>
              <a:rPr sz="1400" lang="fr-FR">
                <a:solidFill>
                  <a:srgbClr val="161616"/>
                </a:solidFill>
                <a:latin typeface="Arial"/>
              </a:rPr>
              <a:t>• </a:t>
            </a:r>
            <a:r>
              <a:rPr sz="1400" b="0" lang="fr-FR">
                <a:solidFill>
                  <a:srgbClr val="161616"/>
                </a:solidFill>
                <a:latin typeface="Arial"/>
              </a:rPr>
              <a:t>Formatrice et Référente en Assurance Qualité pour le Web - Opquast</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a:t>
            </a:r>
            <a:endParaRPr lang="fr-FR" dirty="0"/>
          </a:p>
        </p:txBody>
      </p:sp>
      <p:sp>
        <p:nvSpPr>
          <p:cNvPr id="9" name="DSFR-box"/>
          <p:cNvSpPr/>
          <p:nvPr/>
        </p:nvSpPr>
        <p:spPr>
          <a:xfrm>
            <a:off x="548640"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êtes-vous ?</a:t>
            </a:r>
          </a:p>
        </p:txBody>
      </p:sp>
      <p:sp>
        <p:nvSpPr>
          <p:cNvPr id="11" name="DSFR-card-contenu"/>
          <p:cNvSpPr txBox="1"/>
          <p:nvPr/>
        </p:nvSpPr>
        <p:spPr>
          <a:xfrm>
            <a:off x="704088"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Bonjour, je m'appelle [prénom]
Je suis [métier / fonction]
chez [direction / service]
depuis [durée]</a:t>
            </a:r>
          </a:p>
        </p:txBody>
      </p:sp>
      <p:sp>
        <p:nvSpPr>
          <p:cNvPr id="13" name="DSFR-box"/>
          <p:cNvSpPr/>
          <p:nvPr/>
        </p:nvSpPr>
        <p:spPr>
          <a:xfrm>
            <a:off x="4392167"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Mon rapport à l'accessibilité</a:t>
            </a:r>
          </a:p>
        </p:txBody>
      </p:sp>
      <p:sp>
        <p:nvSpPr>
          <p:cNvPr id="15" name="DSFR-card-contenu"/>
          <p:cNvSpPr txBox="1"/>
          <p:nvPr/>
        </p:nvSpPr>
        <p:spPr>
          <a:xfrm>
            <a:off x="4547615"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j'attends</a:t>
            </a:r>
          </a:p>
        </p:txBody>
      </p:sp>
      <p:sp>
        <p:nvSpPr>
          <p:cNvPr id="19" name="DSFR-card-contenu"/>
          <p:cNvSpPr txBox="1"/>
          <p:nvPr/>
        </p:nvSpPr>
        <p:spPr>
          <a:xfrm>
            <a:off x="8391144"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a:t>
            </a:r>
            <a:endParaRPr lang="fr-FR" dirty="0"/>
          </a:p>
        </p:txBody>
      </p:sp>
      <p:sp>
        <p:nvSpPr>
          <p:cNvPr id="9" name="DSFR-box"/>
          <p:cNvSpPr/>
          <p:nvPr/>
        </p:nvSpPr>
        <p:spPr>
          <a:xfrm>
            <a:off x="548640"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idées reçues</a:t>
            </a:r>
          </a:p>
        </p:txBody>
      </p:sp>
      <p:sp>
        <p:nvSpPr>
          <p:cNvPr id="11" name="DSFR-card-contenu"/>
          <p:cNvSpPr txBox="1"/>
          <p:nvPr/>
        </p:nvSpPr>
        <p:spPr>
          <a:xfrm>
            <a:off x="704088"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Mettez-vous par deux et piochez une carte idée reçue</a:t>
            </a:r>
          </a:p>
          <a:p>
            <a:pPr algn="l">
              <a:lnSpc>
                <a:spcPct val="125000"/>
              </a:lnSpc>
            </a:pPr>
            <a:r>
              <a:rPr sz="1400" lang="fr-FR">
                <a:solidFill>
                  <a:srgbClr val="161616"/>
                </a:solidFill>
                <a:latin typeface="Arial"/>
              </a:rPr>
              <a:t>• </a:t>
            </a:r>
            <a:r>
              <a:rPr sz="1400" b="0" lang="fr-FR">
                <a:solidFill>
                  <a:srgbClr val="161616"/>
                </a:solidFill>
                <a:latin typeface="Arial"/>
              </a:rPr>
              <a:t>Présentez-vous et échangez sur votre quotidien</a:t>
            </a:r>
          </a:p>
          <a:p>
            <a:pPr algn="l">
              <a:lnSpc>
                <a:spcPct val="125000"/>
              </a:lnSpc>
            </a:pPr>
            <a:r>
              <a:rPr sz="1400" lang="fr-FR">
                <a:solidFill>
                  <a:srgbClr val="161616"/>
                </a:solidFill>
                <a:latin typeface="Arial"/>
              </a:rPr>
              <a:t>• </a:t>
            </a:r>
            <a:r>
              <a:rPr sz="1400" b="0" lang="fr-FR">
                <a:solidFill>
                  <a:srgbClr val="161616"/>
                </a:solidFill>
                <a:latin typeface="Arial"/>
              </a:rPr>
              <a:t>Confrontez vos cartes : qu'en pensez-vous ?</a:t>
            </a:r>
          </a:p>
          <a:p>
            <a:pPr algn="l">
              <a:lnSpc>
                <a:spcPct val="125000"/>
              </a:lnSpc>
            </a:pPr>
            <a:r>
              <a:rPr sz="1400" lang="fr-FR">
                <a:solidFill>
                  <a:srgbClr val="161616"/>
                </a:solidFill>
                <a:latin typeface="Arial"/>
              </a:rPr>
              <a:t>• </a:t>
            </a:r>
            <a:r>
              <a:rPr sz="1400" b="0" lang="fr-FR">
                <a:solidFill>
                  <a:srgbClr val="161616"/>
                </a:solidFill>
                <a:latin typeface="Arial"/>
              </a:rPr>
              <a:t>Présentez vos réflexions au groupe - débat ouvert</a:t>
            </a:r>
          </a:p>
        </p:txBody>
      </p:sp>
      <p:sp>
        <p:nvSpPr>
          <p:cNvPr id="13" name="DSFR-box"/>
          <p:cNvSpPr/>
          <p:nvPr/>
        </p:nvSpPr>
        <p:spPr>
          <a:xfrm>
            <a:off x="6313931"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ateliers Word et Web</a:t>
            </a:r>
          </a:p>
        </p:txBody>
      </p:sp>
      <p:sp>
        <p:nvSpPr>
          <p:cNvPr id="15" name="DSFR-card-contenu"/>
          <p:cNvSpPr txBox="1"/>
          <p:nvPr/>
        </p:nvSpPr>
        <p:spPr>
          <a:xfrm>
            <a:off x="6469379"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N'hésitez pas à travailler en binôme</a:t>
            </a:r>
          </a:p>
          <a:p>
            <a:pPr algn="l">
              <a:lnSpc>
                <a:spcPct val="125000"/>
              </a:lnSpc>
            </a:pPr>
            <a:r>
              <a:rPr sz="1400" lang="fr-FR">
                <a:solidFill>
                  <a:srgbClr val="161616"/>
                </a:solidFill>
                <a:latin typeface="Arial"/>
              </a:rPr>
              <a:t>• </a:t>
            </a:r>
            <a:r>
              <a:rPr sz="1400" b="0" lang="fr-FR">
                <a:solidFill>
                  <a:srgbClr val="161616"/>
                </a:solidFill>
                <a:latin typeface="Arial"/>
              </a:rPr>
              <a:t>Deux regards repèrent ce qu'un seul ne voit pas</a:t>
            </a:r>
          </a:p>
          <a:p>
            <a:pPr algn="l">
              <a:lnSpc>
                <a:spcPct val="125000"/>
              </a:lnSpc>
            </a:pPr>
            <a:r>
              <a:rPr sz="1400" lang="fr-FR">
                <a:solidFill>
                  <a:srgbClr val="161616"/>
                </a:solidFill>
                <a:latin typeface="Arial"/>
              </a:rPr>
              <a:t>• </a:t>
            </a:r>
            <a:r>
              <a:rPr sz="1400" b="0" lang="fr-FR">
                <a:solidFill>
                  <a:srgbClr val="161616"/>
                </a:solidFill>
                <a:latin typeface="Arial"/>
              </a:rPr>
              <a:t>Expliquer à quelqu'un consolide l'apprentissage</a:t>
            </a:r>
          </a:p>
        </p:txBody>
      </p:sp>
      <p:sp>
        <p:nvSpPr>
          <p:cNvPr id="17" name="DSFR-box"/>
          <p:cNvSpPr/>
          <p:nvPr/>
        </p:nvSpPr>
        <p:spPr>
          <a:xfrm>
            <a:off x="548640" y="47548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463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548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En binôme, confrontez vos cartes : vrai ou faux ?</a:t>
            </a:r>
          </a:p>
          <a:p>
            <a:pPr algn="l">
              <a:lnSpc>
                <a:spcPct val="150000"/>
              </a:lnSpc>
            </a:pPr>
            <a:r>
              <a:rPr sz="1400" lang="fr-FR">
                <a:solidFill>
                  <a:srgbClr val="161616"/>
                </a:solidFill>
                <a:latin typeface="Arial"/>
              </a:rPr>
              <a:t>• </a:t>
            </a:r>
            <a:r>
              <a:rPr sz="1400" b="0" lang="fr-FR">
                <a:solidFill>
                  <a:srgbClr val="161616"/>
                </a:solidFill>
                <a:latin typeface="Arial"/>
              </a:rPr>
              <a:t>Échangez vos arguments, préparez votre position</a:t>
            </a:r>
          </a:p>
          <a:p>
            <a:pPr algn="l">
              <a:lnSpc>
                <a:spcPct val="150000"/>
              </a:lnSpc>
            </a:pPr>
            <a:r>
              <a:rPr sz="1400" lang="fr-FR">
                <a:solidFill>
                  <a:srgbClr val="161616"/>
                </a:solidFill>
                <a:latin typeface="Arial"/>
              </a:rPr>
              <a:t>• </a:t>
            </a:r>
            <a:r>
              <a:rPr sz="1400" b="0" lang="fr-FR">
                <a:solidFill>
                  <a:srgbClr val="161616"/>
                </a:solidFill>
                <a:latin typeface="Arial"/>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a:t>
            </a:r>
            <a:endParaRPr lang="fr-FR" dirty="0"/>
          </a:p>
        </p:txBody>
      </p:sp>
      <p:sp>
        <p:nvSpPr>
          <p:cNvPr id="9" name="DSFR-box"/>
          <p:cNvSpPr/>
          <p:nvPr/>
        </p:nvSpPr>
        <p:spPr>
          <a:xfrm>
            <a:off x="548640" y="2103120"/>
            <a:ext cx="5390388" cy="272856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14941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ne concerne qu'une minorité de personnes »</a:t>
            </a:r>
          </a:p>
        </p:txBody>
      </p:sp>
      <p:sp>
        <p:nvSpPr>
          <p:cNvPr id="14" name="DSFR-box"/>
          <p:cNvSpPr/>
          <p:nvPr/>
        </p:nvSpPr>
        <p:spPr>
          <a:xfrm>
            <a:off x="6313931" y="2103120"/>
            <a:ext cx="5390388" cy="27285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342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1 milliard+ de personnes dans le monde vivent avec un handicap (OMS)</a:t>
            </a:r>
          </a:p>
          <a:p>
            <a:pPr algn="l">
              <a:lnSpc>
                <a:spcPct val="130000"/>
              </a:lnSpc>
            </a:pPr>
            <a:r>
              <a:rPr sz="1400" lang="fr-FR">
                <a:solidFill>
                  <a:srgbClr val="161616"/>
                </a:solidFill>
                <a:latin typeface="Arial"/>
              </a:rPr>
              <a:t>• </a:t>
            </a:r>
            <a:r>
              <a:rPr sz="1400" b="0" lang="fr-FR">
                <a:solidFill>
                  <a:srgbClr val="161616"/>
                </a:solidFill>
                <a:latin typeface="Arial"/>
              </a:rPr>
              <a:t>Soit 15 % de la population mondiale - 1 personne sur 6</a:t>
            </a:r>
          </a:p>
          <a:p>
            <a:pPr algn="l">
              <a:lnSpc>
                <a:spcPct val="130000"/>
              </a:lnSpc>
            </a:pPr>
            <a:r>
              <a:rPr sz="1400" lang="fr-FR">
                <a:solidFill>
                  <a:srgbClr val="161616"/>
                </a:solidFill>
                <a:latin typeface="Arial"/>
              </a:rPr>
              <a:t>• </a:t>
            </a:r>
            <a:r>
              <a:rPr sz="1400" b="0" lang="fr-FR">
                <a:solidFill>
                  <a:srgbClr val="161616"/>
                </a:solidFill>
                <a:latin typeface="Arial"/>
              </a:rPr>
              <a:t>En France : 12 millions de personnes en situation de handicap</a:t>
            </a:r>
          </a:p>
          <a:p>
            <a:pPr algn="l">
              <a:lnSpc>
                <a:spcPct val="130000"/>
              </a:lnSpc>
            </a:pPr>
            <a:r>
              <a:rPr sz="1400" lang="fr-FR">
                <a:solidFill>
                  <a:srgbClr val="161616"/>
                </a:solidFill>
                <a:latin typeface="Arial"/>
              </a:rPr>
              <a:t>• </a:t>
            </a:r>
            <a:r>
              <a:rPr sz="1400" b="0" lang="fr-FR">
                <a:solidFill>
                  <a:srgbClr val="161616"/>
                </a:solidFill>
                <a:latin typeface="Arial"/>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919472"/>
            <a:ext cx="868680" cy="868680"/>
          </a:xfrm>
          <a:prstGeom prst="rect">
            <a:avLst/>
          </a:prstGeom>
        </p:spPr>
      </p:pic>
      <p:sp>
        <p:nvSpPr>
          <p:cNvPr id="18" name="DSFR-qrcode-cta"/>
          <p:cNvSpPr txBox="1"/>
          <p:nvPr/>
        </p:nvSpPr>
        <p:spPr>
          <a:xfrm>
            <a:off x="7237475" y="49926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2852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8" name="DSFR-accent-decoratif" descr=""/>
          <p:cNvSpPr/>
          <p:nvPr/>
        </p:nvSpPr>
        <p:spPr>
          <a:xfrm>
            <a:off x="475488"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La créativité et l'UX seront dégradées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n'impose pas un design archaïque, austère ou sans inspiration</a:t>
            </a:r>
          </a:p>
          <a:p>
            <a:pPr algn="l">
              <a:lnSpc>
                <a:spcPct val="130000"/>
              </a:lnSpc>
            </a:pPr>
            <a:r>
              <a:rPr sz="1400" lang="fr-FR">
                <a:solidFill>
                  <a:srgbClr val="161616"/>
                </a:solidFill>
                <a:latin typeface="Arial"/>
              </a:rPr>
              <a:t>• </a:t>
            </a:r>
            <a:r>
              <a:rPr sz="1400" b="0" lang="fr-FR">
                <a:solidFill>
                  <a:srgbClr val="161616"/>
                </a:solidFill>
                <a:latin typeface="Arial"/>
              </a:rPr>
              <a:t>Les contraintes sont des leviers de créativité, pas des freins</a:t>
            </a:r>
          </a:p>
          <a:p>
            <a:pPr algn="l">
              <a:lnSpc>
                <a:spcPct val="130000"/>
              </a:lnSpc>
            </a:pPr>
            <a:r>
              <a:rPr sz="1400" lang="fr-FR">
                <a:solidFill>
                  <a:srgbClr val="161616"/>
                </a:solidFill>
                <a:latin typeface="Arial"/>
              </a:rPr>
              <a:t>• </a:t>
            </a:r>
            <a:r>
              <a:rPr sz="1400" b="0" lang="fr-FR">
                <a:solidFill>
                  <a:srgbClr val="161616"/>
                </a:solidFill>
                <a:latin typeface="Arial"/>
              </a:rPr>
              <a:t>Les interfaces les plus accessibles sont souvent les plus claires et élégantes</a:t>
            </a:r>
          </a:p>
          <a:p>
            <a:pPr algn="l">
              <a:lnSpc>
                <a:spcPct val="130000"/>
              </a:lnSpc>
            </a:pPr>
            <a:r>
              <a:rPr sz="1400" lang="fr-FR">
                <a:solidFill>
                  <a:srgbClr val="161616"/>
                </a:solidFill>
                <a:latin typeface="Arial"/>
              </a:rPr>
              <a:t>• </a:t>
            </a:r>
            <a:r>
              <a:rPr sz="1400" b="0" lang="fr-FR">
                <a:solidFill>
                  <a:srgbClr val="161616"/>
                </a:solidFill>
                <a:latin typeface="Arial"/>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C'est juste du contraste et des images décrites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Le contraste et les textes alternatifs ne sont que 2 exigences sur des centaines</a:t>
            </a:r>
          </a:p>
          <a:p>
            <a:pPr algn="l">
              <a:lnSpc>
                <a:spcPct val="130000"/>
              </a:lnSpc>
            </a:pPr>
            <a:r>
              <a:rPr sz="1400" lang="fr-FR">
                <a:solidFill>
                  <a:srgbClr val="161616"/>
                </a:solidFill>
                <a:latin typeface="Arial"/>
              </a:rPr>
              <a:t>• </a:t>
            </a:r>
            <a:r>
              <a:rPr sz="1400" b="0" lang="fr-FR">
                <a:solidFill>
                  <a:srgbClr val="161616"/>
                </a:solidFill>
                <a:latin typeface="Arial"/>
              </a:rPr>
              <a:t>Le RGAA compte 106 critères, les WCAG 2.1 en comptent 78</a:t>
            </a:r>
          </a:p>
          <a:p>
            <a:pPr algn="l">
              <a:lnSpc>
                <a:spcPct val="130000"/>
              </a:lnSpc>
            </a:pPr>
            <a:r>
              <a:rPr sz="1400" lang="fr-FR">
                <a:solidFill>
                  <a:srgbClr val="161616"/>
                </a:solidFill>
                <a:latin typeface="Arial"/>
              </a:rPr>
              <a:t>• </a:t>
            </a:r>
            <a:r>
              <a:rPr sz="1400" b="0" lang="fr-FR">
                <a:solidFill>
                  <a:srgbClr val="161616"/>
                </a:solidFill>
                <a:latin typeface="Arial"/>
              </a:rPr>
              <a:t>Titres, liens, tableaux, formulaires, langue, ordre de lecture ... autant de dimensions</a:t>
            </a:r>
          </a:p>
          <a:p>
            <a:pPr algn="l">
              <a:lnSpc>
                <a:spcPct val="130000"/>
              </a:lnSpc>
            </a:pPr>
            <a:r>
              <a:rPr sz="1400" lang="fr-FR">
                <a:solidFill>
                  <a:srgbClr val="161616"/>
                </a:solidFill>
                <a:latin typeface="Arial"/>
              </a:rPr>
              <a:t>• </a:t>
            </a:r>
            <a:r>
              <a:rPr sz="1400" b="0" lang="fr-FR">
                <a:solidFill>
                  <a:srgbClr val="161616"/>
                </a:solidFill>
                <a:latin typeface="Arial"/>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 n'est pas de mon ressort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ne peut pas être portée par une seule équipe ou une seule personne</a:t>
            </a:r>
          </a:p>
          <a:p>
            <a:pPr algn="l">
              <a:lnSpc>
                <a:spcPct val="130000"/>
              </a:lnSpc>
            </a:pPr>
            <a:r>
              <a:rPr sz="1400" lang="fr-FR">
                <a:solidFill>
                  <a:srgbClr val="161616"/>
                </a:solidFill>
                <a:latin typeface="Arial"/>
              </a:rPr>
              <a:t>• </a:t>
            </a:r>
            <a:r>
              <a:rPr sz="1400" b="0" lang="fr-FR">
                <a:solidFill>
                  <a:srgbClr val="161616"/>
                </a:solidFill>
                <a:latin typeface="Arial"/>
              </a:rPr>
              <a:t>Elle implique tous les producteurs de contenu : rédacteurs, communicants, designers ...</a:t>
            </a:r>
          </a:p>
          <a:p>
            <a:pPr algn="l">
              <a:lnSpc>
                <a:spcPct val="130000"/>
              </a:lnSpc>
            </a:pPr>
            <a:r>
              <a:rPr sz="1400" lang="fr-FR">
                <a:solidFill>
                  <a:srgbClr val="161616"/>
                </a:solidFill>
                <a:latin typeface="Arial"/>
              </a:rPr>
              <a:t>• </a:t>
            </a:r>
            <a:r>
              <a:rPr sz="1400" b="0" lang="fr-FR">
                <a:solidFill>
                  <a:srgbClr val="161616"/>
                </a:solidFill>
                <a:latin typeface="Arial"/>
              </a:rPr>
              <a:t>Chaque document Word, chaque image publiée engage une responsabilité</a:t>
            </a:r>
          </a:p>
          <a:p>
            <a:pPr algn="l">
              <a:lnSpc>
                <a:spcPct val="130000"/>
              </a:lnSpc>
            </a:pPr>
            <a:r>
              <a:rPr sz="1400" lang="fr-FR">
                <a:solidFill>
                  <a:srgbClr val="161616"/>
                </a:solidFill>
                <a:latin typeface="Arial"/>
              </a:rPr>
              <a:t>• </a:t>
            </a:r>
            <a:r>
              <a:rPr sz="1400" b="0" lang="fr-FR">
                <a:solidFill>
                  <a:srgbClr val="161616"/>
                </a:solidFill>
                <a:latin typeface="Arial"/>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coûte trop cher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Oui - si l'accessibilité est traitée comme un ajustement en fin de projet</a:t>
            </a:r>
          </a:p>
          <a:p>
            <a:pPr algn="l">
              <a:lnSpc>
                <a:spcPct val="130000"/>
              </a:lnSpc>
            </a:pPr>
            <a:r>
              <a:rPr sz="1400" lang="fr-FR">
                <a:solidFill>
                  <a:srgbClr val="161616"/>
                </a:solidFill>
                <a:latin typeface="Arial"/>
              </a:rPr>
              <a:t>• </a:t>
            </a:r>
            <a:r>
              <a:rPr sz="1400" b="0" lang="fr-FR">
                <a:solidFill>
                  <a:srgbClr val="161616"/>
                </a:solidFill>
                <a:latin typeface="Arial"/>
              </a:rPr>
              <a:t>Non - si elle est intégrée dès la conception (approche « shift left »)</a:t>
            </a:r>
          </a:p>
          <a:p>
            <a:pPr algn="l">
              <a:lnSpc>
                <a:spcPct val="130000"/>
              </a:lnSpc>
            </a:pPr>
            <a:r>
              <a:rPr sz="1400" lang="fr-FR">
                <a:solidFill>
                  <a:srgbClr val="161616"/>
                </a:solidFill>
                <a:latin typeface="Arial"/>
              </a:rPr>
              <a:t>• </a:t>
            </a:r>
            <a:r>
              <a:rPr sz="1400" b="0" lang="fr-FR">
                <a:solidFill>
                  <a:srgbClr val="161616"/>
                </a:solidFill>
                <a:latin typeface="Arial"/>
              </a:rPr>
              <a:t>Corriger un document Word après publication : 10 fois plus cher que le faire d'emblée</a:t>
            </a:r>
          </a:p>
          <a:p>
            <a:pPr algn="l">
              <a:lnSpc>
                <a:spcPct val="130000"/>
              </a:lnSpc>
            </a:pPr>
            <a:r>
              <a:rPr sz="1400" lang="fr-FR">
                <a:solidFill>
                  <a:srgbClr val="161616"/>
                </a:solidFill>
                <a:latin typeface="Arial"/>
              </a:rPr>
              <a:t>• </a:t>
            </a:r>
            <a:r>
              <a:rPr sz="1400" b="0" lang="fr-FR">
                <a:solidFill>
                  <a:srgbClr val="161616"/>
                </a:solidFill>
                <a:latin typeface="Arial"/>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5</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14</a:t>
            </a:r>
            <a:endParaRPr lang="fr-FR" dirty="0"/>
          </a:p>
        </p:txBody>
      </p:sp>
      <p:sp>
        <p:nvSpPr>
          <p:cNvPr id="9" name="DSFR-box"/>
          <p:cNvSpPr/>
          <p:nvPr/>
        </p:nvSpPr>
        <p:spPr>
          <a:xfrm>
            <a:off x="548640" y="2103120"/>
            <a:ext cx="5390388" cy="32918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20574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On s'en occupe à la fin ! »</a:t>
            </a:r>
          </a:p>
        </p:txBody>
      </p:sp>
      <p:sp>
        <p:nvSpPr>
          <p:cNvPr id="14" name="DSFR-box"/>
          <p:cNvSpPr/>
          <p:nvPr/>
        </p:nvSpPr>
        <p:spPr>
          <a:xfrm>
            <a:off x="6313931" y="2103120"/>
            <a:ext cx="5390388" cy="32918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69748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Prise en compte tardive = grosses corrections après coup</a:t>
            </a:r>
          </a:p>
          <a:p>
            <a:pPr algn="l">
              <a:lnSpc>
                <a:spcPct val="130000"/>
              </a:lnSpc>
            </a:pPr>
            <a:r>
              <a:rPr sz="1400" lang="fr-FR">
                <a:solidFill>
                  <a:srgbClr val="161616"/>
                </a:solidFill>
                <a:latin typeface="Arial"/>
              </a:rPr>
              <a:t>• </a:t>
            </a:r>
            <a:r>
              <a:rPr sz="1400" b="0" lang="fr-FR">
                <a:solidFill>
                  <a:srgbClr val="161616"/>
                </a:solidFill>
                <a:latin typeface="Arial"/>
              </a:rPr>
              <a:t>Cela pèse sur l'efficacité des projets et génère de la frustration pour les équipes</a:t>
            </a:r>
          </a:p>
          <a:p>
            <a:pPr algn="l">
              <a:lnSpc>
                <a:spcPct val="130000"/>
              </a:lnSpc>
            </a:pPr>
            <a:r>
              <a:rPr sz="1400" lang="fr-FR">
                <a:solidFill>
                  <a:srgbClr val="161616"/>
                </a:solidFill>
                <a:latin typeface="Arial"/>
              </a:rPr>
              <a:t>• </a:t>
            </a:r>
            <a:r>
              <a:rPr sz="1400" b="0" lang="fr-FR">
                <a:solidFill>
                  <a:srgbClr val="161616"/>
                </a:solidFill>
                <a:latin typeface="Arial"/>
              </a:rPr>
              <a:t>L'accessibilité « à la fin » est souvent l'accessibilité jamais faite</a:t>
            </a:r>
          </a:p>
          <a:p>
            <a:pPr algn="l">
              <a:lnSpc>
                <a:spcPct val="130000"/>
              </a:lnSpc>
            </a:pPr>
            <a:r>
              <a:rPr sz="1400" lang="fr-FR">
                <a:solidFill>
                  <a:srgbClr val="161616"/>
                </a:solidFill>
                <a:latin typeface="Arial"/>
              </a:rPr>
              <a:t>• </a:t>
            </a:r>
            <a:r>
              <a:rPr sz="1400" b="0" lang="fr-FR">
                <a:solidFill>
                  <a:srgbClr val="161616"/>
                </a:solidFill>
                <a:latin typeface="Arial"/>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440680"/>
            <a:ext cx="822960" cy="822960"/>
          </a:xfrm>
          <a:prstGeom prst="rect">
            <a:avLst/>
          </a:prstGeom>
        </p:spPr>
      </p:pic>
      <p:sp>
        <p:nvSpPr>
          <p:cNvPr id="18" name="DSFR-qrcode-cta"/>
          <p:cNvSpPr txBox="1"/>
          <p:nvPr/>
        </p:nvSpPr>
        <p:spPr>
          <a:xfrm>
            <a:off x="7191755" y="551383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191755" y="5806440"/>
            <a:ext cx="4457700" cy="54864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6</a:t>
            </a:r>
          </a:p>
        </p:txBody>
      </p:sp>
      <p:sp>
        <p:nvSpPr>
          <p:cNvPr id="8" name="DSFR-accent-decoratif" descr=""/>
          <p:cNvSpPr/>
          <p:nvPr/>
        </p:nvSpPr>
        <p:spPr>
          <a:xfrm>
            <a:off x="475488"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 - Accessibilité et cadre légal</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15</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quoi ?</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pour qui ?</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quel cadre légal ?</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pourquoi ?</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comment s'y mettre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Tous les contenus sont concernés</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applications, newsletters, courriels</a:t>
            </a:r>
          </a:p>
          <a:p>
            <a:pPr algn="l">
              <a:lnSpc>
                <a:spcPct val="120000"/>
              </a:lnSpc>
            </a:pPr>
            <a:r>
              <a:rPr sz="1400" lang="fr-FR">
                <a:solidFill>
                  <a:srgbClr val="161616"/>
                </a:solidFill>
                <a:latin typeface="Arial"/>
              </a:rPr>
              <a:t>• </a:t>
            </a:r>
            <a:r>
              <a:rPr sz="1400" b="0" lang="fr-FR">
                <a:solidFill>
                  <a:srgbClr val="161616"/>
                </a:solidFill>
                <a:latin typeface="Arial"/>
              </a:rPr>
              <a:t>Vidéos, podcasts, visuels animés</a:t>
            </a:r>
          </a:p>
          <a:p>
            <a:pPr algn="l">
              <a:lnSpc>
                <a:spcPct val="120000"/>
              </a:lnSpc>
            </a:pPr>
            <a:r>
              <a:rPr sz="1400" lang="fr-FR">
                <a:solidFill>
                  <a:srgbClr val="161616"/>
                </a:solidFill>
                <a:latin typeface="Arial"/>
              </a:rPr>
              <a:t>• </a:t>
            </a:r>
            <a:r>
              <a:rPr sz="1400" b="0" lang="fr-FR">
                <a:solidFill>
                  <a:srgbClr val="161616"/>
                </a:solidFill>
                <a:latin typeface="Arial"/>
              </a:rPr>
              <a:t>Documents bureautiques, PDF, formulaires</a:t>
            </a:r>
          </a:p>
          <a:p>
            <a:pPr algn="l">
              <a:lnSpc>
                <a:spcPct val="120000"/>
              </a:lnSpc>
            </a:pPr>
            <a:r>
              <a:rPr sz="1400" lang="fr-FR">
                <a:solidFill>
                  <a:srgbClr val="161616"/>
                </a:solidFill>
                <a:latin typeface="Arial"/>
              </a:rPr>
              <a:t>• </a:t>
            </a:r>
            <a:r>
              <a:rPr sz="1400" b="0" lang="fr-FR">
                <a:solidFill>
                  <a:srgbClr val="161616"/>
                </a:solidFill>
                <a:latin typeface="Arial"/>
              </a:rPr>
              <a:t>Affiches, flyers, plans, QR codes</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Utile pour tous, indispensable pour certains</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Handicap permanent, temporaire ou situationnel</a:t>
            </a:r>
          </a:p>
          <a:p>
            <a:pPr algn="l">
              <a:lnSpc>
                <a:spcPct val="120000"/>
              </a:lnSpc>
            </a:pPr>
            <a:r>
              <a:rPr sz="1400" lang="fr-FR">
                <a:solidFill>
                  <a:srgbClr val="161616"/>
                </a:solidFill>
                <a:latin typeface="Arial"/>
              </a:rPr>
              <a:t>• </a:t>
            </a:r>
            <a:r>
              <a:rPr sz="1400" b="0" lang="fr-FR">
                <a:solidFill>
                  <a:srgbClr val="161616"/>
                </a:solidFill>
                <a:latin typeface="Arial"/>
              </a:rPr>
              <a:t>Matériel ancien, connexion lente, écran petit</a:t>
            </a:r>
          </a:p>
          <a:p>
            <a:pPr algn="l">
              <a:lnSpc>
                <a:spcPct val="120000"/>
              </a:lnSpc>
            </a:pPr>
            <a:r>
              <a:rPr sz="1400" lang="fr-FR">
                <a:solidFill>
                  <a:srgbClr val="161616"/>
                </a:solidFill>
                <a:latin typeface="Arial"/>
              </a:rPr>
              <a:t>• </a:t>
            </a:r>
            <a:r>
              <a:rPr sz="1400" b="0" lang="fr-FR">
                <a:solidFill>
                  <a:srgbClr val="161616"/>
                </a:solidFill>
                <a:latin typeface="Arial"/>
              </a:rPr>
              <a:t>Environnement bruyant, lumineux ou contraint</a:t>
            </a:r>
          </a:p>
          <a:p>
            <a:pPr algn="l">
              <a:lnSpc>
                <a:spcPct val="120000"/>
              </a:lnSpc>
            </a:pPr>
            <a:r>
              <a:rPr sz="1400" lang="fr-FR">
                <a:solidFill>
                  <a:srgbClr val="161616"/>
                </a:solidFill>
                <a:latin typeface="Arial"/>
              </a:rPr>
              <a:t>• </a:t>
            </a:r>
            <a:r>
              <a:rPr sz="1400" b="0" lang="fr-FR">
                <a:solidFill>
                  <a:srgbClr val="161616"/>
                </a:solidFill>
                <a:latin typeface="Arial"/>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106 / 13</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7" name="DSFR-texte-libre"/>
          <p:cNvSpPr txBox="1"/>
          <p:nvPr/>
        </p:nvSpPr>
        <p:spPr>
          <a:xfrm>
            <a:off x="475488" y="5125212"/>
            <a:ext cx="11228832" cy="5486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WCAG : référence internationale du W3C. RGAA : référentiel français publié par la DINUM. 106 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19</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WCAG reposent sur 4 principes. Chacun se résume en une question à poser devant tout contenu.</a:t>
            </a:r>
          </a:p>
        </p:txBody>
      </p:sp>
      <p:sp>
        <p:nvSpPr>
          <p:cNvPr id="12" name="DSFR-box"/>
          <p:cNvSpPr/>
          <p:nvPr/>
        </p:nvSpPr>
        <p:spPr>
          <a:xfrm>
            <a:off x="548640"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Percevoir</a:t>
            </a:r>
          </a:p>
        </p:txBody>
      </p:sp>
      <p:sp>
        <p:nvSpPr>
          <p:cNvPr id="15" name="DSFR-card-contenu"/>
          <p:cNvSpPr txBox="1"/>
          <p:nvPr/>
        </p:nvSpPr>
        <p:spPr>
          <a:xfrm>
            <a:off x="704088"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L'information reste-t-elle disponible si je ne vois pas ou n'entends pas ?</a:t>
            </a:r>
          </a:p>
        </p:txBody>
      </p:sp>
      <p:sp>
        <p:nvSpPr>
          <p:cNvPr id="17" name="DSFR-box"/>
          <p:cNvSpPr/>
          <p:nvPr/>
        </p:nvSpPr>
        <p:spPr>
          <a:xfrm>
            <a:off x="3431286"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Utiliser</a:t>
            </a:r>
          </a:p>
        </p:txBody>
      </p:sp>
      <p:sp>
        <p:nvSpPr>
          <p:cNvPr id="20" name="DSFR-card-contenu"/>
          <p:cNvSpPr txBox="1"/>
          <p:nvPr/>
        </p:nvSpPr>
        <p:spPr>
          <a:xfrm>
            <a:off x="3586734"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Puis-je naviguer et agir sans souris, sans geste imposé ?</a:t>
            </a:r>
          </a:p>
        </p:txBody>
      </p:sp>
      <p:sp>
        <p:nvSpPr>
          <p:cNvPr id="22" name="DSFR-box"/>
          <p:cNvSpPr/>
          <p:nvPr/>
        </p:nvSpPr>
        <p:spPr>
          <a:xfrm>
            <a:off x="6313931"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Comprendre</a:t>
            </a:r>
          </a:p>
        </p:txBody>
      </p:sp>
      <p:sp>
        <p:nvSpPr>
          <p:cNvPr id="25" name="DSFR-card-contenu"/>
          <p:cNvSpPr txBox="1"/>
          <p:nvPr/>
        </p:nvSpPr>
        <p:spPr>
          <a:xfrm>
            <a:off x="6469379"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mots, formulaires et comportements sont-ils prévisibles ?</a:t>
            </a:r>
          </a:p>
        </p:txBody>
      </p:sp>
      <p:sp>
        <p:nvSpPr>
          <p:cNvPr id="27" name="DSFR-box"/>
          <p:cNvSpPr/>
          <p:nvPr/>
        </p:nvSpPr>
        <p:spPr>
          <a:xfrm>
            <a:off x="9196578"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Compatible</a:t>
            </a:r>
          </a:p>
        </p:txBody>
      </p:sp>
      <p:sp>
        <p:nvSpPr>
          <p:cNvPr id="30" name="DSFR-card-contenu"/>
          <p:cNvSpPr txBox="1"/>
          <p:nvPr/>
        </p:nvSpPr>
        <p:spPr>
          <a:xfrm>
            <a:off x="9352026"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aides techniques peuvent-elles interpréter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type de handicap implique des besoins concrets que vos contenus doivent prendre en compte.</a:t>
            </a:r>
          </a:p>
        </p:txBody>
      </p:sp>
      <p:sp>
        <p:nvSpPr>
          <p:cNvPr id="12" name="DSFR-box"/>
          <p:cNvSpPr/>
          <p:nvPr/>
        </p:nvSpPr>
        <p:spPr>
          <a:xfrm>
            <a:off x="548640"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Visuelle</a:t>
            </a:r>
          </a:p>
        </p:txBody>
      </p:sp>
      <p:sp>
        <p:nvSpPr>
          <p:cNvPr id="14" name="DSFR-card-contenu"/>
          <p:cNvSpPr txBox="1"/>
          <p:nvPr/>
        </p:nvSpPr>
        <p:spPr>
          <a:xfrm>
            <a:off x="704088"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Lecteur d'écran, loupe, contraste</a:t>
            </a:r>
          </a:p>
          <a:p>
            <a:pPr algn="l">
              <a:lnSpc>
                <a:spcPct val="125000"/>
              </a:lnSpc>
            </a:pPr>
            <a:r>
              <a:rPr sz="1400" lang="fr-FR">
                <a:solidFill>
                  <a:srgbClr val="161616"/>
                </a:solidFill>
                <a:latin typeface="Arial"/>
              </a:rPr>
              <a:t>• </a:t>
            </a:r>
            <a:r>
              <a:rPr sz="1400" b="0" lang="fr-FR">
                <a:solidFill>
                  <a:srgbClr val="161616"/>
                </a:solidFill>
                <a:latin typeface="Arial"/>
              </a:rPr>
              <a:t>Alt text, structure, couleurs</a:t>
            </a:r>
          </a:p>
        </p:txBody>
      </p:sp>
      <p:sp>
        <p:nvSpPr>
          <p:cNvPr id="16" name="DSFR-box"/>
          <p:cNvSpPr/>
          <p:nvPr/>
        </p:nvSpPr>
        <p:spPr>
          <a:xfrm>
            <a:off x="3431286"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Auditive</a:t>
            </a:r>
          </a:p>
        </p:txBody>
      </p:sp>
      <p:sp>
        <p:nvSpPr>
          <p:cNvPr id="18" name="DSFR-card-contenu"/>
          <p:cNvSpPr txBox="1"/>
          <p:nvPr/>
        </p:nvSpPr>
        <p:spPr>
          <a:xfrm>
            <a:off x="3586734"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Sous-titres, transcription, LSF</a:t>
            </a:r>
          </a:p>
          <a:p>
            <a:pPr algn="l">
              <a:lnSpc>
                <a:spcPct val="125000"/>
              </a:lnSpc>
            </a:pPr>
            <a:r>
              <a:rPr sz="1400" lang="fr-FR">
                <a:solidFill>
                  <a:srgbClr val="161616"/>
                </a:solidFill>
                <a:latin typeface="Arial"/>
              </a:rPr>
              <a:t>• </a:t>
            </a:r>
            <a:r>
              <a:rPr sz="1400" b="0" lang="fr-FR">
                <a:solidFill>
                  <a:srgbClr val="161616"/>
                </a:solidFill>
                <a:latin typeface="Arial"/>
              </a:rPr>
              <a:t>Alertes visuelles, pas que sonores</a:t>
            </a:r>
          </a:p>
        </p:txBody>
      </p:sp>
      <p:sp>
        <p:nvSpPr>
          <p:cNvPr id="20" name="DSFR-box"/>
          <p:cNvSpPr/>
          <p:nvPr/>
        </p:nvSpPr>
        <p:spPr>
          <a:xfrm>
            <a:off x="6313931"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Motrice</a:t>
            </a:r>
          </a:p>
        </p:txBody>
      </p:sp>
      <p:sp>
        <p:nvSpPr>
          <p:cNvPr id="22" name="DSFR-card-contenu"/>
          <p:cNvSpPr txBox="1"/>
          <p:nvPr/>
        </p:nvSpPr>
        <p:spPr>
          <a:xfrm>
            <a:off x="6469379"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Clavier seul, contacteur, voix</a:t>
            </a:r>
          </a:p>
          <a:p>
            <a:pPr algn="l">
              <a:lnSpc>
                <a:spcPct val="125000"/>
              </a:lnSpc>
            </a:pPr>
            <a:r>
              <a:rPr sz="1400" lang="fr-FR">
                <a:solidFill>
                  <a:srgbClr val="161616"/>
                </a:solidFill>
                <a:latin typeface="Arial"/>
              </a:rPr>
              <a:t>• </a:t>
            </a:r>
            <a:r>
              <a:rPr sz="1400" b="0" lang="fr-FR">
                <a:solidFill>
                  <a:srgbClr val="161616"/>
                </a:solidFill>
                <a:latin typeface="Arial"/>
              </a:rPr>
              <a:t>Cibles larges, pas de geste imposé</a:t>
            </a:r>
          </a:p>
        </p:txBody>
      </p:sp>
      <p:sp>
        <p:nvSpPr>
          <p:cNvPr id="24" name="DSFR-box"/>
          <p:cNvSpPr/>
          <p:nvPr/>
        </p:nvSpPr>
        <p:spPr>
          <a:xfrm>
            <a:off x="9196578"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Cognitive</a:t>
            </a:r>
          </a:p>
        </p:txBody>
      </p:sp>
      <p:sp>
        <p:nvSpPr>
          <p:cNvPr id="26" name="DSFR-card-contenu"/>
          <p:cNvSpPr txBox="1"/>
          <p:nvPr/>
        </p:nvSpPr>
        <p:spPr>
          <a:xfrm>
            <a:off x="9352026"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Langage clair, mise en page aérée</a:t>
            </a:r>
          </a:p>
          <a:p>
            <a:pPr algn="l">
              <a:lnSpc>
                <a:spcPct val="125000"/>
              </a:lnSpc>
            </a:pPr>
            <a:r>
              <a:rPr sz="1400" lang="fr-FR">
                <a:solidFill>
                  <a:srgbClr val="161616"/>
                </a:solidFill>
                <a:latin typeface="Arial"/>
              </a:rPr>
              <a:t>• </a:t>
            </a:r>
            <a:r>
              <a:rPr sz="1400" b="0" lang="fr-FR">
                <a:solidFill>
                  <a:srgbClr val="161616"/>
                </a:solidFill>
                <a:latin typeface="Arial"/>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22</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Testez les simulations suivantes</a:t>
            </a:r>
          </a:p>
        </p:txBody>
      </p:sp>
      <p:sp>
        <p:nvSpPr>
          <p:cNvPr id="14" name="DSFR-callout-body"/>
          <p:cNvSpPr txBox="1"/>
          <p:nvPr/>
        </p:nvSpPr>
        <p:spPr>
          <a:xfrm>
            <a:off x="704088" y="4651552"/>
            <a:ext cx="5143500"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Daltonisme</a:t>
            </a:r>
          </a:p>
          <a:p>
            <a:pPr algn="l">
              <a:lnSpc>
                <a:spcPct val="125000"/>
              </a:lnSpc>
            </a:pPr>
            <a:r>
              <a:rPr sz="1400" lang="fr-FR">
                <a:solidFill>
                  <a:srgbClr val="161616"/>
                </a:solidFill>
                <a:latin typeface="Arial"/>
              </a:rPr>
              <a:t>• </a:t>
            </a:r>
            <a:r>
              <a:rPr sz="1400" b="0" lang="fr-FR">
                <a:solidFill>
                  <a:srgbClr val="161616"/>
                </a:solidFill>
                <a:latin typeface="Arial"/>
              </a:rPr>
              <a:t>Malvoyance</a:t>
            </a:r>
          </a:p>
          <a:p>
            <a:pPr algn="l">
              <a:lnSpc>
                <a:spcPct val="125000"/>
              </a:lnSpc>
            </a:pPr>
            <a:r>
              <a:rPr sz="1400" lang="fr-FR">
                <a:solidFill>
                  <a:srgbClr val="161616"/>
                </a:solidFill>
                <a:latin typeface="Arial"/>
              </a:rPr>
              <a:t>• </a:t>
            </a:r>
            <a:r>
              <a:rPr sz="1400" b="0" lang="fr-FR">
                <a:solidFill>
                  <a:srgbClr val="161616"/>
                </a:solidFill>
                <a:latin typeface="Arial"/>
              </a:rPr>
              <a:t>Cécité</a:t>
            </a:r>
          </a:p>
          <a:p>
            <a:pPr algn="l">
              <a:lnSpc>
                <a:spcPct val="125000"/>
              </a:lnSpc>
            </a:pPr>
            <a:r>
              <a:rPr sz="1400" lang="fr-FR">
                <a:solidFill>
                  <a:srgbClr val="161616"/>
                </a:solidFill>
                <a:latin typeface="Arial"/>
              </a:rPr>
              <a:t>• </a:t>
            </a:r>
            <a:r>
              <a:rPr sz="1400" b="0" lang="fr-FR">
                <a:solidFill>
                  <a:srgbClr val="161616"/>
                </a:solidFill>
                <a:latin typeface="Arial"/>
              </a:rPr>
              <a:t>Surdité</a:t>
            </a:r>
          </a:p>
          <a:p>
            <a:pPr algn="l">
              <a:lnSpc>
                <a:spcPct val="125000"/>
              </a:lnSpc>
            </a:pPr>
            <a:r>
              <a:rPr sz="1400" lang="fr-FR">
                <a:solidFill>
                  <a:srgbClr val="161616"/>
                </a:solidFill>
                <a:latin typeface="Arial"/>
              </a:rPr>
              <a:t>• </a:t>
            </a:r>
            <a:r>
              <a:rPr sz="1400" b="0" lang="fr-FR">
                <a:solidFill>
                  <a:srgbClr val="161616"/>
                </a:solidFill>
                <a:latin typeface="Arial"/>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Amir, chargé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23</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Alternative textuelle sur chaque image (attribut alt)</a:t>
            </a:r>
          </a:p>
          <a:p>
            <a:pPr algn="l">
              <a:lnSpc>
                <a:spcPct val="130000"/>
              </a:lnSpc>
            </a:pPr>
            <a:r>
              <a:rPr sz="1400" lang="fr-FR">
                <a:solidFill>
                  <a:srgbClr val="161616"/>
                </a:solidFill>
                <a:latin typeface="Arial"/>
              </a:rPr>
              <a:t>• </a:t>
            </a:r>
            <a:r>
              <a:rPr sz="1400" b="0" lang="fr-FR">
                <a:solidFill>
                  <a:srgbClr val="161616"/>
                </a:solidFill>
                <a:latin typeface="Arial"/>
              </a:rPr>
              <a:t>Structure logique du document (titres, listes, tableaux)</a:t>
            </a:r>
          </a:p>
          <a:p>
            <a:pPr algn="l">
              <a:lnSpc>
                <a:spcPct val="130000"/>
              </a:lnSpc>
            </a:pPr>
            <a:r>
              <a:rPr sz="1400" lang="fr-FR">
                <a:solidFill>
                  <a:srgbClr val="161616"/>
                </a:solidFill>
                <a:latin typeface="Arial"/>
              </a:rPr>
              <a:t>• </a:t>
            </a:r>
            <a:r>
              <a:rPr sz="1400" b="0" lang="fr-FR">
                <a:solidFill>
                  <a:srgbClr val="161616"/>
                </a:solidFill>
                <a:latin typeface="Arial"/>
              </a:rPr>
              <a:t>Liens explicites (pas de « cliquez ici »)</a:t>
            </a:r>
          </a:p>
          <a:p>
            <a:pPr algn="l">
              <a:lnSpc>
                <a:spcPct val="130000"/>
              </a:lnSpc>
            </a:pPr>
            <a:r>
              <a:rPr sz="1400" lang="fr-FR">
                <a:solidFill>
                  <a:srgbClr val="161616"/>
                </a:solidFill>
                <a:latin typeface="Arial"/>
              </a:rPr>
              <a:t>• </a:t>
            </a:r>
            <a:r>
              <a:rPr sz="1400" b="0" lang="fr-FR">
                <a:solidFill>
                  <a:srgbClr val="161616"/>
                </a:solidFill>
                <a:latin typeface="Arial"/>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24</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Agrandir la taille des textes et des interfaces</a:t>
            </a:r>
          </a:p>
          <a:p>
            <a:pPr algn="l">
              <a:lnSpc>
                <a:spcPct val="130000"/>
              </a:lnSpc>
            </a:pPr>
            <a:r>
              <a:rPr sz="1400" lang="fr-FR">
                <a:solidFill>
                  <a:srgbClr val="161616"/>
                </a:solidFill>
                <a:latin typeface="Arial"/>
              </a:rPr>
              <a:t>• </a:t>
            </a:r>
            <a:r>
              <a:rPr sz="1400" b="0" lang="fr-FR">
                <a:solidFill>
                  <a:srgbClr val="161616"/>
                </a:solidFill>
                <a:latin typeface="Arial"/>
              </a:rPr>
              <a:t>Contraste suffisant entre texte et fond (ratio 4.5:1 minimum)</a:t>
            </a:r>
          </a:p>
          <a:p>
            <a:pPr algn="l">
              <a:lnSpc>
                <a:spcPct val="130000"/>
              </a:lnSpc>
            </a:pPr>
            <a:r>
              <a:rPr sz="1400" lang="fr-FR">
                <a:solidFill>
                  <a:srgbClr val="161616"/>
                </a:solidFill>
                <a:latin typeface="Arial"/>
              </a:rPr>
              <a:t>• </a:t>
            </a:r>
            <a:r>
              <a:rPr sz="1400" b="0" lang="fr-FR">
                <a:solidFill>
                  <a:srgbClr val="161616"/>
                </a:solidFill>
                <a:latin typeface="Arial"/>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sp>
        <p:nvSpPr>
          <p:cNvPr id="17" name="DSFR-box"/>
          <p:cNvSpPr/>
          <p:nvPr/>
        </p:nvSpPr>
        <p:spPr>
          <a:xfrm>
            <a:off x="548640"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Agrandissement</a:t>
            </a:r>
          </a:p>
        </p:txBody>
      </p:sp>
      <p:sp>
        <p:nvSpPr>
          <p:cNvPr id="20" name="DSFR-box"/>
          <p:cNvSpPr/>
          <p:nvPr/>
        </p:nvSpPr>
        <p:spPr>
          <a:xfrm>
            <a:off x="4392167"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Contraste renforcé</a:t>
            </a:r>
          </a:p>
        </p:txBody>
      </p:sp>
      <p:sp>
        <p:nvSpPr>
          <p:cNvPr id="23" name="DSFR-box"/>
          <p:cNvSpPr/>
          <p:nvPr/>
        </p:nvSpPr>
        <p:spPr>
          <a:xfrm>
            <a:off x="8235695"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25</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Sous-titres sur toutes les vidéos et contenus audio</a:t>
            </a:r>
          </a:p>
          <a:p>
            <a:pPr algn="l">
              <a:lnSpc>
                <a:spcPct val="130000"/>
              </a:lnSpc>
            </a:pPr>
            <a:r>
              <a:rPr sz="1400" lang="fr-FR">
                <a:solidFill>
                  <a:srgbClr val="161616"/>
                </a:solidFill>
                <a:latin typeface="Arial"/>
              </a:rPr>
              <a:t>• </a:t>
            </a:r>
            <a:r>
              <a:rPr sz="1400" b="0" lang="fr-FR">
                <a:solidFill>
                  <a:srgbClr val="161616"/>
                </a:solidFill>
                <a:latin typeface="Arial"/>
              </a:rPr>
              <a:t>Transcription textuelle des podcasts et webinaires</a:t>
            </a:r>
          </a:p>
          <a:p>
            <a:pPr algn="l">
              <a:lnSpc>
                <a:spcPct val="130000"/>
              </a:lnSpc>
            </a:pPr>
            <a:r>
              <a:rPr sz="1400" lang="fr-FR">
                <a:solidFill>
                  <a:srgbClr val="161616"/>
                </a:solidFill>
                <a:latin typeface="Arial"/>
              </a:rPr>
              <a:t>• </a:t>
            </a:r>
            <a:r>
              <a:rPr sz="1400" b="0" lang="fr-FR">
                <a:solidFill>
                  <a:srgbClr val="161616"/>
                </a:solidFill>
                <a:latin typeface="Arial"/>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sp>
        <p:nvSpPr>
          <p:cNvPr id="17" name="DSFR-box"/>
          <p:cNvSpPr/>
          <p:nvPr/>
        </p:nvSpPr>
        <p:spPr>
          <a:xfrm>
            <a:off x="548640"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Sous-titres relus</a:t>
            </a:r>
          </a:p>
        </p:txBody>
      </p:sp>
      <p:sp>
        <p:nvSpPr>
          <p:cNvPr id="20" name="DSFR-box"/>
          <p:cNvSpPr/>
          <p:nvPr/>
        </p:nvSpPr>
        <p:spPr>
          <a:xfrm>
            <a:off x="4392167"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Transcription</a:t>
            </a:r>
          </a:p>
        </p:txBody>
      </p:sp>
      <p:sp>
        <p:nvSpPr>
          <p:cNvPr id="23" name="DSFR-box"/>
          <p:cNvSpPr/>
          <p:nvPr/>
        </p:nvSpPr>
        <p:spPr>
          <a:xfrm>
            <a:off x="8235695"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Alertes visuelles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26</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Naviguer sans souris, avec des contacteurs adaptés</a:t>
            </a:r>
          </a:p>
          <a:p>
            <a:pPr algn="l">
              <a:lnSpc>
                <a:spcPct val="130000"/>
              </a:lnSpc>
            </a:pPr>
            <a:r>
              <a:rPr sz="1400" lang="fr-FR">
                <a:solidFill>
                  <a:srgbClr val="161616"/>
                </a:solidFill>
                <a:latin typeface="Arial"/>
              </a:rPr>
              <a:t>• </a:t>
            </a:r>
            <a:r>
              <a:rPr sz="1400" b="0" lang="fr-FR">
                <a:solidFill>
                  <a:srgbClr val="161616"/>
                </a:solidFill>
                <a:latin typeface="Arial"/>
              </a:rPr>
              <a:t>Cibles cliquables suffisamment larges (44 x 44 px minimum)</a:t>
            </a:r>
          </a:p>
          <a:p>
            <a:pPr algn="l">
              <a:lnSpc>
                <a:spcPct val="130000"/>
              </a:lnSpc>
            </a:pPr>
            <a:r>
              <a:rPr sz="1400" lang="fr-FR">
                <a:solidFill>
                  <a:srgbClr val="161616"/>
                </a:solidFill>
                <a:latin typeface="Arial"/>
              </a:rPr>
              <a:t>• </a:t>
            </a:r>
            <a:r>
              <a:rPr sz="1400" b="0" lang="fr-FR">
                <a:solidFill>
                  <a:srgbClr val="161616"/>
                </a:solidFill>
                <a:latin typeface="Arial"/>
              </a:rPr>
              <a:t>Commande vocale pour piloter l'interface</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Utiliser</a:t>
            </a:r>
          </a:p>
        </p:txBody>
      </p:sp>
      <p:sp>
        <p:nvSpPr>
          <p:cNvPr id="17" name="DSFR-box"/>
          <p:cNvSpPr/>
          <p:nvPr/>
        </p:nvSpPr>
        <p:spPr>
          <a:xfrm>
            <a:off x="548640"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Clavier et contacteurs</a:t>
            </a:r>
          </a:p>
        </p:txBody>
      </p:sp>
      <p:sp>
        <p:nvSpPr>
          <p:cNvPr id="20" name="DSFR-box"/>
          <p:cNvSpPr/>
          <p:nvPr/>
        </p:nvSpPr>
        <p:spPr>
          <a:xfrm>
            <a:off x="4392167"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Souris trackball</a:t>
            </a:r>
          </a:p>
        </p:txBody>
      </p:sp>
      <p:sp>
        <p:nvSpPr>
          <p:cNvPr id="23" name="DSFR-box"/>
          <p:cNvSpPr/>
          <p:nvPr/>
        </p:nvSpPr>
        <p:spPr>
          <a:xfrm>
            <a:off x="8235695"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Commande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Anatole, lycéen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27</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Phrases courtes et simples, sans double négation</a:t>
            </a:r>
          </a:p>
          <a:p>
            <a:pPr algn="l">
              <a:lnSpc>
                <a:spcPct val="130000"/>
              </a:lnSpc>
            </a:pPr>
            <a:r>
              <a:rPr sz="1400" lang="fr-FR">
                <a:solidFill>
                  <a:srgbClr val="161616"/>
                </a:solidFill>
                <a:latin typeface="Arial"/>
              </a:rPr>
              <a:t>• </a:t>
            </a:r>
            <a:r>
              <a:rPr sz="1400" b="0" lang="fr-FR">
                <a:solidFill>
                  <a:srgbClr val="161616"/>
                </a:solidFill>
                <a:latin typeface="Arial"/>
              </a:rPr>
              <a:t>Mise en page aérée, une idée par paragraphe</a:t>
            </a:r>
          </a:p>
          <a:p>
            <a:pPr algn="l">
              <a:lnSpc>
                <a:spcPct val="130000"/>
              </a:lnSpc>
            </a:pPr>
            <a:r>
              <a:rPr sz="1400" lang="fr-FR">
                <a:solidFill>
                  <a:srgbClr val="161616"/>
                </a:solidFill>
                <a:latin typeface="Arial"/>
              </a:rPr>
              <a:t>• </a:t>
            </a:r>
            <a:r>
              <a:rPr sz="1400" b="0" lang="fr-FR">
                <a:solidFill>
                  <a:srgbClr val="161616"/>
                </a:solidFill>
                <a:latin typeface="Arial"/>
              </a:rPr>
              <a:t>Pictogrammes pour accompagner le texte</a:t>
            </a:r>
          </a:p>
          <a:p>
            <a:pPr algn="l">
              <a:lnSpc>
                <a:spcPct val="130000"/>
              </a:lnSpc>
            </a:pPr>
            <a:r>
              <a:rPr sz="1400" lang="fr-FR">
                <a:solidFill>
                  <a:srgbClr val="161616"/>
                </a:solidFill>
                <a:latin typeface="Arial"/>
              </a:rPr>
              <a:t>• </a:t>
            </a:r>
            <a:r>
              <a:rPr sz="1400" b="0" lang="fr-FR">
                <a:solidFill>
                  <a:srgbClr val="161616"/>
                </a:solidFill>
                <a:latin typeface="Arial"/>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a:t>
            </a:r>
          </a:p>
        </p:txBody>
      </p:sp>
      <p:sp>
        <p:nvSpPr>
          <p:cNvPr id="17" name="DSFR-box"/>
          <p:cNvSpPr/>
          <p:nvPr/>
        </p:nvSpPr>
        <p:spPr>
          <a:xfrm>
            <a:off x="548640" y="4498848"/>
            <a:ext cx="11155680"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01768"/>
            <a:ext cx="10908792"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Porteur de trisomie 21</a:t>
            </a:r>
          </a:p>
          <a:p>
            <a:pPr algn="l">
              <a:lnSpc>
                <a:spcPct val="120000"/>
              </a:lnSpc>
            </a:pPr>
            <a:r>
              <a:rPr sz="1400" lang="fr-FR">
                <a:solidFill>
                  <a:srgbClr val="161616"/>
                </a:solidFill>
                <a:latin typeface="Arial"/>
              </a:rPr>
              <a:t>• </a:t>
            </a:r>
            <a:r>
              <a:rPr sz="1400" b="0" lang="fr-FR">
                <a:solidFill>
                  <a:srgbClr val="161616"/>
                </a:solidFill>
                <a:latin typeface="Arial"/>
              </a:rPr>
              <a:t>Lire lui demande du temps et de la concentration</a:t>
            </a:r>
          </a:p>
          <a:p>
            <a:pPr algn="l">
              <a:lnSpc>
                <a:spcPct val="120000"/>
              </a:lnSpc>
            </a:pPr>
            <a:r>
              <a:rPr sz="1400" lang="fr-FR">
                <a:solidFill>
                  <a:srgbClr val="161616"/>
                </a:solidFill>
                <a:latin typeface="Arial"/>
              </a:rPr>
              <a:t>• </a:t>
            </a:r>
            <a:r>
              <a:rPr sz="1400" b="0" lang="fr-FR">
                <a:solidFill>
                  <a:srgbClr val="161616"/>
                </a:solidFill>
                <a:latin typeface="Arial"/>
              </a:rPr>
              <a:t>Il comprend mieux les phrases simples et courtes</a:t>
            </a:r>
          </a:p>
          <a:p>
            <a:pPr algn="l">
              <a:lnSpc>
                <a:spcPct val="120000"/>
              </a:lnSpc>
            </a:pPr>
            <a:r>
              <a:rPr sz="1400" lang="fr-FR">
                <a:solidFill>
                  <a:srgbClr val="161616"/>
                </a:solidFill>
                <a:latin typeface="Arial"/>
              </a:rPr>
              <a:t>• </a:t>
            </a:r>
            <a:r>
              <a:rPr sz="1400" b="0" lang="fr-FR">
                <a:solidFill>
                  <a:srgbClr val="161616"/>
                </a:solidFill>
                <a:latin typeface="Arial"/>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Paul, attaché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28</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Mettre en pause les animations (carrousels, vidéo autoplay)</a:t>
            </a:r>
          </a:p>
          <a:p>
            <a:pPr algn="l">
              <a:lnSpc>
                <a:spcPct val="130000"/>
              </a:lnSpc>
            </a:pPr>
            <a:r>
              <a:rPr sz="1400" lang="fr-FR">
                <a:solidFill>
                  <a:srgbClr val="161616"/>
                </a:solidFill>
                <a:latin typeface="Arial"/>
              </a:rPr>
              <a:t>• </a:t>
            </a:r>
            <a:r>
              <a:rPr sz="1400" b="0" lang="fr-FR">
                <a:solidFill>
                  <a:srgbClr val="161616"/>
                </a:solidFill>
                <a:latin typeface="Arial"/>
              </a:rPr>
              <a:t>Textes non justifiés, avec un espacement suffisant</a:t>
            </a:r>
          </a:p>
          <a:p>
            <a:pPr algn="l">
              <a:lnSpc>
                <a:spcPct val="130000"/>
              </a:lnSpc>
            </a:pPr>
            <a:r>
              <a:rPr sz="1400" lang="fr-FR">
                <a:solidFill>
                  <a:srgbClr val="161616"/>
                </a:solidFill>
                <a:latin typeface="Arial"/>
              </a:rPr>
              <a:t>• </a:t>
            </a:r>
            <a:r>
              <a:rPr sz="1400" b="0" lang="fr-FR">
                <a:solidFill>
                  <a:srgbClr val="161616"/>
                </a:solidFill>
                <a:latin typeface="Arial"/>
              </a:rPr>
              <a:t>Polices lisibles, sans empattement (sans serif)</a:t>
            </a:r>
          </a:p>
          <a:p>
            <a:pPr algn="l">
              <a:lnSpc>
                <a:spcPct val="130000"/>
              </a:lnSpc>
            </a:pPr>
            <a:r>
              <a:rPr sz="1400" lang="fr-FR">
                <a:solidFill>
                  <a:srgbClr val="161616"/>
                </a:solidFill>
                <a:latin typeface="Arial"/>
              </a:rPr>
              <a:t>• </a:t>
            </a:r>
            <a:r>
              <a:rPr sz="1400" b="0" lang="fr-FR">
                <a:solidFill>
                  <a:srgbClr val="161616"/>
                </a:solidFill>
                <a:latin typeface="Arial"/>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 + Percevoir</a:t>
            </a:r>
          </a:p>
        </p:txBody>
      </p:sp>
      <p:sp>
        <p:nvSpPr>
          <p:cNvPr id="17" name="DSFR-box"/>
          <p:cNvSpPr/>
          <p:nvPr/>
        </p:nvSpPr>
        <p:spPr>
          <a:xfrm>
            <a:off x="548640" y="4572000"/>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74920"/>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Consulte quotidiennement des sites d'info pour ses revues de presse</a:t>
            </a:r>
          </a:p>
          <a:p>
            <a:pPr algn="l">
              <a:lnSpc>
                <a:spcPct val="120000"/>
              </a:lnSpc>
            </a:pPr>
            <a:r>
              <a:rPr sz="1400" lang="fr-FR">
                <a:solidFill>
                  <a:srgbClr val="161616"/>
                </a:solidFill>
                <a:latin typeface="Arial"/>
              </a:rPr>
              <a:t>• </a:t>
            </a:r>
            <a:r>
              <a:rPr sz="1400" b="0" lang="fr-FR">
                <a:solidFill>
                  <a:srgbClr val="161616"/>
                </a:solidFill>
                <a:latin typeface="Arial"/>
              </a:rPr>
              <a:t>Trouble de l'attention : les animations non contrôlables le déconcentrent</a:t>
            </a:r>
          </a:p>
          <a:p>
            <a:pPr algn="l">
              <a:lnSpc>
                <a:spcPct val="120000"/>
              </a:lnSpc>
            </a:pPr>
            <a:r>
              <a:rPr sz="1400" lang="fr-FR">
                <a:solidFill>
                  <a:srgbClr val="161616"/>
                </a:solidFill>
                <a:latin typeface="Arial"/>
              </a:rPr>
              <a:t>• </a:t>
            </a:r>
            <a:r>
              <a:rPr sz="1400" b="0" lang="fr-FR">
                <a:solidFill>
                  <a:srgbClr val="161616"/>
                </a:solidFill>
                <a:latin typeface="Arial"/>
              </a:rPr>
              <a:t>Dyslexie : le texte justifié et les polices à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29</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Arial"/>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Anaïs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31</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n'est pas une faveur : c'est une condition d'accès équitable à l'information.</a:t>
            </a:r>
          </a:p>
        </p:txBody>
      </p:sp>
      <p:sp>
        <p:nvSpPr>
          <p:cNvPr id="12" name="DSFR-box"/>
          <p:cNvSpPr/>
          <p:nvPr/>
        </p:nvSpPr>
        <p:spPr>
          <a:xfrm>
            <a:off x="548640"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1/5</a:t>
            </a:r>
          </a:p>
        </p:txBody>
      </p:sp>
      <p:sp>
        <p:nvSpPr>
          <p:cNvPr id="14" name="DSFR-card-contenu"/>
          <p:cNvSpPr txBox="1"/>
          <p:nvPr/>
        </p:nvSpPr>
        <p:spPr>
          <a:xfrm>
            <a:off x="704088"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1 personne sur 5 est en situation de handicap ou connaît un trouble invalidant.</a:t>
            </a:r>
          </a:p>
        </p:txBody>
      </p:sp>
      <p:sp>
        <p:nvSpPr>
          <p:cNvPr id="16" name="DSFR-box"/>
          <p:cNvSpPr/>
          <p:nvPr/>
        </p:nvSpPr>
        <p:spPr>
          <a:xfrm>
            <a:off x="4392167"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85%</a:t>
            </a:r>
          </a:p>
        </p:txBody>
      </p:sp>
      <p:sp>
        <p:nvSpPr>
          <p:cNvPr id="18" name="DSFR-card-contenu"/>
          <p:cNvSpPr txBox="1"/>
          <p:nvPr/>
        </p:nvSpPr>
        <p:spPr>
          <a:xfrm>
            <a:off x="4547615"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des handicaps sont acquis au cours de la vie</a:t>
            </a:r>
          </a:p>
        </p:txBody>
      </p:sp>
      <p:sp>
        <p:nvSpPr>
          <p:cNvPr id="20" name="DSFR-box"/>
          <p:cNvSpPr/>
          <p:nvPr/>
        </p:nvSpPr>
        <p:spPr>
          <a:xfrm>
            <a:off x="8235695"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1er</a:t>
            </a:r>
          </a:p>
        </p:txBody>
      </p:sp>
      <p:sp>
        <p:nvSpPr>
          <p:cNvPr id="22" name="DSFR-card-contenu"/>
          <p:cNvSpPr txBox="1"/>
          <p:nvPr/>
        </p:nvSpPr>
        <p:spPr>
          <a:xfrm>
            <a:off x="8391144"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 handicap est le 1er facteur de discrimination selon le Défenseur des droits</a:t>
            </a:r>
          </a:p>
        </p:txBody>
      </p:sp>
      <p:sp>
        <p:nvSpPr>
          <p:cNvPr id="24" name="DSFR-box"/>
          <p:cNvSpPr/>
          <p:nvPr/>
        </p:nvSpPr>
        <p:spPr>
          <a:xfrm>
            <a:off x="548640" y="4637836"/>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llout-titre"/>
          <p:cNvSpPr txBox="1"/>
          <p:nvPr/>
        </p:nvSpPr>
        <p:spPr>
          <a:xfrm>
            <a:off x="704088" y="4729276"/>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Validisme : le piège à déconstruire</a:t>
            </a:r>
          </a:p>
        </p:txBody>
      </p:sp>
      <p:sp>
        <p:nvSpPr>
          <p:cNvPr id="26" name="DSFR-callout-body"/>
          <p:cNvSpPr txBox="1"/>
          <p:nvPr/>
        </p:nvSpPr>
        <p:spPr>
          <a:xfrm>
            <a:off x="704088" y="5140756"/>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Penser le public comme valide par défaut</a:t>
            </a:r>
          </a:p>
          <a:p>
            <a:pPr algn="l">
              <a:lnSpc>
                <a:spcPct val="120000"/>
              </a:lnSpc>
            </a:pPr>
            <a:r>
              <a:rPr sz="1400" lang="fr-FR">
                <a:solidFill>
                  <a:srgbClr val="161616"/>
                </a:solidFill>
                <a:latin typeface="Arial"/>
              </a:rPr>
              <a:t>• </a:t>
            </a:r>
            <a:r>
              <a:rPr sz="1400" b="0" lang="fr-FR">
                <a:solidFill>
                  <a:srgbClr val="161616"/>
                </a:solidFill>
                <a:latin typeface="Arial"/>
              </a:rPr>
              <a:t>Confondre bonne intention et accès réel</a:t>
            </a:r>
          </a:p>
          <a:p>
            <a:pPr algn="l">
              <a:lnSpc>
                <a:spcPct val="120000"/>
              </a:lnSpc>
            </a:pPr>
            <a:r>
              <a:rPr sz="1400" lang="fr-FR">
                <a:solidFill>
                  <a:srgbClr val="161616"/>
                </a:solidFill>
                <a:latin typeface="Arial"/>
              </a:rPr>
              <a:t>• </a:t>
            </a:r>
            <a:r>
              <a:rPr sz="1400" b="0" lang="fr-FR">
                <a:solidFill>
                  <a:srgbClr val="161616"/>
                </a:solidFill>
                <a:latin typeface="Arial"/>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637836"/>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ça change pour vous</a:t>
            </a:r>
          </a:p>
        </p:txBody>
      </p:sp>
      <p:sp>
        <p:nvSpPr>
          <p:cNvPr id="15" name="DSFR-callout-body"/>
          <p:cNvSpPr txBox="1"/>
          <p:nvPr/>
        </p:nvSpPr>
        <p:spPr>
          <a:xfrm>
            <a:off x="6053328" y="3497579"/>
            <a:ext cx="55595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C'est l'</a:t>
            </a:r>
            <a:r>
              <a:rPr sz="1400" b="1" lang="fr-FR">
                <a:solidFill>
                  <a:srgbClr val="161616"/>
                </a:solidFill>
                <a:latin typeface="Arial"/>
              </a:rPr>
              <a:t>environnement</a:t>
            </a:r>
            <a:r>
              <a:rPr sz="1400" b="0" lang="fr-FR">
                <a:solidFill>
                  <a:srgbClr val="161616"/>
                </a:solidFill>
                <a:latin typeface="Arial"/>
              </a:rPr>
              <a:t> qui crée le handicap, pas la personne</a:t>
            </a:r>
          </a:p>
          <a:p>
            <a:pPr algn="l">
              <a:lnSpc>
                <a:spcPct val="130000"/>
              </a:lnSpc>
            </a:pPr>
            <a:r>
              <a:rPr sz="1400" lang="fr-FR">
                <a:solidFill>
                  <a:srgbClr val="161616"/>
                </a:solidFill>
                <a:latin typeface="Arial"/>
              </a:rPr>
              <a:t>• </a:t>
            </a:r>
            <a:r>
              <a:rPr sz="1400" b="0" lang="fr-FR">
                <a:solidFill>
                  <a:srgbClr val="161616"/>
                </a:solidFill>
                <a:latin typeface="Arial"/>
              </a:rPr>
              <a:t>Un document inaccessible = une barrière que vous pouvez lever</a:t>
            </a:r>
          </a:p>
          <a:p>
            <a:pPr algn="l">
              <a:lnSpc>
                <a:spcPct val="130000"/>
              </a:lnSpc>
            </a:pPr>
            <a:r>
              <a:rPr sz="1400" lang="fr-FR">
                <a:solidFill>
                  <a:srgbClr val="161616"/>
                </a:solidFill>
                <a:latin typeface="Arial"/>
              </a:rPr>
              <a:t>• </a:t>
            </a:r>
            <a:r>
              <a:rPr sz="1400" b="0" lang="fr-FR">
                <a:solidFill>
                  <a:srgbClr val="161616"/>
                </a:solidFill>
                <a:latin typeface="Arial"/>
              </a:rPr>
              <a:t>Mettre en accessibilité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64508" y="3040380"/>
            <a:ext cx="4050791" cy="3175938"/>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36</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2023 : l'Arcom devient l'autorité de contrôle</a:t>
            </a:r>
          </a:p>
        </p:txBody>
      </p:sp>
      <p:sp>
        <p:nvSpPr>
          <p:cNvPr id="20" name="DSFR-box"/>
          <p:cNvSpPr/>
          <p:nvPr/>
        </p:nvSpPr>
        <p:spPr>
          <a:xfrm>
            <a:off x="548640" y="4114800"/>
            <a:ext cx="11155680"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est concerné ?</a:t>
            </a:r>
          </a:p>
        </p:txBody>
      </p:sp>
      <p:sp>
        <p:nvSpPr>
          <p:cNvPr id="22" name="DSFR-alert-info-body"/>
          <p:cNvSpPr txBox="1"/>
          <p:nvPr/>
        </p:nvSpPr>
        <p:spPr>
          <a:xfrm>
            <a:off x="704088" y="4617720"/>
            <a:ext cx="10908792" cy="128016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État, collectivités, établissements publics</a:t>
            </a:r>
          </a:p>
          <a:p>
            <a:pPr algn="l">
              <a:lnSpc>
                <a:spcPct val="150000"/>
              </a:lnSpc>
            </a:pPr>
            <a:r>
              <a:rPr sz="1400" lang="fr-FR">
                <a:solidFill>
                  <a:srgbClr val="161616"/>
                </a:solidFill>
                <a:latin typeface="Arial"/>
              </a:rPr>
              <a:t>• </a:t>
            </a:r>
            <a:r>
              <a:rPr sz="1400" b="0" lang="fr-FR">
                <a:solidFill>
                  <a:srgbClr val="161616"/>
                </a:solidFill>
                <a:latin typeface="Arial"/>
              </a:rPr>
              <a:t>Entreprises privées gérant un service public ou CA &gt; 250 M EUR</a:t>
            </a:r>
          </a:p>
          <a:p>
            <a:pPr algn="l">
              <a:lnSpc>
                <a:spcPct val="150000"/>
              </a:lnSpc>
            </a:pPr>
            <a:r>
              <a:rPr sz="1400" lang="fr-FR">
                <a:solidFill>
                  <a:srgbClr val="161616"/>
                </a:solidFill>
                <a:latin typeface="Arial"/>
              </a:rPr>
              <a:t>• </a:t>
            </a:r>
            <a:r>
              <a:rPr sz="1400" b="0" lang="fr-FR">
                <a:solidFill>
                  <a:srgbClr val="161616"/>
                </a:solidFill>
                <a:latin typeface="Arial"/>
              </a:rPr>
              <a:t>Jusqu'à 50 000 EUR : accessibilité des organismes publics et assimilés</a:t>
            </a:r>
          </a:p>
          <a:p>
            <a:pPr algn="l">
              <a:lnSpc>
                <a:spcPct val="150000"/>
              </a:lnSpc>
            </a:pPr>
            <a:r>
              <a:rPr sz="1400" lang="fr-FR">
                <a:solidFill>
                  <a:srgbClr val="161616"/>
                </a:solidFill>
                <a:latin typeface="Arial"/>
              </a:rPr>
              <a:t>• </a:t>
            </a:r>
            <a:r>
              <a:rPr sz="1400" b="0" lang="fr-FR">
                <a:solidFill>
                  <a:srgbClr val="161616"/>
                </a:solidFill>
                <a:latin typeface="Arial"/>
              </a:rPr>
              <a:t>Jusqu'à 25 000 EUR : obligations déclaratives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Deux directives européennes structurent l'obligation d'accessibilité numérique en France.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2016/2102 - secteur public</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et applications mobiles du secteur public</a:t>
            </a:r>
          </a:p>
          <a:p>
            <a:pPr algn="l">
              <a:lnSpc>
                <a:spcPct val="120000"/>
              </a:lnSpc>
            </a:pPr>
            <a:r>
              <a:rPr sz="1400" lang="fr-FR">
                <a:solidFill>
                  <a:srgbClr val="161616"/>
                </a:solidFill>
                <a:latin typeface="Arial"/>
              </a:rPr>
              <a:t>• </a:t>
            </a:r>
            <a:r>
              <a:rPr sz="1400" b="0" lang="fr-FR">
                <a:solidFill>
                  <a:srgbClr val="161616"/>
                </a:solidFill>
                <a:latin typeface="Arial"/>
              </a:rPr>
              <a:t>Transposée en droit français par le décret 2019-768</a:t>
            </a:r>
          </a:p>
          <a:p>
            <a:pPr algn="l">
              <a:lnSpc>
                <a:spcPct val="120000"/>
              </a:lnSpc>
            </a:pPr>
            <a:r>
              <a:rPr sz="1400" lang="fr-FR">
                <a:solidFill>
                  <a:srgbClr val="161616"/>
                </a:solidFill>
                <a:latin typeface="Arial"/>
              </a:rPr>
              <a:t>• </a:t>
            </a:r>
            <a:r>
              <a:rPr sz="1400" b="0" lang="fr-FR">
                <a:solidFill>
                  <a:srgbClr val="161616"/>
                </a:solidFill>
                <a:latin typeface="Arial"/>
              </a:rPr>
              <a:t>Obligation de déclaration d'accessibilité</a:t>
            </a:r>
          </a:p>
          <a:p>
            <a:pPr algn="l">
              <a:lnSpc>
                <a:spcPct val="120000"/>
              </a:lnSpc>
            </a:pPr>
            <a:r>
              <a:rPr sz="1400" lang="fr-FR">
                <a:solidFill>
                  <a:srgbClr val="161616"/>
                </a:solidFill>
                <a:latin typeface="Arial"/>
              </a:rPr>
              <a:t>• </a:t>
            </a:r>
            <a:r>
              <a:rPr sz="1400" b="0" lang="fr-FR">
                <a:solidFill>
                  <a:srgbClr val="161616"/>
                </a:solidFill>
                <a:latin typeface="Arial"/>
              </a:rPr>
              <a:t>Base du RGAA actuel</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2019/882 - secteur privé</a:t>
            </a:r>
          </a:p>
        </p:txBody>
      </p:sp>
      <p:sp>
        <p:nvSpPr>
          <p:cNvPr id="18" name="DSFR-alert-warning-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Acte européen d'accessibilité (EAA)</a:t>
            </a:r>
          </a:p>
          <a:p>
            <a:pPr algn="l">
              <a:lnSpc>
                <a:spcPct val="120000"/>
              </a:lnSpc>
            </a:pPr>
            <a:r>
              <a:rPr sz="1400" lang="fr-FR">
                <a:solidFill>
                  <a:srgbClr val="161616"/>
                </a:solidFill>
                <a:latin typeface="Arial"/>
              </a:rPr>
              <a:t>• </a:t>
            </a:r>
            <a:r>
              <a:rPr sz="1400" b="0" lang="fr-FR">
                <a:solidFill>
                  <a:srgbClr val="161616"/>
                </a:solidFill>
                <a:latin typeface="Arial"/>
              </a:rPr>
              <a:t>Applicable à partir du 28 juin 2025</a:t>
            </a:r>
          </a:p>
          <a:p>
            <a:pPr algn="l">
              <a:lnSpc>
                <a:spcPct val="120000"/>
              </a:lnSpc>
            </a:pPr>
            <a:r>
              <a:rPr sz="1400" lang="fr-FR">
                <a:solidFill>
                  <a:srgbClr val="161616"/>
                </a:solidFill>
                <a:latin typeface="Arial"/>
              </a:rPr>
              <a:t>• </a:t>
            </a:r>
            <a:r>
              <a:rPr sz="1400" b="0" lang="fr-FR">
                <a:solidFill>
                  <a:srgbClr val="161616"/>
                </a:solidFill>
                <a:latin typeface="Arial"/>
              </a:rPr>
              <a:t>Commerce en ligne, banque, transport, télécom</a:t>
            </a:r>
          </a:p>
          <a:p>
            <a:pPr algn="l">
              <a:lnSpc>
                <a:spcPct val="120000"/>
              </a:lnSpc>
            </a:pPr>
            <a:r>
              <a:rPr sz="1400" lang="fr-FR">
                <a:solidFill>
                  <a:srgbClr val="161616"/>
                </a:solidFill>
                <a:latin typeface="Arial"/>
              </a:rPr>
              <a:t>• </a:t>
            </a:r>
            <a:r>
              <a:rPr sz="1400" b="0" lang="fr-FR">
                <a:solidFill>
                  <a:srgbClr val="161616"/>
                </a:solidFill>
                <a:latin typeface="Arial"/>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38</a:t>
            </a:r>
            <a:endParaRPr lang="fr-FR" dirty="0"/>
          </a:p>
        </p:txBody>
      </p:sp>
      <p:graphicFrame>
        <p:nvGraphicFramePr>
          <p:cNvPr id="8" name="Table 7"/>
          <p:cNvGraphicFramePr>
            <a:graphicFrameLocks noGrp="1"/>
          </p:cNvGraphicFramePr>
          <p:nvPr/>
        </p:nvGraphicFramePr>
        <p:xfrm>
          <a:off x="475488" y="173736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Arial"/>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Arial"/>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bl>
          </a:graphicData>
        </a:graphic>
      </p:graphicFrame>
      <p:sp>
        <p:nvSpPr>
          <p:cNvPr id="10" name="DSFR-box"/>
          <p:cNvSpPr/>
          <p:nvPr/>
        </p:nvSpPr>
        <p:spPr>
          <a:xfrm>
            <a:off x="548640" y="4663440"/>
            <a:ext cx="5390388" cy="107213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SPAN</a:t>
            </a:r>
          </a:p>
        </p:txBody>
      </p:sp>
      <p:sp>
        <p:nvSpPr>
          <p:cNvPr id="12" name="DSFR-card-contenu"/>
          <p:cNvSpPr txBox="1"/>
          <p:nvPr/>
        </p:nvSpPr>
        <p:spPr>
          <a:xfrm>
            <a:off x="704088" y="5257800"/>
            <a:ext cx="5097779" cy="386333"/>
          </a:xfrm>
          <a:prstGeom prst="rect">
            <a:avLst/>
          </a:prstGeom>
          <a:noFill/>
        </p:spPr>
        <p:txBody>
          <a:bodyPr wrap="square" anchor="t" lIns="73152" rIns="73152">
            <a:spAutoFit/>
          </a:bodyPr>
          <a:lstStyle/>
          <a:p>
            <a:pPr algn="l">
              <a:lnSpc>
                <a:spcPct val="120000"/>
              </a:lnSpc>
            </a:pPr>
            <a:r>
              <a:rPr sz="1400" b="0" i="0" lang="fr-FR">
                <a:solidFill>
                  <a:srgbClr val="161616"/>
                </a:solidFill>
                <a:latin typeface="Arial"/>
              </a:rPr>
              <a:t>Schéma pluriannuel d'accessibilité sur 3 ans</a:t>
            </a:r>
          </a:p>
        </p:txBody>
      </p:sp>
      <p:sp>
        <p:nvSpPr>
          <p:cNvPr id="14" name="DSFR-box"/>
          <p:cNvSpPr/>
          <p:nvPr/>
        </p:nvSpPr>
        <p:spPr>
          <a:xfrm>
            <a:off x="6313931" y="4663440"/>
            <a:ext cx="5390388" cy="155219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Trois niveaux de conformité</a:t>
            </a:r>
          </a:p>
        </p:txBody>
      </p:sp>
      <p:sp>
        <p:nvSpPr>
          <p:cNvPr id="16" name="DSFR-card-contenu"/>
          <p:cNvSpPr txBox="1"/>
          <p:nvPr/>
        </p:nvSpPr>
        <p:spPr>
          <a:xfrm>
            <a:off x="6469379" y="5257800"/>
            <a:ext cx="5097779" cy="866393"/>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Non conforme : moins de 50 % des critères</a:t>
            </a:r>
          </a:p>
          <a:p>
            <a:pPr algn="l">
              <a:lnSpc>
                <a:spcPct val="120000"/>
              </a:lnSpc>
            </a:pPr>
            <a:r>
              <a:rPr sz="1400" lang="fr-FR">
                <a:solidFill>
                  <a:srgbClr val="161616"/>
                </a:solidFill>
                <a:latin typeface="Arial"/>
              </a:rPr>
              <a:t>• </a:t>
            </a:r>
            <a:r>
              <a:rPr sz="1400" b="0" lang="fr-FR">
                <a:solidFill>
                  <a:srgbClr val="161616"/>
                </a:solidFill>
                <a:latin typeface="Arial"/>
              </a:rPr>
              <a:t>Partiellement conforme : de 50 % à 99 %</a:t>
            </a:r>
          </a:p>
          <a:p>
            <a:pPr algn="l">
              <a:lnSpc>
                <a:spcPct val="120000"/>
              </a:lnSpc>
            </a:pPr>
            <a:r>
              <a:rPr sz="1400" lang="fr-FR">
                <a:solidFill>
                  <a:srgbClr val="161616"/>
                </a:solidFill>
                <a:latin typeface="Arial"/>
              </a:rPr>
              <a:t>• </a:t>
            </a:r>
            <a:r>
              <a:rPr sz="1400" b="0" lang="fr-FR">
                <a:solidFill>
                  <a:srgbClr val="161616"/>
                </a:solidFill>
                <a:latin typeface="Arial"/>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663440"/>
            <a:ext cx="73152" cy="107213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663440"/>
            <a:ext cx="73152" cy="155219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RGAA - Référentiel Général d'Amélioration de l'Accessibilité</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RGAA détail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39</a:t>
            </a:r>
            <a:endParaRPr lang="fr-FR" dirty="0"/>
          </a:p>
        </p:txBody>
      </p:sp>
      <p:sp>
        <p:nvSpPr>
          <p:cNvPr id="7" name="DSFR-box"/>
          <p:cNvSpPr/>
          <p:nvPr/>
        </p:nvSpPr>
        <p:spPr>
          <a:xfrm>
            <a:off x="548640"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Structure en 2 parties</a:t>
            </a:r>
          </a:p>
        </p:txBody>
      </p:sp>
      <p:sp>
        <p:nvSpPr>
          <p:cNvPr id="9" name="DSFR-callout-body"/>
          <p:cNvSpPr txBox="1"/>
          <p:nvPr/>
        </p:nvSpPr>
        <p:spPr>
          <a:xfrm>
            <a:off x="704088"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Obligations légales</a:t>
            </a:r>
          </a:p>
          <a:p>
            <a:pPr algn="l">
              <a:lnSpc>
                <a:spcPct val="125000"/>
              </a:lnSpc>
            </a:pPr>
            <a:r>
              <a:rPr sz="1400" lang="fr-FR">
                <a:solidFill>
                  <a:srgbClr val="161616"/>
                </a:solidFill>
                <a:latin typeface="Arial"/>
              </a:rPr>
              <a:t>• </a:t>
            </a:r>
            <a:r>
              <a:rPr sz="1400" b="0" lang="fr-FR">
                <a:solidFill>
                  <a:srgbClr val="161616"/>
                </a:solidFill>
                <a:latin typeface="Arial"/>
              </a:rPr>
              <a:t>Méthode technique</a:t>
            </a:r>
          </a:p>
          <a:p>
            <a:pPr algn="l">
              <a:lnSpc>
                <a:spcPct val="125000"/>
              </a:lnSpc>
            </a:pPr>
            <a:r>
              <a:rPr sz="1400" lang="fr-FR">
                <a:solidFill>
                  <a:srgbClr val="161616"/>
                </a:solidFill>
                <a:latin typeface="Arial"/>
              </a:rPr>
              <a:t>• </a:t>
            </a:r>
            <a:r>
              <a:rPr sz="1400" b="0" lang="fr-FR">
                <a:solidFill>
                  <a:srgbClr val="161616"/>
                </a:solidFill>
                <a:latin typeface="Arial"/>
              </a:rPr>
              <a:t>13 thématiques</a:t>
            </a:r>
          </a:p>
          <a:p>
            <a:pPr algn="l">
              <a:lnSpc>
                <a:spcPct val="125000"/>
              </a:lnSpc>
            </a:pPr>
            <a:r>
              <a:rPr sz="1400" lang="fr-FR">
                <a:solidFill>
                  <a:srgbClr val="161616"/>
                </a:solidFill>
                <a:latin typeface="Arial"/>
              </a:rPr>
              <a:t>• </a:t>
            </a:r>
            <a:r>
              <a:rPr sz="1400" b="0" lang="fr-FR">
                <a:solidFill>
                  <a:srgbClr val="161616"/>
                </a:solidFill>
                <a:latin typeface="Arial"/>
              </a:rPr>
              <a:t>106 critères au total</a:t>
            </a:r>
          </a:p>
          <a:p>
            <a:pPr algn="l">
              <a:lnSpc>
                <a:spcPct val="125000"/>
              </a:lnSpc>
            </a:pPr>
            <a:r>
              <a:rPr sz="1400" lang="fr-FR">
                <a:solidFill>
                  <a:srgbClr val="161616"/>
                </a:solidFill>
                <a:latin typeface="Arial"/>
              </a:rPr>
              <a:t>• </a:t>
            </a:r>
            <a:r>
              <a:rPr sz="1400" b="0" lang="fr-FR">
                <a:solidFill>
                  <a:srgbClr val="161616"/>
                </a:solidFill>
                <a:latin typeface="Arial"/>
              </a:rPr>
              <a:t>258 tests unitaires</a:t>
            </a:r>
          </a:p>
        </p:txBody>
      </p:sp>
      <p:sp>
        <p:nvSpPr>
          <p:cNvPr id="11" name="DSFR-box"/>
          <p:cNvSpPr/>
          <p:nvPr/>
        </p:nvSpPr>
        <p:spPr>
          <a:xfrm>
            <a:off x="4392167" y="2103120"/>
            <a:ext cx="3468623" cy="223570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Images</a:t>
            </a:r>
          </a:p>
        </p:txBody>
      </p:sp>
      <p:sp>
        <p:nvSpPr>
          <p:cNvPr id="13" name="DSFR-callout-body"/>
          <p:cNvSpPr txBox="1"/>
          <p:nvPr/>
        </p:nvSpPr>
        <p:spPr>
          <a:xfrm>
            <a:off x="4547615" y="2606039"/>
            <a:ext cx="3221735" cy="164134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Cadres</a:t>
            </a:r>
          </a:p>
          <a:p>
            <a:pPr algn="l">
              <a:lnSpc>
                <a:spcPct val="125000"/>
              </a:lnSpc>
            </a:pPr>
            <a:r>
              <a:rPr sz="1400" lang="fr-FR">
                <a:solidFill>
                  <a:srgbClr val="161616"/>
                </a:solidFill>
                <a:latin typeface="Arial"/>
              </a:rPr>
              <a:t>• </a:t>
            </a:r>
            <a:r>
              <a:rPr sz="1400" b="0" lang="fr-FR">
                <a:solidFill>
                  <a:srgbClr val="161616"/>
                </a:solidFill>
                <a:latin typeface="Arial"/>
              </a:rPr>
              <a:t>Couleurs</a:t>
            </a:r>
          </a:p>
          <a:p>
            <a:pPr algn="l">
              <a:lnSpc>
                <a:spcPct val="125000"/>
              </a:lnSpc>
            </a:pPr>
            <a:r>
              <a:rPr sz="1400" lang="fr-FR">
                <a:solidFill>
                  <a:srgbClr val="161616"/>
                </a:solidFill>
                <a:latin typeface="Arial"/>
              </a:rPr>
              <a:t>• </a:t>
            </a:r>
            <a:r>
              <a:rPr sz="1400" b="0" lang="fr-FR">
                <a:solidFill>
                  <a:srgbClr val="161616"/>
                </a:solidFill>
                <a:latin typeface="Arial"/>
              </a:rPr>
              <a:t>Multimédia</a:t>
            </a:r>
          </a:p>
          <a:p>
            <a:pPr algn="l">
              <a:lnSpc>
                <a:spcPct val="125000"/>
              </a:lnSpc>
            </a:pPr>
            <a:r>
              <a:rPr sz="1400" lang="fr-FR">
                <a:solidFill>
                  <a:srgbClr val="161616"/>
                </a:solidFill>
                <a:latin typeface="Arial"/>
              </a:rPr>
              <a:t>• </a:t>
            </a:r>
            <a:r>
              <a:rPr sz="1400" b="0" lang="fr-FR">
                <a:solidFill>
                  <a:srgbClr val="161616"/>
                </a:solidFill>
                <a:latin typeface="Arial"/>
              </a:rPr>
              <a:t>Tableaux</a:t>
            </a:r>
          </a:p>
          <a:p>
            <a:pPr algn="l">
              <a:lnSpc>
                <a:spcPct val="125000"/>
              </a:lnSpc>
            </a:pPr>
            <a:r>
              <a:rPr sz="1400" lang="fr-FR">
                <a:solidFill>
                  <a:srgbClr val="161616"/>
                </a:solidFill>
                <a:latin typeface="Arial"/>
              </a:rPr>
              <a:t>• </a:t>
            </a:r>
            <a:r>
              <a:rPr sz="1400" b="0" lang="fr-FR">
                <a:solidFill>
                  <a:srgbClr val="161616"/>
                </a:solidFill>
                <a:latin typeface="Arial"/>
              </a:rPr>
              <a:t>Liens</a:t>
            </a:r>
          </a:p>
          <a:p>
            <a:pPr algn="l">
              <a:lnSpc>
                <a:spcPct val="125000"/>
              </a:lnSpc>
            </a:pPr>
            <a:r>
              <a:rPr sz="1400" lang="fr-FR">
                <a:solidFill>
                  <a:srgbClr val="161616"/>
                </a:solidFill>
                <a:latin typeface="Arial"/>
              </a:rPr>
              <a:t>• </a:t>
            </a:r>
            <a:r>
              <a:rPr sz="1400" b="0" lang="fr-FR">
                <a:solidFill>
                  <a:srgbClr val="161616"/>
                </a:solidFill>
                <a:latin typeface="Arial"/>
              </a:rPr>
              <a:t>Scripts</a:t>
            </a:r>
          </a:p>
        </p:txBody>
      </p:sp>
      <p:sp>
        <p:nvSpPr>
          <p:cNvPr id="15" name="DSFR-box"/>
          <p:cNvSpPr/>
          <p:nvPr/>
        </p:nvSpPr>
        <p:spPr>
          <a:xfrm>
            <a:off x="8235695"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Éléments obligatoires</a:t>
            </a:r>
          </a:p>
        </p:txBody>
      </p:sp>
      <p:sp>
        <p:nvSpPr>
          <p:cNvPr id="17" name="DSFR-callout-body"/>
          <p:cNvSpPr txBox="1"/>
          <p:nvPr/>
        </p:nvSpPr>
        <p:spPr>
          <a:xfrm>
            <a:off x="8391144"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Structuration</a:t>
            </a:r>
          </a:p>
          <a:p>
            <a:pPr algn="l">
              <a:lnSpc>
                <a:spcPct val="125000"/>
              </a:lnSpc>
            </a:pPr>
            <a:r>
              <a:rPr sz="1400" lang="fr-FR">
                <a:solidFill>
                  <a:srgbClr val="161616"/>
                </a:solidFill>
                <a:latin typeface="Arial"/>
              </a:rPr>
              <a:t>• </a:t>
            </a:r>
            <a:r>
              <a:rPr sz="1400" b="0" lang="fr-FR">
                <a:solidFill>
                  <a:srgbClr val="161616"/>
                </a:solidFill>
                <a:latin typeface="Arial"/>
              </a:rPr>
              <a:t>Navigation</a:t>
            </a:r>
          </a:p>
          <a:p>
            <a:pPr algn="l">
              <a:lnSpc>
                <a:spcPct val="125000"/>
              </a:lnSpc>
            </a:pPr>
            <a:r>
              <a:rPr sz="1400" lang="fr-FR">
                <a:solidFill>
                  <a:srgbClr val="161616"/>
                </a:solidFill>
                <a:latin typeface="Arial"/>
              </a:rPr>
              <a:t>• </a:t>
            </a:r>
            <a:r>
              <a:rPr sz="1400" b="0" lang="fr-FR">
                <a:solidFill>
                  <a:srgbClr val="161616"/>
                </a:solidFill>
                <a:latin typeface="Arial"/>
              </a:rPr>
              <a:t>Présentation</a:t>
            </a:r>
          </a:p>
          <a:p>
            <a:pPr algn="l">
              <a:lnSpc>
                <a:spcPct val="125000"/>
              </a:lnSpc>
            </a:pPr>
            <a:r>
              <a:rPr sz="1400" lang="fr-FR">
                <a:solidFill>
                  <a:srgbClr val="161616"/>
                </a:solidFill>
                <a:latin typeface="Arial"/>
              </a:rPr>
              <a:t>• </a:t>
            </a:r>
            <a:r>
              <a:rPr sz="1400" b="0" lang="fr-FR">
                <a:solidFill>
                  <a:srgbClr val="161616"/>
                </a:solidFill>
                <a:latin typeface="Arial"/>
              </a:rPr>
              <a:t>Formulaires</a:t>
            </a:r>
          </a:p>
          <a:p>
            <a:pPr algn="l">
              <a:lnSpc>
                <a:spcPct val="125000"/>
              </a:lnSpc>
            </a:pPr>
            <a:r>
              <a:rPr sz="1400" lang="fr-FR">
                <a:solidFill>
                  <a:srgbClr val="161616"/>
                </a:solidFill>
                <a:latin typeface="Arial"/>
              </a:rPr>
              <a:t>• </a:t>
            </a:r>
            <a:r>
              <a:rPr sz="1400" b="0" lang="fr-FR">
                <a:solidFill>
                  <a:srgbClr val="161616"/>
                </a:solidFill>
                <a:latin typeface="Arial"/>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2357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Vous connaissez le cadre. Mais concrètement, quelles obligations s'appliquent à votre poste et à votre structure ?</a:t>
            </a:r>
          </a:p>
        </p:txBody>
      </p:sp>
      <p:sp>
        <p:nvSpPr>
          <p:cNvPr id="12" name="DSFR-box"/>
          <p:cNvSpPr/>
          <p:nvPr/>
        </p:nvSpPr>
        <p:spPr>
          <a:xfrm>
            <a:off x="548640" y="3314700"/>
            <a:ext cx="9326880" cy="129844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simulateur Obligally (10 min)</a:t>
            </a:r>
          </a:p>
        </p:txBody>
      </p:sp>
      <p:sp>
        <p:nvSpPr>
          <p:cNvPr id="14" name="DSFR-alert-info-body"/>
          <p:cNvSpPr txBox="1"/>
          <p:nvPr/>
        </p:nvSpPr>
        <p:spPr>
          <a:xfrm>
            <a:off x="704088" y="3817620"/>
            <a:ext cx="9079992" cy="70408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Cliquez sur Simuler et répondez aux questions</a:t>
            </a:r>
          </a:p>
          <a:p>
            <a:pPr algn="l">
              <a:lnSpc>
                <a:spcPct val="150000"/>
              </a:lnSpc>
            </a:pPr>
            <a:r>
              <a:rPr sz="1400" lang="fr-FR">
                <a:solidFill>
                  <a:srgbClr val="161616"/>
                </a:solidFill>
                <a:latin typeface="Arial"/>
              </a:rPr>
              <a:t>• </a:t>
            </a:r>
            <a:r>
              <a:rPr sz="1400" b="0" lang="fr-FR">
                <a:solidFill>
                  <a:srgbClr val="161616"/>
                </a:solidFill>
                <a:latin typeface="Arial"/>
              </a:rPr>
              <a:t>Notez le résultat : quelles normes s'appliquent à vous ?</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32004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Scannez-moi !</a:t>
            </a:r>
          </a:p>
        </p:txBody>
      </p:sp>
      <p:sp>
        <p:nvSpPr>
          <p:cNvPr id="17" name="TextBox 16"/>
          <p:cNvSpPr txBox="1"/>
          <p:nvPr/>
        </p:nvSpPr>
        <p:spPr>
          <a:xfrm>
            <a:off x="475488" y="4844491"/>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164531"/>
            <a:ext cx="11228832" cy="297180"/>
          </a:xfrm>
          <a:prstGeom prst="rect">
            <a:avLst/>
          </a:prstGeom>
          <a:noFill/>
        </p:spPr>
        <p:txBody>
          <a:bodyPr wrap="none">
            <a:spAutoFit/>
          </a:bodyPr>
          <a:lstStyle/>
          <a:p>
            <a:r>
              <a:rPr sz="1400" b="1" lang="fr-FR">
                <a:solidFill>
                  <a:srgbClr val="161616"/>
                </a:solidFill>
              </a:rPr>
              <a:t>Simuler : </a:t>
            </a:r>
            <a:r>
              <a:rPr sz="1400" u="sng" lang="fr-FR">
                <a:solidFill>
                  <a:srgbClr val="000091"/>
                </a:solidFill>
                <a:hlinkClick r:id="rId4"/>
              </a:rPr>
              <a:t>https://obligations-legales-accessibilite-numerique.fr/fr/simulation/</a:t>
            </a:r>
          </a:p>
        </p:txBody>
      </p:sp>
      <p:sp>
        <p:nvSpPr>
          <p:cNvPr id="19" name="TextBox 18"/>
          <p:cNvSpPr txBox="1"/>
          <p:nvPr/>
        </p:nvSpPr>
        <p:spPr>
          <a:xfrm>
            <a:off x="475488" y="5466283"/>
            <a:ext cx="11228832" cy="297180"/>
          </a:xfrm>
          <a:prstGeom prst="rect">
            <a:avLst/>
          </a:prstGeom>
          <a:noFill/>
        </p:spPr>
        <p:txBody>
          <a:bodyPr wrap="none">
            <a:spAutoFit/>
          </a:bodyPr>
          <a:lstStyle/>
          <a:p>
            <a:r>
              <a:rPr sz="1400" b="1" lang="fr-FR">
                <a:solidFill>
                  <a:srgbClr val="161616"/>
                </a:solidFill>
              </a:rPr>
              <a:t>Comprendre : </a:t>
            </a:r>
            <a:r>
              <a:rPr sz="14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29844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Exercice pratique</a:t>
            </a:r>
          </a:p>
        </p:txBody>
      </p:sp>
      <p:sp>
        <p:nvSpPr>
          <p:cNvPr id="12" name="DSFR-alert-success-body"/>
          <p:cNvSpPr txBox="1"/>
          <p:nvPr/>
        </p:nvSpPr>
        <p:spPr>
          <a:xfrm>
            <a:off x="704088" y="50749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Cherchez la déclaration d'accessibilité de votre site</a:t>
            </a:r>
          </a:p>
          <a:p>
            <a:pPr algn="l">
              <a:lnSpc>
                <a:spcPct val="150000"/>
              </a:lnSpc>
            </a:pPr>
            <a:r>
              <a:rPr sz="1400" lang="fr-FR">
                <a:solidFill>
                  <a:srgbClr val="161616"/>
                </a:solidFill>
                <a:latin typeface="Arial"/>
              </a:rPr>
              <a:t>• </a:t>
            </a:r>
            <a:r>
              <a:rPr sz="1400" b="0" lang="fr-FR">
                <a:solidFill>
                  <a:srgbClr val="161616"/>
                </a:solidFill>
                <a:latin typeface="Arial"/>
              </a:rPr>
              <a:t>URL type : /déclaration-accessibilité</a:t>
            </a:r>
          </a:p>
          <a:p>
            <a:pPr algn="l">
              <a:lnSpc>
                <a:spcPct val="150000"/>
              </a:lnSpc>
            </a:pPr>
            <a:r>
              <a:rPr sz="1400" lang="fr-FR">
                <a:solidFill>
                  <a:srgbClr val="161616"/>
                </a:solidFill>
                <a:latin typeface="Arial"/>
              </a:rPr>
              <a:t>• </a:t>
            </a:r>
            <a:r>
              <a:rPr sz="1400" b="0" lang="fr-FR">
                <a:solidFill>
                  <a:srgbClr val="161616"/>
                </a:solidFill>
                <a:latin typeface="Arial"/>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5720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obligations légales de mise en 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Récap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42</a:t>
            </a:r>
            <a:endParaRPr lang="fr-FR" dirty="0"/>
          </a:p>
        </p:txBody>
      </p:sp>
      <p:sp>
        <p:nvSpPr>
          <p:cNvPr id="9" name="DSFR-box"/>
          <p:cNvSpPr/>
          <p:nvPr/>
        </p:nvSpPr>
        <p:spPr>
          <a:xfrm>
            <a:off x="548640" y="2103120"/>
            <a:ext cx="11155680"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obligatoires</a:t>
            </a:r>
          </a:p>
        </p:txBody>
      </p:sp>
      <p:sp>
        <p:nvSpPr>
          <p:cNvPr id="11" name="DSFR-callout-body"/>
          <p:cNvSpPr txBox="1"/>
          <p:nvPr/>
        </p:nvSpPr>
        <p:spPr>
          <a:xfrm>
            <a:off x="704088" y="2606039"/>
            <a:ext cx="10908792"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Schéma pluriannuel d'accessibilité numérique (SPAN)</a:t>
            </a:r>
          </a:p>
          <a:p>
            <a:pPr algn="l">
              <a:lnSpc>
                <a:spcPct val="125000"/>
              </a:lnSpc>
            </a:pPr>
            <a:r>
              <a:rPr sz="1400" lang="fr-FR">
                <a:solidFill>
                  <a:srgbClr val="161616"/>
                </a:solidFill>
                <a:latin typeface="Arial"/>
              </a:rPr>
              <a:t>• </a:t>
            </a:r>
            <a:r>
              <a:rPr sz="1400" b="0" lang="fr-FR">
                <a:solidFill>
                  <a:srgbClr val="161616"/>
                </a:solidFill>
                <a:latin typeface="Arial"/>
              </a:rPr>
              <a:t>Plan d'action annuel</a:t>
            </a:r>
          </a:p>
          <a:p>
            <a:pPr algn="l">
              <a:lnSpc>
                <a:spcPct val="125000"/>
              </a:lnSpc>
            </a:pPr>
            <a:r>
              <a:rPr sz="1400" lang="fr-FR">
                <a:solidFill>
                  <a:srgbClr val="161616"/>
                </a:solidFill>
                <a:latin typeface="Arial"/>
              </a:rPr>
              <a:t>• </a:t>
            </a:r>
            <a:r>
              <a:rPr sz="1400" b="0" lang="fr-FR">
                <a:solidFill>
                  <a:srgbClr val="161616"/>
                </a:solidFill>
                <a:latin typeface="Arial"/>
              </a:rPr>
              <a:t>Audit d'accessibilité RGAA en version 4.1.2</a:t>
            </a:r>
          </a:p>
          <a:p>
            <a:pPr algn="l">
              <a:lnSpc>
                <a:spcPct val="125000"/>
              </a:lnSpc>
            </a:pPr>
            <a:r>
              <a:rPr sz="1400" lang="fr-FR">
                <a:solidFill>
                  <a:srgbClr val="161616"/>
                </a:solidFill>
                <a:latin typeface="Arial"/>
              </a:rPr>
              <a:t>• </a:t>
            </a:r>
            <a:r>
              <a:rPr sz="1400" b="0" lang="fr-FR">
                <a:solidFill>
                  <a:srgbClr val="161616"/>
                </a:solidFill>
                <a:latin typeface="Arial"/>
              </a:rPr>
              <a:t>Un moyen de contact</a:t>
            </a:r>
          </a:p>
          <a:p>
            <a:pPr algn="l">
              <a:lnSpc>
                <a:spcPct val="125000"/>
              </a:lnSpc>
            </a:pPr>
            <a:r>
              <a:rPr sz="1400" lang="fr-FR">
                <a:solidFill>
                  <a:srgbClr val="161616"/>
                </a:solidFill>
                <a:latin typeface="Arial"/>
              </a:rPr>
              <a:t>• </a:t>
            </a:r>
            <a:r>
              <a:rPr sz="1400" b="0" lang="fr-FR">
                <a:solidFill>
                  <a:srgbClr val="161616"/>
                </a:solidFill>
                <a:latin typeface="Arial"/>
              </a:rPr>
              <a:t>RAN (Référent Accessibilité Numérique)</a:t>
            </a:r>
          </a:p>
        </p:txBody>
      </p:sp>
      <p:graphicFrame>
        <p:nvGraphicFramePr>
          <p:cNvPr id="12" name="Table 11"/>
          <p:cNvGraphicFramePr>
            <a:graphicFrameLocks noGrp="1"/>
          </p:cNvGraphicFramePr>
          <p:nvPr/>
        </p:nvGraphicFramePr>
        <p:xfrm>
          <a:off x="475488" y="457200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Arial"/>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Accessibilité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49 % et moins, ou aucun audit en cours de validité</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Accessibilité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De 50 % à 99 % des critères respectés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Accessibilité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100 % des critères applicables validés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44</a:t>
            </a:r>
            <a:endParaRPr lang="fr-FR" dirty="0"/>
          </a:p>
        </p:txBody>
      </p:sp>
      <p:sp>
        <p:nvSpPr>
          <p:cNvPr id="9" name="DSFR-box"/>
          <p:cNvSpPr/>
          <p:nvPr/>
        </p:nvSpPr>
        <p:spPr>
          <a:xfrm>
            <a:off x="548640" y="2011680"/>
            <a:ext cx="9509759"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Un droit, pas une faveur</a:t>
            </a:r>
          </a:p>
        </p:txBody>
      </p:sp>
      <p:sp>
        <p:nvSpPr>
          <p:cNvPr id="11" name="DSFR-callout-body"/>
          <p:cNvSpPr txBox="1"/>
          <p:nvPr/>
        </p:nvSpPr>
        <p:spPr>
          <a:xfrm>
            <a:off x="704088" y="2514600"/>
            <a:ext cx="926287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Droit fondamental d'accès à l'information</a:t>
            </a:r>
          </a:p>
          <a:p>
            <a:pPr algn="l">
              <a:lnSpc>
                <a:spcPct val="120000"/>
              </a:lnSpc>
            </a:pPr>
            <a:r>
              <a:rPr sz="1400" lang="fr-FR">
                <a:solidFill>
                  <a:srgbClr val="161616"/>
                </a:solidFill>
                <a:latin typeface="Arial"/>
              </a:rPr>
              <a:t>• </a:t>
            </a:r>
            <a:r>
              <a:rPr sz="1400" b="0" lang="fr-FR">
                <a:solidFill>
                  <a:srgbClr val="161616"/>
                </a:solidFill>
                <a:latin typeface="Arial"/>
              </a:rPr>
              <a:t>Lutte contre la discrimination numérique</a:t>
            </a:r>
          </a:p>
          <a:p>
            <a:pPr algn="l">
              <a:lnSpc>
                <a:spcPct val="120000"/>
              </a:lnSpc>
            </a:pPr>
            <a:r>
              <a:rPr sz="1400" lang="fr-FR">
                <a:solidFill>
                  <a:srgbClr val="161616"/>
                </a:solidFill>
                <a:latin typeface="Arial"/>
              </a:rPr>
              <a:t>• </a:t>
            </a:r>
            <a:r>
              <a:rPr sz="1400" b="0" lang="fr-FR">
                <a:solidFill>
                  <a:srgbClr val="161616"/>
                </a:solidFill>
                <a:latin typeface="Arial"/>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53942"/>
          <a:ext cx="9582912" cy="2057400"/>
        </p:xfrm>
        <a:graphic>
          <a:graphicData uri="http://schemas.openxmlformats.org/drawingml/2006/table">
            <a:tbl>
              <a:tblPr firstRow="1" bandRow="1">
                <a:tableStyleId>{5C22544A-7EE6-4342-B048-85BDC9FD1C3A}</a:tableStyleId>
              </a:tblPr>
              <a:tblGrid>
                <a:gridCol w="4791456"/>
                <a:gridCol w="4791456"/>
              </a:tblGrid>
              <a:tr h="411480">
                <a:tc>
                  <a:txBody>
                    <a:bodyPr wrap="square" anchor="ctr" lIns="73152" rIns="73152"/>
                    <a:lstStyle/>
                    <a:p>
                      <a:pPr algn="l">
                        <a:lnSpc>
                          <a:spcPct val="125000"/>
                        </a:lnSpc>
                      </a:pPr>
                      <a:r>
                        <a:rPr sz="1400" b="1" i="0" lang="fr-FR">
                          <a:solidFill>
                            <a:srgbClr val="FFFFFF"/>
                          </a:solidFill>
                          <a:latin typeface="Arial"/>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Accès à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Frustration, énervement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Décrochage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01168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accessible,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45</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Contenus que le public peut lire, comprendre et utiliser.</a:t>
            </a:r>
          </a:p>
        </p:txBody>
      </p:sp>
      <p:sp>
        <p:nvSpPr>
          <p:cNvPr id="12" name="DSFR-box"/>
          <p:cNvSpPr/>
          <p:nvPr/>
        </p:nvSpPr>
        <p:spPr>
          <a:xfrm>
            <a:off x="548640" y="2679192"/>
            <a:ext cx="5390388" cy="16824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à garder en tête</a:t>
            </a:r>
          </a:p>
        </p:txBody>
      </p:sp>
      <p:sp>
        <p:nvSpPr>
          <p:cNvPr id="14" name="DSFR-callout-body"/>
          <p:cNvSpPr txBox="1"/>
          <p:nvPr/>
        </p:nvSpPr>
        <p:spPr>
          <a:xfrm>
            <a:off x="704088"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Qui risque d'être empêché par ce support ?</a:t>
            </a:r>
          </a:p>
          <a:p>
            <a:pPr algn="l">
              <a:lnSpc>
                <a:spcPct val="125000"/>
              </a:lnSpc>
            </a:pPr>
            <a:r>
              <a:rPr sz="1400" lang="fr-FR">
                <a:solidFill>
                  <a:srgbClr val="161616"/>
                </a:solidFill>
                <a:latin typeface="Arial"/>
              </a:rPr>
              <a:t>• </a:t>
            </a:r>
            <a:r>
              <a:rPr sz="1400" b="0" lang="fr-FR">
                <a:solidFill>
                  <a:srgbClr val="161616"/>
                </a:solidFill>
                <a:latin typeface="Arial"/>
              </a:rPr>
              <a:t>Quel autre chemin donne accès à la même information ?</a:t>
            </a:r>
          </a:p>
          <a:p>
            <a:pPr algn="l">
              <a:lnSpc>
                <a:spcPct val="125000"/>
              </a:lnSpc>
            </a:pPr>
            <a:r>
              <a:rPr sz="1400" lang="fr-FR">
                <a:solidFill>
                  <a:srgbClr val="161616"/>
                </a:solidFill>
                <a:latin typeface="Arial"/>
              </a:rPr>
              <a:t>• </a:t>
            </a:r>
            <a:r>
              <a:rPr sz="1400" b="0" lang="fr-FR">
                <a:solidFill>
                  <a:srgbClr val="161616"/>
                </a:solidFill>
                <a:latin typeface="Arial"/>
              </a:rPr>
              <a:t>Quelle règle simple peut être appliquée dès maintenant ?</a:t>
            </a:r>
          </a:p>
        </p:txBody>
      </p:sp>
      <p:sp>
        <p:nvSpPr>
          <p:cNvPr id="16" name="DSFR-box"/>
          <p:cNvSpPr/>
          <p:nvPr/>
        </p:nvSpPr>
        <p:spPr>
          <a:xfrm>
            <a:off x="6313931" y="2679192"/>
            <a:ext cx="5390388" cy="16824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supports concernés</a:t>
            </a:r>
          </a:p>
        </p:txBody>
      </p:sp>
      <p:sp>
        <p:nvSpPr>
          <p:cNvPr id="18" name="DSFR-alert-info-body"/>
          <p:cNvSpPr txBox="1"/>
          <p:nvPr/>
        </p:nvSpPr>
        <p:spPr>
          <a:xfrm>
            <a:off x="6469379"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Web : site, application, newsletter, mails</a:t>
            </a:r>
          </a:p>
          <a:p>
            <a:pPr algn="l">
              <a:lnSpc>
                <a:spcPct val="125000"/>
              </a:lnSpc>
            </a:pPr>
            <a:r>
              <a:rPr sz="1400" lang="fr-FR">
                <a:solidFill>
                  <a:srgbClr val="161616"/>
                </a:solidFill>
                <a:latin typeface="Arial"/>
              </a:rPr>
              <a:t>• </a:t>
            </a:r>
            <a:r>
              <a:rPr sz="1400" b="0" lang="fr-FR">
                <a:solidFill>
                  <a:srgbClr val="161616"/>
                </a:solidFill>
                <a:latin typeface="Arial"/>
              </a:rPr>
              <a:t>Médias : vidéo, podcast, visuel animé</a:t>
            </a:r>
          </a:p>
          <a:p>
            <a:pPr algn="l">
              <a:lnSpc>
                <a:spcPct val="125000"/>
              </a:lnSpc>
            </a:pPr>
            <a:r>
              <a:rPr sz="1400" lang="fr-FR">
                <a:solidFill>
                  <a:srgbClr val="161616"/>
                </a:solidFill>
                <a:latin typeface="Arial"/>
              </a:rPr>
              <a:t>• </a:t>
            </a:r>
            <a:r>
              <a:rPr sz="1400" b="0" lang="fr-FR">
                <a:solidFill>
                  <a:srgbClr val="161616"/>
                </a:solidFill>
                <a:latin typeface="Arial"/>
              </a:rPr>
              <a:t>Documents : PDF, bureautique, formulaires</a:t>
            </a:r>
          </a:p>
          <a:p>
            <a:pPr algn="l">
              <a:lnSpc>
                <a:spcPct val="125000"/>
              </a:lnSpc>
            </a:pPr>
            <a:r>
              <a:rPr sz="1400" lang="fr-FR">
                <a:solidFill>
                  <a:srgbClr val="161616"/>
                </a:solidFill>
                <a:latin typeface="Arial"/>
              </a:rPr>
              <a:t>• </a:t>
            </a:r>
            <a:r>
              <a:rPr sz="1400" b="0" lang="fr-FR">
                <a:solidFill>
                  <a:srgbClr val="161616"/>
                </a:solidFill>
                <a:latin typeface="Arial"/>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systèmes d'exploitation et les suites bureautiques intègrent déjà des fonctions d'accessibilité. Pas besoin de tout réinventer.</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Vision</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Loupe et zoom intégrés</a:t>
            </a:r>
          </a:p>
          <a:p>
            <a:pPr algn="l">
              <a:lnSpc>
                <a:spcPct val="120000"/>
              </a:lnSpc>
            </a:pPr>
            <a:r>
              <a:rPr sz="1400" lang="fr-FR">
                <a:solidFill>
                  <a:srgbClr val="161616"/>
                </a:solidFill>
                <a:latin typeface="Arial"/>
              </a:rPr>
              <a:t>• </a:t>
            </a:r>
            <a:r>
              <a:rPr sz="1400" b="0" lang="fr-FR">
                <a:solidFill>
                  <a:srgbClr val="161616"/>
                </a:solidFill>
                <a:latin typeface="Arial"/>
              </a:rPr>
              <a:t>Filtres de couleur et mode sombre</a:t>
            </a:r>
          </a:p>
          <a:p>
            <a:pPr algn="l">
              <a:lnSpc>
                <a:spcPct val="120000"/>
              </a:lnSpc>
            </a:pPr>
            <a:r>
              <a:rPr sz="1400" lang="fr-FR">
                <a:solidFill>
                  <a:srgbClr val="161616"/>
                </a:solidFill>
                <a:latin typeface="Arial"/>
              </a:rPr>
              <a:t>• </a:t>
            </a:r>
            <a:r>
              <a:rPr sz="1400" b="0" lang="fr-FR">
                <a:solidFill>
                  <a:srgbClr val="161616"/>
                </a:solidFill>
                <a:latin typeface="Arial"/>
              </a:rPr>
              <a:t>Narrateur / NVDA (lecteur d'écran)</a:t>
            </a:r>
          </a:p>
          <a:p>
            <a:pPr algn="l">
              <a:lnSpc>
                <a:spcPct val="120000"/>
              </a:lnSpc>
            </a:pPr>
            <a:r>
              <a:rPr sz="1400" lang="fr-FR">
                <a:solidFill>
                  <a:srgbClr val="161616"/>
                </a:solidFill>
                <a:latin typeface="Arial"/>
              </a:rPr>
              <a:t>• </a:t>
            </a:r>
            <a:r>
              <a:rPr sz="1400" b="0" lang="fr-FR">
                <a:solidFill>
                  <a:srgbClr val="161616"/>
                </a:solidFill>
                <a:latin typeface="Arial"/>
              </a:rPr>
              <a:t>Réglage de la taille du texte</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Audition et interaction</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en temps réel</a:t>
            </a:r>
          </a:p>
          <a:p>
            <a:pPr algn="l">
              <a:lnSpc>
                <a:spcPct val="120000"/>
              </a:lnSpc>
            </a:pPr>
            <a:r>
              <a:rPr sz="1400" lang="fr-FR">
                <a:solidFill>
                  <a:srgbClr val="161616"/>
                </a:solidFill>
                <a:latin typeface="Arial"/>
              </a:rPr>
              <a:t>• </a:t>
            </a:r>
            <a:r>
              <a:rPr sz="1400" b="0" lang="fr-FR">
                <a:solidFill>
                  <a:srgbClr val="161616"/>
                </a:solidFill>
                <a:latin typeface="Arial"/>
              </a:rPr>
              <a:t>Commandes vocales</a:t>
            </a:r>
          </a:p>
          <a:p>
            <a:pPr algn="l">
              <a:lnSpc>
                <a:spcPct val="120000"/>
              </a:lnSpc>
            </a:pPr>
            <a:r>
              <a:rPr sz="1400" lang="fr-FR">
                <a:solidFill>
                  <a:srgbClr val="161616"/>
                </a:solidFill>
                <a:latin typeface="Arial"/>
              </a:rPr>
              <a:t>• </a:t>
            </a:r>
            <a:r>
              <a:rPr sz="1400" b="0" lang="fr-FR">
                <a:solidFill>
                  <a:srgbClr val="161616"/>
                </a:solidFill>
                <a:latin typeface="Arial"/>
              </a:rPr>
              <a:t>Navigation au clavier</a:t>
            </a:r>
          </a:p>
          <a:p>
            <a:pPr algn="l">
              <a:lnSpc>
                <a:spcPct val="120000"/>
              </a:lnSpc>
            </a:pPr>
            <a:r>
              <a:rPr sz="1400" lang="fr-FR">
                <a:solidFill>
                  <a:srgbClr val="161616"/>
                </a:solidFill>
                <a:latin typeface="Arial"/>
              </a:rPr>
              <a:t>• </a:t>
            </a:r>
            <a:r>
              <a:rPr sz="1400" b="0" lang="fr-FR">
                <a:solidFill>
                  <a:srgbClr val="161616"/>
                </a:solidFill>
                <a:latin typeface="Arial"/>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056632"/>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48</a:t>
            </a:r>
            <a:endParaRPr lang="fr-FR" dirty="0"/>
          </a:p>
        </p:txBody>
      </p:sp>
      <p:sp>
        <p:nvSpPr>
          <p:cNvPr id="9" name="DSFR-box"/>
          <p:cNvSpPr/>
          <p:nvPr/>
        </p:nvSpPr>
        <p:spPr>
          <a:xfrm>
            <a:off x="548640"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Textes lisibles</a:t>
            </a:r>
          </a:p>
        </p:txBody>
      </p:sp>
      <p:sp>
        <p:nvSpPr>
          <p:cNvPr id="12" name="DSFR-card-contenu"/>
          <p:cNvSpPr txBox="1"/>
          <p:nvPr/>
        </p:nvSpPr>
        <p:spPr>
          <a:xfrm>
            <a:off x="704088"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Police simple, sans empattement</a:t>
            </a:r>
          </a:p>
          <a:p>
            <a:pPr algn="l">
              <a:lnSpc>
                <a:spcPct val="125000"/>
              </a:lnSpc>
            </a:pPr>
            <a:r>
              <a:rPr sz="1400" lang="fr-FR">
                <a:solidFill>
                  <a:srgbClr val="161616"/>
                </a:solidFill>
                <a:latin typeface="Arial"/>
              </a:rPr>
              <a:t>• </a:t>
            </a:r>
            <a:r>
              <a:rPr sz="1400" b="0" lang="fr-FR">
                <a:solidFill>
                  <a:srgbClr val="161616"/>
                </a:solidFill>
                <a:latin typeface="Arial"/>
              </a:rPr>
              <a:t>Alignement à gauche</a:t>
            </a:r>
          </a:p>
          <a:p>
            <a:pPr algn="l">
              <a:lnSpc>
                <a:spcPct val="125000"/>
              </a:lnSpc>
            </a:pPr>
            <a:r>
              <a:rPr sz="1400" lang="fr-FR">
                <a:solidFill>
                  <a:srgbClr val="161616"/>
                </a:solidFill>
                <a:latin typeface="Arial"/>
              </a:rPr>
              <a:t>• </a:t>
            </a:r>
            <a:r>
              <a:rPr sz="1400" b="0" lang="fr-FR">
                <a:solidFill>
                  <a:srgbClr val="161616"/>
                </a:solidFill>
                <a:latin typeface="Arial"/>
              </a:rPr>
              <a:t>Paragraphes courts et aérés</a:t>
            </a:r>
          </a:p>
          <a:p>
            <a:pPr algn="l">
              <a:lnSpc>
                <a:spcPct val="125000"/>
              </a:lnSpc>
            </a:pPr>
            <a:r>
              <a:rPr sz="1400" lang="fr-FR">
                <a:solidFill>
                  <a:srgbClr val="161616"/>
                </a:solidFill>
                <a:latin typeface="Arial"/>
              </a:rPr>
              <a:t>• </a:t>
            </a:r>
            <a:r>
              <a:rPr sz="1400" b="0" lang="fr-FR">
                <a:solidFill>
                  <a:srgbClr val="161616"/>
                </a:solidFill>
                <a:latin typeface="Arial"/>
              </a:rPr>
              <a:t>Taille adaptée au support final</a:t>
            </a:r>
          </a:p>
        </p:txBody>
      </p:sp>
      <p:sp>
        <p:nvSpPr>
          <p:cNvPr id="14" name="DSFR-box"/>
          <p:cNvSpPr/>
          <p:nvPr/>
        </p:nvSpPr>
        <p:spPr>
          <a:xfrm>
            <a:off x="4392167"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Contrastes testés</a:t>
            </a:r>
          </a:p>
        </p:txBody>
      </p:sp>
      <p:sp>
        <p:nvSpPr>
          <p:cNvPr id="17" name="DSFR-card-contenu"/>
          <p:cNvSpPr txBox="1"/>
          <p:nvPr/>
        </p:nvSpPr>
        <p:spPr>
          <a:xfrm>
            <a:off x="4547615"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Ratio 4,5:1 minimum</a:t>
            </a:r>
          </a:p>
          <a:p>
            <a:pPr algn="l">
              <a:lnSpc>
                <a:spcPct val="125000"/>
              </a:lnSpc>
            </a:pPr>
            <a:r>
              <a:rPr sz="1400" lang="fr-FR">
                <a:solidFill>
                  <a:srgbClr val="161616"/>
                </a:solidFill>
                <a:latin typeface="Arial"/>
              </a:rPr>
              <a:t>• </a:t>
            </a:r>
            <a:r>
              <a:rPr sz="1400" b="0" lang="fr-FR">
                <a:solidFill>
                  <a:srgbClr val="161616"/>
                </a:solidFill>
                <a:latin typeface="Arial"/>
              </a:rPr>
              <a:t>Idéal : viser 7:1</a:t>
            </a:r>
          </a:p>
          <a:p>
            <a:pPr algn="l">
              <a:lnSpc>
                <a:spcPct val="125000"/>
              </a:lnSpc>
            </a:pPr>
            <a:r>
              <a:rPr sz="1400" lang="fr-FR">
                <a:solidFill>
                  <a:srgbClr val="161616"/>
                </a:solidFill>
                <a:latin typeface="Arial"/>
              </a:rPr>
              <a:t>• </a:t>
            </a:r>
            <a:r>
              <a:rPr sz="1400" b="0" lang="fr-FR">
                <a:solidFill>
                  <a:srgbClr val="161616"/>
                </a:solidFill>
                <a:latin typeface="Arial"/>
              </a:rPr>
              <a:t>Éviter les dégradés sous le texte</a:t>
            </a:r>
          </a:p>
          <a:p>
            <a:pPr algn="l">
              <a:lnSpc>
                <a:spcPct val="125000"/>
              </a:lnSpc>
            </a:pPr>
            <a:r>
              <a:rPr sz="1400" lang="fr-FR">
                <a:solidFill>
                  <a:srgbClr val="161616"/>
                </a:solidFill>
                <a:latin typeface="Arial"/>
              </a:rPr>
              <a:t>• </a:t>
            </a:r>
            <a:r>
              <a:rPr sz="1400" b="0" lang="fr-FR">
                <a:solidFill>
                  <a:srgbClr val="161616"/>
                </a:solidFill>
                <a:latin typeface="Arial"/>
              </a:rPr>
              <a:t>Tester avec un outil, pas à l'œil</a:t>
            </a:r>
          </a:p>
        </p:txBody>
      </p:sp>
      <p:sp>
        <p:nvSpPr>
          <p:cNvPr id="19" name="DSFR-box"/>
          <p:cNvSpPr/>
          <p:nvPr/>
        </p:nvSpPr>
        <p:spPr>
          <a:xfrm>
            <a:off x="8235695"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QR codes utiles</a:t>
            </a:r>
          </a:p>
        </p:txBody>
      </p:sp>
      <p:sp>
        <p:nvSpPr>
          <p:cNvPr id="22" name="DSFR-card-contenu"/>
          <p:cNvSpPr txBox="1"/>
          <p:nvPr/>
        </p:nvSpPr>
        <p:spPr>
          <a:xfrm>
            <a:off x="8391144"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le seul accès</a:t>
            </a:r>
          </a:p>
          <a:p>
            <a:pPr algn="l">
              <a:lnSpc>
                <a:spcPct val="125000"/>
              </a:lnSpc>
            </a:pPr>
            <a:r>
              <a:rPr sz="1400" lang="fr-FR">
                <a:solidFill>
                  <a:srgbClr val="161616"/>
                </a:solidFill>
                <a:latin typeface="Arial"/>
              </a:rPr>
              <a:t>• </a:t>
            </a:r>
            <a:r>
              <a:rPr sz="1400" b="0" lang="fr-FR">
                <a:solidFill>
                  <a:srgbClr val="161616"/>
                </a:solidFill>
                <a:latin typeface="Arial"/>
              </a:rPr>
              <a:t>Lien visible à côté</a:t>
            </a:r>
          </a:p>
          <a:p>
            <a:pPr algn="l">
              <a:lnSpc>
                <a:spcPct val="125000"/>
              </a:lnSpc>
            </a:pPr>
            <a:r>
              <a:rPr sz="1400" lang="fr-FR">
                <a:solidFill>
                  <a:srgbClr val="161616"/>
                </a:solidFill>
                <a:latin typeface="Arial"/>
              </a:rPr>
              <a:t>• </a:t>
            </a:r>
            <a:r>
              <a:rPr sz="1400" b="0" lang="fr-FR">
                <a:solidFill>
                  <a:srgbClr val="161616"/>
                </a:solidFill>
                <a:latin typeface="Arial"/>
              </a:rPr>
              <a:t>Mention « Scannez-moi ! »</a:t>
            </a:r>
          </a:p>
          <a:p>
            <a:pPr algn="l">
              <a:lnSpc>
                <a:spcPct val="125000"/>
              </a:lnSpc>
            </a:pPr>
            <a:r>
              <a:rPr sz="1400" lang="fr-FR">
                <a:solidFill>
                  <a:srgbClr val="161616"/>
                </a:solidFill>
                <a:latin typeface="Arial"/>
              </a:rPr>
              <a:t>• </a:t>
            </a:r>
            <a:r>
              <a:rPr sz="1400" b="0" lang="fr-FR">
                <a:solidFill>
                  <a:srgbClr val="161616"/>
                </a:solidFill>
                <a:latin typeface="Arial"/>
              </a:rPr>
              <a:t>Taille et contraste suffisants</a:t>
            </a:r>
          </a:p>
        </p:txBody>
      </p:sp>
      <p:sp>
        <p:nvSpPr>
          <p:cNvPr id="24" name="DSFR-box"/>
          <p:cNvSpPr/>
          <p:nvPr/>
        </p:nvSpPr>
        <p:spPr>
          <a:xfrm>
            <a:off x="548640" y="4791455"/>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4882895"/>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791455"/>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Simplifier ne veut pas dire appauvrir : c'est rendre le message accessible au plus grand nombre.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FALC - Facile à lire et à comprendre</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Règles européennes d'accessibilité cognitive</a:t>
            </a:r>
          </a:p>
          <a:p>
            <a:pPr algn="l">
              <a:lnSpc>
                <a:spcPct val="120000"/>
              </a:lnSpc>
            </a:pPr>
            <a:r>
              <a:rPr sz="1400" lang="fr-FR">
                <a:solidFill>
                  <a:srgbClr val="161616"/>
                </a:solidFill>
                <a:latin typeface="Arial"/>
              </a:rPr>
              <a:t>• </a:t>
            </a:r>
            <a:r>
              <a:rPr sz="1400" b="0" lang="fr-FR">
                <a:solidFill>
                  <a:srgbClr val="161616"/>
                </a:solidFill>
                <a:latin typeface="Arial"/>
              </a:rPr>
              <a:t>Phrases courtes, mots simples, une idée par phrase</a:t>
            </a:r>
          </a:p>
          <a:p>
            <a:pPr algn="l">
              <a:lnSpc>
                <a:spcPct val="120000"/>
              </a:lnSpc>
            </a:pPr>
            <a:r>
              <a:rPr sz="1400" lang="fr-FR">
                <a:solidFill>
                  <a:srgbClr val="161616"/>
                </a:solidFill>
                <a:latin typeface="Arial"/>
              </a:rPr>
              <a:t>• </a:t>
            </a:r>
            <a:r>
              <a:rPr sz="1400" b="0" lang="fr-FR">
                <a:solidFill>
                  <a:srgbClr val="161616"/>
                </a:solidFill>
                <a:latin typeface="Arial"/>
              </a:rPr>
              <a:t>Images explicatives, mise en page aérée</a:t>
            </a:r>
          </a:p>
          <a:p>
            <a:pPr algn="l">
              <a:lnSpc>
                <a:spcPct val="120000"/>
              </a:lnSpc>
            </a:pPr>
            <a:r>
              <a:rPr sz="1400" lang="fr-FR">
                <a:solidFill>
                  <a:srgbClr val="161616"/>
                </a:solidFill>
                <a:latin typeface="Arial"/>
              </a:rPr>
              <a:t>• </a:t>
            </a:r>
            <a:r>
              <a:rPr sz="1400" b="0" lang="fr-FR">
                <a:solidFill>
                  <a:srgbClr val="161616"/>
                </a:solidFill>
                <a:latin typeface="Arial"/>
              </a:rPr>
              <a:t>Validation par des personnes concernées</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Langage clair</a:t>
            </a:r>
          </a:p>
        </p:txBody>
      </p:sp>
      <p:sp>
        <p:nvSpPr>
          <p:cNvPr id="18" name="DSFR-alert-info-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Structurer : titres, listes, paragraphes courts</a:t>
            </a:r>
          </a:p>
          <a:p>
            <a:pPr algn="l">
              <a:lnSpc>
                <a:spcPct val="120000"/>
              </a:lnSpc>
            </a:pPr>
            <a:r>
              <a:rPr sz="1400" lang="fr-FR">
                <a:solidFill>
                  <a:srgbClr val="161616"/>
                </a:solidFill>
                <a:latin typeface="Arial"/>
              </a:rPr>
              <a:t>• </a:t>
            </a:r>
            <a:r>
              <a:rPr sz="1400" b="0" lang="fr-FR">
                <a:solidFill>
                  <a:srgbClr val="161616"/>
                </a:solidFill>
                <a:latin typeface="Arial"/>
              </a:rPr>
              <a:t>Expliquer : sigles, jargon, termes techniques</a:t>
            </a:r>
          </a:p>
          <a:p>
            <a:pPr algn="l">
              <a:lnSpc>
                <a:spcPct val="120000"/>
              </a:lnSpc>
            </a:pPr>
            <a:r>
              <a:rPr sz="1400" lang="fr-FR">
                <a:solidFill>
                  <a:srgbClr val="161616"/>
                </a:solidFill>
                <a:latin typeface="Arial"/>
              </a:rPr>
              <a:t>• </a:t>
            </a:r>
            <a:r>
              <a:rPr sz="1400" b="0" lang="fr-FR">
                <a:solidFill>
                  <a:srgbClr val="161616"/>
                </a:solidFill>
                <a:latin typeface="Arial"/>
              </a:rPr>
              <a:t>Guider : verbes d'action, consignes explicites</a:t>
            </a:r>
          </a:p>
          <a:p>
            <a:pPr algn="l">
              <a:lnSpc>
                <a:spcPct val="120000"/>
              </a:lnSpc>
            </a:pPr>
            <a:r>
              <a:rPr sz="1400" lang="fr-FR">
                <a:solidFill>
                  <a:srgbClr val="161616"/>
                </a:solidFill>
                <a:latin typeface="Arial"/>
              </a:rPr>
              <a:t>• </a:t>
            </a:r>
            <a:r>
              <a:rPr sz="1400" b="0" lang="fr-FR">
                <a:solidFill>
                  <a:srgbClr val="161616"/>
                </a:solidFill>
                <a:latin typeface="Arial"/>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815583" y="4730191"/>
            <a:ext cx="548640" cy="498037"/>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Des règles et bonnes pratiques simples permettent de garantir l'accessibilité à toutes et tous.</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étapes pour avancer</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Être sensibilisé - c'est ce qu'on fait aujourd'hui</a:t>
            </a:r>
          </a:p>
          <a:p>
            <a:pPr algn="l">
              <a:lnSpc>
                <a:spcPct val="120000"/>
              </a:lnSpc>
            </a:pPr>
            <a:r>
              <a:rPr sz="1400" lang="fr-FR">
                <a:solidFill>
                  <a:srgbClr val="161616"/>
                </a:solidFill>
                <a:latin typeface="Arial"/>
              </a:rPr>
              <a:t>• </a:t>
            </a:r>
            <a:r>
              <a:rPr sz="1400" b="0" lang="fr-FR">
                <a:solidFill>
                  <a:srgbClr val="161616"/>
                </a:solidFill>
                <a:latin typeface="Arial"/>
              </a:rPr>
              <a:t>Être à l'écoute des besoins spécifiques</a:t>
            </a:r>
          </a:p>
          <a:p>
            <a:pPr algn="l">
              <a:lnSpc>
                <a:spcPct val="120000"/>
              </a:lnSpc>
            </a:pPr>
            <a:r>
              <a:rPr sz="1400" lang="fr-FR">
                <a:solidFill>
                  <a:srgbClr val="161616"/>
                </a:solidFill>
                <a:latin typeface="Arial"/>
              </a:rPr>
              <a:t>• </a:t>
            </a:r>
            <a:r>
              <a:rPr sz="1400" b="0" lang="fr-FR">
                <a:solidFill>
                  <a:srgbClr val="161616"/>
                </a:solidFill>
                <a:latin typeface="Arial"/>
              </a:rPr>
              <a:t>Connaître les matériels et logiciels adaptés</a:t>
            </a:r>
          </a:p>
          <a:p>
            <a:pPr algn="l">
              <a:lnSpc>
                <a:spcPct val="120000"/>
              </a:lnSpc>
            </a:pPr>
            <a:r>
              <a:rPr sz="1400" lang="fr-FR">
                <a:solidFill>
                  <a:srgbClr val="161616"/>
                </a:solidFill>
                <a:latin typeface="Arial"/>
              </a:rPr>
              <a:t>• </a:t>
            </a:r>
            <a:r>
              <a:rPr sz="1400" b="0" lang="fr-FR">
                <a:solidFill>
                  <a:srgbClr val="161616"/>
                </a:solidFill>
                <a:latin typeface="Arial"/>
              </a:rPr>
              <a:t>Se former pour découvrir un nouvel univers</a:t>
            </a:r>
          </a:p>
        </p:txBody>
      </p:sp>
      <p:sp>
        <p:nvSpPr>
          <p:cNvPr id="16" name="DSFR-box"/>
          <p:cNvSpPr/>
          <p:nvPr/>
        </p:nvSpPr>
        <p:spPr>
          <a:xfrm>
            <a:off x="6313931" y="299466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Offre de formation</a:t>
            </a:r>
          </a:p>
        </p:txBody>
      </p:sp>
      <p:sp>
        <p:nvSpPr>
          <p:cNvPr id="18" name="DSFR-alert-success-body"/>
          <p:cNvSpPr txBox="1"/>
          <p:nvPr/>
        </p:nvSpPr>
        <p:spPr>
          <a:xfrm>
            <a:off x="6469379" y="3497579"/>
            <a:ext cx="5143500" cy="128016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Mentor (en ligne) : l'accessibilité numérique selon votre métier</a:t>
            </a:r>
          </a:p>
          <a:p>
            <a:pPr algn="l">
              <a:lnSpc>
                <a:spcPct val="120000"/>
              </a:lnSpc>
            </a:pPr>
            <a:r>
              <a:rPr sz="1400" lang="fr-FR">
                <a:solidFill>
                  <a:srgbClr val="161616"/>
                </a:solidFill>
                <a:latin typeface="Arial"/>
              </a:rPr>
              <a:t>• </a:t>
            </a:r>
            <a:r>
              <a:rPr sz="1400" b="0" lang="fr-FR">
                <a:solidFill>
                  <a:srgbClr val="161616"/>
                </a:solidFill>
                <a:latin typeface="Arial"/>
              </a:rPr>
              <a:t>IGPDE : l'accessibilité numérique pour la bureautique et le web (réf. 102846)</a:t>
            </a:r>
          </a:p>
          <a:p>
            <a:pPr algn="l">
              <a:lnSpc>
                <a:spcPct val="120000"/>
              </a:lnSpc>
            </a:pPr>
            <a:r>
              <a:rPr sz="1400" lang="fr-FR">
                <a:solidFill>
                  <a:srgbClr val="161616"/>
                </a:solidFill>
                <a:latin typeface="Arial"/>
              </a:rPr>
              <a:t>• </a:t>
            </a:r>
            <a:r>
              <a:rPr sz="1400" b="0" lang="fr-FR">
                <a:solidFill>
                  <a:srgbClr val="161616"/>
                </a:solidFill>
                <a:latin typeface="Arial"/>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est très difficile de faire simple ! Le FALC suit un processus rigoureux.</a:t>
            </a:r>
          </a:p>
        </p:txBody>
      </p:sp>
      <p:sp>
        <p:nvSpPr>
          <p:cNvPr id="12" name="DSFR-box"/>
          <p:cNvSpPr/>
          <p:nvPr/>
        </p:nvSpPr>
        <p:spPr>
          <a:xfrm>
            <a:off x="548640" y="2948940"/>
            <a:ext cx="5390388" cy="293065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5 étapes</a:t>
            </a:r>
          </a:p>
        </p:txBody>
      </p:sp>
      <p:sp>
        <p:nvSpPr>
          <p:cNvPr id="14" name="DSFR-callout-body"/>
          <p:cNvSpPr txBox="1"/>
          <p:nvPr/>
        </p:nvSpPr>
        <p:spPr>
          <a:xfrm>
            <a:off x="704088" y="3451860"/>
            <a:ext cx="5143500" cy="2336292"/>
          </a:xfrm>
          <a:prstGeom prst="rect">
            <a:avLst/>
          </a:prstGeom>
          <a:noFill/>
        </p:spPr>
        <p:txBody>
          <a:bodyPr wrap="square" lIns="73152" rIns="73152">
            <a:spAutoFit/>
          </a:bodyPr>
          <a:lstStyle/>
          <a:p>
            <a:pPr algn="l">
              <a:lnSpc>
                <a:spcPct val="115000"/>
              </a:lnSpc>
            </a:pPr>
            <a:r>
              <a:rPr sz="1400" b="0" lang="fr-FR">
                <a:solidFill>
                  <a:srgbClr val="161616"/>
                </a:solidFill>
                <a:latin typeface="Arial"/>
              </a:rPr>
              <a:t>1. </a:t>
            </a:r>
            <a:r>
              <a:rPr sz="1400" b="1" lang="fr-FR">
                <a:solidFill>
                  <a:srgbClr val="161616"/>
                </a:solidFill>
                <a:latin typeface="Arial"/>
              </a:rPr>
              <a:t>Préparatoire</a:t>
            </a:r>
            <a:r>
              <a:rPr sz="1400" b="0" lang="fr-FR">
                <a:solidFill>
                  <a:srgbClr val="161616"/>
                </a:solidFill>
                <a:latin typeface="Arial"/>
              </a:rPr>
              <a:t> : recherches, résumé simplifié, contrôle des contre-sens</a:t>
            </a:r>
          </a:p>
          <a:p>
            <a:pPr algn="l">
              <a:lnSpc>
                <a:spcPct val="115000"/>
              </a:lnSpc>
            </a:pPr>
            <a:r>
              <a:rPr sz="1400" b="0" lang="fr-FR">
                <a:solidFill>
                  <a:srgbClr val="161616"/>
                </a:solidFill>
                <a:latin typeface="Arial"/>
              </a:rPr>
              <a:t>2. </a:t>
            </a:r>
            <a:r>
              <a:rPr sz="1400" b="1" lang="fr-FR">
                <a:solidFill>
                  <a:srgbClr val="161616"/>
                </a:solidFill>
                <a:latin typeface="Arial"/>
              </a:rPr>
              <a:t>Transcription en duo</a:t>
            </a:r>
            <a:r>
              <a:rPr sz="1400" b="0" lang="fr-FR">
                <a:solidFill>
                  <a:srgbClr val="161616"/>
                </a:solidFill>
                <a:latin typeface="Arial"/>
              </a:rPr>
              <a:t> : simplification, illustrations, mise en page</a:t>
            </a:r>
          </a:p>
          <a:p>
            <a:pPr algn="l">
              <a:lnSpc>
                <a:spcPct val="115000"/>
              </a:lnSpc>
            </a:pPr>
            <a:r>
              <a:rPr sz="1400" b="0" lang="fr-FR">
                <a:solidFill>
                  <a:srgbClr val="161616"/>
                </a:solidFill>
                <a:latin typeface="Arial"/>
              </a:rPr>
              <a:t>3. </a:t>
            </a:r>
            <a:r>
              <a:rPr sz="1400" b="1" lang="fr-FR">
                <a:solidFill>
                  <a:srgbClr val="161616"/>
                </a:solidFill>
                <a:latin typeface="Arial"/>
              </a:rPr>
              <a:t>Validation</a:t>
            </a:r>
            <a:r>
              <a:rPr sz="1400" b="0" lang="fr-FR">
                <a:solidFill>
                  <a:srgbClr val="161616"/>
                </a:solidFill>
                <a:latin typeface="Arial"/>
              </a:rPr>
              <a:t> : relecture par des personnes handicapees intellectuelles</a:t>
            </a:r>
          </a:p>
          <a:p>
            <a:pPr algn="l">
              <a:lnSpc>
                <a:spcPct val="115000"/>
              </a:lnSpc>
            </a:pPr>
            <a:r>
              <a:rPr sz="1400" b="0" lang="fr-FR">
                <a:solidFill>
                  <a:srgbClr val="161616"/>
                </a:solidFill>
                <a:latin typeface="Arial"/>
              </a:rPr>
              <a:t>4. </a:t>
            </a:r>
            <a:r>
              <a:rPr sz="1400" b="1" lang="fr-FR">
                <a:solidFill>
                  <a:srgbClr val="161616"/>
                </a:solidFill>
                <a:latin typeface="Arial"/>
              </a:rPr>
              <a:t>Publication</a:t>
            </a:r>
            <a:r>
              <a:rPr sz="1400" b="0" lang="fr-FR">
                <a:solidFill>
                  <a:srgbClr val="161616"/>
                </a:solidFill>
                <a:latin typeface="Arial"/>
              </a:rPr>
              <a:t> : logo FALC, credit des personnes impliquees</a:t>
            </a:r>
          </a:p>
          <a:p>
            <a:pPr algn="l">
              <a:lnSpc>
                <a:spcPct val="115000"/>
              </a:lnSpc>
            </a:pPr>
            <a:r>
              <a:rPr sz="1400" b="0" lang="fr-FR">
                <a:solidFill>
                  <a:srgbClr val="161616"/>
                </a:solidFill>
                <a:latin typeface="Arial"/>
              </a:rPr>
              <a:t>5. </a:t>
            </a:r>
            <a:r>
              <a:rPr sz="1400" b="1" lang="fr-FR">
                <a:solidFill>
                  <a:srgbClr val="161616"/>
                </a:solidFill>
                <a:latin typeface="Arial"/>
              </a:rPr>
              <a:t>Itération</a:t>
            </a:r>
            <a:r>
              <a:rPr sz="1400" b="0" lang="fr-FR">
                <a:solidFill>
                  <a:srgbClr val="161616"/>
                </a:solidFill>
                <a:latin typeface="Arial"/>
              </a:rPr>
              <a:t> : savoir dire stop - un texte ne sera jamais compris a 100 %</a:t>
            </a:r>
          </a:p>
        </p:txBody>
      </p:sp>
      <p:sp>
        <p:nvSpPr>
          <p:cNvPr id="16" name="DSFR-box"/>
          <p:cNvSpPr/>
          <p:nvPr/>
        </p:nvSpPr>
        <p:spPr>
          <a:xfrm>
            <a:off x="6313931" y="2948940"/>
            <a:ext cx="5390388" cy="138485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Conditions obligatoires</a:t>
            </a:r>
          </a:p>
        </p:txBody>
      </p:sp>
      <p:sp>
        <p:nvSpPr>
          <p:cNvPr id="18" name="DSFR-alert-warning-body"/>
          <p:cNvSpPr txBox="1"/>
          <p:nvPr/>
        </p:nvSpPr>
        <p:spPr>
          <a:xfrm>
            <a:off x="6469379" y="345186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Validation par des personnes concernées (obligatoire)</a:t>
            </a:r>
          </a:p>
          <a:p>
            <a:pPr algn="l">
              <a:lnSpc>
                <a:spcPct val="115000"/>
              </a:lnSpc>
            </a:pPr>
            <a:r>
              <a:rPr sz="1400" lang="fr-FR">
                <a:solidFill>
                  <a:srgbClr val="161616"/>
                </a:solidFill>
                <a:latin typeface="Arial"/>
              </a:rPr>
              <a:t>• </a:t>
            </a:r>
            <a:r>
              <a:rPr sz="1400" b="0" lang="fr-FR">
                <a:solidFill>
                  <a:srgbClr val="161616"/>
                </a:solidFill>
                <a:latin typeface="Arial"/>
              </a:rPr>
              <a:t>80 % des critères FALC respectes (Unapei)</a:t>
            </a:r>
          </a:p>
          <a:p>
            <a:pPr algn="l">
              <a:lnSpc>
                <a:spcPct val="115000"/>
              </a:lnSpc>
            </a:pPr>
            <a:r>
              <a:rPr sz="1400" lang="fr-FR">
                <a:solidFill>
                  <a:srgbClr val="161616"/>
                </a:solidFill>
                <a:latin typeface="Arial"/>
              </a:rPr>
              <a:t>• </a:t>
            </a:r>
            <a:r>
              <a:rPr sz="1400" b="0" lang="fr-FR">
                <a:solidFill>
                  <a:srgbClr val="161616"/>
                </a:solidFill>
                <a:latin typeface="Arial"/>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721090" y="5074920"/>
            <a:ext cx="502920" cy="104886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065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PDF accessible</a:t>
            </a:r>
          </a:p>
        </p:txBody>
      </p:sp>
      <p:sp>
        <p:nvSpPr>
          <p:cNvPr id="16" name="DSFR-callout-body"/>
          <p:cNvSpPr txBox="1"/>
          <p:nvPr/>
        </p:nvSpPr>
        <p:spPr>
          <a:xfrm>
            <a:off x="704088"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Structure balisée (titres, listes, tableaux)</a:t>
            </a:r>
          </a:p>
          <a:p>
            <a:pPr algn="l">
              <a:lnSpc>
                <a:spcPct val="115000"/>
              </a:lnSpc>
            </a:pPr>
            <a:r>
              <a:rPr sz="1400" lang="fr-FR">
                <a:solidFill>
                  <a:srgbClr val="161616"/>
                </a:solidFill>
                <a:latin typeface="Arial"/>
              </a:rPr>
              <a:t>• </a:t>
            </a:r>
            <a:r>
              <a:rPr sz="1400" b="0" lang="fr-FR">
                <a:solidFill>
                  <a:srgbClr val="161616"/>
                </a:solidFill>
                <a:latin typeface="Arial"/>
              </a:rPr>
              <a:t>Alt text sur les images, ordre de lecture logique</a:t>
            </a:r>
          </a:p>
          <a:p>
            <a:pPr algn="l">
              <a:lnSpc>
                <a:spcPct val="115000"/>
              </a:lnSpc>
            </a:pPr>
            <a:r>
              <a:rPr sz="1400" lang="fr-FR">
                <a:solidFill>
                  <a:srgbClr val="161616"/>
                </a:solidFill>
                <a:latin typeface="Arial"/>
              </a:rPr>
              <a:t>• </a:t>
            </a:r>
            <a:r>
              <a:rPr sz="1400" b="0" u="sng" lang="fr-FR">
                <a:solidFill>
                  <a:srgbClr val="000091"/>
                </a:solidFill>
                <a:latin typeface="Arial"/>
                <a:hlinkClick r:id="rId4"/>
              </a:rPr>
              <a:t>Télécharger (handicap.gouv.fr)</a:t>
            </a:r>
          </a:p>
        </p:txBody>
      </p:sp>
      <p:sp>
        <p:nvSpPr>
          <p:cNvPr id="18" name="DSFR-box"/>
          <p:cNvSpPr/>
          <p:nvPr/>
        </p:nvSpPr>
        <p:spPr>
          <a:xfrm>
            <a:off x="6313931"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FALC</a:t>
            </a:r>
          </a:p>
        </p:txBody>
      </p:sp>
      <p:sp>
        <p:nvSpPr>
          <p:cNvPr id="20" name="DSFR-callout-body"/>
          <p:cNvSpPr txBox="1"/>
          <p:nvPr/>
        </p:nvSpPr>
        <p:spPr>
          <a:xfrm>
            <a:off x="6469379"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Phrases courtes, vocabulaire simple, pictogrammes</a:t>
            </a:r>
          </a:p>
          <a:p>
            <a:pPr algn="l">
              <a:lnSpc>
                <a:spcPct val="115000"/>
              </a:lnSpc>
            </a:pPr>
            <a:r>
              <a:rPr sz="1400" lang="fr-FR">
                <a:solidFill>
                  <a:srgbClr val="161616"/>
                </a:solidFill>
                <a:latin typeface="Arial"/>
              </a:rPr>
              <a:t>• </a:t>
            </a:r>
            <a:r>
              <a:rPr sz="1400" b="0" lang="fr-FR">
                <a:solidFill>
                  <a:srgbClr val="161616"/>
                </a:solidFill>
                <a:latin typeface="Arial"/>
              </a:rPr>
              <a:t>Validé par des personnes concernées</a:t>
            </a:r>
          </a:p>
          <a:p>
            <a:pPr algn="l">
              <a:lnSpc>
                <a:spcPct val="115000"/>
              </a:lnSpc>
            </a:pPr>
            <a:r>
              <a:rPr sz="1400" lang="fr-FR">
                <a:solidFill>
                  <a:srgbClr val="161616"/>
                </a:solidFill>
                <a:latin typeface="Arial"/>
              </a:rPr>
              <a:t>• </a:t>
            </a:r>
            <a:r>
              <a:rPr sz="1400" b="0" u="sng" lang="fr-FR">
                <a:solidFill>
                  <a:srgbClr val="000091"/>
                </a:solidFill>
                <a:latin typeface="Arial"/>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Concevoir accessible, pas adapter après</a:t>
            </a:r>
          </a:p>
        </p:txBody>
      </p:sp>
      <p:sp>
        <p:nvSpPr>
          <p:cNvPr id="15" name="DSFR-callout-body"/>
          <p:cNvSpPr txBox="1"/>
          <p:nvPr/>
        </p:nvSpPr>
        <p:spPr>
          <a:xfrm>
            <a:off x="6510528" y="3497579"/>
            <a:ext cx="51023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Intégrer l'accessibilité dès le début, pas en rattrapage</a:t>
            </a:r>
          </a:p>
          <a:p>
            <a:pPr algn="l">
              <a:lnSpc>
                <a:spcPct val="130000"/>
              </a:lnSpc>
            </a:pPr>
            <a:r>
              <a:rPr sz="1400" lang="fr-FR">
                <a:solidFill>
                  <a:srgbClr val="161616"/>
                </a:solidFill>
                <a:latin typeface="Arial"/>
              </a:rPr>
              <a:t>• </a:t>
            </a:r>
            <a:r>
              <a:rPr sz="1400" b="0" lang="fr-FR">
                <a:solidFill>
                  <a:srgbClr val="161616"/>
                </a:solidFill>
                <a:latin typeface="Arial"/>
              </a:rPr>
              <a:t>Un document bien structuré profite à tous les lecteurs</a:t>
            </a:r>
          </a:p>
          <a:p>
            <a:pPr algn="l">
              <a:lnSpc>
                <a:spcPct val="130000"/>
              </a:lnSpc>
            </a:pPr>
            <a:r>
              <a:rPr sz="1400" lang="fr-FR">
                <a:solidFill>
                  <a:srgbClr val="161616"/>
                </a:solidFill>
                <a:latin typeface="Arial"/>
              </a:rPr>
              <a:t>• </a:t>
            </a:r>
            <a:r>
              <a:rPr sz="1400" b="0" lang="fr-FR">
                <a:solidFill>
                  <a:srgbClr val="161616"/>
                </a:solidFill>
                <a:latin typeface="Arial"/>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8078724" y="5349240"/>
            <a:ext cx="1828800" cy="70270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 - Documents bureautiques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54</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Structurer et naviguer</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contenus et les liens compréhensibles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Sécuriser couleurs, graphiques et tableaux</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Régler langues et lisibilité</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Finaliser, vérifier, exporter et contrôler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55</a:t>
            </a:r>
            <a:endParaRPr lang="fr-FR" dirty="0"/>
          </a:p>
        </p:txBody>
      </p:sp>
      <p:sp>
        <p:nvSpPr>
          <p:cNvPr id="9" name="DSFR-box"/>
          <p:cNvSpPr/>
          <p:nvPr/>
        </p:nvSpPr>
        <p:spPr>
          <a:xfrm>
            <a:off x="548640"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Ce qu’entend le lecteur d’écran</a:t>
            </a:r>
          </a:p>
        </p:txBody>
      </p:sp>
      <p:sp>
        <p:nvSpPr>
          <p:cNvPr id="11" name="DSFR-card-contenu"/>
          <p:cNvSpPr txBox="1"/>
          <p:nvPr/>
        </p:nvSpPr>
        <p:spPr>
          <a:xfrm>
            <a:off x="704088" y="2834640"/>
            <a:ext cx="5097779" cy="2446020"/>
          </a:xfrm>
          <a:prstGeom prst="rect">
            <a:avLst/>
          </a:prstGeom>
          <a:noFill/>
        </p:spPr>
        <p:txBody>
          <a:bodyPr wrap="square" anchor="t" lIns="73152" rIns="73152">
            <a:spAutoFit/>
          </a:bodyPr>
          <a:lstStyle/>
          <a:p>
            <a:pPr algn="l">
              <a:lnSpc>
                <a:spcPct val="130000"/>
              </a:lnSpc>
            </a:pPr>
            <a:r>
              <a:rPr sz="1400" b="0" i="0" lang="fr-FR">
                <a:solidFill>
                  <a:srgbClr val="161616"/>
                </a:solidFill>
                <a:latin typeface="Arial"/>
              </a:rPr>
              <a:t>Texte, texte, texte, texte, texte, texte ...
Pendant 4 minutes. Sans titre. Sans repère.
Sans pouvoir naviguer vers la section qui le concerne.
-&gt; C'est ce qu'entend une personne malvoyante face à votre document Word.</a:t>
            </a:r>
          </a:p>
        </p:txBody>
      </p:sp>
      <p:sp>
        <p:nvSpPr>
          <p:cNvPr id="13" name="DSFR-box"/>
          <p:cNvSpPr/>
          <p:nvPr/>
        </p:nvSpPr>
        <p:spPr>
          <a:xfrm>
            <a:off x="6313931"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15 % de vos destinataires sont concernés</a:t>
            </a:r>
          </a:p>
        </p:txBody>
      </p:sp>
      <p:sp>
        <p:nvSpPr>
          <p:cNvPr id="15" name="DSFR-card-contenu"/>
          <p:cNvSpPr txBox="1"/>
          <p:nvPr/>
        </p:nvSpPr>
        <p:spPr>
          <a:xfrm>
            <a:off x="6469379" y="2834640"/>
            <a:ext cx="5097779" cy="244602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80 % de ces handicaps sont invisibles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Dans une réunion de 12 personnes :</a:t>
            </a:r>
            <a:r>
              <a:rPr sz="1400" b="0" lang="fr-FR">
                <a:solidFill>
                  <a:srgbClr val="161616"/>
                </a:solidFill>
                <a:latin typeface="Arial"/>
              </a:rPr>
              <a:t> au moins 1 daltonien</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Parmi 30 destinataires :</a:t>
            </a:r>
            <a:r>
              <a:rPr sz="1400" b="0" lang="fr-FR">
                <a:solidFill>
                  <a:srgbClr val="161616"/>
                </a:solidFill>
                <a:latin typeface="Arial"/>
              </a:rPr>
              <a:t>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Contexte</a:t>
            </a:r>
          </a:p>
        </p:txBody>
      </p:sp>
      <p:sp>
        <p:nvSpPr>
          <p:cNvPr id="8" name="DSFR-accent-decoratif" descr=""/>
          <p:cNvSpPr/>
          <p:nvPr/>
        </p:nvSpPr>
        <p:spPr>
          <a:xfrm>
            <a:off x="475488"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56</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Ils sont visuellement identiques. Lequel préférez-vous pour NVDA ?</a:t>
            </a:r>
          </a:p>
        </p:txBody>
      </p:sp>
      <p:sp>
        <p:nvSpPr>
          <p:cNvPr id="11" name="DSFR-texte-libre"/>
          <p:cNvSpPr txBox="1"/>
          <p:nvPr/>
        </p:nvSpPr>
        <p:spPr>
          <a:xfrm>
            <a:off x="475488"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A</a:t>
            </a:r>
          </a:p>
        </p:txBody>
      </p:sp>
      <p:pic>
        <p:nvPicPr>
          <p:cNvPr id="12" name="Picture 11" descr="Aperçu stylisé du document a, visuellement identique à l'autre document."/>
          <p:cNvPicPr>
            <a:picLocks noChangeAspect="1"/>
          </p:cNvPicPr>
          <p:nvPr/>
        </p:nvPicPr>
        <p:blipFill>
          <a:blip r:embed="rId2"/>
          <a:stretch>
            <a:fillRect/>
          </a:stretch>
        </p:blipFill>
        <p:spPr>
          <a:xfrm>
            <a:off x="2224278" y="3154680"/>
            <a:ext cx="1965960" cy="2778433"/>
          </a:xfrm>
          <a:prstGeom prst="rect">
            <a:avLst/>
          </a:prstGeom>
        </p:spPr>
      </p:pic>
      <p:sp>
        <p:nvSpPr>
          <p:cNvPr id="13" name="DSFR-texte-libre"/>
          <p:cNvSpPr txBox="1"/>
          <p:nvPr/>
        </p:nvSpPr>
        <p:spPr>
          <a:xfrm>
            <a:off x="6240779"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B</a:t>
            </a:r>
          </a:p>
        </p:txBody>
      </p:sp>
      <p:pic>
        <p:nvPicPr>
          <p:cNvPr id="14" name="Picture 13" descr="Aperçu stylisé du document b, visuellement identique à l'autre document."/>
          <p:cNvPicPr>
            <a:picLocks noChangeAspect="1"/>
          </p:cNvPicPr>
          <p:nvPr/>
        </p:nvPicPr>
        <p:blipFill>
          <a:blip r:embed="rId2"/>
          <a:stretch>
            <a:fillRect/>
          </a:stretch>
        </p:blipFill>
        <p:spPr>
          <a:xfrm>
            <a:off x="7989569" y="3154680"/>
            <a:ext cx="1965960" cy="277843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Réponse - le document B est accessible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l'écran, rien ne les distingue. La différence se trouve dans la structure du fichier.</a:t>
            </a:r>
          </a:p>
        </p:txBody>
      </p:sp>
      <p:sp>
        <p:nvSpPr>
          <p:cNvPr id="12" name="DSFR-box"/>
          <p:cNvSpPr/>
          <p:nvPr/>
        </p:nvSpPr>
        <p:spPr>
          <a:xfrm>
            <a:off x="548640"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A</a:t>
            </a:r>
          </a:p>
        </p:txBody>
      </p:sp>
      <p:sp>
        <p:nvSpPr>
          <p:cNvPr id="14" name="DSFR-card-contenu"/>
          <p:cNvSpPr txBox="1"/>
          <p:nvPr/>
        </p:nvSpPr>
        <p:spPr>
          <a:xfrm>
            <a:off x="704088" y="3909059"/>
            <a:ext cx="5097779" cy="108585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Titres mis en gras, police Arial 16</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Image sans description</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Fichier nommé Document1.docx</a:t>
            </a:r>
          </a:p>
        </p:txBody>
      </p:sp>
      <p:sp>
        <p:nvSpPr>
          <p:cNvPr id="16" name="DSFR-box"/>
          <p:cNvSpPr/>
          <p:nvPr/>
        </p:nvSpPr>
        <p:spPr>
          <a:xfrm>
            <a:off x="6313931"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B</a:t>
            </a:r>
          </a:p>
        </p:txBody>
      </p:sp>
      <p:sp>
        <p:nvSpPr>
          <p:cNvPr id="18" name="DSFR-card-contenu"/>
          <p:cNvSpPr txBox="1"/>
          <p:nvPr/>
        </p:nvSpPr>
        <p:spPr>
          <a:xfrm>
            <a:off x="6469379" y="3909059"/>
            <a:ext cx="5097779" cy="108585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Titres avec le style « Titre 1 »</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Image avec texte alternatif</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Fichier nommé rapport-bilan-2024.docx</a:t>
            </a:r>
          </a:p>
        </p:txBody>
      </p:sp>
      <p:sp>
        <p:nvSpPr>
          <p:cNvPr id="20" name="DSFR-box"/>
          <p:cNvSpPr/>
          <p:nvPr/>
        </p:nvSpPr>
        <p:spPr>
          <a:xfrm>
            <a:off x="548640" y="540639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49782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structure du fichier détermine ce que NVDA peut restituer.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Réponse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40639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ça vous concerne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58</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L'accessibilité ne se voit pas : elle se manipule et se vérifie</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style Titre 1 crée une structure de navigation</a:t>
            </a:r>
          </a:p>
          <a:p>
            <a:pPr algn="l">
              <a:lnSpc>
                <a:spcPct val="125000"/>
              </a:lnSpc>
            </a:pPr>
            <a:r>
              <a:rPr sz="1400" lang="fr-FR">
                <a:solidFill>
                  <a:srgbClr val="161616"/>
                </a:solidFill>
                <a:latin typeface="Arial"/>
              </a:rPr>
              <a:t>• </a:t>
            </a:r>
            <a:r>
              <a:rPr sz="1400" b="0" lang="fr-FR">
                <a:solidFill>
                  <a:srgbClr val="161616"/>
                </a:solidFill>
                <a:latin typeface="Arial"/>
              </a:rPr>
              <a:t>Le texte de remplacement décrit la fonction de l'image</a:t>
            </a:r>
          </a:p>
          <a:p>
            <a:pPr algn="l">
              <a:lnSpc>
                <a:spcPct val="125000"/>
              </a:lnSpc>
            </a:pPr>
            <a:r>
              <a:rPr sz="1400" lang="fr-FR">
                <a:solidFill>
                  <a:srgbClr val="161616"/>
                </a:solidFill>
                <a:latin typeface="Arial"/>
              </a:rPr>
              <a:t>• </a:t>
            </a:r>
            <a:r>
              <a:rPr sz="1400" b="0" lang="fr-FR">
                <a:solidFill>
                  <a:srgbClr val="161616"/>
                </a:solidFill>
                <a:latin typeface="Arial"/>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 : rendre accessible le guide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Préambule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59</a:t>
            </a:r>
            <a:endParaRPr lang="fr-FR" dirty="0"/>
          </a:p>
        </p:txBody>
      </p:sp>
      <p:sp>
        <p:nvSpPr>
          <p:cNvPr id="9" name="DSFR-box"/>
          <p:cNvSpPr/>
          <p:nvPr/>
        </p:nvSpPr>
        <p:spPr>
          <a:xfrm>
            <a:off x="548640" y="210312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Point de départ</a:t>
            </a:r>
          </a:p>
        </p:txBody>
      </p:sp>
      <p:sp>
        <p:nvSpPr>
          <p:cNvPr id="11" name="DSFR-card-contenu"/>
          <p:cNvSpPr txBox="1"/>
          <p:nvPr/>
        </p:nvSpPr>
        <p:spPr>
          <a:xfrm>
            <a:off x="704088" y="2697479"/>
            <a:ext cx="5097779" cy="1188719"/>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Conseillé :</a:t>
            </a:r>
            <a:r>
              <a:rPr sz="1400" b="0" lang="fr-FR">
                <a:solidFill>
                  <a:srgbClr val="161616"/>
                </a:solidFill>
                <a:latin typeface="Arial"/>
              </a:rPr>
              <a:t> tp-doc-aide-correction.docx</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Variante autonome :</a:t>
            </a:r>
            <a:r>
              <a:rPr sz="1400" b="0" lang="fr-FR">
                <a:solidFill>
                  <a:srgbClr val="161616"/>
                </a:solidFill>
                <a:latin typeface="Arial"/>
              </a:rPr>
              <a:t> tp-doc-inaccessible.docx</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5 étapes en 90 minutes</a:t>
            </a:r>
          </a:p>
        </p:txBody>
      </p:sp>
      <p:sp>
        <p:nvSpPr>
          <p:cNvPr id="13" name="DSFR-box"/>
          <p:cNvSpPr/>
          <p:nvPr/>
        </p:nvSpPr>
        <p:spPr>
          <a:xfrm>
            <a:off x="6313931" y="210312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Productions à remettre</a:t>
            </a:r>
          </a:p>
        </p:txBody>
      </p:sp>
      <p:sp>
        <p:nvSpPr>
          <p:cNvPr id="15" name="DSFR-card-contenu"/>
          <p:cNvSpPr txBox="1"/>
          <p:nvPr/>
        </p:nvSpPr>
        <p:spPr>
          <a:xfrm>
            <a:off x="6469379" y="2697479"/>
            <a:ext cx="5097779" cy="1188719"/>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Le DOCX corrigé par votre binôme</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La checklist renseignée au fil des étapes</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Le PDF exporté puis contrôlé</a:t>
            </a:r>
          </a:p>
        </p:txBody>
      </p:sp>
      <p:sp>
        <p:nvSpPr>
          <p:cNvPr id="17" name="DSFR-box"/>
          <p:cNvSpPr/>
          <p:nvPr/>
        </p:nvSpPr>
        <p:spPr>
          <a:xfrm>
            <a:off x="548640" y="431596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40740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Checklist dès le départ ; cartes WCAG reliées informellement à chaque contrôle.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Mission</a:t>
            </a:r>
          </a:p>
        </p:txBody>
      </p:sp>
      <p:sp>
        <p:nvSpPr>
          <p:cNvPr id="8" name="DSFR-accent-decoratif" descr=""/>
          <p:cNvSpPr/>
          <p:nvPr/>
        </p:nvSpPr>
        <p:spPr>
          <a:xfrm>
            <a:off x="475488" y="210312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31596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1 - Structurer et naviguer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60</a:t>
            </a:r>
            <a:endParaRPr lang="fr-FR" dirty="0"/>
          </a:p>
        </p:txBody>
      </p:sp>
      <p:graphicFrame>
        <p:nvGraphicFramePr>
          <p:cNvPr id="8" name="Table 7"/>
          <p:cNvGraphicFramePr>
            <a:graphicFrameLocks noGrp="1"/>
          </p:cNvGraphicFramePr>
          <p:nvPr/>
        </p:nvGraphicFramePr>
        <p:xfrm>
          <a:off x="475488" y="2057400"/>
          <a:ext cx="11228832" cy="3072384"/>
        </p:xfrm>
        <a:graphic>
          <a:graphicData uri="http://schemas.openxmlformats.org/drawingml/2006/table">
            <a:tbl>
              <a:tblPr firstRow="1" bandRow="1">
                <a:tableStyleId>{5C22544A-7EE6-4342-B048-85BDC9FD1C3A}</a:tableStyleId>
              </a:tblPr>
              <a:tblGrid>
                <a:gridCol w="1051560"/>
                <a:gridCol w="1143000"/>
                <a:gridCol w="9034272"/>
              </a:tblGrid>
              <a:tr h="512064">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512064">
                <a:tc>
                  <a:txBody>
                    <a:bodyPr wrap="square" anchor="ctr" lIns="73152" rIns="73152"/>
                    <a:lstStyle/>
                    <a:p>
                      <a:pPr algn="l">
                        <a:lnSpc>
                          <a:spcPct val="125000"/>
                        </a:lnSpc>
                      </a:pPr>
                      <a:r>
                        <a:rPr sz="1400" b="0" i="0" lang="fr-FR">
                          <a:solidFill>
                            <a:srgbClr val="161616"/>
                          </a:solidFill>
                          <a:latin typeface="Arial"/>
                        </a:rPr>
                        <a:t>P-01</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Distinguer le titre principal des titres hiérarchiques</a:t>
                      </a:r>
                    </a:p>
                  </a:txBody>
                  <a:tcPr marL="91440" marR="91440" marT="45720" marB="45720">
                    <a:solidFill>
                      <a:srgbClr val="FFFFFF"/>
                    </a:solidFill>
                  </a:tcPr>
                </a:tc>
              </a:tr>
              <a:tr h="512064">
                <a:tc>
                  <a:txBody>
                    <a:bodyPr wrap="square" anchor="ctr" lIns="73152" rIns="73152"/>
                    <a:lstStyle/>
                    <a:p>
                      <a:pPr algn="l">
                        <a:lnSpc>
                          <a:spcPct val="125000"/>
                        </a:lnSpc>
                      </a:pPr>
                      <a:r>
                        <a:rPr sz="1400" b="0" i="0" lang="fr-FR">
                          <a:solidFill>
                            <a:srgbClr val="161616"/>
                          </a:solidFill>
                          <a:latin typeface="Arial"/>
                        </a:rPr>
                        <a:t>P-02</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Construire une hiérarchie de titres cohérente</a:t>
                      </a:r>
                    </a:p>
                  </a:txBody>
                  <a:tcPr marL="91440" marR="91440" marT="45720" marB="45720">
                    <a:solidFill>
                      <a:srgbClr val="F5F5FE"/>
                    </a:solidFill>
                  </a:tcPr>
                </a:tc>
              </a:tr>
              <a:tr h="512064">
                <a:tc>
                  <a:txBody>
                    <a:bodyPr wrap="square" anchor="ctr" lIns="73152" rIns="73152"/>
                    <a:lstStyle/>
                    <a:p>
                      <a:pPr algn="l">
                        <a:lnSpc>
                          <a:spcPct val="125000"/>
                        </a:lnSpc>
                      </a:pPr>
                      <a:r>
                        <a:rPr sz="1400" b="0" i="0" lang="fr-FR">
                          <a:solidFill>
                            <a:srgbClr val="161616"/>
                          </a:solidFill>
                          <a:latin typeface="Arial"/>
                        </a:rPr>
                        <a:t>P-03</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Naviguer et générer un sommaire automatique</a:t>
                      </a:r>
                    </a:p>
                  </a:txBody>
                  <a:tcPr marL="91440" marR="91440" marT="45720" marB="45720">
                    <a:solidFill>
                      <a:srgbClr val="FFFFFF"/>
                    </a:solidFill>
                  </a:tcPr>
                </a:tc>
              </a:tr>
              <a:tr h="512064">
                <a:tc>
                  <a:txBody>
                    <a:bodyPr wrap="square" anchor="ctr" lIns="73152" rIns="73152"/>
                    <a:lstStyle/>
                    <a:p>
                      <a:pPr algn="l">
                        <a:lnSpc>
                          <a:spcPct val="125000"/>
                        </a:lnSpc>
                      </a:pPr>
                      <a:r>
                        <a:rPr sz="1400" b="0" i="0" lang="fr-FR">
                          <a:solidFill>
                            <a:srgbClr val="161616"/>
                          </a:solidFill>
                          <a:latin typeface="Arial"/>
                        </a:rPr>
                        <a:t>P-04</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Utiliser des listes natives</a:t>
                      </a:r>
                    </a:p>
                  </a:txBody>
                  <a:tcPr marL="91440" marR="91440" marT="45720" marB="45720">
                    <a:solidFill>
                      <a:srgbClr val="F5F5FE"/>
                    </a:solidFill>
                  </a:tcPr>
                </a:tc>
              </a:tr>
              <a:tr h="512064">
                <a:tc>
                  <a:txBody>
                    <a:bodyPr wrap="square" anchor="ctr" lIns="73152" rIns="73152"/>
                    <a:lstStyle/>
                    <a:p>
                      <a:pPr algn="l">
                        <a:lnSpc>
                          <a:spcPct val="125000"/>
                        </a:lnSpc>
                      </a:pPr>
                      <a:r>
                        <a:rPr sz="1400" b="0" i="0" lang="fr-FR">
                          <a:solidFill>
                            <a:srgbClr val="161616"/>
                          </a:solidFill>
                          <a:latin typeface="Arial"/>
                        </a:rPr>
                        <a:t>P-05</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Employer les fonctions de mise en page adaptées</a:t>
                      </a:r>
                    </a:p>
                  </a:txBody>
                  <a:tcPr marL="91440" marR="91440" marT="45720" marB="45720">
                    <a:solidFill>
                      <a:srgbClr val="FFFFFF"/>
                    </a:solidFill>
                  </a:tcPr>
                </a:tc>
              </a:tr>
            </a:tbl>
          </a:graphicData>
        </a:graphic>
      </p:graphicFrame>
      <p:sp>
        <p:nvSpPr>
          <p:cNvPr id="10" name="DSFR-box"/>
          <p:cNvSpPr/>
          <p:nvPr/>
        </p:nvSpPr>
        <p:spPr>
          <a:xfrm>
            <a:off x="548640" y="52578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3492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Manipuler la structure, puis prouver le résultat dans le volet et le sommaire.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1</a:t>
            </a:r>
          </a:p>
        </p:txBody>
      </p:sp>
      <p:sp>
        <p:nvSpPr>
          <p:cNvPr id="9" name="DSFR-accent-decoratif" descr=""/>
          <p:cNvSpPr/>
          <p:nvPr/>
        </p:nvSpPr>
        <p:spPr>
          <a:xfrm>
            <a:off x="475488" y="52578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1 - Titres, hiérarchie et sommaire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61</a:t>
            </a:r>
            <a:endParaRPr lang="fr-FR" dirty="0"/>
          </a:p>
        </p:txBody>
      </p:sp>
      <p:sp>
        <p:nvSpPr>
          <p:cNvPr id="9" name="DSFR-box"/>
          <p:cNvSpPr/>
          <p:nvPr/>
        </p:nvSpPr>
        <p:spPr>
          <a:xfrm>
            <a:off x="548640" y="2103120"/>
            <a:ext cx="5390388" cy="35204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83464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P-01</a:t>
            </a:r>
            <a:r>
              <a:rPr sz="1400" b="0" lang="fr-FR">
                <a:solidFill>
                  <a:srgbClr val="161616"/>
                </a:solidFill>
                <a:latin typeface="Arial"/>
              </a:rPr>
              <a:t> - Accueil &gt; Styles, puis appliquer Titre au titre principal et les niveaux de titre aux sections.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P-02</a:t>
            </a:r>
            <a:r>
              <a:rPr sz="1400" b="0" lang="fr-FR">
                <a:solidFill>
                  <a:srgbClr val="161616"/>
                </a:solidFill>
                <a:latin typeface="Arial"/>
              </a:rPr>
              <a:t> - Affichage &gt; Volet de navigation, puis corriger les styles depuis Accueil &gt; Styles.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P-03</a:t>
            </a:r>
            <a:r>
              <a:rPr sz="1400" b="0" lang="fr-FR">
                <a:solidFill>
                  <a:srgbClr val="161616"/>
                </a:solidFill>
                <a:latin typeface="Arial"/>
              </a:rPr>
              <a:t> - Références &gt; Table des matières &gt; Table automatique, puis clic droit &gt; Mettre à jour les champs.</a:t>
            </a:r>
          </a:p>
        </p:txBody>
      </p:sp>
      <p:sp>
        <p:nvSpPr>
          <p:cNvPr id="13" name="DSFR-box"/>
          <p:cNvSpPr/>
          <p:nvPr/>
        </p:nvSpPr>
        <p:spPr>
          <a:xfrm>
            <a:off x="6313931" y="2103120"/>
            <a:ext cx="5390388" cy="35204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83464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P-01</a:t>
            </a:r>
            <a:r>
              <a:rPr sz="1400" b="0" lang="fr-FR">
                <a:solidFill>
                  <a:srgbClr val="161616"/>
                </a:solidFill>
                <a:latin typeface="Arial"/>
              </a:rPr>
              <a:t> - Styles &gt; Gérer les styles, puis appliquer Titre et Titre 1 à Titre 3 selon le niveau.</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P-02</a:t>
            </a:r>
            <a:r>
              <a:rPr sz="1400" b="0" lang="fr-FR">
                <a:solidFill>
                  <a:srgbClr val="161616"/>
                </a:solidFill>
                <a:latin typeface="Arial"/>
              </a:rPr>
              <a:t> - Affichage &gt; Navigateur, puis corriger les styles depuis Styles &gt; Gérer les styles.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P-03</a:t>
            </a:r>
            <a:r>
              <a:rPr sz="1400" b="0" lang="fr-FR">
                <a:solidFill>
                  <a:srgbClr val="161616"/>
                </a:solidFill>
                <a:latin typeface="Arial"/>
              </a:rPr>
              <a:t> - Insertion &gt; Table des matières et index &gt; Table des matières, index ou bibliographie.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1</a:t>
            </a:r>
          </a:p>
        </p:txBody>
      </p:sp>
      <p:sp>
        <p:nvSpPr>
          <p:cNvPr id="8" name="DSFR-accent-decoratif" descr=""/>
          <p:cNvSpPr/>
          <p:nvPr/>
        </p:nvSpPr>
        <p:spPr>
          <a:xfrm>
            <a:off x="475488" y="2103120"/>
            <a:ext cx="73152" cy="35204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5204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1 - Listes et mise en page robuste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62</a:t>
            </a:r>
            <a:endParaRPr lang="fr-FR" dirty="0"/>
          </a:p>
        </p:txBody>
      </p:sp>
      <p:sp>
        <p:nvSpPr>
          <p:cNvPr id="9" name="DSFR-box"/>
          <p:cNvSpPr/>
          <p:nvPr/>
        </p:nvSpPr>
        <p:spPr>
          <a:xfrm>
            <a:off x="548640" y="2103120"/>
            <a:ext cx="5390388" cy="26060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192024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P-04</a:t>
            </a:r>
            <a:r>
              <a:rPr sz="1400" b="0" lang="fr-FR">
                <a:solidFill>
                  <a:srgbClr val="161616"/>
                </a:solidFill>
                <a:latin typeface="Arial"/>
              </a:rPr>
              <a:t> - Sélectionner les paragraphes, puis Accueil &gt; Puces ou Numérotation.</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P-05</a:t>
            </a:r>
            <a:r>
              <a:rPr sz="1400" b="0" lang="fr-FR">
                <a:solidFill>
                  <a:srgbClr val="161616"/>
                </a:solidFill>
                <a:latin typeface="Arial"/>
              </a:rPr>
              <a:t> - Accueil &gt; Afficher tout, puis régler Paragraphe, Mise en page &gt; Sauts et Mise en page &gt; Colonnes.</a:t>
            </a:r>
          </a:p>
        </p:txBody>
      </p:sp>
      <p:sp>
        <p:nvSpPr>
          <p:cNvPr id="13" name="DSFR-box"/>
          <p:cNvSpPr/>
          <p:nvPr/>
        </p:nvSpPr>
        <p:spPr>
          <a:xfrm>
            <a:off x="6313931" y="2103120"/>
            <a:ext cx="5390388" cy="26060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192024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P-04</a:t>
            </a:r>
            <a:r>
              <a:rPr sz="1400" b="0" lang="fr-FR">
                <a:solidFill>
                  <a:srgbClr val="161616"/>
                </a:solidFill>
                <a:latin typeface="Arial"/>
              </a:rPr>
              <a:t> - Sélectionner les paragraphes, puis Format &gt; Puces et numérotation.</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P-05</a:t>
            </a:r>
            <a:r>
              <a:rPr sz="1400" b="0" lang="fr-FR">
                <a:solidFill>
                  <a:srgbClr val="161616"/>
                </a:solidFill>
                <a:latin typeface="Arial"/>
              </a:rPr>
              <a:t> - Affichage &gt; Marques de formatage, puis Format &gt; Paragraphe et Format &gt; Style de page.</a:t>
            </a:r>
          </a:p>
        </p:txBody>
      </p:sp>
      <p:sp>
        <p:nvSpPr>
          <p:cNvPr id="17" name="DSFR-box"/>
          <p:cNvSpPr/>
          <p:nvPr/>
        </p:nvSpPr>
        <p:spPr>
          <a:xfrm>
            <a:off x="548640" y="500176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09320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Manipulation : afficher les marques, corriger les artifices, puis vérifier la structure.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1</a:t>
            </a:r>
          </a:p>
        </p:txBody>
      </p:sp>
      <p:sp>
        <p:nvSpPr>
          <p:cNvPr id="8" name="DSFR-accent-decoratif" descr=""/>
          <p:cNvSpPr/>
          <p:nvPr/>
        </p:nvSpPr>
        <p:spPr>
          <a:xfrm>
            <a:off x="475488" y="2103120"/>
            <a:ext cx="73152" cy="26060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060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0176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2 - Rendre les contenus et les liens compréhensibles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63</a:t>
            </a:r>
            <a:endParaRPr lang="fr-FR" dirty="0"/>
          </a:p>
        </p:txBody>
      </p:sp>
      <p:graphicFrame>
        <p:nvGraphicFramePr>
          <p:cNvPr id="8" name="Table 7"/>
          <p:cNvGraphicFramePr>
            <a:graphicFrameLocks noGrp="1"/>
          </p:cNvGraphicFramePr>
          <p:nvPr/>
        </p:nvGraphicFramePr>
        <p:xfrm>
          <a:off x="475488" y="2011680"/>
          <a:ext cx="11228832" cy="3136392"/>
        </p:xfrm>
        <a:graphic>
          <a:graphicData uri="http://schemas.openxmlformats.org/drawingml/2006/table">
            <a:tbl>
              <a:tblPr firstRow="1" bandRow="1">
                <a:tableStyleId>{5C22544A-7EE6-4342-B048-85BDC9FD1C3A}</a:tableStyleId>
              </a:tblPr>
              <a:tblGrid>
                <a:gridCol w="1051560"/>
                <a:gridCol w="1143000"/>
                <a:gridCol w="9034272"/>
              </a:tblGrid>
              <a:tr h="448056">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448056">
                <a:tc>
                  <a:txBody>
                    <a:bodyPr wrap="square" anchor="ctr" lIns="73152" rIns="73152"/>
                    <a:lstStyle/>
                    <a:p>
                      <a:pPr algn="l">
                        <a:lnSpc>
                          <a:spcPct val="125000"/>
                        </a:lnSpc>
                      </a:pPr>
                      <a:r>
                        <a:rPr sz="1400" b="0" i="0" lang="fr-FR">
                          <a:solidFill>
                            <a:srgbClr val="161616"/>
                          </a:solidFill>
                          <a:latin typeface="Arial"/>
                        </a:rPr>
                        <a:t>P-06</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Rédiger l'alternative d'une image informative simple</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Arial"/>
                        </a:rPr>
                        <a:t>P-07</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Décrire une image complexe</a:t>
                      </a:r>
                    </a:p>
                  </a:txBody>
                  <a:tcPr marL="91440" marR="91440" marT="45720" marB="45720">
                    <a:solidFill>
                      <a:srgbClr val="F5F5FE"/>
                    </a:solidFill>
                  </a:tcPr>
                </a:tc>
              </a:tr>
              <a:tr h="448056">
                <a:tc>
                  <a:txBody>
                    <a:bodyPr wrap="square" anchor="ctr" lIns="73152" rIns="73152"/>
                    <a:lstStyle/>
                    <a:p>
                      <a:pPr algn="l">
                        <a:lnSpc>
                          <a:spcPct val="125000"/>
                        </a:lnSpc>
                      </a:pPr>
                      <a:r>
                        <a:rPr sz="1400" b="0" i="0" lang="fr-FR">
                          <a:solidFill>
                            <a:srgbClr val="161616"/>
                          </a:solidFill>
                          <a:latin typeface="Arial"/>
                        </a:rPr>
                        <a:t>P-08</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Marquer une image redondante comme décorative</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Arial"/>
                        </a:rPr>
                        <a:t>P-09</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une image de texte par du vrai texte</a:t>
                      </a:r>
                    </a:p>
                  </a:txBody>
                  <a:tcPr marL="91440" marR="91440" marT="45720" marB="45720">
                    <a:solidFill>
                      <a:srgbClr val="F5F5FE"/>
                    </a:solidFill>
                  </a:tcPr>
                </a:tc>
              </a:tr>
              <a:tr h="448056">
                <a:tc>
                  <a:txBody>
                    <a:bodyPr wrap="square" anchor="ctr" lIns="73152" rIns="73152"/>
                    <a:lstStyle/>
                    <a:p>
                      <a:pPr algn="l">
                        <a:lnSpc>
                          <a:spcPct val="125000"/>
                        </a:lnSpc>
                      </a:pPr>
                      <a:r>
                        <a:rPr sz="1400" b="0" i="0" lang="fr-FR">
                          <a:solidFill>
                            <a:srgbClr val="161616"/>
                          </a:solidFill>
                          <a:latin typeface="Arial"/>
                        </a:rPr>
                        <a:t>P-10</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Rendre les liens autonomes et identifiables</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Arial"/>
                        </a:rPr>
                        <a:t>P-11</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Reprendre dans le corps l'information d'un en-tête</a:t>
                      </a:r>
                    </a:p>
                  </a:txBody>
                  <a:tcPr marL="91440" marR="91440" marT="45720" marB="45720">
                    <a:solidFill>
                      <a:srgbClr val="F5F5FE"/>
                    </a:solidFill>
                  </a:tcPr>
                </a:tc>
              </a:tr>
            </a:tbl>
          </a:graphicData>
        </a:graphic>
      </p:graphicFrame>
      <p:sp>
        <p:nvSpPr>
          <p:cNvPr id="10" name="DSFR-box"/>
          <p:cNvSpPr/>
          <p:nvPr/>
        </p:nvSpPr>
        <p:spPr>
          <a:xfrm>
            <a:off x="548640" y="53218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4132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Choisir le traitement selon l'usage : informative, complexe, décorative ou textuelle.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2</a:t>
            </a:r>
          </a:p>
        </p:txBody>
      </p:sp>
      <p:sp>
        <p:nvSpPr>
          <p:cNvPr id="9" name="DSFR-accent-decoratif" descr=""/>
          <p:cNvSpPr/>
          <p:nvPr/>
        </p:nvSpPr>
        <p:spPr>
          <a:xfrm>
            <a:off x="475488" y="53218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2 - Choisir le bon traitement pour chaque 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64</a:t>
            </a:r>
            <a:endParaRPr lang="fr-FR" dirty="0"/>
          </a:p>
        </p:txBody>
      </p:sp>
      <p:sp>
        <p:nvSpPr>
          <p:cNvPr id="9" name="DSFR-box"/>
          <p:cNvSpPr/>
          <p:nvPr/>
        </p:nvSpPr>
        <p:spPr>
          <a:xfrm>
            <a:off x="548640" y="2103120"/>
            <a:ext cx="5390388" cy="3611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9260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P-06</a:t>
            </a:r>
            <a:r>
              <a:rPr sz="1400" b="0" lang="fr-FR">
                <a:solidFill>
                  <a:srgbClr val="161616"/>
                </a:solidFill>
                <a:latin typeface="Arial"/>
              </a:rPr>
              <a:t> - Clic droit sur l'image &gt; Afficher le texte de remplacement, puis renseigner la description.</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P-07</a:t>
            </a:r>
            <a:r>
              <a:rPr sz="1400" b="0" lang="fr-FR">
                <a:solidFill>
                  <a:srgbClr val="161616"/>
                </a:solidFill>
                <a:latin typeface="Arial"/>
              </a:rPr>
              <a:t> - Ajouter le texte de remplacement, puis saisir la description détaillée dans un paragraphe voisin.</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P-08</a:t>
            </a:r>
            <a:r>
              <a:rPr sz="1400" b="0" lang="fr-FR">
                <a:solidFill>
                  <a:srgbClr val="161616"/>
                </a:solidFill>
                <a:latin typeface="Arial"/>
              </a:rPr>
              <a:t> - Afficher le texte de remplacement puis cocher Marquer comme décoratif.</a:t>
            </a:r>
          </a:p>
        </p:txBody>
      </p:sp>
      <p:sp>
        <p:nvSpPr>
          <p:cNvPr id="13" name="DSFR-box"/>
          <p:cNvSpPr/>
          <p:nvPr/>
        </p:nvSpPr>
        <p:spPr>
          <a:xfrm>
            <a:off x="6313931" y="2103120"/>
            <a:ext cx="5390388" cy="3611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9260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P-06</a:t>
            </a:r>
            <a:r>
              <a:rPr sz="1400" b="0" lang="fr-FR">
                <a:solidFill>
                  <a:srgbClr val="161616"/>
                </a:solidFill>
                <a:latin typeface="Arial"/>
              </a:rPr>
              <a:t> - Clic droit sur l'image &gt; Propriétés &gt; Options, puis renseigner le texte alternatif.</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P-07</a:t>
            </a:r>
            <a:r>
              <a:rPr sz="1400" b="0" lang="fr-FR">
                <a:solidFill>
                  <a:srgbClr val="161616"/>
                </a:solidFill>
                <a:latin typeface="Arial"/>
              </a:rPr>
              <a:t> - Renseigner le texte alternatif dans les propriétés, puis ajouter la description dans le corps.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P-08</a:t>
            </a:r>
            <a:r>
              <a:rPr sz="1400" b="0" lang="fr-FR">
                <a:solidFill>
                  <a:srgbClr val="161616"/>
                </a:solidFill>
                <a:latin typeface="Arial"/>
              </a:rPr>
              <a:t> - Si l'option Décoratif existe, l'activer ; sinon laisser titre et description vides seulement après vérification de la redondance.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2</a:t>
            </a:r>
          </a:p>
        </p:txBody>
      </p:sp>
      <p:sp>
        <p:nvSpPr>
          <p:cNvPr id="8" name="DSFR-accent-decoratif" descr=""/>
          <p:cNvSpPr/>
          <p:nvPr/>
        </p:nvSpPr>
        <p:spPr>
          <a:xfrm>
            <a:off x="475488" y="2103120"/>
            <a:ext cx="73152" cy="3611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611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2 - Vrai texte et liens compréhensibles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65</a:t>
            </a:r>
            <a:endParaRPr lang="fr-FR" dirty="0"/>
          </a:p>
        </p:txBody>
      </p:sp>
      <p:sp>
        <p:nvSpPr>
          <p:cNvPr id="9" name="DSFR-box"/>
          <p:cNvSpPr/>
          <p:nvPr/>
        </p:nvSpPr>
        <p:spPr>
          <a:xfrm>
            <a:off x="548640" y="21031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182880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P-09</a:t>
            </a:r>
            <a:r>
              <a:rPr sz="1400" b="0" lang="fr-FR">
                <a:solidFill>
                  <a:srgbClr val="161616"/>
                </a:solidFill>
                <a:latin typeface="Arial"/>
              </a:rPr>
              <a:t> - Insérer le texte dans un paragraphe structuré, appliquer les styles utiles puis supprimer l'image de texte.</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P-10</a:t>
            </a:r>
            <a:r>
              <a:rPr sz="1400" b="0" lang="fr-FR">
                <a:solidFill>
                  <a:srgbClr val="161616"/>
                </a:solidFill>
                <a:latin typeface="Arial"/>
              </a:rPr>
              <a:t> - Modifier le texte affiché du lien via clic droit &gt; Modifier le lien, puis compléter le libellé dans le corps.</a:t>
            </a:r>
          </a:p>
        </p:txBody>
      </p:sp>
      <p:sp>
        <p:nvSpPr>
          <p:cNvPr id="13" name="DSFR-box"/>
          <p:cNvSpPr/>
          <p:nvPr/>
        </p:nvSpPr>
        <p:spPr>
          <a:xfrm>
            <a:off x="6313931" y="21031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182880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P-09</a:t>
            </a:r>
            <a:r>
              <a:rPr sz="1400" b="0" lang="fr-FR">
                <a:solidFill>
                  <a:srgbClr val="161616"/>
                </a:solidFill>
                <a:latin typeface="Arial"/>
              </a:rPr>
              <a:t> - Saisir le texte dans le corps, appliquer les styles utiles puis supprimer l'image de texte.</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P-10</a:t>
            </a:r>
            <a:r>
              <a:rPr sz="1400" b="0" lang="fr-FR">
                <a:solidFill>
                  <a:srgbClr val="161616"/>
                </a:solidFill>
                <a:latin typeface="Arial"/>
              </a:rPr>
              <a:t> - Clic droit &gt; Modifier l'hyperlien, puis compléter le libellé dans le corps.</a:t>
            </a:r>
          </a:p>
        </p:txBody>
      </p:sp>
      <p:sp>
        <p:nvSpPr>
          <p:cNvPr id="17" name="DSFR-box"/>
          <p:cNvSpPr/>
          <p:nvPr/>
        </p:nvSpPr>
        <p:spPr>
          <a:xfrm>
            <a:off x="548640" y="49651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056631"/>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Preuve : le texte se sélectionne et chaque lien reste clair hors contexte.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2</a:t>
            </a:r>
          </a:p>
        </p:txBody>
      </p:sp>
      <p:sp>
        <p:nvSpPr>
          <p:cNvPr id="8" name="DSFR-accent-decoratif" descr=""/>
          <p:cNvSpPr/>
          <p:nvPr/>
        </p:nvSpPr>
        <p:spPr>
          <a:xfrm>
            <a:off x="475488" y="21031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651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2 - L'information essentielle reste dans le corps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66</a:t>
            </a:r>
            <a:endParaRPr lang="fr-FR" dirty="0"/>
          </a:p>
        </p:txBody>
      </p:sp>
      <p:sp>
        <p:nvSpPr>
          <p:cNvPr id="9" name="DSFR-box"/>
          <p:cNvSpPr/>
          <p:nvPr/>
        </p:nvSpPr>
        <p:spPr>
          <a:xfrm>
            <a:off x="548640" y="20116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P-11 [P] - Reprendre dans le corps l'information d'un en-tête</a:t>
            </a:r>
          </a:p>
        </p:txBody>
      </p:sp>
      <p:sp>
        <p:nvSpPr>
          <p:cNvPr id="12" name="DSFR-box"/>
          <p:cNvSpPr/>
          <p:nvPr/>
        </p:nvSpPr>
        <p:spPr>
          <a:xfrm>
            <a:off x="548640" y="2990088"/>
            <a:ext cx="5390388" cy="28803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27248"/>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4" name="DSFR-card-contenu"/>
          <p:cNvSpPr txBox="1"/>
          <p:nvPr/>
        </p:nvSpPr>
        <p:spPr>
          <a:xfrm>
            <a:off x="704088" y="3584448"/>
            <a:ext cx="5097779" cy="21945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Ne jamais faire porter une information essentielle uniquement par un filigrane, un en-tête ou un arrière-plan.</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Ajouter le statut dans le corps avec un style adapté ; l'en-tête peut le conserver, sans en être l'unique porteur.</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Reprendre le même statut à un emplacement logique du corps.</a:t>
            </a:r>
          </a:p>
        </p:txBody>
      </p:sp>
      <p:sp>
        <p:nvSpPr>
          <p:cNvPr id="16" name="DSFR-box"/>
          <p:cNvSpPr/>
          <p:nvPr/>
        </p:nvSpPr>
        <p:spPr>
          <a:xfrm>
            <a:off x="6313931" y="2990088"/>
            <a:ext cx="5390388" cy="28803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27248"/>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8" name="DSFR-card-contenu"/>
          <p:cNvSpPr txBox="1"/>
          <p:nvPr/>
        </p:nvSpPr>
        <p:spPr>
          <a:xfrm>
            <a:off x="6469379" y="3584448"/>
            <a:ext cx="5097779" cy="21945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Ajouter le statut dans le corps avec un style adapté ; l'en-tête peut le conserver, sans en être l'unique porteur.</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Statut compréhensible dans le texte linéarisé sans en-tête ni arrière-plan.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2</a:t>
            </a:r>
          </a:p>
        </p:txBody>
      </p:sp>
      <p:sp>
        <p:nvSpPr>
          <p:cNvPr id="8" name="DSFR-accent-decoratif" descr=""/>
          <p:cNvSpPr/>
          <p:nvPr/>
        </p:nvSpPr>
        <p:spPr>
          <a:xfrm>
            <a:off x="475488" y="20116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0088"/>
            <a:ext cx="73152" cy="28803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0088"/>
            <a:ext cx="73152" cy="28803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3 - Sécuriser couleurs, graphiques et tableaux</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67</a:t>
            </a:r>
            <a:endParaRPr lang="fr-FR" dirty="0"/>
          </a:p>
        </p:txBody>
      </p:sp>
      <p:graphicFrame>
        <p:nvGraphicFramePr>
          <p:cNvPr id="8" name="Table 7"/>
          <p:cNvGraphicFramePr>
            <a:graphicFrameLocks noGrp="1"/>
          </p:cNvGraphicFramePr>
          <p:nvPr/>
        </p:nvGraphicFramePr>
        <p:xfrm>
          <a:off x="475488" y="2103120"/>
          <a:ext cx="11228832" cy="2414016"/>
        </p:xfrm>
        <a:graphic>
          <a:graphicData uri="http://schemas.openxmlformats.org/drawingml/2006/table">
            <a:tbl>
              <a:tblPr firstRow="1" bandRow="1">
                <a:tableStyleId>{5C22544A-7EE6-4342-B048-85BDC9FD1C3A}</a:tableStyleId>
              </a:tblPr>
              <a:tblGrid>
                <a:gridCol w="1051560"/>
                <a:gridCol w="1143000"/>
                <a:gridCol w="9034272"/>
              </a:tblGrid>
              <a:tr h="603504">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603504">
                <a:tc>
                  <a:txBody>
                    <a:bodyPr wrap="square" anchor="ctr" lIns="73152" rIns="73152"/>
                    <a:lstStyle/>
                    <a:p>
                      <a:pPr algn="l">
                        <a:lnSpc>
                          <a:spcPct val="125000"/>
                        </a:lnSpc>
                      </a:pPr>
                      <a:r>
                        <a:rPr sz="1400" b="0" i="0" lang="fr-FR">
                          <a:solidFill>
                            <a:srgbClr val="161616"/>
                          </a:solidFill>
                          <a:latin typeface="Arial"/>
                        </a:rPr>
                        <a:t>P-12</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Mesurer les contrastes utiles</a:t>
                      </a:r>
                    </a:p>
                  </a:txBody>
                  <a:tcPr marL="91440" marR="91440" marT="45720" marB="45720">
                    <a:solidFill>
                      <a:srgbClr val="FFFFFF"/>
                    </a:solidFill>
                  </a:tcPr>
                </a:tc>
              </a:tr>
              <a:tr h="603504">
                <a:tc>
                  <a:txBody>
                    <a:bodyPr wrap="square" anchor="ctr" lIns="73152" rIns="73152"/>
                    <a:lstStyle/>
                    <a:p>
                      <a:pPr algn="l">
                        <a:lnSpc>
                          <a:spcPct val="125000"/>
                        </a:lnSpc>
                      </a:pPr>
                      <a:r>
                        <a:rPr sz="1400" b="0" i="0" lang="fr-FR">
                          <a:solidFill>
                            <a:srgbClr val="161616"/>
                          </a:solidFill>
                          <a:latin typeface="Arial"/>
                        </a:rPr>
                        <a:t>P-13</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Ne pas transmettre une information par la couleur seule</a:t>
                      </a:r>
                    </a:p>
                  </a:txBody>
                  <a:tcPr marL="91440" marR="91440" marT="45720" marB="45720">
                    <a:solidFill>
                      <a:srgbClr val="F5F5FE"/>
                    </a:solidFill>
                  </a:tcPr>
                </a:tc>
              </a:tr>
              <a:tr h="603504">
                <a:tc>
                  <a:txBody>
                    <a:bodyPr wrap="square" anchor="ctr" lIns="73152" rIns="73152"/>
                    <a:lstStyle/>
                    <a:p>
                      <a:pPr algn="l">
                        <a:lnSpc>
                          <a:spcPct val="125000"/>
                        </a:lnSpc>
                      </a:pPr>
                      <a:r>
                        <a:rPr sz="1400" b="0" i="0" lang="fr-FR">
                          <a:solidFill>
                            <a:srgbClr val="161616"/>
                          </a:solidFill>
                          <a:latin typeface="Arial"/>
                        </a:rPr>
                        <a:t>P-14</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Structurer un tableau de données simple</a:t>
                      </a:r>
                    </a:p>
                  </a:txBody>
                  <a:tcPr marL="91440" marR="91440" marT="45720" marB="45720">
                    <a:solidFill>
                      <a:srgbClr val="FFFFFF"/>
                    </a:solidFill>
                  </a:tcPr>
                </a:tc>
              </a:tr>
            </a:tbl>
          </a:graphicData>
        </a:graphic>
      </p:graphicFrame>
      <p:sp>
        <p:nvSpPr>
          <p:cNvPr id="10" name="DSFR-box"/>
          <p:cNvSpPr/>
          <p:nvPr/>
        </p:nvSpPr>
        <p:spPr>
          <a:xfrm>
            <a:off x="548640" y="49377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0292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Mesurer, rendre l'information indépendante de la couleur, puis vérifier la structure.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3</a:t>
            </a:r>
          </a:p>
        </p:txBody>
      </p:sp>
      <p:sp>
        <p:nvSpPr>
          <p:cNvPr id="9" name="DSFR-accent-decoratif" descr=""/>
          <p:cNvSpPr/>
          <p:nvPr/>
        </p:nvSpPr>
        <p:spPr>
          <a:xfrm>
            <a:off x="475488" y="49377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3 - Le contraste se mesure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68</a:t>
            </a:r>
            <a:endParaRPr lang="fr-FR" dirty="0"/>
          </a:p>
        </p:txBody>
      </p:sp>
      <p:sp>
        <p:nvSpPr>
          <p:cNvPr id="9" name="DSFR-box"/>
          <p:cNvSpPr/>
          <p:nvPr/>
        </p:nvSpPr>
        <p:spPr>
          <a:xfrm>
            <a:off x="548640" y="196596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P-12 [P] - Mesurer les contrastes utiles</a:t>
            </a:r>
          </a:p>
        </p:txBody>
      </p:sp>
      <p:sp>
        <p:nvSpPr>
          <p:cNvPr id="11" name="DSFR-kpi-pave"/>
          <p:cNvSpPr/>
          <p:nvPr/>
        </p:nvSpPr>
        <p:spPr>
          <a:xfrm>
            <a:off x="475488" y="2926080"/>
            <a:ext cx="5463540" cy="7132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12" name="DSFR-kpi-label"/>
          <p:cNvSpPr txBox="1"/>
          <p:nvPr/>
        </p:nvSpPr>
        <p:spPr>
          <a:xfrm>
            <a:off x="475488" y="3694176"/>
            <a:ext cx="5463540" cy="329184"/>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a:t>
            </a:r>
          </a:p>
        </p:txBody>
      </p:sp>
      <p:sp>
        <p:nvSpPr>
          <p:cNvPr id="13" name="DSFR-kpi-pave"/>
          <p:cNvSpPr/>
          <p:nvPr/>
        </p:nvSpPr>
        <p:spPr>
          <a:xfrm>
            <a:off x="6240779" y="2926080"/>
            <a:ext cx="5463540" cy="7132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14" name="DSFR-kpi-label"/>
          <p:cNvSpPr txBox="1"/>
          <p:nvPr/>
        </p:nvSpPr>
        <p:spPr>
          <a:xfrm>
            <a:off x="6240779" y="3694176"/>
            <a:ext cx="5463540" cy="329184"/>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Grand texte et éléments graphiques</a:t>
            </a:r>
          </a:p>
        </p:txBody>
      </p:sp>
      <p:sp>
        <p:nvSpPr>
          <p:cNvPr id="16" name="DSFR-box"/>
          <p:cNvSpPr/>
          <p:nvPr/>
        </p:nvSpPr>
        <p:spPr>
          <a:xfrm>
            <a:off x="548640" y="4160520"/>
            <a:ext cx="5390388" cy="2011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704088" y="429768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8" name="DSFR-card-contenu"/>
          <p:cNvSpPr txBox="1"/>
          <p:nvPr/>
        </p:nvSpPr>
        <p:spPr>
          <a:xfrm>
            <a:off x="704088" y="4754880"/>
            <a:ext cx="5097779" cy="1325879"/>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Relever les couleurs de police et de fond, mesurer avec l'outil de contraste, puis modifier la couleur de police.</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Mesurer la combinaison puis choisir une couleur qui atteint le seuil applicable.</a:t>
            </a:r>
          </a:p>
        </p:txBody>
      </p:sp>
      <p:sp>
        <p:nvSpPr>
          <p:cNvPr id="20" name="DSFR-box"/>
          <p:cNvSpPr/>
          <p:nvPr/>
        </p:nvSpPr>
        <p:spPr>
          <a:xfrm>
            <a:off x="6313931" y="4160520"/>
            <a:ext cx="5390388" cy="2011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429768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22" name="DSFR-card-contenu"/>
          <p:cNvSpPr txBox="1"/>
          <p:nvPr/>
        </p:nvSpPr>
        <p:spPr>
          <a:xfrm>
            <a:off x="6469379" y="4754880"/>
            <a:ext cx="5097779" cy="1325879"/>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Relever les couleurs de caractère et d'arrière-plan, mesurer, puis modifier la couleur de caractère.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3</a:t>
            </a:r>
          </a:p>
        </p:txBody>
      </p:sp>
      <p:sp>
        <p:nvSpPr>
          <p:cNvPr id="8" name="DSFR-accent-decoratif" descr=""/>
          <p:cNvSpPr/>
          <p:nvPr/>
        </p:nvSpPr>
        <p:spPr>
          <a:xfrm>
            <a:off x="475488" y="196596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160520"/>
            <a:ext cx="73152" cy="2011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4160520"/>
            <a:ext cx="73152" cy="2011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3 - Un graphique compréhensible sans la couleur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69</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P-13 [P] - Ne pas transmettre une information par la couleur seule</a:t>
            </a:r>
          </a:p>
        </p:txBody>
      </p:sp>
      <p:sp>
        <p:nvSpPr>
          <p:cNvPr id="12" name="DSFR-box"/>
          <p:cNvSpPr/>
          <p:nvPr/>
        </p:nvSpPr>
        <p:spPr>
          <a:xfrm>
            <a:off x="548640" y="3017520"/>
            <a:ext cx="5390388" cy="31089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4" name="DSFR-card-contenu"/>
          <p:cNvSpPr txBox="1"/>
          <p:nvPr/>
        </p:nvSpPr>
        <p:spPr>
          <a:xfrm>
            <a:off x="704088" y="3611879"/>
            <a:ext cx="5097779" cy="24231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Ajouter étiquettes, motifs ou un équivalent textuel complet à tout code couleur porteur d'information.</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Insertion &gt; Graphique &gt; Histogramme groupé, reporter les valeurs affichées dans l'image, puis afficher les étiquettes et appliquer des motifs distincts.</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Reconstruire dans Word le graphique à partir des valeurs affichées dans l'image, puis ajouter des étiquettes et des motifs ou conserver un équivalent textuel complet.</a:t>
            </a:r>
          </a:p>
        </p:txBody>
      </p:sp>
      <p:sp>
        <p:nvSpPr>
          <p:cNvPr id="16" name="DSFR-box"/>
          <p:cNvSpPr/>
          <p:nvPr/>
        </p:nvSpPr>
        <p:spPr>
          <a:xfrm>
            <a:off x="6313931" y="3017520"/>
            <a:ext cx="5390388" cy="31089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8" name="DSFR-card-contenu"/>
          <p:cNvSpPr txBox="1"/>
          <p:nvPr/>
        </p:nvSpPr>
        <p:spPr>
          <a:xfrm>
            <a:off x="6469379" y="3611879"/>
            <a:ext cx="5097779" cy="24231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Insertion &gt; Diagramme, reporter les valeurs affichées dans l'image, puis afficher les étiquettes et choisir des remplissages distincts.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Séries et conclusions identifiables en niveaux de gris et dans l'équivalent textuel.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3</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017520"/>
            <a:ext cx="73152" cy="31089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017520"/>
            <a:ext cx="73152" cy="31089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3 - Un tableau de données simple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70</a:t>
            </a:r>
            <a:endParaRPr lang="fr-FR" dirty="0"/>
          </a:p>
        </p:txBody>
      </p:sp>
      <p:sp>
        <p:nvSpPr>
          <p:cNvPr id="9" name="DSFR-box"/>
          <p:cNvSpPr/>
          <p:nvPr/>
        </p:nvSpPr>
        <p:spPr>
          <a:xfrm>
            <a:off x="548640" y="20116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P-14 [P] - Structurer un tableau de données simple</a:t>
            </a:r>
          </a:p>
        </p:txBody>
      </p:sp>
      <p:sp>
        <p:nvSpPr>
          <p:cNvPr id="12" name="DSFR-box"/>
          <p:cNvSpPr/>
          <p:nvPr/>
        </p:nvSpPr>
        <p:spPr>
          <a:xfrm>
            <a:off x="548640" y="3017520"/>
            <a:ext cx="5390388" cy="31089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4" name="DSFR-card-contenu"/>
          <p:cNvSpPr txBox="1"/>
          <p:nvPr/>
        </p:nvSpPr>
        <p:spPr>
          <a:xfrm>
            <a:off x="704088" y="3611879"/>
            <a:ext cx="5097779" cy="24231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Utiliser un tableau de données titré, sans fusion, imbrication, fractionnement de ligne ni usage de mise en page, avec en-tête identifié et répété.</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Outils de tableau &gt; Disposition pour défusionner ; Propriétés du tableau pour répéter l'en-tête et interdire le fractionnement des lignes.</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Simplifier la structure, identifier l'en-tête et régler sa répétition ainsi que les lignes.</a:t>
            </a:r>
          </a:p>
        </p:txBody>
      </p:sp>
      <p:sp>
        <p:nvSpPr>
          <p:cNvPr id="16" name="DSFR-box"/>
          <p:cNvSpPr/>
          <p:nvPr/>
        </p:nvSpPr>
        <p:spPr>
          <a:xfrm>
            <a:off x="6313931" y="3017520"/>
            <a:ext cx="5390388" cy="31089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8" name="DSFR-card-contenu"/>
          <p:cNvSpPr txBox="1"/>
          <p:nvPr/>
        </p:nvSpPr>
        <p:spPr>
          <a:xfrm>
            <a:off x="6469379" y="3611879"/>
            <a:ext cx="5097779" cy="24231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Tableau &gt; Propriétés pour simplifier la grille, répéter les premières lignes et éviter le fractionnement.</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XML sans fusion ni imbrication et relations de cellules vérifiées à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3</a:t>
            </a:r>
          </a:p>
        </p:txBody>
      </p:sp>
      <p:sp>
        <p:nvSpPr>
          <p:cNvPr id="8" name="DSFR-accent-decoratif" descr=""/>
          <p:cNvSpPr/>
          <p:nvPr/>
        </p:nvSpPr>
        <p:spPr>
          <a:xfrm>
            <a:off x="475488" y="20116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017520"/>
            <a:ext cx="73152" cy="31089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017520"/>
            <a:ext cx="73152" cy="31089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4 - Régler langues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71</a:t>
            </a:r>
            <a:endParaRPr lang="fr-FR" dirty="0"/>
          </a:p>
        </p:txBody>
      </p:sp>
      <p:graphicFrame>
        <p:nvGraphicFramePr>
          <p:cNvPr id="8" name="Table 7"/>
          <p:cNvGraphicFramePr>
            <a:graphicFrameLocks noGrp="1"/>
          </p:cNvGraphicFramePr>
          <p:nvPr/>
        </p:nvGraphicFramePr>
        <p:xfrm>
          <a:off x="475488" y="2103120"/>
          <a:ext cx="11228832" cy="2834640"/>
        </p:xfrm>
        <a:graphic>
          <a:graphicData uri="http://schemas.openxmlformats.org/drawingml/2006/table">
            <a:tbl>
              <a:tblPr firstRow="1" bandRow="1">
                <a:tableStyleId>{5C22544A-7EE6-4342-B048-85BDC9FD1C3A}</a:tableStyleId>
              </a:tblPr>
              <a:tblGrid>
                <a:gridCol w="1051560"/>
                <a:gridCol w="1143000"/>
                <a:gridCol w="9034272"/>
              </a:tblGrid>
              <a:tr h="566928">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P-15</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Définir les langues du document et des passages</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P-16</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Régler une typographie lisible par les styles</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P-17</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Appliquer la casse par la mise en forme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P-18</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Développer les sigles et vérifier les majuscules</a:t>
                      </a:r>
                    </a:p>
                  </a:txBody>
                  <a:tcPr marL="91440" marR="91440" marT="45720" marB="45720">
                    <a:solidFill>
                      <a:srgbClr val="F5F5FE"/>
                    </a:solidFill>
                  </a:tcPr>
                </a:tc>
              </a:tr>
            </a:tbl>
          </a:graphicData>
        </a:graphic>
      </p:graphicFrame>
      <p:sp>
        <p:nvSpPr>
          <p:cNvPr id="10" name="DSFR-box"/>
          <p:cNvSpPr/>
          <p:nvPr/>
        </p:nvSpPr>
        <p:spPr>
          <a:xfrm>
            <a:off x="548640" y="50749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16635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Corriger les styles sources : la langue et la lisibilité se règlent à l'échelle du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4</a:t>
            </a:r>
          </a:p>
        </p:txBody>
      </p:sp>
      <p:sp>
        <p:nvSpPr>
          <p:cNvPr id="9" name="DSFR-accent-decoratif" descr=""/>
          <p:cNvSpPr/>
          <p:nvPr/>
        </p:nvSpPr>
        <p:spPr>
          <a:xfrm>
            <a:off x="475488" y="50749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4 - Langues et styles typographiques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72</a:t>
            </a:r>
            <a:endParaRPr lang="fr-FR" dirty="0"/>
          </a:p>
        </p:txBody>
      </p:sp>
      <p:sp>
        <p:nvSpPr>
          <p:cNvPr id="9" name="DSFR-box"/>
          <p:cNvSpPr/>
          <p:nvPr/>
        </p:nvSpPr>
        <p:spPr>
          <a:xfrm>
            <a:off x="548640"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0116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P-15</a:t>
            </a:r>
            <a:r>
              <a:rPr sz="1400" b="0" lang="fr-FR">
                <a:solidFill>
                  <a:srgbClr val="161616"/>
                </a:solidFill>
                <a:latin typeface="Arial"/>
              </a:rPr>
              <a:t> - Révision &gt; Langue &gt; Définir la langue de vérification pour le document puis pour le passage sélectionné.</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P-16</a:t>
            </a:r>
            <a:r>
              <a:rPr sz="1400" b="0" lang="fr-FR">
                <a:solidFill>
                  <a:srgbClr val="161616"/>
                </a:solidFill>
                <a:latin typeface="Arial"/>
              </a:rPr>
              <a:t> - Accueil &gt; Styles &gt; Modifier le style Normal, puis régler police, taille, alignement et paragraphe.</a:t>
            </a:r>
          </a:p>
        </p:txBody>
      </p:sp>
      <p:sp>
        <p:nvSpPr>
          <p:cNvPr id="13" name="DSFR-box"/>
          <p:cNvSpPr/>
          <p:nvPr/>
        </p:nvSpPr>
        <p:spPr>
          <a:xfrm>
            <a:off x="6313931"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0116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P-15</a:t>
            </a:r>
            <a:r>
              <a:rPr sz="1400" b="0" lang="fr-FR">
                <a:solidFill>
                  <a:srgbClr val="161616"/>
                </a:solidFill>
                <a:latin typeface="Arial"/>
              </a:rPr>
              <a:t> - Outils &gt; Langue pour tout le texte, puis langue du caractère pour le passage sélectionné.</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P-16</a:t>
            </a:r>
            <a:r>
              <a:rPr sz="1400" b="0" lang="fr-FR">
                <a:solidFill>
                  <a:srgbClr val="161616"/>
                </a:solidFill>
                <a:latin typeface="Arial"/>
              </a:rPr>
              <a:t> - Styles &gt; Gérer les styles &gt; modifier Style de paragraphe par défaut, puis régler police et retraits et espacement.</a:t>
            </a:r>
          </a:p>
        </p:txBody>
      </p:sp>
      <p:sp>
        <p:nvSpPr>
          <p:cNvPr id="17" name="DSFR-box"/>
          <p:cNvSpPr/>
          <p:nvPr/>
        </p:nvSpPr>
        <p:spPr>
          <a:xfrm>
            <a:off x="548640" y="50932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1846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Preuve : langue cohérente, corps à 12 points minimum, interligne 1,15 et alignement à gauche.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4</a:t>
            </a:r>
          </a:p>
        </p:txBody>
      </p:sp>
      <p:sp>
        <p:nvSpPr>
          <p:cNvPr id="8" name="DSFR-accent-decoratif" descr=""/>
          <p:cNvSpPr/>
          <p:nvPr/>
        </p:nvSpPr>
        <p:spPr>
          <a:xfrm>
            <a:off x="475488"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932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4 - Casse, accents et sigles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73</a:t>
            </a:r>
            <a:endParaRPr lang="fr-FR" dirty="0"/>
          </a:p>
        </p:txBody>
      </p:sp>
      <p:sp>
        <p:nvSpPr>
          <p:cNvPr id="9" name="DSFR-box"/>
          <p:cNvSpPr/>
          <p:nvPr/>
        </p:nvSpPr>
        <p:spPr>
          <a:xfrm>
            <a:off x="548640"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0116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P-17</a:t>
            </a:r>
            <a:r>
              <a:rPr sz="1400" b="0" lang="fr-FR">
                <a:solidFill>
                  <a:srgbClr val="161616"/>
                </a:solidFill>
                <a:latin typeface="Arial"/>
              </a:rPr>
              <a:t> - Corriger le texte, puis Police &gt; Effets &gt; Majuscules si cette apparence est nécessaire.</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P-18</a:t>
            </a:r>
            <a:r>
              <a:rPr sz="1400" b="0" lang="fr-FR">
                <a:solidFill>
                  <a:srgbClr val="161616"/>
                </a:solidFill>
                <a:latin typeface="Arial"/>
              </a:rPr>
              <a:t> - Développer le terme dans le corps, puis Fichier &gt; Options &gt; Vérification et décocher Ignorer les mots en MAJUSCULES.</a:t>
            </a:r>
          </a:p>
        </p:txBody>
      </p:sp>
      <p:sp>
        <p:nvSpPr>
          <p:cNvPr id="13" name="DSFR-box"/>
          <p:cNvSpPr/>
          <p:nvPr/>
        </p:nvSpPr>
        <p:spPr>
          <a:xfrm>
            <a:off x="6313931"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0116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P-17</a:t>
            </a:r>
            <a:r>
              <a:rPr sz="1400" b="0" lang="fr-FR">
                <a:solidFill>
                  <a:srgbClr val="161616"/>
                </a:solidFill>
                <a:latin typeface="Arial"/>
              </a:rPr>
              <a:t> - Corriger le texte, puis Format &gt; Caractère &gt; Effets de caractères &gt; Majuscules.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P-18</a:t>
            </a:r>
            <a:r>
              <a:rPr sz="1400" b="0" lang="fr-FR">
                <a:solidFill>
                  <a:srgbClr val="161616"/>
                </a:solidFill>
                <a:latin typeface="Arial"/>
              </a:rPr>
              <a:t> - Développer le terme dans le corps, puis Outils &gt; Options &gt; Paramètres linguistiques &gt; Linguistique et vérifier les options de contrôle.</a:t>
            </a:r>
          </a:p>
        </p:txBody>
      </p:sp>
      <p:sp>
        <p:nvSpPr>
          <p:cNvPr id="17" name="DSFR-box"/>
          <p:cNvSpPr/>
          <p:nvPr/>
        </p:nvSpPr>
        <p:spPr>
          <a:xfrm>
            <a:off x="548640" y="50932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1846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Preuve : texte source accentué, première occurrence développée et majuscules contrôlées.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4</a:t>
            </a:r>
          </a:p>
        </p:txBody>
      </p:sp>
      <p:sp>
        <p:nvSpPr>
          <p:cNvPr id="8" name="DSFR-accent-decoratif" descr=""/>
          <p:cNvSpPr/>
          <p:nvPr/>
        </p:nvSpPr>
        <p:spPr>
          <a:xfrm>
            <a:off x="475488"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932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5 - Finaliser, vérifier, exporter et contrôler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74</a:t>
            </a:r>
            <a:endParaRPr lang="fr-FR" dirty="0"/>
          </a:p>
        </p:txBody>
      </p:sp>
      <p:graphicFrame>
        <p:nvGraphicFramePr>
          <p:cNvPr id="8" name="Table 7"/>
          <p:cNvGraphicFramePr>
            <a:graphicFrameLocks noGrp="1"/>
          </p:cNvGraphicFramePr>
          <p:nvPr/>
        </p:nvGraphicFramePr>
        <p:xfrm>
          <a:off x="475488" y="2103120"/>
          <a:ext cx="11228832" cy="2834640"/>
        </p:xfrm>
        <a:graphic>
          <a:graphicData uri="http://schemas.openxmlformats.org/drawingml/2006/table">
            <a:tbl>
              <a:tblPr firstRow="1" bandRow="1">
                <a:tableStyleId>{5C22544A-7EE6-4342-B048-85BDC9FD1C3A}</a:tableStyleId>
              </a:tblPr>
              <a:tblGrid>
                <a:gridCol w="1051560"/>
                <a:gridCol w="1143000"/>
                <a:gridCol w="9034272"/>
              </a:tblGrid>
              <a:tr h="566928">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P-19</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Renseigner les propriétés et le nom du fichier</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P-20</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Exporter un PDF structuré</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C-01</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Utiliser le vérificateur d'accessibilité Word</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C-02</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Contrôler le PDF après export</a:t>
                      </a:r>
                    </a:p>
                  </a:txBody>
                  <a:tcPr marL="91440" marR="91440" marT="45720" marB="45720">
                    <a:solidFill>
                      <a:srgbClr val="F5F5FE"/>
                    </a:solidFill>
                  </a:tcPr>
                </a:tc>
              </a:tr>
            </a:tbl>
          </a:graphicData>
        </a:graphic>
      </p:graphicFrame>
      <p:sp>
        <p:nvSpPr>
          <p:cNvPr id="10" name="DSFR-box"/>
          <p:cNvSpPr/>
          <p:nvPr/>
        </p:nvSpPr>
        <p:spPr>
          <a:xfrm>
            <a:off x="548640" y="50749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16635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outils automatiques filtrent ; la checklist et la vérification humaine concluent.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5</a:t>
            </a:r>
          </a:p>
        </p:txBody>
      </p:sp>
      <p:sp>
        <p:nvSpPr>
          <p:cNvPr id="9" name="DSFR-accent-decoratif" descr=""/>
          <p:cNvSpPr/>
          <p:nvPr/>
        </p:nvSpPr>
        <p:spPr>
          <a:xfrm>
            <a:off x="475488" y="50749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5 - Propriétés et vérificateur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75</a:t>
            </a:r>
            <a:endParaRPr lang="fr-FR" dirty="0"/>
          </a:p>
        </p:txBody>
      </p:sp>
      <p:sp>
        <p:nvSpPr>
          <p:cNvPr id="9" name="DSFR-box"/>
          <p:cNvSpPr/>
          <p:nvPr/>
        </p:nvSpPr>
        <p:spPr>
          <a:xfrm>
            <a:off x="548640" y="2103120"/>
            <a:ext cx="5390388" cy="2926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P-19 [P] - Renseigner les propriétés et le nom du fichier</a:t>
            </a:r>
          </a:p>
        </p:txBody>
      </p:sp>
      <p:sp>
        <p:nvSpPr>
          <p:cNvPr id="11" name="DSFR-card-contenu"/>
          <p:cNvSpPr txBox="1"/>
          <p:nvPr/>
        </p:nvSpPr>
        <p:spPr>
          <a:xfrm>
            <a:off x="704088" y="2697479"/>
            <a:ext cx="5097779" cy="22402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Renseigner titre, auteur et langue puis enregistrer sous un nom descriptif.</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Fichier &gt; Informations &gt; Propriétés &gt; Propriétés avancées, puis Fichier &gt; Enregistrer sous.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Métadonnées inspectées dans le DOCX et nom de sortie relu.</a:t>
            </a:r>
          </a:p>
        </p:txBody>
      </p:sp>
      <p:sp>
        <p:nvSpPr>
          <p:cNvPr id="13" name="DSFR-box"/>
          <p:cNvSpPr/>
          <p:nvPr/>
        </p:nvSpPr>
        <p:spPr>
          <a:xfrm>
            <a:off x="6313931" y="2103120"/>
            <a:ext cx="5390388" cy="2926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C-01 [C] - Utiliser le vérificateur d'accessibilité Word</a:t>
            </a:r>
          </a:p>
        </p:txBody>
      </p:sp>
      <p:sp>
        <p:nvSpPr>
          <p:cNvPr id="15" name="DSFR-card-contenu"/>
          <p:cNvSpPr txBox="1"/>
          <p:nvPr/>
        </p:nvSpPr>
        <p:spPr>
          <a:xfrm>
            <a:off x="6469379" y="2697479"/>
            <a:ext cx="5097779" cy="22402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Traiter les alertes pertinentes et expliquer toute alerte résiduelle ; viser zéro erreur sans en faire une preuve de conformité.</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Révision &gt; Vérifier l'accessibilité, parcourir chaque résultat et utiliser les actions recommandées avec discernement.</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Relevé du vérificateur conservé et alertes résiduelles justifiées.</a:t>
            </a:r>
          </a:p>
        </p:txBody>
      </p:sp>
      <p:sp>
        <p:nvSpPr>
          <p:cNvPr id="16" name="DSFR-texte-libre"/>
          <p:cNvSpPr txBox="1"/>
          <p:nvPr/>
        </p:nvSpPr>
        <p:spPr>
          <a:xfrm>
            <a:off x="475488" y="5193792"/>
            <a:ext cx="11228832" cy="8229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Writer - complément : Fichier &gt; Propriétés, puis Fichier &gt; Enregistrer sous. | Outils &gt; Vérification de l'accessibilité, parcourir les résultats et vérifier manuellement les points non couverts.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5</a:t>
            </a:r>
          </a:p>
        </p:txBody>
      </p:sp>
      <p:sp>
        <p:nvSpPr>
          <p:cNvPr id="8" name="DSFR-accent-decoratif" descr=""/>
          <p:cNvSpPr/>
          <p:nvPr/>
        </p:nvSpPr>
        <p:spPr>
          <a:xfrm>
            <a:off x="475488" y="2103120"/>
            <a:ext cx="73152" cy="2926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926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Étape 5 - Exporter puis contrôler le PDF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Étape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76</a:t>
            </a:r>
            <a:endParaRPr lang="fr-FR" dirty="0"/>
          </a:p>
        </p:txBody>
      </p:sp>
      <p:sp>
        <p:nvSpPr>
          <p:cNvPr id="9" name="DSFR-box"/>
          <p:cNvSpPr/>
          <p:nvPr/>
        </p:nvSpPr>
        <p:spPr>
          <a:xfrm>
            <a:off x="548640" y="2103120"/>
            <a:ext cx="5390388" cy="30175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P-20 [P] - Exporter un PDF structuré</a:t>
            </a:r>
          </a:p>
        </p:txBody>
      </p:sp>
      <p:sp>
        <p:nvSpPr>
          <p:cNvPr id="11" name="DSFR-card-contenu"/>
          <p:cNvSpPr txBox="1"/>
          <p:nvPr/>
        </p:nvSpPr>
        <p:spPr>
          <a:xfrm>
            <a:off x="704088" y="2697479"/>
            <a:ext cx="5097779" cy="233172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Exporter avec propriétés, balises de structure et signets générés depuis les titres.</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Vérifier les propriétés dans Fichier &gt; Informations, puis Fichier &gt; Enregistrer sous ou Exporter &gt; PDF &gt; Options et activer les balises de structure ainsi que les signets issus des titres.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Propriétés et structure inspectées dans le PDF</a:t>
            </a:r>
          </a:p>
        </p:txBody>
      </p:sp>
      <p:sp>
        <p:nvSpPr>
          <p:cNvPr id="13" name="DSFR-box"/>
          <p:cNvSpPr/>
          <p:nvPr/>
        </p:nvSpPr>
        <p:spPr>
          <a:xfrm>
            <a:off x="6313931" y="2103120"/>
            <a:ext cx="5390388" cy="30175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C-02 [C] - Contrôler le PDF après export</a:t>
            </a:r>
          </a:p>
        </p:txBody>
      </p:sp>
      <p:sp>
        <p:nvSpPr>
          <p:cNvPr id="15" name="DSFR-card-contenu"/>
          <p:cNvSpPr txBox="1"/>
          <p:nvPr/>
        </p:nvSpPr>
        <p:spPr>
          <a:xfrm>
            <a:off x="6469379" y="2697479"/>
            <a:ext cx="5097779" cy="233172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Contrôler avec PAC, ou Acrobat Pro en alternative, le titre, la langue, les balises et l'ordre de lecture, puis terminer par la checklist humaine.</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Ouvrir le PDF exporté dans PAC ; utiliser Acrobat Pro comme alternative si PAC n'est pas disponible.</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Rapport PAC ou Acrobat conservé</a:t>
            </a:r>
          </a:p>
        </p:txBody>
      </p:sp>
      <p:sp>
        <p:nvSpPr>
          <p:cNvPr id="16" name="DSFR-texte-libre"/>
          <p:cNvSpPr txBox="1"/>
          <p:nvPr/>
        </p:nvSpPr>
        <p:spPr>
          <a:xfrm>
            <a:off x="475488" y="5230368"/>
            <a:ext cx="11228832" cy="8229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Writer - complément : Vérifier les propriétés dans Fichier &gt; Propriétés, puis Fichier &gt; Exporter vers &gt; Exporter au format PDF et activer PDF balisé ainsi que l'export des repères. | Ouvrir le PDF exporté dans PAC ; utiliser Acrobat Pro comme alternative si PAC n'est pas disponible.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Étape 5</a:t>
            </a:r>
          </a:p>
        </p:txBody>
      </p:sp>
      <p:sp>
        <p:nvSpPr>
          <p:cNvPr id="8" name="DSFR-accent-decoratif" descr=""/>
          <p:cNvSpPr/>
          <p:nvPr/>
        </p:nvSpPr>
        <p:spPr>
          <a:xfrm>
            <a:off x="475488" y="2103120"/>
            <a:ext cx="73152" cy="30175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0175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progressive - Étapes 1 et 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77</a:t>
            </a:r>
            <a:endParaRPr lang="fr-FR" dirty="0"/>
          </a:p>
        </p:txBody>
      </p:sp>
      <p:sp>
        <p:nvSpPr>
          <p:cNvPr id="9" name="DSFR-box"/>
          <p:cNvSpPr/>
          <p:nvPr/>
        </p:nvSpPr>
        <p:spPr>
          <a:xfrm>
            <a:off x="548640"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Structurer et naviguer</a:t>
            </a:r>
          </a:p>
        </p:txBody>
      </p:sp>
      <p:sp>
        <p:nvSpPr>
          <p:cNvPr id="11" name="DSFR-card-contenu"/>
          <p:cNvSpPr txBox="1"/>
          <p:nvPr/>
        </p:nvSpPr>
        <p:spPr>
          <a:xfrm>
            <a:off x="704088" y="2697479"/>
            <a:ext cx="5097779" cy="3429000"/>
          </a:xfrm>
          <a:prstGeom prst="rect">
            <a:avLst/>
          </a:prstGeom>
          <a:noFill/>
        </p:spPr>
        <p:txBody>
          <a:bodyPr wrap="square" lIns="73152" rIns="73152">
            <a:spAutoFit/>
          </a:bodyPr>
          <a:lstStyle/>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P-01 [P]</a:t>
            </a:r>
            <a:r>
              <a:rPr sz="1400" b="0" lang="fr-FR">
                <a:solidFill>
                  <a:srgbClr val="161616"/>
                </a:solidFill>
                <a:latin typeface="Arial"/>
              </a:rPr>
              <a:t> - Le titre principal et les titres de section utilisent des styles adaptés.</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P-02 [P]</a:t>
            </a:r>
            <a:r>
              <a:rPr sz="1400" b="0" lang="fr-FR">
                <a:solidFill>
                  <a:srgbClr val="161616"/>
                </a:solidFill>
                <a:latin typeface="Arial"/>
              </a:rPr>
              <a:t> - La hiérarchie des titres ne saute aucun niveau.</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P-03 [P]</a:t>
            </a:r>
            <a:r>
              <a:rPr sz="1400" b="0" lang="fr-FR">
                <a:solidFill>
                  <a:srgbClr val="161616"/>
                </a:solidFill>
                <a:latin typeface="Arial"/>
              </a:rPr>
              <a:t> - Le volet de navigation et le sommaire automatique reflètent le même plan.</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P-04 [P]</a:t>
            </a:r>
            <a:r>
              <a:rPr sz="1400" b="0" lang="fr-FR">
                <a:solidFill>
                  <a:srgbClr val="161616"/>
                </a:solidFill>
                <a:latin typeface="Arial"/>
              </a:rPr>
              <a:t> - Les listes sont créées avec les fonctions de puces ou de numérotation.</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P-05 [P]</a:t>
            </a:r>
            <a:r>
              <a:rPr sz="1400" b="0" lang="fr-FR">
                <a:solidFill>
                  <a:srgbClr val="161616"/>
                </a:solidFill>
                <a:latin typeface="Arial"/>
              </a:rPr>
              <a:t> - La mise en page n'est pas simulée par des caractères ou des paragraphes vides.</a:t>
            </a:r>
          </a:p>
        </p:txBody>
      </p:sp>
      <p:sp>
        <p:nvSpPr>
          <p:cNvPr id="13" name="DSFR-box"/>
          <p:cNvSpPr/>
          <p:nvPr/>
        </p:nvSpPr>
        <p:spPr>
          <a:xfrm>
            <a:off x="6313931"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Rendre les contenus et les liens compréhensibles</a:t>
            </a:r>
          </a:p>
        </p:txBody>
      </p:sp>
      <p:sp>
        <p:nvSpPr>
          <p:cNvPr id="15" name="DSFR-card-contenu"/>
          <p:cNvSpPr txBox="1"/>
          <p:nvPr/>
        </p:nvSpPr>
        <p:spPr>
          <a:xfrm>
            <a:off x="6469379" y="2697479"/>
            <a:ext cx="5097779" cy="3429000"/>
          </a:xfrm>
          <a:prstGeom prst="rect">
            <a:avLst/>
          </a:prstGeom>
          <a:noFill/>
        </p:spPr>
        <p:txBody>
          <a:bodyPr wrap="square" lIns="73152" rIns="73152">
            <a:spAutoFit/>
          </a:bodyPr>
          <a:lstStyle/>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P-06 [P]</a:t>
            </a:r>
            <a:r>
              <a:rPr sz="1400" b="0" lang="fr-FR">
                <a:solidFill>
                  <a:srgbClr val="161616"/>
                </a:solidFill>
                <a:latin typeface="Arial"/>
              </a:rPr>
              <a:t> - Chaque image informative simple possède une alternative pertinente.</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P-07 [P]</a:t>
            </a:r>
            <a:r>
              <a:rPr sz="1400" b="0" lang="fr-FR">
                <a:solidFill>
                  <a:srgbClr val="161616"/>
                </a:solidFill>
                <a:latin typeface="Arial"/>
              </a:rPr>
              <a:t> - Une image complexe possède une alternative courte et une description détaillée adjacente.</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P-08 [P]</a:t>
            </a:r>
            <a:r>
              <a:rPr sz="1400" b="0" lang="fr-FR">
                <a:solidFill>
                  <a:srgbClr val="161616"/>
                </a:solidFill>
                <a:latin typeface="Arial"/>
              </a:rPr>
              <a:t> - Les images redondantes sont traitées comme décoratives sans masquer d'information.</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P-09 [P]</a:t>
            </a:r>
            <a:r>
              <a:rPr sz="1400" b="0" lang="fr-FR">
                <a:solidFill>
                  <a:srgbClr val="161616"/>
                </a:solidFill>
                <a:latin typeface="Arial"/>
              </a:rPr>
              <a:t> - Les informations textuelles sont fournies en vrai texte, pas seulement en image.</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P-10 [P]</a:t>
            </a:r>
            <a:r>
              <a:rPr sz="1400" b="0" lang="fr-FR">
                <a:solidFill>
                  <a:srgbClr val="161616"/>
                </a:solidFill>
                <a:latin typeface="Arial"/>
              </a:rPr>
              <a:t> - Chaque lien est compréhensible hors contexte et chaque téléchargement est décrit.</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P-11 [P]</a:t>
            </a:r>
            <a:r>
              <a:rPr sz="1400" b="0" lang="fr-FR">
                <a:solidFill>
                  <a:srgbClr val="161616"/>
                </a:solidFill>
                <a:latin typeface="Arial"/>
              </a:rPr>
              <a:t> - Toute information essentielle portée par un en-tête, un filigrane ou un arrière-plan est aussi présente dans le corps.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progressive - Étapes 3 et 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78</a:t>
            </a:r>
            <a:endParaRPr lang="fr-FR" dirty="0"/>
          </a:p>
        </p:txBody>
      </p:sp>
      <p:sp>
        <p:nvSpPr>
          <p:cNvPr id="9" name="DSFR-box"/>
          <p:cNvSpPr/>
          <p:nvPr/>
        </p:nvSpPr>
        <p:spPr>
          <a:xfrm>
            <a:off x="548640"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Sécuriser couleurs, graphiques et tableaux</a:t>
            </a:r>
          </a:p>
        </p:txBody>
      </p:sp>
      <p:sp>
        <p:nvSpPr>
          <p:cNvPr id="11" name="DSFR-card-contenu"/>
          <p:cNvSpPr txBox="1"/>
          <p:nvPr/>
        </p:nvSpPr>
        <p:spPr>
          <a:xfrm>
            <a:off x="704088" y="2697479"/>
            <a:ext cx="5097779" cy="3429000"/>
          </a:xfrm>
          <a:prstGeom prst="rect">
            <a:avLst/>
          </a:prstGeom>
          <a:noFill/>
        </p:spPr>
        <p:txBody>
          <a:bodyPr wrap="square" lIns="73152" rIns="73152">
            <a:spAutoFit/>
          </a:bodyPr>
          <a:lstStyle/>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P-12 [P]</a:t>
            </a:r>
            <a:r>
              <a:rPr sz="1400" b="0" lang="fr-FR">
                <a:solidFill>
                  <a:srgbClr val="161616"/>
                </a:solidFill>
                <a:latin typeface="Arial"/>
              </a:rPr>
              <a:t> - Les contrastes sont mesurés et atteignent le seuil correspondant au contenu.</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P-13 [P]</a:t>
            </a:r>
            <a:r>
              <a:rPr sz="1400" b="0" lang="fr-FR">
                <a:solidFill>
                  <a:srgbClr val="161616"/>
                </a:solidFill>
                <a:latin typeface="Arial"/>
              </a:rPr>
              <a:t> - Une information donnée par la couleur possède aussi un repère non coloré.</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P-14 [P]</a:t>
            </a:r>
            <a:r>
              <a:rPr sz="1400" b="0" lang="fr-FR">
                <a:solidFill>
                  <a:srgbClr val="161616"/>
                </a:solidFill>
                <a:latin typeface="Arial"/>
              </a:rPr>
              <a:t> - Les tableaux de données sont simples, titrés et possèdent des en-têtes identifiés.</a:t>
            </a:r>
          </a:p>
        </p:txBody>
      </p:sp>
      <p:sp>
        <p:nvSpPr>
          <p:cNvPr id="13" name="DSFR-box"/>
          <p:cNvSpPr/>
          <p:nvPr/>
        </p:nvSpPr>
        <p:spPr>
          <a:xfrm>
            <a:off x="6313931"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Régler langues et lisibilité</a:t>
            </a:r>
          </a:p>
        </p:txBody>
      </p:sp>
      <p:sp>
        <p:nvSpPr>
          <p:cNvPr id="15" name="DSFR-card-contenu"/>
          <p:cNvSpPr txBox="1"/>
          <p:nvPr/>
        </p:nvSpPr>
        <p:spPr>
          <a:xfrm>
            <a:off x="6469379" y="2697479"/>
            <a:ext cx="5097779" cy="3429000"/>
          </a:xfrm>
          <a:prstGeom prst="rect">
            <a:avLst/>
          </a:prstGeom>
          <a:noFill/>
        </p:spPr>
        <p:txBody>
          <a:bodyPr wrap="square" lIns="73152" rIns="73152">
            <a:spAutoFit/>
          </a:bodyPr>
          <a:lstStyle/>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P-15 [P]</a:t>
            </a:r>
            <a:r>
              <a:rPr sz="1400" b="0" lang="fr-FR">
                <a:solidFill>
                  <a:srgbClr val="161616"/>
                </a:solidFill>
                <a:latin typeface="Arial"/>
              </a:rPr>
              <a:t> - La langue principale et les changements de langue sont correctement définis.</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P-16 [P]</a:t>
            </a:r>
            <a:r>
              <a:rPr sz="1400" b="0" lang="fr-FR">
                <a:solidFill>
                  <a:srgbClr val="161616"/>
                </a:solidFill>
                <a:latin typeface="Arial"/>
              </a:rPr>
              <a:t> - Le corps utilise une police sans sérif, au moins 12 points, un interligne de 1,15 et un alignement à gauche.</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P-17 [P]</a:t>
            </a:r>
            <a:r>
              <a:rPr sz="1400" b="0" lang="fr-FR">
                <a:solidFill>
                  <a:srgbClr val="161616"/>
                </a:solidFill>
                <a:latin typeface="Arial"/>
              </a:rPr>
              <a:t> - Les mots sont saisis normalement avec leurs accents avant toute mise en forme en majuscules.</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P-18 [P]</a:t>
            </a:r>
            <a:r>
              <a:rPr sz="1400" b="0" lang="fr-FR">
                <a:solidFill>
                  <a:srgbClr val="161616"/>
                </a:solidFill>
                <a:latin typeface="Arial"/>
              </a:rPr>
              <a:t> - Les sigles sont développés à leur première occurrence et les majuscules sont vérifiées.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progressive - Étape 5 et points signalés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79</a:t>
            </a:r>
            <a:endParaRPr lang="fr-FR" dirty="0"/>
          </a:p>
        </p:txBody>
      </p:sp>
      <p:sp>
        <p:nvSpPr>
          <p:cNvPr id="9" name="DSFR-box"/>
          <p:cNvSpPr/>
          <p:nvPr/>
        </p:nvSpPr>
        <p:spPr>
          <a:xfrm>
            <a:off x="548640"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Finaliser, vérifier, exporter et contrôler</a:t>
            </a:r>
          </a:p>
        </p:txBody>
      </p:sp>
      <p:sp>
        <p:nvSpPr>
          <p:cNvPr id="11" name="DSFR-card-contenu"/>
          <p:cNvSpPr txBox="1"/>
          <p:nvPr/>
        </p:nvSpPr>
        <p:spPr>
          <a:xfrm>
            <a:off x="704088" y="2697479"/>
            <a:ext cx="5097779" cy="3429000"/>
          </a:xfrm>
          <a:prstGeom prst="rect">
            <a:avLst/>
          </a:prstGeom>
          <a:noFill/>
        </p:spPr>
        <p:txBody>
          <a:bodyPr wrap="square" lIns="73152" rIns="73152">
            <a:spAutoFit/>
          </a:bodyPr>
          <a:lstStyle/>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P-19 [P]</a:t>
            </a:r>
            <a:r>
              <a:rPr sz="1400" b="0" lang="fr-FR">
                <a:solidFill>
                  <a:srgbClr val="161616"/>
                </a:solidFill>
                <a:latin typeface="Arial"/>
              </a:rPr>
              <a:t> - Le titre, l'auteur, la langue et le nom de fichier sont renseignés de façon descriptive.</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P-20 [P]</a:t>
            </a:r>
            <a:r>
              <a:rPr sz="1400" b="0" lang="fr-FR">
                <a:solidFill>
                  <a:srgbClr val="161616"/>
                </a:solidFill>
                <a:latin typeface="Arial"/>
              </a:rPr>
              <a:t> - Le PDF est exporté avec ses propriétés, ses balises et ses signets.</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C-01 [C]</a:t>
            </a:r>
            <a:r>
              <a:rPr sz="1400" b="0" lang="fr-FR">
                <a:solidFill>
                  <a:srgbClr val="161616"/>
                </a:solidFill>
                <a:latin typeface="Arial"/>
              </a:rPr>
              <a:t> - Le vérificateur a été exécuté, ses alertes pertinentes traitées et les alertes résiduelles expliquées.</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C-02 [C]</a:t>
            </a:r>
            <a:r>
              <a:rPr sz="1400" b="0" lang="fr-FR">
                <a:solidFill>
                  <a:srgbClr val="161616"/>
                </a:solidFill>
                <a:latin typeface="Arial"/>
              </a:rPr>
              <a:t> - Le PDF a été contrôlé après export avec PAC ou Acrobat Pro puis avec la checklist humaine.</a:t>
            </a:r>
          </a:p>
        </p:txBody>
      </p:sp>
      <p:sp>
        <p:nvSpPr>
          <p:cNvPr id="13" name="DSFR-box"/>
          <p:cNvSpPr/>
          <p:nvPr/>
        </p:nvSpPr>
        <p:spPr>
          <a:xfrm>
            <a:off x="6313931"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Contrôles signalés</a:t>
            </a:r>
          </a:p>
        </p:txBody>
      </p:sp>
      <p:sp>
        <p:nvSpPr>
          <p:cNvPr id="15" name="DSFR-card-contenu"/>
          <p:cNvSpPr txBox="1"/>
          <p:nvPr/>
        </p:nvSpPr>
        <p:spPr>
          <a:xfrm>
            <a:off x="6469379" y="2697479"/>
            <a:ext cx="5097779" cy="3429000"/>
          </a:xfrm>
          <a:prstGeom prst="rect">
            <a:avLst/>
          </a:prstGeom>
          <a:noFill/>
        </p:spPr>
        <p:txBody>
          <a:bodyPr wrap="square" lIns="73152" rIns="73152">
            <a:spAutoFit/>
          </a:bodyPr>
          <a:lstStyle/>
          <a:p>
            <a:pPr algn="l">
              <a:lnSpc>
                <a:spcPct val="120000"/>
              </a:lnSpc>
              <a:spcAft>
                <a:spcPts val="600"/>
              </a:spcAft>
            </a:pPr>
            <a:r>
              <a:rPr sz="1400" lang="fr-FR">
                <a:solidFill>
                  <a:srgbClr val="161616"/>
                </a:solidFill>
                <a:latin typeface="Arial"/>
              </a:rPr>
              <a:t>• </a:t>
            </a:r>
            <a:r>
              <a:rPr sz="1400" b="1" lang="fr-FR">
                <a:solidFill>
                  <a:srgbClr val="161616"/>
                </a:solidFill>
                <a:latin typeface="Arial"/>
              </a:rPr>
              <a:t>S-01 [S]</a:t>
            </a:r>
            <a:r>
              <a:rPr sz="1400" b="0" lang="fr-FR">
                <a:solidFill>
                  <a:srgbClr val="161616"/>
                </a:solidFill>
                <a:latin typeface="Arial"/>
              </a:rPr>
              <a:t> - Le document n'est pas protégé lorsque sa modification doit rester possible.</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S-02 [S]</a:t>
            </a:r>
            <a:r>
              <a:rPr sz="1400" b="0" lang="fr-FR">
                <a:solidFill>
                  <a:srgbClr val="161616"/>
                </a:solidFill>
                <a:latin typeface="Arial"/>
              </a:rPr>
              <a:t> - Le document ne contient aucun contenu clignotant.</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S-03 [S]</a:t>
            </a:r>
            <a:r>
              <a:rPr sz="1400" b="0" lang="fr-FR">
                <a:solidFill>
                  <a:srgbClr val="161616"/>
                </a:solidFill>
                <a:latin typeface="Arial"/>
              </a:rPr>
              <a:t> - Le document ne contient pas de formulaire Word interactif.</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S-04 [S]</a:t>
            </a:r>
            <a:r>
              <a:rPr sz="1400" b="0" lang="fr-FR">
                <a:solidFill>
                  <a:srgbClr val="161616"/>
                </a:solidFill>
                <a:latin typeface="Arial"/>
              </a:rPr>
              <a:t> - Les objets et zones de texte flottants ne portent aucune information essentielle.</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S-05 [S]</a:t>
            </a:r>
            <a:r>
              <a:rPr sz="1400" b="0" lang="fr-FR">
                <a:solidFill>
                  <a:srgbClr val="161616"/>
                </a:solidFill>
                <a:latin typeface="Arial"/>
              </a:rPr>
              <a:t> - Les tableaux ne servent pas à la mise en page et ne sont pas flottants.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Synthèse de la matinée - de l'intention à la preuve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Matin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80</a:t>
            </a:r>
            <a:endParaRPr lang="fr-FR" dirty="0"/>
          </a:p>
        </p:txBody>
      </p:sp>
      <p:sp>
        <p:nvSpPr>
          <p:cNvPr id="9" name="DSFR-box"/>
          <p:cNvSpPr/>
          <p:nvPr/>
        </p:nvSpPr>
        <p:spPr>
          <a:xfrm>
            <a:off x="548640" y="2103120"/>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nous retenons</a:t>
            </a:r>
          </a:p>
        </p:txBody>
      </p:sp>
      <p:sp>
        <p:nvSpPr>
          <p:cNvPr id="11" name="DSFR-card-contenu"/>
          <p:cNvSpPr txBox="1"/>
          <p:nvPr/>
        </p:nvSpPr>
        <p:spPr>
          <a:xfrm>
            <a:off x="704088" y="2697479"/>
            <a:ext cx="5097779" cy="17373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L'environnement peut créer ou supprimer une situation de handicap</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La structure et le sens comptent autant que l'apparence</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Une correction doit produire une preuve vérifiable</a:t>
            </a:r>
          </a:p>
        </p:txBody>
      </p:sp>
      <p:sp>
        <p:nvSpPr>
          <p:cNvPr id="13" name="DSFR-box"/>
          <p:cNvSpPr/>
          <p:nvPr/>
        </p:nvSpPr>
        <p:spPr>
          <a:xfrm>
            <a:off x="6313931" y="2103120"/>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Questions et transition</a:t>
            </a:r>
          </a:p>
        </p:txBody>
      </p:sp>
      <p:sp>
        <p:nvSpPr>
          <p:cNvPr id="15" name="DSFR-card-contenu"/>
          <p:cNvSpPr txBox="1"/>
          <p:nvPr/>
        </p:nvSpPr>
        <p:spPr>
          <a:xfrm>
            <a:off x="6469379" y="2697479"/>
            <a:ext cx="5097779" cy="17373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Quel réflexe allez-vous réutiliser dans votre prochain document ?</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Quel point demande encore une clarification ?</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Après les documents, nous appliquerons la même démarche au Web</a:t>
            </a:r>
          </a:p>
        </p:txBody>
      </p:sp>
      <p:sp>
        <p:nvSpPr>
          <p:cNvPr id="17" name="DSFR-box"/>
          <p:cNvSpPr/>
          <p:nvPr/>
        </p:nvSpPr>
        <p:spPr>
          <a:xfrm>
            <a:off x="548640" y="48920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98347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Structurer, rendre compréhensible, vérifier avec les outils, puis contrôler humainement.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Synthèse de la matinée</a:t>
            </a:r>
          </a:p>
        </p:txBody>
      </p:sp>
      <p:sp>
        <p:nvSpPr>
          <p:cNvPr id="8" name="DSFR-accent-decoratif" descr=""/>
          <p:cNvSpPr/>
          <p:nvPr/>
        </p:nvSpPr>
        <p:spPr>
          <a:xfrm>
            <a:off x="475488" y="2103120"/>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920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III - Web accessible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81</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Repérer les erreurs fréquentes</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les images et les titres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Contrôler les contrastes, les liens et le clavier</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Tester la langue, le zoom et les médias</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Examiner les formulaires et réaliser un audit rapide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82</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WebAIM analyse automatiquement les pages d’accueil : c’est un thermomètre, pas un audit RGAA complet.</a:t>
            </a:r>
          </a:p>
          <a:p>
            <a:pPr algn="l">
              <a:lnSpc>
                <a:spcPct val="115000"/>
              </a:lnSpc>
            </a:pPr>
            <a:r>
              <a:rPr sz="1400" lang="fr-FR">
                <a:solidFill>
                  <a:srgbClr val="161616"/>
                </a:solidFill>
                <a:latin typeface="Arial"/>
              </a:rPr>
              <a:t>• </a:t>
            </a:r>
            <a:r>
              <a:rPr sz="1400" b="0" lang="fr-FR">
                <a:solidFill>
                  <a:srgbClr val="161616"/>
                </a:solidFill>
                <a:latin typeface="Arial"/>
              </a:rPr>
              <a:t>L’absence d’erreur détectée ne prouve pas qu’une page est accessible.</a:t>
            </a:r>
          </a:p>
          <a:p>
            <a:pPr algn="l">
              <a:lnSpc>
                <a:spcPct val="115000"/>
              </a:lnSpc>
            </a:pPr>
            <a:r>
              <a:rPr sz="1400" lang="fr-FR">
                <a:solidFill>
                  <a:srgbClr val="161616"/>
                </a:solidFill>
                <a:latin typeface="Arial"/>
              </a:rPr>
              <a:t>• </a:t>
            </a:r>
            <a:r>
              <a:rPr sz="1400" b="0" lang="fr-FR">
                <a:solidFill>
                  <a:srgbClr val="161616"/>
                </a:solidFill>
                <a:latin typeface="Arial"/>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83</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Arial"/>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Arial"/>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Ces six familles représentent 96 % des erreurs détectées par WebAIM.</a:t>
            </a:r>
          </a:p>
          <a:p>
            <a:pPr algn="l">
              <a:lnSpc>
                <a:spcPct val="115000"/>
              </a:lnSpc>
            </a:pPr>
            <a:r>
              <a:rPr sz="1400" lang="fr-FR">
                <a:solidFill>
                  <a:srgbClr val="161616"/>
                </a:solidFill>
                <a:latin typeface="Arial"/>
              </a:rPr>
              <a:t>• </a:t>
            </a:r>
            <a:r>
              <a:rPr sz="1400" b="0" lang="fr-FR">
                <a:solidFill>
                  <a:srgbClr val="161616"/>
                </a:solidFill>
                <a:latin typeface="Arial"/>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85</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Concis : une phrase courte, centrée sur l’information utile</a:t>
            </a:r>
          </a:p>
          <a:p>
            <a:pPr algn="l">
              <a:lnSpc>
                <a:spcPct val="125000"/>
              </a:lnSpc>
            </a:pPr>
            <a:r>
              <a:rPr sz="1400" lang="fr-FR">
                <a:solidFill>
                  <a:srgbClr val="161616"/>
                </a:solidFill>
                <a:latin typeface="Arial"/>
              </a:rPr>
              <a:t>• </a:t>
            </a:r>
            <a:r>
              <a:rPr sz="1400" b="0" lang="fr-FR">
                <a:solidFill>
                  <a:srgbClr val="161616"/>
                </a:solidFill>
                <a:latin typeface="Arial"/>
              </a:rPr>
              <a:t>Objectif : décrit, ne commente pas</a:t>
            </a:r>
          </a:p>
          <a:p>
            <a:pPr algn="l">
              <a:lnSpc>
                <a:spcPct val="125000"/>
              </a:lnSpc>
            </a:pPr>
            <a:r>
              <a:rPr sz="1400" lang="fr-FR">
                <a:solidFill>
                  <a:srgbClr val="161616"/>
                </a:solidFill>
                <a:latin typeface="Arial"/>
              </a:rPr>
              <a:t>• </a:t>
            </a:r>
            <a:r>
              <a:rPr sz="1400" b="0" lang="fr-FR">
                <a:solidFill>
                  <a:srgbClr val="161616"/>
                </a:solidFill>
                <a:latin typeface="Arial"/>
              </a:rPr>
              <a:t>Pas de « photo de » ni « image de » - le lecteur d’écran le dit déjà</a:t>
            </a:r>
          </a:p>
          <a:p>
            <a:pPr algn="l">
              <a:lnSpc>
                <a:spcPct val="125000"/>
              </a:lnSpc>
            </a:pPr>
            <a:r>
              <a:rPr sz="1400" lang="fr-FR">
                <a:solidFill>
                  <a:srgbClr val="161616"/>
                </a:solidFill>
                <a:latin typeface="Arial"/>
              </a:rPr>
              <a:t>• </a:t>
            </a:r>
            <a:r>
              <a:rPr sz="1400" b="0" lang="fr-FR">
                <a:solidFill>
                  <a:srgbClr val="161616"/>
                </a:solidFill>
                <a:latin typeface="Arial"/>
              </a:rPr>
              <a:t>Contextuel : ce qui compte dans cette page, pas tout ce qui est visible</a:t>
            </a:r>
          </a:p>
          <a:p>
            <a:pPr algn="l">
              <a:lnSpc>
                <a:spcPct val="125000"/>
              </a:lnSpc>
            </a:pPr>
            <a:r>
              <a:rPr sz="1400" lang="fr-FR">
                <a:solidFill>
                  <a:srgbClr val="161616"/>
                </a:solidFill>
                <a:latin typeface="Arial"/>
              </a:rPr>
              <a:t>• </a:t>
            </a:r>
            <a:r>
              <a:rPr sz="1400" b="0" lang="fr-FR">
                <a:solidFill>
                  <a:srgbClr val="161616"/>
                </a:solidFill>
                <a:latin typeface="Arial"/>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Un nom de fichier (IMG_4578.jpg) en guise de texte alternatif = information perdue</a:t>
            </a:r>
          </a:p>
          <a:p>
            <a:pPr algn="l">
              <a:lnSpc>
                <a:spcPct val="150000"/>
              </a:lnSpc>
            </a:pPr>
            <a:r>
              <a:rPr sz="1400" lang="fr-FR">
                <a:solidFill>
                  <a:srgbClr val="161616"/>
                </a:solidFill>
                <a:latin typeface="Arial"/>
              </a:rPr>
              <a:t>• </a:t>
            </a:r>
            <a:r>
              <a:rPr sz="1400" b="0" lang="fr-FR">
                <a:solidFill>
                  <a:srgbClr val="161616"/>
                </a:solidFill>
                <a:latin typeface="Arial"/>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86</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Arial"/>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page a un titre unique, différent des autres pages du site</a:t>
            </a:r>
          </a:p>
          <a:p>
            <a:pPr algn="l">
              <a:lnSpc>
                <a:spcPct val="125000"/>
              </a:lnSpc>
            </a:pPr>
            <a:r>
              <a:rPr sz="1400" lang="fr-FR">
                <a:solidFill>
                  <a:srgbClr val="161616"/>
                </a:solidFill>
                <a:latin typeface="Arial"/>
              </a:rPr>
              <a:t>• </a:t>
            </a:r>
            <a:r>
              <a:rPr sz="1400" b="0" lang="fr-FR">
                <a:solidFill>
                  <a:srgbClr val="161616"/>
                </a:solidFill>
                <a:latin typeface="Arial"/>
              </a:rPr>
              <a:t>Le titre décrit le contenu puis le nom du site (« Déclarer - impots.gouv.fr »)</a:t>
            </a:r>
          </a:p>
          <a:p>
            <a:pPr algn="l">
              <a:lnSpc>
                <a:spcPct val="125000"/>
              </a:lnSpc>
            </a:pPr>
            <a:r>
              <a:rPr sz="1400" lang="fr-FR">
                <a:solidFill>
                  <a:srgbClr val="161616"/>
                </a:solidFill>
                <a:latin typeface="Arial"/>
              </a:rPr>
              <a:t>• </a:t>
            </a:r>
            <a:r>
              <a:rPr sz="1400" b="0" lang="fr-FR">
                <a:solidFill>
                  <a:srgbClr val="161616"/>
                </a:solidFill>
                <a:latin typeface="Arial"/>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OK : « Résultats de recherche : accessibilité - Ministère de la Culture »</a:t>
            </a:r>
          </a:p>
          <a:p>
            <a:pPr algn="l">
              <a:lnSpc>
                <a:spcPct val="150000"/>
              </a:lnSpc>
            </a:pPr>
            <a:r>
              <a:rPr sz="1400" lang="fr-FR">
                <a:solidFill>
                  <a:srgbClr val="161616"/>
                </a:solidFill>
                <a:latin typeface="Arial"/>
              </a:rPr>
              <a:t>• </a:t>
            </a:r>
            <a:r>
              <a:rPr sz="1400" b="0" lang="fr-FR">
                <a:solidFill>
                  <a:srgbClr val="161616"/>
                </a:solidFill>
                <a:latin typeface="Arial"/>
              </a:rPr>
              <a:t>KO : « Accueil » sur chaque page du site</a:t>
            </a:r>
          </a:p>
          <a:p>
            <a:pPr algn="l">
              <a:lnSpc>
                <a:spcPct val="150000"/>
              </a:lnSpc>
            </a:pPr>
            <a:r>
              <a:rPr sz="1400" lang="fr-FR">
                <a:solidFill>
                  <a:srgbClr val="161616"/>
                </a:solidFill>
                <a:latin typeface="Arial"/>
              </a:rPr>
              <a:t>• </a:t>
            </a:r>
            <a:r>
              <a:rPr sz="1400" b="0" lang="fr-FR">
                <a:solidFill>
                  <a:srgbClr val="161616"/>
                </a:solidFill>
                <a:latin typeface="Arial"/>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seul H1 par page, qui reprend le sujet principal</a:t>
            </a:r>
          </a:p>
          <a:p>
            <a:pPr algn="l">
              <a:lnSpc>
                <a:spcPct val="125000"/>
              </a:lnSpc>
            </a:pPr>
            <a:r>
              <a:rPr sz="1400" lang="fr-FR">
                <a:solidFill>
                  <a:srgbClr val="161616"/>
                </a:solidFill>
                <a:latin typeface="Arial"/>
              </a:rPr>
              <a:t>• </a:t>
            </a:r>
            <a:r>
              <a:rPr sz="1400" b="0" lang="fr-FR">
                <a:solidFill>
                  <a:srgbClr val="161616"/>
                </a:solidFill>
                <a:latin typeface="Arial"/>
              </a:rPr>
              <a:t>Les niveaux s’emboîtent sans saut : H1 → H2 → H3, jamais H2 → H4</a:t>
            </a:r>
          </a:p>
          <a:p>
            <a:pPr algn="l">
              <a:lnSpc>
                <a:spcPct val="125000"/>
              </a:lnSpc>
            </a:pPr>
            <a:r>
              <a:rPr sz="1400" lang="fr-FR">
                <a:solidFill>
                  <a:srgbClr val="161616"/>
                </a:solidFill>
                <a:latin typeface="Arial"/>
              </a:rPr>
              <a:t>• </a:t>
            </a:r>
            <a:r>
              <a:rPr sz="1400" b="0" lang="fr-FR">
                <a:solidFill>
                  <a:srgbClr val="161616"/>
                </a:solidFill>
                <a:latin typeface="Arial"/>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89</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Arial"/>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Arial"/>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Arial"/>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Arial"/>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rapport entre la couleur du texte et celle du fond (ou l’arrière-plan visible)</a:t>
            </a:r>
          </a:p>
          <a:p>
            <a:pPr algn="l">
              <a:lnSpc>
                <a:spcPct val="125000"/>
              </a:lnSpc>
            </a:pPr>
            <a:r>
              <a:rPr sz="1400" lang="fr-FR">
                <a:solidFill>
                  <a:srgbClr val="161616"/>
                </a:solidFill>
                <a:latin typeface="Arial"/>
              </a:rPr>
              <a:t>• </a:t>
            </a:r>
            <a:r>
              <a:rPr sz="1400" b="0" lang="fr-FR">
                <a:solidFill>
                  <a:srgbClr val="161616"/>
                </a:solidFill>
                <a:latin typeface="Arial"/>
              </a:rPr>
              <a:t>Sur un dégradé ou une image, mesurer à l’endroit le moins contrasté</a:t>
            </a:r>
          </a:p>
          <a:p>
            <a:pPr algn="l">
              <a:lnSpc>
                <a:spcPct val="125000"/>
              </a:lnSpc>
            </a:pPr>
            <a:r>
              <a:rPr sz="1400" lang="fr-FR">
                <a:solidFill>
                  <a:srgbClr val="161616"/>
                </a:solidFill>
                <a:latin typeface="Arial"/>
              </a:rPr>
              <a:t>• </a:t>
            </a:r>
            <a:r>
              <a:rPr sz="1400" b="0" lang="fr-FR">
                <a:solidFill>
                  <a:srgbClr val="161616"/>
                </a:solidFill>
                <a:latin typeface="Arial"/>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91</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Arial"/>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Arial"/>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Arial"/>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Arial"/>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Texte gris clair sur fond blanc (#999 sur #FFF) : 2,85:1 - échec même en texte large</a:t>
            </a:r>
          </a:p>
          <a:p>
            <a:pPr algn="l">
              <a:lnSpc>
                <a:spcPct val="150000"/>
              </a:lnSpc>
            </a:pPr>
            <a:r>
              <a:rPr sz="1400" lang="fr-FR">
                <a:solidFill>
                  <a:srgbClr val="161616"/>
                </a:solidFill>
                <a:latin typeface="Arial"/>
              </a:rPr>
              <a:t>• </a:t>
            </a:r>
            <a:r>
              <a:rPr sz="1400" b="0" lang="fr-FR">
                <a:solidFill>
                  <a:srgbClr val="161616"/>
                </a:solidFill>
                <a:latin typeface="Arial"/>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premier lien interactif permet d’aller directement au contenu principal</a:t>
            </a:r>
          </a:p>
          <a:p>
            <a:pPr algn="l">
              <a:lnSpc>
                <a:spcPct val="125000"/>
              </a:lnSpc>
            </a:pPr>
            <a:r>
              <a:rPr sz="1400" lang="fr-FR">
                <a:solidFill>
                  <a:srgbClr val="161616"/>
                </a:solidFill>
                <a:latin typeface="Arial"/>
              </a:rPr>
              <a:t>• </a:t>
            </a:r>
            <a:r>
              <a:rPr sz="1400" b="0" lang="fr-FR">
                <a:solidFill>
                  <a:srgbClr val="161616"/>
                </a:solidFill>
                <a:latin typeface="Arial"/>
              </a:rPr>
              <a:t>Il devient visible dès qu’il a le focus, même s’il était masqué</a:t>
            </a:r>
          </a:p>
          <a:p>
            <a:pPr algn="l">
              <a:lnSpc>
                <a:spcPct val="125000"/>
              </a:lnSpc>
            </a:pPr>
            <a:r>
              <a:rPr sz="1400" lang="fr-FR">
                <a:solidFill>
                  <a:srgbClr val="161616"/>
                </a:solidFill>
                <a:latin typeface="Arial"/>
              </a:rPr>
              <a:t>• </a:t>
            </a:r>
            <a:r>
              <a:rPr sz="1400" b="0" lang="fr-FR">
                <a:solidFill>
                  <a:srgbClr val="161616"/>
                </a:solidFill>
                <a:latin typeface="Arial"/>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Ouvrez gouvernement.fr et appuyez Tab : le lien « Contenu » apparaît en haut</a:t>
            </a:r>
          </a:p>
          <a:p>
            <a:pPr algn="l">
              <a:lnSpc>
                <a:spcPct val="150000"/>
              </a:lnSpc>
            </a:pPr>
            <a:r>
              <a:rPr sz="1400" lang="fr-FR">
                <a:solidFill>
                  <a:srgbClr val="161616"/>
                </a:solidFill>
                <a:latin typeface="Arial"/>
              </a:rPr>
              <a:t>• </a:t>
            </a:r>
            <a:r>
              <a:rPr sz="1400" b="0" lang="fr-FR">
                <a:solidFill>
                  <a:srgbClr val="161616"/>
                </a:solidFill>
                <a:latin typeface="Arial"/>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Utiliser 5 touches pour tester n’importe quelle page</a:t>
            </a:r>
          </a:p>
          <a:p>
            <a:pPr algn="l">
              <a:lnSpc>
                <a:spcPct val="125000"/>
              </a:lnSpc>
            </a:pPr>
            <a:r>
              <a:rPr sz="1400" lang="fr-FR">
                <a:solidFill>
                  <a:srgbClr val="161616"/>
                </a:solidFill>
                <a:latin typeface="Arial"/>
              </a:rPr>
              <a:t>• </a:t>
            </a:r>
            <a:r>
              <a:rPr sz="1400" b="0" lang="fr-FR">
                <a:solidFill>
                  <a:srgbClr val="161616"/>
                </a:solidFill>
                <a:latin typeface="Arial"/>
              </a:rPr>
              <a:t>Repérer 3 signaux qui trahissent un défaut d’accessibilité</a:t>
            </a:r>
          </a:p>
          <a:p>
            <a:pPr algn="l">
              <a:lnSpc>
                <a:spcPct val="125000"/>
              </a:lnSpc>
            </a:pPr>
            <a:r>
              <a:rPr sz="1400" lang="fr-FR">
                <a:solidFill>
                  <a:srgbClr val="161616"/>
                </a:solidFill>
                <a:latin typeface="Arial"/>
              </a:rPr>
              <a:t>• </a:t>
            </a:r>
            <a:r>
              <a:rPr sz="1400" b="0" lang="fr-FR">
                <a:solidFill>
                  <a:srgbClr val="161616"/>
                </a:solidFill>
                <a:latin typeface="Arial"/>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Arial"/>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Arial"/>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95</a:t>
            </a:r>
            <a:endParaRPr lang="fr-FR" dirty="0"/>
          </a:p>
        </p:txBody>
      </p:sp>
      <p:sp>
        <p:nvSpPr>
          <p:cNvPr id="9" name="DSFR-box"/>
          <p:cNvSpPr/>
          <p:nvPr/>
        </p:nvSpPr>
        <p:spPr>
          <a:xfrm>
            <a:off x="54864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Le focus disparaît</a:t>
            </a:r>
          </a:p>
        </p:txBody>
      </p:sp>
      <p:sp>
        <p:nvSpPr>
          <p:cNvPr id="12" name="DSFR-card-contenu"/>
          <p:cNvSpPr txBox="1"/>
          <p:nvPr/>
        </p:nvSpPr>
        <p:spPr>
          <a:xfrm>
            <a:off x="70408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Plus de contour visible pendant la tabulation. L’utilisateur est perdu dès la 3ᵉ touche Tab.</a:t>
            </a:r>
          </a:p>
        </p:txBody>
      </p:sp>
      <p:sp>
        <p:nvSpPr>
          <p:cNvPr id="14" name="DSFR-box"/>
          <p:cNvSpPr/>
          <p:nvPr/>
        </p:nvSpPr>
        <p:spPr>
          <a:xfrm>
            <a:off x="438912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524865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L’ordre est illogique</a:t>
            </a:r>
          </a:p>
        </p:txBody>
      </p:sp>
      <p:sp>
        <p:nvSpPr>
          <p:cNvPr id="17" name="DSFR-card-contenu"/>
          <p:cNvSpPr txBox="1"/>
          <p:nvPr/>
        </p:nvSpPr>
        <p:spPr>
          <a:xfrm>
            <a:off x="454456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Le focus saute à droite avant le menu à gauche. Le lecteur d’écran parcourt la page dans le désordre.</a:t>
            </a:r>
          </a:p>
        </p:txBody>
      </p:sp>
      <p:sp>
        <p:nvSpPr>
          <p:cNvPr id="19" name="DSFR-box"/>
          <p:cNvSpPr/>
          <p:nvPr/>
        </p:nvSpPr>
        <p:spPr>
          <a:xfrm>
            <a:off x="822960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908913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L’état n’est pas annoncé</a:t>
            </a:r>
          </a:p>
        </p:txBody>
      </p:sp>
      <p:sp>
        <p:nvSpPr>
          <p:cNvPr id="22" name="DSFR-card-contenu"/>
          <p:cNvSpPr txBox="1"/>
          <p:nvPr/>
        </p:nvSpPr>
        <p:spPr>
          <a:xfrm>
            <a:off x="838504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Une case qui coche sans dire « coché ». L’information est invisible pour qui ne voit pas l’écran.</a:t>
            </a:r>
          </a:p>
        </p:txBody>
      </p:sp>
      <p:pic>
        <p:nvPicPr>
          <p:cNvPr id="23" name="DSFR-qrcode" descr="QR code : https://alexandra-guiderdoni.github.io/tp-fabrication-igpde-102846-ay11/"/>
          <p:cNvPicPr>
            <a:picLocks noChangeAspect="1"/>
          </p:cNvPicPr>
          <p:nvPr/>
        </p:nvPicPr>
        <p:blipFill>
          <a:blip r:embed="rId2"/>
          <a:stretch>
            <a:fillRect/>
          </a:stretch>
        </p:blipFill>
        <p:spPr>
          <a:xfrm>
            <a:off x="475488" y="4663440"/>
            <a:ext cx="1005840" cy="1005840"/>
          </a:xfrm>
          <a:prstGeom prst="rect">
            <a:avLst/>
          </a:prstGeom>
        </p:spPr>
      </p:pic>
      <p:sp>
        <p:nvSpPr>
          <p:cNvPr id="24" name="DSFR-qrcode-cta"/>
          <p:cNvSpPr txBox="1"/>
          <p:nvPr/>
        </p:nvSpPr>
        <p:spPr>
          <a:xfrm>
            <a:off x="1609344" y="4736592"/>
            <a:ext cx="1009497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5" name="DSFR-qrcode-url-visible"/>
          <p:cNvSpPr txBox="1"/>
          <p:nvPr/>
        </p:nvSpPr>
        <p:spPr>
          <a:xfrm>
            <a:off x="1609344" y="5029200"/>
            <a:ext cx="10094976"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10" name="DSFR-card-numero"/>
          <p:cNvSpPr/>
          <p:nvPr/>
        </p:nvSpPr>
        <p:spPr>
          <a:xfrm>
            <a:off x="70408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454456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838504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8" name="DSFR-accent-decoratif" descr=""/>
          <p:cNvSpPr/>
          <p:nvPr/>
        </p:nvSpPr>
        <p:spPr>
          <a:xfrm>
            <a:off x="47548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Site d’entraînement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Cachez votre souris derrière l’écran</a:t>
            </a:r>
          </a:p>
          <a:p>
            <a:pPr algn="l">
              <a:lnSpc>
                <a:spcPct val="125000"/>
              </a:lnSpc>
            </a:pPr>
            <a:r>
              <a:rPr sz="1400" lang="fr-FR">
                <a:solidFill>
                  <a:srgbClr val="161616"/>
                </a:solidFill>
                <a:latin typeface="Arial"/>
              </a:rPr>
              <a:t>• </a:t>
            </a:r>
            <a:r>
              <a:rPr sz="1400" b="0" lang="fr-FR">
                <a:solidFill>
                  <a:srgbClr val="161616"/>
                </a:solidFill>
                <a:latin typeface="Arial"/>
              </a:rPr>
              <a:t>Tabulez 10 fois et notez chaque fois que le focus disparaît</a:t>
            </a:r>
          </a:p>
          <a:p>
            <a:pPr algn="l">
              <a:lnSpc>
                <a:spcPct val="125000"/>
              </a:lnSpc>
            </a:pPr>
            <a:r>
              <a:rPr sz="1400" lang="fr-FR">
                <a:solidFill>
                  <a:srgbClr val="161616"/>
                </a:solidFill>
                <a:latin typeface="Arial"/>
              </a:rPr>
              <a:t>• </a:t>
            </a:r>
            <a:r>
              <a:rPr sz="1400" b="0" lang="fr-FR">
                <a:solidFill>
                  <a:srgbClr val="161616"/>
                </a:solidFill>
                <a:latin typeface="Arial"/>
              </a:rPr>
              <a:t>Essayez Entrée sur un bouton, Espace sur une case à cocher</a:t>
            </a:r>
          </a:p>
          <a:p>
            <a:pPr algn="l">
              <a:lnSpc>
                <a:spcPct val="125000"/>
              </a:lnSpc>
            </a:pPr>
            <a:r>
              <a:rPr sz="1400" lang="fr-FR">
                <a:solidFill>
                  <a:srgbClr val="161616"/>
                </a:solidFill>
                <a:latin typeface="Arial"/>
              </a:rPr>
              <a:t>• </a:t>
            </a:r>
            <a:r>
              <a:rPr sz="1400" b="0" lang="fr-FR">
                <a:solidFill>
                  <a:srgbClr val="161616"/>
                </a:solidFill>
                <a:latin typeface="Arial"/>
              </a:rPr>
              <a:t>Listez les pièges détectés et associez-les aux 3 signaux</a:t>
            </a:r>
          </a:p>
        </p:txBody>
      </p:sp>
      <p:sp>
        <p:nvSpPr>
          <p:cNvPr id="13" name="DSFR-box"/>
          <p:cNvSpPr/>
          <p:nvPr/>
        </p:nvSpPr>
        <p:spPr>
          <a:xfrm>
            <a:off x="548640" y="4306824"/>
            <a:ext cx="5390388"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Objectif : votre permis clavier</a:t>
            </a:r>
          </a:p>
        </p:txBody>
      </p:sp>
      <p:sp>
        <p:nvSpPr>
          <p:cNvPr id="15" name="DSFR-alert-success-body"/>
          <p:cNvSpPr txBox="1"/>
          <p:nvPr/>
        </p:nvSpPr>
        <p:spPr>
          <a:xfrm>
            <a:off x="704088" y="4809744"/>
            <a:ext cx="5143500"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1 signal détecté = vous avez l’œil</a:t>
            </a:r>
          </a:p>
          <a:p>
            <a:pPr algn="l">
              <a:lnSpc>
                <a:spcPct val="150000"/>
              </a:lnSpc>
            </a:pPr>
            <a:r>
              <a:rPr sz="1400" lang="fr-FR">
                <a:solidFill>
                  <a:srgbClr val="161616"/>
                </a:solidFill>
                <a:latin typeface="Arial"/>
              </a:rPr>
              <a:t>• </a:t>
            </a:r>
            <a:r>
              <a:rPr sz="1400" b="0" lang="fr-FR">
                <a:solidFill>
                  <a:srgbClr val="161616"/>
                </a:solidFill>
                <a:latin typeface="Arial"/>
              </a:rPr>
              <a:t>3 signaux détectés = vous êtes auditeur clavier</a:t>
            </a:r>
          </a:p>
        </p:txBody>
      </p:sp>
      <p:pic>
        <p:nvPicPr>
          <p:cNvPr id="16" name="DSFR-qrcode" descr="QR code : https://alexandra-guiderdoni.github.io/tp-fabrication-igpde-102846-ay11/"/>
          <p:cNvPicPr>
            <a:picLocks noChangeAspect="1"/>
          </p:cNvPicPr>
          <p:nvPr/>
        </p:nvPicPr>
        <p:blipFill>
          <a:blip r:embed="rId2"/>
          <a:stretch>
            <a:fillRect/>
          </a:stretch>
        </p:blipFill>
        <p:spPr>
          <a:xfrm>
            <a:off x="6240779" y="4306824"/>
            <a:ext cx="1005840" cy="1005840"/>
          </a:xfrm>
          <a:prstGeom prst="rect">
            <a:avLst/>
          </a:prstGeom>
        </p:spPr>
      </p:pic>
      <p:sp>
        <p:nvSpPr>
          <p:cNvPr id="17" name="DSFR-qrcode-cta"/>
          <p:cNvSpPr txBox="1"/>
          <p:nvPr/>
        </p:nvSpPr>
        <p:spPr>
          <a:xfrm>
            <a:off x="7374636" y="4379976"/>
            <a:ext cx="4329683"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8" name="DSFR-qrcode-url-visible"/>
          <p:cNvSpPr txBox="1"/>
          <p:nvPr/>
        </p:nvSpPr>
        <p:spPr>
          <a:xfrm>
            <a:off x="7374636" y="4672584"/>
            <a:ext cx="4329683"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97</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 balise &lt;html&gt; porte un attribut lang (ex. lang="fr")</a:t>
            </a:r>
          </a:p>
          <a:p>
            <a:pPr algn="l">
              <a:lnSpc>
                <a:spcPct val="125000"/>
              </a:lnSpc>
            </a:pPr>
            <a:r>
              <a:rPr sz="1400" lang="fr-FR">
                <a:solidFill>
                  <a:srgbClr val="161616"/>
                </a:solidFill>
                <a:latin typeface="Arial"/>
              </a:rPr>
              <a:t>• </a:t>
            </a:r>
            <a:r>
              <a:rPr sz="1400" b="0" lang="fr-FR">
                <a:solidFill>
                  <a:srgbClr val="161616"/>
                </a:solidFill>
                <a:latin typeface="Arial"/>
              </a:rPr>
              <a:t>Les passages dans une autre langue sont balisés : &lt;span lang="en"&gt;workshop&lt;/span&gt;</a:t>
            </a:r>
          </a:p>
          <a:p>
            <a:pPr algn="l">
              <a:lnSpc>
                <a:spcPct val="125000"/>
              </a:lnSpc>
            </a:pPr>
            <a:r>
              <a:rPr sz="1400" lang="fr-FR">
                <a:solidFill>
                  <a:srgbClr val="161616"/>
                </a:solidFill>
                <a:latin typeface="Arial"/>
              </a:rPr>
              <a:t>• </a:t>
            </a:r>
            <a:r>
              <a:rPr sz="1400" b="0" lang="fr-FR">
                <a:solidFill>
                  <a:srgbClr val="161616"/>
                </a:solidFill>
                <a:latin typeface="Arial"/>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Clic droit → Afficher le code source → regarder la 1ʳᵉ ligne &lt;html lang="…"&gt;</a:t>
            </a:r>
          </a:p>
          <a:p>
            <a:pPr algn="l">
              <a:lnSpc>
                <a:spcPct val="150000"/>
              </a:lnSpc>
            </a:pPr>
            <a:r>
              <a:rPr sz="1400" lang="fr-FR">
                <a:solidFill>
                  <a:srgbClr val="161616"/>
                </a:solidFill>
                <a:latin typeface="Arial"/>
              </a:rPr>
              <a:t>• </a:t>
            </a:r>
            <a:r>
              <a:rPr sz="1400" b="0" lang="fr-FR">
                <a:solidFill>
                  <a:srgbClr val="161616"/>
                </a:solidFill>
                <a:latin typeface="Arial"/>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98</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À 200 % de zoom, aucun texte n’est coupé ni superposé</a:t>
            </a:r>
          </a:p>
          <a:p>
            <a:pPr algn="l">
              <a:lnSpc>
                <a:spcPct val="125000"/>
              </a:lnSpc>
            </a:pPr>
            <a:r>
              <a:rPr sz="1400" lang="fr-FR">
                <a:solidFill>
                  <a:srgbClr val="161616"/>
                </a:solidFill>
                <a:latin typeface="Arial"/>
              </a:rPr>
              <a:t>• </a:t>
            </a:r>
            <a:r>
              <a:rPr sz="1400" b="0" lang="fr-FR">
                <a:solidFill>
                  <a:srgbClr val="161616"/>
                </a:solidFill>
                <a:latin typeface="Arial"/>
              </a:rPr>
              <a:t>Pas d’apparition d’un défilement horizontal sur une page classique</a:t>
            </a:r>
          </a:p>
          <a:p>
            <a:pPr algn="l">
              <a:lnSpc>
                <a:spcPct val="125000"/>
              </a:lnSpc>
            </a:pPr>
            <a:r>
              <a:rPr sz="1400" lang="fr-FR">
                <a:solidFill>
                  <a:srgbClr val="161616"/>
                </a:solidFill>
                <a:latin typeface="Arial"/>
              </a:rPr>
              <a:t>• </a:t>
            </a:r>
            <a:r>
              <a:rPr sz="1400" b="0" lang="fr-FR">
                <a:solidFill>
                  <a:srgbClr val="161616"/>
                </a:solidFill>
                <a:latin typeface="Arial"/>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Ctrl + (ou Cmd + sur Mac) pour zoomer jusqu’à 200 % - répéter 4 fois depuis 100 %</a:t>
            </a:r>
          </a:p>
          <a:p>
            <a:pPr algn="l">
              <a:lnSpc>
                <a:spcPct val="150000"/>
              </a:lnSpc>
            </a:pPr>
            <a:r>
              <a:rPr sz="1400" lang="fr-FR">
                <a:solidFill>
                  <a:srgbClr val="161616"/>
                </a:solidFill>
                <a:latin typeface="Arial"/>
              </a:rPr>
              <a:t>• </a:t>
            </a:r>
            <a:r>
              <a:rPr sz="1400" b="0" lang="fr-FR">
                <a:solidFill>
                  <a:srgbClr val="161616"/>
                </a:solidFill>
                <a:latin typeface="Arial"/>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des sous-titres synchronisés (pas seulement une transcription)</a:t>
            </a:r>
          </a:p>
          <a:p>
            <a:pPr algn="l">
              <a:lnSpc>
                <a:spcPct val="115000"/>
              </a:lnSpc>
            </a:pPr>
            <a:r>
              <a:rPr sz="1400" lang="fr-FR">
                <a:solidFill>
                  <a:srgbClr val="161616"/>
                </a:solidFill>
                <a:latin typeface="Arial"/>
              </a:rPr>
              <a:t>• </a:t>
            </a:r>
            <a:r>
              <a:rPr sz="1400" b="0" lang="fr-FR">
                <a:solidFill>
                  <a:srgbClr val="161616"/>
                </a:solidFill>
                <a:latin typeface="Arial"/>
              </a:rPr>
              <a:t>Les sous-titres incluent les paroles ET les informations sonores importantes : « (rires) », « (sonnerie) »</a:t>
            </a:r>
          </a:p>
          <a:p>
            <a:pPr algn="l">
              <a:lnSpc>
                <a:spcPct val="115000"/>
              </a:lnSpc>
            </a:pPr>
            <a:r>
              <a:rPr sz="1400" lang="fr-FR">
                <a:solidFill>
                  <a:srgbClr val="161616"/>
                </a:solidFill>
                <a:latin typeface="Arial"/>
              </a:rPr>
              <a:t>• </a:t>
            </a:r>
            <a:r>
              <a:rPr sz="1400" b="0" lang="fr-FR">
                <a:solidFill>
                  <a:srgbClr val="161616"/>
                </a:solidFill>
                <a:latin typeface="Arial"/>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100</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Les sous-titres automatiques peuvent déformer les mots, surtout les noms propres et acronymes</a:t>
            </a:r>
          </a:p>
          <a:p>
            <a:pPr algn="l">
              <a:lnSpc>
                <a:spcPct val="125000"/>
              </a:lnSpc>
            </a:pPr>
            <a:r>
              <a:rPr sz="1400" lang="fr-FR">
                <a:solidFill>
                  <a:srgbClr val="161616"/>
                </a:solidFill>
                <a:latin typeface="Arial"/>
              </a:rPr>
              <a:t>• </a:t>
            </a:r>
            <a:r>
              <a:rPr sz="1400" b="0" lang="fr-FR">
                <a:solidFill>
                  <a:srgbClr val="161616"/>
                </a:solidFill>
                <a:latin typeface="Arial"/>
              </a:rPr>
              <a:t>Noms propres, acronymes, chiffres : souvent mal reconnus</a:t>
            </a:r>
          </a:p>
          <a:p>
            <a:pPr algn="l">
              <a:lnSpc>
                <a:spcPct val="125000"/>
              </a:lnSpc>
            </a:pPr>
            <a:r>
              <a:rPr sz="1400" lang="fr-FR">
                <a:solidFill>
                  <a:srgbClr val="161616"/>
                </a:solidFill>
                <a:latin typeface="Arial"/>
              </a:rPr>
              <a:t>• </a:t>
            </a:r>
            <a:r>
              <a:rPr sz="1400" b="0" lang="fr-FR">
                <a:solidFill>
                  <a:srgbClr val="161616"/>
                </a:solidFill>
                <a:latin typeface="Arial"/>
              </a:rPr>
              <a:t>Ponctuation absente : « on mange les enfants » vs « on mange, les enfants »</a:t>
            </a:r>
          </a:p>
          <a:p>
            <a:pPr algn="l">
              <a:lnSpc>
                <a:spcPct val="125000"/>
              </a:lnSpc>
            </a:pPr>
            <a:r>
              <a:rPr sz="1400" lang="fr-FR">
                <a:solidFill>
                  <a:srgbClr val="161616"/>
                </a:solidFill>
                <a:latin typeface="Arial"/>
              </a:rPr>
              <a:t>• </a:t>
            </a:r>
            <a:r>
              <a:rPr sz="1400" b="0" lang="fr-FR">
                <a:solidFill>
                  <a:srgbClr val="161616"/>
                </a:solidFill>
                <a:latin typeface="Arial"/>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Générer l’auto (YouTube, Whisper, outil interne) pour accélérer le brouillon</a:t>
            </a:r>
          </a:p>
          <a:p>
            <a:pPr algn="l">
              <a:lnSpc>
                <a:spcPct val="115000"/>
              </a:lnSpc>
            </a:pPr>
            <a:r>
              <a:rPr sz="1400" lang="fr-FR">
                <a:solidFill>
                  <a:srgbClr val="161616"/>
                </a:solidFill>
                <a:latin typeface="Arial"/>
              </a:rPr>
              <a:t>• </a:t>
            </a:r>
            <a:r>
              <a:rPr sz="1400" b="0" lang="fr-FR">
                <a:solidFill>
                  <a:srgbClr val="161616"/>
                </a:solidFill>
                <a:latin typeface="Arial"/>
              </a:rPr>
              <a:t>Relire : noms, chiffres, ponctuation et [indications sonores]</a:t>
            </a:r>
          </a:p>
          <a:p>
            <a:pPr algn="l">
              <a:lnSpc>
                <a:spcPct val="115000"/>
              </a:lnSpc>
            </a:pPr>
            <a:r>
              <a:rPr sz="1400" lang="fr-FR">
                <a:solidFill>
                  <a:srgbClr val="161616"/>
                </a:solidFill>
                <a:latin typeface="Arial"/>
              </a:rPr>
              <a:t>• </a:t>
            </a:r>
            <a:r>
              <a:rPr sz="1400" b="0" lang="fr-FR">
                <a:solidFill>
                  <a:srgbClr val="161616"/>
                </a:solidFill>
                <a:latin typeface="Arial"/>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Toute vidéo / audio propose un lien visible « Lire la transcription »</a:t>
            </a:r>
          </a:p>
          <a:p>
            <a:pPr algn="l">
              <a:lnSpc>
                <a:spcPct val="125000"/>
              </a:lnSpc>
            </a:pPr>
            <a:r>
              <a:rPr sz="1400" lang="fr-FR">
                <a:solidFill>
                  <a:srgbClr val="161616"/>
                </a:solidFill>
                <a:latin typeface="Arial"/>
              </a:rPr>
              <a:t>• </a:t>
            </a:r>
            <a:r>
              <a:rPr sz="1400" b="0" lang="fr-FR">
                <a:solidFill>
                  <a:srgbClr val="161616"/>
                </a:solidFill>
                <a:latin typeface="Arial"/>
              </a:rPr>
              <a:t>La transcription est complète : paroles + informations sonores essentielles</a:t>
            </a:r>
          </a:p>
          <a:p>
            <a:pPr algn="l">
              <a:lnSpc>
                <a:spcPct val="125000"/>
              </a:lnSpc>
            </a:pPr>
            <a:r>
              <a:rPr sz="1400" lang="fr-FR">
                <a:solidFill>
                  <a:srgbClr val="161616"/>
                </a:solidFill>
                <a:latin typeface="Arial"/>
              </a:rPr>
              <a:t>• </a:t>
            </a:r>
            <a:r>
              <a:rPr sz="1400" b="0" lang="fr-FR">
                <a:solidFill>
                  <a:srgbClr val="161616"/>
                </a:solidFill>
                <a:latin typeface="Arial"/>
              </a:rPr>
              <a:t>Elle est sur la même page ou à un clic, pas cachée à deux étages de menu</a:t>
            </a:r>
          </a:p>
          <a:p>
            <a:pPr algn="l">
              <a:lnSpc>
                <a:spcPct val="125000"/>
              </a:lnSpc>
            </a:pPr>
            <a:r>
              <a:rPr sz="1400" lang="fr-FR">
                <a:solidFill>
                  <a:srgbClr val="161616"/>
                </a:solidFill>
                <a:latin typeface="Arial"/>
              </a:rPr>
              <a:t>• </a:t>
            </a:r>
            <a:r>
              <a:rPr sz="1400" b="0" lang="fr-FR">
                <a:solidFill>
                  <a:srgbClr val="161616"/>
                </a:solidFill>
                <a:latin typeface="Arial"/>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 transcription rend le contenu plus facile à retrouver, relire et citer</a:t>
            </a:r>
          </a:p>
          <a:p>
            <a:pPr algn="l">
              <a:lnSpc>
                <a:spcPct val="150000"/>
              </a:lnSpc>
            </a:pPr>
            <a:r>
              <a:rPr sz="1400" lang="fr-FR">
                <a:solidFill>
                  <a:srgbClr val="161616"/>
                </a:solidFill>
                <a:latin typeface="Arial"/>
              </a:rPr>
              <a:t>• </a:t>
            </a:r>
            <a:r>
              <a:rPr sz="1400" b="0" lang="fr-FR">
                <a:solidFill>
                  <a:srgbClr val="161616"/>
                </a:solidFill>
                <a:latin typeface="Arial"/>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102</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L’audiodescription ajoute une voix off qui décrit les images clés pendant les silences.</a:t>
            </a:r>
          </a:p>
        </p:txBody>
      </p:sp>
      <p:sp>
        <p:nvSpPr>
          <p:cNvPr id="12" name="DSFR-box"/>
          <p:cNvSpPr/>
          <p:nvPr/>
        </p:nvSpPr>
        <p:spPr>
          <a:xfrm>
            <a:off x="548640" y="29946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9757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une piste audiodécrite activable (bouton AD)</a:t>
            </a:r>
          </a:p>
          <a:p>
            <a:pPr algn="l">
              <a:lnSpc>
                <a:spcPct val="115000"/>
              </a:lnSpc>
            </a:pPr>
            <a:r>
              <a:rPr sz="1400" lang="fr-FR">
                <a:solidFill>
                  <a:srgbClr val="161616"/>
                </a:solidFill>
                <a:latin typeface="Arial"/>
              </a:rPr>
              <a:t>• </a:t>
            </a:r>
            <a:r>
              <a:rPr sz="1400" b="0" lang="fr-FR">
                <a:solidFill>
                  <a:srgbClr val="161616"/>
                </a:solidFill>
                <a:latin typeface="Arial"/>
              </a:rPr>
              <a:t>L’audiodescription décrit les éléments visuels essentiels à la compréhension</a:t>
            </a:r>
          </a:p>
          <a:p>
            <a:pPr algn="l">
              <a:lnSpc>
                <a:spcPct val="115000"/>
              </a:lnSpc>
            </a:pPr>
            <a:r>
              <a:rPr sz="1400" lang="fr-FR">
                <a:solidFill>
                  <a:srgbClr val="161616"/>
                </a:solidFill>
                <a:latin typeface="Arial"/>
              </a:rPr>
              <a:t>• </a:t>
            </a:r>
            <a:r>
              <a:rPr sz="1400" b="0" lang="fr-FR">
                <a:solidFill>
                  <a:srgbClr val="161616"/>
                </a:solidFill>
                <a:latin typeface="Arial"/>
              </a:rPr>
              <a:t>Elle s’intercale dans les silences, sans couvrir les dialogues</a:t>
            </a:r>
          </a:p>
          <a:p>
            <a:pPr algn="l">
              <a:lnSpc>
                <a:spcPct val="115000"/>
              </a:lnSpc>
            </a:pPr>
            <a:r>
              <a:rPr sz="1400" lang="fr-FR">
                <a:solidFill>
                  <a:srgbClr val="161616"/>
                </a:solidFill>
                <a:latin typeface="Arial"/>
              </a:rPr>
              <a:t>• </a:t>
            </a:r>
            <a:r>
              <a:rPr sz="1400" b="0" lang="fr-FR">
                <a:solidFill>
                  <a:srgbClr val="161616"/>
                </a:solidFill>
                <a:latin typeface="Arial"/>
              </a:rPr>
              <a:t>Pour une vidéo sans dialogue essentiel : une description textuelle synchronisée suffit</a:t>
            </a:r>
          </a:p>
        </p:txBody>
      </p:sp>
      <p:sp>
        <p:nvSpPr>
          <p:cNvPr id="16" name="DSFR-box"/>
          <p:cNvSpPr/>
          <p:nvPr/>
        </p:nvSpPr>
        <p:spPr>
          <a:xfrm>
            <a:off x="548640" y="4922215"/>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59375"/>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Arial"/>
              </a:rPr>
              <a:t>Quand l’image porte l’information, elle doit aussi être disponible autrement que par la vue.</a:t>
            </a:r>
          </a:p>
        </p:txBody>
      </p:sp>
      <p:sp>
        <p:nvSpPr>
          <p:cNvPr id="18" name="DSFR-quote-auteur"/>
          <p:cNvSpPr txBox="1"/>
          <p:nvPr/>
        </p:nvSpPr>
        <p:spPr>
          <a:xfrm>
            <a:off x="749808" y="5745175"/>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Audiodescription</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22215"/>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Image, schéma ou plan -&gt; description ou texte alternatif</a:t>
            </a:r>
          </a:p>
          <a:p>
            <a:pPr algn="l">
              <a:lnSpc>
                <a:spcPct val="120000"/>
              </a:lnSpc>
            </a:pPr>
            <a:r>
              <a:rPr sz="1400" lang="fr-FR">
                <a:solidFill>
                  <a:srgbClr val="161616"/>
                </a:solidFill>
                <a:latin typeface="Arial"/>
              </a:rPr>
              <a:t>• </a:t>
            </a:r>
            <a:r>
              <a:rPr sz="1400" b="0" lang="fr-FR">
                <a:solidFill>
                  <a:srgbClr val="161616"/>
                </a:solidFill>
                <a:latin typeface="Arial"/>
              </a:rPr>
              <a:t>Vidéo -&gt; sous-titres + informations visuelles essentielles</a:t>
            </a:r>
          </a:p>
          <a:p>
            <a:pPr algn="l">
              <a:lnSpc>
                <a:spcPct val="120000"/>
              </a:lnSpc>
            </a:pPr>
            <a:r>
              <a:rPr sz="1400" lang="fr-FR">
                <a:solidFill>
                  <a:srgbClr val="161616"/>
                </a:solidFill>
                <a:latin typeface="Arial"/>
              </a:rPr>
              <a:t>• </a:t>
            </a:r>
            <a:r>
              <a:rPr sz="1400" b="0" lang="fr-FR">
                <a:solidFill>
                  <a:srgbClr val="161616"/>
                </a:solidFill>
                <a:latin typeface="Arial"/>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lisibles : contraste fort, bandeau si besoin</a:t>
            </a:r>
          </a:p>
          <a:p>
            <a:pPr algn="l">
              <a:lnSpc>
                <a:spcPct val="120000"/>
              </a:lnSpc>
            </a:pPr>
            <a:r>
              <a:rPr sz="1400" lang="fr-FR">
                <a:solidFill>
                  <a:srgbClr val="161616"/>
                </a:solidFill>
                <a:latin typeface="Arial"/>
              </a:rPr>
              <a:t>• </a:t>
            </a:r>
            <a:r>
              <a:rPr sz="1400" b="0" lang="fr-FR">
                <a:solidFill>
                  <a:srgbClr val="161616"/>
                </a:solidFill>
                <a:latin typeface="Arial"/>
              </a:rPr>
              <a:t>Format réseau social : sous-titres non masqués par l'interface</a:t>
            </a:r>
          </a:p>
          <a:p>
            <a:pPr algn="l">
              <a:lnSpc>
                <a:spcPct val="120000"/>
              </a:lnSpc>
            </a:pPr>
            <a:r>
              <a:rPr sz="1400" lang="fr-FR">
                <a:solidFill>
                  <a:srgbClr val="161616"/>
                </a:solidFill>
                <a:latin typeface="Arial"/>
              </a:rPr>
              <a:t>• </a:t>
            </a:r>
            <a:r>
              <a:rPr sz="1400" b="0" lang="fr-FR">
                <a:solidFill>
                  <a:srgbClr val="161616"/>
                </a:solidFill>
                <a:latin typeface="Arial"/>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Audio-description et transcription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104</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Image et son : proposer un autre accès à toute information utile.</a:t>
            </a:r>
          </a:p>
        </p:txBody>
      </p:sp>
      <p:sp>
        <p:nvSpPr>
          <p:cNvPr id="12" name="DSFR-box"/>
          <p:cNvSpPr/>
          <p:nvPr/>
        </p:nvSpPr>
        <p:spPr>
          <a:xfrm>
            <a:off x="548640" y="2660904"/>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Audio-description : ce que ça ajoute</a:t>
            </a:r>
          </a:p>
        </p:txBody>
      </p:sp>
      <p:sp>
        <p:nvSpPr>
          <p:cNvPr id="14" name="DSFR-callout-body"/>
          <p:cNvSpPr txBox="1"/>
          <p:nvPr/>
        </p:nvSpPr>
        <p:spPr>
          <a:xfrm>
            <a:off x="704088" y="3163824"/>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Décors, lieux et changements de scène utiles</a:t>
            </a:r>
          </a:p>
          <a:p>
            <a:pPr algn="l">
              <a:lnSpc>
                <a:spcPct val="115000"/>
              </a:lnSpc>
            </a:pPr>
            <a:r>
              <a:rPr sz="1400" lang="fr-FR">
                <a:solidFill>
                  <a:srgbClr val="161616"/>
                </a:solidFill>
                <a:latin typeface="Arial"/>
              </a:rPr>
              <a:t>• </a:t>
            </a:r>
            <a:r>
              <a:rPr sz="1400" b="0" lang="fr-FR">
                <a:solidFill>
                  <a:srgbClr val="161616"/>
                </a:solidFill>
                <a:latin typeface="Arial"/>
              </a:rPr>
              <a:t>Actions, gestes et expressions qui ne s’entendent pas</a:t>
            </a:r>
          </a:p>
          <a:p>
            <a:pPr algn="l">
              <a:lnSpc>
                <a:spcPct val="115000"/>
              </a:lnSpc>
            </a:pPr>
            <a:r>
              <a:rPr sz="1400" lang="fr-FR">
                <a:solidFill>
                  <a:srgbClr val="161616"/>
                </a:solidFill>
                <a:latin typeface="Arial"/>
              </a:rPr>
              <a:t>• </a:t>
            </a:r>
            <a:r>
              <a:rPr sz="1400" b="0" lang="fr-FR">
                <a:solidFill>
                  <a:srgbClr val="161616"/>
                </a:solidFill>
                <a:latin typeface="Arial"/>
              </a:rPr>
              <a:t>Textes et informations importantes affichés à l’écran</a:t>
            </a:r>
          </a:p>
          <a:p>
            <a:pPr algn="l">
              <a:lnSpc>
                <a:spcPct val="115000"/>
              </a:lnSpc>
            </a:pPr>
            <a:r>
              <a:rPr sz="1400" lang="fr-FR">
                <a:solidFill>
                  <a:srgbClr val="161616"/>
                </a:solidFill>
                <a:latin typeface="Arial"/>
              </a:rPr>
              <a:t>• </a:t>
            </a:r>
            <a:r>
              <a:rPr sz="1400" b="0" lang="fr-FR">
                <a:solidFill>
                  <a:srgbClr val="161616"/>
                </a:solidFill>
                <a:latin typeface="Arial"/>
              </a:rPr>
              <a:t>Une voix placée dans les silences, sans couvrir les dialogues</a:t>
            </a:r>
          </a:p>
        </p:txBody>
      </p:sp>
      <p:sp>
        <p:nvSpPr>
          <p:cNvPr id="16" name="DSFR-box"/>
          <p:cNvSpPr/>
          <p:nvPr/>
        </p:nvSpPr>
        <p:spPr>
          <a:xfrm>
            <a:off x="6313931" y="266090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Transcription : choisir le niveau</a:t>
            </a:r>
          </a:p>
        </p:txBody>
      </p:sp>
      <p:sp>
        <p:nvSpPr>
          <p:cNvPr id="18" name="DSFR-alert-info-body"/>
          <p:cNvSpPr txBox="1"/>
          <p:nvPr/>
        </p:nvSpPr>
        <p:spPr>
          <a:xfrm>
            <a:off x="6469379" y="316382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Semi-intégrale : résumé détaillé + citations</a:t>
            </a:r>
          </a:p>
          <a:p>
            <a:pPr algn="l">
              <a:lnSpc>
                <a:spcPct val="115000"/>
              </a:lnSpc>
            </a:pPr>
            <a:r>
              <a:rPr sz="1400" lang="fr-FR">
                <a:solidFill>
                  <a:srgbClr val="161616"/>
                </a:solidFill>
                <a:latin typeface="Arial"/>
              </a:rPr>
              <a:t>• </a:t>
            </a:r>
            <a:r>
              <a:rPr sz="1400" b="0" lang="fr-FR">
                <a:solidFill>
                  <a:srgbClr val="161616"/>
                </a:solidFill>
                <a:latin typeface="Arial"/>
              </a:rPr>
              <a:t>Intégrale éditée : texte complet, corrigé et lisible</a:t>
            </a:r>
          </a:p>
          <a:p>
            <a:pPr algn="l">
              <a:lnSpc>
                <a:spcPct val="115000"/>
              </a:lnSpc>
            </a:pPr>
            <a:r>
              <a:rPr sz="1400" lang="fr-FR">
                <a:solidFill>
                  <a:srgbClr val="161616"/>
                </a:solidFill>
                <a:latin typeface="Arial"/>
              </a:rPr>
              <a:t>• </a:t>
            </a:r>
            <a:r>
              <a:rPr sz="1400" b="0" lang="fr-FR">
                <a:solidFill>
                  <a:srgbClr val="161616"/>
                </a:solidFill>
                <a:latin typeface="Arial"/>
              </a:rPr>
              <a:t>Verbatim : mot à mot, hésitations et sons inclus</a:t>
            </a:r>
          </a:p>
        </p:txBody>
      </p:sp>
      <p:sp>
        <p:nvSpPr>
          <p:cNvPr id="20" name="DSFR-box"/>
          <p:cNvSpPr/>
          <p:nvPr/>
        </p:nvSpPr>
        <p:spPr>
          <a:xfrm>
            <a:off x="548640" y="53053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3967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60904"/>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6090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3053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champ (texte, case, menu déroulant) a une étiquette visible à côté</a:t>
            </a:r>
          </a:p>
          <a:p>
            <a:pPr algn="l">
              <a:lnSpc>
                <a:spcPct val="125000"/>
              </a:lnSpc>
            </a:pPr>
            <a:r>
              <a:rPr sz="1400" lang="fr-FR">
                <a:solidFill>
                  <a:srgbClr val="161616"/>
                </a:solidFill>
                <a:latin typeface="Arial"/>
              </a:rPr>
              <a:t>• </a:t>
            </a:r>
            <a:r>
              <a:rPr sz="1400" b="0" lang="fr-FR">
                <a:solidFill>
                  <a:srgbClr val="161616"/>
                </a:solidFill>
                <a:latin typeface="Arial"/>
              </a:rPr>
              <a:t>L’étiquette reste affichée quand on commence à saisir - elle ne disparaît pas</a:t>
            </a:r>
          </a:p>
          <a:p>
            <a:pPr algn="l">
              <a:lnSpc>
                <a:spcPct val="125000"/>
              </a:lnSpc>
            </a:pPr>
            <a:r>
              <a:rPr sz="1400" lang="fr-FR">
                <a:solidFill>
                  <a:srgbClr val="161616"/>
                </a:solidFill>
                <a:latin typeface="Arial"/>
              </a:rPr>
              <a:t>• </a:t>
            </a:r>
            <a:r>
              <a:rPr sz="1400" b="0" lang="fr-FR">
                <a:solidFill>
                  <a:srgbClr val="161616"/>
                </a:solidFill>
                <a:latin typeface="Arial"/>
              </a:rPr>
              <a:t>Cliquer sur l’étiquette déplace le focus dans le champ (test rapide et décisif)</a:t>
            </a:r>
          </a:p>
          <a:p>
            <a:pPr algn="l">
              <a:lnSpc>
                <a:spcPct val="125000"/>
              </a:lnSpc>
            </a:pPr>
            <a:r>
              <a:rPr sz="1400" lang="fr-FR">
                <a:solidFill>
                  <a:srgbClr val="161616"/>
                </a:solidFill>
                <a:latin typeface="Arial"/>
              </a:rPr>
              <a:t>• </a:t>
            </a:r>
            <a:r>
              <a:rPr sz="1400" b="0" lang="fr-FR">
                <a:solidFill>
                  <a:srgbClr val="161616"/>
                </a:solidFill>
                <a:latin typeface="Arial"/>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Il disparaît dès qu’on commence à saisir - on oublie ce qu’on remplit</a:t>
            </a:r>
          </a:p>
          <a:p>
            <a:pPr algn="l">
              <a:lnSpc>
                <a:spcPct val="125000"/>
              </a:lnSpc>
            </a:pPr>
            <a:r>
              <a:rPr sz="1400" lang="fr-FR">
                <a:solidFill>
                  <a:srgbClr val="161616"/>
                </a:solidFill>
                <a:latin typeface="Arial"/>
              </a:rPr>
              <a:t>• </a:t>
            </a:r>
            <a:r>
              <a:rPr sz="1400" b="0" lang="fr-FR">
                <a:solidFill>
                  <a:srgbClr val="161616"/>
                </a:solidFill>
                <a:latin typeface="Arial"/>
              </a:rPr>
              <a:t>Son contraste est souvent trop faible pour passer le check 4</a:t>
            </a:r>
          </a:p>
          <a:p>
            <a:pPr algn="l">
              <a:lnSpc>
                <a:spcPct val="125000"/>
              </a:lnSpc>
            </a:pPr>
            <a:r>
              <a:rPr sz="1400" lang="fr-FR">
                <a:solidFill>
                  <a:srgbClr val="161616"/>
                </a:solidFill>
                <a:latin typeface="Arial"/>
              </a:rPr>
              <a:t>• </a:t>
            </a:r>
            <a:r>
              <a:rPr sz="1400" b="0" lang="fr-FR">
                <a:solidFill>
                  <a:srgbClr val="161616"/>
                </a:solidFill>
                <a:latin typeface="Arial"/>
              </a:rPr>
              <a:t>Il peut être annoncé comme exemple, pas comme nom fiable du champ</a:t>
            </a:r>
          </a:p>
          <a:p>
            <a:pPr algn="l">
              <a:lnSpc>
                <a:spcPct val="125000"/>
              </a:lnSpc>
            </a:pPr>
            <a:r>
              <a:rPr sz="1400" lang="fr-FR">
                <a:solidFill>
                  <a:srgbClr val="161616"/>
                </a:solidFill>
                <a:latin typeface="Arial"/>
              </a:rPr>
              <a:t>• </a:t>
            </a:r>
            <a:r>
              <a:rPr sz="1400" b="0" lang="fr-FR">
                <a:solidFill>
                  <a:srgbClr val="161616"/>
                </a:solidFill>
                <a:latin typeface="Arial"/>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Étiquette visible au-dessus du champ (ou à gauche)</a:t>
            </a:r>
          </a:p>
          <a:p>
            <a:pPr algn="l">
              <a:lnSpc>
                <a:spcPct val="150000"/>
              </a:lnSpc>
            </a:pPr>
            <a:r>
              <a:rPr sz="1400" lang="fr-FR">
                <a:solidFill>
                  <a:srgbClr val="161616"/>
                </a:solidFill>
                <a:latin typeface="Arial"/>
              </a:rPr>
              <a:t>• </a:t>
            </a:r>
            <a:r>
              <a:rPr sz="1400" b="0" lang="fr-FR">
                <a:solidFill>
                  <a:srgbClr val="161616"/>
                </a:solidFill>
                <a:latin typeface="Arial"/>
              </a:rPr>
              <a:t>Placeholder optionnel, pour donner un exemple de format : « JJ/MM/AAAA »</a:t>
            </a:r>
          </a:p>
          <a:p>
            <a:pPr algn="l">
              <a:lnSpc>
                <a:spcPct val="150000"/>
              </a:lnSpc>
            </a:pPr>
            <a:r>
              <a:rPr sz="1400" lang="fr-FR">
                <a:solidFill>
                  <a:srgbClr val="161616"/>
                </a:solidFill>
                <a:latin typeface="Arial"/>
              </a:rPr>
              <a:t>• </a:t>
            </a:r>
            <a:r>
              <a:rPr sz="1400" b="0" lang="fr-FR">
                <a:solidFill>
                  <a:srgbClr val="161616"/>
                </a:solidFill>
                <a:latin typeface="Arial"/>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107</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Plusieurs boutons radio qui répondent à la même question (« Civilité : M / Mme / autre »)</a:t>
            </a:r>
          </a:p>
          <a:p>
            <a:pPr algn="l">
              <a:lnSpc>
                <a:spcPct val="125000"/>
              </a:lnSpc>
            </a:pPr>
            <a:r>
              <a:rPr sz="1400" lang="fr-FR">
                <a:solidFill>
                  <a:srgbClr val="161616"/>
                </a:solidFill>
                <a:latin typeface="Arial"/>
              </a:rPr>
              <a:t>• </a:t>
            </a:r>
            <a:r>
              <a:rPr sz="1400" b="0" lang="fr-FR">
                <a:solidFill>
                  <a:srgbClr val="161616"/>
                </a:solidFill>
                <a:latin typeface="Arial"/>
              </a:rPr>
              <a:t>Plusieurs cases à cocher qui partagent un thème (« Jours travaillés »)</a:t>
            </a:r>
          </a:p>
          <a:p>
            <a:pPr algn="l">
              <a:lnSpc>
                <a:spcPct val="125000"/>
              </a:lnSpc>
            </a:pPr>
            <a:r>
              <a:rPr sz="1400" lang="fr-FR">
                <a:solidFill>
                  <a:srgbClr val="161616"/>
                </a:solidFill>
                <a:latin typeface="Arial"/>
              </a:rPr>
              <a:t>• </a:t>
            </a:r>
            <a:r>
              <a:rPr sz="1400" b="0" lang="fr-FR">
                <a:solidFill>
                  <a:srgbClr val="161616"/>
                </a:solidFill>
                <a:latin typeface="Arial"/>
              </a:rPr>
              <a:t>Adresse découpée en plusieurs champs (n°, rue, code postal, ville)</a:t>
            </a:r>
          </a:p>
        </p:txBody>
      </p:sp>
      <p:graphicFrame>
        <p:nvGraphicFramePr>
          <p:cNvPr id="12" name="Table 11"/>
          <p:cNvGraphicFramePr>
            <a:graphicFrameLocks noGrp="1"/>
          </p:cNvGraphicFramePr>
          <p:nvPr/>
        </p:nvGraphicFramePr>
        <p:xfrm>
          <a:off x="475488" y="3977639"/>
          <a:ext cx="11228832" cy="2194560"/>
        </p:xfrm>
        <a:graphic>
          <a:graphicData uri="http://schemas.openxmlformats.org/drawingml/2006/table">
            <a:tbl>
              <a:tblPr firstRow="1" bandRow="1">
                <a:tableStyleId>{5C22544A-7EE6-4342-B048-85BDC9FD1C3A}</a:tableStyleId>
              </a:tblPr>
              <a:tblGrid>
                <a:gridCol w="2926080"/>
                <a:gridCol w="4187952"/>
                <a:gridCol w="4114800"/>
              </a:tblGrid>
              <a:tr h="731520">
                <a:tc>
                  <a:txBody>
                    <a:bodyPr wrap="square" anchor="ctr" lIns="73152" rIns="73152"/>
                    <a:lstStyle/>
                    <a:p>
                      <a:pPr algn="l">
                        <a:lnSpc>
                          <a:spcPct val="125000"/>
                        </a:lnSpc>
                      </a:pPr>
                      <a:r>
                        <a:rPr sz="1400" b="1" i="0" lang="fr-FR">
                          <a:solidFill>
                            <a:srgbClr val="FFFFFF"/>
                          </a:solidFill>
                          <a:latin typeface="Arial"/>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 lecteur d’écran</a:t>
                      </a:r>
                    </a:p>
                  </a:txBody>
                  <a:tcPr marL="91440" marR="91440" marT="45720" marB="45720">
                    <a:solidFill>
                      <a:srgbClr val="000091"/>
                    </a:solidFill>
                  </a:tcPr>
                </a:tc>
              </a:tr>
              <a:tr h="731520">
                <a:tc>
                  <a:txBody>
                    <a:bodyPr wrap="square" anchor="ctr" lIns="73152" rIns="73152"/>
                    <a:lstStyle/>
                    <a:p>
                      <a:pPr algn="l">
                        <a:lnSpc>
                          <a:spcPct val="125000"/>
                        </a:lnSpc>
                      </a:pPr>
                      <a:r>
                        <a:rPr sz="1400" b="0" i="0" lang="fr-FR">
                          <a:solidFill>
                            <a:srgbClr val="161616"/>
                          </a:solidFill>
                          <a:latin typeface="Arial"/>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M, bouton radio » - question perdue</a:t>
                      </a:r>
                    </a:p>
                  </a:txBody>
                  <a:tcPr marL="91440" marR="91440" marT="45720" marB="45720">
                    <a:solidFill>
                      <a:srgbClr val="FFFFFF"/>
                    </a:solidFill>
                  </a:tcPr>
                </a:tc>
              </a:tr>
              <a:tr h="731520">
                <a:tc>
                  <a:txBody>
                    <a:bodyPr wrap="square" anchor="ctr" lIns="73152" rIns="73152"/>
                    <a:lstStyle/>
                    <a:p>
                      <a:pPr algn="l">
                        <a:lnSpc>
                          <a:spcPct val="125000"/>
                        </a:lnSpc>
                      </a:pPr>
                      <a:r>
                        <a:rPr sz="1400" b="0" i="0" lang="fr-FR">
                          <a:solidFill>
                            <a:srgbClr val="161616"/>
                          </a:solidFill>
                          <a:latin typeface="Arial"/>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108</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 écrite : « obligatoire » ou règle « tous sauf téléphone »</a:t>
            </a:r>
          </a:p>
          <a:p>
            <a:pPr algn="l">
              <a:lnSpc>
                <a:spcPct val="125000"/>
              </a:lnSpc>
            </a:pPr>
            <a:r>
              <a:rPr sz="1400" lang="fr-FR">
                <a:solidFill>
                  <a:srgbClr val="161616"/>
                </a:solidFill>
                <a:latin typeface="Arial"/>
              </a:rPr>
              <a:t>• </a:t>
            </a:r>
            <a:r>
              <a:rPr sz="1400" b="0" lang="fr-FR">
                <a:solidFill>
                  <a:srgbClr val="161616"/>
                </a:solidFill>
                <a:latin typeface="Arial"/>
              </a:rPr>
              <a:t>Astérisque expliqué s'il est utilisé</a:t>
            </a:r>
          </a:p>
          <a:p>
            <a:pPr algn="l">
              <a:lnSpc>
                <a:spcPct val="125000"/>
              </a:lnSpc>
            </a:pPr>
            <a:r>
              <a:rPr sz="1400" lang="fr-FR">
                <a:solidFill>
                  <a:srgbClr val="161616"/>
                </a:solidFill>
                <a:latin typeface="Arial"/>
              </a:rPr>
              <a:t>• </a:t>
            </a:r>
            <a:r>
              <a:rPr sz="1400" b="0" lang="fr-FR">
                <a:solidFill>
                  <a:srgbClr val="161616"/>
                </a:solidFill>
                <a:latin typeface="Arial"/>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Aucune erreur ne doit apparaître avant l'envoi</a:t>
            </a:r>
          </a:p>
          <a:p>
            <a:pPr algn="l">
              <a:lnSpc>
                <a:spcPct val="125000"/>
              </a:lnSpc>
            </a:pPr>
            <a:r>
              <a:rPr sz="1400" lang="fr-FR">
                <a:solidFill>
                  <a:srgbClr val="161616"/>
                </a:solidFill>
                <a:latin typeface="Arial"/>
              </a:rPr>
              <a:t>• </a:t>
            </a:r>
            <a:r>
              <a:rPr sz="1400" b="0" lang="fr-FR">
                <a:solidFill>
                  <a:srgbClr val="161616"/>
                </a:solidFill>
                <a:latin typeface="Arial"/>
              </a:rPr>
              <a:t>Message précis relié au champ, avec aria-invalid si erreur</a:t>
            </a:r>
          </a:p>
          <a:p>
            <a:pPr algn="l">
              <a:lnSpc>
                <a:spcPct val="125000"/>
              </a:lnSpc>
            </a:pPr>
            <a:r>
              <a:rPr sz="1400" lang="fr-FR">
                <a:solidFill>
                  <a:srgbClr val="161616"/>
                </a:solidFill>
                <a:latin typeface="Arial"/>
              </a:rPr>
              <a:t>• </a:t>
            </a:r>
            <a:r>
              <a:rPr sz="1400" b="0" lang="fr-FR">
                <a:solidFill>
                  <a:srgbClr val="161616"/>
                </a:solidFill>
                <a:latin typeface="Arial"/>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109</a:t>
            </a:r>
            <a:endParaRPr lang="fr-FR" dirty="0"/>
          </a:p>
        </p:txBody>
      </p:sp>
      <p:graphicFrame>
        <p:nvGraphicFramePr>
          <p:cNvPr id="8" name="Table 7"/>
          <p:cNvGraphicFramePr>
            <a:graphicFrameLocks noGrp="1"/>
          </p:cNvGraphicFramePr>
          <p:nvPr/>
        </p:nvGraphicFramePr>
        <p:xfrm>
          <a:off x="475488" y="1965960"/>
          <a:ext cx="11228831" cy="2560320"/>
        </p:xfrm>
        <a:graphic>
          <a:graphicData uri="http://schemas.openxmlformats.org/drawingml/2006/table">
            <a:tbl>
              <a:tblPr firstRow="1" bandRow="1">
                <a:tableStyleId>{5C22544A-7EE6-4342-B048-85BDC9FD1C3A}</a:tableStyleId>
              </a:tblPr>
              <a:tblGrid>
                <a:gridCol w="1874519"/>
                <a:gridCol w="3840480"/>
                <a:gridCol w="5513832"/>
              </a:tblGrid>
              <a:tr h="640080">
                <a:tc>
                  <a:txBody>
                    <a:bodyPr wrap="square" anchor="ctr" lIns="73152" rIns="73152"/>
                    <a:lstStyle/>
                    <a:p>
                      <a:pPr algn="l">
                        <a:lnSpc>
                          <a:spcPct val="125000"/>
                        </a:lnSpc>
                      </a:pPr>
                      <a:r>
                        <a:rPr sz="1400" b="1" i="0" lang="fr-FR">
                          <a:solidFill>
                            <a:srgbClr val="FFFFFF"/>
                          </a:solidFill>
                          <a:latin typeface="Arial"/>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court</a:t>
                      </a:r>
                    </a:p>
                  </a:txBody>
                  <a:tcPr marL="91440" marR="91440" marT="45720" marB="45720">
                    <a:solidFill>
                      <a:srgbClr val="000091"/>
                    </a:solidFill>
                  </a:tcPr>
                </a:tc>
              </a:tr>
              <a:tr h="640080">
                <a:tc>
                  <a:txBody>
                    <a:bodyPr wrap="square" anchor="ctr" lIns="73152" rIns="73152"/>
                    <a:lstStyle/>
                    <a:p>
                      <a:pPr algn="l">
                        <a:lnSpc>
                          <a:spcPct val="125000"/>
                        </a:lnSpc>
                      </a:pPr>
                      <a:r>
                        <a:rPr sz="1400" b="0" i="0" lang="fr-FR">
                          <a:solidFill>
                            <a:srgbClr val="161616"/>
                          </a:solidFill>
                          <a:latin typeface="Arial"/>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lien d’évitement n’apparaît pas au focus.</a:t>
                      </a:r>
                    </a:p>
                  </a:txBody>
                  <a:tcPr marL="91440" marR="91440" marT="45720" marB="45720">
                    <a:solidFill>
                      <a:srgbClr val="FFFFFF"/>
                    </a:solidFill>
                  </a:tcPr>
                </a:tc>
              </a:tr>
              <a:tr h="640080">
                <a:tc>
                  <a:txBody>
                    <a:bodyPr wrap="square" anchor="ctr" lIns="73152" rIns="73152"/>
                    <a:lstStyle/>
                    <a:p>
                      <a:pPr algn="l">
                        <a:lnSpc>
                          <a:spcPct val="125000"/>
                        </a:lnSpc>
                      </a:pPr>
                      <a:r>
                        <a:rPr sz="1400" b="0" i="0" lang="fr-FR">
                          <a:solidFill>
                            <a:srgbClr val="161616"/>
                          </a:solidFill>
                          <a:latin typeface="Arial"/>
                        </a:rPr>
                        <a:t>Mise en conformité à réaliser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Rendre le lien visible et cibler #contenu.</a:t>
                      </a:r>
                    </a:p>
                  </a:txBody>
                  <a:tcPr marL="91440" marR="91440" marT="45720" marB="45720">
                    <a:solidFill>
                      <a:srgbClr val="F5F5FE"/>
                    </a:solidFill>
                  </a:tcPr>
                </a:tc>
              </a:tr>
              <a:tr h="640080">
                <a:tc>
                  <a:txBody>
                    <a:bodyPr wrap="square" anchor="ctr" lIns="73152" rIns="73152"/>
                    <a:lstStyle/>
                    <a:p>
                      <a:pPr algn="l">
                        <a:lnSpc>
                          <a:spcPct val="125000"/>
                        </a:lnSpc>
                      </a:pPr>
                      <a:r>
                        <a:rPr sz="1400" b="0" i="0" lang="fr-FR">
                          <a:solidFill>
                            <a:srgbClr val="161616"/>
                          </a:solidFill>
                          <a:latin typeface="Arial"/>
                        </a:rPr>
                        <a:t>Preuve de l’écart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52628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6177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Règle de travail</a:t>
            </a:r>
          </a:p>
        </p:txBody>
      </p:sp>
      <p:sp>
        <p:nvSpPr>
          <p:cNvPr id="12" name="DSFR-callout-body"/>
          <p:cNvSpPr txBox="1"/>
          <p:nvPr/>
        </p:nvSpPr>
        <p:spPr>
          <a:xfrm>
            <a:off x="704088" y="502920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Un défaut sans preuve est difficile à traiter.</a:t>
            </a:r>
          </a:p>
          <a:p>
            <a:pPr algn="l">
              <a:lnSpc>
                <a:spcPct val="115000"/>
              </a:lnSpc>
            </a:pPr>
            <a:r>
              <a:rPr sz="1400" lang="fr-FR">
                <a:solidFill>
                  <a:srgbClr val="161616"/>
                </a:solidFill>
                <a:latin typeface="Arial"/>
              </a:rPr>
              <a:t>• </a:t>
            </a:r>
            <a:r>
              <a:rPr sz="1400" b="0" lang="fr-FR">
                <a:solidFill>
                  <a:srgbClr val="161616"/>
                </a:solidFill>
                <a:latin typeface="Arial"/>
              </a:rPr>
              <a:t>L’objectif est de documenter l’écart et de proposer sa correction, pas de calculer un taux.</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Grille</a:t>
            </a:r>
          </a:p>
        </p:txBody>
      </p:sp>
      <p:sp>
        <p:nvSpPr>
          <p:cNvPr id="9" name="DSFR-accent-decoratif" descr=""/>
          <p:cNvSpPr/>
          <p:nvPr/>
        </p:nvSpPr>
        <p:spPr>
          <a:xfrm>
            <a:off x="475488" y="452628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110</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Éviter les pages saturées de liens sans hiérarchie</a:t>
            </a:r>
          </a:p>
          <a:p>
            <a:pPr algn="l">
              <a:lnSpc>
                <a:spcPct val="120000"/>
              </a:lnSpc>
            </a:pPr>
            <a:r>
              <a:rPr sz="1400" lang="fr-FR">
                <a:solidFill>
                  <a:srgbClr val="161616"/>
                </a:solidFill>
                <a:latin typeface="Arial"/>
              </a:rPr>
              <a:t>• </a:t>
            </a:r>
            <a:r>
              <a:rPr sz="1400" b="0" lang="fr-FR">
                <a:solidFill>
                  <a:srgbClr val="161616"/>
                </a:solidFill>
                <a:latin typeface="Arial"/>
              </a:rPr>
              <a:t>Libellé explicite : « programme de l'exposition photo »</a:t>
            </a:r>
          </a:p>
          <a:p>
            <a:pPr algn="l">
              <a:lnSpc>
                <a:spcPct val="120000"/>
              </a:lnSpc>
            </a:pPr>
            <a:r>
              <a:rPr sz="1400" lang="fr-FR">
                <a:solidFill>
                  <a:srgbClr val="161616"/>
                </a:solidFill>
                <a:latin typeface="Arial"/>
              </a:rPr>
              <a:t>• </a:t>
            </a:r>
            <a:r>
              <a:rPr sz="1400" b="0" lang="fr-FR">
                <a:solidFill>
                  <a:srgbClr val="161616"/>
                </a:solidFill>
                <a:latin typeface="Arial"/>
              </a:rPr>
              <a:t>Éviter « cliquez ici », « en savoir plus », « programme » seul</a:t>
            </a:r>
          </a:p>
          <a:p>
            <a:pPr algn="l">
              <a:lnSpc>
                <a:spcPct val="120000"/>
              </a:lnSpc>
            </a:pPr>
            <a:r>
              <a:rPr sz="1400" lang="fr-FR">
                <a:solidFill>
                  <a:srgbClr val="161616"/>
                </a:solidFill>
                <a:latin typeface="Arial"/>
              </a:rPr>
              <a:t>• </a:t>
            </a:r>
            <a:r>
              <a:rPr sz="1400" b="0" lang="fr-FR">
                <a:solidFill>
                  <a:srgbClr val="161616"/>
                </a:solidFill>
                <a:latin typeface="Arial"/>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Texte sélectionnable : pas de PDF image ou scanné non navigable</a:t>
            </a:r>
          </a:p>
          <a:p>
            <a:pPr algn="l">
              <a:lnSpc>
                <a:spcPct val="120000"/>
              </a:lnSpc>
            </a:pPr>
            <a:r>
              <a:rPr sz="1400" lang="fr-FR">
                <a:solidFill>
                  <a:srgbClr val="161616"/>
                </a:solidFill>
                <a:latin typeface="Arial"/>
              </a:rPr>
              <a:t>• </a:t>
            </a:r>
            <a:r>
              <a:rPr sz="1400" b="0" lang="fr-FR">
                <a:solidFill>
                  <a:srgbClr val="161616"/>
                </a:solidFill>
                <a:latin typeface="Arial"/>
              </a:rPr>
              <a:t>Structure : titres, sommaire et liens internes si le document est long</a:t>
            </a:r>
          </a:p>
          <a:p>
            <a:pPr algn="l">
              <a:lnSpc>
                <a:spcPct val="120000"/>
              </a:lnSpc>
            </a:pPr>
            <a:r>
              <a:rPr sz="1400" lang="fr-FR">
                <a:solidFill>
                  <a:srgbClr val="161616"/>
                </a:solidFill>
                <a:latin typeface="Arial"/>
              </a:rPr>
              <a:t>• </a:t>
            </a:r>
            <a:r>
              <a:rPr sz="1400" b="0" lang="fr-FR">
                <a:solidFill>
                  <a:srgbClr val="161616"/>
                </a:solidFill>
                <a:latin typeface="Arial"/>
              </a:rPr>
              <a:t>Images avec texte alternatif</a:t>
            </a:r>
          </a:p>
          <a:p>
            <a:pPr algn="l">
              <a:lnSpc>
                <a:spcPct val="120000"/>
              </a:lnSpc>
            </a:pPr>
            <a:r>
              <a:rPr sz="1400" lang="fr-FR">
                <a:solidFill>
                  <a:srgbClr val="161616"/>
                </a:solidFill>
                <a:latin typeface="Arial"/>
              </a:rPr>
              <a:t>• </a:t>
            </a:r>
            <a:r>
              <a:rPr sz="1400" b="0" lang="fr-FR">
                <a:solidFill>
                  <a:srgbClr val="161616"/>
                </a:solidFill>
                <a:latin typeface="Arial"/>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 : audit en binôme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111</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Choisissez quelques points avec votre binôme : vous n’avez pas à tout couvrir</a:t>
            </a:r>
          </a:p>
          <a:p>
            <a:pPr algn="l">
              <a:lnSpc>
                <a:spcPct val="125000"/>
              </a:lnSpc>
            </a:pPr>
            <a:r>
              <a:rPr sz="1400" lang="fr-FR">
                <a:solidFill>
                  <a:srgbClr val="161616"/>
                </a:solidFill>
                <a:latin typeface="Arial"/>
              </a:rPr>
              <a:t>• </a:t>
            </a:r>
            <a:r>
              <a:rPr sz="1400" b="0" lang="fr-FR">
                <a:solidFill>
                  <a:srgbClr val="161616"/>
                </a:solidFill>
                <a:latin typeface="Arial"/>
              </a:rPr>
              <a:t>Un seul écart correctement prouvé suffit à documenter le point</a:t>
            </a:r>
          </a:p>
          <a:p>
            <a:pPr algn="l">
              <a:lnSpc>
                <a:spcPct val="125000"/>
              </a:lnSpc>
            </a:pPr>
            <a:r>
              <a:rPr sz="1400" lang="fr-FR">
                <a:solidFill>
                  <a:srgbClr val="161616"/>
                </a:solidFill>
                <a:latin typeface="Arial"/>
              </a:rPr>
              <a:t>• </a:t>
            </a:r>
            <a:r>
              <a:rPr sz="1400" b="0" lang="fr-FR">
                <a:solidFill>
                  <a:srgbClr val="161616"/>
                </a:solidFill>
                <a:latin typeface="Arial"/>
              </a:rPr>
              <a:t>Certains binômes commencent au début, d’autres par la fin</a:t>
            </a:r>
          </a:p>
          <a:p>
            <a:pPr algn="l">
              <a:lnSpc>
                <a:spcPct val="125000"/>
              </a:lnSpc>
            </a:pPr>
            <a:r>
              <a:rPr sz="1400" lang="fr-FR">
                <a:solidFill>
                  <a:srgbClr val="161616"/>
                </a:solidFill>
                <a:latin typeface="Arial"/>
              </a:rPr>
              <a:t>• </a:t>
            </a:r>
            <a:r>
              <a:rPr sz="1400" b="0" lang="fr-FR">
                <a:solidFill>
                  <a:srgbClr val="161616"/>
                </a:solidFill>
                <a:latin typeface="Arial"/>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Prouver 1 écart</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IV - Réseaux sociaux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IV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112</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Comprendre les enjeux des réseaux sociaux</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Décrire les images et choisir les plateformes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textes et les caractères lisibles</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Représenter les publics et écrire clairement</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avant de publier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IV</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113</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12 millions de personnes en situation de handicap en France (INSEE 2021)</a:t>
            </a:r>
          </a:p>
          <a:p>
            <a:pPr algn="l">
              <a:lnSpc>
                <a:spcPct val="120000"/>
              </a:lnSpc>
            </a:pPr>
            <a:r>
              <a:rPr sz="1400" lang="fr-FR">
                <a:solidFill>
                  <a:srgbClr val="161616"/>
                </a:solidFill>
                <a:latin typeface="Arial"/>
              </a:rPr>
              <a:t>• </a:t>
            </a:r>
            <a:r>
              <a:rPr sz="1400" b="0" lang="fr-FR">
                <a:solidFill>
                  <a:srgbClr val="161616"/>
                </a:solidFill>
                <a:latin typeface="Arial"/>
              </a:rPr>
              <a:t>Utilisateurs en contexte défavorable : faible luminosité, connexion lente, bruit</a:t>
            </a:r>
          </a:p>
          <a:p>
            <a:pPr algn="l">
              <a:lnSpc>
                <a:spcPct val="120000"/>
              </a:lnSpc>
            </a:pPr>
            <a:r>
              <a:rPr sz="1400" lang="fr-FR">
                <a:solidFill>
                  <a:srgbClr val="161616"/>
                </a:solidFill>
                <a:latin typeface="Arial"/>
              </a:rPr>
              <a:t>• </a:t>
            </a:r>
            <a:r>
              <a:rPr sz="1400" b="0" lang="fr-FR">
                <a:solidFill>
                  <a:srgbClr val="161616"/>
                </a:solidFill>
                <a:latin typeface="Arial"/>
              </a:rPr>
              <a:t>Moteurs de recherche et outils d'IA qui analysent vos contenus</a:t>
            </a:r>
          </a:p>
          <a:p>
            <a:pPr algn="l">
              <a:lnSpc>
                <a:spcPct val="120000"/>
              </a:lnSpc>
            </a:pPr>
            <a:r>
              <a:rPr sz="1400" lang="fr-FR">
                <a:solidFill>
                  <a:srgbClr val="161616"/>
                </a:solidFill>
                <a:latin typeface="Arial"/>
              </a:rPr>
              <a:t>• </a:t>
            </a:r>
            <a:r>
              <a:rPr sz="1400" b="0" lang="fr-FR">
                <a:solidFill>
                  <a:srgbClr val="161616"/>
                </a:solidFill>
                <a:latin typeface="Arial"/>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Geste 1 - Texte alternatif : décrire chaque image en 1 phrase</a:t>
            </a:r>
          </a:p>
          <a:p>
            <a:pPr algn="l">
              <a:lnSpc>
                <a:spcPct val="120000"/>
              </a:lnSpc>
            </a:pPr>
            <a:r>
              <a:rPr sz="1400" lang="fr-FR">
                <a:solidFill>
                  <a:srgbClr val="161616"/>
                </a:solidFill>
                <a:latin typeface="Arial"/>
              </a:rPr>
              <a:t>• </a:t>
            </a:r>
            <a:r>
              <a:rPr sz="1400" b="0" lang="fr-FR">
                <a:solidFill>
                  <a:srgbClr val="161616"/>
                </a:solidFill>
                <a:latin typeface="Arial"/>
              </a:rPr>
              <a:t>Geste 2 - Émojis : 1 ou 2 maximum, en fin de message</a:t>
            </a:r>
          </a:p>
          <a:p>
            <a:pPr algn="l">
              <a:lnSpc>
                <a:spcPct val="120000"/>
              </a:lnSpc>
            </a:pPr>
            <a:r>
              <a:rPr sz="1400" lang="fr-FR">
                <a:solidFill>
                  <a:srgbClr val="161616"/>
                </a:solidFill>
                <a:latin typeface="Arial"/>
              </a:rPr>
              <a:t>• </a:t>
            </a:r>
            <a:r>
              <a:rPr sz="1400" b="0" lang="fr-FR">
                <a:solidFill>
                  <a:srgbClr val="161616"/>
                </a:solidFill>
                <a:latin typeface="Arial"/>
              </a:rPr>
              <a:t>Geste 3 - Hashtags : CamelCase et regroupés en fin de post</a:t>
            </a:r>
          </a:p>
          <a:p>
            <a:pPr algn="l">
              <a:lnSpc>
                <a:spcPct val="120000"/>
              </a:lnSpc>
            </a:pPr>
            <a:r>
              <a:rPr sz="1400" lang="fr-FR">
                <a:solidFill>
                  <a:srgbClr val="161616"/>
                </a:solidFill>
                <a:latin typeface="Arial"/>
              </a:rPr>
              <a:t>• </a:t>
            </a:r>
            <a:r>
              <a:rPr sz="1400" b="0" lang="fr-FR">
                <a:solidFill>
                  <a:srgbClr val="161616"/>
                </a:solidFill>
                <a:latin typeface="Arial"/>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114</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Identifiez le maximum de problèmes d'accessibilité</a:t>
            </a:r>
          </a:p>
          <a:p>
            <a:pPr algn="l">
              <a:lnSpc>
                <a:spcPct val="150000"/>
              </a:lnSpc>
            </a:pPr>
            <a:r>
              <a:rPr sz="1400" lang="fr-FR">
                <a:solidFill>
                  <a:srgbClr val="161616"/>
                </a:solidFill>
                <a:latin typeface="Arial"/>
              </a:rPr>
              <a:t>• </a:t>
            </a:r>
            <a:r>
              <a:rPr sz="1400" b="0" lang="fr-FR">
                <a:solidFill>
                  <a:srgbClr val="161616"/>
                </a:solidFill>
                <a:latin typeface="Arial"/>
              </a:rPr>
              <a:t>Ne lisez pas le tweet à voix haute</a:t>
            </a:r>
          </a:p>
          <a:p>
            <a:pPr algn="l">
              <a:lnSpc>
                <a:spcPct val="150000"/>
              </a:lnSpc>
            </a:pPr>
            <a:r>
              <a:rPr sz="1400" lang="fr-FR">
                <a:solidFill>
                  <a:srgbClr val="161616"/>
                </a:solidFill>
                <a:latin typeface="Arial"/>
              </a:rPr>
              <a:t>• </a:t>
            </a:r>
            <a:r>
              <a:rPr sz="1400" b="0" lang="fr-FR">
                <a:solidFill>
                  <a:srgbClr val="161616"/>
                </a:solidFill>
                <a:latin typeface="Arial"/>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115</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Lavez-vous les 👐 avec du 🧼 &amp; de l'💦.</a:t>
            </a:r>
          </a:p>
          <a:p>
            <a:pPr algn="l">
              <a:lnSpc>
                <a:spcPct val="125000"/>
              </a:lnSpc>
            </a:pPr>
            <a:r>
              <a:rPr sz="1400" lang="fr-FR">
                <a:solidFill>
                  <a:srgbClr val="161616"/>
                </a:solidFill>
                <a:latin typeface="Arial"/>
              </a:rPr>
              <a:t>• </a:t>
            </a:r>
            <a:r>
              <a:rPr sz="1400" b="0" lang="fr-FR">
                <a:solidFill>
                  <a:srgbClr val="161616"/>
                </a:solidFill>
                <a:latin typeface="Arial"/>
              </a:rPr>
              <a:t>Quand vous toussez ou 🤧 couvrez votre 👄.</a:t>
            </a:r>
          </a:p>
          <a:p>
            <a:pPr algn="l">
              <a:lnSpc>
                <a:spcPct val="125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mains ouvertes avec du savon et éclaboussures de sueur.</a:t>
            </a:r>
          </a:p>
          <a:p>
            <a:pPr algn="l">
              <a:lnSpc>
                <a:spcPct val="150000"/>
              </a:lnSpc>
            </a:pPr>
            <a:r>
              <a:rPr sz="1400" lang="fr-FR">
                <a:solidFill>
                  <a:srgbClr val="161616"/>
                </a:solidFill>
                <a:latin typeface="Arial"/>
              </a:rPr>
              <a:t>• </a:t>
            </a:r>
            <a:r>
              <a:rPr sz="1400" b="0" lang="fr-FR">
                <a:solidFill>
                  <a:srgbClr val="161616"/>
                </a:solidFill>
                <a:latin typeface="Arial"/>
              </a:rPr>
              <a:t>Quand vous toussez ou visage qui éternue couvrez votre bouche.</a:t>
            </a:r>
          </a:p>
          <a:p>
            <a:pPr algn="l">
              <a:lnSpc>
                <a:spcPct val="150000"/>
              </a:lnSpc>
            </a:pPr>
            <a:r>
              <a:rPr sz="1400" lang="fr-FR">
                <a:solidFill>
                  <a:srgbClr val="161616"/>
                </a:solidFill>
                <a:latin typeface="Arial"/>
              </a:rPr>
              <a:t>• </a:t>
            </a:r>
            <a:r>
              <a:rPr sz="1400" b="0" lang="fr-FR">
                <a:solidFill>
                  <a:srgbClr val="161616"/>
                </a:solidFill>
                <a:latin typeface="Arial"/>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116</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 avec 1 désinfectant à base d'alcool, du 🧼 &amp; de l'💦.</a:t>
            </a:r>
          </a:p>
          <a:p>
            <a:pPr algn="l">
              <a:lnSpc>
                <a:spcPct val="150000"/>
              </a:lnSpc>
            </a:pPr>
            <a:r>
              <a:rPr sz="1400" lang="fr-FR">
                <a:solidFill>
                  <a:srgbClr val="161616"/>
                </a:solidFill>
                <a:latin typeface="Arial"/>
              </a:rPr>
              <a:t>• </a:t>
            </a:r>
            <a:r>
              <a:rPr sz="1400" b="0" lang="fr-FR">
                <a:solidFill>
                  <a:srgbClr val="161616"/>
                </a:solidFill>
                <a:latin typeface="Arial"/>
              </a:rPr>
              <a:t>Quand vous toussez ou 🤧 couvrez votre 👄 &amp; le 👃🏻.</a:t>
            </a:r>
          </a:p>
          <a:p>
            <a:pPr algn="l">
              <a:lnSpc>
                <a:spcPct val="150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du #COVID19 - trois gestes essentiels :</a:t>
            </a:r>
          </a:p>
          <a:p>
            <a:pPr algn="l">
              <a:lnSpc>
                <a:spcPct val="125000"/>
              </a:lnSpc>
            </a:pPr>
            <a:r>
              <a:rPr sz="1400" lang="fr-FR">
                <a:solidFill>
                  <a:srgbClr val="161616"/>
                </a:solidFill>
                <a:latin typeface="Arial"/>
              </a:rPr>
              <a:t>• </a:t>
            </a:r>
            <a:r>
              <a:rPr sz="1400" b="0" lang="fr-FR">
                <a:solidFill>
                  <a:srgbClr val="161616"/>
                </a:solidFill>
                <a:latin typeface="Arial"/>
              </a:rPr>
              <a:t>1. Lavez-vous régulièrement les mains avec du savon et de l'eau 🧼</a:t>
            </a:r>
          </a:p>
          <a:p>
            <a:pPr algn="l">
              <a:lnSpc>
                <a:spcPct val="125000"/>
              </a:lnSpc>
            </a:pPr>
            <a:r>
              <a:rPr sz="1400" lang="fr-FR">
                <a:solidFill>
                  <a:srgbClr val="161616"/>
                </a:solidFill>
                <a:latin typeface="Arial"/>
              </a:rPr>
              <a:t>• </a:t>
            </a:r>
            <a:r>
              <a:rPr sz="1400" b="0" lang="fr-FR">
                <a:solidFill>
                  <a:srgbClr val="161616"/>
                </a:solidFill>
                <a:latin typeface="Arial"/>
              </a:rPr>
              <a:t>2. Quand vous toussez, couvrez-vous avec le pli du coude</a:t>
            </a:r>
          </a:p>
          <a:p>
            <a:pPr algn="l">
              <a:lnSpc>
                <a:spcPct val="125000"/>
              </a:lnSpc>
            </a:pPr>
            <a:r>
              <a:rPr sz="1400" lang="fr-FR">
                <a:solidFill>
                  <a:srgbClr val="161616"/>
                </a:solidFill>
                <a:latin typeface="Arial"/>
              </a:rPr>
              <a:t>• </a:t>
            </a:r>
            <a:r>
              <a:rPr sz="1400" b="0" lang="fr-FR">
                <a:solidFill>
                  <a:srgbClr val="161616"/>
                </a:solidFill>
                <a:latin typeface="Arial"/>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Émojis réduits à 1, placé en fin de phrase - le message tient sans eux</a:t>
            </a:r>
          </a:p>
          <a:p>
            <a:pPr algn="l">
              <a:lnSpc>
                <a:spcPct val="115000"/>
              </a:lnSpc>
            </a:pPr>
            <a:r>
              <a:rPr sz="1400" lang="fr-FR">
                <a:solidFill>
                  <a:srgbClr val="161616"/>
                </a:solidFill>
                <a:latin typeface="Arial"/>
              </a:rPr>
              <a:t>• </a:t>
            </a:r>
            <a:r>
              <a:rPr sz="1400" b="0" lang="fr-FR">
                <a:solidFill>
                  <a:srgbClr val="161616"/>
                </a:solidFill>
                <a:latin typeface="Arial"/>
              </a:rPr>
              <a:t>Structure numérotée - navigation facile pour tous les utilisateurs</a:t>
            </a:r>
          </a:p>
          <a:p>
            <a:pPr algn="l">
              <a:lnSpc>
                <a:spcPct val="115000"/>
              </a:lnSpc>
            </a:pPr>
            <a:r>
              <a:rPr sz="1400" lang="fr-FR">
                <a:solidFill>
                  <a:srgbClr val="161616"/>
                </a:solidFill>
                <a:latin typeface="Arial"/>
              </a:rPr>
              <a:t>• </a:t>
            </a:r>
            <a:r>
              <a:rPr sz="1400" b="0" lang="fr-FR">
                <a:solidFill>
                  <a:srgbClr val="161616"/>
                </a:solidFill>
                <a:latin typeface="Arial"/>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117</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Fermez les yeux ou regardez ailleurs - écoutez uniquement</a:t>
            </a:r>
          </a:p>
          <a:p>
            <a:pPr algn="l">
              <a:lnSpc>
                <a:spcPct val="150000"/>
              </a:lnSpc>
            </a:pPr>
            <a:r>
              <a:rPr sz="1400" lang="fr-FR">
                <a:solidFill>
                  <a:srgbClr val="161616"/>
                </a:solidFill>
                <a:latin typeface="Arial"/>
              </a:rPr>
              <a:t>• </a:t>
            </a:r>
            <a:r>
              <a:rPr sz="1400" b="0" lang="fr-FR">
                <a:solidFill>
                  <a:srgbClr val="161616"/>
                </a:solidFill>
                <a:latin typeface="Arial"/>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118</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Décrire chaque image en 1 à 2 phrases</a:t>
            </a:r>
          </a:p>
          <a:p>
            <a:pPr algn="l">
              <a:lnSpc>
                <a:spcPct val="125000"/>
              </a:lnSpc>
            </a:pPr>
            <a:r>
              <a:rPr sz="1400" lang="fr-FR">
                <a:solidFill>
                  <a:srgbClr val="161616"/>
                </a:solidFill>
                <a:latin typeface="Arial"/>
              </a:rPr>
              <a:t>• </a:t>
            </a:r>
            <a:r>
              <a:rPr sz="1400" b="0" lang="fr-FR">
                <a:solidFill>
                  <a:srgbClr val="161616"/>
                </a:solidFill>
                <a:latin typeface="Arial"/>
              </a:rPr>
              <a:t>Image décorative : utiliser l’option « Décorative » si la plateforme la propose. Sinon, indiquer « Image décorative » dans le texte alternatif.</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 ou 2 maximum, en fin de message uniquement</a:t>
            </a:r>
          </a:p>
          <a:p>
            <a:pPr algn="l">
              <a:lnSpc>
                <a:spcPct val="125000"/>
              </a:lnSpc>
            </a:pPr>
            <a:r>
              <a:rPr sz="1400" lang="fr-FR">
                <a:solidFill>
                  <a:srgbClr val="161616"/>
                </a:solidFill>
                <a:latin typeface="Arial"/>
              </a:rPr>
              <a:t>• </a:t>
            </a:r>
            <a:r>
              <a:rPr sz="1400" b="0" lang="fr-FR">
                <a:solidFill>
                  <a:srgbClr val="161616"/>
                </a:solidFill>
                <a:latin typeface="Arial"/>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#ServicePublic pas #servicepublic</a:t>
            </a:r>
          </a:p>
          <a:p>
            <a:pPr algn="l">
              <a:lnSpc>
                <a:spcPct val="125000"/>
              </a:lnSpc>
            </a:pPr>
            <a:r>
              <a:rPr sz="1400" lang="fr-FR">
                <a:solidFill>
                  <a:srgbClr val="161616"/>
                </a:solidFill>
                <a:latin typeface="Arial"/>
              </a:rPr>
              <a:t>• </a:t>
            </a:r>
            <a:r>
              <a:rPr sz="1400" b="0" lang="fr-FR">
                <a:solidFill>
                  <a:srgbClr val="161616"/>
                </a:solidFill>
                <a:latin typeface="Arial"/>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de faux gras ou faux italique (InstaFont ...)</a:t>
            </a:r>
          </a:p>
          <a:p>
            <a:pPr algn="l">
              <a:lnSpc>
                <a:spcPct val="125000"/>
              </a:lnSpc>
            </a:pPr>
            <a:r>
              <a:rPr sz="1400" lang="fr-FR">
                <a:solidFill>
                  <a:srgbClr val="161616"/>
                </a:solidFill>
                <a:latin typeface="Arial"/>
              </a:rPr>
              <a:t>• </a:t>
            </a:r>
            <a:r>
              <a:rPr sz="1400" b="0" lang="fr-FR">
                <a:solidFill>
                  <a:srgbClr val="161616"/>
                </a:solidFill>
                <a:latin typeface="Arial"/>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Personnes aveugles ou malvoyantes (lecteur d'écran)</a:t>
            </a:r>
          </a:p>
          <a:p>
            <a:pPr algn="l">
              <a:lnSpc>
                <a:spcPct val="115000"/>
              </a:lnSpc>
            </a:pPr>
            <a:r>
              <a:rPr sz="1400" lang="fr-FR">
                <a:solidFill>
                  <a:srgbClr val="161616"/>
                </a:solidFill>
                <a:latin typeface="Arial"/>
              </a:rPr>
              <a:t>• </a:t>
            </a:r>
            <a:r>
              <a:rPr sz="1400" b="0" lang="fr-FR">
                <a:solidFill>
                  <a:srgbClr val="161616"/>
                </a:solidFill>
                <a:latin typeface="Arial"/>
              </a:rPr>
              <a:t>Connexion lente ou image non chargée</a:t>
            </a:r>
          </a:p>
          <a:p>
            <a:pPr algn="l">
              <a:lnSpc>
                <a:spcPct val="115000"/>
              </a:lnSpc>
            </a:pPr>
            <a:r>
              <a:rPr sz="1400" lang="fr-FR">
                <a:solidFill>
                  <a:srgbClr val="161616"/>
                </a:solidFill>
                <a:latin typeface="Arial"/>
              </a:rPr>
              <a:t>• </a:t>
            </a:r>
            <a:r>
              <a:rPr sz="1400" b="0" lang="fr-FR">
                <a:solidFill>
                  <a:srgbClr val="161616"/>
                </a:solidFill>
                <a:latin typeface="Arial"/>
              </a:rPr>
              <a:t>Moteurs de recherche (Google indexe via l'alt text)</a:t>
            </a:r>
          </a:p>
          <a:p>
            <a:pPr algn="l">
              <a:lnSpc>
                <a:spcPct val="115000"/>
              </a:lnSpc>
            </a:pPr>
            <a:r>
              <a:rPr sz="1400" lang="fr-FR">
                <a:solidFill>
                  <a:srgbClr val="161616"/>
                </a:solidFill>
                <a:latin typeface="Arial"/>
              </a:rPr>
              <a:t>• </a:t>
            </a:r>
            <a:r>
              <a:rPr sz="1400" b="0" lang="fr-FR">
                <a:solidFill>
                  <a:srgbClr val="161616"/>
                </a:solidFill>
                <a:latin typeface="Arial"/>
              </a:rPr>
              <a:t>IA et outils d'analyse d'image</a:t>
            </a:r>
          </a:p>
          <a:p>
            <a:pPr algn="l">
              <a:lnSpc>
                <a:spcPct val="115000"/>
              </a:lnSpc>
            </a:pPr>
            <a:r>
              <a:rPr sz="1400" lang="fr-FR">
                <a:solidFill>
                  <a:srgbClr val="161616"/>
                </a:solidFill>
                <a:latin typeface="Arial"/>
              </a:rPr>
              <a:t>• </a:t>
            </a:r>
            <a:r>
              <a:rPr sz="1400" b="0" lang="fr-FR">
                <a:solidFill>
                  <a:srgbClr val="161616"/>
                </a:solidFill>
                <a:latin typeface="Arial"/>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LinkedIn : Modifier → Texte alternatif</a:t>
            </a:r>
          </a:p>
          <a:p>
            <a:pPr algn="l">
              <a:lnSpc>
                <a:spcPct val="115000"/>
              </a:lnSpc>
            </a:pPr>
            <a:r>
              <a:rPr sz="1400" lang="fr-FR">
                <a:solidFill>
                  <a:srgbClr val="161616"/>
                </a:solidFill>
                <a:latin typeface="Arial"/>
              </a:rPr>
              <a:t>• </a:t>
            </a:r>
            <a:r>
              <a:rPr sz="1400" b="0" lang="fr-FR">
                <a:solidFill>
                  <a:srgbClr val="161616"/>
                </a:solidFill>
                <a:latin typeface="Arial"/>
              </a:rPr>
              <a:t>Facebook : Modifier l'image → Alt text</a:t>
            </a:r>
          </a:p>
          <a:p>
            <a:pPr algn="l">
              <a:lnSpc>
                <a:spcPct val="115000"/>
              </a:lnSpc>
            </a:pPr>
            <a:r>
              <a:rPr sz="1400" lang="fr-FR">
                <a:solidFill>
                  <a:srgbClr val="161616"/>
                </a:solidFill>
                <a:latin typeface="Arial"/>
              </a:rPr>
              <a:t>• </a:t>
            </a:r>
            <a:r>
              <a:rPr sz="1400" b="0" lang="fr-FR">
                <a:solidFill>
                  <a:srgbClr val="161616"/>
                </a:solidFill>
                <a:latin typeface="Arial"/>
              </a:rPr>
              <a:t>Twitter/X : intégré à la publication</a:t>
            </a:r>
          </a:p>
          <a:p>
            <a:pPr algn="l">
              <a:lnSpc>
                <a:spcPct val="115000"/>
              </a:lnSpc>
            </a:pPr>
            <a:r>
              <a:rPr sz="1400" lang="fr-FR">
                <a:solidFill>
                  <a:srgbClr val="161616"/>
                </a:solidFill>
                <a:latin typeface="Arial"/>
              </a:rPr>
              <a:t>• </a:t>
            </a:r>
            <a:r>
              <a:rPr sz="1400" b="0" lang="fr-FR">
                <a:solidFill>
                  <a:srgbClr val="161616"/>
                </a:solidFill>
                <a:latin typeface="Arial"/>
              </a:rPr>
              <a:t>Instagram : Paramètres avancés → Alt text</a:t>
            </a:r>
          </a:p>
          <a:p>
            <a:pPr algn="l">
              <a:lnSpc>
                <a:spcPct val="115000"/>
              </a:lnSpc>
            </a:pPr>
            <a:r>
              <a:rPr sz="1400" lang="fr-FR">
                <a:solidFill>
                  <a:srgbClr val="161616"/>
                </a:solidFill>
                <a:latin typeface="Arial"/>
              </a:rPr>
              <a:t>• </a:t>
            </a:r>
            <a:r>
              <a:rPr sz="1400" b="0" lang="fr-FR">
                <a:solidFill>
                  <a:srgbClr val="161616"/>
                </a:solidFill>
                <a:latin typeface="Arial"/>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120</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"image.jpg" - nom de fichier, aucun sens</a:t>
            </a:r>
          </a:p>
          <a:p>
            <a:pPr algn="l">
              <a:lnSpc>
                <a:spcPct val="150000"/>
              </a:lnSpc>
            </a:pPr>
            <a:r>
              <a:rPr sz="1400" lang="fr-FR">
                <a:solidFill>
                  <a:srgbClr val="161616"/>
                </a:solidFill>
                <a:latin typeface="Arial"/>
              </a:rPr>
              <a:t>• </a:t>
            </a:r>
            <a:r>
              <a:rPr sz="1400" b="0" lang="fr-FR">
                <a:solidFill>
                  <a:srgbClr val="161616"/>
                </a:solidFill>
                <a:latin typeface="Arial"/>
              </a:rPr>
              <a:t>"Photo" - trop vague, aucune information</a:t>
            </a:r>
          </a:p>
          <a:p>
            <a:pPr algn="l">
              <a:lnSpc>
                <a:spcPct val="150000"/>
              </a:lnSpc>
            </a:pPr>
            <a:r>
              <a:rPr sz="1400" lang="fr-FR">
                <a:solidFill>
                  <a:srgbClr val="161616"/>
                </a:solidFill>
                <a:latin typeface="Arial"/>
              </a:rPr>
              <a:t>• </a:t>
            </a:r>
            <a:r>
              <a:rPr sz="1400" b="0" lang="fr-FR">
                <a:solidFill>
                  <a:srgbClr val="161616"/>
                </a:solidFill>
                <a:latin typeface="Arial"/>
              </a:rPr>
              <a:t>"Image de la réunion du 12 mars 2026" - date inutile sans contexte</a:t>
            </a:r>
          </a:p>
          <a:p>
            <a:pPr algn="l">
              <a:lnSpc>
                <a:spcPct val="150000"/>
              </a:lnSpc>
            </a:pPr>
            <a:r>
              <a:rPr sz="1400" lang="fr-FR">
                <a:solidFill>
                  <a:srgbClr val="161616"/>
                </a:solidFill>
                <a:latin typeface="Arial"/>
              </a:rPr>
              <a:t>• </a:t>
            </a:r>
            <a:r>
              <a:rPr sz="1400" b="0" lang="fr-FR">
                <a:solidFill>
                  <a:srgbClr val="161616"/>
                </a:solidFill>
                <a:latin typeface="Arial"/>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"Trois agents discutent autour d'une table, documents ouverts"</a:t>
            </a:r>
          </a:p>
          <a:p>
            <a:pPr algn="l">
              <a:lnSpc>
                <a:spcPct val="125000"/>
              </a:lnSpc>
            </a:pPr>
            <a:r>
              <a:rPr sz="1400" lang="fr-FR">
                <a:solidFill>
                  <a:srgbClr val="161616"/>
                </a:solidFill>
                <a:latin typeface="Arial"/>
              </a:rPr>
              <a:t>• </a:t>
            </a:r>
            <a:r>
              <a:rPr sz="1400" b="0" lang="fr-FR">
                <a:solidFill>
                  <a:srgbClr val="161616"/>
                </a:solidFill>
                <a:latin typeface="Arial"/>
              </a:rPr>
              <a:t>"Logo DINUM - bleu avec texte blanc"</a:t>
            </a:r>
          </a:p>
          <a:p>
            <a:pPr algn="l">
              <a:lnSpc>
                <a:spcPct val="125000"/>
              </a:lnSpc>
            </a:pPr>
            <a:r>
              <a:rPr sz="1400" lang="fr-FR">
                <a:solidFill>
                  <a:srgbClr val="161616"/>
                </a:solidFill>
                <a:latin typeface="Arial"/>
              </a:rPr>
              <a:t>• </a:t>
            </a:r>
            <a:r>
              <a:rPr sz="1400" b="0" lang="fr-FR">
                <a:solidFill>
                  <a:srgbClr val="161616"/>
                </a:solidFill>
                <a:latin typeface="Arial"/>
              </a:rPr>
              <a:t>"Graphique : le taux d'accessibilité passe de 45 à 78 % entre 2023 et 2025"</a:t>
            </a:r>
          </a:p>
          <a:p>
            <a:pPr algn="l">
              <a:lnSpc>
                <a:spcPct val="125000"/>
              </a:lnSpc>
            </a:pPr>
            <a:r>
              <a:rPr sz="1400" lang="fr-FR">
                <a:solidFill>
                  <a:srgbClr val="161616"/>
                </a:solidFill>
                <a:latin typeface="Arial"/>
              </a:rPr>
              <a:t>• </a:t>
            </a:r>
            <a:r>
              <a:rPr sz="1400" b="0" lang="fr-FR">
                <a:solidFill>
                  <a:srgbClr val="161616"/>
                </a:solidFill>
                <a:latin typeface="Arial"/>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121</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Arial"/>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Arial"/>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LinkedIn et Instagram proposent un rappel si vous oubliez l'alt text</a:t>
            </a:r>
          </a:p>
          <a:p>
            <a:pPr algn="l">
              <a:lnSpc>
                <a:spcPct val="150000"/>
              </a:lnSpc>
            </a:pPr>
            <a:r>
              <a:rPr sz="1400" lang="fr-FR">
                <a:solidFill>
                  <a:srgbClr val="161616"/>
                </a:solidFill>
                <a:latin typeface="Arial"/>
              </a:rPr>
              <a:t>• </a:t>
            </a:r>
            <a:r>
              <a:rPr sz="1400" b="0" lang="fr-FR">
                <a:solidFill>
                  <a:srgbClr val="161616"/>
                </a:solidFill>
                <a:latin typeface="Arial"/>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Retirez tous les émojis du texte</a:t>
            </a:r>
          </a:p>
          <a:p>
            <a:pPr algn="l">
              <a:lnSpc>
                <a:spcPct val="120000"/>
              </a:lnSpc>
            </a:pPr>
            <a:r>
              <a:rPr sz="1400" lang="fr-FR">
                <a:solidFill>
                  <a:srgbClr val="161616"/>
                </a:solidFill>
                <a:latin typeface="Arial"/>
              </a:rPr>
              <a:t>• </a:t>
            </a:r>
            <a:r>
              <a:rPr sz="1400" b="0" lang="fr-FR">
                <a:solidFill>
                  <a:srgbClr val="161616"/>
                </a:solidFill>
                <a:latin typeface="Arial"/>
              </a:rPr>
              <a:t>Le message est-il toujours clair et complet ? Si oui : bon signe</a:t>
            </a:r>
          </a:p>
          <a:p>
            <a:pPr algn="l">
              <a:lnSpc>
                <a:spcPct val="120000"/>
              </a:lnSpc>
            </a:pPr>
            <a:r>
              <a:rPr sz="1400" lang="fr-FR">
                <a:solidFill>
                  <a:srgbClr val="161616"/>
                </a:solidFill>
                <a:latin typeface="Arial"/>
              </a:rPr>
              <a:t>• </a:t>
            </a:r>
            <a:r>
              <a:rPr sz="1400" b="0" lang="fr-FR">
                <a:solidFill>
                  <a:srgbClr val="161616"/>
                </a:solidFill>
                <a:latin typeface="Arial"/>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123</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124</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#ServicePublic : les mots sont séparés naturellement</a:t>
            </a:r>
          </a:p>
          <a:p>
            <a:pPr algn="l">
              <a:lnSpc>
                <a:spcPct val="115000"/>
              </a:lnSpc>
            </a:pPr>
            <a:r>
              <a:rPr sz="1400" lang="fr-FR">
                <a:solidFill>
                  <a:srgbClr val="161616"/>
                </a:solidFill>
                <a:latin typeface="Arial"/>
              </a:rPr>
              <a:t>• </a:t>
            </a:r>
            <a:r>
              <a:rPr sz="1400" b="0" lang="fr-FR">
                <a:solidFill>
                  <a:srgbClr val="161616"/>
                </a:solidFill>
                <a:latin typeface="Arial"/>
              </a:rPr>
              <a:t>#servicepublic : un seul bloc, plus difficile à comprendre</a:t>
            </a:r>
          </a:p>
          <a:p>
            <a:pPr algn="l">
              <a:lnSpc>
                <a:spcPct val="115000"/>
              </a:lnSpc>
            </a:pPr>
            <a:r>
              <a:rPr sz="1400" lang="fr-FR">
                <a:solidFill>
                  <a:srgbClr val="161616"/>
                </a:solidFill>
                <a:latin typeface="Arial"/>
              </a:rPr>
              <a:t>• </a:t>
            </a:r>
            <a:r>
              <a:rPr sz="1400" b="0" lang="fr-FR">
                <a:solidFill>
                  <a:srgbClr val="161616"/>
                </a:solidFill>
                <a:latin typeface="Arial"/>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Majuscule au début de chaque mot</a:t>
            </a:r>
          </a:p>
          <a:p>
            <a:pPr algn="l">
              <a:lnSpc>
                <a:spcPct val="115000"/>
              </a:lnSpc>
            </a:pPr>
            <a:r>
              <a:rPr sz="1400" lang="fr-FR">
                <a:solidFill>
                  <a:srgbClr val="161616"/>
                </a:solidFill>
                <a:latin typeface="Arial"/>
              </a:rPr>
              <a:t>• </a:t>
            </a:r>
            <a:r>
              <a:rPr sz="1400" b="0" lang="fr-FR">
                <a:solidFill>
                  <a:srgbClr val="161616"/>
                </a:solidFill>
                <a:latin typeface="Arial"/>
              </a:rPr>
              <a:t>Hashtags regroupés à la fin du post</a:t>
            </a:r>
          </a:p>
          <a:p>
            <a:pPr algn="l">
              <a:lnSpc>
                <a:spcPct val="115000"/>
              </a:lnSpc>
            </a:pPr>
            <a:r>
              <a:rPr sz="1400" lang="fr-FR">
                <a:solidFill>
                  <a:srgbClr val="161616"/>
                </a:solidFill>
                <a:latin typeface="Arial"/>
              </a:rPr>
              <a:t>• </a:t>
            </a:r>
            <a:r>
              <a:rPr sz="1400" b="0" lang="fr-FR">
                <a:solidFill>
                  <a:srgbClr val="161616"/>
                </a:solidFill>
                <a:latin typeface="Arial"/>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125</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InstaFont, LingoJam ... transforment les lettres en symboles</a:t>
            </a:r>
          </a:p>
          <a:p>
            <a:pPr algn="l">
              <a:lnSpc>
                <a:spcPct val="115000"/>
              </a:lnSpc>
            </a:pPr>
            <a:r>
              <a:rPr sz="1400" lang="fr-FR">
                <a:solidFill>
                  <a:srgbClr val="161616"/>
                </a:solidFill>
                <a:latin typeface="Arial"/>
              </a:rPr>
              <a:t>• </a:t>
            </a:r>
            <a:r>
              <a:rPr sz="1400" b="0" lang="fr-FR">
                <a:solidFill>
                  <a:srgbClr val="161616"/>
                </a:solidFill>
                <a:latin typeface="Arial"/>
              </a:rPr>
              <a:t>Le lecteur d'écran peut épeler, déformer ou ignorer le message</a:t>
            </a:r>
          </a:p>
          <a:p>
            <a:pPr algn="l">
              <a:lnSpc>
                <a:spcPct val="115000"/>
              </a:lnSpc>
            </a:pPr>
            <a:r>
              <a:rPr sz="1400" lang="fr-FR">
                <a:solidFill>
                  <a:srgbClr val="161616"/>
                </a:solidFill>
                <a:latin typeface="Arial"/>
              </a:rPr>
              <a:t>• </a:t>
            </a:r>
            <a:r>
              <a:rPr sz="1400" b="0" lang="fr-FR">
                <a:solidFill>
                  <a:srgbClr val="161616"/>
                </a:solidFill>
                <a:latin typeface="Arial"/>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Utiliser le gras natif de la plateforme quand il existe</a:t>
            </a:r>
          </a:p>
          <a:p>
            <a:pPr algn="l">
              <a:lnSpc>
                <a:spcPct val="115000"/>
              </a:lnSpc>
            </a:pPr>
            <a:r>
              <a:rPr sz="1400" lang="fr-FR">
                <a:solidFill>
                  <a:srgbClr val="161616"/>
                </a:solidFill>
                <a:latin typeface="Arial"/>
              </a:rPr>
              <a:t>• </a:t>
            </a:r>
            <a:r>
              <a:rPr sz="1400" b="0" lang="fr-FR">
                <a:solidFill>
                  <a:srgbClr val="161616"/>
                </a:solidFill>
                <a:latin typeface="Arial"/>
              </a:rPr>
              <a:t>Sinon : écrire en texte simple</a:t>
            </a:r>
          </a:p>
          <a:p>
            <a:pPr algn="l">
              <a:lnSpc>
                <a:spcPct val="115000"/>
              </a:lnSpc>
            </a:pPr>
            <a:r>
              <a:rPr sz="1400" lang="fr-FR">
                <a:solidFill>
                  <a:srgbClr val="161616"/>
                </a:solidFill>
                <a:latin typeface="Arial"/>
              </a:rPr>
              <a:t>• </a:t>
            </a:r>
            <a:r>
              <a:rPr sz="1400" b="0" lang="fr-FR">
                <a:solidFill>
                  <a:srgbClr val="161616"/>
                </a:solidFill>
                <a:latin typeface="Arial"/>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Arial"/>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126</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Qui est visible dans cette communication ?</a:t>
            </a:r>
          </a:p>
          <a:p>
            <a:pPr algn="l">
              <a:lnSpc>
                <a:spcPct val="115000"/>
              </a:lnSpc>
            </a:pPr>
            <a:r>
              <a:rPr sz="1400" lang="fr-FR">
                <a:solidFill>
                  <a:srgbClr val="161616"/>
                </a:solidFill>
                <a:latin typeface="Arial"/>
              </a:rPr>
              <a:t>• </a:t>
            </a:r>
            <a:r>
              <a:rPr sz="1400" b="0" lang="fr-FR">
                <a:solidFill>
                  <a:srgbClr val="161616"/>
                </a:solidFill>
                <a:latin typeface="Arial"/>
              </a:rPr>
              <a:t>Qui est absent ou toujours montré en marge ?</a:t>
            </a:r>
          </a:p>
          <a:p>
            <a:pPr algn="l">
              <a:lnSpc>
                <a:spcPct val="115000"/>
              </a:lnSpc>
            </a:pPr>
            <a:r>
              <a:rPr sz="1400" lang="fr-FR">
                <a:solidFill>
                  <a:srgbClr val="161616"/>
                </a:solidFill>
                <a:latin typeface="Arial"/>
              </a:rPr>
              <a:t>• </a:t>
            </a:r>
            <a:r>
              <a:rPr sz="1400" b="0" lang="fr-FR">
                <a:solidFill>
                  <a:srgbClr val="161616"/>
                </a:solidFill>
                <a:latin typeface="Arial"/>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Les personnes concernées peuvent se sentir attendues</a:t>
            </a:r>
          </a:p>
          <a:p>
            <a:pPr algn="l">
              <a:lnSpc>
                <a:spcPct val="115000"/>
              </a:lnSpc>
            </a:pPr>
            <a:r>
              <a:rPr sz="1400" lang="fr-FR">
                <a:solidFill>
                  <a:srgbClr val="161616"/>
                </a:solidFill>
                <a:latin typeface="Arial"/>
              </a:rPr>
              <a:t>• </a:t>
            </a:r>
            <a:r>
              <a:rPr sz="1400" b="0" lang="fr-FR">
                <a:solidFill>
                  <a:srgbClr val="161616"/>
                </a:solidFill>
                <a:latin typeface="Arial"/>
              </a:rPr>
              <a:t>La communication évite de reconduire une seule norme</a:t>
            </a:r>
          </a:p>
          <a:p>
            <a:pPr algn="l">
              <a:lnSpc>
                <a:spcPct val="115000"/>
              </a:lnSpc>
            </a:pPr>
            <a:r>
              <a:rPr sz="1400" lang="fr-FR">
                <a:solidFill>
                  <a:srgbClr val="161616"/>
                </a:solidFill>
                <a:latin typeface="Arial"/>
              </a:rPr>
              <a:t>• </a:t>
            </a:r>
            <a:r>
              <a:rPr sz="1400" b="0" lang="fr-FR">
                <a:solidFill>
                  <a:srgbClr val="161616"/>
                </a:solidFill>
                <a:latin typeface="Arial"/>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127</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Diversité montrée dans des situations ordinaires</a:t>
            </a:r>
          </a:p>
          <a:p>
            <a:pPr algn="l">
              <a:lnSpc>
                <a:spcPct val="115000"/>
              </a:lnSpc>
            </a:pPr>
            <a:r>
              <a:rPr sz="1400" lang="fr-FR">
                <a:solidFill>
                  <a:srgbClr val="161616"/>
                </a:solidFill>
                <a:latin typeface="Arial"/>
              </a:rPr>
              <a:t>• </a:t>
            </a:r>
            <a:r>
              <a:rPr sz="1400" b="0" lang="fr-FR">
                <a:solidFill>
                  <a:srgbClr val="161616"/>
                </a:solidFill>
                <a:latin typeface="Arial"/>
              </a:rPr>
              <a:t>Personnes concernées en rôle actif, pas seulement décoratif</a:t>
            </a:r>
          </a:p>
          <a:p>
            <a:pPr algn="l">
              <a:lnSpc>
                <a:spcPct val="115000"/>
              </a:lnSpc>
            </a:pPr>
            <a:r>
              <a:rPr sz="1400" lang="fr-FR">
                <a:solidFill>
                  <a:srgbClr val="161616"/>
                </a:solidFill>
                <a:latin typeface="Arial"/>
              </a:rPr>
              <a:t>• </a:t>
            </a:r>
            <a:r>
              <a:rPr sz="1400" b="0" lang="fr-FR">
                <a:solidFill>
                  <a:srgbClr val="161616"/>
                </a:solidFill>
                <a:latin typeface="Arial"/>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Image symbolique sans réalité derrière</a:t>
            </a:r>
          </a:p>
          <a:p>
            <a:pPr algn="l">
              <a:lnSpc>
                <a:spcPct val="115000"/>
              </a:lnSpc>
            </a:pPr>
            <a:r>
              <a:rPr sz="1400" lang="fr-FR">
                <a:solidFill>
                  <a:srgbClr val="161616"/>
                </a:solidFill>
                <a:latin typeface="Arial"/>
              </a:rPr>
              <a:t>• </a:t>
            </a:r>
            <a:r>
              <a:rPr sz="1400" b="0" lang="fr-FR">
                <a:solidFill>
                  <a:srgbClr val="161616"/>
                </a:solidFill>
                <a:latin typeface="Arial"/>
              </a:rPr>
              <a:t>Personne réduite à son handicap ou à son identité</a:t>
            </a:r>
          </a:p>
          <a:p>
            <a:pPr algn="l">
              <a:lnSpc>
                <a:spcPct val="115000"/>
              </a:lnSpc>
            </a:pPr>
            <a:r>
              <a:rPr sz="1400" lang="fr-FR">
                <a:solidFill>
                  <a:srgbClr val="161616"/>
                </a:solidFill>
                <a:latin typeface="Arial"/>
              </a:rPr>
              <a:t>• </a:t>
            </a:r>
            <a:r>
              <a:rPr sz="1400" b="0" lang="fr-FR">
                <a:solidFill>
                  <a:srgbClr val="161616"/>
                </a:solidFill>
                <a:latin typeface="Arial"/>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128</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Formules épicènes : 'Nous vous convions', 'les personnes concernées'</a:t>
            </a:r>
          </a:p>
          <a:p>
            <a:pPr algn="l">
              <a:lnSpc>
                <a:spcPct val="120000"/>
              </a:lnSpc>
            </a:pPr>
            <a:r>
              <a:rPr sz="1400" lang="fr-FR">
                <a:solidFill>
                  <a:srgbClr val="161616"/>
                </a:solidFill>
                <a:latin typeface="Arial"/>
              </a:rPr>
              <a:t>• </a:t>
            </a:r>
            <a:r>
              <a:rPr sz="1400" b="0" lang="fr-FR">
                <a:solidFill>
                  <a:srgbClr val="161616"/>
                </a:solidFill>
                <a:latin typeface="Arial"/>
              </a:rPr>
              <a:t>Mots collectifs : 'le public', 'l'équipe', 'la clientèle'</a:t>
            </a:r>
          </a:p>
          <a:p>
            <a:pPr algn="l">
              <a:lnSpc>
                <a:spcPct val="120000"/>
              </a:lnSpc>
            </a:pPr>
            <a:r>
              <a:rPr sz="1400" lang="fr-FR">
                <a:solidFill>
                  <a:srgbClr val="161616"/>
                </a:solidFill>
                <a:latin typeface="Arial"/>
              </a:rPr>
              <a:t>• </a:t>
            </a:r>
            <a:r>
              <a:rPr sz="1400" b="0" lang="fr-FR">
                <a:solidFill>
                  <a:srgbClr val="161616"/>
                </a:solidFill>
                <a:latin typeface="Arial"/>
              </a:rPr>
              <a:t>Double flexion si nécessaire : 'les utilisateurs et utilisatrices'</a:t>
            </a:r>
          </a:p>
          <a:p>
            <a:pPr algn="l">
              <a:lnSpc>
                <a:spcPct val="120000"/>
              </a:lnSpc>
            </a:pPr>
            <a:r>
              <a:rPr sz="1400" lang="fr-FR">
                <a:solidFill>
                  <a:srgbClr val="161616"/>
                </a:solidFill>
                <a:latin typeface="Arial"/>
              </a:rPr>
              <a:t>• </a:t>
            </a:r>
            <a:r>
              <a:rPr sz="1400" b="0" lang="fr-FR">
                <a:solidFill>
                  <a:srgbClr val="161616"/>
                </a:solidFill>
                <a:latin typeface="Arial"/>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Point médian ou ponctuation répétée quand cela gêne la lecture</a:t>
            </a:r>
          </a:p>
          <a:p>
            <a:pPr algn="l">
              <a:lnSpc>
                <a:spcPct val="120000"/>
              </a:lnSpc>
            </a:pPr>
            <a:r>
              <a:rPr sz="1400" lang="fr-FR">
                <a:solidFill>
                  <a:srgbClr val="161616"/>
                </a:solidFill>
                <a:latin typeface="Arial"/>
              </a:rPr>
              <a:t>• </a:t>
            </a:r>
            <a:r>
              <a:rPr sz="1400" b="0" lang="fr-FR">
                <a:solidFill>
                  <a:srgbClr val="161616"/>
                </a:solidFill>
                <a:latin typeface="Arial"/>
              </a:rPr>
              <a:t>Formes trop compressées : elles ralentissent aussi la lecture visuelle</a:t>
            </a:r>
          </a:p>
          <a:p>
            <a:pPr algn="l">
              <a:lnSpc>
                <a:spcPct val="120000"/>
              </a:lnSpc>
            </a:pPr>
            <a:r>
              <a:rPr sz="1400" lang="fr-FR">
                <a:solidFill>
                  <a:srgbClr val="161616"/>
                </a:solidFill>
                <a:latin typeface="Arial"/>
              </a:rPr>
              <a:t>• </a:t>
            </a:r>
            <a:r>
              <a:rPr sz="1400" b="0" lang="fr-FR">
                <a:solidFill>
                  <a:srgbClr val="161616"/>
                </a:solidFill>
                <a:latin typeface="Arial"/>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3 min : choisir le post et le contexte</a:t>
            </a:r>
          </a:p>
          <a:p>
            <a:pPr algn="l">
              <a:lnSpc>
                <a:spcPct val="115000"/>
              </a:lnSpc>
            </a:pPr>
            <a:r>
              <a:rPr sz="1400" lang="fr-FR">
                <a:solidFill>
                  <a:srgbClr val="161616"/>
                </a:solidFill>
                <a:latin typeface="Arial"/>
              </a:rPr>
              <a:t>• </a:t>
            </a:r>
            <a:r>
              <a:rPr sz="1400" b="0" lang="fr-FR">
                <a:solidFill>
                  <a:srgbClr val="161616"/>
                </a:solidFill>
                <a:latin typeface="Arial"/>
              </a:rPr>
              <a:t>8 min : passer les 3 checklists</a:t>
            </a:r>
          </a:p>
          <a:p>
            <a:pPr algn="l">
              <a:lnSpc>
                <a:spcPct val="115000"/>
              </a:lnSpc>
            </a:pPr>
            <a:r>
              <a:rPr sz="1400" lang="fr-FR">
                <a:solidFill>
                  <a:srgbClr val="161616"/>
                </a:solidFill>
                <a:latin typeface="Arial"/>
              </a:rPr>
              <a:t>• </a:t>
            </a:r>
            <a:r>
              <a:rPr sz="1400" b="0" lang="fr-FR">
                <a:solidFill>
                  <a:srgbClr val="161616"/>
                </a:solidFill>
                <a:latin typeface="Arial"/>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 point le plus bloquant</a:t>
            </a:r>
          </a:p>
          <a:p>
            <a:pPr algn="l">
              <a:lnSpc>
                <a:spcPct val="115000"/>
              </a:lnSpc>
            </a:pPr>
            <a:r>
              <a:rPr sz="1400" lang="fr-FR">
                <a:solidFill>
                  <a:srgbClr val="161616"/>
                </a:solidFill>
                <a:latin typeface="Arial"/>
              </a:rPr>
              <a:t>• </a:t>
            </a:r>
            <a:r>
              <a:rPr sz="1400" b="0" lang="fr-FR">
                <a:solidFill>
                  <a:srgbClr val="161616"/>
                </a:solidFill>
                <a:latin typeface="Arial"/>
              </a:rPr>
              <a:t>La correction proposée</a:t>
            </a:r>
          </a:p>
          <a:p>
            <a:pPr algn="l">
              <a:lnSpc>
                <a:spcPct val="115000"/>
              </a:lnSpc>
            </a:pPr>
            <a:r>
              <a:rPr sz="1400" lang="fr-FR">
                <a:solidFill>
                  <a:srgbClr val="161616"/>
                </a:solidFill>
                <a:latin typeface="Arial"/>
              </a:rPr>
              <a:t>• </a:t>
            </a:r>
            <a:r>
              <a:rPr sz="1400" b="0" lang="fr-FR">
                <a:solidFill>
                  <a:srgbClr val="161616"/>
                </a:solidFill>
                <a:latin typeface="Arial"/>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Média prévu ? image = alt text, audio = transcription, vidéo = sous-titres</a:t>
            </a:r>
          </a:p>
          <a:p>
            <a:pPr algn="l">
              <a:lnSpc>
                <a:spcPct val="150000"/>
              </a:lnSpc>
            </a:pPr>
            <a:r>
              <a:rPr sz="1800" b="1" lang="fr-FR">
                <a:solidFill>
                  <a:srgbClr val="000091"/>
                </a:solidFill>
                <a:latin typeface="Arial"/>
              </a:rPr>
              <a:t>☐  </a:t>
            </a:r>
            <a:r>
              <a:rPr sz="1400" lang="fr-FR">
                <a:solidFill>
                  <a:srgbClr val="161616"/>
                </a:solidFill>
                <a:latin typeface="Arial"/>
              </a:rPr>
              <a:t>Visuels : représentations diverses et cohérentes avec la réalité accessible</a:t>
            </a:r>
          </a:p>
          <a:p>
            <a:pPr algn="l">
              <a:lnSpc>
                <a:spcPct val="150000"/>
              </a:lnSpc>
            </a:pPr>
            <a:r>
              <a:rPr sz="1800" b="1" lang="fr-FR">
                <a:solidFill>
                  <a:srgbClr val="000091"/>
                </a:solidFill>
                <a:latin typeface="Arial"/>
              </a:rPr>
              <a:t>☐  </a:t>
            </a:r>
            <a:r>
              <a:rPr sz="1400" lang="fr-FR">
                <a:solidFill>
                  <a:srgbClr val="161616"/>
                </a:solidFill>
                <a:latin typeface="Arial"/>
              </a:rPr>
              <a:t>Visuel très chargé ? prévoir une version complète en ligne ou dans le post</a:t>
            </a:r>
          </a:p>
          <a:p>
            <a:pPr algn="l">
              <a:lnSpc>
                <a:spcPct val="150000"/>
              </a:lnSpc>
            </a:pPr>
            <a:r>
              <a:rPr sz="1800" b="1" lang="fr-FR">
                <a:solidFill>
                  <a:srgbClr val="000091"/>
                </a:solidFill>
                <a:latin typeface="Arial"/>
              </a:rPr>
              <a:t>☐  </a:t>
            </a:r>
            <a:r>
              <a:rPr sz="1400" lang="fr-FR">
                <a:solidFill>
                  <a:srgbClr val="161616"/>
                </a:solidFill>
                <a:latin typeface="Arial"/>
              </a:rPr>
              <a:t>Police lisible, sans fantaisie, assez épaisse pour un écran mobile</a:t>
            </a:r>
          </a:p>
          <a:p>
            <a:pPr algn="l">
              <a:lnSpc>
                <a:spcPct val="150000"/>
              </a:lnSpc>
            </a:pPr>
            <a:r>
              <a:rPr sz="1800" b="1" lang="fr-FR">
                <a:solidFill>
                  <a:srgbClr val="000091"/>
                </a:solidFill>
                <a:latin typeface="Arial"/>
              </a:rPr>
              <a:t>☐  </a:t>
            </a:r>
            <a:r>
              <a:rPr sz="1400" lang="fr-FR">
                <a:solidFill>
                  <a:srgbClr val="161616"/>
                </a:solidFill>
                <a:latin typeface="Arial"/>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Informations essentielles écrites dans le texte du post</a:t>
            </a:r>
          </a:p>
          <a:p>
            <a:pPr algn="l">
              <a:lnSpc>
                <a:spcPct val="150000"/>
              </a:lnSpc>
            </a:pPr>
            <a:r>
              <a:rPr sz="1800" b="1" lang="fr-FR">
                <a:solidFill>
                  <a:srgbClr val="000091"/>
                </a:solidFill>
                <a:latin typeface="Arial"/>
              </a:rPr>
              <a:t>☐  </a:t>
            </a:r>
            <a:r>
              <a:rPr sz="1400" lang="fr-FR">
                <a:solidFill>
                  <a:srgbClr val="161616"/>
                </a:solidFill>
                <a:latin typeface="Arial"/>
              </a:rPr>
              <a:t>Paragraphes courts, texte natif, pas de faux gras Unicode</a:t>
            </a:r>
          </a:p>
          <a:p>
            <a:pPr algn="l">
              <a:lnSpc>
                <a:spcPct val="150000"/>
              </a:lnSpc>
            </a:pPr>
            <a:r>
              <a:rPr sz="1800" b="1" lang="fr-FR">
                <a:solidFill>
                  <a:srgbClr val="000091"/>
                </a:solidFill>
                <a:latin typeface="Arial"/>
              </a:rPr>
              <a:t>☐  </a:t>
            </a:r>
            <a:r>
              <a:rPr sz="1400" lang="fr-FR">
                <a:solidFill>
                  <a:srgbClr val="161616"/>
                </a:solidFill>
                <a:latin typeface="Arial"/>
              </a:rPr>
              <a:t>Émojis : 1 ou 2, en fin de message, sens vérifié</a:t>
            </a:r>
          </a:p>
          <a:p>
            <a:pPr algn="l">
              <a:lnSpc>
                <a:spcPct val="150000"/>
              </a:lnSpc>
            </a:pPr>
            <a:r>
              <a:rPr sz="1800" b="1" lang="fr-FR">
                <a:solidFill>
                  <a:srgbClr val="000091"/>
                </a:solidFill>
                <a:latin typeface="Arial"/>
              </a:rPr>
              <a:t>☐  </a:t>
            </a:r>
            <a:r>
              <a:rPr sz="1400" lang="fr-FR">
                <a:solidFill>
                  <a:srgbClr val="161616"/>
                </a:solidFill>
                <a:latin typeface="Arial"/>
              </a:rPr>
              <a:t>Hashtags : CamelCase, courts, regroupés à la fin, 2 ou 3 maximum</a:t>
            </a:r>
          </a:p>
          <a:p>
            <a:pPr algn="l">
              <a:lnSpc>
                <a:spcPct val="150000"/>
              </a:lnSpc>
            </a:pPr>
            <a:r>
              <a:rPr sz="1800" b="1" lang="fr-FR">
                <a:solidFill>
                  <a:srgbClr val="000091"/>
                </a:solidFill>
                <a:latin typeface="Arial"/>
              </a:rPr>
              <a:t>☐  </a:t>
            </a:r>
            <a:r>
              <a:rPr sz="1400" lang="fr-FR">
                <a:solidFill>
                  <a:srgbClr val="161616"/>
                </a:solidFill>
                <a:latin typeface="Arial"/>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Alt text clair et unique pour chaque image informative</a:t>
            </a:r>
          </a:p>
          <a:p>
            <a:pPr algn="l">
              <a:lnSpc>
                <a:spcPct val="150000"/>
              </a:lnSpc>
            </a:pPr>
            <a:r>
              <a:rPr sz="1800" b="1" lang="fr-FR">
                <a:solidFill>
                  <a:srgbClr val="000091"/>
                </a:solidFill>
                <a:latin typeface="Arial"/>
              </a:rPr>
              <a:t>☐  </a:t>
            </a:r>
            <a:r>
              <a:rPr sz="1400" lang="fr-FR">
                <a:solidFill>
                  <a:srgbClr val="161616"/>
                </a:solidFill>
                <a:latin typeface="Arial"/>
              </a:rPr>
              <a:t>Infographie ou carrousel : chiffres et messages clés repris dans le post</a:t>
            </a:r>
          </a:p>
          <a:p>
            <a:pPr algn="l">
              <a:lnSpc>
                <a:spcPct val="150000"/>
              </a:lnSpc>
            </a:pPr>
            <a:r>
              <a:rPr sz="1800" b="1" lang="fr-FR">
                <a:solidFill>
                  <a:srgbClr val="000091"/>
                </a:solidFill>
                <a:latin typeface="Arial"/>
              </a:rPr>
              <a:t>☐  </a:t>
            </a:r>
            <a:r>
              <a:rPr sz="1400" lang="fr-FR">
                <a:solidFill>
                  <a:srgbClr val="161616"/>
                </a:solidFill>
                <a:latin typeface="Arial"/>
              </a:rPr>
              <a:t>Audio : transcription écrite jointe ou lien visible</a:t>
            </a:r>
          </a:p>
          <a:p>
            <a:pPr algn="l">
              <a:lnSpc>
                <a:spcPct val="150000"/>
              </a:lnSpc>
            </a:pPr>
            <a:r>
              <a:rPr sz="1800" b="1" lang="fr-FR">
                <a:solidFill>
                  <a:srgbClr val="000091"/>
                </a:solidFill>
                <a:latin typeface="Arial"/>
              </a:rPr>
              <a:t>☐  </a:t>
            </a:r>
            <a:r>
              <a:rPr sz="1400" lang="fr-FR">
                <a:solidFill>
                  <a:srgbClr val="161616"/>
                </a:solidFill>
                <a:latin typeface="Arial"/>
              </a:rPr>
              <a:t>Vidéo : sous-titres relus, transcription si nécessaire</a:t>
            </a:r>
          </a:p>
          <a:p>
            <a:pPr algn="l">
              <a:lnSpc>
                <a:spcPct val="150000"/>
              </a:lnSpc>
            </a:pPr>
            <a:r>
              <a:rPr sz="1800" b="1" lang="fr-FR">
                <a:solidFill>
                  <a:srgbClr val="000091"/>
                </a:solidFill>
                <a:latin typeface="Arial"/>
              </a:rPr>
              <a:t>☐  </a:t>
            </a:r>
            <a:r>
              <a:rPr sz="1400" lang="fr-FR">
                <a:solidFill>
                  <a:srgbClr val="161616"/>
                </a:solidFill>
                <a:latin typeface="Arial"/>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133</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Bertrand Matge - bertrand.matge@finances.gouv.fr</a:t>
            </a:r>
          </a:p>
          <a:p>
            <a:pPr algn="l">
              <a:lnSpc>
                <a:spcPct val="125000"/>
              </a:lnSpc>
            </a:pPr>
            <a:r>
              <a:rPr sz="1400" lang="fr-FR">
                <a:solidFill>
                  <a:srgbClr val="161616"/>
                </a:solidFill>
                <a:latin typeface="Arial"/>
              </a:rPr>
              <a:t>• </a:t>
            </a:r>
            <a:r>
              <a:rPr sz="1400" b="0" lang="fr-FR">
                <a:solidFill>
                  <a:srgbClr val="161616"/>
                </a:solidFill>
                <a:latin typeface="Arial"/>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133</Slides>
  <Notes>133</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Alex Guiderdoni</cp:lastModifiedBy>
  <cp:revision>15</cp:revision>
  <dcterms:created xsi:type="dcterms:W3CDTF">2020-03-06T09:47:41Z</dcterms:created>
  <dcterms:modified xsi:type="dcterms:W3CDTF">2026-10-08T14:26:52Z</dcterms:modified>
  <dc:language>fr-FR</dc:language>
</cp:coreProperties>
</file>