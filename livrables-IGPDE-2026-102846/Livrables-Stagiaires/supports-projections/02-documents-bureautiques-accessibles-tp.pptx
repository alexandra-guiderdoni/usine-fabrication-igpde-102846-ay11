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7" r:id="rId1"/>
  </p:sldMasterIdLst>
  <p:notesMasterIdLst>
    <p:notesMasterId r:id="rId18"/>
  </p:notesMasterIdLst>
  <p:handoutMasterIdLst>
    <p:handoutMasterId r:id="rId19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7"/>
    <p:sldId id="267" r:id="rId6"/>
    <p:sldId id="268" r:id="rId5"/>
    <p:sldId id="269" r:id="rId4"/>
    <p:sldId id="270" r:id="rId3"/>
    <p:sldId id="271" r:id="rId2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969" cy="6858000" type="screen16x9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mple" id="{1B2C009F-958F-4730-953E-C3BCDF6DEDF4}">
          <p14:sldIdLst>
            <p14:sldId id="342"/>
            <p14:sldId id="335"/>
            <p14:sldId id="336"/>
            <p14:sldId id="337"/>
            <p14:sldId id="348"/>
            <p14:sldId id="344"/>
            <p14:sldId id="347"/>
          </p14:sldIdLst>
        </p14:section>
        <p14:section name="IGPDE" id="{0B896E98-F45E-4768-8620-EDDF394BE181}">
          <p14:sldIdLst>
            <p14:sldId id="332"/>
            <p14:sldId id="331"/>
            <p14:sldId id="327"/>
            <p14:sldId id="340"/>
            <p14:sldId id="329"/>
            <p14:sldId id="330"/>
          </p14:sldIdLst>
        </p14:section>
        <p14:section name="MÉTHODOLOGIE" id="{EB03BDE6-D677-4574-A7BF-9721F91BDEB8}">
          <p14:sldIdLst>
            <p14:sldId id="319"/>
            <p14:sldId id="323"/>
            <p14:sldId id="32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orient="horz" pos="191">
          <p15:clr>
            <a:srgbClr val="A4A3A4"/>
          </p15:clr>
        </p15:guide>
        <p15:guide id="3" orient="horz" pos="854">
          <p15:clr>
            <a:srgbClr val="A4A3A4"/>
          </p15:clr>
        </p15:guide>
        <p15:guide id="4" orient="horz" pos="821">
          <p15:clr>
            <a:srgbClr val="A4A3A4"/>
          </p15:clr>
        </p15:guide>
        <p15:guide id="5" orient="horz" pos="3049">
          <p15:clr>
            <a:srgbClr val="A4A3A4"/>
          </p15:clr>
        </p15:guide>
        <p15:guide id="6" orient="horz" pos="3151">
          <p15:clr>
            <a:srgbClr val="A4A3A4"/>
          </p15:clr>
        </p15:guide>
        <p15:guide id="7" pos="2880">
          <p15:clr>
            <a:srgbClr val="A4A3A4"/>
          </p15:clr>
        </p15:guide>
        <p15:guide id="8" pos="476">
          <p15:clr>
            <a:srgbClr val="A4A3A4"/>
          </p15:clr>
        </p15:guide>
        <p15:guide id="9" pos="5193">
          <p15:clr>
            <a:srgbClr val="A4A3A4"/>
          </p15:clr>
        </p15:guide>
        <p15:guide id="10" pos="546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84" autoAdjust="0"/>
    <p:restoredTop sz="96224" autoAdjust="0"/>
  </p:normalViewPr>
  <p:slideViewPr>
    <p:cSldViewPr showGuides="1">
      <p:cViewPr varScale="1">
        <p:scale>
          <a:sx n="135" d="100"/>
          <a:sy n="135" d="100"/>
        </p:scale>
        <p:origin x="120" y="114"/>
      </p:cViewPr>
      <p:guideLst>
        <p:guide orient="horz" pos="1620"/>
        <p:guide orient="horz" pos="191"/>
        <p:guide orient="horz" pos="854"/>
        <p:guide orient="horz" pos="821"/>
        <p:guide orient="horz" pos="3049"/>
        <p:guide orient="horz" pos="3151"/>
        <p:guide pos="2880"/>
        <p:guide pos="476"/>
        <p:guide pos="5193"/>
        <p:guide pos="5465"/>
      </p:guideLst>
    </p:cSldViewPr>
  </p:slideViewPr>
  <p:outlineViewPr>
    <p:cViewPr>
      <p:scale>
        <a:sx n="33" d="100"/>
        <a:sy n="33" d="100"/>
      </p:scale>
      <p:origin x="0" y="-256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72" d="100"/>
        <a:sy n="172" d="100"/>
      </p:scale>
      <p:origin x="0" y="-3540"/>
    </p:cViewPr>
  </p:sorterViewPr>
  <p:notesViewPr>
    <p:cSldViewPr showGuides="1">
      <p:cViewPr varScale="1">
        <p:scale>
          <a:sx n="83" d="100"/>
          <a:sy n="83" d="100"/>
        </p:scale>
        <p:origin x="3132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6.xml"/><Relationship Id="rId3" Type="http://schemas.openxmlformats.org/officeDocument/2006/relationships/slide" Target="slides/slide15.xml"/><Relationship Id="rId4" Type="http://schemas.openxmlformats.org/officeDocument/2006/relationships/slide" Target="slides/slide14.xml"/><Relationship Id="rId5" Type="http://schemas.openxmlformats.org/officeDocument/2006/relationships/slide" Target="slides/slide13.xml"/><Relationship Id="rId6" Type="http://schemas.openxmlformats.org/officeDocument/2006/relationships/slide" Target="slides/slide12.xml"/><Relationship Id="rId7" Type="http://schemas.openxmlformats.org/officeDocument/2006/relationships/slide" Target="slides/slide1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DB2658-7BE8-4FC5-8F36-ABC54AD38E15}" type="datetimeFigureOut">
              <a:rPr lang="fr-FR" smtClean="0"/>
              <a:t>06/09/2024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23471C-61B7-441C-A48C-C1E234DDF52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66938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D680E798-53FF-4C51-A981-953463752515}" type="datetimeFigureOut">
              <a:rPr lang="fr-FR" smtClean="0"/>
              <a:pPr/>
              <a:t>06/09/2024</a:t>
            </a:fld>
            <a:endParaRPr lang="fr-FR" dirty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1B06CD8F-B7ED-4A05-9FB1-A01CC0EF02CC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662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fr-FR"/>
              <a:t>Annoncer un TP guidé de 90 minutes organisé en 5 étapes.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fr-FR"/>
              <a:t>La théorie, la manipulation et la preuve avancent ensemble dans le document de Sami.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fr-FR"/>
              <a:t>Lire la citation à voix haute, lentement, avec des pauses.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fr-FR"/>
              <a:t>Ne pas commenter.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fr-FR"/>
              <a:t>Laisser le silence s'installer 5 secondes.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Demander :</a:t>
            </a:r>
            <a:r>
              <a:rPr lang="fr-FR"/>
              <a:t> est-ce que vous avez déjà reçu un document ou un email illisible ?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fr-FR"/>
              <a:t>Cette personne vivait ça tous les 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fr-FR"/>
              <a:t>Laisser 30 secondes pour que chacun vote.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fr-FR"/>
              <a:t>Demander à main levée.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fr-FR"/>
              <a:t>Ne pas donner la réponse maintenant - la curiosité crée l'attention.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Zeigarnik :</a:t>
            </a:r>
            <a:r>
              <a:rPr lang="fr-FR"/>
              <a:t> la boucle ouverte maintient l'engagement.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Donner la réponse :</a:t>
            </a:r>
            <a:r>
              <a:rPr lang="fr-FR"/>
              <a:t> le document B.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fr-FR"/>
              <a:t>Expliquer que les deux documents peuvent être identiques à l'écran, mais que NVDA dépend des styles de titres, des textes alternatifs et d'un nom de fichier explicite.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Faire formuler le message :</a:t>
            </a:r>
            <a:r>
              <a:rPr lang="fr-FR"/>
              <a:t> l'accessibilité ne se voit pas, elle se manipule et se vérifie.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fr-FR"/>
              <a:t>Revenir sur les propriétés qui distinguent les deux documents. 15 % = moyenne nationale Source : OMS 2024.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fr-FR"/>
              <a:t>Le chiffre 0 ligne de code est le déclencheur de confiance : tout le monde peut le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fr-FR"/>
              <a:t>Préambule limité à 5 minutes, quiz compris.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fr-FR"/>
              <a:t>Distribuer la checklist et les cartes WCAG, puis proposer le DOCX avec pistes comme point de départ conseillé.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fr-FR"/>
              <a:t>Le DOCX inaccessible constitue la variante autonome.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fr-FR"/>
              <a:t>Ne pas révéler le corrigé avant la remise finale.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Minutage de l'étape :</a:t>
            </a:r>
            <a:r>
              <a:rPr lang="fr-FR"/>
              <a:t> 17 minutes, synthèse comprise.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Contrôles travaillés sur cette slide :</a:t>
            </a:r>
            <a:r>
              <a:rPr lang="fr-FR"/>
              <a:t> P-01, P-02, P-03, P-04, P-05.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Parcours guidé :</a:t>
            </a:r>
            <a:r>
              <a:rPr lang="fr-FR"/>
              <a:t> partir du DOCX avec pistes, reformuler le problème et laisser le binôme réaliser la correction.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Variante autonome :</a:t>
            </a:r>
            <a:r>
              <a:rPr lang="fr-FR"/>
              <a:t> partir du DOCX inaccessible et n'ouvrir les pistes qu'en cas de blocage.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Points d'aide possibles :</a:t>
            </a:r>
            <a:r>
              <a:rPr lang="fr-FR"/>
              <a:t> Faire distinguer le rôle du texte de son apparence avant d'ouvrir le ruban.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Question de synthèse :</a:t>
            </a:r>
            <a:r>
              <a:rPr lang="fr-FR"/>
              <a:t> Comment prouver que le document est réellement navigable ?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Preuves attendues :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P-01 :</a:t>
            </a:r>
            <a:r>
              <a:rPr lang="fr-FR"/>
              <a:t> Styles vérifiables dans le DOCX et structure lisible dans le volet de navigation.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P-02 :</a:t>
            </a:r>
            <a:r>
              <a:rPr lang="fr-FR"/>
              <a:t> Ordre des niveaux contrôlé dans le XML et confirmé dans le volet de navigation.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P-03 :</a:t>
            </a:r>
            <a:r>
              <a:rPr lang="fr-FR"/>
              <a:t> Navigation cohérente et sommaire actualisable après modification d'un titre.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P-04 :</a:t>
            </a:r>
            <a:r>
              <a:rPr lang="fr-FR"/>
              <a:t> Structure de liste présente dans le DOCX et annoncée comme liste.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P-05 :</a:t>
            </a:r>
            <a:r>
              <a:rPr lang="fr-FR"/>
              <a:t> Absence des artifices ciblés dans le XML et contrôle visuel avec marques affichées.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Minutage de l'étape :</a:t>
            </a:r>
            <a:r>
              <a:rPr lang="fr-FR"/>
              <a:t> 17 minutes, synthèse comprise.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Contrôles travaillés sur cette slide :</a:t>
            </a:r>
            <a:r>
              <a:rPr lang="fr-FR"/>
              <a:t> P-01, P-02, P-03.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Parcours guidé :</a:t>
            </a:r>
            <a:r>
              <a:rPr lang="fr-FR"/>
              <a:t> partir du DOCX avec pistes, reformuler le problème et laisser le binôme réaliser la correction.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Variante autonome :</a:t>
            </a:r>
            <a:r>
              <a:rPr lang="fr-FR"/>
              <a:t> partir du DOCX inaccessible et n'ouvrir les pistes qu'en cas de blocage.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Points d'aide possibles :</a:t>
            </a:r>
            <a:r>
              <a:rPr lang="fr-FR"/>
              <a:t> Faire ouvrir le volet avant de corriger les styles et rappeler que le sommaire en découle.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Question de synthèse :</a:t>
            </a:r>
            <a:r>
              <a:rPr lang="fr-FR"/>
              <a:t> Le volet et le sommaire racontent-ils le même plan ?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Preuves attendues :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P-01 :</a:t>
            </a:r>
            <a:r>
              <a:rPr lang="fr-FR"/>
              <a:t> Styles vérifiables dans le DOCX et structure lisible dans le volet de navigation.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P-02 :</a:t>
            </a:r>
            <a:r>
              <a:rPr lang="fr-FR"/>
              <a:t> Ordre des niveaux contrôlé dans le XML et confirmé dans le volet de navigation.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P-03 :</a:t>
            </a:r>
            <a:r>
              <a:rPr lang="fr-FR"/>
              <a:t> Navigation cohérente et sommaire actualisable après modification d'un titre.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Minutage de l'étape :</a:t>
            </a:r>
            <a:r>
              <a:rPr lang="fr-FR"/>
              <a:t> 17 minutes, synthèse comprise.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Contrôles travaillés sur cette slide :</a:t>
            </a:r>
            <a:r>
              <a:rPr lang="fr-FR"/>
              <a:t> P-04, P-05.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Parcours guidé :</a:t>
            </a:r>
            <a:r>
              <a:rPr lang="fr-FR"/>
              <a:t> partir du DOCX avec pistes, reformuler le problème et laisser le binôme réaliser la correction.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Variante autonome :</a:t>
            </a:r>
            <a:r>
              <a:rPr lang="fr-FR"/>
              <a:t> partir du DOCX inaccessible et n'ouvrir les pistes qu'en cas de blocage.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Points d'aide possibles :</a:t>
            </a:r>
            <a:r>
              <a:rPr lang="fr-FR"/>
              <a:t> Faire activer les marques avant toute correction et traiter les artifices dans leur ordre d'apparition.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Question de synthèse :</a:t>
            </a:r>
            <a:r>
              <a:rPr lang="fr-FR"/>
              <a:t> Les listes sont-elles annoncées comme telles et la mise en page résiste-t-elle aux marques affichées ?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Preuves attendues :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P-04 :</a:t>
            </a:r>
            <a:r>
              <a:rPr lang="fr-FR"/>
              <a:t> Structure de liste présente dans le DOCX et annoncée comme liste.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P-05 :</a:t>
            </a:r>
            <a:r>
              <a:rPr lang="fr-FR"/>
              <a:t> Absence des artifices ciblés dans le XML et contrôle visuel avec marques affichées.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Minutage de l'étape :</a:t>
            </a:r>
            <a:r>
              <a:rPr lang="fr-FR"/>
              <a:t> 15 minutes, synthèse comprise.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Contrôles travaillés sur cette slide :</a:t>
            </a:r>
            <a:r>
              <a:rPr lang="fr-FR"/>
              <a:t> P-06, P-07, P-08, P-09, P-10, P-11.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Parcours guidé :</a:t>
            </a:r>
            <a:r>
              <a:rPr lang="fr-FR"/>
              <a:t> partir du DOCX avec pistes, reformuler le problème et laisser le binôme réaliser la correction.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Variante autonome :</a:t>
            </a:r>
            <a:r>
              <a:rPr lang="fr-FR"/>
              <a:t> partir du DOCX inaccessible et n'ouvrir les pistes qu'en cas de blocage.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Points d'aide possibles :</a:t>
            </a:r>
            <a:r>
              <a:rPr lang="fr-FR"/>
              <a:t> Faire identifier la fonction de chaque contenu avant d'ouvrir le volet du texte alternatif.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Question de synthèse :</a:t>
            </a:r>
            <a:r>
              <a:rPr lang="fr-FR"/>
              <a:t> L'information reste-t-elle compréhensible si l'image ou le contexte disparaît ?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Preuves attendues :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P-06 :</a:t>
            </a:r>
            <a:r>
              <a:rPr lang="fr-FR"/>
              <a:t> Alternative présente dans le DOCX et jugée pertinente par lecture humaine.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P-07 :</a:t>
            </a:r>
            <a:r>
              <a:rPr lang="fr-FR"/>
              <a:t> Équivalence d'information vérifiée sans consulter l'image.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P-08 :</a:t>
            </a:r>
            <a:r>
              <a:rPr lang="fr-FR"/>
              <a:t> Marqueur décoratif ou équivalent vérifié et absence de perte d'information confirmée.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P-09 :</a:t>
            </a:r>
            <a:r>
              <a:rPr lang="fr-FR"/>
              <a:t> Texte sélectionnable présent dans le DOCX et image de texte absente.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P-10 :</a:t>
            </a:r>
            <a:r>
              <a:rPr lang="fr-FR"/>
              <a:t> Destination inchangée, libellé explicite et identification visuelle vérifiées.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P-11 :</a:t>
            </a:r>
            <a:r>
              <a:rPr lang="fr-FR"/>
              <a:t> Statut compréhensible dans le texte linéarisé sans en-tête ni arrière-plan.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Minutage de l'étape :</a:t>
            </a:r>
            <a:r>
              <a:rPr lang="fr-FR"/>
              <a:t> 15 minutes, synthèse comprise.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Contrôles travaillés sur cette slide :</a:t>
            </a:r>
            <a:r>
              <a:rPr lang="fr-FR"/>
              <a:t> P-06, P-07, P-08.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Parcours guidé :</a:t>
            </a:r>
            <a:r>
              <a:rPr lang="fr-FR"/>
              <a:t> partir du DOCX avec pistes, reformuler le problème et laisser le binôme réaliser la correction.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Variante autonome :</a:t>
            </a:r>
            <a:r>
              <a:rPr lang="fr-FR"/>
              <a:t> partir du DOCX inaccessible et n'ouvrir les pistes qu'en cas de blocage.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Points d'aide possibles :</a:t>
            </a:r>
            <a:r>
              <a:rPr lang="fr-FR"/>
              <a:t> Faire verbaliser l'information utile avant de rédiger ou de supprimer une alternative.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Question de synthèse :</a:t>
            </a:r>
            <a:r>
              <a:rPr lang="fr-FR"/>
              <a:t> Que perd-on si l'image est masquée ?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Preuves attendues :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P-06 :</a:t>
            </a:r>
            <a:r>
              <a:rPr lang="fr-FR"/>
              <a:t> Alternative présente dans le DOCX et jugée pertinente par lecture humaine.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P-07 :</a:t>
            </a:r>
            <a:r>
              <a:rPr lang="fr-FR"/>
              <a:t> Équivalence d'information vérifiée sans consulter l'image.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P-08 :</a:t>
            </a:r>
            <a:r>
              <a:rPr lang="fr-FR"/>
              <a:t> Marqueur décoratif ou équivalent vérifié et absence de perte d'information confirmée.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Minutage de l'étape :</a:t>
            </a:r>
            <a:r>
              <a:rPr lang="fr-FR"/>
              <a:t> 15 minutes, synthèse comprise.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Contrôles travaillés sur cette slide :</a:t>
            </a:r>
            <a:r>
              <a:rPr lang="fr-FR"/>
              <a:t> P-09, P-10.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Parcours guidé :</a:t>
            </a:r>
            <a:r>
              <a:rPr lang="fr-FR"/>
              <a:t> partir du DOCX avec pistes, reformuler le problème et laisser le binôme réaliser la correction.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Variante autonome :</a:t>
            </a:r>
            <a:r>
              <a:rPr lang="fr-FR"/>
              <a:t> partir du DOCX inaccessible et n'ouvrir les pistes qu'en cas de blocage.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Points d'aide possibles :</a:t>
            </a:r>
            <a:r>
              <a:rPr lang="fr-FR"/>
              <a:t> Faire tester la sélection du texte puis lire uniquement le libellé du lien.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Question de synthèse :</a:t>
            </a:r>
            <a:r>
              <a:rPr lang="fr-FR"/>
              <a:t> Le texte peut-il être sélectionné et le lien compris tout seul ?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Preuves attendues :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P-09 :</a:t>
            </a:r>
            <a:r>
              <a:rPr lang="fr-FR"/>
              <a:t> Texte sélectionnable présent dans le DOCX et image de texte absente.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P-10 :</a:t>
            </a:r>
            <a:r>
              <a:rPr lang="fr-FR"/>
              <a:t> Destination inchangée, libellé explicite et identification visuelle vérifiées.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Minutage de l'étape :</a:t>
            </a:r>
            <a:r>
              <a:rPr lang="fr-FR"/>
              <a:t> 15 minutes, synthèse comprise.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Contrôles travaillés sur cette slide :</a:t>
            </a:r>
            <a:r>
              <a:rPr lang="fr-FR"/>
              <a:t> P-11.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Parcours guidé :</a:t>
            </a:r>
            <a:r>
              <a:rPr lang="fr-FR"/>
              <a:t> partir du DOCX avec pistes, reformuler le problème et laisser le binôme réaliser la correction.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Variante autonome :</a:t>
            </a:r>
            <a:r>
              <a:rPr lang="fr-FR"/>
              <a:t> partir du DOCX inaccessible et n'ouvrir les pistes qu'en cas de blocage.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Points d'aide possibles :</a:t>
            </a:r>
            <a:r>
              <a:rPr lang="fr-FR"/>
              <a:t> Faire masquer mentalement l'en-tête et l'arrière-plan, sans recréer de filigrane dans l'exercice.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Question de synthèse :</a:t>
            </a:r>
            <a:r>
              <a:rPr lang="fr-FR"/>
              <a:t> Le statut reste-t-il compréhensible quand on lit uniquement le corps ?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Preuves attendues :</a:t>
            </a:r>
            <a:r>
              <a:rPr lang="fr-FR"/>
              <a:t> P-11 : Statut compréhensible dans le texte linéarisé sans en-tête ni arrière-plan.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Minutage de l'étape :</a:t>
            </a:r>
            <a:r>
              <a:rPr lang="fr-FR"/>
              <a:t> 15 minutes, synthèse comprise.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Contrôles travaillés sur cette slide :</a:t>
            </a:r>
            <a:r>
              <a:rPr lang="fr-FR"/>
              <a:t> P-12, P-13, P-14.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Parcours guidé :</a:t>
            </a:r>
            <a:r>
              <a:rPr lang="fr-FR"/>
              <a:t> partir du DOCX avec pistes, reformuler le problème et laisser le binôme réaliser la correction.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Variante autonome :</a:t>
            </a:r>
            <a:r>
              <a:rPr lang="fr-FR"/>
              <a:t> partir du DOCX inaccessible et n'ouvrir les pistes qu'en cas de blocage.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Points d'aide possibles :</a:t>
            </a:r>
            <a:r>
              <a:rPr lang="fr-FR"/>
              <a:t> Faire choisir le seuil avant la mesure et rappeler que le graphique se reconstruit directement dans Word.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Question de synthèse :</a:t>
            </a:r>
            <a:r>
              <a:rPr lang="fr-FR"/>
              <a:t> Quelle preuve distingue une impression visuelle d'un contrôle vérifiable ?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Preuves attendues :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P-12 :</a:t>
            </a:r>
            <a:r>
              <a:rPr lang="fr-FR"/>
              <a:t> Ratio calculé conservé et couleurs finales vérifiées dans le document.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P-13 :</a:t>
            </a:r>
            <a:r>
              <a:rPr lang="fr-FR"/>
              <a:t> Séries et conclusions identifiables en niveaux de gris et dans l'équivalent textuel.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P-14 :</a:t>
            </a:r>
            <a:r>
              <a:rPr lang="fr-FR"/>
              <a:t> XML sans fusion ni imbrication et relations de cellules vérifiées à la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Minutage de l'étape :</a:t>
            </a:r>
            <a:r>
              <a:rPr lang="fr-FR"/>
              <a:t> 15 minutes, synthèse comprise.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Contrôles travaillés sur cette slide :</a:t>
            </a:r>
            <a:r>
              <a:rPr lang="fr-FR"/>
              <a:t> P-12.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Parcours guidé :</a:t>
            </a:r>
            <a:r>
              <a:rPr lang="fr-FR"/>
              <a:t> partir du DOCX avec pistes, reformuler le problème et laisser le binôme réaliser la correction.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Variante autonome :</a:t>
            </a:r>
            <a:r>
              <a:rPr lang="fr-FR"/>
              <a:t> partir du DOCX inaccessible et n'ouvrir les pistes qu'en cas de blocage.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Points d'aide possibles :</a:t>
            </a:r>
            <a:r>
              <a:rPr lang="fr-FR"/>
              <a:t> Faire relever les couleurs, choisir le seuil, puis seulement lancer l'outil de mesure.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Question de synthèse :</a:t>
            </a:r>
            <a:r>
              <a:rPr lang="fr-FR"/>
              <a:t> Quel seuil s'applique avant même de lire le résultat ?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Preuves attendues :</a:t>
            </a:r>
            <a:r>
              <a:rPr lang="fr-FR"/>
              <a:t> P-12 : Ratio calculé conservé et couleurs finales vérifiées dans le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Minutage de l'étape :</a:t>
            </a:r>
            <a:r>
              <a:rPr lang="fr-FR"/>
              <a:t> 15 minutes, synthèse comprise.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Contrôles travaillés sur cette slide :</a:t>
            </a:r>
            <a:r>
              <a:rPr lang="fr-FR"/>
              <a:t> P-13.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Parcours guidé :</a:t>
            </a:r>
            <a:r>
              <a:rPr lang="fr-FR"/>
              <a:t> partir du DOCX avec pistes, reformuler le problème et laisser le binôme réaliser la correction.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Variante autonome :</a:t>
            </a:r>
            <a:r>
              <a:rPr lang="fr-FR"/>
              <a:t> partir du DOCX inaccessible et n'ouvrir les pistes qu'en cas de blocage.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Points d'aide possibles :</a:t>
            </a:r>
            <a:r>
              <a:rPr lang="fr-FR"/>
              <a:t> Faire reconstruire le graphique dans Word à partir des valeurs, puis ajouter étiquettes et motifs.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Question de synthèse :</a:t>
            </a:r>
            <a:r>
              <a:rPr lang="fr-FR"/>
              <a:t> Les séries restent-elles identifiables en niveaux de gris ?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Preuves attendues :</a:t>
            </a:r>
            <a:r>
              <a:rPr lang="fr-FR"/>
              <a:t> P-13 : Séries et conclusions identifiables en niveaux de gris et dans l'équivalent textuel.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Minutage de l'étape :</a:t>
            </a:r>
            <a:r>
              <a:rPr lang="fr-FR"/>
              <a:t> 15 minutes, synthèse comprise.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Contrôles travaillés sur cette slide :</a:t>
            </a:r>
            <a:r>
              <a:rPr lang="fr-FR"/>
              <a:t> P-14.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Parcours guidé :</a:t>
            </a:r>
            <a:r>
              <a:rPr lang="fr-FR"/>
              <a:t> partir du DOCX avec pistes, reformuler le problème et laisser le binôme réaliser la correction.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Variante autonome :</a:t>
            </a:r>
            <a:r>
              <a:rPr lang="fr-FR"/>
              <a:t> partir du DOCX inaccessible et n'ouvrir les pistes qu'en cas de blocage.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Points d'aide possibles :</a:t>
            </a:r>
            <a:r>
              <a:rPr lang="fr-FR"/>
              <a:t> Faire distinguer tableau de données et mise en page avant d'ouvrir les propriétés du tableau.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Question de synthèse :</a:t>
            </a:r>
            <a:r>
              <a:rPr lang="fr-FR"/>
              <a:t> Chaque cellule appartient-elle à une grille de données simple ?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Preuves attendues :</a:t>
            </a:r>
            <a:r>
              <a:rPr lang="fr-FR"/>
              <a:t> P-14 : XML sans fusion ni imbrication et relations de cellules vérifiées à la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Minutage de l'étape :</a:t>
            </a:r>
            <a:r>
              <a:rPr lang="fr-FR"/>
              <a:t> 15 minutes, synthèse comprise.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Contrôles travaillés sur cette slide :</a:t>
            </a:r>
            <a:r>
              <a:rPr lang="fr-FR"/>
              <a:t> P-15, P-16, P-17, P-18.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Parcours guidé :</a:t>
            </a:r>
            <a:r>
              <a:rPr lang="fr-FR"/>
              <a:t> partir du DOCX avec pistes, reformuler le problème et laisser le binôme réaliser la correction.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Variante autonome :</a:t>
            </a:r>
            <a:r>
              <a:rPr lang="fr-FR"/>
              <a:t> partir du DOCX inaccessible et n'ouvrir les pistes qu'en cas de blocage.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Points d'aide possibles :</a:t>
            </a:r>
            <a:r>
              <a:rPr lang="fr-FR"/>
              <a:t> Faire corriger le style source et la langue du passage plutôt que les paragraphes un par un.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Question de synthèse :</a:t>
            </a:r>
            <a:r>
              <a:rPr lang="fr-FR"/>
              <a:t> Le réglage est-il porté par les propriétés et les styles, ou seulement par l'apparence ?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Preuves attendues :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P-15 :</a:t>
            </a:r>
            <a:r>
              <a:rPr lang="fr-FR"/>
              <a:t> Propriétés et XML de langue cohérents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P-16 :</a:t>
            </a:r>
            <a:r>
              <a:rPr lang="fr-FR"/>
              <a:t> Propriétés typographiques contrôlées dans le DOCX et lisibilité relue.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P-17 :</a:t>
            </a:r>
            <a:r>
              <a:rPr lang="fr-FR"/>
              <a:t> Texte XML accentué et contrôle visuel de la casse.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P-18 :</a:t>
            </a:r>
            <a:r>
              <a:rPr lang="fr-FR"/>
              <a:t> Première occurrence compréhensible et faute témoin en majuscules détectée.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Minutage de l'étape :</a:t>
            </a:r>
            <a:r>
              <a:rPr lang="fr-FR"/>
              <a:t> 15 minutes, synthèse comprise.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Contrôles travaillés sur cette slide :</a:t>
            </a:r>
            <a:r>
              <a:rPr lang="fr-FR"/>
              <a:t> P-15, P-16.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Parcours guidé :</a:t>
            </a:r>
            <a:r>
              <a:rPr lang="fr-FR"/>
              <a:t> partir du DOCX avec pistes, reformuler le problème et laisser le binôme réaliser la correction.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Variante autonome :</a:t>
            </a:r>
            <a:r>
              <a:rPr lang="fr-FR"/>
              <a:t> partir du DOCX inaccessible et n'ouvrir les pistes qu'en cas de blocage.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Points d'aide possibles :</a:t>
            </a:r>
            <a:r>
              <a:rPr lang="fr-FR"/>
              <a:t> Faire distinguer la langue principale de celle du passage, puis modifier le style plutôt que chaque paragraphe.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Question de synthèse :</a:t>
            </a:r>
            <a:r>
              <a:rPr lang="fr-FR"/>
              <a:t> Une correction du style Normal améliore-t-elle tout le corps ?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Preuves attendues :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P-15 :</a:t>
            </a:r>
            <a:r>
              <a:rPr lang="fr-FR"/>
              <a:t> Propriétés et XML de langue cohérents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P-16 :</a:t>
            </a:r>
            <a:r>
              <a:rPr lang="fr-FR"/>
              <a:t> Propriétés typographiques contrôlées dans le DOCX et lisibilité relue.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Minutage de l'étape :</a:t>
            </a:r>
            <a:r>
              <a:rPr lang="fr-FR"/>
              <a:t> 15 minutes, synthèse comprise.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Contrôles travaillés sur cette slide :</a:t>
            </a:r>
            <a:r>
              <a:rPr lang="fr-FR"/>
              <a:t> P-17, P-18.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Parcours guidé :</a:t>
            </a:r>
            <a:r>
              <a:rPr lang="fr-FR"/>
              <a:t> partir du DOCX avec pistes, reformuler le problème et laisser le binôme réaliser la correction.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Variante autonome :</a:t>
            </a:r>
            <a:r>
              <a:rPr lang="fr-FR"/>
              <a:t> partir du DOCX inaccessible et n'ouvrir les pistes qu'en cas de blocage.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Points d'aide possibles :</a:t>
            </a:r>
            <a:r>
              <a:rPr lang="fr-FR"/>
              <a:t> Faire restaurer la saisie normale avant d'appliquer la casse, puis rechercher la première occurrence du sigle.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Question de synthèse :</a:t>
            </a:r>
            <a:r>
              <a:rPr lang="fr-FR"/>
              <a:t> Le texte reste-t-il correctement écrit sous son apparence visuelle ?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Preuves attendues :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P-17 :</a:t>
            </a:r>
            <a:r>
              <a:rPr lang="fr-FR"/>
              <a:t> Texte XML accentué et contrôle visuel de la casse.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P-18 :</a:t>
            </a:r>
            <a:r>
              <a:rPr lang="fr-FR"/>
              <a:t> Première occurrence compréhensible et faute témoin en majuscules détectée.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Minutage de l'étape :</a:t>
            </a:r>
            <a:r>
              <a:rPr lang="fr-FR"/>
              <a:t> 18 minutes, synthèse comprise.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Contrôles travaillés sur cette slide :</a:t>
            </a:r>
            <a:r>
              <a:rPr lang="fr-FR"/>
              <a:t> P-19, P-20, C-01, C-02.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Parcours guidé :</a:t>
            </a:r>
            <a:r>
              <a:rPr lang="fr-FR"/>
              <a:t> partir du DOCX avec pistes, reformuler le problème et laisser le binôme réaliser la correction.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Variante autonome :</a:t>
            </a:r>
            <a:r>
              <a:rPr lang="fr-FR"/>
              <a:t> partir du DOCX inaccessible et n'ouvrir les pistes qu'en cas de blocage.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Points d'aide possibles :</a:t>
            </a:r>
            <a:r>
              <a:rPr lang="fr-FR"/>
              <a:t> Faire distinguer propriété, vérification Word, export PDF et contrôle post-export.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Question de synthèse :</a:t>
            </a:r>
            <a:r>
              <a:rPr lang="fr-FR"/>
              <a:t> Qu'est-ce que l'outil automatique ne peut pas décider à votre place ?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Preuves attendues :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P-19 :</a:t>
            </a:r>
            <a:r>
              <a:rPr lang="fr-FR"/>
              <a:t> Métadonnées inspectées dans le DOCX et nom de sortie relu.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P-20 :</a:t>
            </a:r>
            <a:r>
              <a:rPr lang="fr-FR"/>
              <a:t> Propriétés et structure inspectées dans le PDF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C-01 :</a:t>
            </a:r>
            <a:r>
              <a:rPr lang="fr-FR"/>
              <a:t> Relevé du vérificateur conservé et alertes résiduelles justifiées.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C-02 :</a:t>
            </a:r>
            <a:r>
              <a:rPr lang="fr-FR"/>
              <a:t> Rapport PAC ou Acrobat conservé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Minutage de l'étape :</a:t>
            </a:r>
            <a:r>
              <a:rPr lang="fr-FR"/>
              <a:t> 18 minutes, synthèse comprise.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Contrôles travaillés sur cette slide :</a:t>
            </a:r>
            <a:r>
              <a:rPr lang="fr-FR"/>
              <a:t> P-19, C-01.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Parcours guidé :</a:t>
            </a:r>
            <a:r>
              <a:rPr lang="fr-FR"/>
              <a:t> partir du DOCX avec pistes, reformuler le problème et laisser le binôme réaliser la correction.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Variante autonome :</a:t>
            </a:r>
            <a:r>
              <a:rPr lang="fr-FR"/>
              <a:t> partir du DOCX inaccessible et n'ouvrir les pistes qu'en cas de blocage.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Points d'aide possibles :</a:t>
            </a:r>
            <a:r>
              <a:rPr lang="fr-FR"/>
              <a:t> Faire renseigner les propriétés avant l'analyse, puis discuter chaque alerte au lieu de viser un écran vert à tout prix.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Question de synthèse :</a:t>
            </a:r>
            <a:r>
              <a:rPr lang="fr-FR"/>
              <a:t> Une absence d'erreur suffit-elle à prouver l'accessibilité ?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Preuves attendues :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P-19 :</a:t>
            </a:r>
            <a:r>
              <a:rPr lang="fr-FR"/>
              <a:t> Métadonnées inspectées dans le DOCX et nom de sortie relu.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C-01 :</a:t>
            </a:r>
            <a:r>
              <a:rPr lang="fr-FR"/>
              <a:t> Relevé du vérificateur conservé et alertes résiduelles justifiées.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Minutage de l'étape :</a:t>
            </a:r>
            <a:r>
              <a:rPr lang="fr-FR"/>
              <a:t> 18 minutes, synthèse comprise.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Contrôles travaillés sur cette slide :</a:t>
            </a:r>
            <a:r>
              <a:rPr lang="fr-FR"/>
              <a:t> P-20, C-02.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Parcours guidé :</a:t>
            </a:r>
            <a:r>
              <a:rPr lang="fr-FR"/>
              <a:t> partir du DOCX avec pistes, reformuler le problème et laisser le binôme réaliser la correction.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Variante autonome :</a:t>
            </a:r>
            <a:r>
              <a:rPr lang="fr-FR"/>
              <a:t> partir du DOCX inaccessible et n'ouvrir les pistes qu'en cas de blocage.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Points d'aide possibles :</a:t>
            </a:r>
            <a:r>
              <a:rPr lang="fr-FR"/>
              <a:t> Faire vérifier les options avant l'export, puis commenter le rapport PAC sans enseigner la remédiation avancée.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Question de synthèse :</a:t>
            </a:r>
            <a:r>
              <a:rPr lang="fr-FR"/>
              <a:t> Le PDF conserve-t-il le titre, la langue, les balises, les signets et un ordre lisible ?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Preuves attendues :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P-20 :</a:t>
            </a:r>
            <a:r>
              <a:rPr lang="fr-FR"/>
              <a:t> Propriétés et structure inspectées dans le PDF</a:t>
            </a:r>
          </a:p>
          <a:p>
            <a:pPr lvl="1">
              <a:lnSpc>
                <a:spcPct val="150000"/>
              </a:lnSpc>
              <a:spcAft>
                <a:spcPts val="600"/>
              </a:spcAft>
            </a:pPr>
            <a:r>
              <a:rPr b="1" lang="fr-FR"/>
              <a:t>C-02 :</a:t>
            </a:r>
            <a:r>
              <a:rPr lang="fr-FR"/>
              <a:t> Rapport PAC ou Acrobat conservé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fr-FR"/>
              <a:t>Faire relire les cases renseignées après les deux premières étapes.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fr-FR"/>
              <a:t>La formulation et l'ordre proviennent de la matrice et de la checklist distribuée.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fr-FR"/>
              <a:t>Faire relire les cases renseignées après les étapes 3 et 4.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fr-FR"/>
              <a:t>Demander quelle preuve a été conservée pour chaque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fr-FR"/>
              <a:t>Faire terminer la checklist humaine.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fr-FR"/>
              <a:t>Les contrôles signalés restent importants, mais ne deviennent pas des manipulations obligatoires dans ce TP.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fr-FR"/>
              <a:t>Cette synthèse dure 15 minutes, de 12 h à 12 h 15, hors des 90 minutes du TP.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fr-FR"/>
              <a:t>Recueillir les questions, faire formuler un acquis transférable et annoncer la partie III consacrée aux points de contrôle rapides sur le Web.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uver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/>
              <a:t>XX/XX/XXXX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959997" y="5226516"/>
            <a:ext cx="4319989" cy="1199997"/>
          </a:xfrm>
        </p:spPr>
        <p:txBody>
          <a:bodyPr anchor="b" anchorCtr="0"/>
          <a:lstStyle>
            <a:lvl1pPr>
              <a:defRPr sz="1150"/>
            </a:lvl1pPr>
          </a:lstStyle>
          <a:p>
            <a:r>
              <a:rPr lang="fr-FR" dirty="0"/>
              <a:t>Institut de la Gestion publique </a:t>
            </a:r>
            <a:br>
              <a:rPr lang="fr-FR" dirty="0"/>
            </a:br>
            <a:r>
              <a:rPr lang="fr-FR" dirty="0"/>
              <a:t>et du Développement économique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pic>
        <p:nvPicPr>
          <p:cNvPr id="8" name="Imag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488" y="320040"/>
            <a:ext cx="2560320" cy="2319695"/>
          </a:xfrm>
          <a:prstGeom prst="rect">
            <a:avLst/>
          </a:prstGeom>
        </p:spPr>
      </p:pic>
      <p:pic>
        <p:nvPicPr>
          <p:cNvPr id="9" name="Image 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5520" y="777240"/>
            <a:ext cx="18288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6109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  <p15:guide id="3" orient="horz" pos="386" userDrawn="1">
          <p15:clr>
            <a:srgbClr val="FBAE40"/>
          </p15:clr>
        </p15:guide>
        <p15:guide id="4" pos="443" userDrawn="1">
          <p15:clr>
            <a:srgbClr val="FBAE40"/>
          </p15:clr>
        </p15:guide>
        <p15:guide id="5" orient="horz" pos="303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re et sous-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1" name="Espace réservé du texte 10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8" y="3128053"/>
            <a:ext cx="11231971" cy="2769593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3250" b="1" cap="all" baseline="0"/>
            </a:lvl1pPr>
            <a:lvl2pPr marL="0" indent="0">
              <a:spcBef>
                <a:spcPts val="500"/>
              </a:spcBef>
              <a:spcAft>
                <a:spcPts val="0"/>
              </a:spcAft>
              <a:buNone/>
              <a:defRPr sz="18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cxnSp>
        <p:nvCxnSpPr>
          <p:cNvPr id="12" name="Connecteur droit 11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227" y="212775"/>
            <a:ext cx="2143038" cy="1941631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467" y="465665"/>
            <a:ext cx="1464915" cy="1464915"/>
          </a:xfrm>
          <a:prstGeom prst="rect">
            <a:avLst/>
          </a:prstGeom>
        </p:spPr>
      </p:pic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</a:t>
            </a:r>
          </a:p>
        </p:txBody>
      </p:sp>
    </p:spTree>
    <p:extLst>
      <p:ext uri="{BB962C8B-B14F-4D97-AF65-F5344CB8AC3E}">
        <p14:creationId xmlns:p14="http://schemas.microsoft.com/office/powerpoint/2010/main" val="3483904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6" y="2522617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415988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351977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1641030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7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983997"/>
            <a:ext cx="12191969" cy="5875185"/>
          </a:xfrm>
          <a:solidFill>
            <a:schemeClr val="bg1">
              <a:lumMod val="85000"/>
            </a:schemeClr>
          </a:solidFill>
        </p:spPr>
        <p:txBody>
          <a:bodyPr tIns="1080000" anchor="ctr" anchorCtr="0"/>
          <a:lstStyle>
            <a:lvl1pPr algn="ctr">
              <a:defRPr cap="all" baseline="0"/>
            </a:lvl1pPr>
          </a:lstStyle>
          <a:p>
            <a:r>
              <a:rPr lang="fr-FR" dirty="0"/>
              <a:t>Sélectionner l’icône pour insérer une image, </a:t>
            </a:r>
            <a:br>
              <a:rPr lang="fr-FR" dirty="0"/>
            </a:br>
            <a:r>
              <a:rPr lang="fr-FR" dirty="0"/>
              <a:t>puis disposer l’image en arrière plan </a:t>
            </a:r>
            <a:br>
              <a:rPr lang="fr-FR" dirty="0"/>
            </a:br>
            <a:r>
              <a:rPr lang="fr-FR" dirty="0"/>
              <a:t>(Sélectionner l’image avec le bouton droit de la souris / </a:t>
            </a:r>
            <a:br>
              <a:rPr lang="fr-FR" dirty="0"/>
            </a:br>
            <a:r>
              <a:rPr lang="fr-FR" dirty="0"/>
              <a:t>Mettre à l’arrière plan)</a:t>
            </a: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983997"/>
            <a:ext cx="11231971" cy="5395186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solidFill>
              <a:schemeClr val="tx1"/>
            </a:solidFill>
          </a:ln>
        </p:spPr>
        <p:txBody>
          <a:bodyPr lIns="0" bIns="360000" anchor="ctr" anchorCtr="0"/>
          <a:lstStyle>
            <a:lvl1pPr marL="396000" indent="-396000">
              <a:buFont typeface="+mj-lt"/>
              <a:buAutoNum type="arabicPeriod"/>
              <a:defRPr sz="3250"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08596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textes 3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0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79997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3" name="Espace réservé du texte 11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415988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4" name="Espace réservé du texte 11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8351979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</p:spTree>
    <p:extLst>
      <p:ext uri="{BB962C8B-B14F-4D97-AF65-F5344CB8AC3E}">
        <p14:creationId xmlns:p14="http://schemas.microsoft.com/office/powerpoint/2010/main" val="3840454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/>
          <a:p>
            <a:r>
              <a:rPr lang="fr-FR" noProof="0" dirty="0"/>
              <a:t>Titre</a:t>
            </a:r>
            <a:endParaRPr lang="fr-FR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9" name="Espace réservé du contenu 8"/>
          <p:cNvSpPr>
            <a:spLocks noGrp="1"/>
          </p:cNvSpPr>
          <p:nvPr>
            <p:ph sz="quarter" idx="14" hasCustomPrompt="1"/>
          </p:nvPr>
        </p:nvSpPr>
        <p:spPr bwMode="gray">
          <a:xfrm>
            <a:off x="479996" y="2447993"/>
            <a:ext cx="1123197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5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jpg"/><Relationship Id="rId9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479997" y="1199997"/>
            <a:ext cx="11231971" cy="95999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fr-FR" noProof="0" dirty="0"/>
              <a:t>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479997" y="2447993"/>
            <a:ext cx="11231971" cy="343199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fr-FR" noProof="0" dirty="0"/>
              <a:t>Texte de niveau 1</a:t>
            </a:r>
          </a:p>
          <a:p>
            <a:pPr lvl="1"/>
            <a:r>
              <a:rPr lang="fr-FR" noProof="0" dirty="0"/>
              <a:t>Texte de niveau 2</a:t>
            </a:r>
          </a:p>
          <a:p>
            <a:pPr lvl="2"/>
            <a:r>
              <a:rPr lang="fr-FR" noProof="0" dirty="0"/>
              <a:t>Texte de niveau 3</a:t>
            </a:r>
          </a:p>
          <a:p>
            <a:pPr lvl="3"/>
            <a:r>
              <a:rPr lang="fr-FR" noProof="0" dirty="0"/>
              <a:t>Texte de niveau 4</a:t>
            </a:r>
          </a:p>
          <a:p>
            <a:pPr lvl="4"/>
            <a:r>
              <a:rPr lang="fr-FR" noProof="0" dirty="0"/>
              <a:t>Texte de niveau 5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 bwMode="gray">
          <a:xfrm>
            <a:off x="10151974" y="6377984"/>
            <a:ext cx="1559996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ctr">
              <a:defRPr sz="750" b="1">
                <a:solidFill>
                  <a:schemeClr val="tx1"/>
                </a:solidFill>
              </a:defRPr>
            </a:lvl1pPr>
          </a:lstStyle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 bwMode="gray">
          <a:xfrm>
            <a:off x="479998" y="6377984"/>
            <a:ext cx="7871980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>
              <a:defRPr sz="750" b="1">
                <a:solidFill>
                  <a:schemeClr val="tx1"/>
                </a:solidFill>
              </a:defRPr>
            </a:lvl1pPr>
          </a:lstStyle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 bwMode="gray">
          <a:xfrm>
            <a:off x="8351979" y="6377984"/>
            <a:ext cx="1799995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r">
              <a:defRPr sz="750" b="1">
                <a:solidFill>
                  <a:schemeClr val="tx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cxnSp>
        <p:nvCxnSpPr>
          <p:cNvPr id="10" name="Connecteur droit 9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976" y="147038"/>
            <a:ext cx="737074" cy="667800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961" y="243271"/>
            <a:ext cx="477928" cy="47792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08" r:id="rId1"/>
    <p:sldLayoutId id="2147483812" r:id="rId2"/>
    <p:sldLayoutId id="2147483810" r:id="rId3"/>
    <p:sldLayoutId id="2147483811" r:id="rId4"/>
    <p:sldLayoutId id="2147483809" r:id="rId5"/>
    <p:sldLayoutId id="2147483798" r:id="rId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55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500"/>
        </a:spcAft>
        <a:buFont typeface="Arial" pitchFamily="34" charset="0"/>
        <a:buNone/>
        <a:defRPr sz="105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52000" indent="-7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itchFamily="34" charset="0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2pPr>
      <a:lvl3pPr marL="43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850" kern="1200">
          <a:solidFill>
            <a:schemeClr val="tx1"/>
          </a:solidFill>
          <a:latin typeface="+mn-lt"/>
          <a:ea typeface="+mn-ea"/>
          <a:cs typeface="+mn-cs"/>
        </a:defRPr>
      </a:lvl3pPr>
      <a:lvl4pPr marL="61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828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Arial"/>
              </a:rPr>
              <a:t>Partie II - Documents bureautiques accessibles - TP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Arial"/>
              </a:rPr>
              <a:t>Partie II | Plan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1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157630" y="224028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971800"/>
            <a:ext cx="2004364" cy="2606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Arial"/>
              </a:rPr>
              <a:t>Structurer et naviguer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3463747" y="224028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2781604" y="2971800"/>
            <a:ext cx="2004364" cy="2606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Arial"/>
              </a:rPr>
              <a:t>Rendre les contenus et les liens compréhensibles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5769864" y="224028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5087721" y="2971800"/>
            <a:ext cx="2004364" cy="2606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Arial"/>
              </a:rPr>
              <a:t>Sécuriser couleurs, graphiques et tableaux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8075980" y="224028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9" name="DSFR-stepper-texte-4"/>
          <p:cNvSpPr txBox="1"/>
          <p:nvPr/>
        </p:nvSpPr>
        <p:spPr>
          <a:xfrm>
            <a:off x="7393838" y="2971800"/>
            <a:ext cx="2004364" cy="2606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Arial"/>
              </a:rPr>
              <a:t>Régler langues et lisibilité</a:t>
            </a:r>
          </a:p>
        </p:txBody>
      </p:sp>
      <p:sp>
        <p:nvSpPr>
          <p:cNvPr id="20" name="DSFR-stepper-pastille-5"/>
          <p:cNvSpPr/>
          <p:nvPr/>
        </p:nvSpPr>
        <p:spPr>
          <a:xfrm>
            <a:off x="10382097" y="224028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1" name="DSFR-stepper-texte-5"/>
          <p:cNvSpPr txBox="1"/>
          <p:nvPr/>
        </p:nvSpPr>
        <p:spPr>
          <a:xfrm>
            <a:off x="9699955" y="2971800"/>
            <a:ext cx="2004364" cy="2606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Arial"/>
              </a:rPr>
              <a:t>Finaliser, vérifier, exporter et contrôler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9 octobre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Formation 102846 / Partie II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1797710" y="254203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103827" y="254203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6409944" y="254203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stepper-connecteur-4-decoratif" descr=""/>
          <p:cNvSpPr/>
          <p:nvPr/>
        </p:nvSpPr>
        <p:spPr>
          <a:xfrm>
            <a:off x="8716060" y="254203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Arial"/>
              </a:rPr>
              <a:t>Le lecteur d'écran en action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Arial"/>
              </a:rPr>
              <a:t>2. Documents accessibles | Ouverture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240280"/>
            <a:ext cx="5390388" cy="3131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37744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 lang="fr-FR">
                <a:solidFill>
                  <a:srgbClr val="000091"/>
                </a:solidFill>
                <a:latin typeface="Arial"/>
              </a:rPr>
              <a:t>Ce qu’entend le lecteur d’écran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834640"/>
            <a:ext cx="5097779" cy="24460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 lang="fr-FR">
                <a:solidFill>
                  <a:srgbClr val="161616"/>
                </a:solidFill>
                <a:latin typeface="Arial"/>
              </a:rPr>
              <a:t>Texte, texte, texte, texte, texte, texte ...
Pendant 4 minutes. Sans titre. Sans repère.
Sans pouvoir naviguer vers la section qui le concerne.
-&gt; C'est ce qu'entend une personne malvoyante face à votre document Word.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240280"/>
            <a:ext cx="5390388" cy="3131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37744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 lang="fr-FR">
                <a:solidFill>
                  <a:srgbClr val="000091"/>
                </a:solidFill>
                <a:latin typeface="Arial"/>
              </a:rPr>
              <a:t>15 % de vos destinataires sont concernés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834640"/>
            <a:ext cx="5097779" cy="24460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80 % de ces handicaps sont invisibles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Dans une réunion de 12 personnes :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au moins 1 daltonien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Parmi 30 destinataires :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4 ou 5 ont un handicap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9 octobre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Formation 102846 / Documents accessibles - Contexte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240280"/>
            <a:ext cx="73152" cy="3131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240280"/>
            <a:ext cx="73152" cy="3131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Arial"/>
              </a:rPr>
              <a:t>Quiz - lequel de ces deux documents est accessible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Arial"/>
              </a:rPr>
              <a:t>2. Documents accessibles | Quiz flash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96596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05740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Arial"/>
              </a:rPr>
              <a:t>Ils sont visuellement identiques. Lequel préférez-vous pour NVDA ?</a:t>
            </a:r>
          </a:p>
        </p:txBody>
      </p:sp>
      <p:sp>
        <p:nvSpPr>
          <p:cNvPr id="11" name="DSFR-texte-libre"/>
          <p:cNvSpPr txBox="1"/>
          <p:nvPr/>
        </p:nvSpPr>
        <p:spPr>
          <a:xfrm>
            <a:off x="475488" y="2743200"/>
            <a:ext cx="546354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161616"/>
                </a:solidFill>
                <a:latin typeface="Arial"/>
              </a:rPr>
              <a:t>Document A</a:t>
            </a:r>
          </a:p>
        </p:txBody>
      </p:sp>
      <p:pic>
        <p:nvPicPr>
          <p:cNvPr id="12" name="Picture 11" descr="Aperçu stylisé du document a, visuellement identique à l'autre documen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4278" y="3154680"/>
            <a:ext cx="1965960" cy="2778433"/>
          </a:xfrm>
          <a:prstGeom prst="rect">
            <a:avLst/>
          </a:prstGeom>
        </p:spPr>
      </p:pic>
      <p:sp>
        <p:nvSpPr>
          <p:cNvPr id="13" name="DSFR-texte-libre"/>
          <p:cNvSpPr txBox="1"/>
          <p:nvPr/>
        </p:nvSpPr>
        <p:spPr>
          <a:xfrm>
            <a:off x="6240779" y="2743200"/>
            <a:ext cx="546354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161616"/>
                </a:solidFill>
                <a:latin typeface="Arial"/>
              </a:rPr>
              <a:t>Document B</a:t>
            </a:r>
          </a:p>
        </p:txBody>
      </p:sp>
      <p:pic>
        <p:nvPicPr>
          <p:cNvPr id="14" name="Picture 13" descr="Aperçu stylisé du document b, visuellement identique à l'autre documen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9569" y="3154680"/>
            <a:ext cx="1965960" cy="2778433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9 octobre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Formation 102846 / Documents accessibles - Quiz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96596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Arial"/>
              </a:rPr>
              <a:t>Réponse - le document B est accessible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Arial"/>
              </a:rPr>
              <a:t>2. Documents accessibles | Quiz flash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Arial"/>
              </a:rPr>
              <a:t>À l'écran, rien ne les distingue. La différence se trouve dans la structure du fichier.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5390388" cy="17716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rd-titre"/>
          <p:cNvSpPr txBox="1"/>
          <p:nvPr/>
        </p:nvSpPr>
        <p:spPr>
          <a:xfrm>
            <a:off x="704088" y="345186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Arial"/>
              </a:rPr>
              <a:t>Document A</a:t>
            </a:r>
          </a:p>
        </p:txBody>
      </p:sp>
      <p:sp>
        <p:nvSpPr>
          <p:cNvPr id="14" name="DSFR-card-contenu"/>
          <p:cNvSpPr txBox="1"/>
          <p:nvPr/>
        </p:nvSpPr>
        <p:spPr>
          <a:xfrm>
            <a:off x="704088" y="3909059"/>
            <a:ext cx="5097779" cy="10858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Titres mis en gras, police Arial 16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Image sans description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Fichier nommé Document1.docx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314700"/>
            <a:ext cx="5390388" cy="17716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rd-titre"/>
          <p:cNvSpPr txBox="1"/>
          <p:nvPr/>
        </p:nvSpPr>
        <p:spPr>
          <a:xfrm>
            <a:off x="6469379" y="345186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Arial"/>
              </a:rPr>
              <a:t>Document B</a:t>
            </a:r>
          </a:p>
        </p:txBody>
      </p:sp>
      <p:sp>
        <p:nvSpPr>
          <p:cNvPr id="18" name="DSFR-card-contenu"/>
          <p:cNvSpPr txBox="1"/>
          <p:nvPr/>
        </p:nvSpPr>
        <p:spPr>
          <a:xfrm>
            <a:off x="6469379" y="3909059"/>
            <a:ext cx="5097779" cy="10858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Titres avec le style « Titre 1 »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Image avec texte alternatif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Fichier nommé rapport-bilan-2024.docx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540639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highlight"/>
          <p:cNvSpPr txBox="1"/>
          <p:nvPr/>
        </p:nvSpPr>
        <p:spPr>
          <a:xfrm>
            <a:off x="749808" y="5497829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Arial"/>
              </a:rPr>
              <a:t>La structure du fichier détermine ce que NVDA peut restituer.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9 octobre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Formation 102846 / Documents accessibles - Réponse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7716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314700"/>
            <a:ext cx="73152" cy="17716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540639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Arial"/>
              </a:rPr>
              <a:t>Pourquoi ça vous concerne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Arial"/>
              </a:rPr>
              <a:t>2. Documents accessibles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5</a:t>
            </a:r>
            <a:endParaRPr lang="fr-FR" dirty="0"/>
          </a:p>
        </p:txBody>
      </p:sp>
      <p:sp>
        <p:nvSpPr>
          <p:cNvPr id="8" name="DSFR-kpi-pave"/>
          <p:cNvSpPr/>
          <p:nvPr/>
        </p:nvSpPr>
        <p:spPr>
          <a:xfrm>
            <a:off x="475488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Arial"/>
              </a:rPr>
              <a:t>15 %</a:t>
            </a:r>
          </a:p>
        </p:txBody>
      </p:sp>
      <p:sp>
        <p:nvSpPr>
          <p:cNvPr id="9" name="DSFR-kpi-label"/>
          <p:cNvSpPr txBox="1"/>
          <p:nvPr/>
        </p:nvSpPr>
        <p:spPr>
          <a:xfrm>
            <a:off x="475488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Arial"/>
              </a:rPr>
              <a:t>de vos destinataires sont concernés par un handicap</a:t>
            </a:r>
          </a:p>
        </p:txBody>
      </p:sp>
      <p:sp>
        <p:nvSpPr>
          <p:cNvPr id="10" name="DSFR-kpi-pave"/>
          <p:cNvSpPr/>
          <p:nvPr/>
        </p:nvSpPr>
        <p:spPr>
          <a:xfrm>
            <a:off x="4319015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Arial"/>
              </a:rPr>
              <a:t>80 %</a:t>
            </a:r>
          </a:p>
        </p:txBody>
      </p:sp>
      <p:sp>
        <p:nvSpPr>
          <p:cNvPr id="11" name="DSFR-kpi-label"/>
          <p:cNvSpPr txBox="1"/>
          <p:nvPr/>
        </p:nvSpPr>
        <p:spPr>
          <a:xfrm>
            <a:off x="4319015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Arial"/>
              </a:rPr>
              <a:t>de ces handicaps sont invisibles - rien ne le montre</a:t>
            </a:r>
          </a:p>
        </p:txBody>
      </p:sp>
      <p:sp>
        <p:nvSpPr>
          <p:cNvPr id="12" name="DSFR-kpi-pave"/>
          <p:cNvSpPr/>
          <p:nvPr/>
        </p:nvSpPr>
        <p:spPr>
          <a:xfrm>
            <a:off x="8162543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Arial"/>
              </a:rPr>
              <a:t>0 ligne</a:t>
            </a:r>
          </a:p>
        </p:txBody>
      </p:sp>
      <p:sp>
        <p:nvSpPr>
          <p:cNvPr id="13" name="DSFR-kpi-label"/>
          <p:cNvSpPr txBox="1"/>
          <p:nvPr/>
        </p:nvSpPr>
        <p:spPr>
          <a:xfrm>
            <a:off x="8162543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Arial"/>
              </a:rPr>
              <a:t>de code nécessaire - uniquement des réflexes dans le ruban Word</a:t>
            </a:r>
          </a:p>
        </p:txBody>
      </p:sp>
      <p:sp>
        <p:nvSpPr>
          <p:cNvPr id="15" name="DSFR-box"/>
          <p:cNvSpPr/>
          <p:nvPr/>
        </p:nvSpPr>
        <p:spPr>
          <a:xfrm>
            <a:off x="548640" y="37947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llout-titre"/>
          <p:cNvSpPr txBox="1"/>
          <p:nvPr/>
        </p:nvSpPr>
        <p:spPr>
          <a:xfrm>
            <a:off x="704088" y="3886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Arial"/>
              </a:rPr>
              <a:t>L'accessibilité ne se voit pas : elle se manipule et se vérifie</a:t>
            </a:r>
          </a:p>
        </p:txBody>
      </p:sp>
      <p:sp>
        <p:nvSpPr>
          <p:cNvPr id="17" name="DSFR-callout-body"/>
          <p:cNvSpPr txBox="1"/>
          <p:nvPr/>
        </p:nvSpPr>
        <p:spPr>
          <a:xfrm>
            <a:off x="704088" y="42976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Le style Titre 1 crée une structure de navigation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Le texte de remplacement décrit la fonction de l'image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Le nom de fichier permet de retrouver le document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9 octobre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Formation 102846 / Documents accessibles - Pourquoi</a:t>
            </a:r>
          </a:p>
        </p:txBody>
      </p:sp>
      <p:sp>
        <p:nvSpPr>
          <p:cNvPr id="14" name="DSFR-accent-decoratif" descr=""/>
          <p:cNvSpPr/>
          <p:nvPr/>
        </p:nvSpPr>
        <p:spPr>
          <a:xfrm>
            <a:off x="475488" y="37947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Arial"/>
              </a:rPr>
              <a:t>Votre mission : rendre accessible le guide de Sami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Arial"/>
              </a:rPr>
              <a:t>2. Documents accessibles | Préambule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87451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Arial"/>
              </a:rPr>
              <a:t>Point de départ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118871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Conseillé :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tp-doc-aide-correction.docx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Variante autonome :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tp-doc-inaccessible.docx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5 étapes en 90 minutes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187451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Arial"/>
              </a:rPr>
              <a:t>Productions à remettre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118871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Le DOCX corrigé par votre binôme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La checklist renseignée au fil des étapes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Le PDF exporté puis contrôlé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315968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4407407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Arial"/>
              </a:rPr>
              <a:t>Checklist dès le départ ; cartes WCAG reliées informellement à chaque contrôle.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9 octobre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Formation 102846 / Documents accessibles - Mission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87451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187451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315968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Arial"/>
              </a:rPr>
              <a:t>Étape 1 - Structurer et naviguer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Arial"/>
              </a:rPr>
              <a:t>2. Documents accessibles | Étape 1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7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057400"/>
          <a:ext cx="1122883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1143000"/>
                <a:gridCol w="9034272"/>
              </a:tblGrid>
              <a:tr h="512064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Arial"/>
                        </a:rPr>
                        <a:t>ID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Arial"/>
                        </a:rPr>
                        <a:t>Niveau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Arial"/>
                        </a:rPr>
                        <a:t>Points travaillés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512064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P-01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Distinguer le titre principal des titres hiérarchiques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P-02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Construire une hiérarchie de titres cohérente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12064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P-03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Naviguer et générer un sommaire automatique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P-04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Utiliser des listes natives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12064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P-05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Employer les fonctions de mise en page adaptées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525780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highlight"/>
          <p:cNvSpPr txBox="1"/>
          <p:nvPr/>
        </p:nvSpPr>
        <p:spPr>
          <a:xfrm>
            <a:off x="749808" y="534924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Arial"/>
              </a:rPr>
              <a:t>Manipuler la structure, puis prouver le résultat dans le volet et le sommaire.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9 octobre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Formation 102846 / Documents accessibles - Étape 1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525780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Arial"/>
              </a:rPr>
              <a:t>Étape 1 - Titres, hiérarchie et sommaire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Arial"/>
              </a:rPr>
              <a:t>2. Documents accessibles | Étape 1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35204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Arial"/>
              </a:rPr>
              <a:t>Dans Word - procédure principale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2834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P-01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Accueil &gt; Styles, puis appliquer Titre au titre principal et les niveaux de titre aux sections.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P-02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Affichage &gt; Volet de navigation, puis corriger les styles depuis Accueil &gt; Styles.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P-03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Références &gt; Table des matières &gt; Table automatique, puis clic droit &gt; Mettre à jour les champs.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35204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Arial"/>
              </a:rPr>
              <a:t>Dans Writer - complément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2834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P-01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Styles &gt; Gérer les styles, puis appliquer Titre et Titre 1 à Titre 3 selon le niveau.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P-02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Affichage &gt; Navigateur, puis corriger les styles depuis Styles &gt; Gérer les styles.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P-03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Insertion &gt; Table des matières et index &gt; Table des matières, index ou bibliographie.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9 octobre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Formation 102846 / Documents accessibles - Étape 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5204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35204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Arial"/>
              </a:rPr>
              <a:t>Étape 1 - Listes et mise en page robuste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Arial"/>
              </a:rPr>
              <a:t>2. Documents accessibles | Étape 1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6060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Arial"/>
              </a:rPr>
              <a:t>Dans Word - procédure principale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19202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P-04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Sélectionner les paragraphes, puis Accueil &gt; Puces ou Numérotation.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P-05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Accueil &gt; Afficher tout, puis régler Paragraphe, Mise en page &gt; Sauts et Mise en page &gt; Colonnes.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6060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Arial"/>
              </a:rPr>
              <a:t>Dans Writer - complément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19202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P-04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Sélectionner les paragraphes, puis Format &gt; Puces et numérotation.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P-05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Affichage &gt; Marques de formatage, puis Format &gt; Paragraphe et Format &gt; Style de page.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001768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093207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Arial"/>
              </a:rPr>
              <a:t>Manipulation : afficher les marques, corriger les artifices, puis vérifier la structure.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9 octobre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Formation 102846 / Documents accessibles - Étape 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6060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6060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001768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Arial"/>
              </a:rPr>
              <a:t>Étape 2 - Rendre les contenus et les liens compréhensibles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Arial"/>
              </a:rPr>
              <a:t>2. Documents accessibles | Étape 2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10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011680"/>
          <a:ext cx="11228832" cy="3136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1143000"/>
                <a:gridCol w="9034272"/>
              </a:tblGrid>
              <a:tr h="448056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Arial"/>
                        </a:rPr>
                        <a:t>ID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Arial"/>
                        </a:rPr>
                        <a:t>Niveau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Arial"/>
                        </a:rPr>
                        <a:t>Points travaillés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48056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P-06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Rédiger l'alternative d'une image informative simple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P-07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Décrire une image complexe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48056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P-08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Marquer une image redondante comme décorative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P-09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Remplacer une image de texte par du vrai texte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48056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P-10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Rendre les liens autonomes et identifiables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P-11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Reprendre dans le corps l'information d'un en-tête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5321808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highlight"/>
          <p:cNvSpPr txBox="1"/>
          <p:nvPr/>
        </p:nvSpPr>
        <p:spPr>
          <a:xfrm>
            <a:off x="749808" y="5413248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Arial"/>
              </a:rPr>
              <a:t>Choisir le traitement selon l'usage : informative, complexe, décorative ou textuelle.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9 octobre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Formation 102846 / Documents accessibles - Étape 2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5321808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Arial"/>
              </a:rPr>
              <a:t>Étape 2 - Choisir le bon traitement pour chaque image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Arial"/>
              </a:rPr>
              <a:t>2. Documents accessibles | Étape 2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11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36118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Arial"/>
              </a:rPr>
              <a:t>Dans Word - procédure principale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29260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P-06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Clic droit sur l'image &gt; Afficher le texte de remplacement, puis renseigner la description.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P-07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Ajouter le texte de remplacement, puis saisir la description détaillée dans un paragraphe voisin.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P-08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Afficher le texte de remplacement puis cocher Marquer comme décoratif.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36118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Arial"/>
              </a:rPr>
              <a:t>Dans Writer - complément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29260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P-06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Clic droit sur l'image &gt; Propriétés &gt; Options, puis renseigner le texte alternatif.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P-07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Renseigner le texte alternatif dans les propriétés, puis ajouter la description dans le corps.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P-08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Si l'option Décoratif existe, l'activer ; sinon laisser titre et description vides seulement après vérification de la redondance.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9 octobre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Formation 102846 / Documents accessibles - Étape 2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6118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36118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Arial"/>
              </a:rPr>
              <a:t>Étape 2 - Vrai texte et liens compréhensibles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Arial"/>
              </a:rPr>
              <a:t>2. Documents accessibles | Étape 2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12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514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Arial"/>
              </a:rPr>
              <a:t>Dans Word - procédure principale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18288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P-09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Insérer le texte dans un paragraphe structuré, appliquer les styles utiles puis supprimer l'image de texte.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P-10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Modifier le texte affiché du lien via clic droit &gt; Modifier le lien, puis compléter le libellé dans le corps.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514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Arial"/>
              </a:rPr>
              <a:t>Dans Writer - complément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18288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P-09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Saisir le texte dans le corps, appliquer les styles utiles puis supprimer l'image de texte.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P-10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Clic droit &gt; Modifier l'hyperlien, puis compléter le libellé dans le corps.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965192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056631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Arial"/>
              </a:rPr>
              <a:t>Preuve : le texte se sélectionne et chaque lien reste clair hors contexte.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9 octobre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Formation 102846 / Documents accessibles - Étape 2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514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514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965192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Arial"/>
              </a:rPr>
              <a:t>Étape 2 - L'information essentielle reste dans le corps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Arial"/>
              </a:rPr>
              <a:t>2. Documents accessibles | Étape 2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13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01168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0312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Arial"/>
              </a:rPr>
              <a:t>P-11 [P] - Reprendre dans le corps l'information d'un en-tête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2990088"/>
            <a:ext cx="5390388" cy="28803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rd-titre"/>
          <p:cNvSpPr txBox="1"/>
          <p:nvPr/>
        </p:nvSpPr>
        <p:spPr>
          <a:xfrm>
            <a:off x="704088" y="3127248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Arial"/>
              </a:rPr>
              <a:t>Dans Word - procédure principale</a:t>
            </a:r>
          </a:p>
        </p:txBody>
      </p:sp>
      <p:sp>
        <p:nvSpPr>
          <p:cNvPr id="14" name="DSFR-card-contenu"/>
          <p:cNvSpPr txBox="1"/>
          <p:nvPr/>
        </p:nvSpPr>
        <p:spPr>
          <a:xfrm>
            <a:off x="704088" y="3584448"/>
            <a:ext cx="5097779" cy="2194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Ne jamais faire porter une information essentielle uniquement par un filigrane, un en-tête ou un arrière-plan.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Ajouter le statut dans le corps avec un style adapté ; l'en-tête peut le conserver, sans en être l'unique porteur.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Reprendre le même statut à un emplacement logique du corps.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2990088"/>
            <a:ext cx="5390388" cy="28803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rd-titre"/>
          <p:cNvSpPr txBox="1"/>
          <p:nvPr/>
        </p:nvSpPr>
        <p:spPr>
          <a:xfrm>
            <a:off x="6469379" y="3127248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Arial"/>
              </a:rPr>
              <a:t>Dans Writer - complément</a:t>
            </a:r>
          </a:p>
        </p:txBody>
      </p:sp>
      <p:sp>
        <p:nvSpPr>
          <p:cNvPr id="18" name="DSFR-card-contenu"/>
          <p:cNvSpPr txBox="1"/>
          <p:nvPr/>
        </p:nvSpPr>
        <p:spPr>
          <a:xfrm>
            <a:off x="6469379" y="3584448"/>
            <a:ext cx="5097779" cy="2194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Ajouter le statut dans le corps avec un style adapté ; l'en-tête peut le conserver, sans en être l'unique porteur.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Preuve :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Statut compréhensible dans le texte linéarisé sans en-tête ni arrière-plan.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9 octobre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Formation 102846 / Documents accessibles - Étape 2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01168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2990088"/>
            <a:ext cx="73152" cy="28803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2990088"/>
            <a:ext cx="73152" cy="28803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Arial"/>
              </a:rPr>
              <a:t>Étape 3 - Sécuriser couleurs, graphiques et tableaux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Arial"/>
              </a:rPr>
              <a:t>2. Documents accessibles | Étape 3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14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1143000"/>
                <a:gridCol w="9034272"/>
              </a:tblGrid>
              <a:tr h="603504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Arial"/>
                        </a:rPr>
                        <a:t>ID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Arial"/>
                        </a:rPr>
                        <a:t>Niveau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Arial"/>
                        </a:rPr>
                        <a:t>Points travaillés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603504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P-12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Mesurer les contrastes utiles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P-13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Ne pas transmettre une information par la couleur seule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603504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P-14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Structurer un tableau de données simple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93776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highlight"/>
          <p:cNvSpPr txBox="1"/>
          <p:nvPr/>
        </p:nvSpPr>
        <p:spPr>
          <a:xfrm>
            <a:off x="749808" y="502920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Arial"/>
              </a:rPr>
              <a:t>Mesurer, rendre l'information indépendante de la couleur, puis vérifier la structure.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9 octobre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Formation 102846 / Documents accessibles - Étape 3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93776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Arial"/>
              </a:rPr>
              <a:t>Étape 3 - Le contraste se mesure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Arial"/>
              </a:rPr>
              <a:t>2. Documents accessibles | Étape 3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15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96596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05740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Arial"/>
              </a:rPr>
              <a:t>P-12 [P] - Mesurer les contrastes utiles</a:t>
            </a:r>
          </a:p>
        </p:txBody>
      </p:sp>
      <p:sp>
        <p:nvSpPr>
          <p:cNvPr id="11" name="DSFR-kpi-pave"/>
          <p:cNvSpPr/>
          <p:nvPr/>
        </p:nvSpPr>
        <p:spPr>
          <a:xfrm>
            <a:off x="475488" y="2926080"/>
            <a:ext cx="5463540" cy="71323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Arial"/>
              </a:rPr>
              <a:t>4,5:1</a:t>
            </a:r>
          </a:p>
        </p:txBody>
      </p:sp>
      <p:sp>
        <p:nvSpPr>
          <p:cNvPr id="12" name="DSFR-kpi-label"/>
          <p:cNvSpPr txBox="1"/>
          <p:nvPr/>
        </p:nvSpPr>
        <p:spPr>
          <a:xfrm>
            <a:off x="475488" y="3694176"/>
            <a:ext cx="5463540" cy="32918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Arial"/>
              </a:rPr>
              <a:t>Texte normal</a:t>
            </a:r>
          </a:p>
        </p:txBody>
      </p:sp>
      <p:sp>
        <p:nvSpPr>
          <p:cNvPr id="13" name="DSFR-kpi-pave"/>
          <p:cNvSpPr/>
          <p:nvPr/>
        </p:nvSpPr>
        <p:spPr>
          <a:xfrm>
            <a:off x="6240779" y="2926080"/>
            <a:ext cx="5463540" cy="71323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Arial"/>
              </a:rPr>
              <a:t>3:1</a:t>
            </a:r>
          </a:p>
        </p:txBody>
      </p:sp>
      <p:sp>
        <p:nvSpPr>
          <p:cNvPr id="14" name="DSFR-kpi-label"/>
          <p:cNvSpPr txBox="1"/>
          <p:nvPr/>
        </p:nvSpPr>
        <p:spPr>
          <a:xfrm>
            <a:off x="6240779" y="3694176"/>
            <a:ext cx="5463540" cy="32918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Arial"/>
              </a:rPr>
              <a:t>Grand texte et éléments graphiques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160520"/>
            <a:ext cx="5390388" cy="20116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rd-titre"/>
          <p:cNvSpPr txBox="1"/>
          <p:nvPr/>
        </p:nvSpPr>
        <p:spPr>
          <a:xfrm>
            <a:off x="704088" y="429768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Arial"/>
              </a:rPr>
              <a:t>Dans Word - procédure principale</a:t>
            </a:r>
          </a:p>
        </p:txBody>
      </p:sp>
      <p:sp>
        <p:nvSpPr>
          <p:cNvPr id="18" name="DSFR-card-contenu"/>
          <p:cNvSpPr txBox="1"/>
          <p:nvPr/>
        </p:nvSpPr>
        <p:spPr>
          <a:xfrm>
            <a:off x="704088" y="4754880"/>
            <a:ext cx="5097779" cy="13258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Relever les couleurs de police et de fond, mesurer avec l'outil de contraste, puis modifier la couleur de police.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Mesurer la combinaison puis choisir une couleur qui atteint le seuil applicable.</a:t>
            </a:r>
          </a:p>
        </p:txBody>
      </p:sp>
      <p:sp>
        <p:nvSpPr>
          <p:cNvPr id="20" name="DSFR-box"/>
          <p:cNvSpPr/>
          <p:nvPr/>
        </p:nvSpPr>
        <p:spPr>
          <a:xfrm>
            <a:off x="6313931" y="4160520"/>
            <a:ext cx="5390388" cy="20116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6469379" y="429768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Arial"/>
              </a:rPr>
              <a:t>Dans Writer - complément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6469379" y="4754880"/>
            <a:ext cx="5097779" cy="13258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Relever les couleurs de caractère et d'arrière-plan, mesurer, puis modifier la couleur de caractère.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9 octobre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Formation 102846 / Documents accessibles - Étape 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96596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160520"/>
            <a:ext cx="73152" cy="20116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6240779" y="4160520"/>
            <a:ext cx="73152" cy="20116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Arial"/>
              </a:rPr>
              <a:t>Étape 3 - Un graphique compréhensible sans la couleur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Arial"/>
              </a:rPr>
              <a:t>2. Documents accessibles | Étape 3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16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0116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031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Arial"/>
              </a:rPr>
              <a:t>P-13 [P] - Ne pas transmettre une information par la couleur seule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017520"/>
            <a:ext cx="5390388" cy="31089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rd-titre"/>
          <p:cNvSpPr txBox="1"/>
          <p:nvPr/>
        </p:nvSpPr>
        <p:spPr>
          <a:xfrm>
            <a:off x="704088" y="31546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Arial"/>
              </a:rPr>
              <a:t>Dans Word - procédure principale</a:t>
            </a:r>
          </a:p>
        </p:txBody>
      </p:sp>
      <p:sp>
        <p:nvSpPr>
          <p:cNvPr id="14" name="DSFR-card-contenu"/>
          <p:cNvSpPr txBox="1"/>
          <p:nvPr/>
        </p:nvSpPr>
        <p:spPr>
          <a:xfrm>
            <a:off x="704088" y="3611879"/>
            <a:ext cx="5097779" cy="24231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Ajouter étiquettes, motifs ou un équivalent textuel complet à tout code couleur porteur d'information.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Insertion &gt; Graphique &gt; Histogramme groupé, reporter les valeurs affichées dans l'image, puis afficher les étiquettes et appliquer des motifs distincts.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Reconstruire dans Word le graphique à partir des valeurs affichées dans l'image, puis ajouter des étiquettes et des motifs ou conserver un équivalent textuel complet.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017520"/>
            <a:ext cx="5390388" cy="31089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rd-titre"/>
          <p:cNvSpPr txBox="1"/>
          <p:nvPr/>
        </p:nvSpPr>
        <p:spPr>
          <a:xfrm>
            <a:off x="6469379" y="31546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Arial"/>
              </a:rPr>
              <a:t>Dans Writer - complément</a:t>
            </a:r>
          </a:p>
        </p:txBody>
      </p:sp>
      <p:sp>
        <p:nvSpPr>
          <p:cNvPr id="18" name="DSFR-card-contenu"/>
          <p:cNvSpPr txBox="1"/>
          <p:nvPr/>
        </p:nvSpPr>
        <p:spPr>
          <a:xfrm>
            <a:off x="6469379" y="3611879"/>
            <a:ext cx="5097779" cy="24231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Insertion &gt; Diagramme, reporter les valeurs affichées dans l'image, puis afficher les étiquettes et choisir des remplissages distincts.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Preuve :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Séries et conclusions identifiables en niveaux de gris et dans l'équivalent textuel.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9 octobre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Formation 102846 / Documents accessibles - Étape 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0116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017520"/>
            <a:ext cx="73152" cy="31089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017520"/>
            <a:ext cx="73152" cy="31089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Arial"/>
              </a:rPr>
              <a:t>Étape 3 - Un tableau de données simple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Arial"/>
              </a:rPr>
              <a:t>2. Documents accessibles | Étape 3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17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01168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0312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Arial"/>
              </a:rPr>
              <a:t>P-14 [P] - Structurer un tableau de données simple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017520"/>
            <a:ext cx="5390388" cy="31089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rd-titre"/>
          <p:cNvSpPr txBox="1"/>
          <p:nvPr/>
        </p:nvSpPr>
        <p:spPr>
          <a:xfrm>
            <a:off x="704088" y="31546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Arial"/>
              </a:rPr>
              <a:t>Dans Word - procédure principale</a:t>
            </a:r>
          </a:p>
        </p:txBody>
      </p:sp>
      <p:sp>
        <p:nvSpPr>
          <p:cNvPr id="14" name="DSFR-card-contenu"/>
          <p:cNvSpPr txBox="1"/>
          <p:nvPr/>
        </p:nvSpPr>
        <p:spPr>
          <a:xfrm>
            <a:off x="704088" y="3611879"/>
            <a:ext cx="5097779" cy="24231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Utiliser un tableau de données titré, sans fusion, imbrication, fractionnement de ligne ni usage de mise en page, avec en-tête identifié et répété.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Outils de tableau &gt; Disposition pour défusionner ; Propriétés du tableau pour répéter l'en-tête et interdire le fractionnement des lignes.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Simplifier la structure, identifier l'en-tête et régler sa répétition ainsi que les lignes.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017520"/>
            <a:ext cx="5390388" cy="31089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rd-titre"/>
          <p:cNvSpPr txBox="1"/>
          <p:nvPr/>
        </p:nvSpPr>
        <p:spPr>
          <a:xfrm>
            <a:off x="6469379" y="31546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Arial"/>
              </a:rPr>
              <a:t>Dans Writer - complément</a:t>
            </a:r>
          </a:p>
        </p:txBody>
      </p:sp>
      <p:sp>
        <p:nvSpPr>
          <p:cNvPr id="18" name="DSFR-card-contenu"/>
          <p:cNvSpPr txBox="1"/>
          <p:nvPr/>
        </p:nvSpPr>
        <p:spPr>
          <a:xfrm>
            <a:off x="6469379" y="3611879"/>
            <a:ext cx="5097779" cy="24231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Tableau &gt; Propriétés pour simplifier la grille, répéter les premières lignes et éviter le fractionnement.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Preuve :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XML sans fusion ni imbrication et relations de cellules vérifiées à la lecture.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9 octobre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Formation 102846 / Documents accessibles - Étape 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01168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017520"/>
            <a:ext cx="73152" cy="31089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017520"/>
            <a:ext cx="73152" cy="31089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Arial"/>
              </a:rPr>
              <a:t>Étape 4 - Régler langues et lisibilité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Arial"/>
              </a:rPr>
              <a:t>2. Documents accessibles | Étape 4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18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1143000"/>
                <a:gridCol w="9034272"/>
              </a:tblGrid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Arial"/>
                        </a:rPr>
                        <a:t>ID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Arial"/>
                        </a:rPr>
                        <a:t>Niveau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Arial"/>
                        </a:rPr>
                        <a:t>Points travaillés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P-15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Définir les langues du document et des passages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P-16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Régler une typographie lisible par les styles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P-17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Appliquer la casse par la mise en forme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P-18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Développer les sigles et vérifier les majuscules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50749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highlight"/>
          <p:cNvSpPr txBox="1"/>
          <p:nvPr/>
        </p:nvSpPr>
        <p:spPr>
          <a:xfrm>
            <a:off x="749808" y="5166359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Arial"/>
              </a:rPr>
              <a:t>Corriger les styles sources : la langue et la lisibilité se règlent à l'échelle du document.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9 octobre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Formation 102846 / Documents accessibles - Étape 4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50749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Arial"/>
              </a:rPr>
              <a:t>Étape 4 - Langues et styles typographiques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Arial"/>
              </a:rPr>
              <a:t>2. Documents accessibles | Étape 4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19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6974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Arial"/>
              </a:rPr>
              <a:t>Dans Word - procédure principale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20116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P-15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Révision &gt; Langue &gt; Définir la langue de vérification pour le document puis pour le passage sélectionné.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P-16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Accueil &gt; Styles &gt; Modifier le style Normal, puis régler police, taille, alignement et paragraphe.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6974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Arial"/>
              </a:rPr>
              <a:t>Dans Writer - complément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20116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P-15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Outils &gt; Langue pour tout le texte, puis langue du caractère pour le passage sélectionné.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P-16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Styles &gt; Gérer les styles &gt; modifier Style de paragraphe par défaut, puis régler police et retraits et espacement.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093208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184648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Arial"/>
              </a:rPr>
              <a:t>Preuve : langue cohérente, corps à 12 points minimum, interligne 1,15 et alignement à gauche.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9 octobre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Formation 102846 / Documents accessibles - Étape 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697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697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093208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Arial"/>
              </a:rPr>
              <a:t>Étape 4 - Casse, accents et sigles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Arial"/>
              </a:rPr>
              <a:t>2. Documents accessibles | Étape 4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20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6974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Arial"/>
              </a:rPr>
              <a:t>Dans Word - procédure principale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20116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P-17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Corriger le texte, puis Police &gt; Effets &gt; Majuscules si cette apparence est nécessaire.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P-18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Développer le terme dans le corps, puis Fichier &gt; Options &gt; Vérification et décocher Ignorer les mots en MAJUSCULES.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6974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Arial"/>
              </a:rPr>
              <a:t>Dans Writer - complément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20116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P-17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Corriger le texte, puis Format &gt; Caractère &gt; Effets de caractères &gt; Majuscules.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P-18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Développer le terme dans le corps, puis Outils &gt; Options &gt; Paramètres linguistiques &gt; Linguistique et vérifier les options de contrôle.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093208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184648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Arial"/>
              </a:rPr>
              <a:t>Preuve : texte source accentué, première occurrence développée et majuscules contrôlées.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9 octobre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Formation 102846 / Documents accessibles - Étape 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697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697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093208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Arial"/>
              </a:rPr>
              <a:t>Étape 5 - Finaliser, vérifier, exporter et contrôler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Arial"/>
              </a:rPr>
              <a:t>2. Documents accessibles | Étape 5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21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1143000"/>
                <a:gridCol w="9034272"/>
              </a:tblGrid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Arial"/>
                        </a:rPr>
                        <a:t>ID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Arial"/>
                        </a:rPr>
                        <a:t>Niveau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Arial"/>
                        </a:rPr>
                        <a:t>Points travaillés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P-19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Renseigner les propriétés et le nom du fichier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P-20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Exporter un PDF structuré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C-01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Utiliser le vérificateur d'accessibilité Word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C-02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Arial"/>
                        </a:rPr>
                        <a:t>Contrôler le PDF après export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50749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highlight"/>
          <p:cNvSpPr txBox="1"/>
          <p:nvPr/>
        </p:nvSpPr>
        <p:spPr>
          <a:xfrm>
            <a:off x="749808" y="5166359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Arial"/>
              </a:rPr>
              <a:t>Les outils automatiques filtrent ; la checklist et la vérification humaine concluent.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9 octobre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Formation 102846 / Documents accessibles - Étape 5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50749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Arial"/>
              </a:rPr>
              <a:t>Étape 5 - Propriétés et vérificateur Word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Arial"/>
              </a:rPr>
              <a:t>2. Documents accessibles | Étape 5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22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926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Arial"/>
              </a:rPr>
              <a:t>Dans Word - P-19 [P] - Renseigner les propriétés et le nom du fichier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2240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Renseigner titre, auteur et langue puis enregistrer sous un nom descriptif.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Fichier &gt; Informations &gt; Propriétés &gt; Propriétés avancées, puis Fichier &gt; Enregistrer sous.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Preuve :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Métadonnées inspectées dans le DOCX et nom de sortie relu.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926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Arial"/>
              </a:rPr>
              <a:t>Dans Word - C-01 [C] - Utiliser le vérificateur d'accessibilité Word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2240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Traiter les alertes pertinentes et expliquer toute alerte résiduelle ; viser zéro erreur sans en faire une preuve de conformité.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Révision &gt; Vérifier l'accessibilité, parcourir chaque résultat et utiliser les actions recommandées avec discernement.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Preuve :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Relevé du vérificateur conservé et alertes résiduelles justifiées.</a:t>
            </a:r>
          </a:p>
        </p:txBody>
      </p:sp>
      <p:sp>
        <p:nvSpPr>
          <p:cNvPr id="16" name="DSFR-texte-libre"/>
          <p:cNvSpPr txBox="1"/>
          <p:nvPr/>
        </p:nvSpPr>
        <p:spPr>
          <a:xfrm>
            <a:off x="475488" y="5193792"/>
            <a:ext cx="11228832" cy="8229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Arial"/>
              </a:rPr>
              <a:t>Dans Writer - complément : Fichier &gt; Propriétés, puis Fichier &gt; Enregistrer sous. | Outils &gt; Vérification de l'accessibilité, parcourir les résultats et vérifier manuellement les points non couverts.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9 octobre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Formation 102846 / Documents accessibles - Étape 5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926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926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Arial"/>
              </a:rPr>
              <a:t>Étape 5 - Exporter puis contrôler le PDF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Arial"/>
              </a:rPr>
              <a:t>2. Documents accessibles | Étape 5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23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30175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Arial"/>
              </a:rPr>
              <a:t>Dans Word - P-20 [P] - Exporter un PDF structuré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23317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Exporter avec propriétés, balises de structure et signets générés depuis les titres.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Vérifier les propriétés dans Fichier &gt; Informations, puis Fichier &gt; Enregistrer sous ou Exporter &gt; PDF &gt; Options et activer les balises de structure ainsi que les signets issus des titres.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Preuve :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Propriétés et structure inspectées dans le PDF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30175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Arial"/>
              </a:rPr>
              <a:t>Dans Word - C-02 [C] - Contrôler le PDF après export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23317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Contrôler avec PAC, ou Acrobat Pro en alternative, le titre, la langue, les balises et l'ordre de lecture, puis terminer par la checklist humaine.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Ouvrir le PDF exporté dans PAC ; utiliser Acrobat Pro comme alternative si PAC n'est pas disponible.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Preuve :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Rapport PAC ou Acrobat conservé</a:t>
            </a:r>
          </a:p>
        </p:txBody>
      </p:sp>
      <p:sp>
        <p:nvSpPr>
          <p:cNvPr id="16" name="DSFR-texte-libre"/>
          <p:cNvSpPr txBox="1"/>
          <p:nvPr/>
        </p:nvSpPr>
        <p:spPr>
          <a:xfrm>
            <a:off x="475488" y="5230368"/>
            <a:ext cx="11228832" cy="8229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Arial"/>
              </a:rPr>
              <a:t>Dans Writer - complément : Vérifier les propriétés dans Fichier &gt; Propriétés, puis Fichier &gt; Exporter vers &gt; Exporter au format PDF et activer PDF balisé ainsi que l'export des repères. | Ouvrir le PDF exporté dans PAC ; utiliser Acrobat Pro comme alternative si PAC n'est pas disponible.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9 octobre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Formation 102846 / Documents accessibles - Étape 5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0175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30175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Arial"/>
              </a:rPr>
              <a:t>Checklist progressive - Étapes 1 et 2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Arial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24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41148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Arial"/>
              </a:rPr>
              <a:t>Structurer et naviguer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34290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P-01 [P]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Le titre principal et les titres de section utilisent des styles adaptés.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P-02 [P]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La hiérarchie des titres ne saute aucun niveau.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P-03 [P]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Le volet de navigation et le sommaire automatique reflètent le même plan.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P-04 [P]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Les listes sont créées avec les fonctions de puces ou de numérotation.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P-05 [P]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La mise en page n'est pas simulée par des caractères ou des paragraphes vides.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41148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Arial"/>
              </a:rPr>
              <a:t>Rendre les contenus et les liens compréhensibles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34290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P-06 [P]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Chaque image informative simple possède une alternative pertinente.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P-07 [P]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Une image complexe possède une alternative courte et une description détaillée adjacente.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P-08 [P]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Les images redondantes sont traitées comme décoratives sans masquer d'information.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P-09 [P]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Les informations textuelles sont fournies en vrai texte, pas seulement en image.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P-10 [P]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Chaque lien est compréhensible hors contexte et chaque téléchargement est décrit.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P-11 [P]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Toute information essentielle portée par un en-tête, un filigrane ou un arrière-plan est aussi présente dans le corps.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9 octobre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Formation 102846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41148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41148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Arial"/>
              </a:rPr>
              <a:t>Checklist progressive - Étapes 3 et 4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Arial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25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41148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Arial"/>
              </a:rPr>
              <a:t>Sécuriser couleurs, graphiques et tableaux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34290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P-12 [P]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Les contrastes sont mesurés et atteignent le seuil correspondant au contenu.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P-13 [P]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Une information donnée par la couleur possède aussi un repère non coloré.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P-14 [P]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Les tableaux de données sont simples, titrés et possèdent des en-têtes identifiés.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41148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Arial"/>
              </a:rPr>
              <a:t>Régler langues et lisibilité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34290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P-15 [P]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La langue principale et les changements de langue sont correctement définis.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P-16 [P]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Le corps utilise une police sans sérif, au moins 12 points, un interligne de 1,15 et un alignement à gauche.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P-17 [P]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Les mots sont saisis normalement avec leurs accents avant toute mise en forme en majuscules.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P-18 [P]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Les sigles sont développés à leur première occurrence et les majuscules sont vérifiées.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9 octobre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Formation 102846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41148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41148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Arial"/>
              </a:rPr>
              <a:t>Checklist progressive - Étape 5 et points signalés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Arial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26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41148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Arial"/>
              </a:rPr>
              <a:t>Finaliser, vérifier, exporter et contrôler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34290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P-19 [P]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Le titre, l'auteur, la langue et le nom de fichier sont renseignés de façon descriptive.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P-20 [P]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Le PDF est exporté avec ses propriétés, ses balises et ses signets.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C-01 [C]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Le vérificateur a été exécuté, ses alertes pertinentes traitées et les alertes résiduelles expliquées.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C-02 [C]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Le PDF a été contrôlé après export avec PAC ou Acrobat Pro puis avec la checklist humaine.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41148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Arial"/>
              </a:rPr>
              <a:t>Contrôles signalés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34290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S-01 [S]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Le document n'est pas protégé lorsque sa modification doit rester possible.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S-02 [S]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Le document ne contient aucun contenu clignotant.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S-03 [S]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Le document ne contient pas de formulaire Word interactif.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S-04 [S]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Les objets et zones de texte flottants ne portent aucune information essentielle.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1" lang="fr-FR">
                <a:solidFill>
                  <a:srgbClr val="161616"/>
                </a:solidFill>
                <a:latin typeface="Arial"/>
              </a:rPr>
              <a:t>S-05 [S]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 - Les tableaux ne servent pas à la mise en page et ne sont pas flottants.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9 octobre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Formation 102846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41148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41148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Arial"/>
              </a:rPr>
              <a:t>Synthèse de la matinée - de l'intention à la preuve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Arial"/>
              </a:rPr>
              <a:t>Matin | Synthèse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27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4231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Arial"/>
              </a:rPr>
              <a:t>Ce que nous retenons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17373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L'environnement peut créer ou supprimer une situation de handicap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La structure et le sens comptent autant que l'apparence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Une correction doit produire une preuve vérifiable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231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Arial"/>
              </a:rPr>
              <a:t>Questions et transition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17373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Quel réflexe allez-vous réutiliser dans votre prochain document ?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Quel point demande encore une clarification ?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lang="fr-FR">
                <a:solidFill>
                  <a:srgbClr val="161616"/>
                </a:solidFill>
                <a:latin typeface="Arial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Arial"/>
              </a:rPr>
              <a:t>Après les documents, nous appliquerons la même démarche au Web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89204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4983479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Arial"/>
              </a:rPr>
              <a:t>Structurer, rendre compréhensible, vérifier avec les outils, puis contrôler humainement.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9 octobre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Arial"/>
              </a:rPr>
              <a:t>Formation 102846 / Synthèse de la matinée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231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231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89204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UVERNEMENT">
  <a:themeElements>
    <a:clrScheme name="GOUVERNEMENT PPT">
      <a:dk1>
        <a:srgbClr val="000000"/>
      </a:dk1>
      <a:lt1>
        <a:srgbClr val="FFFFFF"/>
      </a:lt1>
      <a:dk2>
        <a:srgbClr val="000091"/>
      </a:dk2>
      <a:lt2>
        <a:srgbClr val="E1000F"/>
      </a:lt2>
      <a:accent1>
        <a:srgbClr val="005841"/>
      </a:accent1>
      <a:accent2>
        <a:srgbClr val="21215A"/>
      </a:accent2>
      <a:accent3>
        <a:srgbClr val="FFD500"/>
      </a:accent3>
      <a:accent4>
        <a:srgbClr val="EA5433"/>
      </a:accent4>
      <a:accent5>
        <a:srgbClr val="8C2237"/>
      </a:accent5>
      <a:accent6>
        <a:srgbClr val="49311F"/>
      </a:accent6>
      <a:hlink>
        <a:srgbClr val="000000"/>
      </a:hlink>
      <a:folHlink>
        <a:srgbClr val="000000"/>
      </a:folHlink>
    </a:clrScheme>
    <a:fontScheme name="Personnalisé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_gouvernement_marianne" id="{307D1C89-B296-4882-8ECC-2BD1C6821949}" vid="{B53EA17D-A77A-459E-979D-FA962BE9015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ppt_gouvernement_arial</Template>
  <TotalTime>200</TotalTime>
  <Words>1065</Words>
  <Application>Microsoft Office PowerPoint</Application>
  <PresentationFormat>Affichage à l'écran (16:9)</PresentationFormat>
  <Paragraphs>157</Paragraphs>
  <Slides>27</Slides>
  <Notes>27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1" baseType="lpstr">
      <vt:lpstr>Arial</vt:lpstr>
      <vt:lpstr>Calibri</vt:lpstr>
      <vt:lpstr>Verdana</vt:lpstr>
      <vt:lpstr>Wingdings</vt:lpstr>
      <vt:lpstr>GOUVERNEMENT</vt:lpstr>
      <vt:lpstr>XXXXX Libelle de la formation</vt:lpstr>
      <vt:lpstr>Présentation PowerPoint</vt:lpstr>
      <vt:lpstr>Le programme</vt:lpstr>
      <vt:lpstr>Présentation PowerPoint</vt:lpstr>
      <vt:lpstr>Sommaire</vt:lpstr>
      <vt:lpstr>Introduction aux réseaux informatiques</vt:lpstr>
      <vt:lpstr>Introduction </vt:lpstr>
      <vt:lpstr>Présentation PowerPoint</vt:lpstr>
      <vt:lpstr>Présentation PowerPoint</vt:lpstr>
      <vt:lpstr>Sommaire</vt:lpstr>
      <vt:lpstr>Titre de partie</vt:lpstr>
      <vt:lpstr>Lorem ipsum dolor  sit amet consectetur</vt:lpstr>
      <vt:lpstr>Lorem ipsum dolor  sit amet consectetur</vt:lpstr>
      <vt:lpstr>Réduire / Augmenter le niveau de liste</vt:lpstr>
      <vt:lpstr>Titre</vt:lpstr>
      <vt:lpstr>Copier / coller les textes</vt:lpstr>
    </vt:vector>
  </TitlesOfParts>
  <Manager>Client</Manager>
  <Company>Secrétariat Général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Formation 102846 - Accessibilité numérique</dc:title>
  <dc:subject>Support de formation IGPDE - DSFR accessible</dc:subject>
  <dc:creator>Alex Guiderdoni</dc:creator>
  <cp:lastModifiedBy>Alex Guiderdoni</cp:lastModifiedBy>
  <cp:revision>15</cp:revision>
  <dcterms:created xsi:type="dcterms:W3CDTF">2020-03-06T09:47:41Z</dcterms:created>
  <dcterms:modified xsi:type="dcterms:W3CDTF">2026-10-08T13:28:19Z</dcterms:modified>
  <dc:language>fr-FR</dc:language>
</cp:coreProperties>
</file>