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Mnemonique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a ce moment-la.</a:t>
            </a:r>
          </a:p>
          <a:p>
            <a:r>
              <a:rPr lang="fr-FR"/>
              <a:t>Dire : « Vous n'avez pas besoin de retenir tout WCAG.</a:t>
            </a:r>
          </a:p>
          <a:p>
            <a:r>
              <a:rPr lang="fr-FR"/>
              <a:t>Gardez les 4 questions sous la main.</a:t>
            </a:r>
          </a:p>
          <a:p>
            <a:r>
              <a:rPr lang="fr-FR"/>
              <a:t>A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conformite :</a:t>
            </a:r>
          </a:p>
          <a:p>
            <a:r>
              <a:rPr lang="fr-FR"/>
              <a:t>- Non conforme : site non audite ou niveau inferieur a 50 %</a:t>
            </a:r>
          </a:p>
          <a:p>
            <a:r>
              <a:rPr lang="fr-FR"/>
              <a:t>- Partiellement conforme : de 50 % a 99 %</a:t>
            </a:r>
          </a:p>
          <a:p>
            <a:r>
              <a:rPr lang="fr-FR"/>
              <a:t>- Totalement conforme : 100 % des criteres valides</a:t>
            </a:r>
          </a:p>
          <a:p/>
          <a:p>
            <a:r>
              <a:rPr lang="fr-FR"/>
              <a:t>Exemptions :</a:t>
            </a:r>
          </a:p>
          <a:p>
            <a:r>
              <a:rPr lang="fr-FR"/>
              <a:t>- Fichiers bureautiques publies avant le 23 septembre 2018</a:t>
            </a:r>
          </a:p>
          <a:p>
            <a:r>
              <a:rPr lang="fr-FR"/>
              <a:t>- Contenus intranets/extranets publies avant le 23 septembre 2019</a:t>
            </a:r>
          </a:p>
          <a:p>
            <a:r>
              <a:rPr lang="fr-FR"/>
              <a:t>- Contenus audios/videos publies avant le 23 septembre 2020</a:t>
            </a:r>
          </a:p>
          <a:p>
            <a:r>
              <a:rPr lang="fr-FR"/>
              <a:t>- Contenus videos, tiers, cartes peuvent aussi etre exemptes</a:t>
            </a:r>
          </a:p>
          <a:p/>
          <a:p>
            <a:r>
              <a:rPr lang="fr-FR"/>
              <a:t>Exemples de criteres :</a:t>
            </a:r>
          </a:p>
          <a:p>
            <a:r>
              <a:rPr lang="fr-FR"/>
              <a:t>1.</a:t>
            </a:r>
          </a:p>
          <a:p>
            <a:r>
              <a:rPr lang="fr-FR"/>
              <a:t>Les images porteuses d'informations doivent avoir un texte alternatif.</a:t>
            </a:r>
          </a:p>
          <a:p>
            <a:r>
              <a:rPr lang="fr-FR"/>
              <a:t>Les images decoratives ne doivent pas en avoir.</a:t>
            </a:r>
            <a:br/>
            <a:r>
              <a:rPr lang="fr-FR"/>
              <a:t>2.</a:t>
            </a:r>
          </a:p>
          <a:p>
            <a:r>
              <a:rPr lang="fr-FR"/>
              <a:t>Les medias avec du son doivent avoir une alternative (sous-titrage, LSF) et les videos une audiodescription.</a:t>
            </a:r>
            <a:br/>
            <a:r>
              <a:rPr lang="fr-FR"/>
              <a:t>3.</a:t>
            </a:r>
          </a:p>
          <a:p>
            <a:r>
              <a:rPr lang="fr-FR"/>
              <a:t>Plusieurs systemes de navigation doivent etre disponibles (menu, plan du site, recherche).</a:t>
            </a:r>
          </a:p>
          <a:p>
            <a:r>
              <a:rPr lang="fr-FR"/>
              <a:t>Les elements-cles sont toujours au meme endroit.</a:t>
            </a:r>
          </a:p>
          <a:p>
            <a:r>
              <a:rPr lang="fr-FR"/>
              <a:t>Ref : https://accessibilite.numerique.gouv.fr/</a:t>
            </a:r>
            <a:br/>
            <a:r>
              <a:rPr lang="fr-FR"/>
              <a:t>Criteres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necessite un audit humain.</a:t>
            </a:r>
          </a:p>
          <a:p>
            <a:r>
              <a:rPr lang="fr-FR"/>
              <a:t>Attention : 100 % conforme ne veut pas forcement dire accessible - le RGAA ne couvre pas tous les usages.</a:t>
            </a:r>
          </a:p>
          <a:p>
            <a:r>
              <a:rPr lang="fr-FR"/>
              <a:t>Le RAN est le referent accessibilite numerique, interlocuteur interne pour piloter la demarche.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Puis-je naviguer et agir sans souris, sans geste impose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mots, formulaires et comportements sont-ils previsibles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aides techniques peuvent-elles interpreter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Referentiel General d'Amelioration de l'Accessibilite</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RGAA detail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7" name="DSFR-box"/>
          <p:cNvSpPr/>
          <p:nvPr/>
        </p:nvSpPr>
        <p:spPr>
          <a:xfrm>
            <a:off x="548640"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legales</a:t>
            </a:r>
          </a:p>
          <a:p>
            <a:pPr algn="l">
              <a:lnSpc>
                <a:spcPct val="125000"/>
              </a:lnSpc>
            </a:pPr>
            <a:r>
              <a:rPr sz="1400" lang="fr-FR">
                <a:solidFill>
                  <a:srgbClr val="161616"/>
                </a:solidFill>
                <a:latin typeface="Marianne"/>
              </a:rPr>
              <a:t>• </a:t>
            </a:r>
            <a:r>
              <a:rPr sz="1400" b="0" lang="fr-FR">
                <a:solidFill>
                  <a:srgbClr val="161616"/>
                </a:solidFill>
                <a:latin typeface="Marianne"/>
              </a:rPr>
              <a:t>Methode technique</a:t>
            </a:r>
          </a:p>
          <a:p>
            <a:pPr algn="l">
              <a:lnSpc>
                <a:spcPct val="125000"/>
              </a:lnSpc>
            </a:pPr>
            <a:r>
              <a:rPr sz="1400" lang="fr-FR">
                <a:solidFill>
                  <a:srgbClr val="161616"/>
                </a:solidFill>
                <a:latin typeface="Marianne"/>
              </a:rPr>
              <a:t>• </a:t>
            </a:r>
            <a:r>
              <a:rPr sz="1400" b="0" lang="fr-FR">
                <a:solidFill>
                  <a:srgbClr val="161616"/>
                </a:solidFill>
                <a:latin typeface="Marianne"/>
              </a:rPr>
              <a:t/>
            </a:r>
          </a:p>
          <a:p>
            <a:pPr algn="l">
              <a:lnSpc>
                <a:spcPct val="125000"/>
              </a:lnSpc>
            </a:pPr>
            <a:r>
              <a:rPr sz="1400" lang="fr-FR">
                <a:solidFill>
                  <a:srgbClr val="161616"/>
                </a:solidFill>
                <a:latin typeface="Marianne"/>
              </a:rPr>
              <a:t>• </a:t>
            </a:r>
            <a:r>
              <a:rPr sz="1400" b="0" lang="fr-FR">
                <a:solidFill>
                  <a:srgbClr val="161616"/>
                </a:solidFill>
                <a:latin typeface="Marianne"/>
              </a:rPr>
              <a:t>13 thematiques</a:t>
            </a:r>
          </a:p>
          <a:p>
            <a:pPr algn="l">
              <a:lnSpc>
                <a:spcPct val="125000"/>
              </a:lnSpc>
            </a:pPr>
            <a:r>
              <a:rPr sz="1400" lang="fr-FR">
                <a:solidFill>
                  <a:srgbClr val="161616"/>
                </a:solidFill>
                <a:latin typeface="Marianne"/>
              </a:rPr>
              <a:t>• </a:t>
            </a:r>
            <a:r>
              <a:rPr sz="1400" b="0" lang="fr-FR">
                <a:solidFill>
                  <a:srgbClr val="161616"/>
                </a:solidFill>
                <a:latin typeface="Marianne"/>
              </a:rPr>
              <a:t>106 criteres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Multimedia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Elements obligatoires</a:t>
            </a:r>
          </a:p>
        </p:txBody>
      </p:sp>
      <p:sp>
        <p:nvSpPr>
          <p:cNvPr id="17" name="DSFR-callout-body"/>
          <p:cNvSpPr txBox="1"/>
          <p:nvPr/>
        </p:nvSpPr>
        <p:spPr>
          <a:xfrm>
            <a:off x="8391144" y="2606039"/>
            <a:ext cx="3221735"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Presentation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legales de mise en accessibilite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Recap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Schema pluriannuel d'accessibilite numerique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d'accessibilite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(Referent Accessibilite Numerique)</a:t>
            </a:r>
          </a:p>
        </p:txBody>
      </p:sp>
      <p:graphicFrame>
        <p:nvGraphicFramePr>
          <p:cNvPr id="12" name="Table 11"/>
          <p:cNvGraphicFramePr>
            <a:graphicFrameLocks noGrp="1"/>
          </p:cNvGraphicFramePr>
          <p:nvPr/>
        </p:nvGraphicFramePr>
        <p:xfrm>
          <a:off x="475488" y="475488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Accessibilite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Accessibilite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a 99 % des criteres respectes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Accessibilite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criteres applicables valides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515350" y="5614416"/>
            <a:ext cx="914400" cy="19070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