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Puis-je naviguer et agir sans souris, sans geste imposé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mots, formulaires et comportements sont-ils prévisibles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7" name="DSFR-box"/>
          <p:cNvSpPr/>
          <p:nvPr/>
        </p:nvSpPr>
        <p:spPr>
          <a:xfrm>
            <a:off x="548640"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légales</a:t>
            </a:r>
          </a:p>
          <a:p>
            <a:pPr algn="l">
              <a:lnSpc>
                <a:spcPct val="125000"/>
              </a:lnSpc>
            </a:pPr>
            <a:r>
              <a:rPr sz="1400" lang="fr-FR">
                <a:solidFill>
                  <a:srgbClr val="161616"/>
                </a:solidFill>
                <a:latin typeface="Marianne"/>
              </a:rPr>
              <a:t>• </a:t>
            </a:r>
            <a:r>
              <a:rPr sz="1400" b="0" lang="fr-FR">
                <a:solidFill>
                  <a:srgbClr val="161616"/>
                </a:solidFill>
                <a:latin typeface="Marianne"/>
              </a:rPr>
              <a:t>Méthode technique</a:t>
            </a:r>
          </a:p>
          <a:p>
            <a:pPr algn="l">
              <a:lnSpc>
                <a:spcPct val="125000"/>
              </a:lnSpc>
            </a:pPr>
            <a:r>
              <a:rPr sz="1400" lang="fr-FR">
                <a:solidFill>
                  <a:srgbClr val="161616"/>
                </a:solidFill>
                <a:latin typeface="Marianne"/>
              </a:rPr>
              <a:t>• </a:t>
            </a:r>
            <a:r>
              <a:rPr sz="1400" b="0" lang="fr-FR">
                <a:solidFill>
                  <a:srgbClr val="161616"/>
                </a:solidFill>
                <a:latin typeface="Marianne"/>
              </a:rPr>
              <a:t/>
            </a:r>
          </a:p>
          <a:p>
            <a:pPr algn="l">
              <a:lnSpc>
                <a:spcPct val="125000"/>
              </a:lnSpc>
            </a:pPr>
            <a:r>
              <a:rPr sz="1400" lang="fr-FR">
                <a:solidFill>
                  <a:srgbClr val="161616"/>
                </a:solidFill>
                <a:latin typeface="Marianne"/>
              </a:rPr>
              <a:t>• </a:t>
            </a:r>
            <a:r>
              <a:rPr sz="1400" b="0" lang="fr-FR">
                <a:solidFill>
                  <a:srgbClr val="161616"/>
                </a:solidFill>
                <a:latin typeface="Marianne"/>
              </a:rPr>
              <a:t>13 thématiques</a:t>
            </a:r>
          </a:p>
          <a:p>
            <a:pPr algn="l">
              <a:lnSpc>
                <a:spcPct val="125000"/>
              </a:lnSpc>
            </a:pPr>
            <a:r>
              <a:rPr sz="1400" lang="fr-FR">
                <a:solidFill>
                  <a:srgbClr val="161616"/>
                </a:solidFill>
                <a:latin typeface="Marianne"/>
              </a:rPr>
              <a:t>• </a:t>
            </a:r>
            <a:r>
              <a:rPr sz="1400" b="0" lang="fr-FR">
                <a:solidFill>
                  <a:srgbClr val="161616"/>
                </a:solidFill>
                <a:latin typeface="Marianne"/>
              </a:rPr>
              <a:t>106 critères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Multimédia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Éléments obligatoires</a:t>
            </a:r>
          </a:p>
        </p:txBody>
      </p:sp>
      <p:sp>
        <p:nvSpPr>
          <p:cNvPr id="17" name="DSFR-callout-body"/>
          <p:cNvSpPr txBox="1"/>
          <p:nvPr/>
        </p:nvSpPr>
        <p:spPr>
          <a:xfrm>
            <a:off x="8391144" y="2606039"/>
            <a:ext cx="3221735"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Présentation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15330"/>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917082"/>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Schéma pluriannuel d'accessibilité numérique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d'accessibilité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296204"/>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5661050"/>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