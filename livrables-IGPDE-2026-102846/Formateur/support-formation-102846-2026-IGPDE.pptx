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et installation.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102846.</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questions qui structurent la partie I.</a:t>
            </a:r>
          </a:p>
          <a:p>
            <a:r>
              <a:rPr lang="fr-FR"/>
              <a:t>Préciser que la progression va de la définition aux premiers gestes concrets.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Mnémonique : PUCC (Percevoir, Utiliser, Comprendre, Compatible).</a:t>
            </a:r>
          </a:p>
          <a:p>
            <a:r>
              <a:rPr lang="fr-FR"/>
              <a:t>Faire reformuler par le groupe : 'Si je suis aveugle, quel principe est en jeu ?' (Percevoir). 'Si je ne peux pas utiliser la souris ?' (Utiliser).</a:t>
            </a:r>
          </a:p>
          <a:p>
            <a:r>
              <a:rPr lang="fr-FR"/>
              <a:t>Ces 4 principes structurent le RGAA et reviendront dans les modules suivants.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d'écran (NVDA ou JAWS) pour tout son travail.</a:t>
            </a:r>
          </a:p>
          <a:p>
            <a:r>
              <a:rPr lang="fr-FR"/>
              <a:t>Ce profil est central pour les communicants : chaque image sans alt, chaque tableau sans structure, chaque lien « cliquez ici » est un mur pour lui.</a:t>
            </a:r>
          </a:p>
          <a:p>
            <a:r>
              <a:rPr lang="fr-FR"/>
              <a:t>Faire la demo du lecteur d'écran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déficience cognitive.</a:t>
            </a:r>
          </a:p>
          <a:p>
            <a:r>
              <a:rPr lang="fr-FR"/>
              <a:t>Pour les communicants : les règles du FALC et du langage clair ne profitent pas qu'aux personnes handicapees mentales - elles aident aussi les personnes agees, fatiguees, en situation de stress ou dont le français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éviter les carrousels en lecture automatique sans bouton pause, et garder des paragraphes courts.</a:t>
            </a:r>
          </a:p>
          <a:p>
            <a:r>
              <a:rPr lang="fr-FR"/>
              <a:t>Ces règles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synthèse qui fait le lien entre les personas et les 4 principes WCAG.</a:t>
            </a:r>
          </a:p>
          <a:p>
            <a:r>
              <a:rPr lang="fr-FR"/>
              <a:t>Distribuer la fiche stagiaire (fiche-stagiaire-principes-wcag.pdf) à ce moment-là.</a:t>
            </a:r>
          </a:p>
          <a:p>
            <a:r>
              <a:rPr lang="fr-FR"/>
              <a:t>Dire : « Vous n'avez pas besoin de retenir tout WCAG.</a:t>
            </a:r>
          </a:p>
          <a:p>
            <a:r>
              <a:rPr lang="fr-FR"/>
              <a:t>Gardez les 4 questions sous la main.</a:t>
            </a:r>
          </a:p>
          <a:p>
            <a:r>
              <a:rPr lang="fr-FR"/>
              <a:t>À chaque anomalie Word ou web, demandez-vous : est-ce un problème pour percevoir, utiliser, comprendre ou être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les personas vus juste avant : Amir = aveugle, Anais = malvoyante, Justine = sourde.</a:t>
            </a:r>
          </a:p>
          <a:p>
            <a:r>
              <a:rPr lang="fr-FR"/>
              <a:t>Ce tableau récapitule les solutions de manière structurée.</a:t>
            </a:r>
          </a:p>
          <a:p>
            <a:r>
              <a:rPr lang="fr-FR"/>
              <a:t>La plage braille et la loupe logicielle sont des technologies d'assistance qu'on peut montrer en photo ou en vidéo courte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Agathe (motrice), Paul (dyslexie/TDAH) et Anatole (cognitif).</a:t>
            </a:r>
          </a:p>
          <a:p>
            <a:r>
              <a:rPr lang="fr-FR"/>
              <a:t>Pour le handicap mental et le TSA, insister sur le fait qu'il n'existe pas de technologie d'assistance spécifique : c'est le contenu et l'interface qui doivent s'adapter.</a:t>
            </a:r>
          </a:p>
          <a:p>
            <a:r>
              <a:rPr lang="fr-FR"/>
              <a:t>Le FALC et le langage clair sont les réponses principales.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Trois taux de conformité :</a:t>
            </a:r>
          </a:p>
          <a:p>
            <a:r>
              <a:rPr lang="fr-FR"/>
              <a:t>- Non conforme : site non audité ou niveau inférieur à 50 %</a:t>
            </a:r>
          </a:p>
          <a:p>
            <a:r>
              <a:rPr lang="fr-FR"/>
              <a:t>- Partiellement conforme : de 50 % a 99 %</a:t>
            </a:r>
          </a:p>
          <a:p>
            <a:r>
              <a:rPr lang="fr-FR"/>
              <a:t>- Totalement conforme : 100 % des critères validés</a:t>
            </a:r>
          </a:p>
          <a:p/>
          <a:p>
            <a:r>
              <a:rPr lang="fr-FR"/>
              <a:t>Exemptions :</a:t>
            </a:r>
          </a:p>
          <a:p>
            <a:r>
              <a:rPr lang="fr-FR"/>
              <a:t>- Fichiers bureautiques publiés avant le 23 septembre 2018</a:t>
            </a:r>
          </a:p>
          <a:p>
            <a:r>
              <a:rPr lang="fr-FR"/>
              <a:t>- Contenus intranets/extranets publiés avant le 23 septembre 2019</a:t>
            </a:r>
          </a:p>
          <a:p>
            <a:r>
              <a:rPr lang="fr-FR"/>
              <a:t>- Contenus audios/vidéos publiés avant le 23 septembre 2020</a:t>
            </a:r>
          </a:p>
          <a:p>
            <a:r>
              <a:rPr lang="fr-FR"/>
              <a:t>- Contenus vidéos, tiers, cartes peuvent aussi être exemptés</a:t>
            </a:r>
          </a:p>
          <a:p/>
          <a:p>
            <a:r>
              <a:rPr lang="fr-FR"/>
              <a:t>Exemples de critères :</a:t>
            </a:r>
          </a:p>
          <a:p>
            <a:r>
              <a:rPr lang="fr-FR"/>
              <a:t>1.</a:t>
            </a:r>
          </a:p>
          <a:p>
            <a:r>
              <a:rPr lang="fr-FR"/>
              <a:t>Les images porteuses d'informations doivent avoir un texte alternatif.</a:t>
            </a:r>
          </a:p>
          <a:p>
            <a:r>
              <a:rPr lang="fr-FR"/>
              <a:t>Les images décoratives ne doivent pas en avoir.</a:t>
            </a:r>
            <a:br/>
            <a:r>
              <a:rPr lang="fr-FR"/>
              <a:t>2.</a:t>
            </a:r>
          </a:p>
          <a:p>
            <a:r>
              <a:rPr lang="fr-FR"/>
              <a:t>Les médias avec du son doivent avoir une alternative (sous-titrage, LSF) et les vidéos une audiodescription.</a:t>
            </a:r>
            <a:br/>
            <a:r>
              <a:rPr lang="fr-FR"/>
              <a:t>3.</a:t>
            </a:r>
          </a:p>
          <a:p>
            <a:r>
              <a:rPr lang="fr-FR"/>
              <a:t>Plusieurs systèmes de navigation doivent être disponibles (menu, plan du site, recherche).</a:t>
            </a:r>
          </a:p>
          <a:p>
            <a:r>
              <a:rPr lang="fr-FR"/>
              <a:t>Les éléments-clés sont toujours au même endroit.</a:t>
            </a:r>
          </a:p>
          <a:p>
            <a:r>
              <a:rPr lang="fr-FR"/>
              <a:t>Ref : https://accessibilite.numerique.gouv.fr/</a:t>
            </a:r>
            <a:br/>
            <a:r>
              <a:rPr lang="fr-FR"/>
              <a:t>Critères : https://accessibilite.numerique.gouv.fr/methode/criteres-et-tests/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Rappel : environ 25 % des tests RGAA sont automatisables, le reste nécessite un audit humain.</a:t>
            </a:r>
          </a:p>
          <a:p>
            <a:r>
              <a:rPr lang="fr-FR"/>
              <a:t>Attention : 100 % conforme ne veut pas forcément dire accessible - le RGAA ne couvre pas tous les usages.</a:t>
            </a:r>
          </a:p>
          <a:p>
            <a:r>
              <a:rPr lang="fr-FR"/>
              <a:t>Le RAN est le référent accessibilité numérique, interlocuteur interne pour piloter la démarche.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tableau gagnant-gagnant est tire de la Charte d'accessibilité de la communication de l'État (SIG, mars 2021).</a:t>
            </a:r>
          </a:p>
          <a:p>
            <a:r>
              <a:rPr lang="fr-FR"/>
              <a:t>Cote gauche : ce que vit la personne face a un contenu inaccessible.</a:t>
            </a:r>
          </a:p>
          <a:p>
            <a:r>
              <a:rPr lang="fr-FR"/>
              <a:t>Cote droit : ce qu'une communication accessible lui apporte.</a:t>
            </a:r>
          </a:p>
          <a:p>
            <a:r>
              <a:rPr lang="fr-FR"/>
              <a:t>Pour le communicant, une communication accessible est une communication qui atteint son objectif.</a:t>
            </a:r>
          </a:p>
          <a:p>
            <a:r>
              <a:rPr lang="fr-FR"/>
              <a:t>Montrer la couverture de la charte : c'est un document officiel du Premier Ministre.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le fait que le FALC n'est pas juste 'ecrire simple'.</a:t>
            </a:r>
          </a:p>
          <a:p>
            <a:r>
              <a:rPr lang="fr-FR"/>
              <a:t>C'est un processus formalise avec une validation obligatoire par des personnes concernées. 'Rien pour nous sans nous' est le principe fondamental.</a:t>
            </a:r>
          </a:p>
          <a:p>
            <a:r>
              <a:rPr lang="fr-FR"/>
              <a:t>Le logo FALC ne peut pas être appose sans cette validation.</a:t>
            </a:r>
          </a:p>
          <a:p>
            <a:r>
              <a:rPr lang="fr-FR"/>
              <a:t>En pratique, contacter des associations comme l'Unapei ou des ESAT pour trouver des relecteurs.</a:t>
            </a:r>
          </a:p>
          <a:p>
            <a:r>
              <a:rPr lang="fr-FR"/>
              <a:t>Le guide Unapei 'L'information pour tous' est téléchargeable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les deux documents si possible.</a:t>
            </a:r>
          </a:p>
          <a:p>
            <a:r>
              <a:rPr lang="fr-FR"/>
              <a:t>Le rapport de la DIA est un bon exemple car il vient d'une institution publique et montre que le FALC n'est pas reserve aux associations.</a:t>
            </a:r>
          </a:p>
          <a:p>
            <a:r>
              <a:rPr lang="fr-FR"/>
              <a:t>Le PDF accessible et la version FALC sont complementaires : le premier est le document officiel rendu navigable, le second est une version simplifiee pour un public plus large.</a:t>
            </a:r>
          </a:p>
          <a:p>
            <a:r>
              <a:rPr lang="fr-FR"/>
              <a:t>PDF accessible : https://handicap.gouv.fr/sites/handicap/files/2025-03/delegation-interministerielle-accessibilite-rapport-activite-2024.pdf</a:t>
            </a:r>
            <a:br/>
            <a:r>
              <a:rPr lang="fr-FR"/>
              <a:t>Version FALC : https://handicap.gouv.fr/sites/handicap/files/2025-03/delegation-interministerielle-accessibilite-synthese-FLAC-rapport-activite-2024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II.</a:t>
            </a:r>
          </a:p>
          <a:p>
            <a:r>
              <a:rPr lang="fr-FR"/>
              <a:t>Préciser que la progression va de la structure du document à sa vérification finale.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Donner la réponse : le document B.</a:t>
            </a:r>
          </a:p>
          <a:p>
            <a:r>
              <a:rPr lang="fr-FR"/>
              <a:t>Expliquer que les deux documents peuvent être identiques à l'écran, mais que NVDA dépend des styles de titres, des textes alternatifs et d'un nom de fichier explicite.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tp-doc-inaccessible.docx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tp-doc-aide-correction.docx.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tp-doc-inaccessible.docx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III consacrée au Web.</a:t>
            </a:r>
          </a:p>
          <a:p>
            <a:r>
              <a:rPr lang="fr-FR"/>
              <a:t>Préciser que les points de contrôle rapides permettent de repérer les principaux signaux d’alerte avant un audit approfondi.</a:t>
            </a:r>
          </a:p>
          <a:p>
            <a:r>
              <a:rPr lang="fr-FR"/>
              <a:t>À la fin de la partie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a:p>
            <a:r>
              <a:rPr lang="fr-FR"/>
              <a:t>Faire ouvrir le site d’entraînement : https://alexandra-guiderdoni.github.io/tp-fabrication-igpde-102846-ay11/</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IV.</a:t>
            </a:r>
          </a:p>
          <a:p>
            <a:r>
              <a:rPr lang="fr-FR"/>
              <a:t>Préciser que la progression va de l’analyse d’un post à la vérification complète avant publication.</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un temps pour les questions.</a:t>
            </a:r>
          </a:p>
          <a:p>
            <a:r>
              <a:rPr lang="fr-FR"/>
              <a:t>Rappeler que les stagiaires peuvent nous contacter par mail pour toute question post-formation.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jpg"/><Relationship Id="rId4" Type="http://schemas.openxmlformats.org/officeDocument/2006/relationships/image" Target="../media/image23.png"/><Relationship Id="rId5" Type="http://schemas.openxmlformats.org/officeDocument/2006/relationships/image" Target="../media/image13.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hyperlink" Target="https://handicap.gouv.fr/sites/handicap/files/2025-03/delegation-interministerielle-accessibilite-rapport-activite-2024.pdf" TargetMode="External"/><Relationship Id="rId5" Type="http://schemas.openxmlformats.org/officeDocument/2006/relationships/hyperlink" Target="https://handicap.gouv.fr/sites/handicap/files/2025-03/delegation-interministerielle-accessibilite-synthese-FLAC-rapport-activite-2024"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jpg"/><Relationship Id="rId3" Type="http://schemas.openxmlformats.org/officeDocument/2006/relationships/image" Target="../media/image35.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hyperlink" Target="https://vispero.com/lp/color-contrast-checker/" TargetMode="Externa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hyperlink" Target="https://alexandra-guiderdoni.github.io/tp-fabrication-igpde-102846-ay11/" TargetMode="Externa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303520" y="4114800"/>
            <a:ext cx="6492240" cy="1188720"/>
          </a:xfrm>
        </p:spPr>
        <p:txBody>
          <a:bodyPr wrap="square" anchor="t" lIns="73152" rIns="73152"/>
          <a:lstStyle/>
          <a:p>
            <a:pPr algn="r">
              <a:lnSpc>
                <a:spcPct val="125000"/>
              </a:lnSpc>
            </a:pPr>
            <a:r>
              <a:rPr sz="3200" b="1" i="0" lang="fr-FR">
                <a:solidFill>
                  <a:srgbClr val="000091"/>
                </a:solidFill>
                <a:latin typeface="Arial"/>
              </a:rPr>
              <a:t>L'accessibilité numérique pour la bureautique et le web</a:t>
            </a:r>
          </a:p>
        </p:txBody>
      </p:sp>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1</a:t>
            </a:r>
            <a:endParaRPr lang="fr-FR" dirty="0"/>
          </a:p>
        </p:txBody>
      </p:sp>
      <p:sp>
        <p:nvSpPr>
          <p:cNvPr id="8" name="DSFR-couverture-soustitre"/>
          <p:cNvSpPr txBox="1"/>
          <p:nvPr/>
        </p:nvSpPr>
        <p:spPr>
          <a:xfrm>
            <a:off x="5303520" y="544068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Arial"/>
              </a:rPr>
              <a:t>Formation 102846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9 octobre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Arial"/>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560320" y="868680"/>
            <a:ext cx="7315200" cy="822960"/>
          </a:xfrm>
        </p:spPr>
        <p:txBody>
          <a:bodyPr wrap="square" anchor="t" lIns="73152" rIns="73152"/>
          <a:lstStyle/>
          <a:p>
            <a:pPr algn="ctr">
              <a:lnSpc>
                <a:spcPct val="125000"/>
              </a:lnSpc>
            </a:pPr>
            <a:r>
              <a:rPr sz="3600" b="1" i="0" lang="fr-FR">
                <a:solidFill>
                  <a:srgbClr val="000091"/>
                </a:solidFill>
                <a:latin typeface="Arial"/>
              </a:rPr>
              <a:t>Objectifs pédagogiques</a:t>
            </a:r>
          </a:p>
        </p:txBody>
      </p:sp>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a:t>
            </a:r>
            <a:endParaRPr lang="fr-FR" dirty="0"/>
          </a:p>
        </p:txBody>
      </p:sp>
      <p:sp>
        <p:nvSpPr>
          <p:cNvPr id="15" name="DSFR-box"/>
          <p:cNvSpPr/>
          <p:nvPr/>
        </p:nvSpPr>
        <p:spPr>
          <a:xfrm>
            <a:off x="548640" y="2103120"/>
            <a:ext cx="5390388" cy="23820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body"/>
          <p:cNvSpPr txBox="1"/>
          <p:nvPr/>
        </p:nvSpPr>
        <p:spPr>
          <a:xfrm>
            <a:off x="704088" y="224027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Expliquer les enjeux de l'accessibilité numérique et son cadre légal dans le contexte de la communication</a:t>
            </a:r>
          </a:p>
          <a:p>
            <a:pPr algn="l">
              <a:lnSpc>
                <a:spcPct val="150000"/>
              </a:lnSpc>
            </a:pPr>
            <a:r>
              <a:rPr sz="1400" lang="fr-FR">
                <a:solidFill>
                  <a:srgbClr val="161616"/>
                </a:solidFill>
                <a:latin typeface="Arial"/>
              </a:rPr>
              <a:t>• </a:t>
            </a:r>
            <a:r>
              <a:rPr sz="1400" b="0" lang="fr-FR">
                <a:solidFill>
                  <a:srgbClr val="161616"/>
                </a:solidFill>
                <a:latin typeface="Arial"/>
              </a:rPr>
              <a:t>Identifier et évaluer les principales erreurs d'accessibilité</a:t>
            </a:r>
          </a:p>
          <a:p>
            <a:pPr algn="l">
              <a:lnSpc>
                <a:spcPct val="150000"/>
              </a:lnSpc>
            </a:pPr>
            <a:r>
              <a:rPr sz="1400" lang="fr-FR">
                <a:solidFill>
                  <a:srgbClr val="161616"/>
                </a:solidFill>
                <a:latin typeface="Arial"/>
              </a:rPr>
              <a:t>• </a:t>
            </a:r>
            <a:r>
              <a:rPr sz="1400" b="0" lang="fr-FR">
                <a:solidFill>
                  <a:srgbClr val="161616"/>
                </a:solidFill>
                <a:latin typeface="Arial"/>
              </a:rPr>
              <a:t>Rendre des contenus numériques accessibles</a:t>
            </a:r>
          </a:p>
        </p:txBody>
      </p:sp>
      <p:pic>
        <p:nvPicPr>
          <p:cNvPr id="17" name="Picture 16" descr="Affiche du Service d'information du Gouvernement pour les 20 ans de la loi handicap. Un ordinateur à l'écran inversé illustre un outil inaccessible. L'affiche invite les agents publics à utiliser les outils disponibles sur accessibilite.gouv.fr."/>
          <p:cNvPicPr>
            <a:picLocks noChangeAspect="1"/>
          </p:cNvPicPr>
          <p:nvPr/>
        </p:nvPicPr>
        <p:blipFill>
          <a:blip r:embed="rId2"/>
          <a:stretch>
            <a:fillRect/>
          </a:stretch>
        </p:blipFill>
        <p:spPr>
          <a:xfrm>
            <a:off x="6885432" y="1920240"/>
            <a:ext cx="3493008" cy="4167097"/>
          </a:xfrm>
          <a:prstGeom prst="rect">
            <a:avLst/>
          </a:prstGeom>
        </p:spPr>
      </p:pic>
      <p:pic>
        <p:nvPicPr>
          <p:cNvPr id="18" name="DSFR-qrcode" descr="QR code : https://www.info.gouv.fr/accessibilite"/>
          <p:cNvPicPr>
            <a:picLocks noChangeAspect="1"/>
          </p:cNvPicPr>
          <p:nvPr/>
        </p:nvPicPr>
        <p:blipFill>
          <a:blip r:embed="rId3"/>
          <a:stretch>
            <a:fillRect/>
          </a:stretch>
        </p:blipFill>
        <p:spPr>
          <a:xfrm>
            <a:off x="475488" y="4846320"/>
            <a:ext cx="1024128" cy="1024128"/>
          </a:xfrm>
          <a:prstGeom prst="rect">
            <a:avLst/>
          </a:prstGeom>
        </p:spPr>
      </p:pic>
      <p:sp>
        <p:nvSpPr>
          <p:cNvPr id="19" name="DSFR-qrcode-cta"/>
          <p:cNvSpPr txBox="1"/>
          <p:nvPr/>
        </p:nvSpPr>
        <p:spPr>
          <a:xfrm>
            <a:off x="1627632" y="4919472"/>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0" name="DSFR-qrcode-url-visible"/>
          <p:cNvSpPr txBox="1"/>
          <p:nvPr/>
        </p:nvSpPr>
        <p:spPr>
          <a:xfrm>
            <a:off x="1627632" y="5212080"/>
            <a:ext cx="4311396" cy="749808"/>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Objectifs</a:t>
            </a:r>
          </a:p>
        </p:txBody>
      </p:sp>
      <p:sp>
        <p:nvSpPr>
          <p:cNvPr id="14" name="DSFR-accent-decoratif" descr=""/>
          <p:cNvSpPr/>
          <p:nvPr/>
        </p:nvSpPr>
        <p:spPr>
          <a:xfrm>
            <a:off x="475488" y="2103120"/>
            <a:ext cx="73152" cy="23820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a:t>
            </a:r>
            <a:endParaRPr lang="fr-FR" dirty="0"/>
          </a:p>
        </p:txBody>
      </p:sp>
      <p:sp>
        <p:nvSpPr>
          <p:cNvPr id="9" name="DSFR-box"/>
          <p:cNvSpPr/>
          <p:nvPr/>
        </p:nvSpPr>
        <p:spPr>
          <a:xfrm>
            <a:off x="548640"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Accessibilité et cadre légal</a:t>
            </a:r>
          </a:p>
        </p:txBody>
      </p:sp>
      <p:sp>
        <p:nvSpPr>
          <p:cNvPr id="12" name="DSFR-card-contenu"/>
          <p:cNvSpPr txBox="1"/>
          <p:nvPr/>
        </p:nvSpPr>
        <p:spPr>
          <a:xfrm>
            <a:off x="704088"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 des acteurs publics</a:t>
            </a:r>
          </a:p>
          <a:p>
            <a:pPr algn="l">
              <a:lnSpc>
                <a:spcPct val="125000"/>
              </a:lnSpc>
            </a:pPr>
            <a:r>
              <a:rPr sz="1400" lang="fr-FR">
                <a:solidFill>
                  <a:srgbClr val="161616"/>
                </a:solidFill>
                <a:latin typeface="Arial"/>
              </a:rPr>
              <a:t>• </a:t>
            </a:r>
            <a:r>
              <a:rPr sz="1400" b="0" lang="fr-FR">
                <a:solidFill>
                  <a:srgbClr val="161616"/>
                </a:solidFill>
                <a:latin typeface="Arial"/>
              </a:rPr>
              <a:t>Déclaration d'accessibilité</a:t>
            </a:r>
          </a:p>
        </p:txBody>
      </p:sp>
      <p:sp>
        <p:nvSpPr>
          <p:cNvPr id="14" name="DSFR-box"/>
          <p:cNvSpPr/>
          <p:nvPr/>
        </p:nvSpPr>
        <p:spPr>
          <a:xfrm>
            <a:off x="6313931"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7173467"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Bureautique accessible</a:t>
            </a:r>
          </a:p>
        </p:txBody>
      </p:sp>
      <p:sp>
        <p:nvSpPr>
          <p:cNvPr id="17" name="DSFR-card-contenu"/>
          <p:cNvSpPr txBox="1"/>
          <p:nvPr/>
        </p:nvSpPr>
        <p:spPr>
          <a:xfrm>
            <a:off x="6469379"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Documents Word (LibreOffice)</a:t>
            </a:r>
          </a:p>
          <a:p>
            <a:pPr algn="l">
              <a:lnSpc>
                <a:spcPct val="125000"/>
              </a:lnSpc>
            </a:pPr>
            <a:r>
              <a:rPr sz="1400" lang="fr-FR">
                <a:solidFill>
                  <a:srgbClr val="161616"/>
                </a:solidFill>
                <a:latin typeface="Arial"/>
              </a:rPr>
              <a:t>• </a:t>
            </a:r>
            <a:r>
              <a:rPr sz="1400" b="0" lang="fr-FR">
                <a:solidFill>
                  <a:srgbClr val="161616"/>
                </a:solidFill>
                <a:latin typeface="Arial"/>
              </a:rPr>
              <a:t>Export PDF accessible</a:t>
            </a:r>
          </a:p>
        </p:txBody>
      </p:sp>
      <p:sp>
        <p:nvSpPr>
          <p:cNvPr id="19" name="DSFR-box"/>
          <p:cNvSpPr/>
          <p:nvPr/>
        </p:nvSpPr>
        <p:spPr>
          <a:xfrm>
            <a:off x="548640"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1408176"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Points de contrôle rapides W3C</a:t>
            </a:r>
          </a:p>
        </p:txBody>
      </p:sp>
      <p:sp>
        <p:nvSpPr>
          <p:cNvPr id="22" name="DSFR-card-contenu"/>
          <p:cNvSpPr txBox="1"/>
          <p:nvPr/>
        </p:nvSpPr>
        <p:spPr>
          <a:xfrm>
            <a:off x="704088"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13 vérifications rapides W3C WAI</a:t>
            </a:r>
          </a:p>
          <a:p>
            <a:pPr algn="l">
              <a:lnSpc>
                <a:spcPct val="125000"/>
              </a:lnSpc>
            </a:pPr>
            <a:r>
              <a:rPr sz="1400" lang="fr-FR">
                <a:solidFill>
                  <a:srgbClr val="161616"/>
                </a:solidFill>
                <a:latin typeface="Arial"/>
              </a:rPr>
              <a:t>• </a:t>
            </a:r>
            <a:r>
              <a:rPr sz="1400" b="0" lang="fr-FR">
                <a:solidFill>
                  <a:srgbClr val="161616"/>
                </a:solidFill>
                <a:latin typeface="Arial"/>
              </a:rPr>
              <a:t>Démonstration et exercice pratique</a:t>
            </a:r>
          </a:p>
        </p:txBody>
      </p:sp>
      <p:sp>
        <p:nvSpPr>
          <p:cNvPr id="24" name="DSFR-box"/>
          <p:cNvSpPr/>
          <p:nvPr/>
        </p:nvSpPr>
        <p:spPr>
          <a:xfrm>
            <a:off x="6313931"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7173467"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Réseaux sociaux</a:t>
            </a:r>
          </a:p>
        </p:txBody>
      </p:sp>
      <p:sp>
        <p:nvSpPr>
          <p:cNvPr id="27" name="DSFR-card-contenu"/>
          <p:cNvSpPr txBox="1"/>
          <p:nvPr/>
        </p:nvSpPr>
        <p:spPr>
          <a:xfrm>
            <a:off x="6469379"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a:t>
            </a:r>
          </a:p>
          <a:p>
            <a:pPr algn="l">
              <a:lnSpc>
                <a:spcPct val="125000"/>
              </a:lnSpc>
            </a:pPr>
            <a:r>
              <a:rPr sz="1400" lang="fr-FR">
                <a:solidFill>
                  <a:srgbClr val="161616"/>
                </a:solidFill>
                <a:latin typeface="Arial"/>
              </a:rPr>
              <a:t>• </a:t>
            </a:r>
            <a:r>
              <a:rPr sz="1400" b="0" lang="fr-FR">
                <a:solidFill>
                  <a:srgbClr val="161616"/>
                </a:solidFill>
                <a:latin typeface="Arial"/>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Programme</a:t>
            </a:r>
          </a:p>
        </p:txBody>
      </p:sp>
      <p:sp>
        <p:nvSpPr>
          <p:cNvPr id="10" name="DSFR-card-numero"/>
          <p:cNvSpPr/>
          <p:nvPr/>
        </p:nvSpPr>
        <p:spPr>
          <a:xfrm>
            <a:off x="704088"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1</a:t>
            </a:r>
          </a:p>
        </p:txBody>
      </p:sp>
      <p:sp>
        <p:nvSpPr>
          <p:cNvPr id="15" name="DSFR-card-numero"/>
          <p:cNvSpPr/>
          <p:nvPr/>
        </p:nvSpPr>
        <p:spPr>
          <a:xfrm>
            <a:off x="6469379"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2</a:t>
            </a:r>
          </a:p>
        </p:txBody>
      </p:sp>
      <p:sp>
        <p:nvSpPr>
          <p:cNvPr id="20" name="DSFR-card-numero"/>
          <p:cNvSpPr/>
          <p:nvPr/>
        </p:nvSpPr>
        <p:spPr>
          <a:xfrm>
            <a:off x="704088"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3</a:t>
            </a:r>
          </a:p>
        </p:txBody>
      </p:sp>
      <p:sp>
        <p:nvSpPr>
          <p:cNvPr id="25" name="DSFR-card-numero"/>
          <p:cNvSpPr/>
          <p:nvPr/>
        </p:nvSpPr>
        <p:spPr>
          <a:xfrm>
            <a:off x="6469379"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4</a:t>
            </a:r>
          </a:p>
        </p:txBody>
      </p:sp>
      <p:sp>
        <p:nvSpPr>
          <p:cNvPr id="8" name="DSFR-accent-decoratif" descr=""/>
          <p:cNvSpPr/>
          <p:nvPr/>
        </p:nvSpPr>
        <p:spPr>
          <a:xfrm>
            <a:off x="475488"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Formateur Opquast certifié, référent Assurance Qualité Web</a:t>
            </a:r>
          </a:p>
          <a:p>
            <a:pPr algn="l">
              <a:lnSpc>
                <a:spcPct val="150000"/>
              </a:lnSpc>
            </a:pPr>
            <a:r>
              <a:rPr sz="1400" lang="fr-FR">
                <a:solidFill>
                  <a:srgbClr val="161616"/>
                </a:solidFill>
                <a:latin typeface="Arial"/>
              </a:rPr>
              <a:t>• </a:t>
            </a:r>
            <a:r>
              <a:rPr sz="1400" b="0" lang="fr-FR">
                <a:solidFill>
                  <a:srgbClr val="161616"/>
                </a:solidFill>
                <a:latin typeface="Arial"/>
              </a:rPr>
              <a:t>Forme et sensibilise à l'accessibilité depuis plusieurs années</a:t>
            </a:r>
          </a:p>
          <a:p>
            <a:pPr algn="l">
              <a:lnSpc>
                <a:spcPct val="150000"/>
              </a:lnSpc>
            </a:pPr>
            <a:r>
              <a:rPr sz="1400" lang="fr-FR">
                <a:solidFill>
                  <a:srgbClr val="161616"/>
                </a:solidFill>
                <a:latin typeface="Arial"/>
              </a:rPr>
              <a:t>• </a:t>
            </a:r>
            <a:r>
              <a:rPr sz="1400" b="0" lang="fr-FR">
                <a:solidFill>
                  <a:srgbClr val="161616"/>
                </a:solidFill>
                <a:latin typeface="Arial"/>
              </a:rPr>
              <a:t>Passionné par la conception inclusive et l'expérience utilisateur</a:t>
            </a:r>
          </a:p>
          <a:p>
            <a:pPr algn="l">
              <a:lnSpc>
                <a:spcPct val="150000"/>
              </a:lnSpc>
            </a:pPr>
            <a:r>
              <a:rPr sz="1400" lang="fr-FR">
                <a:solidFill>
                  <a:srgbClr val="161616"/>
                </a:solidFill>
                <a:latin typeface="Arial"/>
              </a:rPr>
              <a:t>• </a:t>
            </a:r>
            <a:r>
              <a:rPr sz="1400" b="0" lang="fr-FR">
                <a:solidFill>
                  <a:srgbClr val="161616"/>
                </a:solidFill>
                <a:latin typeface="Arial"/>
              </a:rPr>
              <a:t>Formé à l'audit d'accessibilité numérique</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Spécialisée dans les technologies web et l'accessibilité numérique</a:t>
            </a:r>
          </a:p>
          <a:p>
            <a:pPr algn="l">
              <a:lnSpc>
                <a:spcPct val="150000"/>
              </a:lnSpc>
            </a:pPr>
            <a:r>
              <a:rPr sz="1400" lang="fr-FR">
                <a:solidFill>
                  <a:srgbClr val="161616"/>
                </a:solidFill>
                <a:latin typeface="Arial"/>
              </a:rPr>
              <a:t>• </a:t>
            </a:r>
            <a:r>
              <a:rPr sz="1400" b="0" lang="fr-FR">
                <a:solidFill>
                  <a:srgbClr val="161616"/>
                </a:solidFill>
                <a:latin typeface="Arial"/>
              </a:rPr>
              <a:t>Expérience : Ministère des affaires étrangères, ESN</a:t>
            </a:r>
          </a:p>
          <a:p>
            <a:pPr algn="l">
              <a:lnSpc>
                <a:spcPct val="150000"/>
              </a:lnSpc>
            </a:pPr>
            <a:r>
              <a:rPr sz="1400" lang="fr-FR">
                <a:solidFill>
                  <a:srgbClr val="161616"/>
                </a:solidFill>
                <a:latin typeface="Arial"/>
              </a:rPr>
              <a:t>• </a:t>
            </a:r>
            <a:r>
              <a:rPr sz="1400" b="0" lang="fr-FR">
                <a:solidFill>
                  <a:srgbClr val="161616"/>
                </a:solidFill>
                <a:latin typeface="Arial"/>
              </a:rPr>
              <a:t>DU-RAN (diplôme universitaire référent accessibilité numérique), 1re session 2024</a:t>
            </a:r>
          </a:p>
          <a:p>
            <a:pPr algn="l">
              <a:lnSpc>
                <a:spcPct val="150000"/>
              </a:lnSpc>
            </a:pPr>
            <a:r>
              <a:rPr sz="1400" lang="fr-FR">
                <a:solidFill>
                  <a:srgbClr val="161616"/>
                </a:solidFill>
                <a:latin typeface="Arial"/>
              </a:rPr>
              <a:t>• </a:t>
            </a:r>
            <a:r>
              <a:rPr sz="1400" b="0" lang="fr-FR">
                <a:solidFill>
                  <a:srgbClr val="161616"/>
                </a:solidFill>
                <a:latin typeface="Arial"/>
              </a:rPr>
              <a:t>Formée à l'audit d'accessibilité numérique RGAA</a:t>
            </a:r>
          </a:p>
          <a:p>
            <a:pPr algn="l">
              <a:lnSpc>
                <a:spcPct val="150000"/>
              </a:lnSpc>
            </a:pPr>
            <a:r>
              <a:rPr sz="1400" lang="fr-FR">
                <a:solidFill>
                  <a:srgbClr val="161616"/>
                </a:solidFill>
                <a:latin typeface="Arial"/>
              </a:rPr>
              <a:t>• </a:t>
            </a:r>
            <a:r>
              <a:rPr sz="1400" b="0" lang="fr-FR">
                <a:solidFill>
                  <a:srgbClr val="161616"/>
                </a:solidFill>
                <a:latin typeface="Arial"/>
              </a:rPr>
              <a:t>Formatrice et Référente en Assurance Qualité pour le Web - Opquast</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a:t>
            </a:r>
            <a:endParaRPr lang="fr-FR" dirty="0"/>
          </a:p>
        </p:txBody>
      </p:sp>
      <p:sp>
        <p:nvSpPr>
          <p:cNvPr id="9" name="DSFR-box"/>
          <p:cNvSpPr/>
          <p:nvPr/>
        </p:nvSpPr>
        <p:spPr>
          <a:xfrm>
            <a:off x="548640"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êtes-vous ?</a:t>
            </a:r>
          </a:p>
        </p:txBody>
      </p:sp>
      <p:sp>
        <p:nvSpPr>
          <p:cNvPr id="11" name="DSFR-card-contenu"/>
          <p:cNvSpPr txBox="1"/>
          <p:nvPr/>
        </p:nvSpPr>
        <p:spPr>
          <a:xfrm>
            <a:off x="704088"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Bonjour, je m'appelle [prénom]
Je suis [métier / fonction]
chez [direction / service]
depuis [durée]</a:t>
            </a:r>
          </a:p>
        </p:txBody>
      </p:sp>
      <p:sp>
        <p:nvSpPr>
          <p:cNvPr id="13" name="DSFR-box"/>
          <p:cNvSpPr/>
          <p:nvPr/>
        </p:nvSpPr>
        <p:spPr>
          <a:xfrm>
            <a:off x="4392167"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Mon rapport à l'accessibilité</a:t>
            </a:r>
          </a:p>
        </p:txBody>
      </p:sp>
      <p:sp>
        <p:nvSpPr>
          <p:cNvPr id="15" name="DSFR-card-contenu"/>
          <p:cNvSpPr txBox="1"/>
          <p:nvPr/>
        </p:nvSpPr>
        <p:spPr>
          <a:xfrm>
            <a:off x="4547615"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j'attends</a:t>
            </a:r>
          </a:p>
        </p:txBody>
      </p:sp>
      <p:sp>
        <p:nvSpPr>
          <p:cNvPr id="19" name="DSFR-card-contenu"/>
          <p:cNvSpPr txBox="1"/>
          <p:nvPr/>
        </p:nvSpPr>
        <p:spPr>
          <a:xfrm>
            <a:off x="8391144"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a:t>
            </a:r>
            <a:endParaRPr lang="fr-FR" dirty="0"/>
          </a:p>
        </p:txBody>
      </p:sp>
      <p:sp>
        <p:nvSpPr>
          <p:cNvPr id="9" name="DSFR-box"/>
          <p:cNvSpPr/>
          <p:nvPr/>
        </p:nvSpPr>
        <p:spPr>
          <a:xfrm>
            <a:off x="548640"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idées reçues</a:t>
            </a:r>
          </a:p>
        </p:txBody>
      </p:sp>
      <p:sp>
        <p:nvSpPr>
          <p:cNvPr id="11" name="DSFR-card-contenu"/>
          <p:cNvSpPr txBox="1"/>
          <p:nvPr/>
        </p:nvSpPr>
        <p:spPr>
          <a:xfrm>
            <a:off x="704088"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Mettez-vous par deux et piochez une carte idée reçue</a:t>
            </a:r>
          </a:p>
          <a:p>
            <a:pPr algn="l">
              <a:lnSpc>
                <a:spcPct val="125000"/>
              </a:lnSpc>
            </a:pPr>
            <a:r>
              <a:rPr sz="1400" lang="fr-FR">
                <a:solidFill>
                  <a:srgbClr val="161616"/>
                </a:solidFill>
                <a:latin typeface="Arial"/>
              </a:rPr>
              <a:t>• </a:t>
            </a:r>
            <a:r>
              <a:rPr sz="1400" b="0" lang="fr-FR">
                <a:solidFill>
                  <a:srgbClr val="161616"/>
                </a:solidFill>
                <a:latin typeface="Arial"/>
              </a:rPr>
              <a:t>Présentez-vous et échangez sur votre quotidien</a:t>
            </a:r>
          </a:p>
          <a:p>
            <a:pPr algn="l">
              <a:lnSpc>
                <a:spcPct val="125000"/>
              </a:lnSpc>
            </a:pPr>
            <a:r>
              <a:rPr sz="1400" lang="fr-FR">
                <a:solidFill>
                  <a:srgbClr val="161616"/>
                </a:solidFill>
                <a:latin typeface="Arial"/>
              </a:rPr>
              <a:t>• </a:t>
            </a:r>
            <a:r>
              <a:rPr sz="1400" b="0" lang="fr-FR">
                <a:solidFill>
                  <a:srgbClr val="161616"/>
                </a:solidFill>
                <a:latin typeface="Arial"/>
              </a:rPr>
              <a:t>Confrontez vos cartes : qu'en pensez-vous ?</a:t>
            </a:r>
          </a:p>
          <a:p>
            <a:pPr algn="l">
              <a:lnSpc>
                <a:spcPct val="125000"/>
              </a:lnSpc>
            </a:pPr>
            <a:r>
              <a:rPr sz="1400" lang="fr-FR">
                <a:solidFill>
                  <a:srgbClr val="161616"/>
                </a:solidFill>
                <a:latin typeface="Arial"/>
              </a:rPr>
              <a:t>• </a:t>
            </a:r>
            <a:r>
              <a:rPr sz="1400" b="0" lang="fr-FR">
                <a:solidFill>
                  <a:srgbClr val="161616"/>
                </a:solidFill>
                <a:latin typeface="Arial"/>
              </a:rPr>
              <a:t>Présentez vos réflexions au groupe - débat ouvert</a:t>
            </a:r>
          </a:p>
        </p:txBody>
      </p:sp>
      <p:sp>
        <p:nvSpPr>
          <p:cNvPr id="13" name="DSFR-box"/>
          <p:cNvSpPr/>
          <p:nvPr/>
        </p:nvSpPr>
        <p:spPr>
          <a:xfrm>
            <a:off x="6313931"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ateliers Word et Web</a:t>
            </a:r>
          </a:p>
        </p:txBody>
      </p:sp>
      <p:sp>
        <p:nvSpPr>
          <p:cNvPr id="15" name="DSFR-card-contenu"/>
          <p:cNvSpPr txBox="1"/>
          <p:nvPr/>
        </p:nvSpPr>
        <p:spPr>
          <a:xfrm>
            <a:off x="6469379"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N'hésitez pas à travailler en binôme</a:t>
            </a:r>
          </a:p>
          <a:p>
            <a:pPr algn="l">
              <a:lnSpc>
                <a:spcPct val="125000"/>
              </a:lnSpc>
            </a:pPr>
            <a:r>
              <a:rPr sz="1400" lang="fr-FR">
                <a:solidFill>
                  <a:srgbClr val="161616"/>
                </a:solidFill>
                <a:latin typeface="Arial"/>
              </a:rPr>
              <a:t>• </a:t>
            </a:r>
            <a:r>
              <a:rPr sz="1400" b="0" lang="fr-FR">
                <a:solidFill>
                  <a:srgbClr val="161616"/>
                </a:solidFill>
                <a:latin typeface="Arial"/>
              </a:rPr>
              <a:t>Deux regards repèrent ce qu'un seul ne voit pas</a:t>
            </a:r>
          </a:p>
          <a:p>
            <a:pPr algn="l">
              <a:lnSpc>
                <a:spcPct val="125000"/>
              </a:lnSpc>
            </a:pPr>
            <a:r>
              <a:rPr sz="1400" lang="fr-FR">
                <a:solidFill>
                  <a:srgbClr val="161616"/>
                </a:solidFill>
                <a:latin typeface="Arial"/>
              </a:rPr>
              <a:t>• </a:t>
            </a:r>
            <a:r>
              <a:rPr sz="1400" b="0" lang="fr-FR">
                <a:solidFill>
                  <a:srgbClr val="161616"/>
                </a:solidFill>
                <a:latin typeface="Arial"/>
              </a:rPr>
              <a:t>Expliquer à quelqu'un consolide l'apprentissage</a:t>
            </a:r>
          </a:p>
        </p:txBody>
      </p:sp>
      <p:sp>
        <p:nvSpPr>
          <p:cNvPr id="17" name="DSFR-box"/>
          <p:cNvSpPr/>
          <p:nvPr/>
        </p:nvSpPr>
        <p:spPr>
          <a:xfrm>
            <a:off x="548640" y="47548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463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548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En binôme, confrontez vos cartes : vrai ou faux ?</a:t>
            </a:r>
          </a:p>
          <a:p>
            <a:pPr algn="l">
              <a:lnSpc>
                <a:spcPct val="150000"/>
              </a:lnSpc>
            </a:pPr>
            <a:r>
              <a:rPr sz="1400" lang="fr-FR">
                <a:solidFill>
                  <a:srgbClr val="161616"/>
                </a:solidFill>
                <a:latin typeface="Arial"/>
              </a:rPr>
              <a:t>• </a:t>
            </a:r>
            <a:r>
              <a:rPr sz="1400" b="0" lang="fr-FR">
                <a:solidFill>
                  <a:srgbClr val="161616"/>
                </a:solidFill>
                <a:latin typeface="Arial"/>
              </a:rPr>
              <a:t>Échangez vos arguments, préparez votre position</a:t>
            </a:r>
          </a:p>
          <a:p>
            <a:pPr algn="l">
              <a:lnSpc>
                <a:spcPct val="150000"/>
              </a:lnSpc>
            </a:pPr>
            <a:r>
              <a:rPr sz="1400" lang="fr-FR">
                <a:solidFill>
                  <a:srgbClr val="161616"/>
                </a:solidFill>
                <a:latin typeface="Arial"/>
              </a:rPr>
              <a:t>• </a:t>
            </a:r>
            <a:r>
              <a:rPr sz="1400" b="0" lang="fr-FR">
                <a:solidFill>
                  <a:srgbClr val="161616"/>
                </a:solidFill>
                <a:latin typeface="Arial"/>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a:t>
            </a:r>
            <a:endParaRPr lang="fr-FR" dirty="0"/>
          </a:p>
        </p:txBody>
      </p:sp>
      <p:sp>
        <p:nvSpPr>
          <p:cNvPr id="9" name="DSFR-box"/>
          <p:cNvSpPr/>
          <p:nvPr/>
        </p:nvSpPr>
        <p:spPr>
          <a:xfrm>
            <a:off x="548640" y="2103120"/>
            <a:ext cx="5390388" cy="272856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149412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ne concerne qu'une minorité de personnes »</a:t>
            </a:r>
          </a:p>
        </p:txBody>
      </p:sp>
      <p:sp>
        <p:nvSpPr>
          <p:cNvPr id="14" name="DSFR-box"/>
          <p:cNvSpPr/>
          <p:nvPr/>
        </p:nvSpPr>
        <p:spPr>
          <a:xfrm>
            <a:off x="6313931" y="2103120"/>
            <a:ext cx="5390388" cy="27285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342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1 milliard+ de personnes dans le monde vivent avec un handicap (OMS)</a:t>
            </a:r>
          </a:p>
          <a:p>
            <a:pPr algn="l">
              <a:lnSpc>
                <a:spcPct val="130000"/>
              </a:lnSpc>
            </a:pPr>
            <a:r>
              <a:rPr sz="1400" lang="fr-FR">
                <a:solidFill>
                  <a:srgbClr val="161616"/>
                </a:solidFill>
                <a:latin typeface="Arial"/>
              </a:rPr>
              <a:t>• </a:t>
            </a:r>
            <a:r>
              <a:rPr sz="1400" b="0" lang="fr-FR">
                <a:solidFill>
                  <a:srgbClr val="161616"/>
                </a:solidFill>
                <a:latin typeface="Arial"/>
              </a:rPr>
              <a:t>Soit 15 % de la population mondiale - 1 personne sur 6</a:t>
            </a:r>
          </a:p>
          <a:p>
            <a:pPr algn="l">
              <a:lnSpc>
                <a:spcPct val="130000"/>
              </a:lnSpc>
            </a:pPr>
            <a:r>
              <a:rPr sz="1400" lang="fr-FR">
                <a:solidFill>
                  <a:srgbClr val="161616"/>
                </a:solidFill>
                <a:latin typeface="Arial"/>
              </a:rPr>
              <a:t>• </a:t>
            </a:r>
            <a:r>
              <a:rPr sz="1400" b="0" lang="fr-FR">
                <a:solidFill>
                  <a:srgbClr val="161616"/>
                </a:solidFill>
                <a:latin typeface="Arial"/>
              </a:rPr>
              <a:t>En France : 12 millions de personnes en situation de handicap</a:t>
            </a:r>
          </a:p>
          <a:p>
            <a:pPr algn="l">
              <a:lnSpc>
                <a:spcPct val="130000"/>
              </a:lnSpc>
            </a:pPr>
            <a:r>
              <a:rPr sz="1400" lang="fr-FR">
                <a:solidFill>
                  <a:srgbClr val="161616"/>
                </a:solidFill>
                <a:latin typeface="Arial"/>
              </a:rPr>
              <a:t>• </a:t>
            </a:r>
            <a:r>
              <a:rPr sz="1400" b="0" lang="fr-FR">
                <a:solidFill>
                  <a:srgbClr val="161616"/>
                </a:solidFill>
                <a:latin typeface="Arial"/>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919472"/>
            <a:ext cx="868680" cy="868680"/>
          </a:xfrm>
          <a:prstGeom prst="rect">
            <a:avLst/>
          </a:prstGeom>
        </p:spPr>
      </p:pic>
      <p:sp>
        <p:nvSpPr>
          <p:cNvPr id="18" name="DSFR-qrcode-cta"/>
          <p:cNvSpPr txBox="1"/>
          <p:nvPr/>
        </p:nvSpPr>
        <p:spPr>
          <a:xfrm>
            <a:off x="7237475" y="49926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2852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8" name="DSFR-accent-decoratif" descr=""/>
          <p:cNvSpPr/>
          <p:nvPr/>
        </p:nvSpPr>
        <p:spPr>
          <a:xfrm>
            <a:off x="475488"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La créativité et l'UX seront dégradées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n'impose pas un design archaïque, austère ou sans inspiration</a:t>
            </a:r>
          </a:p>
          <a:p>
            <a:pPr algn="l">
              <a:lnSpc>
                <a:spcPct val="130000"/>
              </a:lnSpc>
            </a:pPr>
            <a:r>
              <a:rPr sz="1400" lang="fr-FR">
                <a:solidFill>
                  <a:srgbClr val="161616"/>
                </a:solidFill>
                <a:latin typeface="Arial"/>
              </a:rPr>
              <a:t>• </a:t>
            </a:r>
            <a:r>
              <a:rPr sz="1400" b="0" lang="fr-FR">
                <a:solidFill>
                  <a:srgbClr val="161616"/>
                </a:solidFill>
                <a:latin typeface="Arial"/>
              </a:rPr>
              <a:t>Les contraintes sont des leviers de créativité, pas des freins</a:t>
            </a:r>
          </a:p>
          <a:p>
            <a:pPr algn="l">
              <a:lnSpc>
                <a:spcPct val="130000"/>
              </a:lnSpc>
            </a:pPr>
            <a:r>
              <a:rPr sz="1400" lang="fr-FR">
                <a:solidFill>
                  <a:srgbClr val="161616"/>
                </a:solidFill>
                <a:latin typeface="Arial"/>
              </a:rPr>
              <a:t>• </a:t>
            </a:r>
            <a:r>
              <a:rPr sz="1400" b="0" lang="fr-FR">
                <a:solidFill>
                  <a:srgbClr val="161616"/>
                </a:solidFill>
                <a:latin typeface="Arial"/>
              </a:rPr>
              <a:t>Les interfaces les plus accessibles sont souvent les plus claires et élégantes</a:t>
            </a:r>
          </a:p>
          <a:p>
            <a:pPr algn="l">
              <a:lnSpc>
                <a:spcPct val="130000"/>
              </a:lnSpc>
            </a:pPr>
            <a:r>
              <a:rPr sz="1400" lang="fr-FR">
                <a:solidFill>
                  <a:srgbClr val="161616"/>
                </a:solidFill>
                <a:latin typeface="Arial"/>
              </a:rPr>
              <a:t>• </a:t>
            </a:r>
            <a:r>
              <a:rPr sz="1400" b="0" lang="fr-FR">
                <a:solidFill>
                  <a:srgbClr val="161616"/>
                </a:solidFill>
                <a:latin typeface="Arial"/>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C'est juste du contraste et des images décrites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Le contraste et les textes alternatifs ne sont que 2 exigences sur des centaines</a:t>
            </a:r>
          </a:p>
          <a:p>
            <a:pPr algn="l">
              <a:lnSpc>
                <a:spcPct val="130000"/>
              </a:lnSpc>
            </a:pPr>
            <a:r>
              <a:rPr sz="1400" lang="fr-FR">
                <a:solidFill>
                  <a:srgbClr val="161616"/>
                </a:solidFill>
                <a:latin typeface="Arial"/>
              </a:rPr>
              <a:t>• </a:t>
            </a:r>
            <a:r>
              <a:rPr sz="1400" b="0" lang="fr-FR">
                <a:solidFill>
                  <a:srgbClr val="161616"/>
                </a:solidFill>
                <a:latin typeface="Arial"/>
              </a:rPr>
              <a:t>Le RGAA compte 106 critères, les WCAG 2.1 en comptent 78</a:t>
            </a:r>
          </a:p>
          <a:p>
            <a:pPr algn="l">
              <a:lnSpc>
                <a:spcPct val="130000"/>
              </a:lnSpc>
            </a:pPr>
            <a:r>
              <a:rPr sz="1400" lang="fr-FR">
                <a:solidFill>
                  <a:srgbClr val="161616"/>
                </a:solidFill>
                <a:latin typeface="Arial"/>
              </a:rPr>
              <a:t>• </a:t>
            </a:r>
            <a:r>
              <a:rPr sz="1400" b="0" lang="fr-FR">
                <a:solidFill>
                  <a:srgbClr val="161616"/>
                </a:solidFill>
                <a:latin typeface="Arial"/>
              </a:rPr>
              <a:t>Titres, liens, tableaux, formulaires, langue, ordre de lecture ... autant de dimensions</a:t>
            </a:r>
          </a:p>
          <a:p>
            <a:pPr algn="l">
              <a:lnSpc>
                <a:spcPct val="130000"/>
              </a:lnSpc>
            </a:pPr>
            <a:r>
              <a:rPr sz="1400" lang="fr-FR">
                <a:solidFill>
                  <a:srgbClr val="161616"/>
                </a:solidFill>
                <a:latin typeface="Arial"/>
              </a:rPr>
              <a:t>• </a:t>
            </a:r>
            <a:r>
              <a:rPr sz="1400" b="0" lang="fr-FR">
                <a:solidFill>
                  <a:srgbClr val="161616"/>
                </a:solidFill>
                <a:latin typeface="Arial"/>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 n'est pas de mon ressort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ne peut pas être portée par une seule équipe ou une seule personne</a:t>
            </a:r>
          </a:p>
          <a:p>
            <a:pPr algn="l">
              <a:lnSpc>
                <a:spcPct val="130000"/>
              </a:lnSpc>
            </a:pPr>
            <a:r>
              <a:rPr sz="1400" lang="fr-FR">
                <a:solidFill>
                  <a:srgbClr val="161616"/>
                </a:solidFill>
                <a:latin typeface="Arial"/>
              </a:rPr>
              <a:t>• </a:t>
            </a:r>
            <a:r>
              <a:rPr sz="1400" b="0" lang="fr-FR">
                <a:solidFill>
                  <a:srgbClr val="161616"/>
                </a:solidFill>
                <a:latin typeface="Arial"/>
              </a:rPr>
              <a:t>Elle implique tous les producteurs de contenu : rédacteurs, communicants, designers ...</a:t>
            </a:r>
          </a:p>
          <a:p>
            <a:pPr algn="l">
              <a:lnSpc>
                <a:spcPct val="130000"/>
              </a:lnSpc>
            </a:pPr>
            <a:r>
              <a:rPr sz="1400" lang="fr-FR">
                <a:solidFill>
                  <a:srgbClr val="161616"/>
                </a:solidFill>
                <a:latin typeface="Arial"/>
              </a:rPr>
              <a:t>• </a:t>
            </a:r>
            <a:r>
              <a:rPr sz="1400" b="0" lang="fr-FR">
                <a:solidFill>
                  <a:srgbClr val="161616"/>
                </a:solidFill>
                <a:latin typeface="Arial"/>
              </a:rPr>
              <a:t>Chaque document Word, chaque image publiée engage une responsabilité</a:t>
            </a:r>
          </a:p>
          <a:p>
            <a:pPr algn="l">
              <a:lnSpc>
                <a:spcPct val="130000"/>
              </a:lnSpc>
            </a:pPr>
            <a:r>
              <a:rPr sz="1400" lang="fr-FR">
                <a:solidFill>
                  <a:srgbClr val="161616"/>
                </a:solidFill>
                <a:latin typeface="Arial"/>
              </a:rPr>
              <a:t>• </a:t>
            </a:r>
            <a:r>
              <a:rPr sz="1400" b="0" lang="fr-FR">
                <a:solidFill>
                  <a:srgbClr val="161616"/>
                </a:solidFill>
                <a:latin typeface="Arial"/>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coûte trop cher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Oui - si l'accessibilité est traitée comme un ajustement en fin de projet</a:t>
            </a:r>
          </a:p>
          <a:p>
            <a:pPr algn="l">
              <a:lnSpc>
                <a:spcPct val="130000"/>
              </a:lnSpc>
            </a:pPr>
            <a:r>
              <a:rPr sz="1400" lang="fr-FR">
                <a:solidFill>
                  <a:srgbClr val="161616"/>
                </a:solidFill>
                <a:latin typeface="Arial"/>
              </a:rPr>
              <a:t>• </a:t>
            </a:r>
            <a:r>
              <a:rPr sz="1400" b="0" lang="fr-FR">
                <a:solidFill>
                  <a:srgbClr val="161616"/>
                </a:solidFill>
                <a:latin typeface="Arial"/>
              </a:rPr>
              <a:t>Non - si elle est intégrée dès la conception (approche « shift left »)</a:t>
            </a:r>
          </a:p>
          <a:p>
            <a:pPr algn="l">
              <a:lnSpc>
                <a:spcPct val="130000"/>
              </a:lnSpc>
            </a:pPr>
            <a:r>
              <a:rPr sz="1400" lang="fr-FR">
                <a:solidFill>
                  <a:srgbClr val="161616"/>
                </a:solidFill>
                <a:latin typeface="Arial"/>
              </a:rPr>
              <a:t>• </a:t>
            </a:r>
            <a:r>
              <a:rPr sz="1400" b="0" lang="fr-FR">
                <a:solidFill>
                  <a:srgbClr val="161616"/>
                </a:solidFill>
                <a:latin typeface="Arial"/>
              </a:rPr>
              <a:t>Corriger un document Word après publication : 10 fois plus cher que le faire d'emblée</a:t>
            </a:r>
          </a:p>
          <a:p>
            <a:pPr algn="l">
              <a:lnSpc>
                <a:spcPct val="130000"/>
              </a:lnSpc>
            </a:pPr>
            <a:r>
              <a:rPr sz="1400" lang="fr-FR">
                <a:solidFill>
                  <a:srgbClr val="161616"/>
                </a:solidFill>
                <a:latin typeface="Arial"/>
              </a:rPr>
              <a:t>• </a:t>
            </a:r>
            <a:r>
              <a:rPr sz="1400" b="0" lang="fr-FR">
                <a:solidFill>
                  <a:srgbClr val="161616"/>
                </a:solidFill>
                <a:latin typeface="Arial"/>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5</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14</a:t>
            </a:r>
            <a:endParaRPr lang="fr-FR" dirty="0"/>
          </a:p>
        </p:txBody>
      </p:sp>
      <p:sp>
        <p:nvSpPr>
          <p:cNvPr id="9" name="DSFR-box"/>
          <p:cNvSpPr/>
          <p:nvPr/>
        </p:nvSpPr>
        <p:spPr>
          <a:xfrm>
            <a:off x="548640" y="2103120"/>
            <a:ext cx="5390388" cy="32918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20574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On s'en occupe à la fin ! »</a:t>
            </a:r>
          </a:p>
        </p:txBody>
      </p:sp>
      <p:sp>
        <p:nvSpPr>
          <p:cNvPr id="14" name="DSFR-box"/>
          <p:cNvSpPr/>
          <p:nvPr/>
        </p:nvSpPr>
        <p:spPr>
          <a:xfrm>
            <a:off x="6313931" y="2103120"/>
            <a:ext cx="5390388" cy="32918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69748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Prise en compte tardive = grosses corrections après coup</a:t>
            </a:r>
          </a:p>
          <a:p>
            <a:pPr algn="l">
              <a:lnSpc>
                <a:spcPct val="130000"/>
              </a:lnSpc>
            </a:pPr>
            <a:r>
              <a:rPr sz="1400" lang="fr-FR">
                <a:solidFill>
                  <a:srgbClr val="161616"/>
                </a:solidFill>
                <a:latin typeface="Arial"/>
              </a:rPr>
              <a:t>• </a:t>
            </a:r>
            <a:r>
              <a:rPr sz="1400" b="0" lang="fr-FR">
                <a:solidFill>
                  <a:srgbClr val="161616"/>
                </a:solidFill>
                <a:latin typeface="Arial"/>
              </a:rPr>
              <a:t>Cela pèse sur l'efficacité des projets et génère de la frustration pour les équipes</a:t>
            </a:r>
          </a:p>
          <a:p>
            <a:pPr algn="l">
              <a:lnSpc>
                <a:spcPct val="130000"/>
              </a:lnSpc>
            </a:pPr>
            <a:r>
              <a:rPr sz="1400" lang="fr-FR">
                <a:solidFill>
                  <a:srgbClr val="161616"/>
                </a:solidFill>
                <a:latin typeface="Arial"/>
              </a:rPr>
              <a:t>• </a:t>
            </a:r>
            <a:r>
              <a:rPr sz="1400" b="0" lang="fr-FR">
                <a:solidFill>
                  <a:srgbClr val="161616"/>
                </a:solidFill>
                <a:latin typeface="Arial"/>
              </a:rPr>
              <a:t>L'accessibilité « à la fin » est souvent l'accessibilité jamais faite</a:t>
            </a:r>
          </a:p>
          <a:p>
            <a:pPr algn="l">
              <a:lnSpc>
                <a:spcPct val="130000"/>
              </a:lnSpc>
            </a:pPr>
            <a:r>
              <a:rPr sz="1400" lang="fr-FR">
                <a:solidFill>
                  <a:srgbClr val="161616"/>
                </a:solidFill>
                <a:latin typeface="Arial"/>
              </a:rPr>
              <a:t>• </a:t>
            </a:r>
            <a:r>
              <a:rPr sz="1400" b="0" lang="fr-FR">
                <a:solidFill>
                  <a:srgbClr val="161616"/>
                </a:solidFill>
                <a:latin typeface="Arial"/>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440680"/>
            <a:ext cx="822960" cy="822960"/>
          </a:xfrm>
          <a:prstGeom prst="rect">
            <a:avLst/>
          </a:prstGeom>
        </p:spPr>
      </p:pic>
      <p:sp>
        <p:nvSpPr>
          <p:cNvPr id="18" name="DSFR-qrcode-cta"/>
          <p:cNvSpPr txBox="1"/>
          <p:nvPr/>
        </p:nvSpPr>
        <p:spPr>
          <a:xfrm>
            <a:off x="7191755" y="551383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191755" y="5806440"/>
            <a:ext cx="4457700" cy="54864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6</a:t>
            </a:r>
          </a:p>
        </p:txBody>
      </p:sp>
      <p:sp>
        <p:nvSpPr>
          <p:cNvPr id="8" name="DSFR-accent-decoratif" descr=""/>
          <p:cNvSpPr/>
          <p:nvPr/>
        </p:nvSpPr>
        <p:spPr>
          <a:xfrm>
            <a:off x="475488"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 - Accessibilité et cadre légal</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15</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quoi ?</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pour qui ?</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quel cadre légal ?</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pourquoi ?</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comment s'y mettre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Tous les contenus sont concernés</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applications, newsletters, courriels</a:t>
            </a:r>
          </a:p>
          <a:p>
            <a:pPr algn="l">
              <a:lnSpc>
                <a:spcPct val="120000"/>
              </a:lnSpc>
            </a:pPr>
            <a:r>
              <a:rPr sz="1400" lang="fr-FR">
                <a:solidFill>
                  <a:srgbClr val="161616"/>
                </a:solidFill>
                <a:latin typeface="Arial"/>
              </a:rPr>
              <a:t>• </a:t>
            </a:r>
            <a:r>
              <a:rPr sz="1400" b="0" lang="fr-FR">
                <a:solidFill>
                  <a:srgbClr val="161616"/>
                </a:solidFill>
                <a:latin typeface="Arial"/>
              </a:rPr>
              <a:t>Vidéos, podcasts, visuels animés</a:t>
            </a:r>
          </a:p>
          <a:p>
            <a:pPr algn="l">
              <a:lnSpc>
                <a:spcPct val="120000"/>
              </a:lnSpc>
            </a:pPr>
            <a:r>
              <a:rPr sz="1400" lang="fr-FR">
                <a:solidFill>
                  <a:srgbClr val="161616"/>
                </a:solidFill>
                <a:latin typeface="Arial"/>
              </a:rPr>
              <a:t>• </a:t>
            </a:r>
            <a:r>
              <a:rPr sz="1400" b="0" lang="fr-FR">
                <a:solidFill>
                  <a:srgbClr val="161616"/>
                </a:solidFill>
                <a:latin typeface="Arial"/>
              </a:rPr>
              <a:t>Documents bureautiques, PDF, formulaires</a:t>
            </a:r>
          </a:p>
          <a:p>
            <a:pPr algn="l">
              <a:lnSpc>
                <a:spcPct val="120000"/>
              </a:lnSpc>
            </a:pPr>
            <a:r>
              <a:rPr sz="1400" lang="fr-FR">
                <a:solidFill>
                  <a:srgbClr val="161616"/>
                </a:solidFill>
                <a:latin typeface="Arial"/>
              </a:rPr>
              <a:t>• </a:t>
            </a:r>
            <a:r>
              <a:rPr sz="1400" b="0" lang="fr-FR">
                <a:solidFill>
                  <a:srgbClr val="161616"/>
                </a:solidFill>
                <a:latin typeface="Arial"/>
              </a:rPr>
              <a:t>Affiches, flyers, plans, QR codes</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Utile pour tous, indispensable pour certains</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Handicap permanent, temporaire ou situationnel</a:t>
            </a:r>
          </a:p>
          <a:p>
            <a:pPr algn="l">
              <a:lnSpc>
                <a:spcPct val="120000"/>
              </a:lnSpc>
            </a:pPr>
            <a:r>
              <a:rPr sz="1400" lang="fr-FR">
                <a:solidFill>
                  <a:srgbClr val="161616"/>
                </a:solidFill>
                <a:latin typeface="Arial"/>
              </a:rPr>
              <a:t>• </a:t>
            </a:r>
            <a:r>
              <a:rPr sz="1400" b="0" lang="fr-FR">
                <a:solidFill>
                  <a:srgbClr val="161616"/>
                </a:solidFill>
                <a:latin typeface="Arial"/>
              </a:rPr>
              <a:t>Matériel ancien, connexion lente, écran petit</a:t>
            </a:r>
          </a:p>
          <a:p>
            <a:pPr algn="l">
              <a:lnSpc>
                <a:spcPct val="120000"/>
              </a:lnSpc>
            </a:pPr>
            <a:r>
              <a:rPr sz="1400" lang="fr-FR">
                <a:solidFill>
                  <a:srgbClr val="161616"/>
                </a:solidFill>
                <a:latin typeface="Arial"/>
              </a:rPr>
              <a:t>• </a:t>
            </a:r>
            <a:r>
              <a:rPr sz="1400" b="0" lang="fr-FR">
                <a:solidFill>
                  <a:srgbClr val="161616"/>
                </a:solidFill>
                <a:latin typeface="Arial"/>
              </a:rPr>
              <a:t>Environnement bruyant, lumineux ou contraint</a:t>
            </a:r>
          </a:p>
          <a:p>
            <a:pPr algn="l">
              <a:lnSpc>
                <a:spcPct val="120000"/>
              </a:lnSpc>
            </a:pPr>
            <a:r>
              <a:rPr sz="1400" lang="fr-FR">
                <a:solidFill>
                  <a:srgbClr val="161616"/>
                </a:solidFill>
                <a:latin typeface="Arial"/>
              </a:rPr>
              <a:t>• </a:t>
            </a:r>
            <a:r>
              <a:rPr sz="1400" b="0" lang="fr-FR">
                <a:solidFill>
                  <a:srgbClr val="161616"/>
                </a:solidFill>
                <a:latin typeface="Arial"/>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18</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106 / 13</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7" name="DSFR-texte-libre"/>
          <p:cNvSpPr txBox="1"/>
          <p:nvPr/>
        </p:nvSpPr>
        <p:spPr>
          <a:xfrm>
            <a:off x="475488" y="5125212"/>
            <a:ext cx="11228832" cy="5486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WCAG : référence internationale du W3C. RGAA : référentiel français publié par la DINUM. 106 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principes pour tout retenir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4 principes WCAG</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19</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WCAG reposent sur 4 principes. Chacun se résume en une question à poser devant tout contenu.</a:t>
            </a:r>
          </a:p>
        </p:txBody>
      </p:sp>
      <p:sp>
        <p:nvSpPr>
          <p:cNvPr id="12" name="DSFR-box"/>
          <p:cNvSpPr/>
          <p:nvPr/>
        </p:nvSpPr>
        <p:spPr>
          <a:xfrm>
            <a:off x="548640"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Percevoir</a:t>
            </a:r>
          </a:p>
        </p:txBody>
      </p:sp>
      <p:sp>
        <p:nvSpPr>
          <p:cNvPr id="15" name="DSFR-card-contenu"/>
          <p:cNvSpPr txBox="1"/>
          <p:nvPr/>
        </p:nvSpPr>
        <p:spPr>
          <a:xfrm>
            <a:off x="704088"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L'information reste-t-elle disponible si je ne vois pas ou n'entends pas ?</a:t>
            </a:r>
          </a:p>
        </p:txBody>
      </p:sp>
      <p:sp>
        <p:nvSpPr>
          <p:cNvPr id="17" name="DSFR-box"/>
          <p:cNvSpPr/>
          <p:nvPr/>
        </p:nvSpPr>
        <p:spPr>
          <a:xfrm>
            <a:off x="3431286"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86734"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Utiliser</a:t>
            </a:r>
          </a:p>
        </p:txBody>
      </p:sp>
      <p:sp>
        <p:nvSpPr>
          <p:cNvPr id="20" name="DSFR-card-contenu"/>
          <p:cNvSpPr txBox="1"/>
          <p:nvPr/>
        </p:nvSpPr>
        <p:spPr>
          <a:xfrm>
            <a:off x="3586734"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Puis-je naviguer et agir sans souris, sans geste imposé ?</a:t>
            </a:r>
          </a:p>
        </p:txBody>
      </p:sp>
      <p:sp>
        <p:nvSpPr>
          <p:cNvPr id="22" name="DSFR-box"/>
          <p:cNvSpPr/>
          <p:nvPr/>
        </p:nvSpPr>
        <p:spPr>
          <a:xfrm>
            <a:off x="6313931"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69379"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Comprendre</a:t>
            </a:r>
          </a:p>
        </p:txBody>
      </p:sp>
      <p:sp>
        <p:nvSpPr>
          <p:cNvPr id="25" name="DSFR-card-contenu"/>
          <p:cNvSpPr txBox="1"/>
          <p:nvPr/>
        </p:nvSpPr>
        <p:spPr>
          <a:xfrm>
            <a:off x="6469379"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mots, formulaires et comportements sont-ils prévisibles ?</a:t>
            </a:r>
          </a:p>
        </p:txBody>
      </p:sp>
      <p:sp>
        <p:nvSpPr>
          <p:cNvPr id="27" name="DSFR-box"/>
          <p:cNvSpPr/>
          <p:nvPr/>
        </p:nvSpPr>
        <p:spPr>
          <a:xfrm>
            <a:off x="9196578"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52026"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Compatible</a:t>
            </a:r>
          </a:p>
        </p:txBody>
      </p:sp>
      <p:sp>
        <p:nvSpPr>
          <p:cNvPr id="30" name="DSFR-card-contenu"/>
          <p:cNvSpPr txBox="1"/>
          <p:nvPr/>
        </p:nvSpPr>
        <p:spPr>
          <a:xfrm>
            <a:off x="9352026"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aides techniques peuvent-elles interpréter l'interface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3" name="DSFR-card-numero"/>
          <p:cNvSpPr/>
          <p:nvPr/>
        </p:nvSpPr>
        <p:spPr>
          <a:xfrm>
            <a:off x="704088"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86734"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69379"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52026"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58134"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123426"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type de handicap implique des besoins concrets que vos contenus doivent prendre en compte.</a:t>
            </a:r>
          </a:p>
        </p:txBody>
      </p:sp>
      <p:sp>
        <p:nvSpPr>
          <p:cNvPr id="12" name="DSFR-box"/>
          <p:cNvSpPr/>
          <p:nvPr/>
        </p:nvSpPr>
        <p:spPr>
          <a:xfrm>
            <a:off x="548640"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Visuelle</a:t>
            </a:r>
          </a:p>
        </p:txBody>
      </p:sp>
      <p:sp>
        <p:nvSpPr>
          <p:cNvPr id="14" name="DSFR-card-contenu"/>
          <p:cNvSpPr txBox="1"/>
          <p:nvPr/>
        </p:nvSpPr>
        <p:spPr>
          <a:xfrm>
            <a:off x="704088"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Lecteur d'écran, loupe, contraste</a:t>
            </a:r>
          </a:p>
          <a:p>
            <a:pPr algn="l">
              <a:lnSpc>
                <a:spcPct val="125000"/>
              </a:lnSpc>
            </a:pPr>
            <a:r>
              <a:rPr sz="1400" lang="fr-FR">
                <a:solidFill>
                  <a:srgbClr val="161616"/>
                </a:solidFill>
                <a:latin typeface="Arial"/>
              </a:rPr>
              <a:t>• </a:t>
            </a:r>
            <a:r>
              <a:rPr sz="1400" b="0" lang="fr-FR">
                <a:solidFill>
                  <a:srgbClr val="161616"/>
                </a:solidFill>
                <a:latin typeface="Arial"/>
              </a:rPr>
              <a:t>Alt text, structure, couleurs</a:t>
            </a:r>
          </a:p>
        </p:txBody>
      </p:sp>
      <p:sp>
        <p:nvSpPr>
          <p:cNvPr id="16" name="DSFR-box"/>
          <p:cNvSpPr/>
          <p:nvPr/>
        </p:nvSpPr>
        <p:spPr>
          <a:xfrm>
            <a:off x="3431286"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Auditive</a:t>
            </a:r>
          </a:p>
        </p:txBody>
      </p:sp>
      <p:sp>
        <p:nvSpPr>
          <p:cNvPr id="18" name="DSFR-card-contenu"/>
          <p:cNvSpPr txBox="1"/>
          <p:nvPr/>
        </p:nvSpPr>
        <p:spPr>
          <a:xfrm>
            <a:off x="3586734"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Sous-titres, transcription, LSF</a:t>
            </a:r>
          </a:p>
          <a:p>
            <a:pPr algn="l">
              <a:lnSpc>
                <a:spcPct val="125000"/>
              </a:lnSpc>
            </a:pPr>
            <a:r>
              <a:rPr sz="1400" lang="fr-FR">
                <a:solidFill>
                  <a:srgbClr val="161616"/>
                </a:solidFill>
                <a:latin typeface="Arial"/>
              </a:rPr>
              <a:t>• </a:t>
            </a:r>
            <a:r>
              <a:rPr sz="1400" b="0" lang="fr-FR">
                <a:solidFill>
                  <a:srgbClr val="161616"/>
                </a:solidFill>
                <a:latin typeface="Arial"/>
              </a:rPr>
              <a:t>Alertes visuelles, pas que sonores</a:t>
            </a:r>
          </a:p>
        </p:txBody>
      </p:sp>
      <p:sp>
        <p:nvSpPr>
          <p:cNvPr id="20" name="DSFR-box"/>
          <p:cNvSpPr/>
          <p:nvPr/>
        </p:nvSpPr>
        <p:spPr>
          <a:xfrm>
            <a:off x="6313931"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Motrice</a:t>
            </a:r>
          </a:p>
        </p:txBody>
      </p:sp>
      <p:sp>
        <p:nvSpPr>
          <p:cNvPr id="22" name="DSFR-card-contenu"/>
          <p:cNvSpPr txBox="1"/>
          <p:nvPr/>
        </p:nvSpPr>
        <p:spPr>
          <a:xfrm>
            <a:off x="6469379"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Clavier seul, contacteur, voix</a:t>
            </a:r>
          </a:p>
          <a:p>
            <a:pPr algn="l">
              <a:lnSpc>
                <a:spcPct val="125000"/>
              </a:lnSpc>
            </a:pPr>
            <a:r>
              <a:rPr sz="1400" lang="fr-FR">
                <a:solidFill>
                  <a:srgbClr val="161616"/>
                </a:solidFill>
                <a:latin typeface="Arial"/>
              </a:rPr>
              <a:t>• </a:t>
            </a:r>
            <a:r>
              <a:rPr sz="1400" b="0" lang="fr-FR">
                <a:solidFill>
                  <a:srgbClr val="161616"/>
                </a:solidFill>
                <a:latin typeface="Arial"/>
              </a:rPr>
              <a:t>Cibles larges, pas de geste imposé</a:t>
            </a:r>
          </a:p>
        </p:txBody>
      </p:sp>
      <p:sp>
        <p:nvSpPr>
          <p:cNvPr id="24" name="DSFR-box"/>
          <p:cNvSpPr/>
          <p:nvPr/>
        </p:nvSpPr>
        <p:spPr>
          <a:xfrm>
            <a:off x="9196578"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Cognitive</a:t>
            </a:r>
          </a:p>
        </p:txBody>
      </p:sp>
      <p:sp>
        <p:nvSpPr>
          <p:cNvPr id="26" name="DSFR-card-contenu"/>
          <p:cNvSpPr txBox="1"/>
          <p:nvPr/>
        </p:nvSpPr>
        <p:spPr>
          <a:xfrm>
            <a:off x="9352026"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Langage clair, mise en page aérée</a:t>
            </a:r>
          </a:p>
          <a:p>
            <a:pPr algn="l">
              <a:lnSpc>
                <a:spcPct val="125000"/>
              </a:lnSpc>
            </a:pPr>
            <a:r>
              <a:rPr sz="1400" lang="fr-FR">
                <a:solidFill>
                  <a:srgbClr val="161616"/>
                </a:solidFill>
                <a:latin typeface="Arial"/>
              </a:rPr>
              <a:t>• </a:t>
            </a:r>
            <a:r>
              <a:rPr sz="1400" b="0" lang="fr-FR">
                <a:solidFill>
                  <a:srgbClr val="161616"/>
                </a:solidFill>
                <a:latin typeface="Arial"/>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22</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Testez les simulations suivantes</a:t>
            </a:r>
          </a:p>
        </p:txBody>
      </p:sp>
      <p:sp>
        <p:nvSpPr>
          <p:cNvPr id="14" name="DSFR-callout-body"/>
          <p:cNvSpPr txBox="1"/>
          <p:nvPr/>
        </p:nvSpPr>
        <p:spPr>
          <a:xfrm>
            <a:off x="704088" y="4651552"/>
            <a:ext cx="5143500"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Daltonisme</a:t>
            </a:r>
          </a:p>
          <a:p>
            <a:pPr algn="l">
              <a:lnSpc>
                <a:spcPct val="125000"/>
              </a:lnSpc>
            </a:pPr>
            <a:r>
              <a:rPr sz="1400" lang="fr-FR">
                <a:solidFill>
                  <a:srgbClr val="161616"/>
                </a:solidFill>
                <a:latin typeface="Arial"/>
              </a:rPr>
              <a:t>• </a:t>
            </a:r>
            <a:r>
              <a:rPr sz="1400" b="0" lang="fr-FR">
                <a:solidFill>
                  <a:srgbClr val="161616"/>
                </a:solidFill>
                <a:latin typeface="Arial"/>
              </a:rPr>
              <a:t>Malvoyance</a:t>
            </a:r>
          </a:p>
          <a:p>
            <a:pPr algn="l">
              <a:lnSpc>
                <a:spcPct val="125000"/>
              </a:lnSpc>
            </a:pPr>
            <a:r>
              <a:rPr sz="1400" lang="fr-FR">
                <a:solidFill>
                  <a:srgbClr val="161616"/>
                </a:solidFill>
                <a:latin typeface="Arial"/>
              </a:rPr>
              <a:t>• </a:t>
            </a:r>
            <a:r>
              <a:rPr sz="1400" b="0" lang="fr-FR">
                <a:solidFill>
                  <a:srgbClr val="161616"/>
                </a:solidFill>
                <a:latin typeface="Arial"/>
              </a:rPr>
              <a:t>Cécité</a:t>
            </a:r>
          </a:p>
          <a:p>
            <a:pPr algn="l">
              <a:lnSpc>
                <a:spcPct val="125000"/>
              </a:lnSpc>
            </a:pPr>
            <a:r>
              <a:rPr sz="1400" lang="fr-FR">
                <a:solidFill>
                  <a:srgbClr val="161616"/>
                </a:solidFill>
                <a:latin typeface="Arial"/>
              </a:rPr>
              <a:t>• </a:t>
            </a:r>
            <a:r>
              <a:rPr sz="1400" b="0" lang="fr-FR">
                <a:solidFill>
                  <a:srgbClr val="161616"/>
                </a:solidFill>
                <a:latin typeface="Arial"/>
              </a:rPr>
              <a:t>Surdité</a:t>
            </a:r>
          </a:p>
          <a:p>
            <a:pPr algn="l">
              <a:lnSpc>
                <a:spcPct val="125000"/>
              </a:lnSpc>
            </a:pPr>
            <a:r>
              <a:rPr sz="1400" lang="fr-FR">
                <a:solidFill>
                  <a:srgbClr val="161616"/>
                </a:solidFill>
                <a:latin typeface="Arial"/>
              </a:rPr>
              <a:t>• </a:t>
            </a:r>
            <a:r>
              <a:rPr sz="1400" b="0" lang="fr-FR">
                <a:solidFill>
                  <a:srgbClr val="161616"/>
                </a:solidFill>
                <a:latin typeface="Arial"/>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Amir, charge d'études - cécité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23</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Alternative textuelle sur chaque image (attribut alt)</a:t>
            </a:r>
          </a:p>
          <a:p>
            <a:pPr algn="l">
              <a:lnSpc>
                <a:spcPct val="130000"/>
              </a:lnSpc>
            </a:pPr>
            <a:r>
              <a:rPr sz="1400" lang="fr-FR">
                <a:solidFill>
                  <a:srgbClr val="161616"/>
                </a:solidFill>
                <a:latin typeface="Arial"/>
              </a:rPr>
              <a:t>• </a:t>
            </a:r>
            <a:r>
              <a:rPr sz="1400" b="0" lang="fr-FR">
                <a:solidFill>
                  <a:srgbClr val="161616"/>
                </a:solidFill>
                <a:latin typeface="Arial"/>
              </a:rPr>
              <a:t>Structure logique du document (titres, listes, tableaux)</a:t>
            </a:r>
          </a:p>
          <a:p>
            <a:pPr algn="l">
              <a:lnSpc>
                <a:spcPct val="130000"/>
              </a:lnSpc>
            </a:pPr>
            <a:r>
              <a:rPr sz="1400" lang="fr-FR">
                <a:solidFill>
                  <a:srgbClr val="161616"/>
                </a:solidFill>
                <a:latin typeface="Arial"/>
              </a:rPr>
              <a:t>• </a:t>
            </a:r>
            <a:r>
              <a:rPr sz="1400" b="0" lang="fr-FR">
                <a:solidFill>
                  <a:srgbClr val="161616"/>
                </a:solidFill>
                <a:latin typeface="Arial"/>
              </a:rPr>
              <a:t>Liens explicites (pas de « cliquez ici »)</a:t>
            </a:r>
          </a:p>
          <a:p>
            <a:pPr algn="l">
              <a:lnSpc>
                <a:spcPct val="130000"/>
              </a:lnSpc>
            </a:pPr>
            <a:r>
              <a:rPr sz="1400" lang="fr-FR">
                <a:solidFill>
                  <a:srgbClr val="161616"/>
                </a:solidFill>
                <a:latin typeface="Arial"/>
              </a:rPr>
              <a:t>• </a:t>
            </a:r>
            <a:r>
              <a:rPr sz="1400" b="0" lang="fr-FR">
                <a:solidFill>
                  <a:srgbClr val="161616"/>
                </a:solidFill>
                <a:latin typeface="Arial"/>
              </a:rPr>
              <a:t>Formulaires avec des étiquettes associées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 + Compatible</a:t>
            </a:r>
          </a:p>
        </p:txBody>
      </p:sp>
      <p:pic>
        <p:nvPicPr>
          <p:cNvPr id="16" name="Picture 15" descr="Lecteurs d'é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Lecteurs d'écran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Plage braille</a:t>
            </a:r>
          </a:p>
        </p:txBody>
      </p:sp>
      <p:pic>
        <p:nvPicPr>
          <p:cNvPr id="20" name="Picture 19" descr="Synthè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24</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Agrandir la taille des textes et des interfaces</a:t>
            </a:r>
          </a:p>
          <a:p>
            <a:pPr algn="l">
              <a:lnSpc>
                <a:spcPct val="130000"/>
              </a:lnSpc>
            </a:pPr>
            <a:r>
              <a:rPr sz="1400" lang="fr-FR">
                <a:solidFill>
                  <a:srgbClr val="161616"/>
                </a:solidFill>
                <a:latin typeface="Arial"/>
              </a:rPr>
              <a:t>• </a:t>
            </a:r>
            <a:r>
              <a:rPr sz="1400" b="0" lang="fr-FR">
                <a:solidFill>
                  <a:srgbClr val="161616"/>
                </a:solidFill>
                <a:latin typeface="Arial"/>
              </a:rPr>
              <a:t>Contraste suffisant entre texte et fond (ratio 4.5:1 minimum)</a:t>
            </a:r>
          </a:p>
          <a:p>
            <a:pPr algn="l">
              <a:lnSpc>
                <a:spcPct val="130000"/>
              </a:lnSpc>
            </a:pPr>
            <a:r>
              <a:rPr sz="1400" lang="fr-FR">
                <a:solidFill>
                  <a:srgbClr val="161616"/>
                </a:solidFill>
                <a:latin typeface="Arial"/>
              </a:rPr>
              <a:t>• </a:t>
            </a:r>
            <a:r>
              <a:rPr sz="1400" b="0" lang="fr-FR">
                <a:solidFill>
                  <a:srgbClr val="161616"/>
                </a:solidFill>
                <a:latin typeface="Arial"/>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pic>
        <p:nvPicPr>
          <p:cNvPr id="16" name="Picture 15" descr="Clavier adapté"/>
          <p:cNvPicPr>
            <a:picLocks noChangeAspect="1"/>
          </p:cNvPicPr>
          <p:nvPr/>
        </p:nvPicPr>
        <p:blipFill>
          <a:blip r:embed="rId3"/>
          <a:stretch>
            <a:fillRect/>
          </a:stretch>
        </p:blipFill>
        <p:spPr>
          <a:xfrm>
            <a:off x="1453895" y="4617720"/>
            <a:ext cx="1584960" cy="1187938"/>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Clavier adapté</a:t>
            </a:r>
          </a:p>
        </p:txBody>
      </p:sp>
      <p:pic>
        <p:nvPicPr>
          <p:cNvPr id="18" name="Picture 17" descr="Clavier guide-doigts"/>
          <p:cNvPicPr>
            <a:picLocks noChangeAspect="1"/>
          </p:cNvPicPr>
          <p:nvPr/>
        </p:nvPicPr>
        <p:blipFill>
          <a:blip r:embed="rId4"/>
          <a:stretch>
            <a:fillRect/>
          </a:stretch>
        </p:blipFill>
        <p:spPr>
          <a:xfrm>
            <a:off x="4410455" y="4617720"/>
            <a:ext cx="3358895" cy="1057920"/>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Clavier guide-doigts</a:t>
            </a:r>
          </a:p>
        </p:txBody>
      </p:sp>
      <p:pic>
        <p:nvPicPr>
          <p:cNvPr id="20" name="Picture 19" descr="Paramètres accessibilité"/>
          <p:cNvPicPr>
            <a:picLocks noChangeAspect="1"/>
          </p:cNvPicPr>
          <p:nvPr/>
        </p:nvPicPr>
        <p:blipFill>
          <a:blip r:embed="rId5"/>
          <a:stretch>
            <a:fillRect/>
          </a:stretch>
        </p:blipFill>
        <p:spPr>
          <a:xfrm>
            <a:off x="8668836" y="4617720"/>
            <a:ext cx="2529191" cy="748185"/>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Paramètres accessibilité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25</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Sous-titres sur toutes les vidéos et contenus audio</a:t>
            </a:r>
          </a:p>
          <a:p>
            <a:pPr algn="l">
              <a:lnSpc>
                <a:spcPct val="130000"/>
              </a:lnSpc>
            </a:pPr>
            <a:r>
              <a:rPr sz="1400" lang="fr-FR">
                <a:solidFill>
                  <a:srgbClr val="161616"/>
                </a:solidFill>
                <a:latin typeface="Arial"/>
              </a:rPr>
              <a:t>• </a:t>
            </a:r>
            <a:r>
              <a:rPr sz="1400" b="0" lang="fr-FR">
                <a:solidFill>
                  <a:srgbClr val="161616"/>
                </a:solidFill>
                <a:latin typeface="Arial"/>
              </a:rPr>
              <a:t>Transcription textuelle des podcasts et webinaires</a:t>
            </a:r>
          </a:p>
          <a:p>
            <a:pPr algn="l">
              <a:lnSpc>
                <a:spcPct val="130000"/>
              </a:lnSpc>
            </a:pPr>
            <a:r>
              <a:rPr sz="1400" lang="fr-FR">
                <a:solidFill>
                  <a:srgbClr val="161616"/>
                </a:solidFill>
                <a:latin typeface="Arial"/>
              </a:rPr>
              <a:t>• </a:t>
            </a:r>
            <a:r>
              <a:rPr sz="1400" b="0" lang="fr-FR">
                <a:solidFill>
                  <a:srgbClr val="161616"/>
                </a:solidFill>
                <a:latin typeface="Arial"/>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pic>
        <p:nvPicPr>
          <p:cNvPr id="16" name="Picture 15" descr="Transcription"/>
          <p:cNvPicPr>
            <a:picLocks noChangeAspect="1"/>
          </p:cNvPicPr>
          <p:nvPr/>
        </p:nvPicPr>
        <p:blipFill>
          <a:blip r:embed="rId3"/>
          <a:stretch>
            <a:fillRect/>
          </a:stretch>
        </p:blipFill>
        <p:spPr>
          <a:xfrm>
            <a:off x="1652016" y="4617720"/>
            <a:ext cx="1188720" cy="1188720"/>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Transcription</a:t>
            </a:r>
          </a:p>
        </p:txBody>
      </p:sp>
      <p:pic>
        <p:nvPicPr>
          <p:cNvPr id="18" name="Picture 17" descr="Vérificateur accessibilité"/>
          <p:cNvPicPr>
            <a:picLocks noChangeAspect="1"/>
          </p:cNvPicPr>
          <p:nvPr/>
        </p:nvPicPr>
        <p:blipFill>
          <a:blip r:embed="rId4"/>
          <a:stretch>
            <a:fillRect/>
          </a:stretch>
        </p:blipFill>
        <p:spPr>
          <a:xfrm>
            <a:off x="4825308" y="4617720"/>
            <a:ext cx="2529191" cy="428442"/>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Vérificateur accessibilité</a:t>
            </a:r>
          </a:p>
        </p:txBody>
      </p:sp>
      <p:pic>
        <p:nvPicPr>
          <p:cNvPr id="20" name="Picture 19" descr="NVDA - lecteur d'écran"/>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NVDA - lecteur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26</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Naviguer sans souris, avec des contacteurs adaptés</a:t>
            </a:r>
          </a:p>
          <a:p>
            <a:pPr algn="l">
              <a:lnSpc>
                <a:spcPct val="130000"/>
              </a:lnSpc>
            </a:pPr>
            <a:r>
              <a:rPr sz="1400" lang="fr-FR">
                <a:solidFill>
                  <a:srgbClr val="161616"/>
                </a:solidFill>
                <a:latin typeface="Arial"/>
              </a:rPr>
              <a:t>• </a:t>
            </a:r>
            <a:r>
              <a:rPr sz="1400" b="0" lang="fr-FR">
                <a:solidFill>
                  <a:srgbClr val="161616"/>
                </a:solidFill>
                <a:latin typeface="Arial"/>
              </a:rPr>
              <a:t>Cibles cliquables suffisamment larges (44 x 44 px minimum)</a:t>
            </a:r>
          </a:p>
          <a:p>
            <a:pPr algn="l">
              <a:lnSpc>
                <a:spcPct val="130000"/>
              </a:lnSpc>
            </a:pPr>
            <a:r>
              <a:rPr sz="1400" lang="fr-FR">
                <a:solidFill>
                  <a:srgbClr val="161616"/>
                </a:solidFill>
                <a:latin typeface="Arial"/>
              </a:rPr>
              <a:t>• </a:t>
            </a:r>
            <a:r>
              <a:rPr sz="1400" b="0" lang="fr-FR">
                <a:solidFill>
                  <a:srgbClr val="161616"/>
                </a:solidFill>
                <a:latin typeface="Arial"/>
              </a:rPr>
              <a:t>Convertisseur texte-parole pour communiquer plus facilement</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Utiliser</a:t>
            </a:r>
          </a:p>
        </p:txBody>
      </p:sp>
      <p:pic>
        <p:nvPicPr>
          <p:cNvPr id="16" name="Picture 15" descr="Souris trackball"/>
          <p:cNvPicPr>
            <a:picLocks noChangeAspect="1"/>
          </p:cNvPicPr>
          <p:nvPr/>
        </p:nvPicPr>
        <p:blipFill>
          <a:blip r:embed="rId3"/>
          <a:stretch>
            <a:fillRect/>
          </a:stretch>
        </p:blipFill>
        <p:spPr>
          <a:xfrm>
            <a:off x="1453895" y="4617720"/>
            <a:ext cx="1584960" cy="1186806"/>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Souris trackball</a:t>
            </a:r>
          </a:p>
        </p:txBody>
      </p:sp>
      <p:pic>
        <p:nvPicPr>
          <p:cNvPr id="18" name="Picture 17" descr="Plage braille / contacteurs"/>
          <p:cNvPicPr>
            <a:picLocks noChangeAspect="1"/>
          </p:cNvPicPr>
          <p:nvPr/>
        </p:nvPicPr>
        <p:blipFill>
          <a:blip r:embed="rId4"/>
          <a:stretch>
            <a:fillRect/>
          </a:stretch>
        </p:blipFill>
        <p:spPr>
          <a:xfrm>
            <a:off x="4989237" y="4617720"/>
            <a:ext cx="2201333" cy="1189311"/>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Plage braille / contacteurs</a:t>
            </a:r>
          </a:p>
        </p:txBody>
      </p:sp>
      <p:pic>
        <p:nvPicPr>
          <p:cNvPr id="20" name="Picture 19" descr="Contrôle vocal"/>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Contrôle vocal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Anatole, lyceen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27</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Phrases courtes et simples, sans double négation</a:t>
            </a:r>
          </a:p>
          <a:p>
            <a:pPr algn="l">
              <a:lnSpc>
                <a:spcPct val="130000"/>
              </a:lnSpc>
            </a:pPr>
            <a:r>
              <a:rPr sz="1400" lang="fr-FR">
                <a:solidFill>
                  <a:srgbClr val="161616"/>
                </a:solidFill>
                <a:latin typeface="Arial"/>
              </a:rPr>
              <a:t>• </a:t>
            </a:r>
            <a:r>
              <a:rPr sz="1400" b="0" lang="fr-FR">
                <a:solidFill>
                  <a:srgbClr val="161616"/>
                </a:solidFill>
                <a:latin typeface="Arial"/>
              </a:rPr>
              <a:t>Mise en page aérée, une idee par paragraphe</a:t>
            </a:r>
          </a:p>
          <a:p>
            <a:pPr algn="l">
              <a:lnSpc>
                <a:spcPct val="130000"/>
              </a:lnSpc>
            </a:pPr>
            <a:r>
              <a:rPr sz="1400" lang="fr-FR">
                <a:solidFill>
                  <a:srgbClr val="161616"/>
                </a:solidFill>
                <a:latin typeface="Arial"/>
              </a:rPr>
              <a:t>• </a:t>
            </a:r>
            <a:r>
              <a:rPr sz="1400" b="0" lang="fr-FR">
                <a:solidFill>
                  <a:srgbClr val="161616"/>
                </a:solidFill>
                <a:latin typeface="Arial"/>
              </a:rPr>
              <a:t>Pictogrammes pour accompagner le texte</a:t>
            </a:r>
          </a:p>
          <a:p>
            <a:pPr algn="l">
              <a:lnSpc>
                <a:spcPct val="130000"/>
              </a:lnSpc>
            </a:pPr>
            <a:r>
              <a:rPr sz="1400" lang="fr-FR">
                <a:solidFill>
                  <a:srgbClr val="161616"/>
                </a:solidFill>
                <a:latin typeface="Arial"/>
              </a:rPr>
              <a:t>• </a:t>
            </a:r>
            <a:r>
              <a:rPr sz="1400" b="0" lang="fr-FR">
                <a:solidFill>
                  <a:srgbClr val="161616"/>
                </a:solidFill>
                <a:latin typeface="Arial"/>
              </a:rPr>
              <a:t>Navigation prévisible,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a:t>
            </a:r>
          </a:p>
        </p:txBody>
      </p:sp>
      <p:sp>
        <p:nvSpPr>
          <p:cNvPr id="17" name="DSFR-box"/>
          <p:cNvSpPr/>
          <p:nvPr/>
        </p:nvSpPr>
        <p:spPr>
          <a:xfrm>
            <a:off x="548640" y="4498848"/>
            <a:ext cx="11155680"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9028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01768"/>
            <a:ext cx="10908792"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Porteur de trisomie 21</a:t>
            </a:r>
          </a:p>
          <a:p>
            <a:pPr algn="l">
              <a:lnSpc>
                <a:spcPct val="120000"/>
              </a:lnSpc>
            </a:pPr>
            <a:r>
              <a:rPr sz="1400" lang="fr-FR">
                <a:solidFill>
                  <a:srgbClr val="161616"/>
                </a:solidFill>
                <a:latin typeface="Arial"/>
              </a:rPr>
              <a:t>• </a:t>
            </a:r>
            <a:r>
              <a:rPr sz="1400" b="0" lang="fr-FR">
                <a:solidFill>
                  <a:srgbClr val="161616"/>
                </a:solidFill>
                <a:latin typeface="Arial"/>
              </a:rPr>
              <a:t>Lire lui demande du temps et de la concentration</a:t>
            </a:r>
          </a:p>
          <a:p>
            <a:pPr algn="l">
              <a:lnSpc>
                <a:spcPct val="120000"/>
              </a:lnSpc>
            </a:pPr>
            <a:r>
              <a:rPr sz="1400" lang="fr-FR">
                <a:solidFill>
                  <a:srgbClr val="161616"/>
                </a:solidFill>
                <a:latin typeface="Arial"/>
              </a:rPr>
              <a:t>• </a:t>
            </a:r>
            <a:r>
              <a:rPr sz="1400" b="0" lang="fr-FR">
                <a:solidFill>
                  <a:srgbClr val="161616"/>
                </a:solidFill>
                <a:latin typeface="Arial"/>
              </a:rPr>
              <a:t>Il comprend mieux les phrases simples et courtes</a:t>
            </a:r>
          </a:p>
          <a:p>
            <a:pPr algn="l">
              <a:lnSpc>
                <a:spcPct val="120000"/>
              </a:lnSpc>
            </a:pPr>
            <a:r>
              <a:rPr sz="1400" lang="fr-FR">
                <a:solidFill>
                  <a:srgbClr val="161616"/>
                </a:solidFill>
                <a:latin typeface="Arial"/>
              </a:rPr>
              <a:t>• </a:t>
            </a:r>
            <a:r>
              <a:rPr sz="1400" b="0" lang="fr-FR">
                <a:solidFill>
                  <a:srgbClr val="161616"/>
                </a:solidFill>
                <a:latin typeface="Arial"/>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98848"/>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Paul, attache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28</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Mettre en pause les animations (carrousels, vidéo autoplay)</a:t>
            </a:r>
          </a:p>
          <a:p>
            <a:pPr algn="l">
              <a:lnSpc>
                <a:spcPct val="130000"/>
              </a:lnSpc>
            </a:pPr>
            <a:r>
              <a:rPr sz="1400" lang="fr-FR">
                <a:solidFill>
                  <a:srgbClr val="161616"/>
                </a:solidFill>
                <a:latin typeface="Arial"/>
              </a:rPr>
              <a:t>• </a:t>
            </a:r>
            <a:r>
              <a:rPr sz="1400" b="0" lang="fr-FR">
                <a:solidFill>
                  <a:srgbClr val="161616"/>
                </a:solidFill>
                <a:latin typeface="Arial"/>
              </a:rPr>
              <a:t>Textes non justifies, avec un espacement suffisant</a:t>
            </a:r>
          </a:p>
          <a:p>
            <a:pPr algn="l">
              <a:lnSpc>
                <a:spcPct val="130000"/>
              </a:lnSpc>
            </a:pPr>
            <a:r>
              <a:rPr sz="1400" lang="fr-FR">
                <a:solidFill>
                  <a:srgbClr val="161616"/>
                </a:solidFill>
                <a:latin typeface="Arial"/>
              </a:rPr>
              <a:t>• </a:t>
            </a:r>
            <a:r>
              <a:rPr sz="1400" b="0" lang="fr-FR">
                <a:solidFill>
                  <a:srgbClr val="161616"/>
                </a:solidFill>
                <a:latin typeface="Arial"/>
              </a:rPr>
              <a:t>Polices lisibles, sans empattement (sans serif)</a:t>
            </a:r>
          </a:p>
          <a:p>
            <a:pPr algn="l">
              <a:lnSpc>
                <a:spcPct val="130000"/>
              </a:lnSpc>
            </a:pPr>
            <a:r>
              <a:rPr sz="1400" lang="fr-FR">
                <a:solidFill>
                  <a:srgbClr val="161616"/>
                </a:solidFill>
                <a:latin typeface="Arial"/>
              </a:rPr>
              <a:t>• </a:t>
            </a:r>
            <a:r>
              <a:rPr sz="1400" b="0" lang="fr-FR">
                <a:solidFill>
                  <a:srgbClr val="161616"/>
                </a:solidFill>
                <a:latin typeface="Arial"/>
              </a:rPr>
              <a:t>Mise en page aérée,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 + Percevoir</a:t>
            </a:r>
          </a:p>
        </p:txBody>
      </p:sp>
      <p:sp>
        <p:nvSpPr>
          <p:cNvPr id="17" name="DSFR-box"/>
          <p:cNvSpPr/>
          <p:nvPr/>
        </p:nvSpPr>
        <p:spPr>
          <a:xfrm>
            <a:off x="548640" y="4572000"/>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74920"/>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Consulte quotidiennement des sites d'info pour ses revues de presse</a:t>
            </a:r>
          </a:p>
          <a:p>
            <a:pPr algn="l">
              <a:lnSpc>
                <a:spcPct val="120000"/>
              </a:lnSpc>
            </a:pPr>
            <a:r>
              <a:rPr sz="1400" lang="fr-FR">
                <a:solidFill>
                  <a:srgbClr val="161616"/>
                </a:solidFill>
                <a:latin typeface="Arial"/>
              </a:rPr>
              <a:t>• </a:t>
            </a:r>
            <a:r>
              <a:rPr sz="1400" b="0" lang="fr-FR">
                <a:solidFill>
                  <a:srgbClr val="161616"/>
                </a:solidFill>
                <a:latin typeface="Arial"/>
              </a:rPr>
              <a:t>Trouble de l'attention : les animations non contrôlables le déconcentrent</a:t>
            </a:r>
          </a:p>
          <a:p>
            <a:pPr algn="l">
              <a:lnSpc>
                <a:spcPct val="120000"/>
              </a:lnSpc>
            </a:pPr>
            <a:r>
              <a:rPr sz="1400" lang="fr-FR">
                <a:solidFill>
                  <a:srgbClr val="161616"/>
                </a:solidFill>
                <a:latin typeface="Arial"/>
              </a:rPr>
              <a:t>• </a:t>
            </a:r>
            <a:r>
              <a:rPr sz="1400" b="0" lang="fr-FR">
                <a:solidFill>
                  <a:srgbClr val="161616"/>
                </a:solidFill>
                <a:latin typeface="Arial"/>
              </a:rPr>
              <a:t>Dyslexie : le texte justifié et les polices a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57200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29</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Arial"/>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Lecteur d'écran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Anais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30</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déficience appelle des solutions et des technologies d'assistance spécifiques.</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Aveugle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Malvoyant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au visuel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audio et tactile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Grossissement, contrastes, luminosité</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Plage braille, synthèse vocale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Loupe logicielle, synthèse vocale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Sourd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Malentendant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à l'audio</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 à l'audio</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le visuel (sous-titres, LSF)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Renforcement du signal auditif, visuel</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Sous-titrage, velotypie, LSF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Appareil auditif, boucle magnétique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31</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déficiences motrices et cognitives impliquent des réponses différentes, mais un principe commun : simplifier l'interaction.</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moteur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Dyslexie / troubles dys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Manipulation, préhension, pointage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Lecture, repérage, décodage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Navigation clavier, zones cliquables larges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simples, texte non justifié, mise en page aérée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Trackball, clavier virtuel, commande oculaire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Synthèse vocale, règle de lecture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mental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TSA</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Compréhension, défilement, animation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Structuration, repérage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Interfaces simples, FALC, pictogrammes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Consignes claires, structure documentaire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n'est pas une faveur : c'est une condition d'accès équitable à l'information.</a:t>
            </a:r>
          </a:p>
        </p:txBody>
      </p:sp>
      <p:sp>
        <p:nvSpPr>
          <p:cNvPr id="12" name="DSFR-box"/>
          <p:cNvSpPr/>
          <p:nvPr/>
        </p:nvSpPr>
        <p:spPr>
          <a:xfrm>
            <a:off x="548640"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1/5</a:t>
            </a:r>
          </a:p>
        </p:txBody>
      </p:sp>
      <p:sp>
        <p:nvSpPr>
          <p:cNvPr id="14" name="DSFR-card-contenu"/>
          <p:cNvSpPr txBox="1"/>
          <p:nvPr/>
        </p:nvSpPr>
        <p:spPr>
          <a:xfrm>
            <a:off x="704088"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1 personne sur 5 est en situation de handicap ou connaît un trouble invalidant.</a:t>
            </a:r>
          </a:p>
        </p:txBody>
      </p:sp>
      <p:sp>
        <p:nvSpPr>
          <p:cNvPr id="16" name="DSFR-box"/>
          <p:cNvSpPr/>
          <p:nvPr/>
        </p:nvSpPr>
        <p:spPr>
          <a:xfrm>
            <a:off x="4392167"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85%</a:t>
            </a:r>
          </a:p>
        </p:txBody>
      </p:sp>
      <p:sp>
        <p:nvSpPr>
          <p:cNvPr id="18" name="DSFR-card-contenu"/>
          <p:cNvSpPr txBox="1"/>
          <p:nvPr/>
        </p:nvSpPr>
        <p:spPr>
          <a:xfrm>
            <a:off x="4547615"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des handicaps sont acquis au cours de la vie</a:t>
            </a:r>
          </a:p>
        </p:txBody>
      </p:sp>
      <p:sp>
        <p:nvSpPr>
          <p:cNvPr id="20" name="DSFR-box"/>
          <p:cNvSpPr/>
          <p:nvPr/>
        </p:nvSpPr>
        <p:spPr>
          <a:xfrm>
            <a:off x="8235695"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1er</a:t>
            </a:r>
          </a:p>
        </p:txBody>
      </p:sp>
      <p:sp>
        <p:nvSpPr>
          <p:cNvPr id="22" name="DSFR-card-contenu"/>
          <p:cNvSpPr txBox="1"/>
          <p:nvPr/>
        </p:nvSpPr>
        <p:spPr>
          <a:xfrm>
            <a:off x="8391144"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 handicap est le 1er facteur de discrimination selon le Défenseur des droits</a:t>
            </a:r>
          </a:p>
        </p:txBody>
      </p:sp>
      <p:sp>
        <p:nvSpPr>
          <p:cNvPr id="24" name="DSFR-box"/>
          <p:cNvSpPr/>
          <p:nvPr/>
        </p:nvSpPr>
        <p:spPr>
          <a:xfrm>
            <a:off x="548640" y="4637836"/>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llout-titre"/>
          <p:cNvSpPr txBox="1"/>
          <p:nvPr/>
        </p:nvSpPr>
        <p:spPr>
          <a:xfrm>
            <a:off x="704088" y="4729276"/>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Validisme : le piège à déconstruire</a:t>
            </a:r>
          </a:p>
        </p:txBody>
      </p:sp>
      <p:sp>
        <p:nvSpPr>
          <p:cNvPr id="26" name="DSFR-callout-body"/>
          <p:cNvSpPr txBox="1"/>
          <p:nvPr/>
        </p:nvSpPr>
        <p:spPr>
          <a:xfrm>
            <a:off x="704088" y="5140756"/>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Penser le public comme valide par défaut</a:t>
            </a:r>
          </a:p>
          <a:p>
            <a:pPr algn="l">
              <a:lnSpc>
                <a:spcPct val="120000"/>
              </a:lnSpc>
            </a:pPr>
            <a:r>
              <a:rPr sz="1400" lang="fr-FR">
                <a:solidFill>
                  <a:srgbClr val="161616"/>
                </a:solidFill>
                <a:latin typeface="Arial"/>
              </a:rPr>
              <a:t>• </a:t>
            </a:r>
            <a:r>
              <a:rPr sz="1400" b="0" lang="fr-FR">
                <a:solidFill>
                  <a:srgbClr val="161616"/>
                </a:solidFill>
                <a:latin typeface="Arial"/>
              </a:rPr>
              <a:t>Confondre bonne intention et accès réel</a:t>
            </a:r>
          </a:p>
          <a:p>
            <a:pPr algn="l">
              <a:lnSpc>
                <a:spcPct val="120000"/>
              </a:lnSpc>
            </a:pPr>
            <a:r>
              <a:rPr sz="1400" lang="fr-FR">
                <a:solidFill>
                  <a:srgbClr val="161616"/>
                </a:solidFill>
                <a:latin typeface="Arial"/>
              </a:rPr>
              <a:t>• </a:t>
            </a:r>
            <a:r>
              <a:rPr sz="1400" b="0" lang="fr-FR">
                <a:solidFill>
                  <a:srgbClr val="161616"/>
                </a:solidFill>
                <a:latin typeface="Arial"/>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637836"/>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ça change pour vous</a:t>
            </a:r>
          </a:p>
        </p:txBody>
      </p:sp>
      <p:sp>
        <p:nvSpPr>
          <p:cNvPr id="15" name="DSFR-callout-body"/>
          <p:cNvSpPr txBox="1"/>
          <p:nvPr/>
        </p:nvSpPr>
        <p:spPr>
          <a:xfrm>
            <a:off x="6053328" y="3497579"/>
            <a:ext cx="55595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C'est l'</a:t>
            </a:r>
            <a:r>
              <a:rPr sz="1400" b="1" lang="fr-FR">
                <a:solidFill>
                  <a:srgbClr val="161616"/>
                </a:solidFill>
                <a:latin typeface="Arial"/>
              </a:rPr>
              <a:t>environnement</a:t>
            </a:r>
            <a:r>
              <a:rPr sz="1400" b="0" lang="fr-FR">
                <a:solidFill>
                  <a:srgbClr val="161616"/>
                </a:solidFill>
                <a:latin typeface="Arial"/>
              </a:rPr>
              <a:t> qui crée le handicap, pas la personne</a:t>
            </a:r>
          </a:p>
          <a:p>
            <a:pPr algn="l">
              <a:lnSpc>
                <a:spcPct val="130000"/>
              </a:lnSpc>
            </a:pPr>
            <a:r>
              <a:rPr sz="1400" lang="fr-FR">
                <a:solidFill>
                  <a:srgbClr val="161616"/>
                </a:solidFill>
                <a:latin typeface="Arial"/>
              </a:rPr>
              <a:t>• </a:t>
            </a:r>
            <a:r>
              <a:rPr sz="1400" b="0" lang="fr-FR">
                <a:solidFill>
                  <a:srgbClr val="161616"/>
                </a:solidFill>
                <a:latin typeface="Arial"/>
              </a:rPr>
              <a:t>Un document inaccessible = une barrière que vous pouvez lever</a:t>
            </a:r>
          </a:p>
          <a:p>
            <a:pPr algn="l">
              <a:lnSpc>
                <a:spcPct val="130000"/>
              </a:lnSpc>
            </a:pPr>
            <a:r>
              <a:rPr sz="1400" lang="fr-FR">
                <a:solidFill>
                  <a:srgbClr val="161616"/>
                </a:solidFill>
                <a:latin typeface="Arial"/>
              </a:rPr>
              <a:t>• </a:t>
            </a:r>
            <a:r>
              <a:rPr sz="1400" b="0" lang="fr-FR">
                <a:solidFill>
                  <a:srgbClr val="161616"/>
                </a:solidFill>
                <a:latin typeface="Arial"/>
              </a:rPr>
              <a:t>Mettre en accessibilité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64508" y="3040380"/>
            <a:ext cx="4050791" cy="3175938"/>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36</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Contrôle Arcom effectif - contrôle DINUM en cours de mise en place</a:t>
            </a:r>
          </a:p>
        </p:txBody>
      </p:sp>
      <p:sp>
        <p:nvSpPr>
          <p:cNvPr id="20" name="DSFR-box"/>
          <p:cNvSpPr/>
          <p:nvPr/>
        </p:nvSpPr>
        <p:spPr>
          <a:xfrm>
            <a:off x="548640" y="4114800"/>
            <a:ext cx="11155680" cy="15864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est concerné ?</a:t>
            </a:r>
          </a:p>
        </p:txBody>
      </p:sp>
      <p:sp>
        <p:nvSpPr>
          <p:cNvPr id="22" name="DSFR-alert-info-body"/>
          <p:cNvSpPr txBox="1"/>
          <p:nvPr/>
        </p:nvSpPr>
        <p:spPr>
          <a:xfrm>
            <a:off x="704088" y="4617720"/>
            <a:ext cx="10908792" cy="99212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État, collectivités, établissements publics</a:t>
            </a:r>
          </a:p>
          <a:p>
            <a:pPr algn="l">
              <a:lnSpc>
                <a:spcPct val="150000"/>
              </a:lnSpc>
            </a:pPr>
            <a:r>
              <a:rPr sz="1400" lang="fr-FR">
                <a:solidFill>
                  <a:srgbClr val="161616"/>
                </a:solidFill>
                <a:latin typeface="Arial"/>
              </a:rPr>
              <a:t>• </a:t>
            </a:r>
            <a:r>
              <a:rPr sz="1400" b="0" lang="fr-FR">
                <a:solidFill>
                  <a:srgbClr val="161616"/>
                </a:solidFill>
                <a:latin typeface="Arial"/>
              </a:rPr>
              <a:t>Entreprises privées gérant un service public ou CA &gt; 250 M EUR</a:t>
            </a:r>
          </a:p>
          <a:p>
            <a:pPr algn="l">
              <a:lnSpc>
                <a:spcPct val="150000"/>
              </a:lnSpc>
            </a:pPr>
            <a:r>
              <a:rPr sz="1400" lang="fr-FR">
                <a:solidFill>
                  <a:srgbClr val="161616"/>
                </a:solidFill>
                <a:latin typeface="Arial"/>
              </a:rPr>
              <a:t>• </a:t>
            </a:r>
            <a:r>
              <a:rPr sz="1400" b="0" lang="fr-FR">
                <a:solidFill>
                  <a:srgbClr val="161616"/>
                </a:solidFill>
                <a:latin typeface="Arial"/>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864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Deux directives européennes structurent l'obligation d'accessibilité numérique en France.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2016/2102 - secteur public</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et applications mobiles du secteur public</a:t>
            </a:r>
          </a:p>
          <a:p>
            <a:pPr algn="l">
              <a:lnSpc>
                <a:spcPct val="120000"/>
              </a:lnSpc>
            </a:pPr>
            <a:r>
              <a:rPr sz="1400" lang="fr-FR">
                <a:solidFill>
                  <a:srgbClr val="161616"/>
                </a:solidFill>
                <a:latin typeface="Arial"/>
              </a:rPr>
              <a:t>• </a:t>
            </a:r>
            <a:r>
              <a:rPr sz="1400" b="0" lang="fr-FR">
                <a:solidFill>
                  <a:srgbClr val="161616"/>
                </a:solidFill>
                <a:latin typeface="Arial"/>
              </a:rPr>
              <a:t>Transposée en droit français par le décret 2019-768</a:t>
            </a:r>
          </a:p>
          <a:p>
            <a:pPr algn="l">
              <a:lnSpc>
                <a:spcPct val="120000"/>
              </a:lnSpc>
            </a:pPr>
            <a:r>
              <a:rPr sz="1400" lang="fr-FR">
                <a:solidFill>
                  <a:srgbClr val="161616"/>
                </a:solidFill>
                <a:latin typeface="Arial"/>
              </a:rPr>
              <a:t>• </a:t>
            </a:r>
            <a:r>
              <a:rPr sz="1400" b="0" lang="fr-FR">
                <a:solidFill>
                  <a:srgbClr val="161616"/>
                </a:solidFill>
                <a:latin typeface="Arial"/>
              </a:rPr>
              <a:t>Obligation de déclaration d'accessibilité</a:t>
            </a:r>
          </a:p>
          <a:p>
            <a:pPr algn="l">
              <a:lnSpc>
                <a:spcPct val="120000"/>
              </a:lnSpc>
            </a:pPr>
            <a:r>
              <a:rPr sz="1400" lang="fr-FR">
                <a:solidFill>
                  <a:srgbClr val="161616"/>
                </a:solidFill>
                <a:latin typeface="Arial"/>
              </a:rPr>
              <a:t>• </a:t>
            </a:r>
            <a:r>
              <a:rPr sz="1400" b="0" lang="fr-FR">
                <a:solidFill>
                  <a:srgbClr val="161616"/>
                </a:solidFill>
                <a:latin typeface="Arial"/>
              </a:rPr>
              <a:t>Base du RGAA actuel</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2019/882 - secteur privé</a:t>
            </a:r>
          </a:p>
        </p:txBody>
      </p:sp>
      <p:sp>
        <p:nvSpPr>
          <p:cNvPr id="18" name="DSFR-alert-warning-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Acte européen d'accessibilité (EAA)</a:t>
            </a:r>
          </a:p>
          <a:p>
            <a:pPr algn="l">
              <a:lnSpc>
                <a:spcPct val="120000"/>
              </a:lnSpc>
            </a:pPr>
            <a:r>
              <a:rPr sz="1400" lang="fr-FR">
                <a:solidFill>
                  <a:srgbClr val="161616"/>
                </a:solidFill>
                <a:latin typeface="Arial"/>
              </a:rPr>
              <a:t>• </a:t>
            </a:r>
            <a:r>
              <a:rPr sz="1400" b="0" lang="fr-FR">
                <a:solidFill>
                  <a:srgbClr val="161616"/>
                </a:solidFill>
                <a:latin typeface="Arial"/>
              </a:rPr>
              <a:t>Applicable à partir du 28 juin 2025</a:t>
            </a:r>
          </a:p>
          <a:p>
            <a:pPr algn="l">
              <a:lnSpc>
                <a:spcPct val="120000"/>
              </a:lnSpc>
            </a:pPr>
            <a:r>
              <a:rPr sz="1400" lang="fr-FR">
                <a:solidFill>
                  <a:srgbClr val="161616"/>
                </a:solidFill>
                <a:latin typeface="Arial"/>
              </a:rPr>
              <a:t>• </a:t>
            </a:r>
            <a:r>
              <a:rPr sz="1400" b="0" lang="fr-FR">
                <a:solidFill>
                  <a:srgbClr val="161616"/>
                </a:solidFill>
                <a:latin typeface="Arial"/>
              </a:rPr>
              <a:t>Commerce en ligne, banque, transport, télécom</a:t>
            </a:r>
          </a:p>
          <a:p>
            <a:pPr algn="l">
              <a:lnSpc>
                <a:spcPct val="120000"/>
              </a:lnSpc>
            </a:pPr>
            <a:r>
              <a:rPr sz="1400" lang="fr-FR">
                <a:solidFill>
                  <a:srgbClr val="161616"/>
                </a:solidFill>
                <a:latin typeface="Arial"/>
              </a:rPr>
              <a:t>• </a:t>
            </a:r>
            <a:r>
              <a:rPr sz="1400" b="0" lang="fr-FR">
                <a:solidFill>
                  <a:srgbClr val="161616"/>
                </a:solidFill>
                <a:latin typeface="Arial"/>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38</a:t>
            </a:r>
            <a:endParaRPr lang="fr-FR" dirty="0"/>
          </a:p>
        </p:txBody>
      </p:sp>
      <p:graphicFrame>
        <p:nvGraphicFramePr>
          <p:cNvPr id="8" name="Table 7"/>
          <p:cNvGraphicFramePr>
            <a:graphicFrameLocks noGrp="1"/>
          </p:cNvGraphicFramePr>
          <p:nvPr/>
        </p:nvGraphicFramePr>
        <p:xfrm>
          <a:off x="475488" y="173736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Arial"/>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Arial"/>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bl>
          </a:graphicData>
        </a:graphic>
      </p:graphicFrame>
      <p:sp>
        <p:nvSpPr>
          <p:cNvPr id="10" name="DSFR-box"/>
          <p:cNvSpPr/>
          <p:nvPr/>
        </p:nvSpPr>
        <p:spPr>
          <a:xfrm>
            <a:off x="548640" y="4663440"/>
            <a:ext cx="5390388" cy="107213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SPAN</a:t>
            </a:r>
          </a:p>
        </p:txBody>
      </p:sp>
      <p:sp>
        <p:nvSpPr>
          <p:cNvPr id="12" name="DSFR-card-contenu"/>
          <p:cNvSpPr txBox="1"/>
          <p:nvPr/>
        </p:nvSpPr>
        <p:spPr>
          <a:xfrm>
            <a:off x="704088" y="5257800"/>
            <a:ext cx="5097779" cy="386333"/>
          </a:xfrm>
          <a:prstGeom prst="rect">
            <a:avLst/>
          </a:prstGeom>
          <a:noFill/>
        </p:spPr>
        <p:txBody>
          <a:bodyPr wrap="square" anchor="t" lIns="73152" rIns="73152">
            <a:spAutoFit/>
          </a:bodyPr>
          <a:lstStyle/>
          <a:p>
            <a:pPr algn="l">
              <a:lnSpc>
                <a:spcPct val="120000"/>
              </a:lnSpc>
            </a:pPr>
            <a:r>
              <a:rPr sz="1400" b="0" i="0" lang="fr-FR">
                <a:solidFill>
                  <a:srgbClr val="161616"/>
                </a:solidFill>
                <a:latin typeface="Arial"/>
              </a:rPr>
              <a:t>Schéma pluriannuel d'accessibilité sur 3 ans</a:t>
            </a:r>
          </a:p>
        </p:txBody>
      </p:sp>
      <p:sp>
        <p:nvSpPr>
          <p:cNvPr id="14" name="DSFR-box"/>
          <p:cNvSpPr/>
          <p:nvPr/>
        </p:nvSpPr>
        <p:spPr>
          <a:xfrm>
            <a:off x="6313931" y="4663440"/>
            <a:ext cx="5390388" cy="155219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Trois niveaux de conformité</a:t>
            </a:r>
          </a:p>
        </p:txBody>
      </p:sp>
      <p:sp>
        <p:nvSpPr>
          <p:cNvPr id="16" name="DSFR-card-contenu"/>
          <p:cNvSpPr txBox="1"/>
          <p:nvPr/>
        </p:nvSpPr>
        <p:spPr>
          <a:xfrm>
            <a:off x="6469379" y="5257800"/>
            <a:ext cx="5097779" cy="866393"/>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Non conforme : moins de 50 % des critères</a:t>
            </a:r>
          </a:p>
          <a:p>
            <a:pPr algn="l">
              <a:lnSpc>
                <a:spcPct val="120000"/>
              </a:lnSpc>
            </a:pPr>
            <a:r>
              <a:rPr sz="1400" lang="fr-FR">
                <a:solidFill>
                  <a:srgbClr val="161616"/>
                </a:solidFill>
                <a:latin typeface="Arial"/>
              </a:rPr>
              <a:t>• </a:t>
            </a:r>
            <a:r>
              <a:rPr sz="1400" b="0" lang="fr-FR">
                <a:solidFill>
                  <a:srgbClr val="161616"/>
                </a:solidFill>
                <a:latin typeface="Arial"/>
              </a:rPr>
              <a:t>Partiellement conforme : de 50 % à 99 %</a:t>
            </a:r>
          </a:p>
          <a:p>
            <a:pPr algn="l">
              <a:lnSpc>
                <a:spcPct val="120000"/>
              </a:lnSpc>
            </a:pPr>
            <a:r>
              <a:rPr sz="1400" lang="fr-FR">
                <a:solidFill>
                  <a:srgbClr val="161616"/>
                </a:solidFill>
                <a:latin typeface="Arial"/>
              </a:rPr>
              <a:t>• </a:t>
            </a:r>
            <a:r>
              <a:rPr sz="1400" b="0" lang="fr-FR">
                <a:solidFill>
                  <a:srgbClr val="161616"/>
                </a:solidFill>
                <a:latin typeface="Arial"/>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663440"/>
            <a:ext cx="73152" cy="107213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663440"/>
            <a:ext cx="73152" cy="155219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RGAA - Référentiel Général d'Amélioration de l'Accessibilité</a:t>
            </a:r>
          </a:p>
        </p:txBody>
      </p:sp>
      <p:sp>
        <p:nvSpPr>
          <p:cNvPr id="3" name="Text Placeholder 2"/>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RGAA détail</a:t>
            </a:r>
          </a:p>
        </p:txBody>
      </p:sp>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39</a:t>
            </a:r>
            <a:endParaRPr lang="fr-FR" dirty="0"/>
          </a:p>
        </p:txBody>
      </p:sp>
      <p:sp>
        <p:nvSpPr>
          <p:cNvPr id="7" name="DSFR-box"/>
          <p:cNvSpPr/>
          <p:nvPr/>
        </p:nvSpPr>
        <p:spPr>
          <a:xfrm>
            <a:off x="548640"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callout-titre"/>
          <p:cNvSpPr txBox="1"/>
          <p:nvPr/>
        </p:nvSpPr>
        <p:spPr>
          <a:xfrm>
            <a:off x="704088"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Structure en 2 parties</a:t>
            </a:r>
          </a:p>
        </p:txBody>
      </p:sp>
      <p:sp>
        <p:nvSpPr>
          <p:cNvPr id="9" name="DSFR-callout-body"/>
          <p:cNvSpPr txBox="1"/>
          <p:nvPr/>
        </p:nvSpPr>
        <p:spPr>
          <a:xfrm>
            <a:off x="704088"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Obligations légales</a:t>
            </a:r>
          </a:p>
          <a:p>
            <a:pPr algn="l">
              <a:lnSpc>
                <a:spcPct val="125000"/>
              </a:lnSpc>
            </a:pPr>
            <a:r>
              <a:rPr sz="1400" lang="fr-FR">
                <a:solidFill>
                  <a:srgbClr val="161616"/>
                </a:solidFill>
                <a:latin typeface="Arial"/>
              </a:rPr>
              <a:t>• </a:t>
            </a:r>
            <a:r>
              <a:rPr sz="1400" b="0" lang="fr-FR">
                <a:solidFill>
                  <a:srgbClr val="161616"/>
                </a:solidFill>
                <a:latin typeface="Arial"/>
              </a:rPr>
              <a:t>Méthode technique</a:t>
            </a:r>
          </a:p>
          <a:p>
            <a:pPr algn="l">
              <a:lnSpc>
                <a:spcPct val="125000"/>
              </a:lnSpc>
            </a:pPr>
            <a:r>
              <a:rPr sz="1400" lang="fr-FR">
                <a:solidFill>
                  <a:srgbClr val="161616"/>
                </a:solidFill>
                <a:latin typeface="Arial"/>
              </a:rPr>
              <a:t>• </a:t>
            </a:r>
            <a:r>
              <a:rPr sz="1400" b="0" lang="fr-FR">
                <a:solidFill>
                  <a:srgbClr val="161616"/>
                </a:solidFill>
                <a:latin typeface="Arial"/>
              </a:rPr>
              <a:t>13 thématiques</a:t>
            </a:r>
          </a:p>
          <a:p>
            <a:pPr algn="l">
              <a:lnSpc>
                <a:spcPct val="125000"/>
              </a:lnSpc>
            </a:pPr>
            <a:r>
              <a:rPr sz="1400" lang="fr-FR">
                <a:solidFill>
                  <a:srgbClr val="161616"/>
                </a:solidFill>
                <a:latin typeface="Arial"/>
              </a:rPr>
              <a:t>• </a:t>
            </a:r>
            <a:r>
              <a:rPr sz="1400" b="0" lang="fr-FR">
                <a:solidFill>
                  <a:srgbClr val="161616"/>
                </a:solidFill>
                <a:latin typeface="Arial"/>
              </a:rPr>
              <a:t>106 critères au total</a:t>
            </a:r>
          </a:p>
          <a:p>
            <a:pPr algn="l">
              <a:lnSpc>
                <a:spcPct val="125000"/>
              </a:lnSpc>
            </a:pPr>
            <a:r>
              <a:rPr sz="1400" lang="fr-FR">
                <a:solidFill>
                  <a:srgbClr val="161616"/>
                </a:solidFill>
                <a:latin typeface="Arial"/>
              </a:rPr>
              <a:t>• </a:t>
            </a:r>
            <a:r>
              <a:rPr sz="1400" b="0" lang="fr-FR">
                <a:solidFill>
                  <a:srgbClr val="161616"/>
                </a:solidFill>
                <a:latin typeface="Arial"/>
              </a:rPr>
              <a:t>258 tests unitaires</a:t>
            </a:r>
          </a:p>
        </p:txBody>
      </p:sp>
      <p:sp>
        <p:nvSpPr>
          <p:cNvPr id="11" name="DSFR-box"/>
          <p:cNvSpPr/>
          <p:nvPr/>
        </p:nvSpPr>
        <p:spPr>
          <a:xfrm>
            <a:off x="4392167" y="2103120"/>
            <a:ext cx="3468623" cy="223570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callout-titre"/>
          <p:cNvSpPr txBox="1"/>
          <p:nvPr/>
        </p:nvSpPr>
        <p:spPr>
          <a:xfrm>
            <a:off x="4547615"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Images</a:t>
            </a:r>
          </a:p>
        </p:txBody>
      </p:sp>
      <p:sp>
        <p:nvSpPr>
          <p:cNvPr id="13" name="DSFR-callout-body"/>
          <p:cNvSpPr txBox="1"/>
          <p:nvPr/>
        </p:nvSpPr>
        <p:spPr>
          <a:xfrm>
            <a:off x="4547615" y="2606039"/>
            <a:ext cx="3221735" cy="164134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Cadres</a:t>
            </a:r>
          </a:p>
          <a:p>
            <a:pPr algn="l">
              <a:lnSpc>
                <a:spcPct val="125000"/>
              </a:lnSpc>
            </a:pPr>
            <a:r>
              <a:rPr sz="1400" lang="fr-FR">
                <a:solidFill>
                  <a:srgbClr val="161616"/>
                </a:solidFill>
                <a:latin typeface="Arial"/>
              </a:rPr>
              <a:t>• </a:t>
            </a:r>
            <a:r>
              <a:rPr sz="1400" b="0" lang="fr-FR">
                <a:solidFill>
                  <a:srgbClr val="161616"/>
                </a:solidFill>
                <a:latin typeface="Arial"/>
              </a:rPr>
              <a:t>Couleurs</a:t>
            </a:r>
          </a:p>
          <a:p>
            <a:pPr algn="l">
              <a:lnSpc>
                <a:spcPct val="125000"/>
              </a:lnSpc>
            </a:pPr>
            <a:r>
              <a:rPr sz="1400" lang="fr-FR">
                <a:solidFill>
                  <a:srgbClr val="161616"/>
                </a:solidFill>
                <a:latin typeface="Arial"/>
              </a:rPr>
              <a:t>• </a:t>
            </a:r>
            <a:r>
              <a:rPr sz="1400" b="0" lang="fr-FR">
                <a:solidFill>
                  <a:srgbClr val="161616"/>
                </a:solidFill>
                <a:latin typeface="Arial"/>
              </a:rPr>
              <a:t>Multimédia</a:t>
            </a:r>
          </a:p>
          <a:p>
            <a:pPr algn="l">
              <a:lnSpc>
                <a:spcPct val="125000"/>
              </a:lnSpc>
            </a:pPr>
            <a:r>
              <a:rPr sz="1400" lang="fr-FR">
                <a:solidFill>
                  <a:srgbClr val="161616"/>
                </a:solidFill>
                <a:latin typeface="Arial"/>
              </a:rPr>
              <a:t>• </a:t>
            </a:r>
            <a:r>
              <a:rPr sz="1400" b="0" lang="fr-FR">
                <a:solidFill>
                  <a:srgbClr val="161616"/>
                </a:solidFill>
                <a:latin typeface="Arial"/>
              </a:rPr>
              <a:t>Tableaux</a:t>
            </a:r>
          </a:p>
          <a:p>
            <a:pPr algn="l">
              <a:lnSpc>
                <a:spcPct val="125000"/>
              </a:lnSpc>
            </a:pPr>
            <a:r>
              <a:rPr sz="1400" lang="fr-FR">
                <a:solidFill>
                  <a:srgbClr val="161616"/>
                </a:solidFill>
                <a:latin typeface="Arial"/>
              </a:rPr>
              <a:t>• </a:t>
            </a:r>
            <a:r>
              <a:rPr sz="1400" b="0" lang="fr-FR">
                <a:solidFill>
                  <a:srgbClr val="161616"/>
                </a:solidFill>
                <a:latin typeface="Arial"/>
              </a:rPr>
              <a:t>Liens</a:t>
            </a:r>
          </a:p>
          <a:p>
            <a:pPr algn="l">
              <a:lnSpc>
                <a:spcPct val="125000"/>
              </a:lnSpc>
            </a:pPr>
            <a:r>
              <a:rPr sz="1400" lang="fr-FR">
                <a:solidFill>
                  <a:srgbClr val="161616"/>
                </a:solidFill>
                <a:latin typeface="Arial"/>
              </a:rPr>
              <a:t>• </a:t>
            </a:r>
            <a:r>
              <a:rPr sz="1400" b="0" lang="fr-FR">
                <a:solidFill>
                  <a:srgbClr val="161616"/>
                </a:solidFill>
                <a:latin typeface="Arial"/>
              </a:rPr>
              <a:t>Scripts</a:t>
            </a:r>
          </a:p>
        </p:txBody>
      </p:sp>
      <p:sp>
        <p:nvSpPr>
          <p:cNvPr id="15" name="DSFR-box"/>
          <p:cNvSpPr/>
          <p:nvPr/>
        </p:nvSpPr>
        <p:spPr>
          <a:xfrm>
            <a:off x="8235695"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8391144"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Éléments obligatoires</a:t>
            </a:r>
          </a:p>
        </p:txBody>
      </p:sp>
      <p:sp>
        <p:nvSpPr>
          <p:cNvPr id="17" name="DSFR-callout-body"/>
          <p:cNvSpPr txBox="1"/>
          <p:nvPr/>
        </p:nvSpPr>
        <p:spPr>
          <a:xfrm>
            <a:off x="8391144"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Structuration</a:t>
            </a:r>
          </a:p>
          <a:p>
            <a:pPr algn="l">
              <a:lnSpc>
                <a:spcPct val="125000"/>
              </a:lnSpc>
            </a:pPr>
            <a:r>
              <a:rPr sz="1400" lang="fr-FR">
                <a:solidFill>
                  <a:srgbClr val="161616"/>
                </a:solidFill>
                <a:latin typeface="Arial"/>
              </a:rPr>
              <a:t>• </a:t>
            </a:r>
            <a:r>
              <a:rPr sz="1400" b="0" lang="fr-FR">
                <a:solidFill>
                  <a:srgbClr val="161616"/>
                </a:solidFill>
                <a:latin typeface="Arial"/>
              </a:rPr>
              <a:t>Navigation</a:t>
            </a:r>
          </a:p>
          <a:p>
            <a:pPr algn="l">
              <a:lnSpc>
                <a:spcPct val="125000"/>
              </a:lnSpc>
            </a:pPr>
            <a:r>
              <a:rPr sz="1400" lang="fr-FR">
                <a:solidFill>
                  <a:srgbClr val="161616"/>
                </a:solidFill>
                <a:latin typeface="Arial"/>
              </a:rPr>
              <a:t>• </a:t>
            </a:r>
            <a:r>
              <a:rPr sz="1400" b="0" lang="fr-FR">
                <a:solidFill>
                  <a:srgbClr val="161616"/>
                </a:solidFill>
                <a:latin typeface="Arial"/>
              </a:rPr>
              <a:t>Présentation</a:t>
            </a:r>
          </a:p>
          <a:p>
            <a:pPr algn="l">
              <a:lnSpc>
                <a:spcPct val="125000"/>
              </a:lnSpc>
            </a:pPr>
            <a:r>
              <a:rPr sz="1400" lang="fr-FR">
                <a:solidFill>
                  <a:srgbClr val="161616"/>
                </a:solidFill>
                <a:latin typeface="Arial"/>
              </a:rPr>
              <a:t>• </a:t>
            </a:r>
            <a:r>
              <a:rPr sz="1400" b="0" lang="fr-FR">
                <a:solidFill>
                  <a:srgbClr val="161616"/>
                </a:solidFill>
                <a:latin typeface="Arial"/>
              </a:rPr>
              <a:t>Formulaires</a:t>
            </a:r>
          </a:p>
          <a:p>
            <a:pPr algn="l">
              <a:lnSpc>
                <a:spcPct val="125000"/>
              </a:lnSpc>
            </a:pPr>
            <a:r>
              <a:rPr sz="1400" lang="fr-FR">
                <a:solidFill>
                  <a:srgbClr val="161616"/>
                </a:solidFill>
                <a:latin typeface="Arial"/>
              </a:rPr>
              <a:t>• </a:t>
            </a:r>
            <a:r>
              <a:rPr sz="1400" b="0" lang="fr-FR">
                <a:solidFill>
                  <a:srgbClr val="161616"/>
                </a:solidFill>
                <a:latin typeface="Arial"/>
              </a:rPr>
              <a:t>Consultation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ccent-decoratif" descr=""/>
          <p:cNvSpPr/>
          <p:nvPr/>
        </p:nvSpPr>
        <p:spPr>
          <a:xfrm>
            <a:off x="4319015" y="2103120"/>
            <a:ext cx="73152" cy="22357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ccent-decoratif" descr=""/>
          <p:cNvSpPr/>
          <p:nvPr/>
        </p:nvSpPr>
        <p:spPr>
          <a:xfrm>
            <a:off x="8162543"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Vous connaissez le cadre. Mais concrètement, quelles obligations s'appliquent à votre poste et à votre structure ?</a:t>
            </a:r>
          </a:p>
        </p:txBody>
      </p:sp>
      <p:sp>
        <p:nvSpPr>
          <p:cNvPr id="12" name="DSFR-box"/>
          <p:cNvSpPr/>
          <p:nvPr/>
        </p:nvSpPr>
        <p:spPr>
          <a:xfrm>
            <a:off x="548640" y="3314700"/>
            <a:ext cx="9326880" cy="129844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simulateur Obligally (10 min)</a:t>
            </a:r>
          </a:p>
        </p:txBody>
      </p:sp>
      <p:sp>
        <p:nvSpPr>
          <p:cNvPr id="14" name="DSFR-alert-info-body"/>
          <p:cNvSpPr txBox="1"/>
          <p:nvPr/>
        </p:nvSpPr>
        <p:spPr>
          <a:xfrm>
            <a:off x="704088" y="3817620"/>
            <a:ext cx="9079992" cy="70408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Cliquez sur Simuler et répondez aux questions</a:t>
            </a:r>
          </a:p>
          <a:p>
            <a:pPr algn="l">
              <a:lnSpc>
                <a:spcPct val="150000"/>
              </a:lnSpc>
            </a:pPr>
            <a:r>
              <a:rPr sz="1400" lang="fr-FR">
                <a:solidFill>
                  <a:srgbClr val="161616"/>
                </a:solidFill>
                <a:latin typeface="Arial"/>
              </a:rPr>
              <a:t>• </a:t>
            </a:r>
            <a:r>
              <a:rPr sz="1400" b="0" lang="fr-FR">
                <a:solidFill>
                  <a:srgbClr val="161616"/>
                </a:solidFill>
                <a:latin typeface="Arial"/>
              </a:rPr>
              <a:t>Notez le résultat : quelles normes s'appliquent à vous ?</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32004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Scannez-moi !</a:t>
            </a:r>
          </a:p>
        </p:txBody>
      </p:sp>
      <p:sp>
        <p:nvSpPr>
          <p:cNvPr id="17" name="TextBox 16"/>
          <p:cNvSpPr txBox="1"/>
          <p:nvPr/>
        </p:nvSpPr>
        <p:spPr>
          <a:xfrm>
            <a:off x="475488" y="4844491"/>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164531"/>
            <a:ext cx="11228832" cy="297180"/>
          </a:xfrm>
          <a:prstGeom prst="rect">
            <a:avLst/>
          </a:prstGeom>
          <a:noFill/>
        </p:spPr>
        <p:txBody>
          <a:bodyPr wrap="none">
            <a:spAutoFit/>
          </a:bodyPr>
          <a:lstStyle/>
          <a:p>
            <a:r>
              <a:rPr sz="1400" b="1" lang="fr-FR">
                <a:solidFill>
                  <a:srgbClr val="161616"/>
                </a:solidFill>
              </a:rPr>
              <a:t>Simuler : </a:t>
            </a:r>
            <a:r>
              <a:rPr sz="1400" u="sng" lang="fr-FR">
                <a:solidFill>
                  <a:srgbClr val="000091"/>
                </a:solidFill>
                <a:hlinkClick r:id="rId4"/>
              </a:rPr>
              <a:t>https://obligations-legales-accessibilite-numerique.fr/fr/simulation/</a:t>
            </a:r>
          </a:p>
        </p:txBody>
      </p:sp>
      <p:sp>
        <p:nvSpPr>
          <p:cNvPr id="19" name="TextBox 18"/>
          <p:cNvSpPr txBox="1"/>
          <p:nvPr/>
        </p:nvSpPr>
        <p:spPr>
          <a:xfrm>
            <a:off x="475488" y="5466283"/>
            <a:ext cx="11228832" cy="297180"/>
          </a:xfrm>
          <a:prstGeom prst="rect">
            <a:avLst/>
          </a:prstGeom>
          <a:noFill/>
        </p:spPr>
        <p:txBody>
          <a:bodyPr wrap="none">
            <a:spAutoFit/>
          </a:bodyPr>
          <a:lstStyle/>
          <a:p>
            <a:r>
              <a:rPr sz="1400" b="1" lang="fr-FR">
                <a:solidFill>
                  <a:srgbClr val="161616"/>
                </a:solidFill>
              </a:rPr>
              <a:t>Comprendre : </a:t>
            </a:r>
            <a:r>
              <a:rPr sz="14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29844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41</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Arial"/>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864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Exercice pratique</a:t>
            </a:r>
          </a:p>
        </p:txBody>
      </p:sp>
      <p:sp>
        <p:nvSpPr>
          <p:cNvPr id="12" name="DSFR-alert-success-body"/>
          <p:cNvSpPr txBox="1"/>
          <p:nvPr/>
        </p:nvSpPr>
        <p:spPr>
          <a:xfrm>
            <a:off x="704088" y="5074920"/>
            <a:ext cx="10908792" cy="99212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Cherchez la déclaration d'accessibilité de votre site</a:t>
            </a:r>
          </a:p>
          <a:p>
            <a:pPr algn="l">
              <a:lnSpc>
                <a:spcPct val="150000"/>
              </a:lnSpc>
            </a:pPr>
            <a:r>
              <a:rPr sz="1400" lang="fr-FR">
                <a:solidFill>
                  <a:srgbClr val="161616"/>
                </a:solidFill>
                <a:latin typeface="Arial"/>
              </a:rPr>
              <a:t>• </a:t>
            </a:r>
            <a:r>
              <a:rPr sz="1400" b="0" lang="fr-FR">
                <a:solidFill>
                  <a:srgbClr val="161616"/>
                </a:solidFill>
                <a:latin typeface="Arial"/>
              </a:rPr>
              <a:t>URL type : /déclaration-accessibilité</a:t>
            </a:r>
          </a:p>
          <a:p>
            <a:pPr algn="l">
              <a:lnSpc>
                <a:spcPct val="150000"/>
              </a:lnSpc>
            </a:pPr>
            <a:r>
              <a:rPr sz="1400" lang="fr-FR">
                <a:solidFill>
                  <a:srgbClr val="161616"/>
                </a:solidFill>
                <a:latin typeface="Arial"/>
              </a:rPr>
              <a:t>• </a:t>
            </a:r>
            <a:r>
              <a:rPr sz="1400" b="0" lang="fr-FR">
                <a:solidFill>
                  <a:srgbClr val="161616"/>
                </a:solidFill>
                <a:latin typeface="Arial"/>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572000"/>
            <a:ext cx="73152" cy="15864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Les obligations légales de mise en 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Récap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42</a:t>
            </a:r>
            <a:endParaRPr lang="fr-FR" dirty="0"/>
          </a:p>
        </p:txBody>
      </p:sp>
      <p:sp>
        <p:nvSpPr>
          <p:cNvPr id="9" name="DSFR-box"/>
          <p:cNvSpPr/>
          <p:nvPr/>
        </p:nvSpPr>
        <p:spPr>
          <a:xfrm>
            <a:off x="548640" y="2103120"/>
            <a:ext cx="11155680"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obligatoires</a:t>
            </a:r>
          </a:p>
        </p:txBody>
      </p:sp>
      <p:sp>
        <p:nvSpPr>
          <p:cNvPr id="11" name="DSFR-callout-body"/>
          <p:cNvSpPr txBox="1"/>
          <p:nvPr/>
        </p:nvSpPr>
        <p:spPr>
          <a:xfrm>
            <a:off x="704088" y="2606039"/>
            <a:ext cx="10908792"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Schéma pluriannuel d'accessibilité numérique (SPAN)</a:t>
            </a:r>
          </a:p>
          <a:p>
            <a:pPr algn="l">
              <a:lnSpc>
                <a:spcPct val="125000"/>
              </a:lnSpc>
            </a:pPr>
            <a:r>
              <a:rPr sz="1400" lang="fr-FR">
                <a:solidFill>
                  <a:srgbClr val="161616"/>
                </a:solidFill>
                <a:latin typeface="Arial"/>
              </a:rPr>
              <a:t>• </a:t>
            </a:r>
            <a:r>
              <a:rPr sz="1400" b="0" lang="fr-FR">
                <a:solidFill>
                  <a:srgbClr val="161616"/>
                </a:solidFill>
                <a:latin typeface="Arial"/>
              </a:rPr>
              <a:t>Plan d'action annuel</a:t>
            </a:r>
          </a:p>
          <a:p>
            <a:pPr algn="l">
              <a:lnSpc>
                <a:spcPct val="125000"/>
              </a:lnSpc>
            </a:pPr>
            <a:r>
              <a:rPr sz="1400" lang="fr-FR">
                <a:solidFill>
                  <a:srgbClr val="161616"/>
                </a:solidFill>
                <a:latin typeface="Arial"/>
              </a:rPr>
              <a:t>• </a:t>
            </a:r>
            <a:r>
              <a:rPr sz="1400" b="0" lang="fr-FR">
                <a:solidFill>
                  <a:srgbClr val="161616"/>
                </a:solidFill>
                <a:latin typeface="Arial"/>
              </a:rPr>
              <a:t>Audit d'accessibilité RGAA en version 4.1.2</a:t>
            </a:r>
          </a:p>
          <a:p>
            <a:pPr algn="l">
              <a:lnSpc>
                <a:spcPct val="125000"/>
              </a:lnSpc>
            </a:pPr>
            <a:r>
              <a:rPr sz="1400" lang="fr-FR">
                <a:solidFill>
                  <a:srgbClr val="161616"/>
                </a:solidFill>
                <a:latin typeface="Arial"/>
              </a:rPr>
              <a:t>• </a:t>
            </a:r>
            <a:r>
              <a:rPr sz="1400" b="0" lang="fr-FR">
                <a:solidFill>
                  <a:srgbClr val="161616"/>
                </a:solidFill>
                <a:latin typeface="Arial"/>
              </a:rPr>
              <a:t>Un moyen de contact</a:t>
            </a:r>
          </a:p>
          <a:p>
            <a:pPr algn="l">
              <a:lnSpc>
                <a:spcPct val="125000"/>
              </a:lnSpc>
            </a:pPr>
            <a:r>
              <a:rPr sz="1400" lang="fr-FR">
                <a:solidFill>
                  <a:srgbClr val="161616"/>
                </a:solidFill>
                <a:latin typeface="Arial"/>
              </a:rPr>
              <a:t>• </a:t>
            </a:r>
            <a:r>
              <a:rPr sz="1400" b="0" lang="fr-FR">
                <a:solidFill>
                  <a:srgbClr val="161616"/>
                </a:solidFill>
                <a:latin typeface="Arial"/>
              </a:rPr>
              <a:t>RAN (Référent Accessibilité Numérique)</a:t>
            </a:r>
          </a:p>
        </p:txBody>
      </p:sp>
      <p:graphicFrame>
        <p:nvGraphicFramePr>
          <p:cNvPr id="12" name="Table 11"/>
          <p:cNvGraphicFramePr>
            <a:graphicFrameLocks noGrp="1"/>
          </p:cNvGraphicFramePr>
          <p:nvPr/>
        </p:nvGraphicFramePr>
        <p:xfrm>
          <a:off x="475488" y="4572000"/>
          <a:ext cx="11228832" cy="1645920"/>
        </p:xfrm>
        <a:graphic>
          <a:graphicData uri="http://schemas.openxmlformats.org/drawingml/2006/table">
            <a:tbl>
              <a:tblPr firstRow="1" bandRow="1">
                <a:tableStyleId>{5C22544A-7EE6-4342-B048-85BDC9FD1C3A}</a:tableStyleId>
              </a:tblPr>
              <a:tblGrid>
                <a:gridCol w="4572000"/>
                <a:gridCol w="6656832"/>
              </a:tblGrid>
              <a:tr h="411480">
                <a:tc>
                  <a:txBody>
                    <a:bodyPr wrap="square" anchor="ctr" lIns="73152" rIns="73152"/>
                    <a:lstStyle/>
                    <a:p>
                      <a:pPr algn="l">
                        <a:lnSpc>
                          <a:spcPct val="125000"/>
                        </a:lnSpc>
                      </a:pPr>
                      <a:r>
                        <a:rPr sz="1400" b="1" i="0" lang="fr-FR">
                          <a:solidFill>
                            <a:srgbClr val="FFFFFF"/>
                          </a:solidFill>
                          <a:latin typeface="Arial"/>
                        </a:rPr>
                        <a:t>Mention</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Signification</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Accessibilité : non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49 % et moins, ou aucun audit en cours de validité</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Accessibilité : partiellement conforme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De 50 % à 99 % des critères respectés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Accessibilité : totalement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100 % des critères applicables validés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44</a:t>
            </a:r>
            <a:endParaRPr lang="fr-FR" dirty="0"/>
          </a:p>
        </p:txBody>
      </p:sp>
      <p:sp>
        <p:nvSpPr>
          <p:cNvPr id="9" name="DSFR-box"/>
          <p:cNvSpPr/>
          <p:nvPr/>
        </p:nvSpPr>
        <p:spPr>
          <a:xfrm>
            <a:off x="548640" y="2011680"/>
            <a:ext cx="9509759"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926287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Un droit, pas une faveur</a:t>
            </a:r>
          </a:p>
        </p:txBody>
      </p:sp>
      <p:sp>
        <p:nvSpPr>
          <p:cNvPr id="11" name="DSFR-callout-body"/>
          <p:cNvSpPr txBox="1"/>
          <p:nvPr/>
        </p:nvSpPr>
        <p:spPr>
          <a:xfrm>
            <a:off x="704088" y="2514600"/>
            <a:ext cx="926287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Droit fondamental d'acces a l'information</a:t>
            </a:r>
          </a:p>
          <a:p>
            <a:pPr algn="l">
              <a:lnSpc>
                <a:spcPct val="120000"/>
              </a:lnSpc>
            </a:pPr>
            <a:r>
              <a:rPr sz="1400" lang="fr-FR">
                <a:solidFill>
                  <a:srgbClr val="161616"/>
                </a:solidFill>
                <a:latin typeface="Arial"/>
              </a:rPr>
              <a:t>• </a:t>
            </a:r>
            <a:r>
              <a:rPr sz="1400" b="0" lang="fr-FR">
                <a:solidFill>
                  <a:srgbClr val="161616"/>
                </a:solidFill>
                <a:latin typeface="Arial"/>
              </a:rPr>
              <a:t>Lutte contre la discrimination numérique</a:t>
            </a:r>
          </a:p>
          <a:p>
            <a:pPr algn="l">
              <a:lnSpc>
                <a:spcPct val="120000"/>
              </a:lnSpc>
            </a:pPr>
            <a:r>
              <a:rPr sz="1400" lang="fr-FR">
                <a:solidFill>
                  <a:srgbClr val="161616"/>
                </a:solidFill>
                <a:latin typeface="Arial"/>
              </a:rPr>
              <a:t>• </a:t>
            </a:r>
            <a:r>
              <a:rPr sz="1400" b="0" lang="fr-FR">
                <a:solidFill>
                  <a:srgbClr val="161616"/>
                </a:solidFill>
                <a:latin typeface="Arial"/>
              </a:rPr>
              <a:t>Inclusion dans la vie professionnelle et citoyenne</a:t>
            </a:r>
          </a:p>
        </p:txBody>
      </p:sp>
      <p:pic>
        <p:nvPicPr>
          <p:cNvPr id="12" name="Picture 11" descr="Couverture de la Charte d'accessibilité de la communication de l'État"/>
          <p:cNvPicPr>
            <a:picLocks noChangeAspect="1"/>
          </p:cNvPicPr>
          <p:nvPr/>
        </p:nvPicPr>
        <p:blipFill>
          <a:blip r:embed="rId2"/>
          <a:stretch>
            <a:fillRect/>
          </a:stretch>
        </p:blipFill>
        <p:spPr>
          <a:xfrm>
            <a:off x="10332719" y="2011680"/>
            <a:ext cx="1371600" cy="2882348"/>
          </a:xfrm>
          <a:prstGeom prst="rect">
            <a:avLst/>
          </a:prstGeom>
        </p:spPr>
      </p:pic>
      <p:graphicFrame>
        <p:nvGraphicFramePr>
          <p:cNvPr id="13" name="Table 12"/>
          <p:cNvGraphicFramePr>
            <a:graphicFrameLocks noGrp="1"/>
          </p:cNvGraphicFramePr>
          <p:nvPr/>
        </p:nvGraphicFramePr>
        <p:xfrm>
          <a:off x="475488" y="3653942"/>
          <a:ext cx="9582912" cy="2057400"/>
        </p:xfrm>
        <a:graphic>
          <a:graphicData uri="http://schemas.openxmlformats.org/drawingml/2006/table">
            <a:tbl>
              <a:tblPr firstRow="1" bandRow="1">
                <a:tableStyleId>{5C22544A-7EE6-4342-B048-85BDC9FD1C3A}</a:tableStyleId>
              </a:tblPr>
              <a:tblGrid>
                <a:gridCol w="4791456"/>
                <a:gridCol w="4791456"/>
              </a:tblGrid>
              <a:tr h="411480">
                <a:tc>
                  <a:txBody>
                    <a:bodyPr wrap="square" anchor="ctr" lIns="73152" rIns="73152"/>
                    <a:lstStyle/>
                    <a:p>
                      <a:pPr algn="l">
                        <a:lnSpc>
                          <a:spcPct val="125000"/>
                        </a:lnSpc>
                      </a:pPr>
                      <a:r>
                        <a:rPr sz="1400" b="1" i="0" lang="fr-FR">
                          <a:solidFill>
                            <a:srgbClr val="FFFFFF"/>
                          </a:solidFill>
                          <a:latin typeface="Arial"/>
                        </a:rPr>
                        <a:t>Communication 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Communication 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Non compréhension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Acces a l'information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Frustration, enervement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Confiance en soi</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Decrochage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Autonomie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Exclusion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Inclusion sociale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01168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accessible,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45</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Contenus que le public peut lire, comprendre et utiliser.</a:t>
            </a:r>
          </a:p>
        </p:txBody>
      </p:sp>
      <p:sp>
        <p:nvSpPr>
          <p:cNvPr id="12" name="DSFR-box"/>
          <p:cNvSpPr/>
          <p:nvPr/>
        </p:nvSpPr>
        <p:spPr>
          <a:xfrm>
            <a:off x="548640" y="2679192"/>
            <a:ext cx="5390388" cy="16824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à garder en tête</a:t>
            </a:r>
          </a:p>
        </p:txBody>
      </p:sp>
      <p:sp>
        <p:nvSpPr>
          <p:cNvPr id="14" name="DSFR-callout-body"/>
          <p:cNvSpPr txBox="1"/>
          <p:nvPr/>
        </p:nvSpPr>
        <p:spPr>
          <a:xfrm>
            <a:off x="704088"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Qui risque d'être empêché par ce support ?</a:t>
            </a:r>
          </a:p>
          <a:p>
            <a:pPr algn="l">
              <a:lnSpc>
                <a:spcPct val="125000"/>
              </a:lnSpc>
            </a:pPr>
            <a:r>
              <a:rPr sz="1400" lang="fr-FR">
                <a:solidFill>
                  <a:srgbClr val="161616"/>
                </a:solidFill>
                <a:latin typeface="Arial"/>
              </a:rPr>
              <a:t>• </a:t>
            </a:r>
            <a:r>
              <a:rPr sz="1400" b="0" lang="fr-FR">
                <a:solidFill>
                  <a:srgbClr val="161616"/>
                </a:solidFill>
                <a:latin typeface="Arial"/>
              </a:rPr>
              <a:t>Quel autre chemin donne accès à la même information ?</a:t>
            </a:r>
          </a:p>
          <a:p>
            <a:pPr algn="l">
              <a:lnSpc>
                <a:spcPct val="125000"/>
              </a:lnSpc>
            </a:pPr>
            <a:r>
              <a:rPr sz="1400" lang="fr-FR">
                <a:solidFill>
                  <a:srgbClr val="161616"/>
                </a:solidFill>
                <a:latin typeface="Arial"/>
              </a:rPr>
              <a:t>• </a:t>
            </a:r>
            <a:r>
              <a:rPr sz="1400" b="0" lang="fr-FR">
                <a:solidFill>
                  <a:srgbClr val="161616"/>
                </a:solidFill>
                <a:latin typeface="Arial"/>
              </a:rPr>
              <a:t>Quelle règle simple peut être appliquée dès maintenant ?</a:t>
            </a:r>
          </a:p>
        </p:txBody>
      </p:sp>
      <p:sp>
        <p:nvSpPr>
          <p:cNvPr id="16" name="DSFR-box"/>
          <p:cNvSpPr/>
          <p:nvPr/>
        </p:nvSpPr>
        <p:spPr>
          <a:xfrm>
            <a:off x="6313931" y="2679192"/>
            <a:ext cx="5390388" cy="16824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supports concernés</a:t>
            </a:r>
          </a:p>
        </p:txBody>
      </p:sp>
      <p:sp>
        <p:nvSpPr>
          <p:cNvPr id="18" name="DSFR-alert-info-body"/>
          <p:cNvSpPr txBox="1"/>
          <p:nvPr/>
        </p:nvSpPr>
        <p:spPr>
          <a:xfrm>
            <a:off x="6469379"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Web : site, application, newsletter, mails</a:t>
            </a:r>
          </a:p>
          <a:p>
            <a:pPr algn="l">
              <a:lnSpc>
                <a:spcPct val="125000"/>
              </a:lnSpc>
            </a:pPr>
            <a:r>
              <a:rPr sz="1400" lang="fr-FR">
                <a:solidFill>
                  <a:srgbClr val="161616"/>
                </a:solidFill>
                <a:latin typeface="Arial"/>
              </a:rPr>
              <a:t>• </a:t>
            </a:r>
            <a:r>
              <a:rPr sz="1400" b="0" lang="fr-FR">
                <a:solidFill>
                  <a:srgbClr val="161616"/>
                </a:solidFill>
                <a:latin typeface="Arial"/>
              </a:rPr>
              <a:t>Médias : vidéo, podcast, visuel animé</a:t>
            </a:r>
          </a:p>
          <a:p>
            <a:pPr algn="l">
              <a:lnSpc>
                <a:spcPct val="125000"/>
              </a:lnSpc>
            </a:pPr>
            <a:r>
              <a:rPr sz="1400" lang="fr-FR">
                <a:solidFill>
                  <a:srgbClr val="161616"/>
                </a:solidFill>
                <a:latin typeface="Arial"/>
              </a:rPr>
              <a:t>• </a:t>
            </a:r>
            <a:r>
              <a:rPr sz="1400" b="0" lang="fr-FR">
                <a:solidFill>
                  <a:srgbClr val="161616"/>
                </a:solidFill>
                <a:latin typeface="Arial"/>
              </a:rPr>
              <a:t>Documents : PDF, bureautique, formulaires</a:t>
            </a:r>
          </a:p>
          <a:p>
            <a:pPr algn="l">
              <a:lnSpc>
                <a:spcPct val="125000"/>
              </a:lnSpc>
            </a:pPr>
            <a:r>
              <a:rPr sz="1400" lang="fr-FR">
                <a:solidFill>
                  <a:srgbClr val="161616"/>
                </a:solidFill>
                <a:latin typeface="Arial"/>
              </a:rPr>
              <a:t>• </a:t>
            </a:r>
            <a:r>
              <a:rPr sz="1400" b="0" lang="fr-FR">
                <a:solidFill>
                  <a:srgbClr val="161616"/>
                </a:solidFill>
                <a:latin typeface="Arial"/>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systèmes d'exploitation et les suites bureautiques intègrent déjà des fonctions d'accessibilité. Pas besoin de tout réinventer.</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Vision</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Loupe et zoom intégrés</a:t>
            </a:r>
          </a:p>
          <a:p>
            <a:pPr algn="l">
              <a:lnSpc>
                <a:spcPct val="120000"/>
              </a:lnSpc>
            </a:pPr>
            <a:r>
              <a:rPr sz="1400" lang="fr-FR">
                <a:solidFill>
                  <a:srgbClr val="161616"/>
                </a:solidFill>
                <a:latin typeface="Arial"/>
              </a:rPr>
              <a:t>• </a:t>
            </a:r>
            <a:r>
              <a:rPr sz="1400" b="0" lang="fr-FR">
                <a:solidFill>
                  <a:srgbClr val="161616"/>
                </a:solidFill>
                <a:latin typeface="Arial"/>
              </a:rPr>
              <a:t>Filtres de couleur et mode sombre</a:t>
            </a:r>
          </a:p>
          <a:p>
            <a:pPr algn="l">
              <a:lnSpc>
                <a:spcPct val="120000"/>
              </a:lnSpc>
            </a:pPr>
            <a:r>
              <a:rPr sz="1400" lang="fr-FR">
                <a:solidFill>
                  <a:srgbClr val="161616"/>
                </a:solidFill>
                <a:latin typeface="Arial"/>
              </a:rPr>
              <a:t>• </a:t>
            </a:r>
            <a:r>
              <a:rPr sz="1400" b="0" lang="fr-FR">
                <a:solidFill>
                  <a:srgbClr val="161616"/>
                </a:solidFill>
                <a:latin typeface="Arial"/>
              </a:rPr>
              <a:t>Narrateur / NVDA (lecteur d'écran)</a:t>
            </a:r>
          </a:p>
          <a:p>
            <a:pPr algn="l">
              <a:lnSpc>
                <a:spcPct val="120000"/>
              </a:lnSpc>
            </a:pPr>
            <a:r>
              <a:rPr sz="1400" lang="fr-FR">
                <a:solidFill>
                  <a:srgbClr val="161616"/>
                </a:solidFill>
                <a:latin typeface="Arial"/>
              </a:rPr>
              <a:t>• </a:t>
            </a:r>
            <a:r>
              <a:rPr sz="1400" b="0" lang="fr-FR">
                <a:solidFill>
                  <a:srgbClr val="161616"/>
                </a:solidFill>
                <a:latin typeface="Arial"/>
              </a:rPr>
              <a:t>Réglage de la taille du texte</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Audition et interaction</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en temps réel</a:t>
            </a:r>
          </a:p>
          <a:p>
            <a:pPr algn="l">
              <a:lnSpc>
                <a:spcPct val="120000"/>
              </a:lnSpc>
            </a:pPr>
            <a:r>
              <a:rPr sz="1400" lang="fr-FR">
                <a:solidFill>
                  <a:srgbClr val="161616"/>
                </a:solidFill>
                <a:latin typeface="Arial"/>
              </a:rPr>
              <a:t>• </a:t>
            </a:r>
            <a:r>
              <a:rPr sz="1400" b="0" lang="fr-FR">
                <a:solidFill>
                  <a:srgbClr val="161616"/>
                </a:solidFill>
                <a:latin typeface="Arial"/>
              </a:rPr>
              <a:t>Commandes vocales</a:t>
            </a:r>
          </a:p>
          <a:p>
            <a:pPr algn="l">
              <a:lnSpc>
                <a:spcPct val="120000"/>
              </a:lnSpc>
            </a:pPr>
            <a:r>
              <a:rPr sz="1400" lang="fr-FR">
                <a:solidFill>
                  <a:srgbClr val="161616"/>
                </a:solidFill>
                <a:latin typeface="Arial"/>
              </a:rPr>
              <a:t>• </a:t>
            </a:r>
            <a:r>
              <a:rPr sz="1400" b="0" lang="fr-FR">
                <a:solidFill>
                  <a:srgbClr val="161616"/>
                </a:solidFill>
                <a:latin typeface="Arial"/>
              </a:rPr>
              <a:t>Navigation au clavier</a:t>
            </a:r>
          </a:p>
          <a:p>
            <a:pPr algn="l">
              <a:lnSpc>
                <a:spcPct val="120000"/>
              </a:lnSpc>
            </a:pPr>
            <a:r>
              <a:rPr sz="1400" lang="fr-FR">
                <a:solidFill>
                  <a:srgbClr val="161616"/>
                </a:solidFill>
                <a:latin typeface="Arial"/>
              </a:rPr>
              <a:t>• </a:t>
            </a:r>
            <a:r>
              <a:rPr sz="1400" b="0" lang="fr-FR">
                <a:solidFill>
                  <a:srgbClr val="161616"/>
                </a:solidFill>
                <a:latin typeface="Arial"/>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056632"/>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48</a:t>
            </a:r>
            <a:endParaRPr lang="fr-FR" dirty="0"/>
          </a:p>
        </p:txBody>
      </p:sp>
      <p:sp>
        <p:nvSpPr>
          <p:cNvPr id="9" name="DSFR-box"/>
          <p:cNvSpPr/>
          <p:nvPr/>
        </p:nvSpPr>
        <p:spPr>
          <a:xfrm>
            <a:off x="548640"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Textes lisibles</a:t>
            </a:r>
          </a:p>
        </p:txBody>
      </p:sp>
      <p:sp>
        <p:nvSpPr>
          <p:cNvPr id="12" name="DSFR-card-contenu"/>
          <p:cNvSpPr txBox="1"/>
          <p:nvPr/>
        </p:nvSpPr>
        <p:spPr>
          <a:xfrm>
            <a:off x="704088"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Police simple, sans empattement</a:t>
            </a:r>
          </a:p>
          <a:p>
            <a:pPr algn="l">
              <a:lnSpc>
                <a:spcPct val="125000"/>
              </a:lnSpc>
            </a:pPr>
            <a:r>
              <a:rPr sz="1400" lang="fr-FR">
                <a:solidFill>
                  <a:srgbClr val="161616"/>
                </a:solidFill>
                <a:latin typeface="Arial"/>
              </a:rPr>
              <a:t>• </a:t>
            </a:r>
            <a:r>
              <a:rPr sz="1400" b="0" lang="fr-FR">
                <a:solidFill>
                  <a:srgbClr val="161616"/>
                </a:solidFill>
                <a:latin typeface="Arial"/>
              </a:rPr>
              <a:t>Alignement à gauche</a:t>
            </a:r>
          </a:p>
          <a:p>
            <a:pPr algn="l">
              <a:lnSpc>
                <a:spcPct val="125000"/>
              </a:lnSpc>
            </a:pPr>
            <a:r>
              <a:rPr sz="1400" lang="fr-FR">
                <a:solidFill>
                  <a:srgbClr val="161616"/>
                </a:solidFill>
                <a:latin typeface="Arial"/>
              </a:rPr>
              <a:t>• </a:t>
            </a:r>
            <a:r>
              <a:rPr sz="1400" b="0" lang="fr-FR">
                <a:solidFill>
                  <a:srgbClr val="161616"/>
                </a:solidFill>
                <a:latin typeface="Arial"/>
              </a:rPr>
              <a:t>Paragraphes courts et aérés</a:t>
            </a:r>
          </a:p>
          <a:p>
            <a:pPr algn="l">
              <a:lnSpc>
                <a:spcPct val="125000"/>
              </a:lnSpc>
            </a:pPr>
            <a:r>
              <a:rPr sz="1400" lang="fr-FR">
                <a:solidFill>
                  <a:srgbClr val="161616"/>
                </a:solidFill>
                <a:latin typeface="Arial"/>
              </a:rPr>
              <a:t>• </a:t>
            </a:r>
            <a:r>
              <a:rPr sz="1400" b="0" lang="fr-FR">
                <a:solidFill>
                  <a:srgbClr val="161616"/>
                </a:solidFill>
                <a:latin typeface="Arial"/>
              </a:rPr>
              <a:t>Taille adaptée au support final</a:t>
            </a:r>
          </a:p>
        </p:txBody>
      </p:sp>
      <p:sp>
        <p:nvSpPr>
          <p:cNvPr id="14" name="DSFR-box"/>
          <p:cNvSpPr/>
          <p:nvPr/>
        </p:nvSpPr>
        <p:spPr>
          <a:xfrm>
            <a:off x="4392167"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Contrastes testés</a:t>
            </a:r>
          </a:p>
        </p:txBody>
      </p:sp>
      <p:sp>
        <p:nvSpPr>
          <p:cNvPr id="17" name="DSFR-card-contenu"/>
          <p:cNvSpPr txBox="1"/>
          <p:nvPr/>
        </p:nvSpPr>
        <p:spPr>
          <a:xfrm>
            <a:off x="4547615"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Ratio 4,5:1 minimum</a:t>
            </a:r>
          </a:p>
          <a:p>
            <a:pPr algn="l">
              <a:lnSpc>
                <a:spcPct val="125000"/>
              </a:lnSpc>
            </a:pPr>
            <a:r>
              <a:rPr sz="1400" lang="fr-FR">
                <a:solidFill>
                  <a:srgbClr val="161616"/>
                </a:solidFill>
                <a:latin typeface="Arial"/>
              </a:rPr>
              <a:t>• </a:t>
            </a:r>
            <a:r>
              <a:rPr sz="1400" b="0" lang="fr-FR">
                <a:solidFill>
                  <a:srgbClr val="161616"/>
                </a:solidFill>
                <a:latin typeface="Arial"/>
              </a:rPr>
              <a:t>Idéal : viser 7:1</a:t>
            </a:r>
          </a:p>
          <a:p>
            <a:pPr algn="l">
              <a:lnSpc>
                <a:spcPct val="125000"/>
              </a:lnSpc>
            </a:pPr>
            <a:r>
              <a:rPr sz="1400" lang="fr-FR">
                <a:solidFill>
                  <a:srgbClr val="161616"/>
                </a:solidFill>
                <a:latin typeface="Arial"/>
              </a:rPr>
              <a:t>• </a:t>
            </a:r>
            <a:r>
              <a:rPr sz="1400" b="0" lang="fr-FR">
                <a:solidFill>
                  <a:srgbClr val="161616"/>
                </a:solidFill>
                <a:latin typeface="Arial"/>
              </a:rPr>
              <a:t>Éviter les dégradés sous le texte</a:t>
            </a:r>
          </a:p>
          <a:p>
            <a:pPr algn="l">
              <a:lnSpc>
                <a:spcPct val="125000"/>
              </a:lnSpc>
            </a:pPr>
            <a:r>
              <a:rPr sz="1400" lang="fr-FR">
                <a:solidFill>
                  <a:srgbClr val="161616"/>
                </a:solidFill>
                <a:latin typeface="Arial"/>
              </a:rPr>
              <a:t>• </a:t>
            </a:r>
            <a:r>
              <a:rPr sz="1400" b="0" lang="fr-FR">
                <a:solidFill>
                  <a:srgbClr val="161616"/>
                </a:solidFill>
                <a:latin typeface="Arial"/>
              </a:rPr>
              <a:t>Tester avec un outil, pas à l'œil</a:t>
            </a:r>
          </a:p>
        </p:txBody>
      </p:sp>
      <p:sp>
        <p:nvSpPr>
          <p:cNvPr id="19" name="DSFR-box"/>
          <p:cNvSpPr/>
          <p:nvPr/>
        </p:nvSpPr>
        <p:spPr>
          <a:xfrm>
            <a:off x="8235695"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QR codes utiles</a:t>
            </a:r>
          </a:p>
        </p:txBody>
      </p:sp>
      <p:sp>
        <p:nvSpPr>
          <p:cNvPr id="22" name="DSFR-card-contenu"/>
          <p:cNvSpPr txBox="1"/>
          <p:nvPr/>
        </p:nvSpPr>
        <p:spPr>
          <a:xfrm>
            <a:off x="8391144"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le seul accès</a:t>
            </a:r>
          </a:p>
          <a:p>
            <a:pPr algn="l">
              <a:lnSpc>
                <a:spcPct val="125000"/>
              </a:lnSpc>
            </a:pPr>
            <a:r>
              <a:rPr sz="1400" lang="fr-FR">
                <a:solidFill>
                  <a:srgbClr val="161616"/>
                </a:solidFill>
                <a:latin typeface="Arial"/>
              </a:rPr>
              <a:t>• </a:t>
            </a:r>
            <a:r>
              <a:rPr sz="1400" b="0" lang="fr-FR">
                <a:solidFill>
                  <a:srgbClr val="161616"/>
                </a:solidFill>
                <a:latin typeface="Arial"/>
              </a:rPr>
              <a:t>Lien visible à côté</a:t>
            </a:r>
          </a:p>
          <a:p>
            <a:pPr algn="l">
              <a:lnSpc>
                <a:spcPct val="125000"/>
              </a:lnSpc>
            </a:pPr>
            <a:r>
              <a:rPr sz="1400" lang="fr-FR">
                <a:solidFill>
                  <a:srgbClr val="161616"/>
                </a:solidFill>
                <a:latin typeface="Arial"/>
              </a:rPr>
              <a:t>• </a:t>
            </a:r>
            <a:r>
              <a:rPr sz="1400" b="0" lang="fr-FR">
                <a:solidFill>
                  <a:srgbClr val="161616"/>
                </a:solidFill>
                <a:latin typeface="Arial"/>
              </a:rPr>
              <a:t>Mention « Scannez-moi ! »</a:t>
            </a:r>
          </a:p>
          <a:p>
            <a:pPr algn="l">
              <a:lnSpc>
                <a:spcPct val="125000"/>
              </a:lnSpc>
            </a:pPr>
            <a:r>
              <a:rPr sz="1400" lang="fr-FR">
                <a:solidFill>
                  <a:srgbClr val="161616"/>
                </a:solidFill>
                <a:latin typeface="Arial"/>
              </a:rPr>
              <a:t>• </a:t>
            </a:r>
            <a:r>
              <a:rPr sz="1400" b="0" lang="fr-FR">
                <a:solidFill>
                  <a:srgbClr val="161616"/>
                </a:solidFill>
                <a:latin typeface="Arial"/>
              </a:rPr>
              <a:t>Taille et contraste suffisants</a:t>
            </a:r>
          </a:p>
        </p:txBody>
      </p:sp>
      <p:sp>
        <p:nvSpPr>
          <p:cNvPr id="24" name="DSFR-box"/>
          <p:cNvSpPr/>
          <p:nvPr/>
        </p:nvSpPr>
        <p:spPr>
          <a:xfrm>
            <a:off x="548640" y="4791455"/>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4882895"/>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791455"/>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Simplifier ne veut pas dire appauvrir : c'est rendre le message accessible au plus grand nombre.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FALC - Facile à lire et à comprendre</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Règles européennes d'accessibilité cognitive</a:t>
            </a:r>
          </a:p>
          <a:p>
            <a:pPr algn="l">
              <a:lnSpc>
                <a:spcPct val="120000"/>
              </a:lnSpc>
            </a:pPr>
            <a:r>
              <a:rPr sz="1400" lang="fr-FR">
                <a:solidFill>
                  <a:srgbClr val="161616"/>
                </a:solidFill>
                <a:latin typeface="Arial"/>
              </a:rPr>
              <a:t>• </a:t>
            </a:r>
            <a:r>
              <a:rPr sz="1400" b="0" lang="fr-FR">
                <a:solidFill>
                  <a:srgbClr val="161616"/>
                </a:solidFill>
                <a:latin typeface="Arial"/>
              </a:rPr>
              <a:t>Phrases courtes, mots simples, une idée par phrase</a:t>
            </a:r>
          </a:p>
          <a:p>
            <a:pPr algn="l">
              <a:lnSpc>
                <a:spcPct val="120000"/>
              </a:lnSpc>
            </a:pPr>
            <a:r>
              <a:rPr sz="1400" lang="fr-FR">
                <a:solidFill>
                  <a:srgbClr val="161616"/>
                </a:solidFill>
                <a:latin typeface="Arial"/>
              </a:rPr>
              <a:t>• </a:t>
            </a:r>
            <a:r>
              <a:rPr sz="1400" b="0" lang="fr-FR">
                <a:solidFill>
                  <a:srgbClr val="161616"/>
                </a:solidFill>
                <a:latin typeface="Arial"/>
              </a:rPr>
              <a:t>Images explicatives, mise en page aérée</a:t>
            </a:r>
          </a:p>
          <a:p>
            <a:pPr algn="l">
              <a:lnSpc>
                <a:spcPct val="120000"/>
              </a:lnSpc>
            </a:pPr>
            <a:r>
              <a:rPr sz="1400" lang="fr-FR">
                <a:solidFill>
                  <a:srgbClr val="161616"/>
                </a:solidFill>
                <a:latin typeface="Arial"/>
              </a:rPr>
              <a:t>• </a:t>
            </a:r>
            <a:r>
              <a:rPr sz="1400" b="0" lang="fr-FR">
                <a:solidFill>
                  <a:srgbClr val="161616"/>
                </a:solidFill>
                <a:latin typeface="Arial"/>
              </a:rPr>
              <a:t>Validation par des personnes concernées</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Langage clair</a:t>
            </a:r>
          </a:p>
        </p:txBody>
      </p:sp>
      <p:sp>
        <p:nvSpPr>
          <p:cNvPr id="18" name="DSFR-alert-info-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Structurer : titres, listes, paragraphes courts</a:t>
            </a:r>
          </a:p>
          <a:p>
            <a:pPr algn="l">
              <a:lnSpc>
                <a:spcPct val="120000"/>
              </a:lnSpc>
            </a:pPr>
            <a:r>
              <a:rPr sz="1400" lang="fr-FR">
                <a:solidFill>
                  <a:srgbClr val="161616"/>
                </a:solidFill>
                <a:latin typeface="Arial"/>
              </a:rPr>
              <a:t>• </a:t>
            </a:r>
            <a:r>
              <a:rPr sz="1400" b="0" lang="fr-FR">
                <a:solidFill>
                  <a:srgbClr val="161616"/>
                </a:solidFill>
                <a:latin typeface="Arial"/>
              </a:rPr>
              <a:t>Expliquer : sigles, jargon, termes techniques</a:t>
            </a:r>
          </a:p>
          <a:p>
            <a:pPr algn="l">
              <a:lnSpc>
                <a:spcPct val="120000"/>
              </a:lnSpc>
            </a:pPr>
            <a:r>
              <a:rPr sz="1400" lang="fr-FR">
                <a:solidFill>
                  <a:srgbClr val="161616"/>
                </a:solidFill>
                <a:latin typeface="Arial"/>
              </a:rPr>
              <a:t>• </a:t>
            </a:r>
            <a:r>
              <a:rPr sz="1400" b="0" lang="fr-FR">
                <a:solidFill>
                  <a:srgbClr val="161616"/>
                </a:solidFill>
                <a:latin typeface="Arial"/>
              </a:rPr>
              <a:t>Guider : verbes d'action, consignes explicites</a:t>
            </a:r>
          </a:p>
          <a:p>
            <a:pPr algn="l">
              <a:lnSpc>
                <a:spcPct val="120000"/>
              </a:lnSpc>
            </a:pPr>
            <a:r>
              <a:rPr sz="1400" lang="fr-FR">
                <a:solidFill>
                  <a:srgbClr val="161616"/>
                </a:solidFill>
                <a:latin typeface="Arial"/>
              </a:rPr>
              <a:t>• </a:t>
            </a:r>
            <a:r>
              <a:rPr sz="1400" b="0" lang="fr-FR">
                <a:solidFill>
                  <a:srgbClr val="161616"/>
                </a:solidFill>
                <a:latin typeface="Arial"/>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815583" y="4730191"/>
            <a:ext cx="548640" cy="498037"/>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Des règles et bonnes pratiques simples permettent de garantir l'accessibilité à toutes et tous.</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étapes pour avancer</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Être sensibilisé - c'est ce qu'on fait aujourd'hui</a:t>
            </a:r>
          </a:p>
          <a:p>
            <a:pPr algn="l">
              <a:lnSpc>
                <a:spcPct val="120000"/>
              </a:lnSpc>
            </a:pPr>
            <a:r>
              <a:rPr sz="1400" lang="fr-FR">
                <a:solidFill>
                  <a:srgbClr val="161616"/>
                </a:solidFill>
                <a:latin typeface="Arial"/>
              </a:rPr>
              <a:t>• </a:t>
            </a:r>
            <a:r>
              <a:rPr sz="1400" b="0" lang="fr-FR">
                <a:solidFill>
                  <a:srgbClr val="161616"/>
                </a:solidFill>
                <a:latin typeface="Arial"/>
              </a:rPr>
              <a:t>Être à l'écoute des besoins spécifiques</a:t>
            </a:r>
          </a:p>
          <a:p>
            <a:pPr algn="l">
              <a:lnSpc>
                <a:spcPct val="120000"/>
              </a:lnSpc>
            </a:pPr>
            <a:r>
              <a:rPr sz="1400" lang="fr-FR">
                <a:solidFill>
                  <a:srgbClr val="161616"/>
                </a:solidFill>
                <a:latin typeface="Arial"/>
              </a:rPr>
              <a:t>• </a:t>
            </a:r>
            <a:r>
              <a:rPr sz="1400" b="0" lang="fr-FR">
                <a:solidFill>
                  <a:srgbClr val="161616"/>
                </a:solidFill>
                <a:latin typeface="Arial"/>
              </a:rPr>
              <a:t>Connaître les matériels et logiciels adaptés</a:t>
            </a:r>
          </a:p>
          <a:p>
            <a:pPr algn="l">
              <a:lnSpc>
                <a:spcPct val="120000"/>
              </a:lnSpc>
            </a:pPr>
            <a:r>
              <a:rPr sz="1400" lang="fr-FR">
                <a:solidFill>
                  <a:srgbClr val="161616"/>
                </a:solidFill>
                <a:latin typeface="Arial"/>
              </a:rPr>
              <a:t>• </a:t>
            </a:r>
            <a:r>
              <a:rPr sz="1400" b="0" lang="fr-FR">
                <a:solidFill>
                  <a:srgbClr val="161616"/>
                </a:solidFill>
                <a:latin typeface="Arial"/>
              </a:rPr>
              <a:t>Se former pour découvrir un nouvel univers</a:t>
            </a:r>
          </a:p>
        </p:txBody>
      </p:sp>
      <p:sp>
        <p:nvSpPr>
          <p:cNvPr id="16" name="DSFR-box"/>
          <p:cNvSpPr/>
          <p:nvPr/>
        </p:nvSpPr>
        <p:spPr>
          <a:xfrm>
            <a:off x="6313931" y="299466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Offre de formation</a:t>
            </a:r>
          </a:p>
        </p:txBody>
      </p:sp>
      <p:sp>
        <p:nvSpPr>
          <p:cNvPr id="18" name="DSFR-alert-success-body"/>
          <p:cNvSpPr txBox="1"/>
          <p:nvPr/>
        </p:nvSpPr>
        <p:spPr>
          <a:xfrm>
            <a:off x="6469379" y="3497579"/>
            <a:ext cx="5143500" cy="128016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Mentor (en ligne) : l'accessibilité numérique selon votre métier</a:t>
            </a:r>
          </a:p>
          <a:p>
            <a:pPr algn="l">
              <a:lnSpc>
                <a:spcPct val="120000"/>
              </a:lnSpc>
            </a:pPr>
            <a:r>
              <a:rPr sz="1400" lang="fr-FR">
                <a:solidFill>
                  <a:srgbClr val="161616"/>
                </a:solidFill>
                <a:latin typeface="Arial"/>
              </a:rPr>
              <a:t>• </a:t>
            </a:r>
            <a:r>
              <a:rPr sz="1400" b="0" lang="fr-FR">
                <a:solidFill>
                  <a:srgbClr val="161616"/>
                </a:solidFill>
                <a:latin typeface="Arial"/>
              </a:rPr>
              <a:t>IGPDE : l'accessibilité numérique pour la bureautique et le web (réf. 102846)</a:t>
            </a:r>
          </a:p>
          <a:p>
            <a:pPr algn="l">
              <a:lnSpc>
                <a:spcPct val="120000"/>
              </a:lnSpc>
            </a:pPr>
            <a:r>
              <a:rPr sz="1400" lang="fr-FR">
                <a:solidFill>
                  <a:srgbClr val="161616"/>
                </a:solidFill>
                <a:latin typeface="Arial"/>
              </a:rPr>
              <a:t>• </a:t>
            </a:r>
            <a:r>
              <a:rPr sz="1400" b="0" lang="fr-FR">
                <a:solidFill>
                  <a:srgbClr val="161616"/>
                </a:solidFill>
                <a:latin typeface="Arial"/>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 la méthode en 5 étapes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méthode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est très difficile de faire simple ! Le FALC suit un processus rigoureux.</a:t>
            </a:r>
          </a:p>
        </p:txBody>
      </p:sp>
      <p:sp>
        <p:nvSpPr>
          <p:cNvPr id="12" name="DSFR-box"/>
          <p:cNvSpPr/>
          <p:nvPr/>
        </p:nvSpPr>
        <p:spPr>
          <a:xfrm>
            <a:off x="548640" y="2948940"/>
            <a:ext cx="5390388" cy="293065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5 étapes</a:t>
            </a:r>
          </a:p>
        </p:txBody>
      </p:sp>
      <p:sp>
        <p:nvSpPr>
          <p:cNvPr id="14" name="DSFR-callout-body"/>
          <p:cNvSpPr txBox="1"/>
          <p:nvPr/>
        </p:nvSpPr>
        <p:spPr>
          <a:xfrm>
            <a:off x="704088" y="3451860"/>
            <a:ext cx="5143500" cy="2336292"/>
          </a:xfrm>
          <a:prstGeom prst="rect">
            <a:avLst/>
          </a:prstGeom>
          <a:noFill/>
        </p:spPr>
        <p:txBody>
          <a:bodyPr wrap="square" lIns="73152" rIns="73152">
            <a:spAutoFit/>
          </a:bodyPr>
          <a:lstStyle/>
          <a:p>
            <a:pPr algn="l">
              <a:lnSpc>
                <a:spcPct val="115000"/>
              </a:lnSpc>
            </a:pPr>
            <a:r>
              <a:rPr sz="1400" b="0" lang="fr-FR">
                <a:solidFill>
                  <a:srgbClr val="161616"/>
                </a:solidFill>
                <a:latin typeface="Arial"/>
              </a:rPr>
              <a:t>1. </a:t>
            </a:r>
            <a:r>
              <a:rPr sz="1400" b="1" lang="fr-FR">
                <a:solidFill>
                  <a:srgbClr val="161616"/>
                </a:solidFill>
                <a:latin typeface="Arial"/>
              </a:rPr>
              <a:t>Préparatoire</a:t>
            </a:r>
            <a:r>
              <a:rPr sz="1400" b="0" lang="fr-FR">
                <a:solidFill>
                  <a:srgbClr val="161616"/>
                </a:solidFill>
                <a:latin typeface="Arial"/>
              </a:rPr>
              <a:t> : recherches, résumé simplifié, contrôle des contre-sens</a:t>
            </a:r>
          </a:p>
          <a:p>
            <a:pPr algn="l">
              <a:lnSpc>
                <a:spcPct val="115000"/>
              </a:lnSpc>
            </a:pPr>
            <a:r>
              <a:rPr sz="1400" b="0" lang="fr-FR">
                <a:solidFill>
                  <a:srgbClr val="161616"/>
                </a:solidFill>
                <a:latin typeface="Arial"/>
              </a:rPr>
              <a:t>2. </a:t>
            </a:r>
            <a:r>
              <a:rPr sz="1400" b="1" lang="fr-FR">
                <a:solidFill>
                  <a:srgbClr val="161616"/>
                </a:solidFill>
                <a:latin typeface="Arial"/>
              </a:rPr>
              <a:t>Transcription en duo</a:t>
            </a:r>
            <a:r>
              <a:rPr sz="1400" b="0" lang="fr-FR">
                <a:solidFill>
                  <a:srgbClr val="161616"/>
                </a:solidFill>
                <a:latin typeface="Arial"/>
              </a:rPr>
              <a:t> : simplification, illustrations, mise en page</a:t>
            </a:r>
          </a:p>
          <a:p>
            <a:pPr algn="l">
              <a:lnSpc>
                <a:spcPct val="115000"/>
              </a:lnSpc>
            </a:pPr>
            <a:r>
              <a:rPr sz="1400" b="0" lang="fr-FR">
                <a:solidFill>
                  <a:srgbClr val="161616"/>
                </a:solidFill>
                <a:latin typeface="Arial"/>
              </a:rPr>
              <a:t>3. </a:t>
            </a:r>
            <a:r>
              <a:rPr sz="1400" b="1" lang="fr-FR">
                <a:solidFill>
                  <a:srgbClr val="161616"/>
                </a:solidFill>
                <a:latin typeface="Arial"/>
              </a:rPr>
              <a:t>Validation</a:t>
            </a:r>
            <a:r>
              <a:rPr sz="1400" b="0" lang="fr-FR">
                <a:solidFill>
                  <a:srgbClr val="161616"/>
                </a:solidFill>
                <a:latin typeface="Arial"/>
              </a:rPr>
              <a:t> : relecture par des personnes handicapees intellectuelles</a:t>
            </a:r>
          </a:p>
          <a:p>
            <a:pPr algn="l">
              <a:lnSpc>
                <a:spcPct val="115000"/>
              </a:lnSpc>
            </a:pPr>
            <a:r>
              <a:rPr sz="1400" b="0" lang="fr-FR">
                <a:solidFill>
                  <a:srgbClr val="161616"/>
                </a:solidFill>
                <a:latin typeface="Arial"/>
              </a:rPr>
              <a:t>4. </a:t>
            </a:r>
            <a:r>
              <a:rPr sz="1400" b="1" lang="fr-FR">
                <a:solidFill>
                  <a:srgbClr val="161616"/>
                </a:solidFill>
                <a:latin typeface="Arial"/>
              </a:rPr>
              <a:t>Publication</a:t>
            </a:r>
            <a:r>
              <a:rPr sz="1400" b="0" lang="fr-FR">
                <a:solidFill>
                  <a:srgbClr val="161616"/>
                </a:solidFill>
                <a:latin typeface="Arial"/>
              </a:rPr>
              <a:t> : logo FALC, credit des personnes impliquees</a:t>
            </a:r>
          </a:p>
          <a:p>
            <a:pPr algn="l">
              <a:lnSpc>
                <a:spcPct val="115000"/>
              </a:lnSpc>
            </a:pPr>
            <a:r>
              <a:rPr sz="1400" b="0" lang="fr-FR">
                <a:solidFill>
                  <a:srgbClr val="161616"/>
                </a:solidFill>
                <a:latin typeface="Arial"/>
              </a:rPr>
              <a:t>5. </a:t>
            </a:r>
            <a:r>
              <a:rPr sz="1400" b="1" lang="fr-FR">
                <a:solidFill>
                  <a:srgbClr val="161616"/>
                </a:solidFill>
                <a:latin typeface="Arial"/>
              </a:rPr>
              <a:t>Itération</a:t>
            </a:r>
            <a:r>
              <a:rPr sz="1400" b="0" lang="fr-FR">
                <a:solidFill>
                  <a:srgbClr val="161616"/>
                </a:solidFill>
                <a:latin typeface="Arial"/>
              </a:rPr>
              <a:t> : savoir dire stop - un texte ne sera jamais compris a 100 %</a:t>
            </a:r>
          </a:p>
        </p:txBody>
      </p:sp>
      <p:sp>
        <p:nvSpPr>
          <p:cNvPr id="16" name="DSFR-box"/>
          <p:cNvSpPr/>
          <p:nvPr/>
        </p:nvSpPr>
        <p:spPr>
          <a:xfrm>
            <a:off x="6313931" y="2948940"/>
            <a:ext cx="5390388" cy="138485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Conditions obligatoires</a:t>
            </a:r>
          </a:p>
        </p:txBody>
      </p:sp>
      <p:sp>
        <p:nvSpPr>
          <p:cNvPr id="18" name="DSFR-alert-warning-body"/>
          <p:cNvSpPr txBox="1"/>
          <p:nvPr/>
        </p:nvSpPr>
        <p:spPr>
          <a:xfrm>
            <a:off x="6469379" y="345186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Validation par des personnes concernées (obligatoire)</a:t>
            </a:r>
          </a:p>
          <a:p>
            <a:pPr algn="l">
              <a:lnSpc>
                <a:spcPct val="115000"/>
              </a:lnSpc>
            </a:pPr>
            <a:r>
              <a:rPr sz="1400" lang="fr-FR">
                <a:solidFill>
                  <a:srgbClr val="161616"/>
                </a:solidFill>
                <a:latin typeface="Arial"/>
              </a:rPr>
              <a:t>• </a:t>
            </a:r>
            <a:r>
              <a:rPr sz="1400" b="0" lang="fr-FR">
                <a:solidFill>
                  <a:srgbClr val="161616"/>
                </a:solidFill>
                <a:latin typeface="Arial"/>
              </a:rPr>
              <a:t>80 % des critères FALC respectes (Unapei)</a:t>
            </a:r>
          </a:p>
          <a:p>
            <a:pPr algn="l">
              <a:lnSpc>
                <a:spcPct val="115000"/>
              </a:lnSpc>
            </a:pPr>
            <a:r>
              <a:rPr sz="1400" lang="fr-FR">
                <a:solidFill>
                  <a:srgbClr val="161616"/>
                </a:solidFill>
                <a:latin typeface="Arial"/>
              </a:rPr>
              <a:t>• </a:t>
            </a:r>
            <a:r>
              <a:rPr sz="1400" b="0" lang="fr-FR">
                <a:solidFill>
                  <a:srgbClr val="161616"/>
                </a:solidFill>
                <a:latin typeface="Arial"/>
              </a:rPr>
              <a:t>Logo europeen FALC + credit des valideurs</a:t>
            </a:r>
          </a:p>
        </p:txBody>
      </p:sp>
      <p:pic>
        <p:nvPicPr>
          <p:cNvPr id="19" name="Picture 18" descr="Couverture du guide Unapei - L'information pour tous"/>
          <p:cNvPicPr>
            <a:picLocks noChangeAspect="1"/>
          </p:cNvPicPr>
          <p:nvPr/>
        </p:nvPicPr>
        <p:blipFill>
          <a:blip r:embed="rId2"/>
          <a:stretch>
            <a:fillRect/>
          </a:stretch>
        </p:blipFill>
        <p:spPr>
          <a:xfrm>
            <a:off x="8721090" y="5074920"/>
            <a:ext cx="502920" cy="104886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293065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4894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Exemple : le rapport DIA en version accessible et FALC</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exemple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52</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rapport d'activité 2024 de la Délégation interministérielle à l'accessibilité existe en PDF accessible et en version FALC.</a:t>
            </a:r>
          </a:p>
        </p:txBody>
      </p:sp>
      <p:pic>
        <p:nvPicPr>
          <p:cNvPr id="11" name="Picture 10" descr="Logo europeen FALC - personnage lisant un document avec pouce leve"/>
          <p:cNvPicPr>
            <a:picLocks noChangeAspect="1"/>
          </p:cNvPicPr>
          <p:nvPr/>
        </p:nvPicPr>
        <p:blipFill>
          <a:blip r:embed="rId2"/>
          <a:stretch>
            <a:fillRect/>
          </a:stretch>
        </p:blipFill>
        <p:spPr>
          <a:xfrm>
            <a:off x="2658618" y="2766060"/>
            <a:ext cx="1097280" cy="1097280"/>
          </a:xfrm>
          <a:prstGeom prst="rect">
            <a:avLst/>
          </a:prstGeom>
        </p:spPr>
      </p:pic>
      <p:pic>
        <p:nvPicPr>
          <p:cNvPr id="12" name="Picture 11" descr="Couverture du rapport d'activité 2024 de la DIA en version FALC"/>
          <p:cNvPicPr>
            <a:picLocks noChangeAspect="1"/>
          </p:cNvPicPr>
          <p:nvPr/>
        </p:nvPicPr>
        <p:blipFill>
          <a:blip r:embed="rId3"/>
          <a:stretch>
            <a:fillRect/>
          </a:stretch>
        </p:blipFill>
        <p:spPr>
          <a:xfrm>
            <a:off x="8423909" y="2766060"/>
            <a:ext cx="1097280" cy="1097280"/>
          </a:xfrm>
          <a:prstGeom prst="rect">
            <a:avLst/>
          </a:prstGeom>
        </p:spPr>
      </p:pic>
      <p:sp>
        <p:nvSpPr>
          <p:cNvPr id="14" name="DSFR-box"/>
          <p:cNvSpPr/>
          <p:nvPr/>
        </p:nvSpPr>
        <p:spPr>
          <a:xfrm>
            <a:off x="548640"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704088"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PDF accessible</a:t>
            </a:r>
          </a:p>
        </p:txBody>
      </p:sp>
      <p:sp>
        <p:nvSpPr>
          <p:cNvPr id="16" name="DSFR-callout-body"/>
          <p:cNvSpPr txBox="1"/>
          <p:nvPr/>
        </p:nvSpPr>
        <p:spPr>
          <a:xfrm>
            <a:off x="704088"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Structure balisée (titres, listes, tableaux)</a:t>
            </a:r>
          </a:p>
          <a:p>
            <a:pPr algn="l">
              <a:lnSpc>
                <a:spcPct val="115000"/>
              </a:lnSpc>
            </a:pPr>
            <a:r>
              <a:rPr sz="1400" lang="fr-FR">
                <a:solidFill>
                  <a:srgbClr val="161616"/>
                </a:solidFill>
                <a:latin typeface="Arial"/>
              </a:rPr>
              <a:t>• </a:t>
            </a:r>
            <a:r>
              <a:rPr sz="1400" b="0" lang="fr-FR">
                <a:solidFill>
                  <a:srgbClr val="161616"/>
                </a:solidFill>
                <a:latin typeface="Arial"/>
              </a:rPr>
              <a:t>Alt text sur les images, ordre de lecture logique</a:t>
            </a:r>
          </a:p>
          <a:p>
            <a:pPr algn="l">
              <a:lnSpc>
                <a:spcPct val="115000"/>
              </a:lnSpc>
            </a:pPr>
            <a:r>
              <a:rPr sz="1400" lang="fr-FR">
                <a:solidFill>
                  <a:srgbClr val="161616"/>
                </a:solidFill>
                <a:latin typeface="Arial"/>
              </a:rPr>
              <a:t>• </a:t>
            </a:r>
            <a:r>
              <a:rPr sz="1400" b="0" u="sng" lang="fr-FR">
                <a:solidFill>
                  <a:srgbClr val="000091"/>
                </a:solidFill>
                <a:latin typeface="Arial"/>
                <a:hlinkClick r:id="rId4"/>
              </a:rPr>
              <a:t>Télécharger (handicap.gouv.fr)</a:t>
            </a:r>
          </a:p>
        </p:txBody>
      </p:sp>
      <p:sp>
        <p:nvSpPr>
          <p:cNvPr id="18" name="DSFR-box"/>
          <p:cNvSpPr/>
          <p:nvPr/>
        </p:nvSpPr>
        <p:spPr>
          <a:xfrm>
            <a:off x="6313931"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6469379"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FALC</a:t>
            </a:r>
          </a:p>
        </p:txBody>
      </p:sp>
      <p:sp>
        <p:nvSpPr>
          <p:cNvPr id="20" name="DSFR-callout-body"/>
          <p:cNvSpPr txBox="1"/>
          <p:nvPr/>
        </p:nvSpPr>
        <p:spPr>
          <a:xfrm>
            <a:off x="6469379"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Phrases courtes, vocabulaire simple, pictogrammes</a:t>
            </a:r>
          </a:p>
          <a:p>
            <a:pPr algn="l">
              <a:lnSpc>
                <a:spcPct val="115000"/>
              </a:lnSpc>
            </a:pPr>
            <a:r>
              <a:rPr sz="1400" lang="fr-FR">
                <a:solidFill>
                  <a:srgbClr val="161616"/>
                </a:solidFill>
                <a:latin typeface="Arial"/>
              </a:rPr>
              <a:t>• </a:t>
            </a:r>
            <a:r>
              <a:rPr sz="1400" b="0" lang="fr-FR">
                <a:solidFill>
                  <a:srgbClr val="161616"/>
                </a:solidFill>
                <a:latin typeface="Arial"/>
              </a:rPr>
              <a:t>Validé par des personnes concernées</a:t>
            </a:r>
          </a:p>
          <a:p>
            <a:pPr algn="l">
              <a:lnSpc>
                <a:spcPct val="115000"/>
              </a:lnSpc>
            </a:pPr>
            <a:r>
              <a:rPr sz="1400" lang="fr-FR">
                <a:solidFill>
                  <a:srgbClr val="161616"/>
                </a:solidFill>
                <a:latin typeface="Arial"/>
              </a:rPr>
              <a:t>• </a:t>
            </a:r>
            <a:r>
              <a:rPr sz="1400" b="0" u="sng" lang="fr-FR">
                <a:solidFill>
                  <a:srgbClr val="000091"/>
                </a:solidFill>
                <a:latin typeface="Arial"/>
                <a:hlinkClick r:id="rId5"/>
              </a:rPr>
              <a:t>Télécharger (handicap.gouv.fr)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6240779"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Concevoir accessible, pas adapter après</a:t>
            </a:r>
          </a:p>
        </p:txBody>
      </p:sp>
      <p:sp>
        <p:nvSpPr>
          <p:cNvPr id="15" name="DSFR-callout-body"/>
          <p:cNvSpPr txBox="1"/>
          <p:nvPr/>
        </p:nvSpPr>
        <p:spPr>
          <a:xfrm>
            <a:off x="6510528" y="3497579"/>
            <a:ext cx="51023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Intégrer l'accessibilité dès le début, pas en rattrapage</a:t>
            </a:r>
          </a:p>
          <a:p>
            <a:pPr algn="l">
              <a:lnSpc>
                <a:spcPct val="130000"/>
              </a:lnSpc>
            </a:pPr>
            <a:r>
              <a:rPr sz="1400" lang="fr-FR">
                <a:solidFill>
                  <a:srgbClr val="161616"/>
                </a:solidFill>
                <a:latin typeface="Arial"/>
              </a:rPr>
              <a:t>• </a:t>
            </a:r>
            <a:r>
              <a:rPr sz="1400" b="0" lang="fr-FR">
                <a:solidFill>
                  <a:srgbClr val="161616"/>
                </a:solidFill>
                <a:latin typeface="Arial"/>
              </a:rPr>
              <a:t>Un document bien structuré profite à tous les lecteurs</a:t>
            </a:r>
          </a:p>
          <a:p>
            <a:pPr algn="l">
              <a:lnSpc>
                <a:spcPct val="130000"/>
              </a:lnSpc>
            </a:pPr>
            <a:r>
              <a:rPr sz="1400" lang="fr-FR">
                <a:solidFill>
                  <a:srgbClr val="161616"/>
                </a:solidFill>
                <a:latin typeface="Arial"/>
              </a:rPr>
              <a:t>• </a:t>
            </a:r>
            <a:r>
              <a:rPr sz="1400" b="0" lang="fr-FR">
                <a:solidFill>
                  <a:srgbClr val="161616"/>
                </a:solidFill>
                <a:latin typeface="Arial"/>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8078724" y="5349240"/>
            <a:ext cx="1828800" cy="70270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II - Documents bureautiques accessibles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54</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Structurer le document</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Rendre les couleurs accessibles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Décrire les contenus visuels</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Améliorer la langue et la lisibilité</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et finaliser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55</a:t>
            </a:r>
            <a:endParaRPr lang="fr-FR" dirty="0"/>
          </a:p>
        </p:txBody>
      </p:sp>
      <p:sp>
        <p:nvSpPr>
          <p:cNvPr id="9" name="DSFR-box"/>
          <p:cNvSpPr/>
          <p:nvPr/>
        </p:nvSpPr>
        <p:spPr>
          <a:xfrm>
            <a:off x="548640" y="224028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377440"/>
            <a:ext cx="5097779" cy="411480"/>
          </a:xfrm>
          <a:prstGeom prst="rect">
            <a:avLst/>
          </a:prstGeom>
          <a:noFill/>
        </p:spPr>
        <p:txBody>
          <a:bodyPr wrap="square" anchor="t" lIns="73152" rIns="73152">
            <a:spAutoFit/>
          </a:bodyPr>
          <a:lstStyle/>
          <a:p>
            <a:pPr algn="l">
              <a:lnSpc>
                <a:spcPct val="125000"/>
              </a:lnSpc>
            </a:pPr>
            <a:r>
              <a:rPr sz="1600" b="1" i="0" lang="fr-FR">
                <a:solidFill>
                  <a:srgbClr val="000091"/>
                </a:solidFill>
                <a:latin typeface="Arial"/>
              </a:rPr>
              <a:t>Ce qu’entend le lecteur d’écran</a:t>
            </a:r>
          </a:p>
        </p:txBody>
      </p:sp>
      <p:sp>
        <p:nvSpPr>
          <p:cNvPr id="11" name="DSFR-card-contenu"/>
          <p:cNvSpPr txBox="1"/>
          <p:nvPr/>
        </p:nvSpPr>
        <p:spPr>
          <a:xfrm>
            <a:off x="704088" y="283464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Texte, texte, texte, texte, texte, texte ...
Pendant 4 minutes. Sans titre. Sans repère.
Sans pouvoir naviguer vers la section qui le concerne.
-&gt; C'est ce qu'entend une personne malvoyante face à votre document Word.</a:t>
            </a:r>
          </a:p>
        </p:txBody>
      </p:sp>
      <p:sp>
        <p:nvSpPr>
          <p:cNvPr id="13" name="DSFR-box"/>
          <p:cNvSpPr/>
          <p:nvPr/>
        </p:nvSpPr>
        <p:spPr>
          <a:xfrm>
            <a:off x="6313931" y="224028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377440"/>
            <a:ext cx="5097779" cy="411480"/>
          </a:xfrm>
          <a:prstGeom prst="rect">
            <a:avLst/>
          </a:prstGeom>
          <a:noFill/>
        </p:spPr>
        <p:txBody>
          <a:bodyPr wrap="square" anchor="t" lIns="73152" rIns="73152">
            <a:spAutoFit/>
          </a:bodyPr>
          <a:lstStyle/>
          <a:p>
            <a:pPr algn="l">
              <a:lnSpc>
                <a:spcPct val="125000"/>
              </a:lnSpc>
            </a:pPr>
            <a:r>
              <a:rPr sz="1600" b="1" i="0" lang="fr-FR">
                <a:solidFill>
                  <a:srgbClr val="000091"/>
                </a:solidFill>
                <a:latin typeface="Arial"/>
              </a:rPr>
              <a:t>15 % de vos destinataires sont concernés</a:t>
            </a:r>
          </a:p>
        </p:txBody>
      </p:sp>
      <p:sp>
        <p:nvSpPr>
          <p:cNvPr id="15" name="DSFR-card-contenu"/>
          <p:cNvSpPr txBox="1"/>
          <p:nvPr/>
        </p:nvSpPr>
        <p:spPr>
          <a:xfrm>
            <a:off x="6469379" y="2834640"/>
            <a:ext cx="5097779" cy="24460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80 % de ces handicaps sont invisibles</a:t>
            </a:r>
          </a:p>
          <a:p>
            <a:pPr algn="l">
              <a:lnSpc>
                <a:spcPct val="125000"/>
              </a:lnSpc>
            </a:pPr>
            <a:r>
              <a:rPr sz="1400" lang="fr-FR">
                <a:solidFill>
                  <a:srgbClr val="161616"/>
                </a:solidFill>
                <a:latin typeface="Arial"/>
              </a:rPr>
              <a:t>• </a:t>
            </a:r>
            <a:r>
              <a:rPr sz="1400" b="0" lang="fr-FR">
                <a:solidFill>
                  <a:srgbClr val="161616"/>
                </a:solidFill>
                <a:latin typeface="Arial"/>
              </a:rPr>
              <a:t>Dans une réunion de 12 personnes : au moins 1 daltonien</a:t>
            </a:r>
          </a:p>
          <a:p>
            <a:pPr algn="l">
              <a:lnSpc>
                <a:spcPct val="125000"/>
              </a:lnSpc>
            </a:pPr>
            <a:r>
              <a:rPr sz="1400" lang="fr-FR">
                <a:solidFill>
                  <a:srgbClr val="161616"/>
                </a:solidFill>
                <a:latin typeface="Arial"/>
              </a:rPr>
              <a:t>• </a:t>
            </a:r>
            <a:r>
              <a:rPr sz="1400" b="0" lang="fr-FR">
                <a:solidFill>
                  <a:srgbClr val="161616"/>
                </a:solidFill>
                <a:latin typeface="Arial"/>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Contexte</a:t>
            </a:r>
          </a:p>
        </p:txBody>
      </p:sp>
      <p:sp>
        <p:nvSpPr>
          <p:cNvPr id="8" name="DSFR-accent-decoratif" descr=""/>
          <p:cNvSpPr/>
          <p:nvPr/>
        </p:nvSpPr>
        <p:spPr>
          <a:xfrm>
            <a:off x="475488" y="224028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56</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Ils sont visuellement identiques. Lequel préférez-vous pour NVDA ?</a:t>
            </a:r>
          </a:p>
        </p:txBody>
      </p:sp>
      <p:sp>
        <p:nvSpPr>
          <p:cNvPr id="11" name="DSFR-texte-libre"/>
          <p:cNvSpPr txBox="1"/>
          <p:nvPr/>
        </p:nvSpPr>
        <p:spPr>
          <a:xfrm>
            <a:off x="475488" y="2743200"/>
            <a:ext cx="5463540" cy="365760"/>
          </a:xfrm>
          <a:prstGeom prst="rect">
            <a:avLst/>
          </a:prstGeom>
          <a:noFill/>
        </p:spPr>
        <p:txBody>
          <a:bodyPr wrap="square" anchor="t" lIns="73152" rIns="73152">
            <a:spAutoFit/>
          </a:bodyPr>
          <a:lstStyle/>
          <a:p>
            <a:pPr algn="ctr">
              <a:lnSpc>
                <a:spcPct val="125000"/>
              </a:lnSpc>
            </a:pPr>
            <a:r>
              <a:rPr sz="1800" b="1" i="0" lang="fr-FR">
                <a:solidFill>
                  <a:srgbClr val="161616"/>
                </a:solidFill>
                <a:latin typeface="Arial"/>
              </a:rPr>
              <a:t>Document A</a:t>
            </a:r>
          </a:p>
        </p:txBody>
      </p:sp>
      <p:pic>
        <p:nvPicPr>
          <p:cNvPr id="12" name="Picture 11" descr="Aperçu stylisé du document a, visuellement identique à l'autre document."/>
          <p:cNvPicPr>
            <a:picLocks noChangeAspect="1"/>
          </p:cNvPicPr>
          <p:nvPr/>
        </p:nvPicPr>
        <p:blipFill>
          <a:blip r:embed="rId2"/>
          <a:stretch>
            <a:fillRect/>
          </a:stretch>
        </p:blipFill>
        <p:spPr>
          <a:xfrm>
            <a:off x="2224278" y="3154680"/>
            <a:ext cx="1965960" cy="2778433"/>
          </a:xfrm>
          <a:prstGeom prst="rect">
            <a:avLst/>
          </a:prstGeom>
        </p:spPr>
      </p:pic>
      <p:sp>
        <p:nvSpPr>
          <p:cNvPr id="13" name="DSFR-texte-libre"/>
          <p:cNvSpPr txBox="1"/>
          <p:nvPr/>
        </p:nvSpPr>
        <p:spPr>
          <a:xfrm>
            <a:off x="6240779" y="2743200"/>
            <a:ext cx="5463540" cy="365760"/>
          </a:xfrm>
          <a:prstGeom prst="rect">
            <a:avLst/>
          </a:prstGeom>
          <a:noFill/>
        </p:spPr>
        <p:txBody>
          <a:bodyPr wrap="square" anchor="t" lIns="73152" rIns="73152">
            <a:spAutoFit/>
          </a:bodyPr>
          <a:lstStyle/>
          <a:p>
            <a:pPr algn="ctr">
              <a:lnSpc>
                <a:spcPct val="125000"/>
              </a:lnSpc>
            </a:pPr>
            <a:r>
              <a:rPr sz="1800" b="1" i="0" lang="fr-FR">
                <a:solidFill>
                  <a:srgbClr val="161616"/>
                </a:solidFill>
                <a:latin typeface="Arial"/>
              </a:rPr>
              <a:t>Document B</a:t>
            </a:r>
          </a:p>
        </p:txBody>
      </p:sp>
      <p:pic>
        <p:nvPicPr>
          <p:cNvPr id="14" name="Picture 13" descr="Aperçu stylisé du document b, visuellement identique à l'autre document."/>
          <p:cNvPicPr>
            <a:picLocks noChangeAspect="1"/>
          </p:cNvPicPr>
          <p:nvPr/>
        </p:nvPicPr>
        <p:blipFill>
          <a:blip r:embed="rId2"/>
          <a:stretch>
            <a:fillRect/>
          </a:stretch>
        </p:blipFill>
        <p:spPr>
          <a:xfrm>
            <a:off x="7989569" y="3154680"/>
            <a:ext cx="1965960" cy="277843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Quiz</a:t>
            </a:r>
          </a:p>
        </p:txBody>
      </p:sp>
      <p:sp>
        <p:nvSpPr>
          <p:cNvPr id="8" name="DSFR-accent-decoratif" descr=""/>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Réponse - le document B est accessible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À l'écran, rien ne les distingue. La différence se trouve dans la structure du fichier.</a:t>
            </a:r>
          </a:p>
        </p:txBody>
      </p:sp>
      <p:sp>
        <p:nvSpPr>
          <p:cNvPr id="12" name="DSFR-box"/>
          <p:cNvSpPr/>
          <p:nvPr/>
        </p:nvSpPr>
        <p:spPr>
          <a:xfrm>
            <a:off x="548640" y="3314700"/>
            <a:ext cx="5390388" cy="17716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A</a:t>
            </a:r>
          </a:p>
        </p:txBody>
      </p:sp>
      <p:sp>
        <p:nvSpPr>
          <p:cNvPr id="14" name="DSFR-card-contenu"/>
          <p:cNvSpPr txBox="1"/>
          <p:nvPr/>
        </p:nvSpPr>
        <p:spPr>
          <a:xfrm>
            <a:off x="704088" y="3909059"/>
            <a:ext cx="5097779" cy="10858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mis en gras, police Arial 16</a:t>
            </a:r>
          </a:p>
          <a:p>
            <a:pPr algn="l">
              <a:lnSpc>
                <a:spcPct val="125000"/>
              </a:lnSpc>
            </a:pPr>
            <a:r>
              <a:rPr sz="1400" lang="fr-FR">
                <a:solidFill>
                  <a:srgbClr val="161616"/>
                </a:solidFill>
                <a:latin typeface="Arial"/>
              </a:rPr>
              <a:t>• </a:t>
            </a:r>
            <a:r>
              <a:rPr sz="1400" b="0" lang="fr-FR">
                <a:solidFill>
                  <a:srgbClr val="161616"/>
                </a:solidFill>
                <a:latin typeface="Arial"/>
              </a:rPr>
              <a:t>Image sans description</a:t>
            </a:r>
          </a:p>
          <a:p>
            <a:pPr algn="l">
              <a:lnSpc>
                <a:spcPct val="125000"/>
              </a:lnSpc>
            </a:pPr>
            <a:r>
              <a:rPr sz="1400" lang="fr-FR">
                <a:solidFill>
                  <a:srgbClr val="161616"/>
                </a:solidFill>
                <a:latin typeface="Arial"/>
              </a:rPr>
              <a:t>• </a:t>
            </a:r>
            <a:r>
              <a:rPr sz="1400" b="0" lang="fr-FR">
                <a:solidFill>
                  <a:srgbClr val="161616"/>
                </a:solidFill>
                <a:latin typeface="Arial"/>
              </a:rPr>
              <a:t>Fichier nommé Document1.docx</a:t>
            </a:r>
          </a:p>
        </p:txBody>
      </p:sp>
      <p:sp>
        <p:nvSpPr>
          <p:cNvPr id="16" name="DSFR-box"/>
          <p:cNvSpPr/>
          <p:nvPr/>
        </p:nvSpPr>
        <p:spPr>
          <a:xfrm>
            <a:off x="6313931" y="3314700"/>
            <a:ext cx="5390388" cy="17716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B</a:t>
            </a:r>
          </a:p>
        </p:txBody>
      </p:sp>
      <p:sp>
        <p:nvSpPr>
          <p:cNvPr id="18" name="DSFR-card-contenu"/>
          <p:cNvSpPr txBox="1"/>
          <p:nvPr/>
        </p:nvSpPr>
        <p:spPr>
          <a:xfrm>
            <a:off x="6469379" y="3909059"/>
            <a:ext cx="5097779" cy="10858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avec le style « Titre 1 »</a:t>
            </a:r>
          </a:p>
          <a:p>
            <a:pPr algn="l">
              <a:lnSpc>
                <a:spcPct val="125000"/>
              </a:lnSpc>
            </a:pPr>
            <a:r>
              <a:rPr sz="1400" lang="fr-FR">
                <a:solidFill>
                  <a:srgbClr val="161616"/>
                </a:solidFill>
                <a:latin typeface="Arial"/>
              </a:rPr>
              <a:t>• </a:t>
            </a:r>
            <a:r>
              <a:rPr sz="1400" b="0" lang="fr-FR">
                <a:solidFill>
                  <a:srgbClr val="161616"/>
                </a:solidFill>
                <a:latin typeface="Arial"/>
              </a:rPr>
              <a:t>Image avec texte alternatif</a:t>
            </a:r>
          </a:p>
          <a:p>
            <a:pPr algn="l">
              <a:lnSpc>
                <a:spcPct val="125000"/>
              </a:lnSpc>
            </a:pPr>
            <a:r>
              <a:rPr sz="1400" lang="fr-FR">
                <a:solidFill>
                  <a:srgbClr val="161616"/>
                </a:solidFill>
                <a:latin typeface="Arial"/>
              </a:rPr>
              <a:t>• </a:t>
            </a:r>
            <a:r>
              <a:rPr sz="1400" b="0" lang="fr-FR">
                <a:solidFill>
                  <a:srgbClr val="161616"/>
                </a:solidFill>
                <a:latin typeface="Arial"/>
              </a:rPr>
              <a:t>Fichier nommé rapport-bilan-2024.docx</a:t>
            </a:r>
          </a:p>
        </p:txBody>
      </p:sp>
      <p:sp>
        <p:nvSpPr>
          <p:cNvPr id="20" name="DSFR-box"/>
          <p:cNvSpPr/>
          <p:nvPr/>
        </p:nvSpPr>
        <p:spPr>
          <a:xfrm>
            <a:off x="548640" y="540639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49782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 structure du fichier détermine ce que NVDA peut restituer.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Réponse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7716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7716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40639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ça vous concerne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58</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style Titre 1 crée une structure de navigation</a:t>
            </a:r>
          </a:p>
          <a:p>
            <a:pPr algn="l">
              <a:lnSpc>
                <a:spcPct val="125000"/>
              </a:lnSpc>
            </a:pPr>
            <a:r>
              <a:rPr sz="1400" lang="fr-FR">
                <a:solidFill>
                  <a:srgbClr val="161616"/>
                </a:solidFill>
                <a:latin typeface="Arial"/>
              </a:rPr>
              <a:t>• </a:t>
            </a:r>
            <a:r>
              <a:rPr sz="1400" b="0" lang="fr-FR">
                <a:solidFill>
                  <a:srgbClr val="161616"/>
                </a:solidFill>
                <a:latin typeface="Arial"/>
              </a:rPr>
              <a:t>Le texte de remplacement décrit la fonction de l'image</a:t>
            </a:r>
          </a:p>
          <a:p>
            <a:pPr algn="l">
              <a:lnSpc>
                <a:spcPct val="125000"/>
              </a:lnSpc>
            </a:pPr>
            <a:r>
              <a:rPr sz="1400" lang="fr-FR">
                <a:solidFill>
                  <a:srgbClr val="161616"/>
                </a:solidFill>
                <a:latin typeface="Arial"/>
              </a:rPr>
              <a:t>• </a:t>
            </a:r>
            <a:r>
              <a:rPr sz="1400" b="0" lang="fr-FR">
                <a:solidFill>
                  <a:srgbClr val="161616"/>
                </a:solidFill>
                <a:latin typeface="Arial"/>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Arial"/>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60</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Un bloc plat, sans repère de navigation</a:t>
            </a:r>
          </a:p>
          <a:p>
            <a:pPr algn="l">
              <a:lnSpc>
                <a:spcPct val="125000"/>
              </a:lnSpc>
            </a:pPr>
            <a:r>
              <a:rPr sz="1400" lang="fr-FR">
                <a:solidFill>
                  <a:srgbClr val="161616"/>
                </a:solidFill>
                <a:latin typeface="Arial"/>
              </a:rPr>
              <a:t>• </a:t>
            </a:r>
            <a:r>
              <a:rPr sz="1400" b="0" lang="fr-FR">
                <a:solidFill>
                  <a:srgbClr val="161616"/>
                </a:solidFill>
                <a:latin typeface="Arial"/>
              </a:rPr>
              <a:t>Le lecteur d'écran ne peut pas aller de titre en titre</a:t>
            </a:r>
          </a:p>
          <a:p>
            <a:pPr algn="l">
              <a:lnSpc>
                <a:spcPct val="125000"/>
              </a:lnSpc>
            </a:pPr>
            <a:r>
              <a:rPr sz="1400" lang="fr-FR">
                <a:solidFill>
                  <a:srgbClr val="161616"/>
                </a:solidFill>
                <a:latin typeface="Arial"/>
              </a:rPr>
              <a:t>• </a:t>
            </a:r>
            <a:r>
              <a:rPr sz="1400" b="0" lang="fr-FR">
                <a:solidFill>
                  <a:srgbClr val="161616"/>
                </a:solidFill>
                <a:latin typeface="Arial"/>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 1 : Rapport annuel</a:t>
            </a:r>
          </a:p>
          <a:p>
            <a:pPr algn="l">
              <a:lnSpc>
                <a:spcPct val="125000"/>
              </a:lnSpc>
            </a:pPr>
            <a:r>
              <a:rPr sz="1400" lang="fr-FR">
                <a:solidFill>
                  <a:srgbClr val="161616"/>
                </a:solidFill>
                <a:latin typeface="Arial"/>
              </a:rPr>
              <a:t>• </a:t>
            </a:r>
            <a:r>
              <a:rPr sz="1400" b="0" lang="fr-FR">
                <a:solidFill>
                  <a:srgbClr val="161616"/>
                </a:solidFill>
                <a:latin typeface="Arial"/>
              </a:rPr>
              <a:t>Titre 2 : Budget / Titre 3 : Prévisions</a:t>
            </a:r>
          </a:p>
          <a:p>
            <a:pPr algn="l">
              <a:lnSpc>
                <a:spcPct val="125000"/>
              </a:lnSpc>
            </a:pPr>
            <a:r>
              <a:rPr sz="1400" lang="fr-FR">
                <a:solidFill>
                  <a:srgbClr val="161616"/>
                </a:solidFill>
                <a:latin typeface="Arial"/>
              </a:rPr>
              <a:t>• </a:t>
            </a:r>
            <a:r>
              <a:rPr sz="1400" b="0" lang="fr-FR">
                <a:solidFill>
                  <a:srgbClr val="161616"/>
                </a:solidFill>
                <a:latin typeface="Arial"/>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Appliquer : Accueil &gt; Styles &gt; Titre 1, Titre 2 ou Titre 3</a:t>
            </a:r>
          </a:p>
          <a:p>
            <a:pPr algn="l">
              <a:lnSpc>
                <a:spcPct val="125000"/>
              </a:lnSpc>
            </a:pPr>
            <a:r>
              <a:rPr sz="1400" lang="fr-FR">
                <a:solidFill>
                  <a:srgbClr val="161616"/>
                </a:solidFill>
                <a:latin typeface="Arial"/>
              </a:rPr>
              <a:t>• </a:t>
            </a:r>
            <a:r>
              <a:rPr sz="1400" b="0" lang="fr-FR">
                <a:solidFill>
                  <a:srgbClr val="161616"/>
                </a:solidFill>
                <a:latin typeface="Arial"/>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61</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Le lecteur annonce : liste de 3 éléments, élément 1 sur 3</a:t>
            </a:r>
          </a:p>
          <a:p>
            <a:pPr algn="l">
              <a:lnSpc>
                <a:spcPct val="150000"/>
              </a:lnSpc>
            </a:pPr>
            <a:r>
              <a:rPr sz="1400" lang="fr-FR">
                <a:solidFill>
                  <a:srgbClr val="161616"/>
                </a:solidFill>
                <a:latin typeface="Arial"/>
              </a:rPr>
              <a:t>• </a:t>
            </a:r>
            <a:r>
              <a:rPr sz="1400" b="0" lang="fr-FR">
                <a:solidFill>
                  <a:srgbClr val="161616"/>
                </a:solidFill>
                <a:latin typeface="Arial"/>
              </a:rPr>
              <a:t>Navigation par élément avec les touches flèches</a:t>
            </a:r>
          </a:p>
          <a:p>
            <a:pPr algn="l">
              <a:lnSpc>
                <a:spcPct val="150000"/>
              </a:lnSpc>
            </a:pPr>
            <a:r>
              <a:rPr sz="1400" lang="fr-FR">
                <a:solidFill>
                  <a:srgbClr val="161616"/>
                </a:solidFill>
                <a:latin typeface="Arial"/>
              </a:rPr>
              <a:t>• </a:t>
            </a:r>
            <a:r>
              <a:rPr sz="1400" b="0" lang="fr-FR">
                <a:solidFill>
                  <a:srgbClr val="161616"/>
                </a:solidFill>
                <a:latin typeface="Arial"/>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Tirets manuels : le lecteur lit tiret Premier élément</a:t>
            </a:r>
          </a:p>
          <a:p>
            <a:pPr algn="l">
              <a:lnSpc>
                <a:spcPct val="150000"/>
              </a:lnSpc>
            </a:pPr>
            <a:r>
              <a:rPr sz="1400" lang="fr-FR">
                <a:solidFill>
                  <a:srgbClr val="161616"/>
                </a:solidFill>
                <a:latin typeface="Arial"/>
              </a:rPr>
              <a:t>• </a:t>
            </a:r>
            <a:r>
              <a:rPr sz="1400" b="0" lang="fr-FR">
                <a:solidFill>
                  <a:srgbClr val="161616"/>
                </a:solidFill>
                <a:latin typeface="Arial"/>
              </a:rPr>
              <a:t>Tabulations pour simuler une numérotation</a:t>
            </a:r>
          </a:p>
          <a:p>
            <a:pPr algn="l">
              <a:lnSpc>
                <a:spcPct val="150000"/>
              </a:lnSpc>
            </a:pPr>
            <a:r>
              <a:rPr sz="1400" lang="fr-FR">
                <a:solidFill>
                  <a:srgbClr val="161616"/>
                </a:solidFill>
                <a:latin typeface="Arial"/>
              </a:rPr>
              <a:t>• </a:t>
            </a:r>
            <a:r>
              <a:rPr sz="1400" b="0" lang="fr-FR">
                <a:solidFill>
                  <a:srgbClr val="161616"/>
                </a:solidFill>
                <a:latin typeface="Arial"/>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62</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d'or : ne jamais utiliser Tab, Espace ou Entrée pour simuler une mise en page.</a:t>
            </a:r>
          </a:p>
          <a:p>
            <a:r>
              <a:rPr sz="1800" b="1" lang="fr-FR">
                <a:solidFill>
                  <a:srgbClr val="000091"/>
                </a:solidFill>
                <a:latin typeface="Arial"/>
              </a:rPr>
              <a:t>Vous créez un obstacle de structure pour les technologies d'assistance.</a:t>
            </a:r>
          </a:p>
        </p:txBody>
      </p:sp>
      <p:sp>
        <p:nvSpPr>
          <p:cNvPr id="12" name="DSFR-box"/>
          <p:cNvSpPr/>
          <p:nvPr/>
        </p:nvSpPr>
        <p:spPr>
          <a:xfrm>
            <a:off x="548640" y="379476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Tableaux de mise en page</a:t>
            </a:r>
          </a:p>
        </p:txBody>
      </p:sp>
      <p:sp>
        <p:nvSpPr>
          <p:cNvPr id="14" name="DSFR-callout-body"/>
          <p:cNvSpPr txBox="1"/>
          <p:nvPr/>
        </p:nvSpPr>
        <p:spPr>
          <a:xfrm>
            <a:off x="704088" y="42976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Insertion &gt; Tableau &gt; colonnes et lignes</a:t>
            </a:r>
          </a:p>
          <a:p>
            <a:pPr algn="l">
              <a:lnSpc>
                <a:spcPct val="115000"/>
              </a:lnSpc>
            </a:pPr>
            <a:r>
              <a:rPr sz="1400" lang="fr-FR">
                <a:solidFill>
                  <a:srgbClr val="161616"/>
                </a:solidFill>
                <a:latin typeface="Arial"/>
              </a:rPr>
              <a:t>• </a:t>
            </a:r>
            <a:r>
              <a:rPr sz="1400" b="0" lang="fr-FR">
                <a:solidFill>
                  <a:srgbClr val="161616"/>
                </a:solidFill>
                <a:latin typeface="Arial"/>
              </a:rPr>
              <a:t>Habillage : Propriétés &gt; Aucun</a:t>
            </a:r>
          </a:p>
          <a:p>
            <a:pPr algn="l">
              <a:lnSpc>
                <a:spcPct val="115000"/>
              </a:lnSpc>
            </a:pPr>
            <a:r>
              <a:rPr sz="1400" lang="fr-FR">
                <a:solidFill>
                  <a:srgbClr val="161616"/>
                </a:solidFill>
                <a:latin typeface="Arial"/>
              </a:rPr>
              <a:t>• </a:t>
            </a:r>
            <a:r>
              <a:rPr sz="1400" b="0" lang="fr-FR">
                <a:solidFill>
                  <a:srgbClr val="161616"/>
                </a:solidFill>
                <a:latin typeface="Arial"/>
              </a:rPr>
              <a:t>Un tableau flottant (Autour) est lu au mauvais moment</a:t>
            </a:r>
          </a:p>
        </p:txBody>
      </p:sp>
      <p:sp>
        <p:nvSpPr>
          <p:cNvPr id="16" name="DSFR-box"/>
          <p:cNvSpPr/>
          <p:nvPr/>
        </p:nvSpPr>
        <p:spPr>
          <a:xfrm>
            <a:off x="548640" y="5257800"/>
            <a:ext cx="11155680" cy="95234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Objets flottants : zones de texte et images</a:t>
            </a:r>
          </a:p>
        </p:txBody>
      </p:sp>
      <p:sp>
        <p:nvSpPr>
          <p:cNvPr id="18" name="DSFR-alert-warning-body"/>
          <p:cNvSpPr txBox="1"/>
          <p:nvPr/>
        </p:nvSpPr>
        <p:spPr>
          <a:xfrm>
            <a:off x="704088" y="5760720"/>
            <a:ext cx="10908792" cy="357987"/>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5234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63</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 couleur ne doit pas porter l'information à elle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64</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Arial"/>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Doublez toujours la couleur avec une légende textuelle</a:t>
            </a:r>
          </a:p>
          <a:p>
            <a:r>
              <a:rPr sz="1800" b="1" lang="fr-FR">
                <a:solidFill>
                  <a:srgbClr val="000091"/>
                </a:solidFill>
                <a:latin typeface="Arial"/>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65</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Arial"/>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66</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Arial"/>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3995928"/>
            <a:ext cx="5390388" cy="221650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087368"/>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Informations essentielles dans les zones non lues</a:t>
            </a:r>
          </a:p>
        </p:txBody>
      </p:sp>
      <p:sp>
        <p:nvSpPr>
          <p:cNvPr id="12" name="DSFR-alert-warning-body"/>
          <p:cNvSpPr txBox="1"/>
          <p:nvPr/>
        </p:nvSpPr>
        <p:spPr>
          <a:xfrm>
            <a:off x="704088" y="46588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En-têtes et pieds de page : non lus automatiquement</a:t>
            </a:r>
          </a:p>
          <a:p>
            <a:pPr algn="l">
              <a:lnSpc>
                <a:spcPct val="115000"/>
              </a:lnSpc>
            </a:pPr>
            <a:r>
              <a:rPr sz="1400" lang="fr-FR">
                <a:solidFill>
                  <a:srgbClr val="161616"/>
                </a:solidFill>
                <a:latin typeface="Arial"/>
              </a:rPr>
              <a:t>• </a:t>
            </a:r>
            <a:r>
              <a:rPr sz="1400" b="0" lang="fr-FR">
                <a:solidFill>
                  <a:srgbClr val="161616"/>
                </a:solidFill>
                <a:latin typeface="Arial"/>
              </a:rPr>
              <a:t>Filigranes (Confidentiel, Brouillon) : invisibles</a:t>
            </a:r>
          </a:p>
          <a:p>
            <a:pPr algn="l">
              <a:lnSpc>
                <a:spcPct val="115000"/>
              </a:lnSpc>
            </a:pPr>
            <a:r>
              <a:rPr sz="1400" lang="fr-FR">
                <a:solidFill>
                  <a:srgbClr val="161616"/>
                </a:solidFill>
                <a:latin typeface="Arial"/>
              </a:rPr>
              <a:t>• </a:t>
            </a:r>
            <a:r>
              <a:rPr sz="1400" b="0" lang="fr-FR">
                <a:solidFill>
                  <a:srgbClr val="161616"/>
                </a:solidFill>
                <a:latin typeface="Arial"/>
              </a:rPr>
              <a:t>Solution : reproduire l'info dans le corps du document</a:t>
            </a:r>
          </a:p>
        </p:txBody>
      </p:sp>
      <p:sp>
        <p:nvSpPr>
          <p:cNvPr id="14" name="DSFR-box"/>
          <p:cNvSpPr/>
          <p:nvPr/>
        </p:nvSpPr>
        <p:spPr>
          <a:xfrm>
            <a:off x="6313931" y="3995928"/>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08736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Liens de téléchargement</a:t>
            </a:r>
          </a:p>
        </p:txBody>
      </p:sp>
      <p:sp>
        <p:nvSpPr>
          <p:cNvPr id="16" name="DSFR-callout-body"/>
          <p:cNvSpPr txBox="1"/>
          <p:nvPr/>
        </p:nvSpPr>
        <p:spPr>
          <a:xfrm>
            <a:off x="6469379" y="4498848"/>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Titre + format + poids + langue si différente</a:t>
            </a:r>
          </a:p>
          <a:p>
            <a:pPr algn="l">
              <a:lnSpc>
                <a:spcPct val="115000"/>
              </a:lnSpc>
            </a:pPr>
            <a:r>
              <a:rPr sz="1400" lang="fr-FR">
                <a:solidFill>
                  <a:srgbClr val="161616"/>
                </a:solidFill>
                <a:latin typeface="Arial"/>
              </a:rPr>
              <a:t>• </a:t>
            </a:r>
            <a:r>
              <a:rPr sz="1400" b="0" lang="fr-FR">
                <a:solidFill>
                  <a:srgbClr val="161616"/>
                </a:solidFill>
                <a:latin typeface="Arial"/>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Contenus</a:t>
            </a:r>
          </a:p>
        </p:txBody>
      </p:sp>
      <p:sp>
        <p:nvSpPr>
          <p:cNvPr id="9" name="DSFR-accent-decoratif" descr=""/>
          <p:cNvSpPr/>
          <p:nvPr/>
        </p:nvSpPr>
        <p:spPr>
          <a:xfrm>
            <a:off x="475488" y="3995928"/>
            <a:ext cx="73152" cy="221650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3995928"/>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67</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Mise en situation</a:t>
            </a:r>
          </a:p>
        </p:txBody>
      </p:sp>
      <p:sp>
        <p:nvSpPr>
          <p:cNvPr id="11" name="DSFR-card-contenu"/>
          <p:cNvSpPr txBox="1"/>
          <p:nvPr/>
        </p:nvSpPr>
        <p:spPr>
          <a:xfrm>
            <a:off x="704088" y="256032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document de Sami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en gras, fausses listes, faux sommaire, tableaux sans en-tête</a:t>
            </a:r>
          </a:p>
          <a:p>
            <a:pPr algn="l">
              <a:lnSpc>
                <a:spcPct val="125000"/>
              </a:lnSpc>
            </a:pPr>
            <a:r>
              <a:rPr sz="1400" lang="fr-FR">
                <a:solidFill>
                  <a:srgbClr val="161616"/>
                </a:solidFill>
                <a:latin typeface="Arial"/>
              </a:rPr>
              <a:t>• </a:t>
            </a:r>
            <a:r>
              <a:rPr sz="1400" b="0" lang="fr-FR">
                <a:solidFill>
                  <a:srgbClr val="161616"/>
                </a:solidFill>
                <a:latin typeface="Arial"/>
              </a:rPr>
              <a:t>Mention Urgent en rouge, note en gris insuffisant</a:t>
            </a:r>
          </a:p>
          <a:p>
            <a:pPr algn="l">
              <a:lnSpc>
                <a:spcPct val="125000"/>
              </a:lnSpc>
            </a:pPr>
            <a:r>
              <a:rPr sz="1400" lang="fr-FR">
                <a:solidFill>
                  <a:srgbClr val="161616"/>
                </a:solidFill>
                <a:latin typeface="Arial"/>
              </a:rPr>
              <a:t>• </a:t>
            </a:r>
            <a:r>
              <a:rPr sz="1400" b="0" lang="fr-FR">
                <a:solidFill>
                  <a:srgbClr val="161616"/>
                </a:solidFill>
                <a:latin typeface="Arial"/>
              </a:rPr>
              <a:t>Graphique et organigramme sans alt, icône redondante</a:t>
            </a:r>
          </a:p>
          <a:p>
            <a:pPr algn="l">
              <a:lnSpc>
                <a:spcPct val="125000"/>
              </a:lnSpc>
            </a:pPr>
            <a:r>
              <a:rPr sz="1400" lang="fr-FR">
                <a:solidFill>
                  <a:srgbClr val="161616"/>
                </a:solidFill>
                <a:latin typeface="Arial"/>
              </a:rPr>
              <a:t>• </a:t>
            </a:r>
            <a:r>
              <a:rPr sz="1400" b="0" lang="fr-FR">
                <a:solidFill>
                  <a:srgbClr val="161616"/>
                </a:solidFill>
                <a:latin typeface="Arial"/>
              </a:rPr>
              <a:t>Texte en image, lien cliquez ici, filigrane invisible</a:t>
            </a:r>
          </a:p>
          <a:p>
            <a:pPr algn="l">
              <a:lnSpc>
                <a:spcPct val="125000"/>
              </a:lnSpc>
            </a:pPr>
            <a:r>
              <a:rPr sz="1400" lang="fr-FR">
                <a:solidFill>
                  <a:srgbClr val="161616"/>
                </a:solidFill>
                <a:latin typeface="Arial"/>
              </a:rPr>
              <a:t>• </a:t>
            </a:r>
            <a:r>
              <a:rPr sz="1400" b="0" lang="fr-FR">
                <a:solidFill>
                  <a:srgbClr val="161616"/>
                </a:solidFill>
                <a:latin typeface="Arial"/>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En binôme,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68</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Langue principale : Fichier &gt; Options &gt; Langue</a:t>
            </a:r>
          </a:p>
          <a:p>
            <a:pPr algn="l">
              <a:lnSpc>
                <a:spcPct val="125000"/>
              </a:lnSpc>
            </a:pPr>
            <a:r>
              <a:rPr sz="1400" lang="fr-FR">
                <a:solidFill>
                  <a:srgbClr val="161616"/>
                </a:solidFill>
                <a:latin typeface="Arial"/>
              </a:rPr>
              <a:t>• </a:t>
            </a:r>
            <a:r>
              <a:rPr sz="1400" b="0" lang="fr-FR">
                <a:solidFill>
                  <a:srgbClr val="161616"/>
                </a:solidFill>
                <a:latin typeface="Arial"/>
              </a:rPr>
              <a:t>Passage en langue étrangère : sélectionner le texte &gt; Révision &gt; Langue &gt; Définir la langue</a:t>
            </a:r>
          </a:p>
          <a:p>
            <a:pPr algn="l">
              <a:lnSpc>
                <a:spcPct val="125000"/>
              </a:lnSpc>
            </a:pPr>
            <a:r>
              <a:rPr sz="1400" lang="fr-FR">
                <a:solidFill>
                  <a:srgbClr val="161616"/>
                </a:solidFill>
                <a:latin typeface="Arial"/>
              </a:rPr>
              <a:t>• </a:t>
            </a:r>
            <a:r>
              <a:rPr sz="1400" b="0" lang="fr-FR">
                <a:solidFill>
                  <a:srgbClr val="161616"/>
                </a:solidFill>
                <a:latin typeface="Arial"/>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Difficiles à lire pour les dyslexiques</a:t>
            </a:r>
          </a:p>
          <a:p>
            <a:pPr algn="l">
              <a:lnSpc>
                <a:spcPct val="125000"/>
              </a:lnSpc>
            </a:pPr>
            <a:r>
              <a:rPr sz="1400" lang="fr-FR">
                <a:solidFill>
                  <a:srgbClr val="161616"/>
                </a:solidFill>
                <a:latin typeface="Arial"/>
              </a:rPr>
              <a:t>• </a:t>
            </a:r>
            <a:r>
              <a:rPr sz="1400" b="0" lang="fr-FR">
                <a:solidFill>
                  <a:srgbClr val="161616"/>
                </a:solidFill>
                <a:latin typeface="Arial"/>
              </a:rPr>
              <a:t>Prononciation ambiguë par les lecteurs d'écran</a:t>
            </a:r>
          </a:p>
          <a:p>
            <a:pPr algn="l">
              <a:lnSpc>
                <a:spcPct val="125000"/>
              </a:lnSpc>
            </a:pPr>
            <a:r>
              <a:rPr sz="1400" lang="fr-FR">
                <a:solidFill>
                  <a:srgbClr val="161616"/>
                </a:solidFill>
                <a:latin typeface="Arial"/>
              </a:rPr>
              <a:t>• </a:t>
            </a:r>
            <a:r>
              <a:rPr sz="1400" b="0" lang="fr-FR">
                <a:solidFill>
                  <a:srgbClr val="161616"/>
                </a:solidFill>
                <a:latin typeface="Arial"/>
              </a:rPr>
              <a:t>Solution : minuscules d'abord, puis Police &gt; Modifier la casse</a:t>
            </a:r>
          </a:p>
        </p:txBody>
      </p:sp>
      <p:sp>
        <p:nvSpPr>
          <p:cNvPr id="17" name="DSFR-box"/>
          <p:cNvSpPr/>
          <p:nvPr/>
        </p:nvSpPr>
        <p:spPr>
          <a:xfrm>
            <a:off x="6313931" y="4160520"/>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Lisibilité</a:t>
            </a:r>
          </a:p>
        </p:txBody>
      </p:sp>
      <p:sp>
        <p:nvSpPr>
          <p:cNvPr id="19" name="DSFR-callout-body"/>
          <p:cNvSpPr txBox="1"/>
          <p:nvPr/>
        </p:nvSpPr>
        <p:spPr>
          <a:xfrm>
            <a:off x="6469379" y="4663440"/>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Police sans serif, 12 pt minimum</a:t>
            </a:r>
          </a:p>
          <a:p>
            <a:pPr algn="l">
              <a:lnSpc>
                <a:spcPct val="120000"/>
              </a:lnSpc>
            </a:pPr>
            <a:r>
              <a:rPr sz="1400" lang="fr-FR">
                <a:solidFill>
                  <a:srgbClr val="161616"/>
                </a:solidFill>
                <a:latin typeface="Arial"/>
              </a:rPr>
              <a:t>• </a:t>
            </a:r>
            <a:r>
              <a:rPr sz="1400" b="0" lang="fr-FR">
                <a:solidFill>
                  <a:srgbClr val="161616"/>
                </a:solidFill>
                <a:latin typeface="Arial"/>
              </a:rPr>
              <a:t>Interligne 1,15, paragraphes aérés</a:t>
            </a:r>
          </a:p>
          <a:p>
            <a:pPr algn="l">
              <a:lnSpc>
                <a:spcPct val="120000"/>
              </a:lnSpc>
            </a:pPr>
            <a:r>
              <a:rPr sz="1400" lang="fr-FR">
                <a:solidFill>
                  <a:srgbClr val="161616"/>
                </a:solidFill>
                <a:latin typeface="Arial"/>
              </a:rPr>
              <a:t>• </a:t>
            </a:r>
            <a:r>
              <a:rPr sz="1400" b="0" lang="fr-FR">
                <a:solidFill>
                  <a:srgbClr val="161616"/>
                </a:solidFill>
                <a:latin typeface="Arial"/>
              </a:rPr>
              <a:t>Alignement à gauche, pas de justification</a:t>
            </a:r>
          </a:p>
          <a:p>
            <a:pPr algn="l">
              <a:lnSpc>
                <a:spcPct val="120000"/>
              </a:lnSpc>
            </a:pPr>
            <a:r>
              <a:rPr sz="1400" lang="fr-FR">
                <a:solidFill>
                  <a:srgbClr val="161616"/>
                </a:solidFill>
                <a:latin typeface="Arial"/>
              </a:rPr>
              <a:t>• </a:t>
            </a:r>
            <a:r>
              <a:rPr sz="1400" b="0" lang="fr-FR">
                <a:solidFill>
                  <a:srgbClr val="161616"/>
                </a:solidFill>
                <a:latin typeface="Arial"/>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69</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Points = espaces successifs &gt; supprimer et ne garder qu'un seul espace</a:t>
            </a:r>
          </a:p>
          <a:p>
            <a:pPr algn="l">
              <a:lnSpc>
                <a:spcPct val="125000"/>
              </a:lnSpc>
            </a:pPr>
            <a:r>
              <a:rPr sz="1400" lang="fr-FR">
                <a:solidFill>
                  <a:srgbClr val="161616"/>
                </a:solidFill>
                <a:latin typeface="Arial"/>
              </a:rPr>
              <a:t>• </a:t>
            </a:r>
            <a:r>
              <a:rPr sz="1400" b="0" lang="fr-FR">
                <a:solidFill>
                  <a:srgbClr val="161616"/>
                </a:solidFill>
                <a:latin typeface="Arial"/>
              </a:rPr>
              <a:t>Flèches = tabulations utilisées pour simuler une mise en page</a:t>
            </a:r>
          </a:p>
          <a:p>
            <a:pPr algn="l">
              <a:lnSpc>
                <a:spcPct val="125000"/>
              </a:lnSpc>
            </a:pPr>
            <a:r>
              <a:rPr sz="1400" lang="fr-FR">
                <a:solidFill>
                  <a:srgbClr val="161616"/>
                </a:solidFill>
                <a:latin typeface="Arial"/>
              </a:rPr>
              <a:t>• </a:t>
            </a:r>
            <a:r>
              <a:rPr sz="1400" b="0" lang="fr-FR">
                <a:solidFill>
                  <a:srgbClr val="161616"/>
                </a:solidFill>
                <a:latin typeface="Arial"/>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Animations, GIF avec flashs, vidéos à plus de 3 Hz : interdits sans exception</a:t>
            </a:r>
          </a:p>
          <a:p>
            <a:pPr algn="l">
              <a:lnSpc>
                <a:spcPct val="150000"/>
              </a:lnSpc>
            </a:pPr>
            <a:r>
              <a:rPr sz="1400" lang="fr-FR">
                <a:solidFill>
                  <a:srgbClr val="161616"/>
                </a:solidFill>
                <a:latin typeface="Arial"/>
              </a:rPr>
              <a:t>• </a:t>
            </a:r>
            <a:r>
              <a:rPr sz="1400" b="0" lang="fr-FR">
                <a:solidFill>
                  <a:srgbClr val="161616"/>
                </a:solidFill>
                <a:latin typeface="Arial"/>
              </a:rPr>
              <a:t>Risque de crise d'épilepsie photosensible</a:t>
            </a:r>
          </a:p>
          <a:p>
            <a:pPr algn="l">
              <a:lnSpc>
                <a:spcPct val="150000"/>
              </a:lnSpc>
            </a:pPr>
            <a:r>
              <a:rPr sz="1400" lang="fr-FR">
                <a:solidFill>
                  <a:srgbClr val="161616"/>
                </a:solidFill>
                <a:latin typeface="Arial"/>
              </a:rPr>
              <a:t>• </a:t>
            </a:r>
            <a:r>
              <a:rPr sz="1400" b="0" lang="fr-FR">
                <a:solidFill>
                  <a:srgbClr val="161616"/>
                </a:solidFill>
                <a:latin typeface="Arial"/>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70</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71</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Arial"/>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Il signale ce qu'il peut détecter automatiquement - pas ce qui est vraiment accessible</a:t>
            </a:r>
          </a:p>
          <a:p>
            <a:pPr algn="l">
              <a:lnSpc>
                <a:spcPct val="150000"/>
              </a:lnSpc>
            </a:pPr>
            <a:r>
              <a:rPr sz="1400" lang="fr-FR">
                <a:solidFill>
                  <a:srgbClr val="161616"/>
                </a:solidFill>
                <a:latin typeface="Arial"/>
              </a:rPr>
              <a:t>• </a:t>
            </a:r>
            <a:r>
              <a:rPr sz="1400" b="0" lang="fr-FR">
                <a:solidFill>
                  <a:srgbClr val="161616"/>
                </a:solidFill>
                <a:latin typeface="Arial"/>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Propriétés du document</a:t>
            </a:r>
          </a:p>
          <a:p>
            <a:pPr algn="l">
              <a:lnSpc>
                <a:spcPct val="115000"/>
              </a:lnSpc>
            </a:pPr>
            <a:r>
              <a:rPr sz="1400" lang="fr-FR">
                <a:solidFill>
                  <a:srgbClr val="161616"/>
                </a:solidFill>
                <a:latin typeface="Arial"/>
              </a:rPr>
              <a:t>• </a:t>
            </a:r>
            <a:r>
              <a:rPr sz="1400" b="0" lang="fr-FR">
                <a:solidFill>
                  <a:srgbClr val="161616"/>
                </a:solidFill>
                <a:latin typeface="Arial"/>
              </a:rPr>
              <a:t>Balises de structure pour l'accessibilité</a:t>
            </a:r>
          </a:p>
          <a:p>
            <a:pPr algn="l">
              <a:lnSpc>
                <a:spcPct val="115000"/>
              </a:lnSpc>
            </a:pPr>
            <a:r>
              <a:rPr sz="1400" lang="fr-FR">
                <a:solidFill>
                  <a:srgbClr val="161616"/>
                </a:solidFill>
                <a:latin typeface="Arial"/>
              </a:rPr>
              <a:t>• </a:t>
            </a:r>
            <a:r>
              <a:rPr sz="1400" b="0" lang="fr-FR">
                <a:solidFill>
                  <a:srgbClr val="161616"/>
                </a:solidFill>
                <a:latin typeface="Arial"/>
              </a:rPr>
              <a:t>Créer des signets à l'aide des titres ou en-têtes</a:t>
            </a:r>
          </a:p>
          <a:p>
            <a:pPr algn="l">
              <a:lnSpc>
                <a:spcPct val="115000"/>
              </a:lnSpc>
            </a:pPr>
            <a:r>
              <a:rPr sz="1400" lang="fr-FR">
                <a:solidFill>
                  <a:srgbClr val="161616"/>
                </a:solidFill>
                <a:latin typeface="Arial"/>
              </a:rPr>
              <a:t>• </a:t>
            </a:r>
            <a:r>
              <a:rPr sz="1400" b="0" lang="fr-FR">
                <a:solidFill>
                  <a:srgbClr val="161616"/>
                </a:solidFill>
                <a:latin typeface="Arial"/>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73</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Vous vous souvenez ?</a:t>
            </a:r>
          </a:p>
        </p:txBody>
      </p:sp>
      <p:sp>
        <p:nvSpPr>
          <p:cNvPr id="11" name="DSFR-card-contenu"/>
          <p:cNvSpPr txBox="1"/>
          <p:nvPr/>
        </p:nvSpPr>
        <p:spPr>
          <a:xfrm>
            <a:off x="704088" y="2697479"/>
            <a:ext cx="5097779" cy="17259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Langue : un passage en anglais sans balisage de langue</a:t>
            </a:r>
          </a:p>
          <a:p>
            <a:pPr algn="l">
              <a:lnSpc>
                <a:spcPct val="125000"/>
              </a:lnSpc>
            </a:pPr>
            <a:r>
              <a:rPr sz="1400" lang="fr-FR">
                <a:solidFill>
                  <a:srgbClr val="161616"/>
                </a:solidFill>
                <a:latin typeface="Arial"/>
              </a:rPr>
              <a:t>• </a:t>
            </a:r>
            <a:r>
              <a:rPr sz="1400" b="0" lang="fr-FR">
                <a:solidFill>
                  <a:srgbClr val="161616"/>
                </a:solidFill>
                <a:latin typeface="Arial"/>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Langue : sélectionner le passage anglais &gt; Révision &gt; Langue &gt; Définir en anglais</a:t>
            </a:r>
          </a:p>
          <a:p>
            <a:pPr algn="l">
              <a:lnSpc>
                <a:spcPct val="125000"/>
              </a:lnSpc>
            </a:pPr>
            <a:r>
              <a:rPr sz="1400" lang="fr-FR">
                <a:solidFill>
                  <a:srgbClr val="161616"/>
                </a:solidFill>
                <a:latin typeface="Arial"/>
              </a:rPr>
              <a:t>• </a:t>
            </a:r>
            <a:r>
              <a:rPr sz="1400" b="0" lang="fr-FR">
                <a:solidFill>
                  <a:srgbClr val="161616"/>
                </a:solidFill>
                <a:latin typeface="Arial"/>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74</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Correction : les 5 erreurs et leurs solutions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75</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sz="1400" lang="fr-FR">
                <a:solidFill>
                  <a:srgbClr val="161616"/>
                </a:solidFill>
                <a:latin typeface="Arial"/>
              </a:rPr>
              <a:t>• </a:t>
            </a:r>
            <a:r>
              <a:rPr sz="1400" b="1" lang="fr-FR">
                <a:solidFill>
                  <a:srgbClr val="161616"/>
                </a:solidFill>
                <a:latin typeface="Arial"/>
              </a:rPr>
              <a:t>Structure</a:t>
            </a:r>
            <a:r>
              <a:rPr sz="1400" b="0" lang="fr-FR">
                <a:solidFill>
                  <a:srgbClr val="161616"/>
                </a:solidFill>
                <a:latin typeface="Arial"/>
              </a:rPr>
              <a:t> : le gras n'est pas reconnu par les lecteurs d'écran - appliquer le style Titre 1</a:t>
            </a:r>
          </a:p>
          <a:p>
            <a:pPr algn="l">
              <a:lnSpc>
                <a:spcPct val="172000"/>
              </a:lnSpc>
            </a:pPr>
            <a:r>
              <a:rPr sz="1400" lang="fr-FR">
                <a:solidFill>
                  <a:srgbClr val="161616"/>
                </a:solidFill>
                <a:latin typeface="Arial"/>
              </a:rPr>
              <a:t>• </a:t>
            </a:r>
            <a:r>
              <a:rPr sz="1400" b="1" lang="fr-FR">
                <a:solidFill>
                  <a:srgbClr val="161616"/>
                </a:solidFill>
                <a:latin typeface="Arial"/>
              </a:rPr>
              <a:t>Couleurs</a:t>
            </a:r>
            <a:r>
              <a:rPr sz="1400" b="0" lang="fr-FR">
                <a:solidFill>
                  <a:srgbClr val="161616"/>
                </a:solidFill>
                <a:latin typeface="Arial"/>
              </a:rPr>
              <a:t> : l'information ne doit pas reposer sur la couleur seule - ajouter les étiquettes Conforme / Non conforme</a:t>
            </a:r>
          </a:p>
          <a:p>
            <a:pPr algn="l">
              <a:lnSpc>
                <a:spcPct val="172000"/>
              </a:lnSpc>
            </a:pPr>
            <a:r>
              <a:rPr sz="1400" lang="fr-FR">
                <a:solidFill>
                  <a:srgbClr val="161616"/>
                </a:solidFill>
                <a:latin typeface="Arial"/>
              </a:rPr>
              <a:t>• </a:t>
            </a:r>
            <a:r>
              <a:rPr sz="1400" b="1" lang="fr-FR">
                <a:solidFill>
                  <a:srgbClr val="161616"/>
                </a:solidFill>
                <a:latin typeface="Arial"/>
              </a:rPr>
              <a:t>Contenus</a:t>
            </a:r>
            <a:r>
              <a:rPr sz="1400" b="0" lang="fr-FR">
                <a:solidFill>
                  <a:srgbClr val="161616"/>
                </a:solidFill>
                <a:latin typeface="Arial"/>
              </a:rPr>
              <a:t> : un lien doit être compréhensible hors contexte - renommer en Accéder au formulaire de demande RH</a:t>
            </a:r>
          </a:p>
          <a:p>
            <a:pPr algn="l">
              <a:lnSpc>
                <a:spcPct val="172000"/>
              </a:lnSpc>
            </a:pPr>
            <a:r>
              <a:rPr sz="1400" lang="fr-FR">
                <a:solidFill>
                  <a:srgbClr val="161616"/>
                </a:solidFill>
                <a:latin typeface="Arial"/>
              </a:rPr>
              <a:t>• </a:t>
            </a:r>
            <a:r>
              <a:rPr sz="1400" b="1" lang="fr-FR">
                <a:solidFill>
                  <a:srgbClr val="161616"/>
                </a:solidFill>
                <a:latin typeface="Arial"/>
              </a:rPr>
              <a:t>Langue</a:t>
            </a:r>
            <a:r>
              <a:rPr sz="1400" b="0" lang="fr-FR">
                <a:solidFill>
                  <a:srgbClr val="161616"/>
                </a:solidFill>
                <a:latin typeface="Arial"/>
              </a:rPr>
              <a:t> : sans déclaration, la synthèse vocale prononce avec le mauvais accent - Révision &gt; Langue &gt; Définir : Français</a:t>
            </a:r>
          </a:p>
          <a:p>
            <a:pPr algn="l">
              <a:lnSpc>
                <a:spcPct val="172000"/>
              </a:lnSpc>
            </a:pPr>
            <a:r>
              <a:rPr sz="1400" lang="fr-FR">
                <a:solidFill>
                  <a:srgbClr val="161616"/>
                </a:solidFill>
                <a:latin typeface="Arial"/>
              </a:rPr>
              <a:t>• </a:t>
            </a:r>
            <a:r>
              <a:rPr sz="1400" b="1" lang="fr-FR">
                <a:solidFill>
                  <a:srgbClr val="161616"/>
                </a:solidFill>
                <a:latin typeface="Arial"/>
              </a:rPr>
              <a:t>Finalisation</a:t>
            </a:r>
            <a:r>
              <a:rPr sz="1400" b="0" lang="fr-FR">
                <a:solidFill>
                  <a:srgbClr val="161616"/>
                </a:solidFill>
                <a:latin typeface="Arial"/>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Quiz final</a:t>
            </a:r>
          </a:p>
        </p:txBody>
      </p:sp>
      <p:sp>
        <p:nvSpPr>
          <p:cNvPr id="8" name="DSFR-accent-decoratif" descr=""/>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76</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Titres avec styles intégrés (pas du gras manuel)</a:t>
            </a:r>
          </a:p>
          <a:p>
            <a:pPr algn="l">
              <a:lnSpc>
                <a:spcPct val="150000"/>
              </a:lnSpc>
            </a:pPr>
            <a:r>
              <a:rPr sz="1800" b="1" lang="fr-FR">
                <a:solidFill>
                  <a:srgbClr val="000091"/>
                </a:solidFill>
                <a:latin typeface="Arial"/>
              </a:rPr>
              <a:t>☐  </a:t>
            </a:r>
            <a:r>
              <a:rPr sz="1400" lang="fr-FR">
                <a:solidFill>
                  <a:srgbClr val="161616"/>
                </a:solidFill>
                <a:latin typeface="Arial"/>
              </a:rPr>
              <a:t>Hiérarchie des titres cohérente (H1, H2, H3)</a:t>
            </a:r>
          </a:p>
          <a:p>
            <a:pPr algn="l">
              <a:lnSpc>
                <a:spcPct val="150000"/>
              </a:lnSpc>
            </a:pPr>
            <a:r>
              <a:rPr sz="1800" b="1" lang="fr-FR">
                <a:solidFill>
                  <a:srgbClr val="000091"/>
                </a:solidFill>
                <a:latin typeface="Arial"/>
              </a:rPr>
              <a:t>☐  </a:t>
            </a:r>
            <a:r>
              <a:rPr sz="1400" lang="fr-FR">
                <a:solidFill>
                  <a:srgbClr val="161616"/>
                </a:solidFill>
                <a:latin typeface="Arial"/>
              </a:rPr>
              <a:t>Texte alternatif sur images / décoratifs marqués</a:t>
            </a:r>
          </a:p>
          <a:p>
            <a:pPr algn="l">
              <a:lnSpc>
                <a:spcPct val="150000"/>
              </a:lnSpc>
            </a:pPr>
            <a:r>
              <a:rPr sz="1800" b="1" lang="fr-FR">
                <a:solidFill>
                  <a:srgbClr val="000091"/>
                </a:solidFill>
                <a:latin typeface="Arial"/>
              </a:rPr>
              <a:t>☐  </a:t>
            </a:r>
            <a:r>
              <a:rPr sz="1400" lang="fr-FR">
                <a:solidFill>
                  <a:srgbClr val="161616"/>
                </a:solidFill>
                <a:latin typeface="Arial"/>
              </a:rPr>
              <a:t>Tableaux de données avec ligne d'en-tête</a:t>
            </a:r>
          </a:p>
          <a:p>
            <a:pPr algn="l">
              <a:lnSpc>
                <a:spcPct val="150000"/>
              </a:lnSpc>
            </a:pPr>
            <a:r>
              <a:rPr sz="1800" b="1" lang="fr-FR">
                <a:solidFill>
                  <a:srgbClr val="000091"/>
                </a:solidFill>
                <a:latin typeface="Arial"/>
              </a:rPr>
              <a:t>☐  </a:t>
            </a:r>
            <a:r>
              <a:rPr sz="1400" lang="fr-FR">
                <a:solidFill>
                  <a:srgbClr val="161616"/>
                </a:solidFill>
                <a:latin typeface="Arial"/>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77</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Liens descriptifs (pas cliquez ici)</a:t>
            </a:r>
          </a:p>
          <a:p>
            <a:pPr algn="l">
              <a:lnSpc>
                <a:spcPct val="150000"/>
              </a:lnSpc>
            </a:pPr>
            <a:r>
              <a:rPr sz="1800" b="1" lang="fr-FR">
                <a:solidFill>
                  <a:srgbClr val="000091"/>
                </a:solidFill>
                <a:latin typeface="Arial"/>
              </a:rPr>
              <a:t>☐  </a:t>
            </a:r>
            <a:r>
              <a:rPr sz="1400" lang="fr-FR">
                <a:solidFill>
                  <a:srgbClr val="161616"/>
                </a:solidFill>
                <a:latin typeface="Arial"/>
              </a:rPr>
              <a:t>Passages en langue étrangère balisés</a:t>
            </a:r>
          </a:p>
          <a:p>
            <a:pPr algn="l">
              <a:lnSpc>
                <a:spcPct val="150000"/>
              </a:lnSpc>
            </a:pPr>
            <a:r>
              <a:rPr sz="1800" b="1" lang="fr-FR">
                <a:solidFill>
                  <a:srgbClr val="000091"/>
                </a:solidFill>
                <a:latin typeface="Arial"/>
              </a:rPr>
              <a:t>☐  </a:t>
            </a:r>
            <a:r>
              <a:rPr sz="1400" lang="fr-FR">
                <a:solidFill>
                  <a:srgbClr val="161616"/>
                </a:solidFill>
                <a:latin typeface="Arial"/>
              </a:rPr>
              <a:t>Contraste &gt;= 4,5:1 texte standard, &gt;= 3:1 grand texte</a:t>
            </a:r>
          </a:p>
          <a:p>
            <a:pPr algn="l">
              <a:lnSpc>
                <a:spcPct val="150000"/>
              </a:lnSpc>
            </a:pPr>
            <a:r>
              <a:rPr sz="1800" b="1" lang="fr-FR">
                <a:solidFill>
                  <a:srgbClr val="000091"/>
                </a:solidFill>
                <a:latin typeface="Arial"/>
              </a:rPr>
              <a:t>☐  </a:t>
            </a:r>
            <a:r>
              <a:rPr sz="1400" lang="fr-FR">
                <a:solidFill>
                  <a:srgbClr val="161616"/>
                </a:solidFill>
                <a:latin typeface="Arial"/>
              </a:rPr>
              <a:t>Couleur doublée en texte</a:t>
            </a:r>
          </a:p>
          <a:p>
            <a:pPr algn="l">
              <a:lnSpc>
                <a:spcPct val="150000"/>
              </a:lnSpc>
            </a:pPr>
            <a:r>
              <a:rPr sz="1800" b="1" lang="fr-FR">
                <a:solidFill>
                  <a:srgbClr val="000091"/>
                </a:solidFill>
                <a:latin typeface="Arial"/>
              </a:rPr>
              <a:t>☐  </a:t>
            </a:r>
            <a:r>
              <a:rPr sz="1400" lang="fr-FR">
                <a:solidFill>
                  <a:srgbClr val="161616"/>
                </a:solidFill>
                <a:latin typeface="Arial"/>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78</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Aucun objet clignotant</a:t>
            </a:r>
          </a:p>
          <a:p>
            <a:pPr algn="l">
              <a:lnSpc>
                <a:spcPct val="150000"/>
              </a:lnSpc>
            </a:pPr>
            <a:r>
              <a:rPr sz="1800" b="1" lang="fr-FR">
                <a:solidFill>
                  <a:srgbClr val="000091"/>
                </a:solidFill>
                <a:latin typeface="Arial"/>
              </a:rPr>
              <a:t>☐  </a:t>
            </a:r>
            <a:r>
              <a:rPr sz="1400" lang="fr-FR">
                <a:solidFill>
                  <a:srgbClr val="161616"/>
                </a:solidFill>
                <a:latin typeface="Arial"/>
              </a:rPr>
              <a:t>Document non protégé</a:t>
            </a:r>
          </a:p>
          <a:p>
            <a:pPr algn="l">
              <a:lnSpc>
                <a:spcPct val="150000"/>
              </a:lnSpc>
            </a:pPr>
            <a:r>
              <a:rPr sz="1800" b="1" lang="fr-FR">
                <a:solidFill>
                  <a:srgbClr val="000091"/>
                </a:solidFill>
                <a:latin typeface="Arial"/>
              </a:rPr>
              <a:t>☐  </a:t>
            </a:r>
            <a:r>
              <a:rPr sz="1400" lang="fr-FR">
                <a:solidFill>
                  <a:srgbClr val="161616"/>
                </a:solidFill>
                <a:latin typeface="Arial"/>
              </a:rPr>
              <a:t>Langue principale balisée</a:t>
            </a:r>
          </a:p>
          <a:p>
            <a:pPr algn="l">
              <a:lnSpc>
                <a:spcPct val="150000"/>
              </a:lnSpc>
            </a:pPr>
            <a:r>
              <a:rPr sz="1800" b="1" lang="fr-FR">
                <a:solidFill>
                  <a:srgbClr val="000091"/>
                </a:solidFill>
                <a:latin typeface="Arial"/>
              </a:rPr>
              <a:t>☐  </a:t>
            </a:r>
            <a:r>
              <a:rPr sz="1400" lang="fr-FR">
                <a:solidFill>
                  <a:srgbClr val="161616"/>
                </a:solidFill>
                <a:latin typeface="Arial"/>
              </a:rPr>
              <a:t>Fichier .docx + nom descriptif</a:t>
            </a:r>
          </a:p>
          <a:p>
            <a:pPr algn="l">
              <a:lnSpc>
                <a:spcPct val="150000"/>
              </a:lnSpc>
            </a:pPr>
            <a:r>
              <a:rPr sz="1800" b="1" lang="fr-FR">
                <a:solidFill>
                  <a:srgbClr val="000091"/>
                </a:solidFill>
                <a:latin typeface="Arial"/>
              </a:rPr>
              <a:t>☐  </a:t>
            </a:r>
            <a:r>
              <a:rPr sz="1400" lang="fr-FR">
                <a:solidFill>
                  <a:srgbClr val="161616"/>
                </a:solidFill>
                <a:latin typeface="Arial"/>
              </a:rPr>
              <a:t>Vérificateur d'accessibilité sans erreur résiduelle</a:t>
            </a:r>
          </a:p>
          <a:p>
            <a:pPr algn="l">
              <a:lnSpc>
                <a:spcPct val="150000"/>
              </a:lnSpc>
            </a:pPr>
            <a:r>
              <a:rPr sz="1800" b="1" lang="fr-FR">
                <a:solidFill>
                  <a:srgbClr val="000091"/>
                </a:solidFill>
                <a:latin typeface="Arial"/>
              </a:rPr>
              <a:t>☐  </a:t>
            </a:r>
            <a:r>
              <a:rPr sz="1400" lang="fr-FR">
                <a:solidFill>
                  <a:srgbClr val="161616"/>
                </a:solidFill>
                <a:latin typeface="Arial"/>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79</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Pas de zones de texte flottantes</a:t>
            </a:r>
          </a:p>
          <a:p>
            <a:pPr algn="l">
              <a:lnSpc>
                <a:spcPct val="150000"/>
              </a:lnSpc>
            </a:pPr>
            <a:r>
              <a:rPr sz="1800" b="1" lang="fr-FR">
                <a:solidFill>
                  <a:srgbClr val="000091"/>
                </a:solidFill>
                <a:latin typeface="Arial"/>
              </a:rPr>
              <a:t>☐  </a:t>
            </a:r>
            <a:r>
              <a:rPr sz="1400" lang="fr-FR">
                <a:solidFill>
                  <a:srgbClr val="161616"/>
                </a:solidFill>
                <a:latin typeface="Arial"/>
              </a:rPr>
              <a:t>Sauts de page propres (pas de retours à la ligne)</a:t>
            </a:r>
          </a:p>
          <a:p>
            <a:pPr algn="l">
              <a:lnSpc>
                <a:spcPct val="150000"/>
              </a:lnSpc>
            </a:pPr>
            <a:r>
              <a:rPr sz="1800" b="1" lang="fr-FR">
                <a:solidFill>
                  <a:srgbClr val="000091"/>
                </a:solidFill>
                <a:latin typeface="Arial"/>
              </a:rPr>
              <a:t>☐  </a:t>
            </a:r>
            <a:r>
              <a:rPr sz="1400" lang="fr-FR">
                <a:solidFill>
                  <a:srgbClr val="161616"/>
                </a:solidFill>
                <a:latin typeface="Arial"/>
              </a:rPr>
              <a:t>Colonnes intégrées (pas de tabulations)</a:t>
            </a:r>
          </a:p>
          <a:p>
            <a:pPr algn="l">
              <a:lnSpc>
                <a:spcPct val="150000"/>
              </a:lnSpc>
            </a:pPr>
            <a:r>
              <a:rPr sz="1800" b="1" lang="fr-FR">
                <a:solidFill>
                  <a:srgbClr val="000091"/>
                </a:solidFill>
                <a:latin typeface="Arial"/>
              </a:rPr>
              <a:t>☐  </a:t>
            </a:r>
            <a:r>
              <a:rPr sz="1400" lang="fr-FR">
                <a:solidFill>
                  <a:srgbClr val="161616"/>
                </a:solidFill>
                <a:latin typeface="Arial"/>
              </a:rPr>
              <a:t>Tableaux de mise en page avec habillage Aucun</a:t>
            </a:r>
          </a:p>
          <a:p>
            <a:pPr algn="l">
              <a:lnSpc>
                <a:spcPct val="150000"/>
              </a:lnSpc>
            </a:pPr>
            <a:r>
              <a:rPr sz="1800" b="1" lang="fr-FR">
                <a:solidFill>
                  <a:srgbClr val="000091"/>
                </a:solidFill>
                <a:latin typeface="Arial"/>
              </a:rPr>
              <a:t>☐  </a:t>
            </a:r>
            <a:r>
              <a:rPr sz="1400" lang="fr-FR">
                <a:solidFill>
                  <a:srgbClr val="161616"/>
                </a:solidFill>
                <a:latin typeface="Arial"/>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III - Web accessible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80</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Repérer les erreurs fréquentes</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les images et les titres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Contrôler les contrastes, les liens et le clavier</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Tester la langue, le zoom et les médias</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Examiner les formulaires et réaliser un audit rapide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81</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WebAIM analyse automatiquement les pages d’accueil : c’est un thermomètre, pas un audit RGAA complet.</a:t>
            </a:r>
          </a:p>
          <a:p>
            <a:pPr algn="l">
              <a:lnSpc>
                <a:spcPct val="115000"/>
              </a:lnSpc>
            </a:pPr>
            <a:r>
              <a:rPr sz="1400" lang="fr-FR">
                <a:solidFill>
                  <a:srgbClr val="161616"/>
                </a:solidFill>
                <a:latin typeface="Arial"/>
              </a:rPr>
              <a:t>• </a:t>
            </a:r>
            <a:r>
              <a:rPr sz="1400" b="0" lang="fr-FR">
                <a:solidFill>
                  <a:srgbClr val="161616"/>
                </a:solidFill>
                <a:latin typeface="Arial"/>
              </a:rPr>
              <a:t>L’absence d’erreur détectée ne prouve pas qu’une page est accessible.</a:t>
            </a:r>
          </a:p>
          <a:p>
            <a:pPr algn="l">
              <a:lnSpc>
                <a:spcPct val="115000"/>
              </a:lnSpc>
            </a:pPr>
            <a:r>
              <a:rPr sz="1400" lang="fr-FR">
                <a:solidFill>
                  <a:srgbClr val="161616"/>
                </a:solidFill>
                <a:latin typeface="Arial"/>
              </a:rPr>
              <a:t>• </a:t>
            </a:r>
            <a:r>
              <a:rPr sz="1400" b="0" lang="fr-FR">
                <a:solidFill>
                  <a:srgbClr val="161616"/>
                </a:solidFill>
                <a:latin typeface="Arial"/>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82</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Arial"/>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Arial"/>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Langue</a:t>
                      </a:r>
                    </a:p>
                  </a:txBody>
                  <a:tcPr marL="91440" marR="91440" marT="45720" marB="45720">
                    <a:solidFill>
                      <a:srgbClr val="F5F5FE"/>
                    </a:solidFill>
                  </a:tcPr>
                </a:tc>
              </a:tr>
            </a:tbl>
          </a:graphicData>
        </a:graphic>
      </p:graphicFrame>
      <p:sp>
        <p:nvSpPr>
          <p:cNvPr id="10" name="DSFR-box"/>
          <p:cNvSpPr/>
          <p:nvPr/>
        </p:nvSpPr>
        <p:spPr>
          <a:xfrm>
            <a:off x="548640" y="480060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retenir</a:t>
            </a:r>
          </a:p>
        </p:txBody>
      </p:sp>
      <p:sp>
        <p:nvSpPr>
          <p:cNvPr id="12" name="DSFR-callout-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Ces six familles représentent 96 % des erreurs détectées par WebAIM.</a:t>
            </a:r>
          </a:p>
          <a:p>
            <a:pPr algn="l">
              <a:lnSpc>
                <a:spcPct val="115000"/>
              </a:lnSpc>
            </a:pPr>
            <a:r>
              <a:rPr sz="1400" lang="fr-FR">
                <a:solidFill>
                  <a:srgbClr val="161616"/>
                </a:solidFill>
                <a:latin typeface="Arial"/>
              </a:rPr>
              <a:t>• </a:t>
            </a:r>
            <a:r>
              <a:rPr sz="1400" b="0" lang="fr-FR">
                <a:solidFill>
                  <a:srgbClr val="161616"/>
                </a:solidFill>
                <a:latin typeface="Arial"/>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9"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84</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Concis : une phrase courte, centrée sur l’information utile</a:t>
            </a:r>
          </a:p>
          <a:p>
            <a:pPr algn="l">
              <a:lnSpc>
                <a:spcPct val="125000"/>
              </a:lnSpc>
            </a:pPr>
            <a:r>
              <a:rPr sz="1400" lang="fr-FR">
                <a:solidFill>
                  <a:srgbClr val="161616"/>
                </a:solidFill>
                <a:latin typeface="Arial"/>
              </a:rPr>
              <a:t>• </a:t>
            </a:r>
            <a:r>
              <a:rPr sz="1400" b="0" lang="fr-FR">
                <a:solidFill>
                  <a:srgbClr val="161616"/>
                </a:solidFill>
                <a:latin typeface="Arial"/>
              </a:rPr>
              <a:t>Objectif : décrit, ne commente pas</a:t>
            </a:r>
          </a:p>
          <a:p>
            <a:pPr algn="l">
              <a:lnSpc>
                <a:spcPct val="125000"/>
              </a:lnSpc>
            </a:pPr>
            <a:r>
              <a:rPr sz="1400" lang="fr-FR">
                <a:solidFill>
                  <a:srgbClr val="161616"/>
                </a:solidFill>
                <a:latin typeface="Arial"/>
              </a:rPr>
              <a:t>• </a:t>
            </a:r>
            <a:r>
              <a:rPr sz="1400" b="0" lang="fr-FR">
                <a:solidFill>
                  <a:srgbClr val="161616"/>
                </a:solidFill>
                <a:latin typeface="Arial"/>
              </a:rPr>
              <a:t>Pas de « photo de » ni « image de » - le lecteur d’écran le dit déjà</a:t>
            </a:r>
          </a:p>
          <a:p>
            <a:pPr algn="l">
              <a:lnSpc>
                <a:spcPct val="125000"/>
              </a:lnSpc>
            </a:pPr>
            <a:r>
              <a:rPr sz="1400" lang="fr-FR">
                <a:solidFill>
                  <a:srgbClr val="161616"/>
                </a:solidFill>
                <a:latin typeface="Arial"/>
              </a:rPr>
              <a:t>• </a:t>
            </a:r>
            <a:r>
              <a:rPr sz="1400" b="0" lang="fr-FR">
                <a:solidFill>
                  <a:srgbClr val="161616"/>
                </a:solidFill>
                <a:latin typeface="Arial"/>
              </a:rPr>
              <a:t>Contextuel : ce qui compte dans cette page, pas tout ce qui est visible</a:t>
            </a:r>
          </a:p>
          <a:p>
            <a:pPr algn="l">
              <a:lnSpc>
                <a:spcPct val="125000"/>
              </a:lnSpc>
            </a:pPr>
            <a:r>
              <a:rPr sz="1400" lang="fr-FR">
                <a:solidFill>
                  <a:srgbClr val="161616"/>
                </a:solidFill>
                <a:latin typeface="Arial"/>
              </a:rPr>
              <a:t>• </a:t>
            </a:r>
            <a:r>
              <a:rPr sz="1400" b="0" lang="fr-FR">
                <a:solidFill>
                  <a:srgbClr val="161616"/>
                </a:solidFill>
                <a:latin typeface="Arial"/>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Un nom de fichier (IMG_4578.jpg) en guise de texte alternatif = information perdue</a:t>
            </a:r>
          </a:p>
          <a:p>
            <a:pPr algn="l">
              <a:lnSpc>
                <a:spcPct val="150000"/>
              </a:lnSpc>
            </a:pPr>
            <a:r>
              <a:rPr sz="1400" lang="fr-FR">
                <a:solidFill>
                  <a:srgbClr val="161616"/>
                </a:solidFill>
                <a:latin typeface="Arial"/>
              </a:rPr>
              <a:t>• </a:t>
            </a:r>
            <a:r>
              <a:rPr sz="1400" b="0" lang="fr-FR">
                <a:solidFill>
                  <a:srgbClr val="161616"/>
                </a:solidFill>
                <a:latin typeface="Arial"/>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85</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Arial"/>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page a un titre unique, différent des autres pages du site</a:t>
            </a:r>
          </a:p>
          <a:p>
            <a:pPr algn="l">
              <a:lnSpc>
                <a:spcPct val="125000"/>
              </a:lnSpc>
            </a:pPr>
            <a:r>
              <a:rPr sz="1400" lang="fr-FR">
                <a:solidFill>
                  <a:srgbClr val="161616"/>
                </a:solidFill>
                <a:latin typeface="Arial"/>
              </a:rPr>
              <a:t>• </a:t>
            </a:r>
            <a:r>
              <a:rPr sz="1400" b="0" lang="fr-FR">
                <a:solidFill>
                  <a:srgbClr val="161616"/>
                </a:solidFill>
                <a:latin typeface="Arial"/>
              </a:rPr>
              <a:t>Le titre décrit le contenu puis le nom du site (« Déclarer - impots.gouv.fr »)</a:t>
            </a:r>
          </a:p>
          <a:p>
            <a:pPr algn="l">
              <a:lnSpc>
                <a:spcPct val="125000"/>
              </a:lnSpc>
            </a:pPr>
            <a:r>
              <a:rPr sz="1400" lang="fr-FR">
                <a:solidFill>
                  <a:srgbClr val="161616"/>
                </a:solidFill>
                <a:latin typeface="Arial"/>
              </a:rPr>
              <a:t>• </a:t>
            </a:r>
            <a:r>
              <a:rPr sz="1400" b="0" lang="fr-FR">
                <a:solidFill>
                  <a:srgbClr val="161616"/>
                </a:solidFill>
                <a:latin typeface="Arial"/>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OK : « Résultats de recherche : accessibilité - Ministère de la Culture »</a:t>
            </a:r>
          </a:p>
          <a:p>
            <a:pPr algn="l">
              <a:lnSpc>
                <a:spcPct val="150000"/>
              </a:lnSpc>
            </a:pPr>
            <a:r>
              <a:rPr sz="1400" lang="fr-FR">
                <a:solidFill>
                  <a:srgbClr val="161616"/>
                </a:solidFill>
                <a:latin typeface="Arial"/>
              </a:rPr>
              <a:t>• </a:t>
            </a:r>
            <a:r>
              <a:rPr sz="1400" b="0" lang="fr-FR">
                <a:solidFill>
                  <a:srgbClr val="161616"/>
                </a:solidFill>
                <a:latin typeface="Arial"/>
              </a:rPr>
              <a:t>KO : « Accueil » sur chaque page du site</a:t>
            </a:r>
          </a:p>
          <a:p>
            <a:pPr algn="l">
              <a:lnSpc>
                <a:spcPct val="150000"/>
              </a:lnSpc>
            </a:pPr>
            <a:r>
              <a:rPr sz="1400" lang="fr-FR">
                <a:solidFill>
                  <a:srgbClr val="161616"/>
                </a:solidFill>
                <a:latin typeface="Arial"/>
              </a:rPr>
              <a:t>• </a:t>
            </a:r>
            <a:r>
              <a:rPr sz="1400" b="0" lang="fr-FR">
                <a:solidFill>
                  <a:srgbClr val="161616"/>
                </a:solidFill>
                <a:latin typeface="Arial"/>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Un seul H1 par page, qui reprend le sujet principal</a:t>
            </a:r>
          </a:p>
          <a:p>
            <a:pPr algn="l">
              <a:lnSpc>
                <a:spcPct val="125000"/>
              </a:lnSpc>
            </a:pPr>
            <a:r>
              <a:rPr sz="1400" lang="fr-FR">
                <a:solidFill>
                  <a:srgbClr val="161616"/>
                </a:solidFill>
                <a:latin typeface="Arial"/>
              </a:rPr>
              <a:t>• </a:t>
            </a:r>
            <a:r>
              <a:rPr sz="1400" b="0" lang="fr-FR">
                <a:solidFill>
                  <a:srgbClr val="161616"/>
                </a:solidFill>
                <a:latin typeface="Arial"/>
              </a:rPr>
              <a:t>Les niveaux s’emboîtent sans saut : H1 → H2 → H3, jamais H2 → H4</a:t>
            </a:r>
          </a:p>
          <a:p>
            <a:pPr algn="l">
              <a:lnSpc>
                <a:spcPct val="125000"/>
              </a:lnSpc>
            </a:pPr>
            <a:r>
              <a:rPr sz="1400" lang="fr-FR">
                <a:solidFill>
                  <a:srgbClr val="161616"/>
                </a:solidFill>
                <a:latin typeface="Arial"/>
              </a:rPr>
              <a:t>• </a:t>
            </a:r>
            <a:r>
              <a:rPr sz="1400" b="0" lang="fr-FR">
                <a:solidFill>
                  <a:srgbClr val="161616"/>
                </a:solidFill>
                <a:latin typeface="Arial"/>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88</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Arial"/>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Arial"/>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Arial"/>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Arial"/>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rapport entre la couleur du texte et celle du fond (ou l’arrière-plan visible)</a:t>
            </a:r>
          </a:p>
          <a:p>
            <a:pPr algn="l">
              <a:lnSpc>
                <a:spcPct val="125000"/>
              </a:lnSpc>
            </a:pPr>
            <a:r>
              <a:rPr sz="1400" lang="fr-FR">
                <a:solidFill>
                  <a:srgbClr val="161616"/>
                </a:solidFill>
                <a:latin typeface="Arial"/>
              </a:rPr>
              <a:t>• </a:t>
            </a:r>
            <a:r>
              <a:rPr sz="1400" b="0" lang="fr-FR">
                <a:solidFill>
                  <a:srgbClr val="161616"/>
                </a:solidFill>
                <a:latin typeface="Arial"/>
              </a:rPr>
              <a:t>Sur un dégradé ou une image, mesurer à l’endroit le moins contrasté</a:t>
            </a:r>
          </a:p>
          <a:p>
            <a:pPr algn="l">
              <a:lnSpc>
                <a:spcPct val="125000"/>
              </a:lnSpc>
            </a:pPr>
            <a:r>
              <a:rPr sz="1400" lang="fr-FR">
                <a:solidFill>
                  <a:srgbClr val="161616"/>
                </a:solidFill>
                <a:latin typeface="Arial"/>
              </a:rPr>
              <a:t>• </a:t>
            </a:r>
            <a:r>
              <a:rPr sz="1400" b="0" lang="fr-FR">
                <a:solidFill>
                  <a:srgbClr val="161616"/>
                </a:solidFill>
                <a:latin typeface="Arial"/>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90</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Arial"/>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Arial"/>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Arial"/>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Arial"/>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Texte gris clair sur fond blanc (#999 sur #FFF) : 2,85:1 - échec même en texte large</a:t>
            </a:r>
          </a:p>
          <a:p>
            <a:pPr algn="l">
              <a:lnSpc>
                <a:spcPct val="150000"/>
              </a:lnSpc>
            </a:pPr>
            <a:r>
              <a:rPr sz="1400" lang="fr-FR">
                <a:solidFill>
                  <a:srgbClr val="161616"/>
                </a:solidFill>
                <a:latin typeface="Arial"/>
              </a:rPr>
              <a:t>• </a:t>
            </a:r>
            <a:r>
              <a:rPr sz="1400" b="0" lang="fr-FR">
                <a:solidFill>
                  <a:srgbClr val="161616"/>
                </a:solidFill>
                <a:latin typeface="Arial"/>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91</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premier lien interactif permet d’aller directement au contenu principal</a:t>
            </a:r>
          </a:p>
          <a:p>
            <a:pPr algn="l">
              <a:lnSpc>
                <a:spcPct val="125000"/>
              </a:lnSpc>
            </a:pPr>
            <a:r>
              <a:rPr sz="1400" lang="fr-FR">
                <a:solidFill>
                  <a:srgbClr val="161616"/>
                </a:solidFill>
                <a:latin typeface="Arial"/>
              </a:rPr>
              <a:t>• </a:t>
            </a:r>
            <a:r>
              <a:rPr sz="1400" b="0" lang="fr-FR">
                <a:solidFill>
                  <a:srgbClr val="161616"/>
                </a:solidFill>
                <a:latin typeface="Arial"/>
              </a:rPr>
              <a:t>Il devient visible dès qu’il a le focus, même s’il était masqué</a:t>
            </a:r>
          </a:p>
          <a:p>
            <a:pPr algn="l">
              <a:lnSpc>
                <a:spcPct val="125000"/>
              </a:lnSpc>
            </a:pPr>
            <a:r>
              <a:rPr sz="1400" lang="fr-FR">
                <a:solidFill>
                  <a:srgbClr val="161616"/>
                </a:solidFill>
                <a:latin typeface="Arial"/>
              </a:rPr>
              <a:t>• </a:t>
            </a:r>
            <a:r>
              <a:rPr sz="1400" b="0" lang="fr-FR">
                <a:solidFill>
                  <a:srgbClr val="161616"/>
                </a:solidFill>
                <a:latin typeface="Arial"/>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Ouvrez gouvernement.fr et appuyez Tab : le lien « Contenu » apparaît en haut</a:t>
            </a:r>
          </a:p>
          <a:p>
            <a:pPr algn="l">
              <a:lnSpc>
                <a:spcPct val="150000"/>
              </a:lnSpc>
            </a:pPr>
            <a:r>
              <a:rPr sz="1400" lang="fr-FR">
                <a:solidFill>
                  <a:srgbClr val="161616"/>
                </a:solidFill>
                <a:latin typeface="Arial"/>
              </a:rPr>
              <a:t>• </a:t>
            </a:r>
            <a:r>
              <a:rPr sz="1400" b="0" lang="fr-FR">
                <a:solidFill>
                  <a:srgbClr val="161616"/>
                </a:solidFill>
                <a:latin typeface="Arial"/>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Utiliser 5 touches pour tester n’importe quelle page</a:t>
            </a:r>
          </a:p>
          <a:p>
            <a:pPr algn="l">
              <a:lnSpc>
                <a:spcPct val="125000"/>
              </a:lnSpc>
            </a:pPr>
            <a:r>
              <a:rPr sz="1400" lang="fr-FR">
                <a:solidFill>
                  <a:srgbClr val="161616"/>
                </a:solidFill>
                <a:latin typeface="Arial"/>
              </a:rPr>
              <a:t>• </a:t>
            </a:r>
            <a:r>
              <a:rPr sz="1400" b="0" lang="fr-FR">
                <a:solidFill>
                  <a:srgbClr val="161616"/>
                </a:solidFill>
                <a:latin typeface="Arial"/>
              </a:rPr>
              <a:t>Repérer 3 signaux qui trahissent un défaut d’accessibilité</a:t>
            </a:r>
          </a:p>
          <a:p>
            <a:pPr algn="l">
              <a:lnSpc>
                <a:spcPct val="125000"/>
              </a:lnSpc>
            </a:pPr>
            <a:r>
              <a:rPr sz="1400" lang="fr-FR">
                <a:solidFill>
                  <a:srgbClr val="161616"/>
                </a:solidFill>
                <a:latin typeface="Arial"/>
              </a:rPr>
              <a:t>• </a:t>
            </a:r>
            <a:r>
              <a:rPr sz="1400" b="0" lang="fr-FR">
                <a:solidFill>
                  <a:srgbClr val="161616"/>
                </a:solidFill>
                <a:latin typeface="Arial"/>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Arial"/>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Arial"/>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94</a:t>
            </a:r>
            <a:endParaRPr lang="fr-FR" dirty="0"/>
          </a:p>
        </p:txBody>
      </p:sp>
      <p:sp>
        <p:nvSpPr>
          <p:cNvPr id="9" name="DSFR-box"/>
          <p:cNvSpPr/>
          <p:nvPr/>
        </p:nvSpPr>
        <p:spPr>
          <a:xfrm>
            <a:off x="54864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Le focus disparaît</a:t>
            </a:r>
          </a:p>
        </p:txBody>
      </p:sp>
      <p:sp>
        <p:nvSpPr>
          <p:cNvPr id="12" name="DSFR-card-contenu"/>
          <p:cNvSpPr txBox="1"/>
          <p:nvPr/>
        </p:nvSpPr>
        <p:spPr>
          <a:xfrm>
            <a:off x="70408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Plus de contour visible pendant la tabulation. L’utilisateur est perdu dès la 3ᵉ touche Tab.</a:t>
            </a:r>
          </a:p>
        </p:txBody>
      </p:sp>
      <p:sp>
        <p:nvSpPr>
          <p:cNvPr id="14" name="DSFR-box"/>
          <p:cNvSpPr/>
          <p:nvPr/>
        </p:nvSpPr>
        <p:spPr>
          <a:xfrm>
            <a:off x="438912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524865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L’ordre est illogique</a:t>
            </a:r>
          </a:p>
        </p:txBody>
      </p:sp>
      <p:sp>
        <p:nvSpPr>
          <p:cNvPr id="17" name="DSFR-card-contenu"/>
          <p:cNvSpPr txBox="1"/>
          <p:nvPr/>
        </p:nvSpPr>
        <p:spPr>
          <a:xfrm>
            <a:off x="454456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Le focus saute à droite avant le menu à gauche. Le lecteur d’écran parcourt la page dans le désordre.</a:t>
            </a:r>
          </a:p>
        </p:txBody>
      </p:sp>
      <p:sp>
        <p:nvSpPr>
          <p:cNvPr id="19" name="DSFR-box"/>
          <p:cNvSpPr/>
          <p:nvPr/>
        </p:nvSpPr>
        <p:spPr>
          <a:xfrm>
            <a:off x="822960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908913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L’état n’est pas annoncé</a:t>
            </a:r>
          </a:p>
        </p:txBody>
      </p:sp>
      <p:sp>
        <p:nvSpPr>
          <p:cNvPr id="22" name="DSFR-card-contenu"/>
          <p:cNvSpPr txBox="1"/>
          <p:nvPr/>
        </p:nvSpPr>
        <p:spPr>
          <a:xfrm>
            <a:off x="838504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Une case qui coche sans dire « coché ». L’information est invisible pour qui ne voit pas l’écran.</a:t>
            </a:r>
          </a:p>
        </p:txBody>
      </p:sp>
      <p:pic>
        <p:nvPicPr>
          <p:cNvPr id="23" name="DSFR-qrcode" descr="QR code : https://alexandra-guiderdoni.github.io/tp-fabrication-igpde-102846-ay11/"/>
          <p:cNvPicPr>
            <a:picLocks noChangeAspect="1"/>
          </p:cNvPicPr>
          <p:nvPr/>
        </p:nvPicPr>
        <p:blipFill>
          <a:blip r:embed="rId2"/>
          <a:stretch>
            <a:fillRect/>
          </a:stretch>
        </p:blipFill>
        <p:spPr>
          <a:xfrm>
            <a:off x="475488" y="4663440"/>
            <a:ext cx="1005840" cy="1005840"/>
          </a:xfrm>
          <a:prstGeom prst="rect">
            <a:avLst/>
          </a:prstGeom>
        </p:spPr>
      </p:pic>
      <p:sp>
        <p:nvSpPr>
          <p:cNvPr id="24" name="DSFR-qrcode-cta"/>
          <p:cNvSpPr txBox="1"/>
          <p:nvPr/>
        </p:nvSpPr>
        <p:spPr>
          <a:xfrm>
            <a:off x="1609344" y="4736592"/>
            <a:ext cx="1009497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5" name="DSFR-qrcode-url-visible"/>
          <p:cNvSpPr txBox="1"/>
          <p:nvPr/>
        </p:nvSpPr>
        <p:spPr>
          <a:xfrm>
            <a:off x="1609344" y="5029200"/>
            <a:ext cx="10094976" cy="731520"/>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3"/>
              </a:rPr>
              <a:t>https://alexandra-guiderdoni.github.io/tp-fabrication-igpde-102846-ay11/</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10" name="DSFR-card-numero"/>
          <p:cNvSpPr/>
          <p:nvPr/>
        </p:nvSpPr>
        <p:spPr>
          <a:xfrm>
            <a:off x="70408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1</a:t>
            </a:r>
          </a:p>
        </p:txBody>
      </p:sp>
      <p:sp>
        <p:nvSpPr>
          <p:cNvPr id="15" name="DSFR-card-numero"/>
          <p:cNvSpPr/>
          <p:nvPr/>
        </p:nvSpPr>
        <p:spPr>
          <a:xfrm>
            <a:off x="454456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2</a:t>
            </a:r>
          </a:p>
        </p:txBody>
      </p:sp>
      <p:sp>
        <p:nvSpPr>
          <p:cNvPr id="20" name="DSFR-card-numero"/>
          <p:cNvSpPr/>
          <p:nvPr/>
        </p:nvSpPr>
        <p:spPr>
          <a:xfrm>
            <a:off x="838504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3</a:t>
            </a:r>
          </a:p>
        </p:txBody>
      </p:sp>
      <p:sp>
        <p:nvSpPr>
          <p:cNvPr id="8" name="DSFR-accent-decoratif" descr=""/>
          <p:cNvSpPr/>
          <p:nvPr/>
        </p:nvSpPr>
        <p:spPr>
          <a:xfrm>
            <a:off x="47548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95</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Cachez votre souris derrière l’écran</a:t>
            </a:r>
          </a:p>
          <a:p>
            <a:pPr algn="l">
              <a:lnSpc>
                <a:spcPct val="125000"/>
              </a:lnSpc>
            </a:pPr>
            <a:r>
              <a:rPr sz="1400" lang="fr-FR">
                <a:solidFill>
                  <a:srgbClr val="161616"/>
                </a:solidFill>
                <a:latin typeface="Arial"/>
              </a:rPr>
              <a:t>• </a:t>
            </a:r>
            <a:r>
              <a:rPr sz="1400" b="0" lang="fr-FR">
                <a:solidFill>
                  <a:srgbClr val="161616"/>
                </a:solidFill>
                <a:latin typeface="Arial"/>
              </a:rPr>
              <a:t>Tabulez 10 fois et notez chaque fois que le focus disparaît</a:t>
            </a:r>
          </a:p>
          <a:p>
            <a:pPr algn="l">
              <a:lnSpc>
                <a:spcPct val="125000"/>
              </a:lnSpc>
            </a:pPr>
            <a:r>
              <a:rPr sz="1400" lang="fr-FR">
                <a:solidFill>
                  <a:srgbClr val="161616"/>
                </a:solidFill>
                <a:latin typeface="Arial"/>
              </a:rPr>
              <a:t>• </a:t>
            </a:r>
            <a:r>
              <a:rPr sz="1400" b="0" lang="fr-FR">
                <a:solidFill>
                  <a:srgbClr val="161616"/>
                </a:solidFill>
                <a:latin typeface="Arial"/>
              </a:rPr>
              <a:t>Essayez Entrée sur un bouton, Espace sur une case à cocher</a:t>
            </a:r>
          </a:p>
          <a:p>
            <a:pPr algn="l">
              <a:lnSpc>
                <a:spcPct val="125000"/>
              </a:lnSpc>
            </a:pPr>
            <a:r>
              <a:rPr sz="1400" lang="fr-FR">
                <a:solidFill>
                  <a:srgbClr val="161616"/>
                </a:solidFill>
                <a:latin typeface="Arial"/>
              </a:rPr>
              <a:t>• </a:t>
            </a:r>
            <a:r>
              <a:rPr sz="1400" b="0" lang="fr-FR">
                <a:solidFill>
                  <a:srgbClr val="161616"/>
                </a:solidFill>
                <a:latin typeface="Arial"/>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1 signal détecté = vous avez l’œil</a:t>
            </a:r>
          </a:p>
          <a:p>
            <a:pPr algn="l">
              <a:lnSpc>
                <a:spcPct val="150000"/>
              </a:lnSpc>
            </a:pPr>
            <a:r>
              <a:rPr sz="1400" lang="fr-FR">
                <a:solidFill>
                  <a:srgbClr val="161616"/>
                </a:solidFill>
                <a:latin typeface="Arial"/>
              </a:rPr>
              <a:t>• </a:t>
            </a:r>
            <a:r>
              <a:rPr sz="1400" b="0" lang="fr-FR">
                <a:solidFill>
                  <a:srgbClr val="161616"/>
                </a:solidFill>
                <a:latin typeface="Arial"/>
              </a:rPr>
              <a:t>3 signaux détectés = vous êtes auditeur clavier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96</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 balise &lt;html&gt; porte un attribut lang (ex. lang="fr")</a:t>
            </a:r>
          </a:p>
          <a:p>
            <a:pPr algn="l">
              <a:lnSpc>
                <a:spcPct val="125000"/>
              </a:lnSpc>
            </a:pPr>
            <a:r>
              <a:rPr sz="1400" lang="fr-FR">
                <a:solidFill>
                  <a:srgbClr val="161616"/>
                </a:solidFill>
                <a:latin typeface="Arial"/>
              </a:rPr>
              <a:t>• </a:t>
            </a:r>
            <a:r>
              <a:rPr sz="1400" b="0" lang="fr-FR">
                <a:solidFill>
                  <a:srgbClr val="161616"/>
                </a:solidFill>
                <a:latin typeface="Arial"/>
              </a:rPr>
              <a:t>Les passages dans une autre langue sont balisés : &lt;span lang="en"&gt;workshop&lt;/span&gt;</a:t>
            </a:r>
          </a:p>
          <a:p>
            <a:pPr algn="l">
              <a:lnSpc>
                <a:spcPct val="125000"/>
              </a:lnSpc>
            </a:pPr>
            <a:r>
              <a:rPr sz="1400" lang="fr-FR">
                <a:solidFill>
                  <a:srgbClr val="161616"/>
                </a:solidFill>
                <a:latin typeface="Arial"/>
              </a:rPr>
              <a:t>• </a:t>
            </a:r>
            <a:r>
              <a:rPr sz="1400" b="0" lang="fr-FR">
                <a:solidFill>
                  <a:srgbClr val="161616"/>
                </a:solidFill>
                <a:latin typeface="Arial"/>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Clic droit → Afficher le code source → regarder la 1ʳᵉ ligne &lt;html lang="…"&gt;</a:t>
            </a:r>
          </a:p>
          <a:p>
            <a:pPr algn="l">
              <a:lnSpc>
                <a:spcPct val="150000"/>
              </a:lnSpc>
            </a:pPr>
            <a:r>
              <a:rPr sz="1400" lang="fr-FR">
                <a:solidFill>
                  <a:srgbClr val="161616"/>
                </a:solidFill>
                <a:latin typeface="Arial"/>
              </a:rPr>
              <a:t>• </a:t>
            </a:r>
            <a:r>
              <a:rPr sz="1400" b="0" lang="fr-FR">
                <a:solidFill>
                  <a:srgbClr val="161616"/>
                </a:solidFill>
                <a:latin typeface="Arial"/>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97</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À 200 % de zoom, aucun texte n’est coupé ni superposé</a:t>
            </a:r>
          </a:p>
          <a:p>
            <a:pPr algn="l">
              <a:lnSpc>
                <a:spcPct val="125000"/>
              </a:lnSpc>
            </a:pPr>
            <a:r>
              <a:rPr sz="1400" lang="fr-FR">
                <a:solidFill>
                  <a:srgbClr val="161616"/>
                </a:solidFill>
                <a:latin typeface="Arial"/>
              </a:rPr>
              <a:t>• </a:t>
            </a:r>
            <a:r>
              <a:rPr sz="1400" b="0" lang="fr-FR">
                <a:solidFill>
                  <a:srgbClr val="161616"/>
                </a:solidFill>
                <a:latin typeface="Arial"/>
              </a:rPr>
              <a:t>Pas d’apparition d’un défilement horizontal sur une page classique</a:t>
            </a:r>
          </a:p>
          <a:p>
            <a:pPr algn="l">
              <a:lnSpc>
                <a:spcPct val="125000"/>
              </a:lnSpc>
            </a:pPr>
            <a:r>
              <a:rPr sz="1400" lang="fr-FR">
                <a:solidFill>
                  <a:srgbClr val="161616"/>
                </a:solidFill>
                <a:latin typeface="Arial"/>
              </a:rPr>
              <a:t>• </a:t>
            </a:r>
            <a:r>
              <a:rPr sz="1400" b="0" lang="fr-FR">
                <a:solidFill>
                  <a:srgbClr val="161616"/>
                </a:solidFill>
                <a:latin typeface="Arial"/>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Ctrl + (ou Cmd + sur Mac) pour zoomer jusqu’à 200 % - répéter 4 fois depuis 100 %</a:t>
            </a:r>
          </a:p>
          <a:p>
            <a:pPr algn="l">
              <a:lnSpc>
                <a:spcPct val="150000"/>
              </a:lnSpc>
            </a:pPr>
            <a:r>
              <a:rPr sz="1400" lang="fr-FR">
                <a:solidFill>
                  <a:srgbClr val="161616"/>
                </a:solidFill>
                <a:latin typeface="Arial"/>
              </a:rPr>
              <a:t>• </a:t>
            </a:r>
            <a:r>
              <a:rPr sz="1400" b="0" lang="fr-FR">
                <a:solidFill>
                  <a:srgbClr val="161616"/>
                </a:solidFill>
                <a:latin typeface="Arial"/>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des sous-titres synchronisés (pas seulement une transcription)</a:t>
            </a:r>
          </a:p>
          <a:p>
            <a:pPr algn="l">
              <a:lnSpc>
                <a:spcPct val="115000"/>
              </a:lnSpc>
            </a:pPr>
            <a:r>
              <a:rPr sz="1400" lang="fr-FR">
                <a:solidFill>
                  <a:srgbClr val="161616"/>
                </a:solidFill>
                <a:latin typeface="Arial"/>
              </a:rPr>
              <a:t>• </a:t>
            </a:r>
            <a:r>
              <a:rPr sz="1400" b="0" lang="fr-FR">
                <a:solidFill>
                  <a:srgbClr val="161616"/>
                </a:solidFill>
                <a:latin typeface="Arial"/>
              </a:rPr>
              <a:t>Les sous-titres incluent les paroles ET les informations sonores importantes : « (rires) », « (sonnerie) »</a:t>
            </a:r>
          </a:p>
          <a:p>
            <a:pPr algn="l">
              <a:lnSpc>
                <a:spcPct val="115000"/>
              </a:lnSpc>
            </a:pPr>
            <a:r>
              <a:rPr sz="1400" lang="fr-FR">
                <a:solidFill>
                  <a:srgbClr val="161616"/>
                </a:solidFill>
                <a:latin typeface="Arial"/>
              </a:rPr>
              <a:t>• </a:t>
            </a:r>
            <a:r>
              <a:rPr sz="1400" b="0" lang="fr-FR">
                <a:solidFill>
                  <a:srgbClr val="161616"/>
                </a:solidFill>
                <a:latin typeface="Arial"/>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99</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Les sous-titres automatiques peuvent déformer les mots, surtout les noms propres et acronymes</a:t>
            </a:r>
          </a:p>
          <a:p>
            <a:pPr algn="l">
              <a:lnSpc>
                <a:spcPct val="125000"/>
              </a:lnSpc>
            </a:pPr>
            <a:r>
              <a:rPr sz="1400" lang="fr-FR">
                <a:solidFill>
                  <a:srgbClr val="161616"/>
                </a:solidFill>
                <a:latin typeface="Arial"/>
              </a:rPr>
              <a:t>• </a:t>
            </a:r>
            <a:r>
              <a:rPr sz="1400" b="0" lang="fr-FR">
                <a:solidFill>
                  <a:srgbClr val="161616"/>
                </a:solidFill>
                <a:latin typeface="Arial"/>
              </a:rPr>
              <a:t>Noms propres, acronymes, chiffres : souvent mal reconnus</a:t>
            </a:r>
          </a:p>
          <a:p>
            <a:pPr algn="l">
              <a:lnSpc>
                <a:spcPct val="125000"/>
              </a:lnSpc>
            </a:pPr>
            <a:r>
              <a:rPr sz="1400" lang="fr-FR">
                <a:solidFill>
                  <a:srgbClr val="161616"/>
                </a:solidFill>
                <a:latin typeface="Arial"/>
              </a:rPr>
              <a:t>• </a:t>
            </a:r>
            <a:r>
              <a:rPr sz="1400" b="0" lang="fr-FR">
                <a:solidFill>
                  <a:srgbClr val="161616"/>
                </a:solidFill>
                <a:latin typeface="Arial"/>
              </a:rPr>
              <a:t>Ponctuation absente : « on mange les enfants » vs « on mange, les enfants »</a:t>
            </a:r>
          </a:p>
          <a:p>
            <a:pPr algn="l">
              <a:lnSpc>
                <a:spcPct val="125000"/>
              </a:lnSpc>
            </a:pPr>
            <a:r>
              <a:rPr sz="1400" lang="fr-FR">
                <a:solidFill>
                  <a:srgbClr val="161616"/>
                </a:solidFill>
                <a:latin typeface="Arial"/>
              </a:rPr>
              <a:t>• </a:t>
            </a:r>
            <a:r>
              <a:rPr sz="1400" b="0" lang="fr-FR">
                <a:solidFill>
                  <a:srgbClr val="161616"/>
                </a:solidFill>
                <a:latin typeface="Arial"/>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Générer l’auto (YouTube, Whisper, outil interne) pour accélérer le brouillon</a:t>
            </a:r>
          </a:p>
          <a:p>
            <a:pPr algn="l">
              <a:lnSpc>
                <a:spcPct val="115000"/>
              </a:lnSpc>
            </a:pPr>
            <a:r>
              <a:rPr sz="1400" lang="fr-FR">
                <a:solidFill>
                  <a:srgbClr val="161616"/>
                </a:solidFill>
                <a:latin typeface="Arial"/>
              </a:rPr>
              <a:t>• </a:t>
            </a:r>
            <a:r>
              <a:rPr sz="1400" b="0" lang="fr-FR">
                <a:solidFill>
                  <a:srgbClr val="161616"/>
                </a:solidFill>
                <a:latin typeface="Arial"/>
              </a:rPr>
              <a:t>Relire : noms, chiffres, ponctuation et [indications sonores]</a:t>
            </a:r>
          </a:p>
          <a:p>
            <a:pPr algn="l">
              <a:lnSpc>
                <a:spcPct val="115000"/>
              </a:lnSpc>
            </a:pPr>
            <a:r>
              <a:rPr sz="1400" lang="fr-FR">
                <a:solidFill>
                  <a:srgbClr val="161616"/>
                </a:solidFill>
                <a:latin typeface="Arial"/>
              </a:rPr>
              <a:t>• </a:t>
            </a:r>
            <a:r>
              <a:rPr sz="1400" b="0" lang="fr-FR">
                <a:solidFill>
                  <a:srgbClr val="161616"/>
                </a:solidFill>
                <a:latin typeface="Arial"/>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Toute vidéo / audio propose un lien visible « Lire la transcription »</a:t>
            </a:r>
          </a:p>
          <a:p>
            <a:pPr algn="l">
              <a:lnSpc>
                <a:spcPct val="125000"/>
              </a:lnSpc>
            </a:pPr>
            <a:r>
              <a:rPr sz="1400" lang="fr-FR">
                <a:solidFill>
                  <a:srgbClr val="161616"/>
                </a:solidFill>
                <a:latin typeface="Arial"/>
              </a:rPr>
              <a:t>• </a:t>
            </a:r>
            <a:r>
              <a:rPr sz="1400" b="0" lang="fr-FR">
                <a:solidFill>
                  <a:srgbClr val="161616"/>
                </a:solidFill>
                <a:latin typeface="Arial"/>
              </a:rPr>
              <a:t>La transcription est complète : paroles + informations sonores essentielles</a:t>
            </a:r>
          </a:p>
          <a:p>
            <a:pPr algn="l">
              <a:lnSpc>
                <a:spcPct val="125000"/>
              </a:lnSpc>
            </a:pPr>
            <a:r>
              <a:rPr sz="1400" lang="fr-FR">
                <a:solidFill>
                  <a:srgbClr val="161616"/>
                </a:solidFill>
                <a:latin typeface="Arial"/>
              </a:rPr>
              <a:t>• </a:t>
            </a:r>
            <a:r>
              <a:rPr sz="1400" b="0" lang="fr-FR">
                <a:solidFill>
                  <a:srgbClr val="161616"/>
                </a:solidFill>
                <a:latin typeface="Arial"/>
              </a:rPr>
              <a:t>Elle est sur la même page ou à un clic, pas cachée à deux étages de menu</a:t>
            </a:r>
          </a:p>
          <a:p>
            <a:pPr algn="l">
              <a:lnSpc>
                <a:spcPct val="125000"/>
              </a:lnSpc>
            </a:pPr>
            <a:r>
              <a:rPr sz="1400" lang="fr-FR">
                <a:solidFill>
                  <a:srgbClr val="161616"/>
                </a:solidFill>
                <a:latin typeface="Arial"/>
              </a:rPr>
              <a:t>• </a:t>
            </a:r>
            <a:r>
              <a:rPr sz="1400" b="0" lang="fr-FR">
                <a:solidFill>
                  <a:srgbClr val="161616"/>
                </a:solidFill>
                <a:latin typeface="Arial"/>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 transcription rend le contenu plus facile à retrouver, relire et citer</a:t>
            </a:r>
          </a:p>
          <a:p>
            <a:pPr algn="l">
              <a:lnSpc>
                <a:spcPct val="150000"/>
              </a:lnSpc>
            </a:pPr>
            <a:r>
              <a:rPr sz="1400" lang="fr-FR">
                <a:solidFill>
                  <a:srgbClr val="161616"/>
                </a:solidFill>
                <a:latin typeface="Arial"/>
              </a:rPr>
              <a:t>• </a:t>
            </a:r>
            <a:r>
              <a:rPr sz="1400" b="0" lang="fr-FR">
                <a:solidFill>
                  <a:srgbClr val="161616"/>
                </a:solidFill>
                <a:latin typeface="Arial"/>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101</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L’audiodescription ajoute une voix off qui décrit les images clés pendant les silences.</a:t>
            </a:r>
          </a:p>
        </p:txBody>
      </p:sp>
      <p:sp>
        <p:nvSpPr>
          <p:cNvPr id="12" name="DSFR-box"/>
          <p:cNvSpPr/>
          <p:nvPr/>
        </p:nvSpPr>
        <p:spPr>
          <a:xfrm>
            <a:off x="548640" y="29946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9757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une piste audiodécrite activable (bouton AD)</a:t>
            </a:r>
          </a:p>
          <a:p>
            <a:pPr algn="l">
              <a:lnSpc>
                <a:spcPct val="115000"/>
              </a:lnSpc>
            </a:pPr>
            <a:r>
              <a:rPr sz="1400" lang="fr-FR">
                <a:solidFill>
                  <a:srgbClr val="161616"/>
                </a:solidFill>
                <a:latin typeface="Arial"/>
              </a:rPr>
              <a:t>• </a:t>
            </a:r>
            <a:r>
              <a:rPr sz="1400" b="0" lang="fr-FR">
                <a:solidFill>
                  <a:srgbClr val="161616"/>
                </a:solidFill>
                <a:latin typeface="Arial"/>
              </a:rPr>
              <a:t>L’audiodescription décrit les éléments visuels essentiels à la compréhension</a:t>
            </a:r>
          </a:p>
          <a:p>
            <a:pPr algn="l">
              <a:lnSpc>
                <a:spcPct val="115000"/>
              </a:lnSpc>
            </a:pPr>
            <a:r>
              <a:rPr sz="1400" lang="fr-FR">
                <a:solidFill>
                  <a:srgbClr val="161616"/>
                </a:solidFill>
                <a:latin typeface="Arial"/>
              </a:rPr>
              <a:t>• </a:t>
            </a:r>
            <a:r>
              <a:rPr sz="1400" b="0" lang="fr-FR">
                <a:solidFill>
                  <a:srgbClr val="161616"/>
                </a:solidFill>
                <a:latin typeface="Arial"/>
              </a:rPr>
              <a:t>Elle s’intercale dans les silences, sans couvrir les dialogues</a:t>
            </a:r>
          </a:p>
          <a:p>
            <a:pPr algn="l">
              <a:lnSpc>
                <a:spcPct val="115000"/>
              </a:lnSpc>
            </a:pPr>
            <a:r>
              <a:rPr sz="1400" lang="fr-FR">
                <a:solidFill>
                  <a:srgbClr val="161616"/>
                </a:solidFill>
                <a:latin typeface="Arial"/>
              </a:rPr>
              <a:t>• </a:t>
            </a:r>
            <a:r>
              <a:rPr sz="1400" b="0" lang="fr-FR">
                <a:solidFill>
                  <a:srgbClr val="161616"/>
                </a:solidFill>
                <a:latin typeface="Arial"/>
              </a:rPr>
              <a:t>Pour une vidéo sans dialogue essentiel : une description textuelle synchronisée suffit</a:t>
            </a:r>
          </a:p>
        </p:txBody>
      </p:sp>
      <p:sp>
        <p:nvSpPr>
          <p:cNvPr id="16" name="DSFR-box"/>
          <p:cNvSpPr/>
          <p:nvPr/>
        </p:nvSpPr>
        <p:spPr>
          <a:xfrm>
            <a:off x="548640" y="4922215"/>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059375"/>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Arial"/>
              </a:rPr>
              <a:t>Quand l’image porte l’information, elle doit aussi être disponible autrement que par la vue.</a:t>
            </a:r>
          </a:p>
        </p:txBody>
      </p:sp>
      <p:sp>
        <p:nvSpPr>
          <p:cNvPr id="18" name="DSFR-quote-auteur"/>
          <p:cNvSpPr txBox="1"/>
          <p:nvPr/>
        </p:nvSpPr>
        <p:spPr>
          <a:xfrm>
            <a:off x="749808" y="5745175"/>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Audiodescription</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922215"/>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Image, schéma ou plan -&gt; description ou texte alternatif</a:t>
            </a:r>
          </a:p>
          <a:p>
            <a:pPr algn="l">
              <a:lnSpc>
                <a:spcPct val="120000"/>
              </a:lnSpc>
            </a:pPr>
            <a:r>
              <a:rPr sz="1400" lang="fr-FR">
                <a:solidFill>
                  <a:srgbClr val="161616"/>
                </a:solidFill>
                <a:latin typeface="Arial"/>
              </a:rPr>
              <a:t>• </a:t>
            </a:r>
            <a:r>
              <a:rPr sz="1400" b="0" lang="fr-FR">
                <a:solidFill>
                  <a:srgbClr val="161616"/>
                </a:solidFill>
                <a:latin typeface="Arial"/>
              </a:rPr>
              <a:t>Vidéo -&gt; sous-titres + informations visuelles essentielles</a:t>
            </a:r>
          </a:p>
          <a:p>
            <a:pPr algn="l">
              <a:lnSpc>
                <a:spcPct val="120000"/>
              </a:lnSpc>
            </a:pPr>
            <a:r>
              <a:rPr sz="1400" lang="fr-FR">
                <a:solidFill>
                  <a:srgbClr val="161616"/>
                </a:solidFill>
                <a:latin typeface="Arial"/>
              </a:rPr>
              <a:t>• </a:t>
            </a:r>
            <a:r>
              <a:rPr sz="1400" b="0" lang="fr-FR">
                <a:solidFill>
                  <a:srgbClr val="161616"/>
                </a:solidFill>
                <a:latin typeface="Arial"/>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lisibles : contraste fort, bandeau si besoin</a:t>
            </a:r>
          </a:p>
          <a:p>
            <a:pPr algn="l">
              <a:lnSpc>
                <a:spcPct val="120000"/>
              </a:lnSpc>
            </a:pPr>
            <a:r>
              <a:rPr sz="1400" lang="fr-FR">
                <a:solidFill>
                  <a:srgbClr val="161616"/>
                </a:solidFill>
                <a:latin typeface="Arial"/>
              </a:rPr>
              <a:t>• </a:t>
            </a:r>
            <a:r>
              <a:rPr sz="1400" b="0" lang="fr-FR">
                <a:solidFill>
                  <a:srgbClr val="161616"/>
                </a:solidFill>
                <a:latin typeface="Arial"/>
              </a:rPr>
              <a:t>Format réseau social : sous-titres non masqués par l'interface</a:t>
            </a:r>
          </a:p>
          <a:p>
            <a:pPr algn="l">
              <a:lnSpc>
                <a:spcPct val="120000"/>
              </a:lnSpc>
            </a:pPr>
            <a:r>
              <a:rPr sz="1400" lang="fr-FR">
                <a:solidFill>
                  <a:srgbClr val="161616"/>
                </a:solidFill>
                <a:latin typeface="Arial"/>
              </a:rPr>
              <a:t>• </a:t>
            </a:r>
            <a:r>
              <a:rPr sz="1400" b="0" lang="fr-FR">
                <a:solidFill>
                  <a:srgbClr val="161616"/>
                </a:solidFill>
                <a:latin typeface="Arial"/>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VSME et transcriptions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Quand le son porte de l'information, la transcription des paroles ne suffit pas toujours.</a:t>
            </a:r>
          </a:p>
        </p:txBody>
      </p:sp>
      <p:sp>
        <p:nvSpPr>
          <p:cNvPr id="12" name="DSFR-box"/>
          <p:cNvSpPr/>
          <p:nvPr/>
        </p:nvSpPr>
        <p:spPr>
          <a:xfrm>
            <a:off x="548640" y="2912364"/>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VSME : ce que ça ajoute</a:t>
            </a:r>
          </a:p>
        </p:txBody>
      </p:sp>
      <p:sp>
        <p:nvSpPr>
          <p:cNvPr id="14" name="DSFR-callout-body"/>
          <p:cNvSpPr txBox="1"/>
          <p:nvPr/>
        </p:nvSpPr>
        <p:spPr>
          <a:xfrm>
            <a:off x="704088"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Dialogues visibles et hors champ</a:t>
            </a:r>
          </a:p>
          <a:p>
            <a:pPr algn="l">
              <a:lnSpc>
                <a:spcPct val="115000"/>
              </a:lnSpc>
            </a:pPr>
            <a:r>
              <a:rPr sz="1400" lang="fr-FR">
                <a:solidFill>
                  <a:srgbClr val="161616"/>
                </a:solidFill>
                <a:latin typeface="Arial"/>
              </a:rPr>
              <a:t>• </a:t>
            </a:r>
            <a:r>
              <a:rPr sz="1400" b="0" lang="fr-FR">
                <a:solidFill>
                  <a:srgbClr val="161616"/>
                </a:solidFill>
                <a:latin typeface="Arial"/>
              </a:rPr>
              <a:t>Bruits utiles, effets sonores et musique</a:t>
            </a:r>
          </a:p>
          <a:p>
            <a:pPr algn="l">
              <a:lnSpc>
                <a:spcPct val="115000"/>
              </a:lnSpc>
            </a:pPr>
            <a:r>
              <a:rPr sz="1400" lang="fr-FR">
                <a:solidFill>
                  <a:srgbClr val="161616"/>
                </a:solidFill>
                <a:latin typeface="Arial"/>
              </a:rPr>
              <a:t>• </a:t>
            </a:r>
            <a:r>
              <a:rPr sz="1400" b="0" lang="fr-FR">
                <a:solidFill>
                  <a:srgbClr val="161616"/>
                </a:solidFill>
                <a:latin typeface="Arial"/>
              </a:rPr>
              <a:t>Voix off, narration, pensée intérieure</a:t>
            </a:r>
          </a:p>
          <a:p>
            <a:pPr algn="l">
              <a:lnSpc>
                <a:spcPct val="115000"/>
              </a:lnSpc>
            </a:pPr>
            <a:r>
              <a:rPr sz="1400" lang="fr-FR">
                <a:solidFill>
                  <a:srgbClr val="161616"/>
                </a:solidFill>
                <a:latin typeface="Arial"/>
              </a:rPr>
              <a:t>• </a:t>
            </a:r>
            <a:r>
              <a:rPr sz="1400" b="0" lang="fr-FR">
                <a:solidFill>
                  <a:srgbClr val="161616"/>
                </a:solidFill>
                <a:latin typeface="Arial"/>
              </a:rPr>
              <a:t>Langue étrangère et son venant d'un haut-parleur</a:t>
            </a:r>
          </a:p>
        </p:txBody>
      </p:sp>
      <p:sp>
        <p:nvSpPr>
          <p:cNvPr id="16" name="DSFR-box"/>
          <p:cNvSpPr/>
          <p:nvPr/>
        </p:nvSpPr>
        <p:spPr>
          <a:xfrm>
            <a:off x="6313931" y="291236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Transcription : choisir le niveau</a:t>
            </a:r>
          </a:p>
        </p:txBody>
      </p:sp>
      <p:sp>
        <p:nvSpPr>
          <p:cNvPr id="18" name="DSFR-alert-info-body"/>
          <p:cNvSpPr txBox="1"/>
          <p:nvPr/>
        </p:nvSpPr>
        <p:spPr>
          <a:xfrm>
            <a:off x="6469379"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Semi-intégrale : résumé détaillé + citations</a:t>
            </a:r>
          </a:p>
          <a:p>
            <a:pPr algn="l">
              <a:lnSpc>
                <a:spcPct val="115000"/>
              </a:lnSpc>
            </a:pPr>
            <a:r>
              <a:rPr sz="1400" lang="fr-FR">
                <a:solidFill>
                  <a:srgbClr val="161616"/>
                </a:solidFill>
                <a:latin typeface="Arial"/>
              </a:rPr>
              <a:t>• </a:t>
            </a:r>
            <a:r>
              <a:rPr sz="1400" b="0" lang="fr-FR">
                <a:solidFill>
                  <a:srgbClr val="161616"/>
                </a:solidFill>
                <a:latin typeface="Arial"/>
              </a:rPr>
              <a:t>Intégrale éditée : texte complet, corrigé et lisible</a:t>
            </a:r>
          </a:p>
          <a:p>
            <a:pPr algn="l">
              <a:lnSpc>
                <a:spcPct val="115000"/>
              </a:lnSpc>
            </a:pPr>
            <a:r>
              <a:rPr sz="1400" lang="fr-FR">
                <a:solidFill>
                  <a:srgbClr val="161616"/>
                </a:solidFill>
                <a:latin typeface="Arial"/>
              </a:rPr>
              <a:t>• </a:t>
            </a:r>
            <a:r>
              <a:rPr sz="1400" b="0" lang="fr-FR">
                <a:solidFill>
                  <a:srgbClr val="161616"/>
                </a:solidFill>
                <a:latin typeface="Arial"/>
              </a:rPr>
              <a:t>Verbatim : mot à mot, hésitations et sons inclus</a:t>
            </a:r>
          </a:p>
        </p:txBody>
      </p:sp>
      <p:sp>
        <p:nvSpPr>
          <p:cNvPr id="20" name="DSFR-box"/>
          <p:cNvSpPr/>
          <p:nvPr/>
        </p:nvSpPr>
        <p:spPr>
          <a:xfrm>
            <a:off x="548640" y="5115153"/>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206593"/>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115153"/>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champ (texte, case, menu déroulant) a une étiquette visible à côté</a:t>
            </a:r>
          </a:p>
          <a:p>
            <a:pPr algn="l">
              <a:lnSpc>
                <a:spcPct val="125000"/>
              </a:lnSpc>
            </a:pPr>
            <a:r>
              <a:rPr sz="1400" lang="fr-FR">
                <a:solidFill>
                  <a:srgbClr val="161616"/>
                </a:solidFill>
                <a:latin typeface="Arial"/>
              </a:rPr>
              <a:t>• </a:t>
            </a:r>
            <a:r>
              <a:rPr sz="1400" b="0" lang="fr-FR">
                <a:solidFill>
                  <a:srgbClr val="161616"/>
                </a:solidFill>
                <a:latin typeface="Arial"/>
              </a:rPr>
              <a:t>L’étiquette reste affichée quand on commence à saisir - elle ne disparaît pas</a:t>
            </a:r>
          </a:p>
          <a:p>
            <a:pPr algn="l">
              <a:lnSpc>
                <a:spcPct val="125000"/>
              </a:lnSpc>
            </a:pPr>
            <a:r>
              <a:rPr sz="1400" lang="fr-FR">
                <a:solidFill>
                  <a:srgbClr val="161616"/>
                </a:solidFill>
                <a:latin typeface="Arial"/>
              </a:rPr>
              <a:t>• </a:t>
            </a:r>
            <a:r>
              <a:rPr sz="1400" b="0" lang="fr-FR">
                <a:solidFill>
                  <a:srgbClr val="161616"/>
                </a:solidFill>
                <a:latin typeface="Arial"/>
              </a:rPr>
              <a:t>Cliquer sur l’étiquette déplace le focus dans le champ (test rapide et décisif)</a:t>
            </a:r>
          </a:p>
          <a:p>
            <a:pPr algn="l">
              <a:lnSpc>
                <a:spcPct val="125000"/>
              </a:lnSpc>
            </a:pPr>
            <a:r>
              <a:rPr sz="1400" lang="fr-FR">
                <a:solidFill>
                  <a:srgbClr val="161616"/>
                </a:solidFill>
                <a:latin typeface="Arial"/>
              </a:rPr>
              <a:t>• </a:t>
            </a:r>
            <a:r>
              <a:rPr sz="1400" b="0" lang="fr-FR">
                <a:solidFill>
                  <a:srgbClr val="161616"/>
                </a:solidFill>
                <a:latin typeface="Arial"/>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105</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Il disparaît dès qu’on commence à saisir - on oublie ce qu’on remplit</a:t>
            </a:r>
          </a:p>
          <a:p>
            <a:pPr algn="l">
              <a:lnSpc>
                <a:spcPct val="125000"/>
              </a:lnSpc>
            </a:pPr>
            <a:r>
              <a:rPr sz="1400" lang="fr-FR">
                <a:solidFill>
                  <a:srgbClr val="161616"/>
                </a:solidFill>
                <a:latin typeface="Arial"/>
              </a:rPr>
              <a:t>• </a:t>
            </a:r>
            <a:r>
              <a:rPr sz="1400" b="0" lang="fr-FR">
                <a:solidFill>
                  <a:srgbClr val="161616"/>
                </a:solidFill>
                <a:latin typeface="Arial"/>
              </a:rPr>
              <a:t>Son contraste est souvent trop faible pour passer le check 4</a:t>
            </a:r>
          </a:p>
          <a:p>
            <a:pPr algn="l">
              <a:lnSpc>
                <a:spcPct val="125000"/>
              </a:lnSpc>
            </a:pPr>
            <a:r>
              <a:rPr sz="1400" lang="fr-FR">
                <a:solidFill>
                  <a:srgbClr val="161616"/>
                </a:solidFill>
                <a:latin typeface="Arial"/>
              </a:rPr>
              <a:t>• </a:t>
            </a:r>
            <a:r>
              <a:rPr sz="1400" b="0" lang="fr-FR">
                <a:solidFill>
                  <a:srgbClr val="161616"/>
                </a:solidFill>
                <a:latin typeface="Arial"/>
              </a:rPr>
              <a:t>Il peut être annoncé comme exemple, pas comme nom fiable du champ</a:t>
            </a:r>
          </a:p>
          <a:p>
            <a:pPr algn="l">
              <a:lnSpc>
                <a:spcPct val="125000"/>
              </a:lnSpc>
            </a:pPr>
            <a:r>
              <a:rPr sz="1400" lang="fr-FR">
                <a:solidFill>
                  <a:srgbClr val="161616"/>
                </a:solidFill>
                <a:latin typeface="Arial"/>
              </a:rPr>
              <a:t>• </a:t>
            </a:r>
            <a:r>
              <a:rPr sz="1400" b="0" lang="fr-FR">
                <a:solidFill>
                  <a:srgbClr val="161616"/>
                </a:solidFill>
                <a:latin typeface="Arial"/>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Étiquette visible au-dessus du champ (ou à gauche)</a:t>
            </a:r>
          </a:p>
          <a:p>
            <a:pPr algn="l">
              <a:lnSpc>
                <a:spcPct val="150000"/>
              </a:lnSpc>
            </a:pPr>
            <a:r>
              <a:rPr sz="1400" lang="fr-FR">
                <a:solidFill>
                  <a:srgbClr val="161616"/>
                </a:solidFill>
                <a:latin typeface="Arial"/>
              </a:rPr>
              <a:t>• </a:t>
            </a:r>
            <a:r>
              <a:rPr sz="1400" b="0" lang="fr-FR">
                <a:solidFill>
                  <a:srgbClr val="161616"/>
                </a:solidFill>
                <a:latin typeface="Arial"/>
              </a:rPr>
              <a:t>Placeholder optionnel, pour donner un exemple de format : « JJ/MM/AAAA »</a:t>
            </a:r>
          </a:p>
          <a:p>
            <a:pPr algn="l">
              <a:lnSpc>
                <a:spcPct val="150000"/>
              </a:lnSpc>
            </a:pPr>
            <a:r>
              <a:rPr sz="1400" lang="fr-FR">
                <a:solidFill>
                  <a:srgbClr val="161616"/>
                </a:solidFill>
                <a:latin typeface="Arial"/>
              </a:rPr>
              <a:t>• </a:t>
            </a:r>
            <a:r>
              <a:rPr sz="1400" b="0" lang="fr-FR">
                <a:solidFill>
                  <a:srgbClr val="161616"/>
                </a:solidFill>
                <a:latin typeface="Arial"/>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106</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Plusieurs boutons radio qui répondent à la même question (« Civilité : M / Mme / autre »)</a:t>
            </a:r>
          </a:p>
          <a:p>
            <a:pPr algn="l">
              <a:lnSpc>
                <a:spcPct val="125000"/>
              </a:lnSpc>
            </a:pPr>
            <a:r>
              <a:rPr sz="1400" lang="fr-FR">
                <a:solidFill>
                  <a:srgbClr val="161616"/>
                </a:solidFill>
                <a:latin typeface="Arial"/>
              </a:rPr>
              <a:t>• </a:t>
            </a:r>
            <a:r>
              <a:rPr sz="1400" b="0" lang="fr-FR">
                <a:solidFill>
                  <a:srgbClr val="161616"/>
                </a:solidFill>
                <a:latin typeface="Arial"/>
              </a:rPr>
              <a:t>Plusieurs cases à cocher qui partagent un thème (« Jours travaillés »)</a:t>
            </a:r>
          </a:p>
          <a:p>
            <a:pPr algn="l">
              <a:lnSpc>
                <a:spcPct val="125000"/>
              </a:lnSpc>
            </a:pPr>
            <a:r>
              <a:rPr sz="1400" lang="fr-FR">
                <a:solidFill>
                  <a:srgbClr val="161616"/>
                </a:solidFill>
                <a:latin typeface="Arial"/>
              </a:rPr>
              <a:t>• </a:t>
            </a:r>
            <a:r>
              <a:rPr sz="1400" b="0" lang="fr-FR">
                <a:solidFill>
                  <a:srgbClr val="161616"/>
                </a:solidFill>
                <a:latin typeface="Arial"/>
              </a:rPr>
              <a:t>Adresse découpée en plusieurs champs (n°, rue, code postal, ville)</a:t>
            </a:r>
          </a:p>
        </p:txBody>
      </p:sp>
      <p:graphicFrame>
        <p:nvGraphicFramePr>
          <p:cNvPr id="12" name="Table 11"/>
          <p:cNvGraphicFramePr>
            <a:graphicFrameLocks noGrp="1"/>
          </p:cNvGraphicFramePr>
          <p:nvPr/>
        </p:nvGraphicFramePr>
        <p:xfrm>
          <a:off x="475488" y="3977639"/>
          <a:ext cx="11228832" cy="2194560"/>
        </p:xfrm>
        <a:graphic>
          <a:graphicData uri="http://schemas.openxmlformats.org/drawingml/2006/table">
            <a:tbl>
              <a:tblPr firstRow="1" bandRow="1">
                <a:tableStyleId>{5C22544A-7EE6-4342-B048-85BDC9FD1C3A}</a:tableStyleId>
              </a:tblPr>
              <a:tblGrid>
                <a:gridCol w="2926080"/>
                <a:gridCol w="4187952"/>
                <a:gridCol w="4114800"/>
              </a:tblGrid>
              <a:tr h="731520">
                <a:tc>
                  <a:txBody>
                    <a:bodyPr wrap="square" anchor="ctr" lIns="73152" rIns="73152"/>
                    <a:lstStyle/>
                    <a:p>
                      <a:pPr algn="l">
                        <a:lnSpc>
                          <a:spcPct val="125000"/>
                        </a:lnSpc>
                      </a:pPr>
                      <a:r>
                        <a:rPr sz="1400" b="1" i="0" lang="fr-FR">
                          <a:solidFill>
                            <a:srgbClr val="FFFFFF"/>
                          </a:solidFill>
                          <a:latin typeface="Arial"/>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 lecteur d’écran</a:t>
                      </a:r>
                    </a:p>
                  </a:txBody>
                  <a:tcPr marL="91440" marR="91440" marT="45720" marB="45720">
                    <a:solidFill>
                      <a:srgbClr val="000091"/>
                    </a:solidFill>
                  </a:tcPr>
                </a:tc>
              </a:tr>
              <a:tr h="731520">
                <a:tc>
                  <a:txBody>
                    <a:bodyPr wrap="square" anchor="ctr" lIns="73152" rIns="73152"/>
                    <a:lstStyle/>
                    <a:p>
                      <a:pPr algn="l">
                        <a:lnSpc>
                          <a:spcPct val="125000"/>
                        </a:lnSpc>
                      </a:pPr>
                      <a:r>
                        <a:rPr sz="1400" b="0" i="0" lang="fr-FR">
                          <a:solidFill>
                            <a:srgbClr val="161616"/>
                          </a:solidFill>
                          <a:latin typeface="Arial"/>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M, bouton radio » - question perdue</a:t>
                      </a:r>
                    </a:p>
                  </a:txBody>
                  <a:tcPr marL="91440" marR="91440" marT="45720" marB="45720">
                    <a:solidFill>
                      <a:srgbClr val="FFFFFF"/>
                    </a:solidFill>
                  </a:tcPr>
                </a:tc>
              </a:tr>
              <a:tr h="731520">
                <a:tc>
                  <a:txBody>
                    <a:bodyPr wrap="square" anchor="ctr" lIns="73152" rIns="73152"/>
                    <a:lstStyle/>
                    <a:p>
                      <a:pPr algn="l">
                        <a:lnSpc>
                          <a:spcPct val="125000"/>
                        </a:lnSpc>
                      </a:pPr>
                      <a:r>
                        <a:rPr sz="1400" b="0" i="0" lang="fr-FR">
                          <a:solidFill>
                            <a:srgbClr val="161616"/>
                          </a:solidFill>
                          <a:latin typeface="Arial"/>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107</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 écrite : « obligatoire » ou règle « tous sauf téléphone »</a:t>
            </a:r>
          </a:p>
          <a:p>
            <a:pPr algn="l">
              <a:lnSpc>
                <a:spcPct val="125000"/>
              </a:lnSpc>
            </a:pPr>
            <a:r>
              <a:rPr sz="1400" lang="fr-FR">
                <a:solidFill>
                  <a:srgbClr val="161616"/>
                </a:solidFill>
                <a:latin typeface="Arial"/>
              </a:rPr>
              <a:t>• </a:t>
            </a:r>
            <a:r>
              <a:rPr sz="1400" b="0" lang="fr-FR">
                <a:solidFill>
                  <a:srgbClr val="161616"/>
                </a:solidFill>
                <a:latin typeface="Arial"/>
              </a:rPr>
              <a:t>Astérisque expliqué s'il est utilisé</a:t>
            </a:r>
          </a:p>
          <a:p>
            <a:pPr algn="l">
              <a:lnSpc>
                <a:spcPct val="125000"/>
              </a:lnSpc>
            </a:pPr>
            <a:r>
              <a:rPr sz="1400" lang="fr-FR">
                <a:solidFill>
                  <a:srgbClr val="161616"/>
                </a:solidFill>
                <a:latin typeface="Arial"/>
              </a:rPr>
              <a:t>• </a:t>
            </a:r>
            <a:r>
              <a:rPr sz="1400" b="0" lang="fr-FR">
                <a:solidFill>
                  <a:srgbClr val="161616"/>
                </a:solidFill>
                <a:latin typeface="Arial"/>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Aucune erreur ne doit apparaître avant l'envoi</a:t>
            </a:r>
          </a:p>
          <a:p>
            <a:pPr algn="l">
              <a:lnSpc>
                <a:spcPct val="125000"/>
              </a:lnSpc>
            </a:pPr>
            <a:r>
              <a:rPr sz="1400" lang="fr-FR">
                <a:solidFill>
                  <a:srgbClr val="161616"/>
                </a:solidFill>
                <a:latin typeface="Arial"/>
              </a:rPr>
              <a:t>• </a:t>
            </a:r>
            <a:r>
              <a:rPr sz="1400" b="0" lang="fr-FR">
                <a:solidFill>
                  <a:srgbClr val="161616"/>
                </a:solidFill>
                <a:latin typeface="Arial"/>
              </a:rPr>
              <a:t>Message précis relié au champ, avec aria-invalid si erreur</a:t>
            </a:r>
          </a:p>
          <a:p>
            <a:pPr algn="l">
              <a:lnSpc>
                <a:spcPct val="125000"/>
              </a:lnSpc>
            </a:pPr>
            <a:r>
              <a:rPr sz="1400" lang="fr-FR">
                <a:solidFill>
                  <a:srgbClr val="161616"/>
                </a:solidFill>
                <a:latin typeface="Arial"/>
              </a:rPr>
              <a:t>• </a:t>
            </a:r>
            <a:r>
              <a:rPr sz="1400" b="0" lang="fr-FR">
                <a:solidFill>
                  <a:srgbClr val="161616"/>
                </a:solidFill>
                <a:latin typeface="Arial"/>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108</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Arial"/>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Arial"/>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Arial"/>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Arial"/>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Arial"/>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Arial"/>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Un défaut sans preuve est difficile à traiter.</a:t>
            </a:r>
          </a:p>
          <a:p>
            <a:pPr algn="l">
              <a:lnSpc>
                <a:spcPct val="115000"/>
              </a:lnSpc>
            </a:pPr>
            <a:r>
              <a:rPr sz="1400" lang="fr-FR">
                <a:solidFill>
                  <a:srgbClr val="161616"/>
                </a:solidFill>
                <a:latin typeface="Arial"/>
              </a:rPr>
              <a:t>• </a:t>
            </a:r>
            <a:r>
              <a:rPr sz="1400" b="0" lang="fr-FR">
                <a:solidFill>
                  <a:srgbClr val="161616"/>
                </a:solidFill>
                <a:latin typeface="Arial"/>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109</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Éviter les pages saturées de liens sans hiérarchie</a:t>
            </a:r>
          </a:p>
          <a:p>
            <a:pPr algn="l">
              <a:lnSpc>
                <a:spcPct val="120000"/>
              </a:lnSpc>
            </a:pPr>
            <a:r>
              <a:rPr sz="1400" lang="fr-FR">
                <a:solidFill>
                  <a:srgbClr val="161616"/>
                </a:solidFill>
                <a:latin typeface="Arial"/>
              </a:rPr>
              <a:t>• </a:t>
            </a:r>
            <a:r>
              <a:rPr sz="1400" b="0" lang="fr-FR">
                <a:solidFill>
                  <a:srgbClr val="161616"/>
                </a:solidFill>
                <a:latin typeface="Arial"/>
              </a:rPr>
              <a:t>Libellé explicite : « programme de l'exposition photo »</a:t>
            </a:r>
          </a:p>
          <a:p>
            <a:pPr algn="l">
              <a:lnSpc>
                <a:spcPct val="120000"/>
              </a:lnSpc>
            </a:pPr>
            <a:r>
              <a:rPr sz="1400" lang="fr-FR">
                <a:solidFill>
                  <a:srgbClr val="161616"/>
                </a:solidFill>
                <a:latin typeface="Arial"/>
              </a:rPr>
              <a:t>• </a:t>
            </a:r>
            <a:r>
              <a:rPr sz="1400" b="0" lang="fr-FR">
                <a:solidFill>
                  <a:srgbClr val="161616"/>
                </a:solidFill>
                <a:latin typeface="Arial"/>
              </a:rPr>
              <a:t>Éviter « cliquez ici », « en savoir plus », « programme » seul</a:t>
            </a:r>
          </a:p>
          <a:p>
            <a:pPr algn="l">
              <a:lnSpc>
                <a:spcPct val="120000"/>
              </a:lnSpc>
            </a:pPr>
            <a:r>
              <a:rPr sz="1400" lang="fr-FR">
                <a:solidFill>
                  <a:srgbClr val="161616"/>
                </a:solidFill>
                <a:latin typeface="Arial"/>
              </a:rPr>
              <a:t>• </a:t>
            </a:r>
            <a:r>
              <a:rPr sz="1400" b="0" lang="fr-FR">
                <a:solidFill>
                  <a:srgbClr val="161616"/>
                </a:solidFill>
                <a:latin typeface="Arial"/>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Texte sélectionnable : pas de PDF image ou scanné non navigable</a:t>
            </a:r>
          </a:p>
          <a:p>
            <a:pPr algn="l">
              <a:lnSpc>
                <a:spcPct val="120000"/>
              </a:lnSpc>
            </a:pPr>
            <a:r>
              <a:rPr sz="1400" lang="fr-FR">
                <a:solidFill>
                  <a:srgbClr val="161616"/>
                </a:solidFill>
                <a:latin typeface="Arial"/>
              </a:rPr>
              <a:t>• </a:t>
            </a:r>
            <a:r>
              <a:rPr sz="1400" b="0" lang="fr-FR">
                <a:solidFill>
                  <a:srgbClr val="161616"/>
                </a:solidFill>
                <a:latin typeface="Arial"/>
              </a:rPr>
              <a:t>Structure : titres, sommaire et liens internes si le document est long</a:t>
            </a:r>
          </a:p>
          <a:p>
            <a:pPr algn="l">
              <a:lnSpc>
                <a:spcPct val="120000"/>
              </a:lnSpc>
            </a:pPr>
            <a:r>
              <a:rPr sz="1400" lang="fr-FR">
                <a:solidFill>
                  <a:srgbClr val="161616"/>
                </a:solidFill>
                <a:latin typeface="Arial"/>
              </a:rPr>
              <a:t>• </a:t>
            </a:r>
            <a:r>
              <a:rPr sz="1400" b="0" lang="fr-FR">
                <a:solidFill>
                  <a:srgbClr val="161616"/>
                </a:solidFill>
                <a:latin typeface="Arial"/>
              </a:rPr>
              <a:t>Images avec texte alternatif</a:t>
            </a:r>
          </a:p>
          <a:p>
            <a:pPr algn="l">
              <a:lnSpc>
                <a:spcPct val="120000"/>
              </a:lnSpc>
            </a:pPr>
            <a:r>
              <a:rPr sz="1400" lang="fr-FR">
                <a:solidFill>
                  <a:srgbClr val="161616"/>
                </a:solidFill>
                <a:latin typeface="Arial"/>
              </a:rPr>
              <a:t>• </a:t>
            </a:r>
            <a:r>
              <a:rPr sz="1400" b="0" lang="fr-FR">
                <a:solidFill>
                  <a:srgbClr val="161616"/>
                </a:solidFill>
                <a:latin typeface="Arial"/>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 : audit en binôme (30 min)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110</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Choisissez quelques points avec votre binôme : vous n’avez pas à tout couvrir</a:t>
            </a:r>
          </a:p>
          <a:p>
            <a:pPr algn="l">
              <a:lnSpc>
                <a:spcPct val="125000"/>
              </a:lnSpc>
            </a:pPr>
            <a:r>
              <a:rPr sz="1400" lang="fr-FR">
                <a:solidFill>
                  <a:srgbClr val="161616"/>
                </a:solidFill>
                <a:latin typeface="Arial"/>
              </a:rPr>
              <a:t>• </a:t>
            </a:r>
            <a:r>
              <a:rPr sz="1400" b="0" lang="fr-FR">
                <a:solidFill>
                  <a:srgbClr val="161616"/>
                </a:solidFill>
                <a:latin typeface="Arial"/>
              </a:rPr>
              <a:t>Une seule NC prouvée suffit à invalider le critère</a:t>
            </a:r>
          </a:p>
          <a:p>
            <a:pPr algn="l">
              <a:lnSpc>
                <a:spcPct val="125000"/>
              </a:lnSpc>
            </a:pPr>
            <a:r>
              <a:rPr sz="1400" lang="fr-FR">
                <a:solidFill>
                  <a:srgbClr val="161616"/>
                </a:solidFill>
                <a:latin typeface="Arial"/>
              </a:rPr>
              <a:t>• </a:t>
            </a:r>
            <a:r>
              <a:rPr sz="1400" b="0" lang="fr-FR">
                <a:solidFill>
                  <a:srgbClr val="161616"/>
                </a:solidFill>
                <a:latin typeface="Arial"/>
              </a:rPr>
              <a:t>Certains binômes commencent au début, d’autres par la fin</a:t>
            </a:r>
          </a:p>
          <a:p>
            <a:pPr algn="l">
              <a:lnSpc>
                <a:spcPct val="125000"/>
              </a:lnSpc>
            </a:pPr>
            <a:r>
              <a:rPr sz="1400" lang="fr-FR">
                <a:solidFill>
                  <a:srgbClr val="161616"/>
                </a:solidFill>
                <a:latin typeface="Arial"/>
              </a:rPr>
              <a:t>• </a:t>
            </a:r>
            <a:r>
              <a:rPr sz="1400" b="0" lang="fr-FR">
                <a:solidFill>
                  <a:srgbClr val="161616"/>
                </a:solidFill>
                <a:latin typeface="Arial"/>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IV - Réseaux sociaux accessibles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IV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111</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Comprendre les enjeux des réseaux sociaux</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Décrire les images et choisir les plateformes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Rendre les textes et les caractères lisibles</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Représenter les publics et écrire clairement</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avant de publier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IV</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112</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12 millions de personnes en situation de handicap en France (INSEE 2021)</a:t>
            </a:r>
          </a:p>
          <a:p>
            <a:pPr algn="l">
              <a:lnSpc>
                <a:spcPct val="120000"/>
              </a:lnSpc>
            </a:pPr>
            <a:r>
              <a:rPr sz="1400" lang="fr-FR">
                <a:solidFill>
                  <a:srgbClr val="161616"/>
                </a:solidFill>
                <a:latin typeface="Arial"/>
              </a:rPr>
              <a:t>• </a:t>
            </a:r>
            <a:r>
              <a:rPr sz="1400" b="0" lang="fr-FR">
                <a:solidFill>
                  <a:srgbClr val="161616"/>
                </a:solidFill>
                <a:latin typeface="Arial"/>
              </a:rPr>
              <a:t>Utilisateurs en contexte défavorable : faible luminosité, connexion lente, bruit</a:t>
            </a:r>
          </a:p>
          <a:p>
            <a:pPr algn="l">
              <a:lnSpc>
                <a:spcPct val="120000"/>
              </a:lnSpc>
            </a:pPr>
            <a:r>
              <a:rPr sz="1400" lang="fr-FR">
                <a:solidFill>
                  <a:srgbClr val="161616"/>
                </a:solidFill>
                <a:latin typeface="Arial"/>
              </a:rPr>
              <a:t>• </a:t>
            </a:r>
            <a:r>
              <a:rPr sz="1400" b="0" lang="fr-FR">
                <a:solidFill>
                  <a:srgbClr val="161616"/>
                </a:solidFill>
                <a:latin typeface="Arial"/>
              </a:rPr>
              <a:t>Moteurs de recherche et outils d'IA qui analysent vos contenus</a:t>
            </a:r>
          </a:p>
          <a:p>
            <a:pPr algn="l">
              <a:lnSpc>
                <a:spcPct val="120000"/>
              </a:lnSpc>
            </a:pPr>
            <a:r>
              <a:rPr sz="1400" lang="fr-FR">
                <a:solidFill>
                  <a:srgbClr val="161616"/>
                </a:solidFill>
                <a:latin typeface="Arial"/>
              </a:rPr>
              <a:t>• </a:t>
            </a:r>
            <a:r>
              <a:rPr sz="1400" b="0" lang="fr-FR">
                <a:solidFill>
                  <a:srgbClr val="161616"/>
                </a:solidFill>
                <a:latin typeface="Arial"/>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Geste 1 - Texte alternatif : décrire chaque image en 1 phrase</a:t>
            </a:r>
          </a:p>
          <a:p>
            <a:pPr algn="l">
              <a:lnSpc>
                <a:spcPct val="120000"/>
              </a:lnSpc>
            </a:pPr>
            <a:r>
              <a:rPr sz="1400" lang="fr-FR">
                <a:solidFill>
                  <a:srgbClr val="161616"/>
                </a:solidFill>
                <a:latin typeface="Arial"/>
              </a:rPr>
              <a:t>• </a:t>
            </a:r>
            <a:r>
              <a:rPr sz="1400" b="0" lang="fr-FR">
                <a:solidFill>
                  <a:srgbClr val="161616"/>
                </a:solidFill>
                <a:latin typeface="Arial"/>
              </a:rPr>
              <a:t>Geste 2 - Émojis : 1 ou 2 maximum, en fin de message</a:t>
            </a:r>
          </a:p>
          <a:p>
            <a:pPr algn="l">
              <a:lnSpc>
                <a:spcPct val="120000"/>
              </a:lnSpc>
            </a:pPr>
            <a:r>
              <a:rPr sz="1400" lang="fr-FR">
                <a:solidFill>
                  <a:srgbClr val="161616"/>
                </a:solidFill>
                <a:latin typeface="Arial"/>
              </a:rPr>
              <a:t>• </a:t>
            </a:r>
            <a:r>
              <a:rPr sz="1400" b="0" lang="fr-FR">
                <a:solidFill>
                  <a:srgbClr val="161616"/>
                </a:solidFill>
                <a:latin typeface="Arial"/>
              </a:rPr>
              <a:t>Geste 3 - Hashtags : CamelCase et regroupés en fin de post</a:t>
            </a:r>
          </a:p>
          <a:p>
            <a:pPr algn="l">
              <a:lnSpc>
                <a:spcPct val="120000"/>
              </a:lnSpc>
            </a:pPr>
            <a:r>
              <a:rPr sz="1400" lang="fr-FR">
                <a:solidFill>
                  <a:srgbClr val="161616"/>
                </a:solidFill>
                <a:latin typeface="Arial"/>
              </a:rPr>
              <a:t>• </a:t>
            </a:r>
            <a:r>
              <a:rPr sz="1400" b="0" lang="fr-FR">
                <a:solidFill>
                  <a:srgbClr val="161616"/>
                </a:solidFill>
                <a:latin typeface="Arial"/>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113</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Identifiez le maximum de problèmes d'accessibilité</a:t>
            </a:r>
          </a:p>
          <a:p>
            <a:pPr algn="l">
              <a:lnSpc>
                <a:spcPct val="150000"/>
              </a:lnSpc>
            </a:pPr>
            <a:r>
              <a:rPr sz="1400" lang="fr-FR">
                <a:solidFill>
                  <a:srgbClr val="161616"/>
                </a:solidFill>
                <a:latin typeface="Arial"/>
              </a:rPr>
              <a:t>• </a:t>
            </a:r>
            <a:r>
              <a:rPr sz="1400" b="0" lang="fr-FR">
                <a:solidFill>
                  <a:srgbClr val="161616"/>
                </a:solidFill>
                <a:latin typeface="Arial"/>
              </a:rPr>
              <a:t>Ne lisez pas le tweet à voix haute</a:t>
            </a:r>
          </a:p>
          <a:p>
            <a:pPr algn="l">
              <a:lnSpc>
                <a:spcPct val="150000"/>
              </a:lnSpc>
            </a:pPr>
            <a:r>
              <a:rPr sz="1400" lang="fr-FR">
                <a:solidFill>
                  <a:srgbClr val="161616"/>
                </a:solidFill>
                <a:latin typeface="Arial"/>
              </a:rPr>
              <a:t>• </a:t>
            </a:r>
            <a:r>
              <a:rPr sz="1400" b="0" lang="fr-FR">
                <a:solidFill>
                  <a:srgbClr val="161616"/>
                </a:solidFill>
                <a:latin typeface="Arial"/>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114</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Lavez-vous les 👐 avec du 🧼 &amp; de l'💦.</a:t>
            </a:r>
          </a:p>
          <a:p>
            <a:pPr algn="l">
              <a:lnSpc>
                <a:spcPct val="125000"/>
              </a:lnSpc>
            </a:pPr>
            <a:r>
              <a:rPr sz="1400" lang="fr-FR">
                <a:solidFill>
                  <a:srgbClr val="161616"/>
                </a:solidFill>
                <a:latin typeface="Arial"/>
              </a:rPr>
              <a:t>• </a:t>
            </a:r>
            <a:r>
              <a:rPr sz="1400" b="0" lang="fr-FR">
                <a:solidFill>
                  <a:srgbClr val="161616"/>
                </a:solidFill>
                <a:latin typeface="Arial"/>
              </a:rPr>
              <a:t>Quand vous toussez ou 🤧 couvrez votre 👄.</a:t>
            </a:r>
          </a:p>
          <a:p>
            <a:pPr algn="l">
              <a:lnSpc>
                <a:spcPct val="125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mains ouvertes avec du savon et éclaboussures de sueur.</a:t>
            </a:r>
          </a:p>
          <a:p>
            <a:pPr algn="l">
              <a:lnSpc>
                <a:spcPct val="150000"/>
              </a:lnSpc>
            </a:pPr>
            <a:r>
              <a:rPr sz="1400" lang="fr-FR">
                <a:solidFill>
                  <a:srgbClr val="161616"/>
                </a:solidFill>
                <a:latin typeface="Arial"/>
              </a:rPr>
              <a:t>• </a:t>
            </a:r>
            <a:r>
              <a:rPr sz="1400" b="0" lang="fr-FR">
                <a:solidFill>
                  <a:srgbClr val="161616"/>
                </a:solidFill>
                <a:latin typeface="Arial"/>
              </a:rPr>
              <a:t>Quand vous toussez ou visage qui éternue couvrez votre bouche.</a:t>
            </a:r>
          </a:p>
          <a:p>
            <a:pPr algn="l">
              <a:lnSpc>
                <a:spcPct val="150000"/>
              </a:lnSpc>
            </a:pPr>
            <a:r>
              <a:rPr sz="1400" lang="fr-FR">
                <a:solidFill>
                  <a:srgbClr val="161616"/>
                </a:solidFill>
                <a:latin typeface="Arial"/>
              </a:rPr>
              <a:t>• </a:t>
            </a:r>
            <a:r>
              <a:rPr sz="1400" b="0" lang="fr-FR">
                <a:solidFill>
                  <a:srgbClr val="161616"/>
                </a:solidFill>
                <a:latin typeface="Arial"/>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115</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 avec 1 désinfectant à base d'alcool, du 🧼 &amp; de l'💦.</a:t>
            </a:r>
          </a:p>
          <a:p>
            <a:pPr algn="l">
              <a:lnSpc>
                <a:spcPct val="150000"/>
              </a:lnSpc>
            </a:pPr>
            <a:r>
              <a:rPr sz="1400" lang="fr-FR">
                <a:solidFill>
                  <a:srgbClr val="161616"/>
                </a:solidFill>
                <a:latin typeface="Arial"/>
              </a:rPr>
              <a:t>• </a:t>
            </a:r>
            <a:r>
              <a:rPr sz="1400" b="0" lang="fr-FR">
                <a:solidFill>
                  <a:srgbClr val="161616"/>
                </a:solidFill>
                <a:latin typeface="Arial"/>
              </a:rPr>
              <a:t>Quand vous toussez ou 🤧 couvrez votre 👄 &amp; le 👃🏻.</a:t>
            </a:r>
          </a:p>
          <a:p>
            <a:pPr algn="l">
              <a:lnSpc>
                <a:spcPct val="150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du #COVID19 - trois gestes essentiels :</a:t>
            </a:r>
          </a:p>
          <a:p>
            <a:pPr algn="l">
              <a:lnSpc>
                <a:spcPct val="125000"/>
              </a:lnSpc>
            </a:pPr>
            <a:r>
              <a:rPr sz="1400" lang="fr-FR">
                <a:solidFill>
                  <a:srgbClr val="161616"/>
                </a:solidFill>
                <a:latin typeface="Arial"/>
              </a:rPr>
              <a:t>• </a:t>
            </a:r>
            <a:r>
              <a:rPr sz="1400" b="0" lang="fr-FR">
                <a:solidFill>
                  <a:srgbClr val="161616"/>
                </a:solidFill>
                <a:latin typeface="Arial"/>
              </a:rPr>
              <a:t>1. Lavez-vous régulièrement les mains avec du savon et de l'eau 🧼</a:t>
            </a:r>
          </a:p>
          <a:p>
            <a:pPr algn="l">
              <a:lnSpc>
                <a:spcPct val="125000"/>
              </a:lnSpc>
            </a:pPr>
            <a:r>
              <a:rPr sz="1400" lang="fr-FR">
                <a:solidFill>
                  <a:srgbClr val="161616"/>
                </a:solidFill>
                <a:latin typeface="Arial"/>
              </a:rPr>
              <a:t>• </a:t>
            </a:r>
            <a:r>
              <a:rPr sz="1400" b="0" lang="fr-FR">
                <a:solidFill>
                  <a:srgbClr val="161616"/>
                </a:solidFill>
                <a:latin typeface="Arial"/>
              </a:rPr>
              <a:t>2. Quand vous toussez, couvrez-vous avec le pli du coude</a:t>
            </a:r>
          </a:p>
          <a:p>
            <a:pPr algn="l">
              <a:lnSpc>
                <a:spcPct val="125000"/>
              </a:lnSpc>
            </a:pPr>
            <a:r>
              <a:rPr sz="1400" lang="fr-FR">
                <a:solidFill>
                  <a:srgbClr val="161616"/>
                </a:solidFill>
                <a:latin typeface="Arial"/>
              </a:rPr>
              <a:t>• </a:t>
            </a:r>
            <a:r>
              <a:rPr sz="1400" b="0" lang="fr-FR">
                <a:solidFill>
                  <a:srgbClr val="161616"/>
                </a:solidFill>
                <a:latin typeface="Arial"/>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Émojis réduits à 1, placé en fin de phrase - le message tient sans eux</a:t>
            </a:r>
          </a:p>
          <a:p>
            <a:pPr algn="l">
              <a:lnSpc>
                <a:spcPct val="115000"/>
              </a:lnSpc>
            </a:pPr>
            <a:r>
              <a:rPr sz="1400" lang="fr-FR">
                <a:solidFill>
                  <a:srgbClr val="161616"/>
                </a:solidFill>
                <a:latin typeface="Arial"/>
              </a:rPr>
              <a:t>• </a:t>
            </a:r>
            <a:r>
              <a:rPr sz="1400" b="0" lang="fr-FR">
                <a:solidFill>
                  <a:srgbClr val="161616"/>
                </a:solidFill>
                <a:latin typeface="Arial"/>
              </a:rPr>
              <a:t>Structure numérotée - navigation facile pour tous les utilisateurs</a:t>
            </a:r>
          </a:p>
          <a:p>
            <a:pPr algn="l">
              <a:lnSpc>
                <a:spcPct val="115000"/>
              </a:lnSpc>
            </a:pPr>
            <a:r>
              <a:rPr sz="1400" lang="fr-FR">
                <a:solidFill>
                  <a:srgbClr val="161616"/>
                </a:solidFill>
                <a:latin typeface="Arial"/>
              </a:rPr>
              <a:t>• </a:t>
            </a:r>
            <a:r>
              <a:rPr sz="1400" b="0" lang="fr-FR">
                <a:solidFill>
                  <a:srgbClr val="161616"/>
                </a:solidFill>
                <a:latin typeface="Arial"/>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116</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Fermez les yeux ou regardez ailleurs - écoutez uniquement</a:t>
            </a:r>
          </a:p>
          <a:p>
            <a:pPr algn="l">
              <a:lnSpc>
                <a:spcPct val="150000"/>
              </a:lnSpc>
            </a:pPr>
            <a:r>
              <a:rPr sz="1400" lang="fr-FR">
                <a:solidFill>
                  <a:srgbClr val="161616"/>
                </a:solidFill>
                <a:latin typeface="Arial"/>
              </a:rPr>
              <a:t>• </a:t>
            </a:r>
            <a:r>
              <a:rPr sz="1400" b="0" lang="fr-FR">
                <a:solidFill>
                  <a:srgbClr val="161616"/>
                </a:solidFill>
                <a:latin typeface="Arial"/>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117</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Décrire chaque image en 1 à 2 phrases</a:t>
            </a:r>
          </a:p>
          <a:p>
            <a:pPr algn="l">
              <a:lnSpc>
                <a:spcPct val="125000"/>
              </a:lnSpc>
            </a:pPr>
            <a:r>
              <a:rPr sz="1400" lang="fr-FR">
                <a:solidFill>
                  <a:srgbClr val="161616"/>
                </a:solidFill>
                <a:latin typeface="Arial"/>
              </a:rPr>
              <a:t>• </a:t>
            </a:r>
            <a:r>
              <a:rPr sz="1400" b="0" lang="fr-FR">
                <a:solidFill>
                  <a:srgbClr val="161616"/>
                </a:solidFill>
                <a:latin typeface="Arial"/>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 ou 2 maximum, en fin de message uniquement</a:t>
            </a:r>
          </a:p>
          <a:p>
            <a:pPr algn="l">
              <a:lnSpc>
                <a:spcPct val="125000"/>
              </a:lnSpc>
            </a:pPr>
            <a:r>
              <a:rPr sz="1400" lang="fr-FR">
                <a:solidFill>
                  <a:srgbClr val="161616"/>
                </a:solidFill>
                <a:latin typeface="Arial"/>
              </a:rPr>
              <a:t>• </a:t>
            </a:r>
            <a:r>
              <a:rPr sz="1400" b="0" lang="fr-FR">
                <a:solidFill>
                  <a:srgbClr val="161616"/>
                </a:solidFill>
                <a:latin typeface="Arial"/>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#ServicePublic pas #servicepublic</a:t>
            </a:r>
          </a:p>
          <a:p>
            <a:pPr algn="l">
              <a:lnSpc>
                <a:spcPct val="125000"/>
              </a:lnSpc>
            </a:pPr>
            <a:r>
              <a:rPr sz="1400" lang="fr-FR">
                <a:solidFill>
                  <a:srgbClr val="161616"/>
                </a:solidFill>
                <a:latin typeface="Arial"/>
              </a:rPr>
              <a:t>• </a:t>
            </a:r>
            <a:r>
              <a:rPr sz="1400" b="0" lang="fr-FR">
                <a:solidFill>
                  <a:srgbClr val="161616"/>
                </a:solidFill>
                <a:latin typeface="Arial"/>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de faux gras ou faux italique (InstaFont ...)</a:t>
            </a:r>
          </a:p>
          <a:p>
            <a:pPr algn="l">
              <a:lnSpc>
                <a:spcPct val="125000"/>
              </a:lnSpc>
            </a:pPr>
            <a:r>
              <a:rPr sz="1400" lang="fr-FR">
                <a:solidFill>
                  <a:srgbClr val="161616"/>
                </a:solidFill>
                <a:latin typeface="Arial"/>
              </a:rPr>
              <a:t>• </a:t>
            </a:r>
            <a:r>
              <a:rPr sz="1400" b="0" lang="fr-FR">
                <a:solidFill>
                  <a:srgbClr val="161616"/>
                </a:solidFill>
                <a:latin typeface="Arial"/>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Personnes aveugles ou malvoyantes (lecteur d'écran)</a:t>
            </a:r>
          </a:p>
          <a:p>
            <a:pPr algn="l">
              <a:lnSpc>
                <a:spcPct val="115000"/>
              </a:lnSpc>
            </a:pPr>
            <a:r>
              <a:rPr sz="1400" lang="fr-FR">
                <a:solidFill>
                  <a:srgbClr val="161616"/>
                </a:solidFill>
                <a:latin typeface="Arial"/>
              </a:rPr>
              <a:t>• </a:t>
            </a:r>
            <a:r>
              <a:rPr sz="1400" b="0" lang="fr-FR">
                <a:solidFill>
                  <a:srgbClr val="161616"/>
                </a:solidFill>
                <a:latin typeface="Arial"/>
              </a:rPr>
              <a:t>Connexion lente ou image non chargée</a:t>
            </a:r>
          </a:p>
          <a:p>
            <a:pPr algn="l">
              <a:lnSpc>
                <a:spcPct val="115000"/>
              </a:lnSpc>
            </a:pPr>
            <a:r>
              <a:rPr sz="1400" lang="fr-FR">
                <a:solidFill>
                  <a:srgbClr val="161616"/>
                </a:solidFill>
                <a:latin typeface="Arial"/>
              </a:rPr>
              <a:t>• </a:t>
            </a:r>
            <a:r>
              <a:rPr sz="1400" b="0" lang="fr-FR">
                <a:solidFill>
                  <a:srgbClr val="161616"/>
                </a:solidFill>
                <a:latin typeface="Arial"/>
              </a:rPr>
              <a:t>Moteurs de recherche (Google indexe via l'alt text)</a:t>
            </a:r>
          </a:p>
          <a:p>
            <a:pPr algn="l">
              <a:lnSpc>
                <a:spcPct val="115000"/>
              </a:lnSpc>
            </a:pPr>
            <a:r>
              <a:rPr sz="1400" lang="fr-FR">
                <a:solidFill>
                  <a:srgbClr val="161616"/>
                </a:solidFill>
                <a:latin typeface="Arial"/>
              </a:rPr>
              <a:t>• </a:t>
            </a:r>
            <a:r>
              <a:rPr sz="1400" b="0" lang="fr-FR">
                <a:solidFill>
                  <a:srgbClr val="161616"/>
                </a:solidFill>
                <a:latin typeface="Arial"/>
              </a:rPr>
              <a:t>IA et outils d'analyse d'image</a:t>
            </a:r>
          </a:p>
          <a:p>
            <a:pPr algn="l">
              <a:lnSpc>
                <a:spcPct val="115000"/>
              </a:lnSpc>
            </a:pPr>
            <a:r>
              <a:rPr sz="1400" lang="fr-FR">
                <a:solidFill>
                  <a:srgbClr val="161616"/>
                </a:solidFill>
                <a:latin typeface="Arial"/>
              </a:rPr>
              <a:t>• </a:t>
            </a:r>
            <a:r>
              <a:rPr sz="1400" b="0" lang="fr-FR">
                <a:solidFill>
                  <a:srgbClr val="161616"/>
                </a:solidFill>
                <a:latin typeface="Arial"/>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LinkedIn : Modifier → Texte alternatif</a:t>
            </a:r>
          </a:p>
          <a:p>
            <a:pPr algn="l">
              <a:lnSpc>
                <a:spcPct val="115000"/>
              </a:lnSpc>
            </a:pPr>
            <a:r>
              <a:rPr sz="1400" lang="fr-FR">
                <a:solidFill>
                  <a:srgbClr val="161616"/>
                </a:solidFill>
                <a:latin typeface="Arial"/>
              </a:rPr>
              <a:t>• </a:t>
            </a:r>
            <a:r>
              <a:rPr sz="1400" b="0" lang="fr-FR">
                <a:solidFill>
                  <a:srgbClr val="161616"/>
                </a:solidFill>
                <a:latin typeface="Arial"/>
              </a:rPr>
              <a:t>Facebook : Modifier l'image → Alt text</a:t>
            </a:r>
          </a:p>
          <a:p>
            <a:pPr algn="l">
              <a:lnSpc>
                <a:spcPct val="115000"/>
              </a:lnSpc>
            </a:pPr>
            <a:r>
              <a:rPr sz="1400" lang="fr-FR">
                <a:solidFill>
                  <a:srgbClr val="161616"/>
                </a:solidFill>
                <a:latin typeface="Arial"/>
              </a:rPr>
              <a:t>• </a:t>
            </a:r>
            <a:r>
              <a:rPr sz="1400" b="0" lang="fr-FR">
                <a:solidFill>
                  <a:srgbClr val="161616"/>
                </a:solidFill>
                <a:latin typeface="Arial"/>
              </a:rPr>
              <a:t>Twitter/X : intégré à la publication</a:t>
            </a:r>
          </a:p>
          <a:p>
            <a:pPr algn="l">
              <a:lnSpc>
                <a:spcPct val="115000"/>
              </a:lnSpc>
            </a:pPr>
            <a:r>
              <a:rPr sz="1400" lang="fr-FR">
                <a:solidFill>
                  <a:srgbClr val="161616"/>
                </a:solidFill>
                <a:latin typeface="Arial"/>
              </a:rPr>
              <a:t>• </a:t>
            </a:r>
            <a:r>
              <a:rPr sz="1400" b="0" lang="fr-FR">
                <a:solidFill>
                  <a:srgbClr val="161616"/>
                </a:solidFill>
                <a:latin typeface="Arial"/>
              </a:rPr>
              <a:t>Instagram : Paramètres avancés → Alt text</a:t>
            </a:r>
          </a:p>
          <a:p>
            <a:pPr algn="l">
              <a:lnSpc>
                <a:spcPct val="115000"/>
              </a:lnSpc>
            </a:pPr>
            <a:r>
              <a:rPr sz="1400" lang="fr-FR">
                <a:solidFill>
                  <a:srgbClr val="161616"/>
                </a:solidFill>
                <a:latin typeface="Arial"/>
              </a:rPr>
              <a:t>• </a:t>
            </a:r>
            <a:r>
              <a:rPr sz="1400" b="0" lang="fr-FR">
                <a:solidFill>
                  <a:srgbClr val="161616"/>
                </a:solidFill>
                <a:latin typeface="Arial"/>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119</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"image.jpg" - nom de fichier, aucun sens</a:t>
            </a:r>
          </a:p>
          <a:p>
            <a:pPr algn="l">
              <a:lnSpc>
                <a:spcPct val="150000"/>
              </a:lnSpc>
            </a:pPr>
            <a:r>
              <a:rPr sz="1400" lang="fr-FR">
                <a:solidFill>
                  <a:srgbClr val="161616"/>
                </a:solidFill>
                <a:latin typeface="Arial"/>
              </a:rPr>
              <a:t>• </a:t>
            </a:r>
            <a:r>
              <a:rPr sz="1400" b="0" lang="fr-FR">
                <a:solidFill>
                  <a:srgbClr val="161616"/>
                </a:solidFill>
                <a:latin typeface="Arial"/>
              </a:rPr>
              <a:t>"Photo" - trop vague, aucune information</a:t>
            </a:r>
          </a:p>
          <a:p>
            <a:pPr algn="l">
              <a:lnSpc>
                <a:spcPct val="150000"/>
              </a:lnSpc>
            </a:pPr>
            <a:r>
              <a:rPr sz="1400" lang="fr-FR">
                <a:solidFill>
                  <a:srgbClr val="161616"/>
                </a:solidFill>
                <a:latin typeface="Arial"/>
              </a:rPr>
              <a:t>• </a:t>
            </a:r>
            <a:r>
              <a:rPr sz="1400" b="0" lang="fr-FR">
                <a:solidFill>
                  <a:srgbClr val="161616"/>
                </a:solidFill>
                <a:latin typeface="Arial"/>
              </a:rPr>
              <a:t>"Image de la réunion du 12 mars 2026" - date inutile sans contexte</a:t>
            </a:r>
          </a:p>
          <a:p>
            <a:pPr algn="l">
              <a:lnSpc>
                <a:spcPct val="150000"/>
              </a:lnSpc>
            </a:pPr>
            <a:r>
              <a:rPr sz="1400" lang="fr-FR">
                <a:solidFill>
                  <a:srgbClr val="161616"/>
                </a:solidFill>
                <a:latin typeface="Arial"/>
              </a:rPr>
              <a:t>• </a:t>
            </a:r>
            <a:r>
              <a:rPr sz="1400" b="0" lang="fr-FR">
                <a:solidFill>
                  <a:srgbClr val="161616"/>
                </a:solidFill>
                <a:latin typeface="Arial"/>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"Trois agents discutent autour d'une table, documents ouverts"</a:t>
            </a:r>
          </a:p>
          <a:p>
            <a:pPr algn="l">
              <a:lnSpc>
                <a:spcPct val="125000"/>
              </a:lnSpc>
            </a:pPr>
            <a:r>
              <a:rPr sz="1400" lang="fr-FR">
                <a:solidFill>
                  <a:srgbClr val="161616"/>
                </a:solidFill>
                <a:latin typeface="Arial"/>
              </a:rPr>
              <a:t>• </a:t>
            </a:r>
            <a:r>
              <a:rPr sz="1400" b="0" lang="fr-FR">
                <a:solidFill>
                  <a:srgbClr val="161616"/>
                </a:solidFill>
                <a:latin typeface="Arial"/>
              </a:rPr>
              <a:t>"Logo DINUM - bleu avec texte blanc"</a:t>
            </a:r>
          </a:p>
          <a:p>
            <a:pPr algn="l">
              <a:lnSpc>
                <a:spcPct val="125000"/>
              </a:lnSpc>
            </a:pPr>
            <a:r>
              <a:rPr sz="1400" lang="fr-FR">
                <a:solidFill>
                  <a:srgbClr val="161616"/>
                </a:solidFill>
                <a:latin typeface="Arial"/>
              </a:rPr>
              <a:t>• </a:t>
            </a:r>
            <a:r>
              <a:rPr sz="1400" b="0" lang="fr-FR">
                <a:solidFill>
                  <a:srgbClr val="161616"/>
                </a:solidFill>
                <a:latin typeface="Arial"/>
              </a:rPr>
              <a:t>"Graphique : le taux d'accessibilité passe de 45 à 78 % entre 2023 et 2025"</a:t>
            </a:r>
          </a:p>
          <a:p>
            <a:pPr algn="l">
              <a:lnSpc>
                <a:spcPct val="125000"/>
              </a:lnSpc>
            </a:pPr>
            <a:r>
              <a:rPr sz="1400" lang="fr-FR">
                <a:solidFill>
                  <a:srgbClr val="161616"/>
                </a:solidFill>
                <a:latin typeface="Arial"/>
              </a:rPr>
              <a:t>• </a:t>
            </a:r>
            <a:r>
              <a:rPr sz="1400" b="0" lang="fr-FR">
                <a:solidFill>
                  <a:srgbClr val="161616"/>
                </a:solidFill>
                <a:latin typeface="Arial"/>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120</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Arial"/>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Arial"/>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LinkedIn et Instagram proposent un rappel si vous oubliez l'alt text</a:t>
            </a:r>
          </a:p>
          <a:p>
            <a:pPr algn="l">
              <a:lnSpc>
                <a:spcPct val="150000"/>
              </a:lnSpc>
            </a:pPr>
            <a:r>
              <a:rPr sz="1400" lang="fr-FR">
                <a:solidFill>
                  <a:srgbClr val="161616"/>
                </a:solidFill>
                <a:latin typeface="Arial"/>
              </a:rPr>
              <a:t>• </a:t>
            </a:r>
            <a:r>
              <a:rPr sz="1400" b="0" lang="fr-FR">
                <a:solidFill>
                  <a:srgbClr val="161616"/>
                </a:solidFill>
                <a:latin typeface="Arial"/>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121</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Retirez tous les émojis du texte</a:t>
            </a:r>
          </a:p>
          <a:p>
            <a:pPr algn="l">
              <a:lnSpc>
                <a:spcPct val="120000"/>
              </a:lnSpc>
            </a:pPr>
            <a:r>
              <a:rPr sz="1400" lang="fr-FR">
                <a:solidFill>
                  <a:srgbClr val="161616"/>
                </a:solidFill>
                <a:latin typeface="Arial"/>
              </a:rPr>
              <a:t>• </a:t>
            </a:r>
            <a:r>
              <a:rPr sz="1400" b="0" lang="fr-FR">
                <a:solidFill>
                  <a:srgbClr val="161616"/>
                </a:solidFill>
                <a:latin typeface="Arial"/>
              </a:rPr>
              <a:t>Le message est-il toujours clair et complet ? Si oui : bon signe</a:t>
            </a:r>
          </a:p>
          <a:p>
            <a:pPr algn="l">
              <a:lnSpc>
                <a:spcPct val="120000"/>
              </a:lnSpc>
            </a:pPr>
            <a:r>
              <a:rPr sz="1400" lang="fr-FR">
                <a:solidFill>
                  <a:srgbClr val="161616"/>
                </a:solidFill>
                <a:latin typeface="Arial"/>
              </a:rPr>
              <a:t>• </a:t>
            </a:r>
            <a:r>
              <a:rPr sz="1400" b="0" lang="fr-FR">
                <a:solidFill>
                  <a:srgbClr val="161616"/>
                </a:solidFill>
                <a:latin typeface="Arial"/>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122</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123</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#ServicePublic : les mots sont séparés naturellement</a:t>
            </a:r>
          </a:p>
          <a:p>
            <a:pPr algn="l">
              <a:lnSpc>
                <a:spcPct val="115000"/>
              </a:lnSpc>
            </a:pPr>
            <a:r>
              <a:rPr sz="1400" lang="fr-FR">
                <a:solidFill>
                  <a:srgbClr val="161616"/>
                </a:solidFill>
                <a:latin typeface="Arial"/>
              </a:rPr>
              <a:t>• </a:t>
            </a:r>
            <a:r>
              <a:rPr sz="1400" b="0" lang="fr-FR">
                <a:solidFill>
                  <a:srgbClr val="161616"/>
                </a:solidFill>
                <a:latin typeface="Arial"/>
              </a:rPr>
              <a:t>#servicepublic : un seul bloc, plus difficile à comprendre</a:t>
            </a:r>
          </a:p>
          <a:p>
            <a:pPr algn="l">
              <a:lnSpc>
                <a:spcPct val="115000"/>
              </a:lnSpc>
            </a:pPr>
            <a:r>
              <a:rPr sz="1400" lang="fr-FR">
                <a:solidFill>
                  <a:srgbClr val="161616"/>
                </a:solidFill>
                <a:latin typeface="Arial"/>
              </a:rPr>
              <a:t>• </a:t>
            </a:r>
            <a:r>
              <a:rPr sz="1400" b="0" lang="fr-FR">
                <a:solidFill>
                  <a:srgbClr val="161616"/>
                </a:solidFill>
                <a:latin typeface="Arial"/>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Majuscule au début de chaque mot</a:t>
            </a:r>
          </a:p>
          <a:p>
            <a:pPr algn="l">
              <a:lnSpc>
                <a:spcPct val="115000"/>
              </a:lnSpc>
            </a:pPr>
            <a:r>
              <a:rPr sz="1400" lang="fr-FR">
                <a:solidFill>
                  <a:srgbClr val="161616"/>
                </a:solidFill>
                <a:latin typeface="Arial"/>
              </a:rPr>
              <a:t>• </a:t>
            </a:r>
            <a:r>
              <a:rPr sz="1400" b="0" lang="fr-FR">
                <a:solidFill>
                  <a:srgbClr val="161616"/>
                </a:solidFill>
                <a:latin typeface="Arial"/>
              </a:rPr>
              <a:t>Hashtags regroupés à la fin du post</a:t>
            </a:r>
          </a:p>
          <a:p>
            <a:pPr algn="l">
              <a:lnSpc>
                <a:spcPct val="115000"/>
              </a:lnSpc>
            </a:pPr>
            <a:r>
              <a:rPr sz="1400" lang="fr-FR">
                <a:solidFill>
                  <a:srgbClr val="161616"/>
                </a:solidFill>
                <a:latin typeface="Arial"/>
              </a:rPr>
              <a:t>• </a:t>
            </a:r>
            <a:r>
              <a:rPr sz="1400" b="0" lang="fr-FR">
                <a:solidFill>
                  <a:srgbClr val="161616"/>
                </a:solidFill>
                <a:latin typeface="Arial"/>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124</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InstaFont, LingoJam ... transforment les lettres en symboles</a:t>
            </a:r>
          </a:p>
          <a:p>
            <a:pPr algn="l">
              <a:lnSpc>
                <a:spcPct val="115000"/>
              </a:lnSpc>
            </a:pPr>
            <a:r>
              <a:rPr sz="1400" lang="fr-FR">
                <a:solidFill>
                  <a:srgbClr val="161616"/>
                </a:solidFill>
                <a:latin typeface="Arial"/>
              </a:rPr>
              <a:t>• </a:t>
            </a:r>
            <a:r>
              <a:rPr sz="1400" b="0" lang="fr-FR">
                <a:solidFill>
                  <a:srgbClr val="161616"/>
                </a:solidFill>
                <a:latin typeface="Arial"/>
              </a:rPr>
              <a:t>Le lecteur d'écran peut épeler, déformer ou ignorer le message</a:t>
            </a:r>
          </a:p>
          <a:p>
            <a:pPr algn="l">
              <a:lnSpc>
                <a:spcPct val="115000"/>
              </a:lnSpc>
            </a:pPr>
            <a:r>
              <a:rPr sz="1400" lang="fr-FR">
                <a:solidFill>
                  <a:srgbClr val="161616"/>
                </a:solidFill>
                <a:latin typeface="Arial"/>
              </a:rPr>
              <a:t>• </a:t>
            </a:r>
            <a:r>
              <a:rPr sz="1400" b="0" lang="fr-FR">
                <a:solidFill>
                  <a:srgbClr val="161616"/>
                </a:solidFill>
                <a:latin typeface="Arial"/>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Utiliser le gras natif de la plateforme quand il existe</a:t>
            </a:r>
          </a:p>
          <a:p>
            <a:pPr algn="l">
              <a:lnSpc>
                <a:spcPct val="115000"/>
              </a:lnSpc>
            </a:pPr>
            <a:r>
              <a:rPr sz="1400" lang="fr-FR">
                <a:solidFill>
                  <a:srgbClr val="161616"/>
                </a:solidFill>
                <a:latin typeface="Arial"/>
              </a:rPr>
              <a:t>• </a:t>
            </a:r>
            <a:r>
              <a:rPr sz="1400" b="0" lang="fr-FR">
                <a:solidFill>
                  <a:srgbClr val="161616"/>
                </a:solidFill>
                <a:latin typeface="Arial"/>
              </a:rPr>
              <a:t>Sinon : écrire en texte simple</a:t>
            </a:r>
          </a:p>
          <a:p>
            <a:pPr algn="l">
              <a:lnSpc>
                <a:spcPct val="115000"/>
              </a:lnSpc>
            </a:pPr>
            <a:r>
              <a:rPr sz="1400" lang="fr-FR">
                <a:solidFill>
                  <a:srgbClr val="161616"/>
                </a:solidFill>
                <a:latin typeface="Arial"/>
              </a:rPr>
              <a:t>• </a:t>
            </a:r>
            <a:r>
              <a:rPr sz="1400" b="0" lang="fr-FR">
                <a:solidFill>
                  <a:srgbClr val="161616"/>
                </a:solidFill>
                <a:latin typeface="Arial"/>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Arial"/>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125</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Qui est visible dans cette communication ?</a:t>
            </a:r>
          </a:p>
          <a:p>
            <a:pPr algn="l">
              <a:lnSpc>
                <a:spcPct val="115000"/>
              </a:lnSpc>
            </a:pPr>
            <a:r>
              <a:rPr sz="1400" lang="fr-FR">
                <a:solidFill>
                  <a:srgbClr val="161616"/>
                </a:solidFill>
                <a:latin typeface="Arial"/>
              </a:rPr>
              <a:t>• </a:t>
            </a:r>
            <a:r>
              <a:rPr sz="1400" b="0" lang="fr-FR">
                <a:solidFill>
                  <a:srgbClr val="161616"/>
                </a:solidFill>
                <a:latin typeface="Arial"/>
              </a:rPr>
              <a:t>Qui est absent ou toujours montré en marge ?</a:t>
            </a:r>
          </a:p>
          <a:p>
            <a:pPr algn="l">
              <a:lnSpc>
                <a:spcPct val="115000"/>
              </a:lnSpc>
            </a:pPr>
            <a:r>
              <a:rPr sz="1400" lang="fr-FR">
                <a:solidFill>
                  <a:srgbClr val="161616"/>
                </a:solidFill>
                <a:latin typeface="Arial"/>
              </a:rPr>
              <a:t>• </a:t>
            </a:r>
            <a:r>
              <a:rPr sz="1400" b="0" lang="fr-FR">
                <a:solidFill>
                  <a:srgbClr val="161616"/>
                </a:solidFill>
                <a:latin typeface="Arial"/>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Les personnes concernées peuvent se sentir attendues</a:t>
            </a:r>
          </a:p>
          <a:p>
            <a:pPr algn="l">
              <a:lnSpc>
                <a:spcPct val="115000"/>
              </a:lnSpc>
            </a:pPr>
            <a:r>
              <a:rPr sz="1400" lang="fr-FR">
                <a:solidFill>
                  <a:srgbClr val="161616"/>
                </a:solidFill>
                <a:latin typeface="Arial"/>
              </a:rPr>
              <a:t>• </a:t>
            </a:r>
            <a:r>
              <a:rPr sz="1400" b="0" lang="fr-FR">
                <a:solidFill>
                  <a:srgbClr val="161616"/>
                </a:solidFill>
                <a:latin typeface="Arial"/>
              </a:rPr>
              <a:t>La communication évite de reconduire une seule norme</a:t>
            </a:r>
          </a:p>
          <a:p>
            <a:pPr algn="l">
              <a:lnSpc>
                <a:spcPct val="115000"/>
              </a:lnSpc>
            </a:pPr>
            <a:r>
              <a:rPr sz="1400" lang="fr-FR">
                <a:solidFill>
                  <a:srgbClr val="161616"/>
                </a:solidFill>
                <a:latin typeface="Arial"/>
              </a:rPr>
              <a:t>• </a:t>
            </a:r>
            <a:r>
              <a:rPr sz="1400" b="0" lang="fr-FR">
                <a:solidFill>
                  <a:srgbClr val="161616"/>
                </a:solidFill>
                <a:latin typeface="Arial"/>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126</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Diversité montrée dans des situations ordinaires</a:t>
            </a:r>
          </a:p>
          <a:p>
            <a:pPr algn="l">
              <a:lnSpc>
                <a:spcPct val="115000"/>
              </a:lnSpc>
            </a:pPr>
            <a:r>
              <a:rPr sz="1400" lang="fr-FR">
                <a:solidFill>
                  <a:srgbClr val="161616"/>
                </a:solidFill>
                <a:latin typeface="Arial"/>
              </a:rPr>
              <a:t>• </a:t>
            </a:r>
            <a:r>
              <a:rPr sz="1400" b="0" lang="fr-FR">
                <a:solidFill>
                  <a:srgbClr val="161616"/>
                </a:solidFill>
                <a:latin typeface="Arial"/>
              </a:rPr>
              <a:t>Personnes concernées en rôle actif, pas seulement décoratif</a:t>
            </a:r>
          </a:p>
          <a:p>
            <a:pPr algn="l">
              <a:lnSpc>
                <a:spcPct val="115000"/>
              </a:lnSpc>
            </a:pPr>
            <a:r>
              <a:rPr sz="1400" lang="fr-FR">
                <a:solidFill>
                  <a:srgbClr val="161616"/>
                </a:solidFill>
                <a:latin typeface="Arial"/>
              </a:rPr>
              <a:t>• </a:t>
            </a:r>
            <a:r>
              <a:rPr sz="1400" b="0" lang="fr-FR">
                <a:solidFill>
                  <a:srgbClr val="161616"/>
                </a:solidFill>
                <a:latin typeface="Arial"/>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Image symbolique sans réalité derrière</a:t>
            </a:r>
          </a:p>
          <a:p>
            <a:pPr algn="l">
              <a:lnSpc>
                <a:spcPct val="115000"/>
              </a:lnSpc>
            </a:pPr>
            <a:r>
              <a:rPr sz="1400" lang="fr-FR">
                <a:solidFill>
                  <a:srgbClr val="161616"/>
                </a:solidFill>
                <a:latin typeface="Arial"/>
              </a:rPr>
              <a:t>• </a:t>
            </a:r>
            <a:r>
              <a:rPr sz="1400" b="0" lang="fr-FR">
                <a:solidFill>
                  <a:srgbClr val="161616"/>
                </a:solidFill>
                <a:latin typeface="Arial"/>
              </a:rPr>
              <a:t>Personne réduite à son handicap ou à son identité</a:t>
            </a:r>
          </a:p>
          <a:p>
            <a:pPr algn="l">
              <a:lnSpc>
                <a:spcPct val="115000"/>
              </a:lnSpc>
            </a:pPr>
            <a:r>
              <a:rPr sz="1400" lang="fr-FR">
                <a:solidFill>
                  <a:srgbClr val="161616"/>
                </a:solidFill>
                <a:latin typeface="Arial"/>
              </a:rPr>
              <a:t>• </a:t>
            </a:r>
            <a:r>
              <a:rPr sz="1400" b="0" lang="fr-FR">
                <a:solidFill>
                  <a:srgbClr val="161616"/>
                </a:solidFill>
                <a:latin typeface="Arial"/>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127</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Formules épicènes : 'Nous vous convions', 'les personnes concernées'</a:t>
            </a:r>
          </a:p>
          <a:p>
            <a:pPr algn="l">
              <a:lnSpc>
                <a:spcPct val="120000"/>
              </a:lnSpc>
            </a:pPr>
            <a:r>
              <a:rPr sz="1400" lang="fr-FR">
                <a:solidFill>
                  <a:srgbClr val="161616"/>
                </a:solidFill>
                <a:latin typeface="Arial"/>
              </a:rPr>
              <a:t>• </a:t>
            </a:r>
            <a:r>
              <a:rPr sz="1400" b="0" lang="fr-FR">
                <a:solidFill>
                  <a:srgbClr val="161616"/>
                </a:solidFill>
                <a:latin typeface="Arial"/>
              </a:rPr>
              <a:t>Mots collectifs : 'le public', 'l'équipe', 'la clientèle'</a:t>
            </a:r>
          </a:p>
          <a:p>
            <a:pPr algn="l">
              <a:lnSpc>
                <a:spcPct val="120000"/>
              </a:lnSpc>
            </a:pPr>
            <a:r>
              <a:rPr sz="1400" lang="fr-FR">
                <a:solidFill>
                  <a:srgbClr val="161616"/>
                </a:solidFill>
                <a:latin typeface="Arial"/>
              </a:rPr>
              <a:t>• </a:t>
            </a:r>
            <a:r>
              <a:rPr sz="1400" b="0" lang="fr-FR">
                <a:solidFill>
                  <a:srgbClr val="161616"/>
                </a:solidFill>
                <a:latin typeface="Arial"/>
              </a:rPr>
              <a:t>Double flexion si nécessaire : 'les utilisateurs et utilisatrices'</a:t>
            </a:r>
          </a:p>
          <a:p>
            <a:pPr algn="l">
              <a:lnSpc>
                <a:spcPct val="120000"/>
              </a:lnSpc>
            </a:pPr>
            <a:r>
              <a:rPr sz="1400" lang="fr-FR">
                <a:solidFill>
                  <a:srgbClr val="161616"/>
                </a:solidFill>
                <a:latin typeface="Arial"/>
              </a:rPr>
              <a:t>• </a:t>
            </a:r>
            <a:r>
              <a:rPr sz="1400" b="0" lang="fr-FR">
                <a:solidFill>
                  <a:srgbClr val="161616"/>
                </a:solidFill>
                <a:latin typeface="Arial"/>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Point médian ou ponctuation répétée quand cela gêne la lecture</a:t>
            </a:r>
          </a:p>
          <a:p>
            <a:pPr algn="l">
              <a:lnSpc>
                <a:spcPct val="120000"/>
              </a:lnSpc>
            </a:pPr>
            <a:r>
              <a:rPr sz="1400" lang="fr-FR">
                <a:solidFill>
                  <a:srgbClr val="161616"/>
                </a:solidFill>
                <a:latin typeface="Arial"/>
              </a:rPr>
              <a:t>• </a:t>
            </a:r>
            <a:r>
              <a:rPr sz="1400" b="0" lang="fr-FR">
                <a:solidFill>
                  <a:srgbClr val="161616"/>
                </a:solidFill>
                <a:latin typeface="Arial"/>
              </a:rPr>
              <a:t>Formes trop compressées : elles ralentissent aussi la lecture visuelle</a:t>
            </a:r>
          </a:p>
          <a:p>
            <a:pPr algn="l">
              <a:lnSpc>
                <a:spcPct val="120000"/>
              </a:lnSpc>
            </a:pPr>
            <a:r>
              <a:rPr sz="1400" lang="fr-FR">
                <a:solidFill>
                  <a:srgbClr val="161616"/>
                </a:solidFill>
                <a:latin typeface="Arial"/>
              </a:rPr>
              <a:t>• </a:t>
            </a:r>
            <a:r>
              <a:rPr sz="1400" b="0" lang="fr-FR">
                <a:solidFill>
                  <a:srgbClr val="161616"/>
                </a:solidFill>
                <a:latin typeface="Arial"/>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128</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Choisissez un post réel ou un exemple fourni. Objectif : trouver 2 améliorations utiles : accès, lisibilité ou représentation.</a:t>
            </a:r>
          </a:p>
        </p:txBody>
      </p:sp>
      <p:sp>
        <p:nvSpPr>
          <p:cNvPr id="11" name="DSFR-stepper-pastille-1"/>
          <p:cNvSpPr/>
          <p:nvPr/>
        </p:nvSpPr>
        <p:spPr>
          <a:xfrm>
            <a:off x="1445894"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1 publication</a:t>
            </a:r>
          </a:p>
        </p:txBody>
      </p:sp>
      <p:sp>
        <p:nvSpPr>
          <p:cNvPr id="14" name="DSFR-stepper-pastille-2"/>
          <p:cNvSpPr/>
          <p:nvPr/>
        </p:nvSpPr>
        <p:spPr>
          <a:xfrm>
            <a:off x="4328541"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3358134"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Cocher Anticiper / Rédiger / Publier</a:t>
            </a:r>
          </a:p>
        </p:txBody>
      </p:sp>
      <p:sp>
        <p:nvSpPr>
          <p:cNvPr id="17" name="DSFR-stepper-pastille-3"/>
          <p:cNvSpPr/>
          <p:nvPr/>
        </p:nvSpPr>
        <p:spPr>
          <a:xfrm>
            <a:off x="7211186"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9" name="DSFR-stepper-texte-3"/>
          <p:cNvSpPr txBox="1"/>
          <p:nvPr/>
        </p:nvSpPr>
        <p:spPr>
          <a:xfrm>
            <a:off x="6240779"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Retenir 2 risques prioritaires</a:t>
            </a:r>
          </a:p>
        </p:txBody>
      </p:sp>
      <p:sp>
        <p:nvSpPr>
          <p:cNvPr id="20" name="DSFR-stepper-pastille-4"/>
          <p:cNvSpPr/>
          <p:nvPr/>
        </p:nvSpPr>
        <p:spPr>
          <a:xfrm>
            <a:off x="10093832"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1" name="DSFR-stepper-texte-4"/>
          <p:cNvSpPr txBox="1"/>
          <p:nvPr/>
        </p:nvSpPr>
        <p:spPr>
          <a:xfrm>
            <a:off x="9123426"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Préparer 1 min de restitution</a:t>
            </a:r>
          </a:p>
        </p:txBody>
      </p:sp>
      <p:sp>
        <p:nvSpPr>
          <p:cNvPr id="23" name="DSFR-box"/>
          <p:cNvSpPr/>
          <p:nvPr/>
        </p:nvSpPr>
        <p:spPr>
          <a:xfrm>
            <a:off x="548640" y="4503420"/>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Déroulé</a:t>
            </a:r>
          </a:p>
        </p:txBody>
      </p:sp>
      <p:sp>
        <p:nvSpPr>
          <p:cNvPr id="25" name="DSFR-alert-info-body"/>
          <p:cNvSpPr txBox="1"/>
          <p:nvPr/>
        </p:nvSpPr>
        <p:spPr>
          <a:xfrm>
            <a:off x="704088" y="5006340"/>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3 min : choisir le post et le contexte</a:t>
            </a:r>
          </a:p>
          <a:p>
            <a:pPr algn="l">
              <a:lnSpc>
                <a:spcPct val="115000"/>
              </a:lnSpc>
            </a:pPr>
            <a:r>
              <a:rPr sz="1400" lang="fr-FR">
                <a:solidFill>
                  <a:srgbClr val="161616"/>
                </a:solidFill>
                <a:latin typeface="Arial"/>
              </a:rPr>
              <a:t>• </a:t>
            </a:r>
            <a:r>
              <a:rPr sz="1400" b="0" lang="fr-FR">
                <a:solidFill>
                  <a:srgbClr val="161616"/>
                </a:solidFill>
                <a:latin typeface="Arial"/>
              </a:rPr>
              <a:t>8 min : passer les 3 checklists</a:t>
            </a:r>
          </a:p>
          <a:p>
            <a:pPr algn="l">
              <a:lnSpc>
                <a:spcPct val="115000"/>
              </a:lnSpc>
            </a:pPr>
            <a:r>
              <a:rPr sz="1400" lang="fr-FR">
                <a:solidFill>
                  <a:srgbClr val="161616"/>
                </a:solidFill>
                <a:latin typeface="Arial"/>
              </a:rPr>
              <a:t>• </a:t>
            </a:r>
            <a:r>
              <a:rPr sz="1400" b="0" lang="fr-FR">
                <a:solidFill>
                  <a:srgbClr val="161616"/>
                </a:solidFill>
                <a:latin typeface="Arial"/>
              </a:rPr>
              <a:t>4 min : formuler 2 corrections</a:t>
            </a:r>
          </a:p>
        </p:txBody>
      </p:sp>
      <p:sp>
        <p:nvSpPr>
          <p:cNvPr id="27" name="DSFR-box"/>
          <p:cNvSpPr/>
          <p:nvPr/>
        </p:nvSpPr>
        <p:spPr>
          <a:xfrm>
            <a:off x="6313931" y="4503420"/>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restituer</a:t>
            </a:r>
          </a:p>
        </p:txBody>
      </p:sp>
      <p:sp>
        <p:nvSpPr>
          <p:cNvPr id="29" name="DSFR-alert-success-body"/>
          <p:cNvSpPr txBox="1"/>
          <p:nvPr/>
        </p:nvSpPr>
        <p:spPr>
          <a:xfrm>
            <a:off x="6469379" y="50063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 point le plus bloquant</a:t>
            </a:r>
          </a:p>
          <a:p>
            <a:pPr algn="l">
              <a:lnSpc>
                <a:spcPct val="115000"/>
              </a:lnSpc>
            </a:pPr>
            <a:r>
              <a:rPr sz="1400" lang="fr-FR">
                <a:solidFill>
                  <a:srgbClr val="161616"/>
                </a:solidFill>
                <a:latin typeface="Arial"/>
              </a:rPr>
              <a:t>• </a:t>
            </a:r>
            <a:r>
              <a:rPr sz="1400" b="0" lang="fr-FR">
                <a:solidFill>
                  <a:srgbClr val="161616"/>
                </a:solidFill>
                <a:latin typeface="Arial"/>
              </a:rPr>
              <a:t>La correction proposée</a:t>
            </a:r>
          </a:p>
          <a:p>
            <a:pPr algn="l">
              <a:lnSpc>
                <a:spcPct val="115000"/>
              </a:lnSpc>
            </a:pPr>
            <a:r>
              <a:rPr sz="1400" lang="fr-FR">
                <a:solidFill>
                  <a:srgbClr val="161616"/>
                </a:solidFill>
                <a:latin typeface="Arial"/>
              </a:rPr>
              <a:t>• </a:t>
            </a:r>
            <a:r>
              <a:rPr sz="1400" b="0" lang="fr-FR">
                <a:solidFill>
                  <a:srgbClr val="161616"/>
                </a:solidFill>
                <a:latin typeface="Arial"/>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50342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5034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Média prévu ? image = alt text, audio = transcription, vidéo = sous-titres</a:t>
            </a:r>
          </a:p>
          <a:p>
            <a:pPr algn="l">
              <a:lnSpc>
                <a:spcPct val="150000"/>
              </a:lnSpc>
            </a:pPr>
            <a:r>
              <a:rPr sz="1800" b="1" lang="fr-FR">
                <a:solidFill>
                  <a:srgbClr val="000091"/>
                </a:solidFill>
                <a:latin typeface="Arial"/>
              </a:rPr>
              <a:t>☐  </a:t>
            </a:r>
            <a:r>
              <a:rPr sz="1400" lang="fr-FR">
                <a:solidFill>
                  <a:srgbClr val="161616"/>
                </a:solidFill>
                <a:latin typeface="Arial"/>
              </a:rPr>
              <a:t>Visuels : représentations diverses et cohérentes avec la réalité accessible</a:t>
            </a:r>
          </a:p>
          <a:p>
            <a:pPr algn="l">
              <a:lnSpc>
                <a:spcPct val="150000"/>
              </a:lnSpc>
            </a:pPr>
            <a:r>
              <a:rPr sz="1800" b="1" lang="fr-FR">
                <a:solidFill>
                  <a:srgbClr val="000091"/>
                </a:solidFill>
                <a:latin typeface="Arial"/>
              </a:rPr>
              <a:t>☐  </a:t>
            </a:r>
            <a:r>
              <a:rPr sz="1400" lang="fr-FR">
                <a:solidFill>
                  <a:srgbClr val="161616"/>
                </a:solidFill>
                <a:latin typeface="Arial"/>
              </a:rPr>
              <a:t>Visuel très chargé ? prévoir une version complète en ligne ou dans le post</a:t>
            </a:r>
          </a:p>
          <a:p>
            <a:pPr algn="l">
              <a:lnSpc>
                <a:spcPct val="150000"/>
              </a:lnSpc>
            </a:pPr>
            <a:r>
              <a:rPr sz="1800" b="1" lang="fr-FR">
                <a:solidFill>
                  <a:srgbClr val="000091"/>
                </a:solidFill>
                <a:latin typeface="Arial"/>
              </a:rPr>
              <a:t>☐  </a:t>
            </a:r>
            <a:r>
              <a:rPr sz="1400" lang="fr-FR">
                <a:solidFill>
                  <a:srgbClr val="161616"/>
                </a:solidFill>
                <a:latin typeface="Arial"/>
              </a:rPr>
              <a:t>Police lisible, sans fantaisie, assez épaisse pour un écran mobile</a:t>
            </a:r>
          </a:p>
          <a:p>
            <a:pPr algn="l">
              <a:lnSpc>
                <a:spcPct val="150000"/>
              </a:lnSpc>
            </a:pPr>
            <a:r>
              <a:rPr sz="1800" b="1" lang="fr-FR">
                <a:solidFill>
                  <a:srgbClr val="000091"/>
                </a:solidFill>
                <a:latin typeface="Arial"/>
              </a:rPr>
              <a:t>☐  </a:t>
            </a:r>
            <a:r>
              <a:rPr sz="1400" lang="fr-FR">
                <a:solidFill>
                  <a:srgbClr val="161616"/>
                </a:solidFill>
                <a:latin typeface="Arial"/>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Informations essentielles écrites dans le texte du post</a:t>
            </a:r>
          </a:p>
          <a:p>
            <a:pPr algn="l">
              <a:lnSpc>
                <a:spcPct val="150000"/>
              </a:lnSpc>
            </a:pPr>
            <a:r>
              <a:rPr sz="1800" b="1" lang="fr-FR">
                <a:solidFill>
                  <a:srgbClr val="000091"/>
                </a:solidFill>
                <a:latin typeface="Arial"/>
              </a:rPr>
              <a:t>☐  </a:t>
            </a:r>
            <a:r>
              <a:rPr sz="1400" lang="fr-FR">
                <a:solidFill>
                  <a:srgbClr val="161616"/>
                </a:solidFill>
                <a:latin typeface="Arial"/>
              </a:rPr>
              <a:t>Paragraphes courts, texte natif, pas de faux gras Unicode</a:t>
            </a:r>
          </a:p>
          <a:p>
            <a:pPr algn="l">
              <a:lnSpc>
                <a:spcPct val="150000"/>
              </a:lnSpc>
            </a:pPr>
            <a:r>
              <a:rPr sz="1800" b="1" lang="fr-FR">
                <a:solidFill>
                  <a:srgbClr val="000091"/>
                </a:solidFill>
                <a:latin typeface="Arial"/>
              </a:rPr>
              <a:t>☐  </a:t>
            </a:r>
            <a:r>
              <a:rPr sz="1400" lang="fr-FR">
                <a:solidFill>
                  <a:srgbClr val="161616"/>
                </a:solidFill>
                <a:latin typeface="Arial"/>
              </a:rPr>
              <a:t>Émojis : 1 ou 2, en fin de message, sens vérifié</a:t>
            </a:r>
          </a:p>
          <a:p>
            <a:pPr algn="l">
              <a:lnSpc>
                <a:spcPct val="150000"/>
              </a:lnSpc>
            </a:pPr>
            <a:r>
              <a:rPr sz="1800" b="1" lang="fr-FR">
                <a:solidFill>
                  <a:srgbClr val="000091"/>
                </a:solidFill>
                <a:latin typeface="Arial"/>
              </a:rPr>
              <a:t>☐  </a:t>
            </a:r>
            <a:r>
              <a:rPr sz="1400" lang="fr-FR">
                <a:solidFill>
                  <a:srgbClr val="161616"/>
                </a:solidFill>
                <a:latin typeface="Arial"/>
              </a:rPr>
              <a:t>Hashtags : CamelCase, courts, regroupés à la fin, 2 ou 3 maximum</a:t>
            </a:r>
          </a:p>
          <a:p>
            <a:pPr algn="l">
              <a:lnSpc>
                <a:spcPct val="150000"/>
              </a:lnSpc>
            </a:pPr>
            <a:r>
              <a:rPr sz="1800" b="1" lang="fr-FR">
                <a:solidFill>
                  <a:srgbClr val="000091"/>
                </a:solidFill>
                <a:latin typeface="Arial"/>
              </a:rPr>
              <a:t>☐  </a:t>
            </a:r>
            <a:r>
              <a:rPr sz="1400" lang="fr-FR">
                <a:solidFill>
                  <a:srgbClr val="161616"/>
                </a:solidFill>
                <a:latin typeface="Arial"/>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Alt text clair et unique pour chaque image informative</a:t>
            </a:r>
          </a:p>
          <a:p>
            <a:pPr algn="l">
              <a:lnSpc>
                <a:spcPct val="150000"/>
              </a:lnSpc>
            </a:pPr>
            <a:r>
              <a:rPr sz="1800" b="1" lang="fr-FR">
                <a:solidFill>
                  <a:srgbClr val="000091"/>
                </a:solidFill>
                <a:latin typeface="Arial"/>
              </a:rPr>
              <a:t>☐  </a:t>
            </a:r>
            <a:r>
              <a:rPr sz="1400" lang="fr-FR">
                <a:solidFill>
                  <a:srgbClr val="161616"/>
                </a:solidFill>
                <a:latin typeface="Arial"/>
              </a:rPr>
              <a:t>Infographie ou carrousel : chiffres et messages clés repris dans le post</a:t>
            </a:r>
          </a:p>
          <a:p>
            <a:pPr algn="l">
              <a:lnSpc>
                <a:spcPct val="150000"/>
              </a:lnSpc>
            </a:pPr>
            <a:r>
              <a:rPr sz="1800" b="1" lang="fr-FR">
                <a:solidFill>
                  <a:srgbClr val="000091"/>
                </a:solidFill>
                <a:latin typeface="Arial"/>
              </a:rPr>
              <a:t>☐  </a:t>
            </a:r>
            <a:r>
              <a:rPr sz="1400" lang="fr-FR">
                <a:solidFill>
                  <a:srgbClr val="161616"/>
                </a:solidFill>
                <a:latin typeface="Arial"/>
              </a:rPr>
              <a:t>Audio : transcription écrite jointe ou lien visible</a:t>
            </a:r>
          </a:p>
          <a:p>
            <a:pPr algn="l">
              <a:lnSpc>
                <a:spcPct val="150000"/>
              </a:lnSpc>
            </a:pPr>
            <a:r>
              <a:rPr sz="1800" b="1" lang="fr-FR">
                <a:solidFill>
                  <a:srgbClr val="000091"/>
                </a:solidFill>
                <a:latin typeface="Arial"/>
              </a:rPr>
              <a:t>☐  </a:t>
            </a:r>
            <a:r>
              <a:rPr sz="1400" lang="fr-FR">
                <a:solidFill>
                  <a:srgbClr val="161616"/>
                </a:solidFill>
                <a:latin typeface="Arial"/>
              </a:rPr>
              <a:t>Vidéo : sous-titres relus, transcription si nécessaire</a:t>
            </a:r>
          </a:p>
          <a:p>
            <a:pPr algn="l">
              <a:lnSpc>
                <a:spcPct val="150000"/>
              </a:lnSpc>
            </a:pPr>
            <a:r>
              <a:rPr sz="1800" b="1" lang="fr-FR">
                <a:solidFill>
                  <a:srgbClr val="000091"/>
                </a:solidFill>
                <a:latin typeface="Arial"/>
              </a:rPr>
              <a:t>☐  </a:t>
            </a:r>
            <a:r>
              <a:rPr sz="1400" lang="fr-FR">
                <a:solidFill>
                  <a:srgbClr val="161616"/>
                </a:solidFill>
                <a:latin typeface="Arial"/>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Quiz : vrai ou faux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Quiz</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132</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Émojis : 1 ou 2, en fin de message</a:t>
            </a:r>
          </a:p>
        </p:txBody>
      </p:sp>
      <p:sp>
        <p:nvSpPr>
          <p:cNvPr id="12" name="DSFR-card-contenu"/>
          <p:cNvSpPr txBox="1"/>
          <p:nvPr/>
        </p:nvSpPr>
        <p:spPr>
          <a:xfrm>
            <a:off x="704088" y="2788920"/>
            <a:ext cx="5097779" cy="4686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Un QR code peut remplacer le lien visible</a:t>
            </a:r>
          </a:p>
        </p:txBody>
      </p:sp>
      <p:sp>
        <p:nvSpPr>
          <p:cNvPr id="17" name="DSFR-card-contenu"/>
          <p:cNvSpPr txBox="1"/>
          <p:nvPr/>
        </p:nvSpPr>
        <p:spPr>
          <a:xfrm>
            <a:off x="6469379" y="2788920"/>
            <a:ext cx="5097779" cy="4686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Alt text vide = toujours une erreur</a:t>
            </a:r>
          </a:p>
        </p:txBody>
      </p:sp>
      <p:sp>
        <p:nvSpPr>
          <p:cNvPr id="22" name="DSFR-card-contenu"/>
          <p:cNvSpPr txBox="1"/>
          <p:nvPr/>
        </p:nvSpPr>
        <p:spPr>
          <a:xfrm>
            <a:off x="704088" y="4581144"/>
            <a:ext cx="5097779" cy="4686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Visuel inclusif = événement accessible</a:t>
            </a:r>
          </a:p>
        </p:txBody>
      </p:sp>
      <p:sp>
        <p:nvSpPr>
          <p:cNvPr id="27" name="DSFR-card-contenu"/>
          <p:cNvSpPr txBox="1"/>
          <p:nvPr/>
        </p:nvSpPr>
        <p:spPr>
          <a:xfrm>
            <a:off x="6469379" y="4581144"/>
            <a:ext cx="5097779" cy="4686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FR-highlight"/>
          <p:cNvSpPr txBox="1"/>
          <p:nvPr/>
        </p:nvSpPr>
        <p:spPr>
          <a:xfrm>
            <a:off x="749808" y="53035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ccent-decoratif" descr=""/>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Que faites-vous demain matin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133</a:t>
            </a:r>
            <a:endParaRPr lang="fr-FR" dirty="0"/>
          </a:p>
        </p:txBody>
      </p:sp>
      <p:sp>
        <p:nvSpPr>
          <p:cNvPr id="8" name="DSFR-stepper-pastille-1"/>
          <p:cNvSpPr/>
          <p:nvPr/>
        </p:nvSpPr>
        <p:spPr>
          <a:xfrm>
            <a:off x="1926335"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Avant votre prochain post : passez la checklist Anticiper / Rédiger / Publier</a:t>
            </a:r>
          </a:p>
        </p:txBody>
      </p:sp>
      <p:sp>
        <p:nvSpPr>
          <p:cNvPr id="11" name="DSFR-stepper-pastille-2"/>
          <p:cNvSpPr/>
          <p:nvPr/>
        </p:nvSpPr>
        <p:spPr>
          <a:xfrm>
            <a:off x="5769863"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4319015"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Relisez votre dernière publication : qui est représenté, qui est absent ?</a:t>
            </a:r>
          </a:p>
        </p:txBody>
      </p:sp>
      <p:sp>
        <p:nvSpPr>
          <p:cNvPr id="14" name="DSFR-stepper-pastille-3"/>
          <p:cNvSpPr/>
          <p:nvPr/>
        </p:nvSpPr>
        <p:spPr>
          <a:xfrm>
            <a:off x="9613391"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5" name="DSFR-stepper-texte-3"/>
          <p:cNvSpPr txBox="1"/>
          <p:nvPr/>
        </p:nvSpPr>
        <p:spPr>
          <a:xfrm>
            <a:off x="8162543"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Vérifiez un post avec QR code : lien visible + « Scannez-moi ! »</a:t>
            </a:r>
          </a:p>
        </p:txBody>
      </p:sp>
      <p:sp>
        <p:nvSpPr>
          <p:cNvPr id="17" name="DSFR-box"/>
          <p:cNvSpPr/>
          <p:nvPr/>
        </p:nvSpPr>
        <p:spPr>
          <a:xfrm>
            <a:off x="548640" y="385876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395020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7 jours</a:t>
            </a:r>
          </a:p>
        </p:txBody>
      </p:sp>
      <p:sp>
        <p:nvSpPr>
          <p:cNvPr id="19" name="DSFR-alert-success-body"/>
          <p:cNvSpPr txBox="1"/>
          <p:nvPr/>
        </p:nvSpPr>
        <p:spPr>
          <a:xfrm>
            <a:off x="704088" y="436168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Publiez un post en appliquant les 3 temps de la checklist</a:t>
            </a:r>
          </a:p>
          <a:p>
            <a:pPr algn="l">
              <a:lnSpc>
                <a:spcPct val="115000"/>
              </a:lnSpc>
            </a:pPr>
            <a:r>
              <a:rPr sz="1400" lang="fr-FR">
                <a:solidFill>
                  <a:srgbClr val="161616"/>
                </a:solidFill>
                <a:latin typeface="Arial"/>
              </a:rPr>
              <a:t>• </a:t>
            </a:r>
            <a:r>
              <a:rPr sz="1400" b="0" lang="fr-FR">
                <a:solidFill>
                  <a:srgbClr val="161616"/>
                </a:solidFill>
                <a:latin typeface="Arial"/>
              </a:rPr>
              <a:t>Faites relire une publication par un binôme avant mise en ligne</a:t>
            </a:r>
          </a:p>
          <a:p>
            <a:pPr algn="l">
              <a:lnSpc>
                <a:spcPct val="115000"/>
              </a:lnSpc>
            </a:pPr>
            <a:r>
              <a:rPr sz="1400" lang="fr-FR">
                <a:solidFill>
                  <a:srgbClr val="161616"/>
                </a:solidFill>
                <a:latin typeface="Arial"/>
              </a:rPr>
              <a:t>• </a:t>
            </a:r>
            <a:r>
              <a:rPr sz="1400" b="0" lang="fr-FR">
                <a:solidFill>
                  <a:srgbClr val="161616"/>
                </a:solidFill>
                <a:latin typeface="Arial"/>
              </a:rPr>
              <a:t>Partagez le mémo à votre équipe de communication</a:t>
            </a:r>
          </a:p>
        </p:txBody>
      </p:sp>
      <p:sp>
        <p:nvSpPr>
          <p:cNvPr id="21" name="DSFR-box"/>
          <p:cNvSpPr/>
          <p:nvPr/>
        </p:nvSpPr>
        <p:spPr>
          <a:xfrm>
            <a:off x="6313931" y="3968496"/>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lert-info-titre"/>
          <p:cNvSpPr txBox="1"/>
          <p:nvPr/>
        </p:nvSpPr>
        <p:spPr>
          <a:xfrm>
            <a:off x="6469379" y="405993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Mémo : les 3 temps</a:t>
            </a:r>
          </a:p>
        </p:txBody>
      </p:sp>
      <p:sp>
        <p:nvSpPr>
          <p:cNvPr id="23" name="DSFR-alert-info-body"/>
          <p:cNvSpPr txBox="1"/>
          <p:nvPr/>
        </p:nvSpPr>
        <p:spPr>
          <a:xfrm>
            <a:off x="6469379" y="4471416"/>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Anticiper : médias, représentations, contraste</a:t>
            </a:r>
          </a:p>
          <a:p>
            <a:pPr algn="l">
              <a:lnSpc>
                <a:spcPct val="115000"/>
              </a:lnSpc>
            </a:pPr>
            <a:r>
              <a:rPr sz="1400" lang="fr-FR">
                <a:solidFill>
                  <a:srgbClr val="161616"/>
                </a:solidFill>
                <a:latin typeface="Arial"/>
              </a:rPr>
              <a:t>• </a:t>
            </a:r>
            <a:r>
              <a:rPr sz="1400" b="0" lang="fr-FR">
                <a:solidFill>
                  <a:srgbClr val="161616"/>
                </a:solidFill>
                <a:latin typeface="Arial"/>
              </a:rPr>
              <a:t>Rédiger : texte natif, émojis, hashtags, langage inclusif</a:t>
            </a:r>
          </a:p>
          <a:p>
            <a:pPr algn="l">
              <a:lnSpc>
                <a:spcPct val="115000"/>
              </a:lnSpc>
            </a:pPr>
            <a:r>
              <a:rPr sz="1400" lang="fr-FR">
                <a:solidFill>
                  <a:srgbClr val="161616"/>
                </a:solidFill>
                <a:latin typeface="Arial"/>
              </a:rPr>
              <a:t>• </a:t>
            </a:r>
            <a:r>
              <a:rPr sz="1400" b="0" lang="fr-FR">
                <a:solidFill>
                  <a:srgbClr val="161616"/>
                </a:solidFill>
                <a:latin typeface="Arial"/>
              </a:rPr>
              <a:t>Publier : alt text, sous-titres, transcription,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stepper-connecteur-1-decoratif" descr=""/>
          <p:cNvSpPr/>
          <p:nvPr/>
        </p:nvSpPr>
        <p:spPr>
          <a:xfrm>
            <a:off x="2566416"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385876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3968496"/>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questions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Cloture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134</a:t>
            </a:r>
            <a:endParaRPr lang="fr-FR" dirty="0"/>
          </a:p>
        </p:txBody>
      </p:sp>
      <p:sp>
        <p:nvSpPr>
          <p:cNvPr id="9" name="DSFR-box"/>
          <p:cNvSpPr/>
          <p:nvPr/>
        </p:nvSpPr>
        <p:spPr>
          <a:xfrm>
            <a:off x="548640" y="228600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37744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Merci pour votre participation !</a:t>
            </a:r>
          </a:p>
        </p:txBody>
      </p:sp>
      <p:sp>
        <p:nvSpPr>
          <p:cNvPr id="12" name="DSFR-box"/>
          <p:cNvSpPr/>
          <p:nvPr/>
        </p:nvSpPr>
        <p:spPr>
          <a:xfrm>
            <a:off x="548640" y="3474720"/>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5661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Vos contacts</a:t>
            </a:r>
          </a:p>
        </p:txBody>
      </p:sp>
      <p:sp>
        <p:nvSpPr>
          <p:cNvPr id="14" name="DSFR-callout-body"/>
          <p:cNvSpPr txBox="1"/>
          <p:nvPr/>
        </p:nvSpPr>
        <p:spPr>
          <a:xfrm>
            <a:off x="704088" y="3977639"/>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Bertrand Matge - bertrand.matge@finances.gouv.fr</a:t>
            </a:r>
          </a:p>
          <a:p>
            <a:pPr algn="l">
              <a:lnSpc>
                <a:spcPct val="125000"/>
              </a:lnSpc>
            </a:pPr>
            <a:r>
              <a:rPr sz="1400" lang="fr-FR">
                <a:solidFill>
                  <a:srgbClr val="161616"/>
                </a:solidFill>
                <a:latin typeface="Arial"/>
              </a:rPr>
              <a:t>• </a:t>
            </a:r>
            <a:r>
              <a:rPr sz="1400" b="0" lang="fr-FR">
                <a:solidFill>
                  <a:srgbClr val="161616"/>
                </a:solidFill>
                <a:latin typeface="Arial"/>
              </a:rPr>
              <a:t>Alexandra Guiderdoni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a:t>
            </a:r>
          </a:p>
        </p:txBody>
      </p:sp>
      <p:sp>
        <p:nvSpPr>
          <p:cNvPr id="8" name="DSFR-accent-decoratif" descr=""/>
          <p:cNvSpPr/>
          <p:nvPr/>
        </p:nvSpPr>
        <p:spPr>
          <a:xfrm>
            <a:off x="475488" y="228600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474720"/>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102846 -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