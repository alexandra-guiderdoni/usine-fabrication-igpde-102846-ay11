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a:t>
            </a:r>
          </a:p>
          <a:p>
            <a:r>
              <a:rPr lang="fr-FR"/>
              <a:t>Préciser que la progression va de la structure du document à sa vérification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Donner la réponse : le document B.</a:t>
            </a:r>
          </a:p>
          <a:p>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Jusqu'à 50 000 EUR : accessibilité des organismes publics et assimilés</a:t>
            </a:r>
          </a:p>
          <a:p>
            <a:pPr algn="l">
              <a:lnSpc>
                <a:spcPct val="150000"/>
              </a:lnSpc>
            </a:pPr>
            <a:r>
              <a:rPr sz="1400" lang="fr-FR">
                <a:solidFill>
                  <a:srgbClr val="161616"/>
                </a:solidFill>
                <a:latin typeface="Arial"/>
              </a:rPr>
              <a:t>• </a:t>
            </a:r>
            <a:r>
              <a:rPr sz="1400" b="0" lang="fr-FR">
                <a:solidFill>
                  <a:srgbClr val="161616"/>
                </a:solidFill>
                <a:latin typeface="Arial"/>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le document</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couleurs accessibles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contenus visuels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Améliorer la langue et la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et finaliser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2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2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Arial"/>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bloc plat, sans repère de navigation</a:t>
            </a:r>
          </a:p>
          <a:p>
            <a:pPr algn="l">
              <a:lnSpc>
                <a:spcPct val="125000"/>
              </a:lnSpc>
            </a:pPr>
            <a:r>
              <a:rPr sz="1400" lang="fr-FR">
                <a:solidFill>
                  <a:srgbClr val="161616"/>
                </a:solidFill>
                <a:latin typeface="Arial"/>
              </a:rPr>
              <a:t>• </a:t>
            </a:r>
            <a:r>
              <a:rPr sz="1400" b="0" lang="fr-FR">
                <a:solidFill>
                  <a:srgbClr val="161616"/>
                </a:solidFill>
                <a:latin typeface="Arial"/>
              </a:rPr>
              <a:t>Le lecteur d'écran ne peut pas aller de titre en titre</a:t>
            </a:r>
          </a:p>
          <a:p>
            <a:pPr algn="l">
              <a:lnSpc>
                <a:spcPct val="125000"/>
              </a:lnSpc>
            </a:pPr>
            <a:r>
              <a:rPr sz="1400" lang="fr-FR">
                <a:solidFill>
                  <a:srgbClr val="161616"/>
                </a:solidFill>
                <a:latin typeface="Arial"/>
              </a:rPr>
              <a:t>• </a:t>
            </a:r>
            <a:r>
              <a:rPr sz="1400" b="0" lang="fr-FR">
                <a:solidFill>
                  <a:srgbClr val="161616"/>
                </a:solidFill>
                <a:latin typeface="Arial"/>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 1 : Rapport annuel</a:t>
            </a:r>
          </a:p>
          <a:p>
            <a:pPr algn="l">
              <a:lnSpc>
                <a:spcPct val="125000"/>
              </a:lnSpc>
            </a:pPr>
            <a:r>
              <a:rPr sz="1400" lang="fr-FR">
                <a:solidFill>
                  <a:srgbClr val="161616"/>
                </a:solidFill>
                <a:latin typeface="Arial"/>
              </a:rPr>
              <a:t>• </a:t>
            </a:r>
            <a:r>
              <a:rPr sz="1400" b="0" lang="fr-FR">
                <a:solidFill>
                  <a:srgbClr val="161616"/>
                </a:solidFill>
                <a:latin typeface="Arial"/>
              </a:rPr>
              <a:t>Titre 2 : Budget / Titre 3 : Prévisions</a:t>
            </a:r>
          </a:p>
          <a:p>
            <a:pPr algn="l">
              <a:lnSpc>
                <a:spcPct val="125000"/>
              </a:lnSpc>
            </a:pPr>
            <a:r>
              <a:rPr sz="1400" lang="fr-FR">
                <a:solidFill>
                  <a:srgbClr val="161616"/>
                </a:solidFill>
                <a:latin typeface="Arial"/>
              </a:rPr>
              <a:t>• </a:t>
            </a:r>
            <a:r>
              <a:rPr sz="1400" b="0" lang="fr-FR">
                <a:solidFill>
                  <a:srgbClr val="161616"/>
                </a:solidFill>
                <a:latin typeface="Arial"/>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Appliquer : Accueil &gt; Styles &gt; Titre 1, Titre 2 ou Titre 3</a:t>
            </a:r>
          </a:p>
          <a:p>
            <a:pPr algn="l">
              <a:lnSpc>
                <a:spcPct val="125000"/>
              </a:lnSpc>
            </a:pPr>
            <a:r>
              <a:rPr sz="1400" lang="fr-FR">
                <a:solidFill>
                  <a:srgbClr val="161616"/>
                </a:solidFill>
                <a:latin typeface="Arial"/>
              </a:rPr>
              <a:t>• </a:t>
            </a:r>
            <a:r>
              <a:rPr sz="1400" b="0" lang="fr-FR">
                <a:solidFill>
                  <a:srgbClr val="161616"/>
                </a:solidFill>
                <a:latin typeface="Arial"/>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Le lecteur annonce : liste de 3 éléments, élément 1 sur 3</a:t>
            </a:r>
          </a:p>
          <a:p>
            <a:pPr algn="l">
              <a:lnSpc>
                <a:spcPct val="150000"/>
              </a:lnSpc>
            </a:pPr>
            <a:r>
              <a:rPr sz="1400" lang="fr-FR">
                <a:solidFill>
                  <a:srgbClr val="161616"/>
                </a:solidFill>
                <a:latin typeface="Arial"/>
              </a:rPr>
              <a:t>• </a:t>
            </a:r>
            <a:r>
              <a:rPr sz="1400" b="0" lang="fr-FR">
                <a:solidFill>
                  <a:srgbClr val="161616"/>
                </a:solidFill>
                <a:latin typeface="Arial"/>
              </a:rPr>
              <a:t>Navigation par élément avec les touches flèches</a:t>
            </a:r>
          </a:p>
          <a:p>
            <a:pPr algn="l">
              <a:lnSpc>
                <a:spcPct val="150000"/>
              </a:lnSpc>
            </a:pPr>
            <a:r>
              <a:rPr sz="1400" lang="fr-FR">
                <a:solidFill>
                  <a:srgbClr val="161616"/>
                </a:solidFill>
                <a:latin typeface="Arial"/>
              </a:rPr>
              <a:t>• </a:t>
            </a:r>
            <a:r>
              <a:rPr sz="1400" b="0" lang="fr-FR">
                <a:solidFill>
                  <a:srgbClr val="161616"/>
                </a:solidFill>
                <a:latin typeface="Arial"/>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Tirets manuels : le lecteur lit tiret Premier élément</a:t>
            </a:r>
          </a:p>
          <a:p>
            <a:pPr algn="l">
              <a:lnSpc>
                <a:spcPct val="150000"/>
              </a:lnSpc>
            </a:pPr>
            <a:r>
              <a:rPr sz="1400" lang="fr-FR">
                <a:solidFill>
                  <a:srgbClr val="161616"/>
                </a:solidFill>
                <a:latin typeface="Arial"/>
              </a:rPr>
              <a:t>• </a:t>
            </a:r>
            <a:r>
              <a:rPr sz="1400" b="0" lang="fr-FR">
                <a:solidFill>
                  <a:srgbClr val="161616"/>
                </a:solidFill>
                <a:latin typeface="Arial"/>
              </a:rPr>
              <a:t>Tabulations pour simuler une numérotation</a:t>
            </a:r>
          </a:p>
          <a:p>
            <a:pPr algn="l">
              <a:lnSpc>
                <a:spcPct val="150000"/>
              </a:lnSpc>
            </a:pPr>
            <a:r>
              <a:rPr sz="1400" lang="fr-FR">
                <a:solidFill>
                  <a:srgbClr val="161616"/>
                </a:solidFill>
                <a:latin typeface="Arial"/>
              </a:rPr>
              <a:t>• </a:t>
            </a:r>
            <a:r>
              <a:rPr sz="1400" b="0" lang="fr-FR">
                <a:solidFill>
                  <a:srgbClr val="161616"/>
                </a:solidFill>
                <a:latin typeface="Arial"/>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ne jamais utiliser Tab, Espace ou Entrée pour simuler une mise en page.</a:t>
            </a:r>
          </a:p>
          <a:p>
            <a:r>
              <a:rPr sz="1800" b="1" lang="fr-FR">
                <a:solidFill>
                  <a:srgbClr val="000091"/>
                </a:solidFill>
                <a:latin typeface="Arial"/>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Insertion &gt; Tableau &gt; colonnes et lignes</a:t>
            </a:r>
          </a:p>
          <a:p>
            <a:pPr algn="l">
              <a:lnSpc>
                <a:spcPct val="115000"/>
              </a:lnSpc>
            </a:pPr>
            <a:r>
              <a:rPr sz="1400" lang="fr-FR">
                <a:solidFill>
                  <a:srgbClr val="161616"/>
                </a:solidFill>
                <a:latin typeface="Arial"/>
              </a:rPr>
              <a:t>• </a:t>
            </a:r>
            <a:r>
              <a:rPr sz="1400" b="0" lang="fr-FR">
                <a:solidFill>
                  <a:srgbClr val="161616"/>
                </a:solidFill>
                <a:latin typeface="Arial"/>
              </a:rPr>
              <a:t>Habillage : Propriétés &gt; Aucun</a:t>
            </a:r>
          </a:p>
          <a:p>
            <a:pPr algn="l">
              <a:lnSpc>
                <a:spcPct val="115000"/>
              </a:lnSpc>
            </a:pPr>
            <a:r>
              <a:rPr sz="1400" lang="fr-FR">
                <a:solidFill>
                  <a:srgbClr val="161616"/>
                </a:solidFill>
                <a:latin typeface="Arial"/>
              </a:rPr>
              <a:t>• </a:t>
            </a:r>
            <a:r>
              <a:rPr sz="1400" b="0" lang="fr-FR">
                <a:solidFill>
                  <a:srgbClr val="161616"/>
                </a:solidFill>
                <a:latin typeface="Arial"/>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Doublez toujours la couleur avec une légende textuelle</a:t>
            </a:r>
          </a:p>
          <a:p>
            <a:r>
              <a:rPr sz="1800" b="1" lang="fr-FR">
                <a:solidFill>
                  <a:srgbClr val="000091"/>
                </a:solidFill>
                <a:latin typeface="Arial"/>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En-têtes et pieds de page : non lus automatiquement</a:t>
            </a:r>
          </a:p>
          <a:p>
            <a:pPr algn="l">
              <a:lnSpc>
                <a:spcPct val="115000"/>
              </a:lnSpc>
            </a:pPr>
            <a:r>
              <a:rPr sz="1400" lang="fr-FR">
                <a:solidFill>
                  <a:srgbClr val="161616"/>
                </a:solidFill>
                <a:latin typeface="Arial"/>
              </a:rPr>
              <a:t>• </a:t>
            </a:r>
            <a:r>
              <a:rPr sz="1400" b="0" lang="fr-FR">
                <a:solidFill>
                  <a:srgbClr val="161616"/>
                </a:solidFill>
                <a:latin typeface="Arial"/>
              </a:rPr>
              <a:t>Filigranes (Confidentiel, Brouillon) : invisibles</a:t>
            </a:r>
          </a:p>
          <a:p>
            <a:pPr algn="l">
              <a:lnSpc>
                <a:spcPct val="115000"/>
              </a:lnSpc>
            </a:pPr>
            <a:r>
              <a:rPr sz="1400" lang="fr-FR">
                <a:solidFill>
                  <a:srgbClr val="161616"/>
                </a:solidFill>
                <a:latin typeface="Arial"/>
              </a:rPr>
              <a:t>• </a:t>
            </a:r>
            <a:r>
              <a:rPr sz="1400" b="0" lang="fr-FR">
                <a:solidFill>
                  <a:srgbClr val="161616"/>
                </a:solidFill>
                <a:latin typeface="Arial"/>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Titre + format + poids + langue si différente</a:t>
            </a:r>
          </a:p>
          <a:p>
            <a:pPr algn="l">
              <a:lnSpc>
                <a:spcPct val="115000"/>
              </a:lnSpc>
            </a:pPr>
            <a:r>
              <a:rPr sz="1400" lang="fr-FR">
                <a:solidFill>
                  <a:srgbClr val="161616"/>
                </a:solidFill>
                <a:latin typeface="Arial"/>
              </a:rPr>
              <a:t>• </a:t>
            </a:r>
            <a:r>
              <a:rPr sz="1400" b="0" lang="fr-FR">
                <a:solidFill>
                  <a:srgbClr val="161616"/>
                </a:solidFill>
                <a:latin typeface="Arial"/>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en gras, fausses listes, faux sommaire, tableaux sans en-tête</a:t>
            </a:r>
          </a:p>
          <a:p>
            <a:pPr algn="l">
              <a:lnSpc>
                <a:spcPct val="125000"/>
              </a:lnSpc>
            </a:pPr>
            <a:r>
              <a:rPr sz="1400" lang="fr-FR">
                <a:solidFill>
                  <a:srgbClr val="161616"/>
                </a:solidFill>
                <a:latin typeface="Arial"/>
              </a:rPr>
              <a:t>• </a:t>
            </a:r>
            <a:r>
              <a:rPr sz="1400" b="0" lang="fr-FR">
                <a:solidFill>
                  <a:srgbClr val="161616"/>
                </a:solidFill>
                <a:latin typeface="Arial"/>
              </a:rPr>
              <a:t>Mention Urgent en rouge, note en gris insuffisant</a:t>
            </a:r>
          </a:p>
          <a:p>
            <a:pPr algn="l">
              <a:lnSpc>
                <a:spcPct val="125000"/>
              </a:lnSpc>
            </a:pPr>
            <a:r>
              <a:rPr sz="1400" lang="fr-FR">
                <a:solidFill>
                  <a:srgbClr val="161616"/>
                </a:solidFill>
                <a:latin typeface="Arial"/>
              </a:rPr>
              <a:t>• </a:t>
            </a:r>
            <a:r>
              <a:rPr sz="1400" b="0" lang="fr-FR">
                <a:solidFill>
                  <a:srgbClr val="161616"/>
                </a:solidFill>
                <a:latin typeface="Arial"/>
              </a:rPr>
              <a:t>Graphique et organigramme sans alt, icône redondante</a:t>
            </a:r>
          </a:p>
          <a:p>
            <a:pPr algn="l">
              <a:lnSpc>
                <a:spcPct val="125000"/>
              </a:lnSpc>
            </a:pPr>
            <a:r>
              <a:rPr sz="1400" lang="fr-FR">
                <a:solidFill>
                  <a:srgbClr val="161616"/>
                </a:solidFill>
                <a:latin typeface="Arial"/>
              </a:rPr>
              <a:t>• </a:t>
            </a:r>
            <a:r>
              <a:rPr sz="1400" b="0" lang="fr-FR">
                <a:solidFill>
                  <a:srgbClr val="161616"/>
                </a:solidFill>
                <a:latin typeface="Arial"/>
              </a:rPr>
              <a:t>Texte en image, lien cliquez ici, filigrane invisible</a:t>
            </a:r>
          </a:p>
          <a:p>
            <a:pPr algn="l">
              <a:lnSpc>
                <a:spcPct val="125000"/>
              </a:lnSpc>
            </a:pPr>
            <a:r>
              <a:rPr sz="1400" lang="fr-FR">
                <a:solidFill>
                  <a:srgbClr val="161616"/>
                </a:solidFill>
                <a:latin typeface="Arial"/>
              </a:rPr>
              <a:t>• </a:t>
            </a:r>
            <a:r>
              <a:rPr sz="1400" b="0" lang="fr-FR">
                <a:solidFill>
                  <a:srgbClr val="161616"/>
                </a:solidFill>
                <a:latin typeface="Arial"/>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En binôme,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principale : Fichier &gt; Options &gt; Langue</a:t>
            </a:r>
          </a:p>
          <a:p>
            <a:pPr algn="l">
              <a:lnSpc>
                <a:spcPct val="125000"/>
              </a:lnSpc>
            </a:pPr>
            <a:r>
              <a:rPr sz="1400" lang="fr-FR">
                <a:solidFill>
                  <a:srgbClr val="161616"/>
                </a:solidFill>
                <a:latin typeface="Arial"/>
              </a:rPr>
              <a:t>• </a:t>
            </a:r>
            <a:r>
              <a:rPr sz="1400" b="0" lang="fr-FR">
                <a:solidFill>
                  <a:srgbClr val="161616"/>
                </a:solidFill>
                <a:latin typeface="Arial"/>
              </a:rPr>
              <a:t>Passage en langue étrangère : sélectionner le texte &gt; Révision &gt; Langue &gt; Définir la langue</a:t>
            </a:r>
          </a:p>
          <a:p>
            <a:pPr algn="l">
              <a:lnSpc>
                <a:spcPct val="125000"/>
              </a:lnSpc>
            </a:pPr>
            <a:r>
              <a:rPr sz="1400" lang="fr-FR">
                <a:solidFill>
                  <a:srgbClr val="161616"/>
                </a:solidFill>
                <a:latin typeface="Arial"/>
              </a:rPr>
              <a:t>• </a:t>
            </a:r>
            <a:r>
              <a:rPr sz="1400" b="0" lang="fr-FR">
                <a:solidFill>
                  <a:srgbClr val="161616"/>
                </a:solidFill>
                <a:latin typeface="Arial"/>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Difficiles à lire pour les dyslexiques</a:t>
            </a:r>
          </a:p>
          <a:p>
            <a:pPr algn="l">
              <a:lnSpc>
                <a:spcPct val="125000"/>
              </a:lnSpc>
            </a:pPr>
            <a:r>
              <a:rPr sz="1400" lang="fr-FR">
                <a:solidFill>
                  <a:srgbClr val="161616"/>
                </a:solidFill>
                <a:latin typeface="Arial"/>
              </a:rPr>
              <a:t>• </a:t>
            </a:r>
            <a:r>
              <a:rPr sz="1400" b="0" lang="fr-FR">
                <a:solidFill>
                  <a:srgbClr val="161616"/>
                </a:solidFill>
                <a:latin typeface="Arial"/>
              </a:rPr>
              <a:t>Prononciation ambiguë par les lecteurs d'écran</a:t>
            </a:r>
          </a:p>
          <a:p>
            <a:pPr algn="l">
              <a:lnSpc>
                <a:spcPct val="125000"/>
              </a:lnSpc>
            </a:pPr>
            <a:r>
              <a:rPr sz="1400" lang="fr-FR">
                <a:solidFill>
                  <a:srgbClr val="161616"/>
                </a:solidFill>
                <a:latin typeface="Arial"/>
              </a:rPr>
              <a:t>• </a:t>
            </a:r>
            <a:r>
              <a:rPr sz="1400" b="0" lang="fr-FR">
                <a:solidFill>
                  <a:srgbClr val="161616"/>
                </a:solidFill>
                <a:latin typeface="Arial"/>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Police sans serif, 12 pt minimum</a:t>
            </a:r>
          </a:p>
          <a:p>
            <a:pPr algn="l">
              <a:lnSpc>
                <a:spcPct val="120000"/>
              </a:lnSpc>
            </a:pPr>
            <a:r>
              <a:rPr sz="1400" lang="fr-FR">
                <a:solidFill>
                  <a:srgbClr val="161616"/>
                </a:solidFill>
                <a:latin typeface="Arial"/>
              </a:rPr>
              <a:t>• </a:t>
            </a:r>
            <a:r>
              <a:rPr sz="1400" b="0" lang="fr-FR">
                <a:solidFill>
                  <a:srgbClr val="161616"/>
                </a:solidFill>
                <a:latin typeface="Arial"/>
              </a:rPr>
              <a:t>Interligne 1,15, paragraphes aérés</a:t>
            </a:r>
          </a:p>
          <a:p>
            <a:pPr algn="l">
              <a:lnSpc>
                <a:spcPct val="120000"/>
              </a:lnSpc>
            </a:pPr>
            <a:r>
              <a:rPr sz="1400" lang="fr-FR">
                <a:solidFill>
                  <a:srgbClr val="161616"/>
                </a:solidFill>
                <a:latin typeface="Arial"/>
              </a:rPr>
              <a:t>• </a:t>
            </a:r>
            <a:r>
              <a:rPr sz="1400" b="0" lang="fr-FR">
                <a:solidFill>
                  <a:srgbClr val="161616"/>
                </a:solidFill>
                <a:latin typeface="Arial"/>
              </a:rPr>
              <a:t>Alignement à gauche, pas de justification</a:t>
            </a:r>
          </a:p>
          <a:p>
            <a:pPr algn="l">
              <a:lnSpc>
                <a:spcPct val="120000"/>
              </a:lnSpc>
            </a:pPr>
            <a:r>
              <a:rPr sz="1400" lang="fr-FR">
                <a:solidFill>
                  <a:srgbClr val="161616"/>
                </a:solidFill>
                <a:latin typeface="Arial"/>
              </a:rPr>
              <a:t>• </a:t>
            </a:r>
            <a:r>
              <a:rPr sz="1400" b="0" lang="fr-FR">
                <a:solidFill>
                  <a:srgbClr val="161616"/>
                </a:solidFill>
                <a:latin typeface="Arial"/>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Points = espaces successifs &gt; supprimer et ne garder qu'un seul espace</a:t>
            </a:r>
          </a:p>
          <a:p>
            <a:pPr algn="l">
              <a:lnSpc>
                <a:spcPct val="125000"/>
              </a:lnSpc>
            </a:pPr>
            <a:r>
              <a:rPr sz="1400" lang="fr-FR">
                <a:solidFill>
                  <a:srgbClr val="161616"/>
                </a:solidFill>
                <a:latin typeface="Arial"/>
              </a:rPr>
              <a:t>• </a:t>
            </a:r>
            <a:r>
              <a:rPr sz="1400" b="0" lang="fr-FR">
                <a:solidFill>
                  <a:srgbClr val="161616"/>
                </a:solidFill>
                <a:latin typeface="Arial"/>
              </a:rPr>
              <a:t>Flèches = tabulations utilisées pour simuler une mise en page</a:t>
            </a:r>
          </a:p>
          <a:p>
            <a:pPr algn="l">
              <a:lnSpc>
                <a:spcPct val="125000"/>
              </a:lnSpc>
            </a:pPr>
            <a:r>
              <a:rPr sz="1400" lang="fr-FR">
                <a:solidFill>
                  <a:srgbClr val="161616"/>
                </a:solidFill>
                <a:latin typeface="Arial"/>
              </a:rPr>
              <a:t>• </a:t>
            </a:r>
            <a:r>
              <a:rPr sz="1400" b="0" lang="fr-FR">
                <a:solidFill>
                  <a:srgbClr val="161616"/>
                </a:solidFill>
                <a:latin typeface="Arial"/>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Animations, GIF avec flashs, vidéos à plus de 3 Hz : interdits sans exception</a:t>
            </a:r>
          </a:p>
          <a:p>
            <a:pPr algn="l">
              <a:lnSpc>
                <a:spcPct val="150000"/>
              </a:lnSpc>
            </a:pPr>
            <a:r>
              <a:rPr sz="1400" lang="fr-FR">
                <a:solidFill>
                  <a:srgbClr val="161616"/>
                </a:solidFill>
                <a:latin typeface="Arial"/>
              </a:rPr>
              <a:t>• </a:t>
            </a:r>
            <a:r>
              <a:rPr sz="1400" b="0" lang="fr-FR">
                <a:solidFill>
                  <a:srgbClr val="161616"/>
                </a:solidFill>
                <a:latin typeface="Arial"/>
              </a:rPr>
              <a:t>Risque de crise d'épilepsie photosensible</a:t>
            </a:r>
          </a:p>
          <a:p>
            <a:pPr algn="l">
              <a:lnSpc>
                <a:spcPct val="150000"/>
              </a:lnSpc>
            </a:pPr>
            <a:r>
              <a:rPr sz="1400" lang="fr-FR">
                <a:solidFill>
                  <a:srgbClr val="161616"/>
                </a:solidFill>
                <a:latin typeface="Arial"/>
              </a:rPr>
              <a:t>• </a:t>
            </a:r>
            <a:r>
              <a:rPr sz="1400" b="0" lang="fr-FR">
                <a:solidFill>
                  <a:srgbClr val="161616"/>
                </a:solidFill>
                <a:latin typeface="Arial"/>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Il signale ce qu'il peut détecter automatiquement - pas ce qui est vraiment accessible</a:t>
            </a:r>
          </a:p>
          <a:p>
            <a:pPr algn="l">
              <a:lnSpc>
                <a:spcPct val="150000"/>
              </a:lnSpc>
            </a:pPr>
            <a:r>
              <a:rPr sz="1400" lang="fr-FR">
                <a:solidFill>
                  <a:srgbClr val="161616"/>
                </a:solidFill>
                <a:latin typeface="Arial"/>
              </a:rPr>
              <a:t>• </a:t>
            </a:r>
            <a:r>
              <a:rPr sz="1400" b="0" lang="fr-FR">
                <a:solidFill>
                  <a:srgbClr val="161616"/>
                </a:solidFill>
                <a:latin typeface="Arial"/>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Propriétés du document</a:t>
            </a:r>
          </a:p>
          <a:p>
            <a:pPr algn="l">
              <a:lnSpc>
                <a:spcPct val="115000"/>
              </a:lnSpc>
            </a:pPr>
            <a:r>
              <a:rPr sz="1400" lang="fr-FR">
                <a:solidFill>
                  <a:srgbClr val="161616"/>
                </a:solidFill>
                <a:latin typeface="Arial"/>
              </a:rPr>
              <a:t>• </a:t>
            </a:r>
            <a:r>
              <a:rPr sz="1400" b="0" lang="fr-FR">
                <a:solidFill>
                  <a:srgbClr val="161616"/>
                </a:solidFill>
                <a:latin typeface="Arial"/>
              </a:rPr>
              <a:t>Balises de structure pour l'accessibilité</a:t>
            </a:r>
          </a:p>
          <a:p>
            <a:pPr algn="l">
              <a:lnSpc>
                <a:spcPct val="115000"/>
              </a:lnSpc>
            </a:pPr>
            <a:r>
              <a:rPr sz="1400" lang="fr-FR">
                <a:solidFill>
                  <a:srgbClr val="161616"/>
                </a:solidFill>
                <a:latin typeface="Arial"/>
              </a:rPr>
              <a:t>• </a:t>
            </a:r>
            <a:r>
              <a:rPr sz="1400" b="0" lang="fr-FR">
                <a:solidFill>
                  <a:srgbClr val="161616"/>
                </a:solidFill>
                <a:latin typeface="Arial"/>
              </a:rPr>
              <a:t>Créer des signets à l'aide des titres ou en-têtes</a:t>
            </a:r>
          </a:p>
          <a:p>
            <a:pPr algn="l">
              <a:lnSpc>
                <a:spcPct val="115000"/>
              </a:lnSpc>
            </a:pPr>
            <a:r>
              <a:rPr sz="1400" lang="fr-FR">
                <a:solidFill>
                  <a:srgbClr val="161616"/>
                </a:solidFill>
                <a:latin typeface="Arial"/>
              </a:rPr>
              <a:t>• </a:t>
            </a:r>
            <a:r>
              <a:rPr sz="1400" b="0" lang="fr-FR">
                <a:solidFill>
                  <a:srgbClr val="161616"/>
                </a:solidFill>
                <a:latin typeface="Arial"/>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un passage en anglais sans balisage de langue</a:t>
            </a:r>
          </a:p>
          <a:p>
            <a:pPr algn="l">
              <a:lnSpc>
                <a:spcPct val="125000"/>
              </a:lnSpc>
            </a:pPr>
            <a:r>
              <a:rPr sz="1400" lang="fr-FR">
                <a:solidFill>
                  <a:srgbClr val="161616"/>
                </a:solidFill>
                <a:latin typeface="Arial"/>
              </a:rPr>
              <a:t>• </a:t>
            </a:r>
            <a:r>
              <a:rPr sz="1400" b="0" lang="fr-FR">
                <a:solidFill>
                  <a:srgbClr val="161616"/>
                </a:solidFill>
                <a:latin typeface="Arial"/>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sélectionner le passage anglais &gt; Révision &gt; Langue &gt; Définir en anglais</a:t>
            </a:r>
          </a:p>
          <a:p>
            <a:pPr algn="l">
              <a:lnSpc>
                <a:spcPct val="125000"/>
              </a:lnSpc>
            </a:pPr>
            <a:r>
              <a:rPr sz="1400" lang="fr-FR">
                <a:solidFill>
                  <a:srgbClr val="161616"/>
                </a:solidFill>
                <a:latin typeface="Arial"/>
              </a:rPr>
              <a:t>• </a:t>
            </a:r>
            <a:r>
              <a:rPr sz="1400" b="0" lang="fr-FR">
                <a:solidFill>
                  <a:srgbClr val="161616"/>
                </a:solidFill>
                <a:latin typeface="Arial"/>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Titres avec styles intégrés (pas du gras manuel)</a:t>
            </a:r>
          </a:p>
          <a:p>
            <a:pPr algn="l">
              <a:lnSpc>
                <a:spcPct val="150000"/>
              </a:lnSpc>
            </a:pPr>
            <a:r>
              <a:rPr sz="1800" b="1" lang="fr-FR">
                <a:solidFill>
                  <a:srgbClr val="000091"/>
                </a:solidFill>
                <a:latin typeface="Arial"/>
              </a:rPr>
              <a:t>☐  </a:t>
            </a:r>
            <a:r>
              <a:rPr sz="1400" lang="fr-FR">
                <a:solidFill>
                  <a:srgbClr val="161616"/>
                </a:solidFill>
                <a:latin typeface="Arial"/>
              </a:rPr>
              <a:t>Hiérarchie des titres cohérente (H1, H2, H3)</a:t>
            </a:r>
          </a:p>
          <a:p>
            <a:pPr algn="l">
              <a:lnSpc>
                <a:spcPct val="150000"/>
              </a:lnSpc>
            </a:pPr>
            <a:r>
              <a:rPr sz="1800" b="1" lang="fr-FR">
                <a:solidFill>
                  <a:srgbClr val="000091"/>
                </a:solidFill>
                <a:latin typeface="Arial"/>
              </a:rPr>
              <a:t>☐  </a:t>
            </a:r>
            <a:r>
              <a:rPr sz="1400" lang="fr-FR">
                <a:solidFill>
                  <a:srgbClr val="161616"/>
                </a:solidFill>
                <a:latin typeface="Arial"/>
              </a:rPr>
              <a:t>Texte alternatif sur images / décoratifs marqués</a:t>
            </a:r>
          </a:p>
          <a:p>
            <a:pPr algn="l">
              <a:lnSpc>
                <a:spcPct val="150000"/>
              </a:lnSpc>
            </a:pPr>
            <a:r>
              <a:rPr sz="1800" b="1" lang="fr-FR">
                <a:solidFill>
                  <a:srgbClr val="000091"/>
                </a:solidFill>
                <a:latin typeface="Arial"/>
              </a:rPr>
              <a:t>☐  </a:t>
            </a:r>
            <a:r>
              <a:rPr sz="1400" lang="fr-FR">
                <a:solidFill>
                  <a:srgbClr val="161616"/>
                </a:solidFill>
                <a:latin typeface="Arial"/>
              </a:rPr>
              <a:t>Tableaux de données avec ligne d'en-tête</a:t>
            </a:r>
          </a:p>
          <a:p>
            <a:pPr algn="l">
              <a:lnSpc>
                <a:spcPct val="150000"/>
              </a:lnSpc>
            </a:pPr>
            <a:r>
              <a:rPr sz="1800" b="1" lang="fr-FR">
                <a:solidFill>
                  <a:srgbClr val="000091"/>
                </a:solidFill>
                <a:latin typeface="Arial"/>
              </a:rPr>
              <a:t>☐  </a:t>
            </a:r>
            <a:r>
              <a:rPr sz="1400" lang="fr-FR">
                <a:solidFill>
                  <a:srgbClr val="161616"/>
                </a:solidFill>
                <a:latin typeface="Arial"/>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Liens descriptifs (pas cliquez ici)</a:t>
            </a:r>
          </a:p>
          <a:p>
            <a:pPr algn="l">
              <a:lnSpc>
                <a:spcPct val="150000"/>
              </a:lnSpc>
            </a:pPr>
            <a:r>
              <a:rPr sz="1800" b="1" lang="fr-FR">
                <a:solidFill>
                  <a:srgbClr val="000091"/>
                </a:solidFill>
                <a:latin typeface="Arial"/>
              </a:rPr>
              <a:t>☐  </a:t>
            </a:r>
            <a:r>
              <a:rPr sz="1400" lang="fr-FR">
                <a:solidFill>
                  <a:srgbClr val="161616"/>
                </a:solidFill>
                <a:latin typeface="Arial"/>
              </a:rPr>
              <a:t>Passages en langue étrangère balisés</a:t>
            </a:r>
          </a:p>
          <a:p>
            <a:pPr algn="l">
              <a:lnSpc>
                <a:spcPct val="150000"/>
              </a:lnSpc>
            </a:pPr>
            <a:r>
              <a:rPr sz="1800" b="1" lang="fr-FR">
                <a:solidFill>
                  <a:srgbClr val="000091"/>
                </a:solidFill>
                <a:latin typeface="Arial"/>
              </a:rPr>
              <a:t>☐  </a:t>
            </a:r>
            <a:r>
              <a:rPr sz="1400" lang="fr-FR">
                <a:solidFill>
                  <a:srgbClr val="161616"/>
                </a:solidFill>
                <a:latin typeface="Arial"/>
              </a:rPr>
              <a:t>Contraste &gt;= 4,5:1 texte standard, &gt;= 3:1 grand texte</a:t>
            </a:r>
          </a:p>
          <a:p>
            <a:pPr algn="l">
              <a:lnSpc>
                <a:spcPct val="150000"/>
              </a:lnSpc>
            </a:pPr>
            <a:r>
              <a:rPr sz="1800" b="1" lang="fr-FR">
                <a:solidFill>
                  <a:srgbClr val="000091"/>
                </a:solidFill>
                <a:latin typeface="Arial"/>
              </a:rPr>
              <a:t>☐  </a:t>
            </a:r>
            <a:r>
              <a:rPr sz="1400" lang="fr-FR">
                <a:solidFill>
                  <a:srgbClr val="161616"/>
                </a:solidFill>
                <a:latin typeface="Arial"/>
              </a:rPr>
              <a:t>Couleur doublée en texte</a:t>
            </a:r>
          </a:p>
          <a:p>
            <a:pPr algn="l">
              <a:lnSpc>
                <a:spcPct val="150000"/>
              </a:lnSpc>
            </a:pPr>
            <a:r>
              <a:rPr sz="1800" b="1" lang="fr-FR">
                <a:solidFill>
                  <a:srgbClr val="000091"/>
                </a:solidFill>
                <a:latin typeface="Arial"/>
              </a:rPr>
              <a:t>☐  </a:t>
            </a:r>
            <a:r>
              <a:rPr sz="1400" lang="fr-FR">
                <a:solidFill>
                  <a:srgbClr val="161616"/>
                </a:solidFill>
                <a:latin typeface="Arial"/>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Aucun objet clignotant</a:t>
            </a:r>
          </a:p>
          <a:p>
            <a:pPr algn="l">
              <a:lnSpc>
                <a:spcPct val="150000"/>
              </a:lnSpc>
            </a:pPr>
            <a:r>
              <a:rPr sz="1800" b="1" lang="fr-FR">
                <a:solidFill>
                  <a:srgbClr val="000091"/>
                </a:solidFill>
                <a:latin typeface="Arial"/>
              </a:rPr>
              <a:t>☐  </a:t>
            </a:r>
            <a:r>
              <a:rPr sz="1400" lang="fr-FR">
                <a:solidFill>
                  <a:srgbClr val="161616"/>
                </a:solidFill>
                <a:latin typeface="Arial"/>
              </a:rPr>
              <a:t>Document non protégé</a:t>
            </a:r>
          </a:p>
          <a:p>
            <a:pPr algn="l">
              <a:lnSpc>
                <a:spcPct val="150000"/>
              </a:lnSpc>
            </a:pPr>
            <a:r>
              <a:rPr sz="1800" b="1" lang="fr-FR">
                <a:solidFill>
                  <a:srgbClr val="000091"/>
                </a:solidFill>
                <a:latin typeface="Arial"/>
              </a:rPr>
              <a:t>☐  </a:t>
            </a:r>
            <a:r>
              <a:rPr sz="1400" lang="fr-FR">
                <a:solidFill>
                  <a:srgbClr val="161616"/>
                </a:solidFill>
                <a:latin typeface="Arial"/>
              </a:rPr>
              <a:t>Langue principale balisée</a:t>
            </a:r>
          </a:p>
          <a:p>
            <a:pPr algn="l">
              <a:lnSpc>
                <a:spcPct val="150000"/>
              </a:lnSpc>
            </a:pPr>
            <a:r>
              <a:rPr sz="1800" b="1" lang="fr-FR">
                <a:solidFill>
                  <a:srgbClr val="000091"/>
                </a:solidFill>
                <a:latin typeface="Arial"/>
              </a:rPr>
              <a:t>☐  </a:t>
            </a:r>
            <a:r>
              <a:rPr sz="1400" lang="fr-FR">
                <a:solidFill>
                  <a:srgbClr val="161616"/>
                </a:solidFill>
                <a:latin typeface="Arial"/>
              </a:rPr>
              <a:t>Fichier .docx + nom descriptif</a:t>
            </a:r>
          </a:p>
          <a:p>
            <a:pPr algn="l">
              <a:lnSpc>
                <a:spcPct val="150000"/>
              </a:lnSpc>
            </a:pPr>
            <a:r>
              <a:rPr sz="1800" b="1" lang="fr-FR">
                <a:solidFill>
                  <a:srgbClr val="000091"/>
                </a:solidFill>
                <a:latin typeface="Arial"/>
              </a:rPr>
              <a:t>☐  </a:t>
            </a:r>
            <a:r>
              <a:rPr sz="1400" lang="fr-FR">
                <a:solidFill>
                  <a:srgbClr val="161616"/>
                </a:solidFill>
                <a:latin typeface="Arial"/>
              </a:rPr>
              <a:t>Vérificateur d'accessibilité sans erreur résiduelle</a:t>
            </a:r>
          </a:p>
          <a:p>
            <a:pPr algn="l">
              <a:lnSpc>
                <a:spcPct val="150000"/>
              </a:lnSpc>
            </a:pPr>
            <a:r>
              <a:rPr sz="1800" b="1" lang="fr-FR">
                <a:solidFill>
                  <a:srgbClr val="000091"/>
                </a:solidFill>
                <a:latin typeface="Arial"/>
              </a:rPr>
              <a:t>☐  </a:t>
            </a:r>
            <a:r>
              <a:rPr sz="1400" lang="fr-FR">
                <a:solidFill>
                  <a:srgbClr val="161616"/>
                </a:solidFill>
                <a:latin typeface="Arial"/>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Pas de zones de texte flottantes</a:t>
            </a:r>
          </a:p>
          <a:p>
            <a:pPr algn="l">
              <a:lnSpc>
                <a:spcPct val="150000"/>
              </a:lnSpc>
            </a:pPr>
            <a:r>
              <a:rPr sz="1800" b="1" lang="fr-FR">
                <a:solidFill>
                  <a:srgbClr val="000091"/>
                </a:solidFill>
                <a:latin typeface="Arial"/>
              </a:rPr>
              <a:t>☐  </a:t>
            </a:r>
            <a:r>
              <a:rPr sz="1400" lang="fr-FR">
                <a:solidFill>
                  <a:srgbClr val="161616"/>
                </a:solidFill>
                <a:latin typeface="Arial"/>
              </a:rPr>
              <a:t>Sauts de page propres (pas de retours à la ligne)</a:t>
            </a:r>
          </a:p>
          <a:p>
            <a:pPr algn="l">
              <a:lnSpc>
                <a:spcPct val="150000"/>
              </a:lnSpc>
            </a:pPr>
            <a:r>
              <a:rPr sz="1800" b="1" lang="fr-FR">
                <a:solidFill>
                  <a:srgbClr val="000091"/>
                </a:solidFill>
                <a:latin typeface="Arial"/>
              </a:rPr>
              <a:t>☐  </a:t>
            </a:r>
            <a:r>
              <a:rPr sz="1400" lang="fr-FR">
                <a:solidFill>
                  <a:srgbClr val="161616"/>
                </a:solidFill>
                <a:latin typeface="Arial"/>
              </a:rPr>
              <a:t>Colonnes intégrées (pas de tabulations)</a:t>
            </a:r>
          </a:p>
          <a:p>
            <a:pPr algn="l">
              <a:lnSpc>
                <a:spcPct val="150000"/>
              </a:lnSpc>
            </a:pPr>
            <a:r>
              <a:rPr sz="1800" b="1" lang="fr-FR">
                <a:solidFill>
                  <a:srgbClr val="000091"/>
                </a:solidFill>
                <a:latin typeface="Arial"/>
              </a:rPr>
              <a:t>☐  </a:t>
            </a:r>
            <a:r>
              <a:rPr sz="1400" lang="fr-FR">
                <a:solidFill>
                  <a:srgbClr val="161616"/>
                </a:solidFill>
                <a:latin typeface="Arial"/>
              </a:rPr>
              <a:t>Tableaux de mise en page avec habillage Aucun</a:t>
            </a:r>
          </a:p>
          <a:p>
            <a:pPr algn="l">
              <a:lnSpc>
                <a:spcPct val="150000"/>
              </a:lnSpc>
            </a:pPr>
            <a:r>
              <a:rPr sz="1800" b="1" lang="fr-FR">
                <a:solidFill>
                  <a:srgbClr val="000091"/>
                </a:solidFill>
                <a:latin typeface="Arial"/>
              </a:rPr>
              <a:t>☐  </a:t>
            </a:r>
            <a:r>
              <a:rPr sz="1400" lang="fr-FR">
                <a:solidFill>
                  <a:srgbClr val="161616"/>
                </a:solidFill>
                <a:latin typeface="Arial"/>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