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un TP guidé de 90 minutes organisé en 5 stations.</a:t>
            </a:r>
          </a:p>
          <a:p>
            <a:r>
              <a:rPr lang="fr-FR"/>
              <a:t>La théorie, la manipulation et la preuve avancent ensemble dans le document de Sami.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Donner la réponse : le document B.</a:t>
            </a:r>
          </a:p>
          <a:p>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Faire formuler le message : l'accessibilité ne se voit pas, elle se manipule et se vérifie.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Préambule limité à 5 minutes, quiz compris.</a:t>
            </a:r>
          </a:p>
          <a:p>
            <a:r>
              <a:rPr lang="fr-FR"/>
              <a:t>Distribuer la checklist et les cartes WCAG, puis proposer le DOCX avec pistes comme point de départ conseillé.</a:t>
            </a:r>
          </a:p>
          <a:p>
            <a:r>
              <a:rPr lang="fr-FR"/>
              <a:t>Le DOCX inaccessible constitue la variante autonome.</a:t>
            </a:r>
          </a:p>
          <a:p>
            <a:r>
              <a:rPr lang="fr-FR"/>
              <a:t>Ne pas révéler le corrigé avant la remise finale.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P-01, P-02, P-03, P-04, P-05.</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le rôle du texte de son apparence avant d'ouvrir le ruban.</a:t>
            </a:r>
          </a:p>
          <a:p>
            <a:r>
              <a:rPr lang="fr-FR"/>
              <a:t>Question de synthèse : Comment prouver que le document est réellement navigable ?</a:t>
            </a:r>
          </a:p>
          <a:p>
            <a:r>
              <a:rPr lang="fr-FR"/>
              <a:t>Preuves attendues : P-01 : Styles vérifiables dans le DOCX et structure lisible dans le volet de navigation. ; P-02 : Ordre des niveaux contrôlé dans le XML et confirmé dans le volet de navigation. ; P-03 : Navigation cohérente et sommaire actualisable après modification d'un titre. ; P-04 : Structure de liste présente dans le DOCX et annoncée comme liste. ; P-05 :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P-01, P-02, P-03.</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ouvrir le volet avant de corriger les styles et rappeler que le sommaire en découle.</a:t>
            </a:r>
          </a:p>
          <a:p>
            <a:r>
              <a:rPr lang="fr-FR"/>
              <a:t>Question de synthèse : Le volet et le sommaire racontent-ils le même plan ?</a:t>
            </a:r>
          </a:p>
          <a:p>
            <a:r>
              <a:rPr lang="fr-FR"/>
              <a:t>Preuves attendues : P-01 : Styles vérifiables dans le DOCX et structure lisible dans le volet de navigation. ; P-02 : Ordre des niveaux contrôlé dans le XML et confirmé dans le volet de navigation. ; P-03 : Navigation cohérente et sommaire actualisable après modification d'un titre.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P-04, P-05.</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activer les marques avant toute correction et traiter les artifices dans leur ordre d'apparition.</a:t>
            </a:r>
          </a:p>
          <a:p>
            <a:r>
              <a:rPr lang="fr-FR"/>
              <a:t>Question de synthèse : Les listes sont-elles annoncées comme telles et la mise en page résiste-t-elle aux marques affichées ?</a:t>
            </a:r>
          </a:p>
          <a:p>
            <a:r>
              <a:rPr lang="fr-FR"/>
              <a:t>Preuves attendues : P-04 : Structure de liste présente dans le DOCX et annoncée comme liste. ; P-05 :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P-06, P-07, P-08, P-09, P-10, P-11.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identifier la fonction de chaque contenu avant d'ouvrir le volet du texte alternatif.</a:t>
            </a:r>
          </a:p>
          <a:p>
            <a:r>
              <a:rPr lang="fr-FR"/>
              <a:t>Question de synthèse : L'information reste-t-elle compréhensible si l'image ou le contexte disparaît ?</a:t>
            </a:r>
          </a:p>
          <a:p>
            <a:r>
              <a:rPr lang="fr-FR"/>
              <a:t>Preuves attendues : P-06 : Alternative présente dans le DOCX et jugée pertinente par lecture humaine. ; P-07 : Équivalence d'information vérifiée sans consulter l'image. ; P-08 : Marqueur décoratif ou équivalent vérifié et absence de perte d'information confirmée. ; P-09 : Texte sélectionnable présent dans le DOCX et image de texte absente. ; P-10 : Destination inchangée, libellé explicite et identification visuelle vérifiées. ;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P-06, P-07, P-08.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verbaliser l'information utile avant de rédiger ou de supprimer une alternative.</a:t>
            </a:r>
          </a:p>
          <a:p>
            <a:r>
              <a:rPr lang="fr-FR"/>
              <a:t>Question de synthèse : Que perd-on si l'image est masquée ?</a:t>
            </a:r>
          </a:p>
          <a:p>
            <a:r>
              <a:rPr lang="fr-FR"/>
              <a:t>Preuves attendues : P-06 : Alternative présente dans le DOCX et jugée pertinente par lecture humaine. ; P-07 : Équivalence d'information vérifiée sans consulter l'image. ; P-08 : Marqueur décoratif ou équivalent vérifié et absence de perte d'information confirmée.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P-09, P-10.</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tester la sélection du texte puis lire uniquement le libellé du lien.</a:t>
            </a:r>
          </a:p>
          <a:p>
            <a:r>
              <a:rPr lang="fr-FR"/>
              <a:t>Question de synthèse : Le texte peut-il être sélectionné et le lien compris tout seul ?</a:t>
            </a:r>
          </a:p>
          <a:p>
            <a:r>
              <a:rPr lang="fr-FR"/>
              <a:t>Preuves attendues : P-09 : Texte sélectionnable présent dans le DOCX et image de texte absente. ; P-10 : Destination inchangée, libellé explicite et identification visuelle vérifiées.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masquer mentalement l'en-tête et l'arrière-plan, sans recréer de filigrane dans l'exercice.</a:t>
            </a:r>
          </a:p>
          <a:p>
            <a:r>
              <a:rPr lang="fr-FR"/>
              <a:t>Question de synthèse : Le statut reste-t-il compréhensible quand on lit uniquement le corps ?</a:t>
            </a:r>
          </a:p>
          <a:p>
            <a:r>
              <a:rPr lang="fr-FR"/>
              <a:t>Preuves attendues :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P-12, P-13, P-14.</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choisir le seuil avant la mesure et rappeler que le graphique se reconstruit directement dans Word.</a:t>
            </a:r>
          </a:p>
          <a:p>
            <a:r>
              <a:rPr lang="fr-FR"/>
              <a:t>Question de synthèse : Quelle preuve distingue une impression visuelle d'un contrôle vérifiable ?</a:t>
            </a:r>
          </a:p>
          <a:p>
            <a:r>
              <a:rPr lang="fr-FR"/>
              <a:t>Preuves attendues : P-12 : Ratio calculé conservé et couleurs finales vérifiées dans le document. ; P-13 : Séries et conclusions identifiables en niveaux de gris et dans l'équivalent textuel. ;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relever les couleurs, choisir le seuil, puis seulement lancer l'outil de mesure.</a:t>
            </a:r>
          </a:p>
          <a:p>
            <a:r>
              <a:rPr lang="fr-FR"/>
              <a:t>Question de synthèse : Quel seuil s'applique avant même de lire le résultat ?</a:t>
            </a:r>
          </a:p>
          <a:p>
            <a:r>
              <a:rPr lang="fr-FR"/>
              <a:t>Preuves attendues : P-12 : Ratio calculé conservé et couleurs finales vérifiées dans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P-13.</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reconstruire le graphique dans Word à partir des valeurs, puis ajouter étiquettes et motifs.</a:t>
            </a:r>
          </a:p>
          <a:p>
            <a:r>
              <a:rPr lang="fr-FR"/>
              <a:t>Question de synthèse : Les séries restent-elles identifiables en niveaux de gris ?</a:t>
            </a:r>
          </a:p>
          <a:p>
            <a:r>
              <a:rPr lang="fr-FR"/>
              <a:t>Preuves attendues : P-13 : Séries et conclusions identifiables en niveaux de gris et dans l'équivalent textuel.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P-14.</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tableau de données et mise en page avant d'ouvrir les propriétés du tableau.</a:t>
            </a:r>
          </a:p>
          <a:p>
            <a:r>
              <a:rPr lang="fr-FR"/>
              <a:t>Question de synthèse : Chaque cellule appartient-elle à une grille de données simple ?</a:t>
            </a:r>
          </a:p>
          <a:p>
            <a:r>
              <a:rPr lang="fr-FR"/>
              <a:t>Preuves attendues :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P-15, P-16, P-17, P-18.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corriger le style source et la langue du passage plutôt que les paragraphes un par un.</a:t>
            </a:r>
          </a:p>
          <a:p>
            <a:r>
              <a:rPr lang="fr-FR"/>
              <a:t>Question de synthèse : Le réglage est-il porté par les propriétés et les styles, ou seulement par l'apparence ?</a:t>
            </a:r>
          </a:p>
          <a:p>
            <a:r>
              <a:rPr lang="fr-FR"/>
              <a:t>Preuves attendues : P-15 : Propriétés et XML de langue cohérents ; P-16 : Propriétés typographiques contrôlées dans le DOCX et lisibilité relue. ; P-17 : Texte XML accentué et contrôle visuel de la casse. ; P-18 :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P-15, P-16.</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la langue principale de celle du passage, puis modifier le style plutôt que chaque paragraphe.</a:t>
            </a:r>
          </a:p>
          <a:p>
            <a:r>
              <a:rPr lang="fr-FR"/>
              <a:t>Question de synthèse : Une correction du style Normal améliore-t-elle tout le corps ?</a:t>
            </a:r>
          </a:p>
          <a:p>
            <a:r>
              <a:rPr lang="fr-FR"/>
              <a:t>Preuves attendues : P-15 : Propriétés et XML de langue cohérents ; P-16 : Propriétés typographiques contrôlées dans le DOCX et lisibilité relue.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P-17, P-18.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restaurer la saisie normale avant d'appliquer la casse, puis rechercher la première occurrence du sigle.</a:t>
            </a:r>
          </a:p>
          <a:p>
            <a:r>
              <a:rPr lang="fr-FR"/>
              <a:t>Question de synthèse : Le texte reste-t-il correctement écrit sous son apparence visuelle ?</a:t>
            </a:r>
          </a:p>
          <a:p>
            <a:r>
              <a:rPr lang="fr-FR"/>
              <a:t>Preuves attendues : P-17 : Texte XML accentué et contrôle visuel de la casse. ; P-18 :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P-19, P-20, C-01, C-02.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propriété, vérification Word, export PDF et contrôle post-export.</a:t>
            </a:r>
          </a:p>
          <a:p>
            <a:r>
              <a:rPr lang="fr-FR"/>
              <a:t>Question de synthèse : Qu'est-ce que l'outil automatique ne peut pas décider à votre place ?</a:t>
            </a:r>
          </a:p>
          <a:p>
            <a:r>
              <a:rPr lang="fr-FR"/>
              <a:t>Preuves attendues : P-19 : Métadonnées inspectées dans le DOCX et nom de sortie relu. ; P-20 : Propriétés et structure inspectées dans le PDF ; C-01 : Relevé du vérificateur conservé et alertes résiduelles justifiées. ; C-02 :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P-19, C-01.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renseigner les propriétés avant l'analyse, puis discuter chaque alerte au lieu de viser un écran vert à tout prix.</a:t>
            </a:r>
          </a:p>
          <a:p>
            <a:r>
              <a:rPr lang="fr-FR"/>
              <a:t>Question de synthèse : Une absence d'erreur suffit-elle à prouver l'accessibilité ?</a:t>
            </a:r>
          </a:p>
          <a:p>
            <a:r>
              <a:rPr lang="fr-FR"/>
              <a:t>Preuves attendues : P-19 : Métadonnées inspectées dans le DOCX et nom de sortie relu. ; C-01 : Relevé du vérificateur conservé et alertes résiduelles justifiées.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P-20, C-02.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vérifier les options avant l'export, puis commenter le rapport PAC sans enseigner la remédiation avancée.</a:t>
            </a:r>
          </a:p>
          <a:p>
            <a:r>
              <a:rPr lang="fr-FR"/>
              <a:t>Question de synthèse : Le PDF conserve-t-il le titre, la langue, les balises, les signets et un ordre lisible ?</a:t>
            </a:r>
          </a:p>
          <a:p>
            <a:r>
              <a:rPr lang="fr-FR"/>
              <a:t>Preuves attendues : P-20 : Propriétés et structure inspectées dans le PDF ; C-02 :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relire les cases renseignées après les deux premières stations.</a:t>
            </a:r>
          </a:p>
          <a:p>
            <a:r>
              <a:rPr lang="fr-FR"/>
              <a:t>La formulation et l'ordre proviennent de la matrice et de la checklist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relire les cases renseignées après les stations 3 et 4.</a:t>
            </a:r>
          </a:p>
          <a:p>
            <a:r>
              <a:rPr lang="fr-FR"/>
              <a:t>Demander quelle preuve a été conservée pour chaque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terminer la checklist humaine.</a:t>
            </a:r>
          </a:p>
          <a:p>
            <a:r>
              <a:rPr lang="fr-FR"/>
              <a:t>Les contrôles signalés restent importants, mais ne deviennent pas des manipulations obligatoires dans ce TP.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synthèse dure 15 minutes, de 12 h à 12 h 15, hors des 90 minutes du TP.</a:t>
            </a:r>
          </a:p>
          <a:p>
            <a:r>
              <a:rPr lang="fr-FR"/>
              <a:t>Recueillir les questions, faire formuler un acquis transférable et annoncer la partie III consacrée aux points de contrôle rapides sur le Web.</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Jusqu'à 50 000 EUR : accessibilité des organismes publics et assimilés</a:t>
            </a:r>
          </a:p>
          <a:p>
            <a:pPr algn="l">
              <a:lnSpc>
                <a:spcPct val="150000"/>
              </a:lnSpc>
            </a:pPr>
            <a:r>
              <a:rPr sz="1400" lang="fr-FR">
                <a:solidFill>
                  <a:srgbClr val="161616"/>
                </a:solidFill>
                <a:latin typeface="Arial"/>
              </a:rPr>
              <a:t>• </a:t>
            </a:r>
            <a:r>
              <a:rPr sz="1400" b="0" lang="fr-FR">
                <a:solidFill>
                  <a:srgbClr val="161616"/>
                </a:solidFill>
                <a:latin typeface="Arial"/>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et naviguer</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contenus et les liens compréhensibles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Sécuriser couleurs, graphiques et tableaux</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Régler langues et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Finaliser, vérifier, exporter et contrôler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2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2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L'accessibilité ne se voit pas : elle se manipule et se vérifie</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rendre accessible le guide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Préambule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Point de départ</a:t>
            </a:r>
          </a:p>
        </p:txBody>
      </p:sp>
      <p:sp>
        <p:nvSpPr>
          <p:cNvPr id="11" name="DSFR-card-contenu"/>
          <p:cNvSpPr txBox="1"/>
          <p:nvPr/>
        </p:nvSpPr>
        <p:spPr>
          <a:xfrm>
            <a:off x="704088" y="2697479"/>
            <a:ext cx="5097779" cy="118871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Conseillé : tp-doc-aide-correction.docx</a:t>
            </a:r>
          </a:p>
          <a:p>
            <a:pPr algn="l">
              <a:lnSpc>
                <a:spcPct val="125000"/>
              </a:lnSpc>
            </a:pPr>
            <a:r>
              <a:rPr sz="1400" lang="fr-FR">
                <a:solidFill>
                  <a:srgbClr val="161616"/>
                </a:solidFill>
                <a:latin typeface="Arial"/>
              </a:rPr>
              <a:t>• </a:t>
            </a:r>
            <a:r>
              <a:rPr sz="1400" b="0" lang="fr-FR">
                <a:solidFill>
                  <a:srgbClr val="161616"/>
                </a:solidFill>
                <a:latin typeface="Arial"/>
              </a:rPr>
              <a:t>Variante autonome : tp-doc-inaccessible.docx</a:t>
            </a:r>
          </a:p>
          <a:p>
            <a:pPr algn="l">
              <a:lnSpc>
                <a:spcPct val="125000"/>
              </a:lnSpc>
            </a:pPr>
            <a:r>
              <a:rPr sz="1400" lang="fr-FR">
                <a:solidFill>
                  <a:srgbClr val="161616"/>
                </a:solidFill>
                <a:latin typeface="Arial"/>
              </a:rPr>
              <a:t>• </a:t>
            </a:r>
            <a:r>
              <a:rPr sz="1400" b="0" lang="fr-FR">
                <a:solidFill>
                  <a:srgbClr val="161616"/>
                </a:solidFill>
                <a:latin typeface="Arial"/>
              </a:rPr>
              <a:t>5 stations en 90 minutes</a:t>
            </a:r>
          </a:p>
        </p:txBody>
      </p:sp>
      <p:sp>
        <p:nvSpPr>
          <p:cNvPr id="13" name="DSFR-box"/>
          <p:cNvSpPr/>
          <p:nvPr/>
        </p:nvSpPr>
        <p:spPr>
          <a:xfrm>
            <a:off x="6313931"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Productions à remettre</a:t>
            </a:r>
          </a:p>
        </p:txBody>
      </p:sp>
      <p:sp>
        <p:nvSpPr>
          <p:cNvPr id="15" name="DSFR-card-contenu"/>
          <p:cNvSpPr txBox="1"/>
          <p:nvPr/>
        </p:nvSpPr>
        <p:spPr>
          <a:xfrm>
            <a:off x="6469379" y="2697479"/>
            <a:ext cx="5097779" cy="118871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DOCX corrigé par votre binôme</a:t>
            </a:r>
          </a:p>
          <a:p>
            <a:pPr algn="l">
              <a:lnSpc>
                <a:spcPct val="125000"/>
              </a:lnSpc>
            </a:pPr>
            <a:r>
              <a:rPr sz="1400" lang="fr-FR">
                <a:solidFill>
                  <a:srgbClr val="161616"/>
                </a:solidFill>
                <a:latin typeface="Arial"/>
              </a:rPr>
              <a:t>• </a:t>
            </a:r>
            <a:r>
              <a:rPr sz="1400" b="0" lang="fr-FR">
                <a:solidFill>
                  <a:srgbClr val="161616"/>
                </a:solidFill>
                <a:latin typeface="Arial"/>
              </a:rPr>
              <a:t>La checklist renseignée au fil des stations</a:t>
            </a:r>
          </a:p>
          <a:p>
            <a:pPr algn="l">
              <a:lnSpc>
                <a:spcPct val="125000"/>
              </a:lnSpc>
            </a:pPr>
            <a:r>
              <a:rPr sz="1400" lang="fr-FR">
                <a:solidFill>
                  <a:srgbClr val="161616"/>
                </a:solidFill>
                <a:latin typeface="Arial"/>
              </a:rPr>
              <a:t>• </a:t>
            </a:r>
            <a:r>
              <a:rPr sz="1400" b="0" lang="fr-FR">
                <a:solidFill>
                  <a:srgbClr val="161616"/>
                </a:solidFill>
                <a:latin typeface="Arial"/>
              </a:rPr>
              <a:t>Le PDF exporté puis contrôlé</a:t>
            </a:r>
          </a:p>
        </p:txBody>
      </p:sp>
      <p:sp>
        <p:nvSpPr>
          <p:cNvPr id="17" name="DSFR-box"/>
          <p:cNvSpPr/>
          <p:nvPr/>
        </p:nvSpPr>
        <p:spPr>
          <a:xfrm>
            <a:off x="548640" y="43159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4074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Checklist dès le départ ; cartes WCAG reliées informellement à chaque contrôle.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Mission</a:t>
            </a:r>
          </a:p>
        </p:txBody>
      </p:sp>
      <p:sp>
        <p:nvSpPr>
          <p:cNvPr id="8" name="DSFR-accent-decoratif" descr=""/>
          <p:cNvSpPr/>
          <p:nvPr/>
        </p:nvSpPr>
        <p:spPr>
          <a:xfrm>
            <a:off x="475488"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159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Structurer et naviguer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graphicFrame>
        <p:nvGraphicFramePr>
          <p:cNvPr id="8" name="Table 7"/>
          <p:cNvGraphicFramePr>
            <a:graphicFrameLocks noGrp="1"/>
          </p:cNvGraphicFramePr>
          <p:nvPr/>
        </p:nvGraphicFramePr>
        <p:xfrm>
          <a:off x="475488" y="2057400"/>
          <a:ext cx="11228832" cy="3072384"/>
        </p:xfrm>
        <a:graphic>
          <a:graphicData uri="http://schemas.openxmlformats.org/drawingml/2006/table">
            <a:tbl>
              <a:tblPr firstRow="1" bandRow="1">
                <a:tableStyleId>{5C22544A-7EE6-4342-B048-85BDC9FD1C3A}</a:tableStyleId>
              </a:tblPr>
              <a:tblGrid>
                <a:gridCol w="1051560"/>
                <a:gridCol w="1143000"/>
                <a:gridCol w="9034272"/>
              </a:tblGrid>
              <a:tr h="51206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12064">
                <a:tc>
                  <a:txBody>
                    <a:bodyPr wrap="square" anchor="ctr" lIns="73152" rIns="73152"/>
                    <a:lstStyle/>
                    <a:p>
                      <a:pPr algn="l">
                        <a:lnSpc>
                          <a:spcPct val="125000"/>
                        </a:lnSpc>
                      </a:pPr>
                      <a:r>
                        <a:rPr sz="1400" b="0" i="0" lang="fr-FR">
                          <a:solidFill>
                            <a:srgbClr val="161616"/>
                          </a:solidFill>
                          <a:latin typeface="Arial"/>
                        </a:rPr>
                        <a:t>P-01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Distinguer le titre principal des titres hiérarchiques</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Construire une hiérarchie de titres cohérente</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P-03</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Naviguer et générer un sommaire automatique</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P-04</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Utiliser des listes natives</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Employer les fonctions de mise en page adaptées</a:t>
                      </a:r>
                    </a:p>
                  </a:txBody>
                  <a:tcPr marL="91440" marR="91440" marT="45720" marB="45720">
                    <a:solidFill>
                      <a:srgbClr val="FFFFFF"/>
                    </a:solidFill>
                  </a:tcPr>
                </a:tc>
              </a:tr>
            </a:tbl>
          </a:graphicData>
        </a:graphic>
      </p:graphicFrame>
      <p:sp>
        <p:nvSpPr>
          <p:cNvPr id="10" name="DSFR-box"/>
          <p:cNvSpPr/>
          <p:nvPr/>
        </p:nvSpPr>
        <p:spPr>
          <a:xfrm>
            <a:off x="548640" y="52578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3492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Manipuler la structure, puis prouver le résultat dans le volet et le sommaire.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9" name="DSFR-accent-decoratif" descr=""/>
          <p:cNvSpPr/>
          <p:nvPr/>
        </p:nvSpPr>
        <p:spPr>
          <a:xfrm>
            <a:off x="475488" y="52578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Titres, hiérarchie et sommaire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83464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P-01 - Accueil &gt; Styles, puis appliquer Titre au titre principal et les niveaux de titre aux sections.</a:t>
            </a:r>
          </a:p>
          <a:p>
            <a:pPr algn="l">
              <a:lnSpc>
                <a:spcPct val="108000"/>
              </a:lnSpc>
            </a:pPr>
            <a:r>
              <a:rPr sz="1400" lang="fr-FR">
                <a:solidFill>
                  <a:srgbClr val="161616"/>
                </a:solidFill>
                <a:latin typeface="Arial"/>
              </a:rPr>
              <a:t>• </a:t>
            </a:r>
            <a:r>
              <a:rPr sz="1400" b="0" lang="fr-FR">
                <a:solidFill>
                  <a:srgbClr val="161616"/>
                </a:solidFill>
                <a:latin typeface="Arial"/>
              </a:rPr>
              <a:t>P-02 - Affichage &gt; Volet de navigation, puis corriger les styles depuis Accueil &gt; Styles.</a:t>
            </a:r>
          </a:p>
          <a:p>
            <a:pPr algn="l">
              <a:lnSpc>
                <a:spcPct val="108000"/>
              </a:lnSpc>
            </a:pPr>
            <a:r>
              <a:rPr sz="1400" lang="fr-FR">
                <a:solidFill>
                  <a:srgbClr val="161616"/>
                </a:solidFill>
                <a:latin typeface="Arial"/>
              </a:rPr>
              <a:t>• </a:t>
            </a:r>
            <a:r>
              <a:rPr sz="1400" b="0" lang="fr-FR">
                <a:solidFill>
                  <a:srgbClr val="161616"/>
                </a:solidFill>
                <a:latin typeface="Arial"/>
              </a:rPr>
              <a:t>P-03 - Références &gt; Table des matières &gt; Table automatique, puis clic droit &gt; Mettre à jour les champs.</a:t>
            </a:r>
          </a:p>
        </p:txBody>
      </p:sp>
      <p:sp>
        <p:nvSpPr>
          <p:cNvPr id="13" name="DSFR-box"/>
          <p:cNvSpPr/>
          <p:nvPr/>
        </p:nvSpPr>
        <p:spPr>
          <a:xfrm>
            <a:off x="6313931"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83464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P-01 - Styles &gt; Gérer les styles, puis appliquer Titre et Titre 1 à Titre 3 selon le niveau.</a:t>
            </a:r>
          </a:p>
          <a:p>
            <a:pPr algn="l">
              <a:lnSpc>
                <a:spcPct val="108000"/>
              </a:lnSpc>
            </a:pPr>
            <a:r>
              <a:rPr sz="1400" lang="fr-FR">
                <a:solidFill>
                  <a:srgbClr val="161616"/>
                </a:solidFill>
                <a:latin typeface="Arial"/>
              </a:rPr>
              <a:t>• </a:t>
            </a:r>
            <a:r>
              <a:rPr sz="1400" b="0" lang="fr-FR">
                <a:solidFill>
                  <a:srgbClr val="161616"/>
                </a:solidFill>
                <a:latin typeface="Arial"/>
              </a:rPr>
              <a:t>P-02 - Affichage &gt; Navigateur, puis corriger les styles depuis Styles &gt; Gérer les styles.</a:t>
            </a:r>
          </a:p>
          <a:p>
            <a:pPr algn="l">
              <a:lnSpc>
                <a:spcPct val="108000"/>
              </a:lnSpc>
            </a:pPr>
            <a:r>
              <a:rPr sz="1400" lang="fr-FR">
                <a:solidFill>
                  <a:srgbClr val="161616"/>
                </a:solidFill>
                <a:latin typeface="Arial"/>
              </a:rPr>
              <a:t>• </a:t>
            </a:r>
            <a:r>
              <a:rPr sz="1400" b="0" lang="fr-FR">
                <a:solidFill>
                  <a:srgbClr val="161616"/>
                </a:solidFill>
                <a:latin typeface="Arial"/>
              </a:rPr>
              <a:t>P-03 - Insertion &gt; Table des matières et index &gt; Table des matières, index ou bibliographie.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Listes et mise en page robuste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92024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P-04 - Sélectionner les paragraphes, puis Accueil &gt; Puces ou Numérotation.</a:t>
            </a:r>
          </a:p>
          <a:p>
            <a:pPr algn="l">
              <a:lnSpc>
                <a:spcPct val="110000"/>
              </a:lnSpc>
            </a:pPr>
            <a:r>
              <a:rPr sz="1400" lang="fr-FR">
                <a:solidFill>
                  <a:srgbClr val="161616"/>
                </a:solidFill>
                <a:latin typeface="Arial"/>
              </a:rPr>
              <a:t>• </a:t>
            </a:r>
            <a:r>
              <a:rPr sz="1400" b="0" lang="fr-FR">
                <a:solidFill>
                  <a:srgbClr val="161616"/>
                </a:solidFill>
                <a:latin typeface="Arial"/>
              </a:rPr>
              <a:t>P-05 - Accueil &gt; Afficher tout, puis régler Paragraphe, Mise en page &gt; Sauts et Mise en page &gt; Colonnes.</a:t>
            </a:r>
          </a:p>
        </p:txBody>
      </p:sp>
      <p:sp>
        <p:nvSpPr>
          <p:cNvPr id="13" name="DSFR-box"/>
          <p:cNvSpPr/>
          <p:nvPr/>
        </p:nvSpPr>
        <p:spPr>
          <a:xfrm>
            <a:off x="6313931"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92024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P-04 - Sélectionner les paragraphes, puis Format &gt; Puces et numérotation.</a:t>
            </a:r>
          </a:p>
          <a:p>
            <a:pPr algn="l">
              <a:lnSpc>
                <a:spcPct val="110000"/>
              </a:lnSpc>
            </a:pPr>
            <a:r>
              <a:rPr sz="1400" lang="fr-FR">
                <a:solidFill>
                  <a:srgbClr val="161616"/>
                </a:solidFill>
                <a:latin typeface="Arial"/>
              </a:rPr>
              <a:t>• </a:t>
            </a:r>
            <a:r>
              <a:rPr sz="1400" b="0" lang="fr-FR">
                <a:solidFill>
                  <a:srgbClr val="161616"/>
                </a:solidFill>
                <a:latin typeface="Arial"/>
              </a:rPr>
              <a:t>P-05 - Affichage &gt; Marques de formatage, puis Format &gt; Paragraphe et Format &gt; Style de page.</a:t>
            </a:r>
          </a:p>
        </p:txBody>
      </p:sp>
      <p:sp>
        <p:nvSpPr>
          <p:cNvPr id="17" name="DSFR-box"/>
          <p:cNvSpPr/>
          <p:nvPr/>
        </p:nvSpPr>
        <p:spPr>
          <a:xfrm>
            <a:off x="548640" y="50017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932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Manipulation : afficher les marques, corriger les artifices,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017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Rendre les contenus et les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graphicFrame>
        <p:nvGraphicFramePr>
          <p:cNvPr id="8" name="Table 7"/>
          <p:cNvGraphicFramePr>
            <a:graphicFrameLocks noGrp="1"/>
          </p:cNvGraphicFramePr>
          <p:nvPr/>
        </p:nvGraphicFramePr>
        <p:xfrm>
          <a:off x="475488" y="2011680"/>
          <a:ext cx="11228832" cy="3136392"/>
        </p:xfrm>
        <a:graphic>
          <a:graphicData uri="http://schemas.openxmlformats.org/drawingml/2006/table">
            <a:tbl>
              <a:tblPr firstRow="1" bandRow="1">
                <a:tableStyleId>{5C22544A-7EE6-4342-B048-85BDC9FD1C3A}</a:tableStyleId>
              </a:tblPr>
              <a:tblGrid>
                <a:gridCol w="1051560"/>
                <a:gridCol w="1143000"/>
                <a:gridCol w="9034272"/>
              </a:tblGrid>
              <a:tr h="448056">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448056">
                <a:tc>
                  <a:txBody>
                    <a:bodyPr wrap="square" anchor="ctr" lIns="73152" rIns="73152"/>
                    <a:lstStyle/>
                    <a:p>
                      <a:pPr algn="l">
                        <a:lnSpc>
                          <a:spcPct val="125000"/>
                        </a:lnSpc>
                      </a:pPr>
                      <a:r>
                        <a:rPr sz="1400" b="0" i="0" lang="fr-FR">
                          <a:solidFill>
                            <a:srgbClr val="161616"/>
                          </a:solidFill>
                          <a:latin typeface="Arial"/>
                        </a:rPr>
                        <a:t>P-06</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Rédiger l'alternative d'une image informative simple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P-07</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Décrire une image complexe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P-08</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Marquer une image redondante comme décorative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P-09</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une image de texte par du vrai texte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P-10</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Rendre les liens autonomes et identifiables</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P-11</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Reprendre dans le corps l'information d'un filigrane</a:t>
                      </a:r>
                    </a:p>
                  </a:txBody>
                  <a:tcPr marL="91440" marR="91440" marT="45720" marB="45720">
                    <a:solidFill>
                      <a:srgbClr val="F5F5FE"/>
                    </a:solidFill>
                  </a:tcPr>
                </a:tc>
              </a:tr>
            </a:tbl>
          </a:graphicData>
        </a:graphic>
      </p:graphicFrame>
      <p:sp>
        <p:nvSpPr>
          <p:cNvPr id="10" name="DSFR-box"/>
          <p:cNvSpPr/>
          <p:nvPr/>
        </p:nvSpPr>
        <p:spPr>
          <a:xfrm>
            <a:off x="548640" y="53218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4132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Choisir le traitement selon l'usage : informative, complexe, décorative ou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9" name="DSFR-accent-decoratif" descr=""/>
          <p:cNvSpPr/>
          <p:nvPr/>
        </p:nvSpPr>
        <p:spPr>
          <a:xfrm>
            <a:off x="475488" y="53218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Choisir le bon traitement pour chaque 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9" name="DSFR-box"/>
          <p:cNvSpPr/>
          <p:nvPr/>
        </p:nvSpPr>
        <p:spPr>
          <a:xfrm>
            <a:off x="548640"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9260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P-06 - Clic droit sur l'image &gt; Afficher le texte de remplacement, puis renseigner la description.</a:t>
            </a:r>
          </a:p>
          <a:p>
            <a:pPr algn="l">
              <a:lnSpc>
                <a:spcPct val="107000"/>
              </a:lnSpc>
            </a:pPr>
            <a:r>
              <a:rPr sz="1400" lang="fr-FR">
                <a:solidFill>
                  <a:srgbClr val="161616"/>
                </a:solidFill>
                <a:latin typeface="Arial"/>
              </a:rPr>
              <a:t>• </a:t>
            </a:r>
            <a:r>
              <a:rPr sz="1400" b="0" lang="fr-FR">
                <a:solidFill>
                  <a:srgbClr val="161616"/>
                </a:solidFill>
                <a:latin typeface="Arial"/>
              </a:rPr>
              <a:t>P-07 - Ajouter le texte de remplacement, puis saisir la description détaillée dans un paragraphe voisin.</a:t>
            </a:r>
          </a:p>
          <a:p>
            <a:pPr algn="l">
              <a:lnSpc>
                <a:spcPct val="107000"/>
              </a:lnSpc>
            </a:pPr>
            <a:r>
              <a:rPr sz="1400" lang="fr-FR">
                <a:solidFill>
                  <a:srgbClr val="161616"/>
                </a:solidFill>
                <a:latin typeface="Arial"/>
              </a:rPr>
              <a:t>• </a:t>
            </a:r>
            <a:r>
              <a:rPr sz="1400" b="0" lang="fr-FR">
                <a:solidFill>
                  <a:srgbClr val="161616"/>
                </a:solidFill>
                <a:latin typeface="Arial"/>
              </a:rPr>
              <a:t>P-08 - Afficher le texte de remplacement puis cocher Marquer comme décoratif.</a:t>
            </a:r>
          </a:p>
        </p:txBody>
      </p:sp>
      <p:sp>
        <p:nvSpPr>
          <p:cNvPr id="13" name="DSFR-box"/>
          <p:cNvSpPr/>
          <p:nvPr/>
        </p:nvSpPr>
        <p:spPr>
          <a:xfrm>
            <a:off x="6313931"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9260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P-06 - Clic droit sur l'image &gt; Propriétés &gt; Options, puis renseigner le texte alternatif.</a:t>
            </a:r>
          </a:p>
          <a:p>
            <a:pPr algn="l">
              <a:lnSpc>
                <a:spcPct val="107000"/>
              </a:lnSpc>
            </a:pPr>
            <a:r>
              <a:rPr sz="1400" lang="fr-FR">
                <a:solidFill>
                  <a:srgbClr val="161616"/>
                </a:solidFill>
                <a:latin typeface="Arial"/>
              </a:rPr>
              <a:t>• </a:t>
            </a:r>
            <a:r>
              <a:rPr sz="1400" b="0" lang="fr-FR">
                <a:solidFill>
                  <a:srgbClr val="161616"/>
                </a:solidFill>
                <a:latin typeface="Arial"/>
              </a:rPr>
              <a:t>P-07 - Renseigner le texte alternatif dans les propriétés, puis ajouter la description dans le corps.</a:t>
            </a:r>
          </a:p>
          <a:p>
            <a:pPr algn="l">
              <a:lnSpc>
                <a:spcPct val="107000"/>
              </a:lnSpc>
            </a:pPr>
            <a:r>
              <a:rPr sz="1400" lang="fr-FR">
                <a:solidFill>
                  <a:srgbClr val="161616"/>
                </a:solidFill>
                <a:latin typeface="Arial"/>
              </a:rPr>
              <a:t>• </a:t>
            </a:r>
            <a:r>
              <a:rPr sz="1400" b="0" lang="fr-FR">
                <a:solidFill>
                  <a:srgbClr val="161616"/>
                </a:solidFill>
                <a:latin typeface="Arial"/>
              </a:rPr>
              <a:t>P-08 - Si l'option Décoratif existe, l'activer ; sinon laisser titre et description vides seulement après vérification de la redondance.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Vrai texte et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9" name="DSFR-box"/>
          <p:cNvSpPr/>
          <p:nvPr/>
        </p:nvSpPr>
        <p:spPr>
          <a:xfrm>
            <a:off x="548640"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82880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P-09 - Insérer le texte dans un paragraphe structuré, appliquer les styles utiles puis supprimer l'image de texte.</a:t>
            </a:r>
          </a:p>
          <a:p>
            <a:pPr algn="l">
              <a:lnSpc>
                <a:spcPct val="110000"/>
              </a:lnSpc>
            </a:pPr>
            <a:r>
              <a:rPr sz="1400" lang="fr-FR">
                <a:solidFill>
                  <a:srgbClr val="161616"/>
                </a:solidFill>
                <a:latin typeface="Arial"/>
              </a:rPr>
              <a:t>• </a:t>
            </a:r>
            <a:r>
              <a:rPr sz="1400" b="0" lang="fr-FR">
                <a:solidFill>
                  <a:srgbClr val="161616"/>
                </a:solidFill>
                <a:latin typeface="Arial"/>
              </a:rPr>
              <a:t>P-10 - Modifier le texte affiché du lien via clic droit &gt; Modifier le lien, puis compléter le libellé dans le corps.</a:t>
            </a:r>
          </a:p>
        </p:txBody>
      </p:sp>
      <p:sp>
        <p:nvSpPr>
          <p:cNvPr id="13" name="DSFR-box"/>
          <p:cNvSpPr/>
          <p:nvPr/>
        </p:nvSpPr>
        <p:spPr>
          <a:xfrm>
            <a:off x="6313931"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82880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P-09 - Saisir le texte dans le corps, appliquer les styles utiles puis supprimer l'image de texte.</a:t>
            </a:r>
          </a:p>
          <a:p>
            <a:pPr algn="l">
              <a:lnSpc>
                <a:spcPct val="110000"/>
              </a:lnSpc>
            </a:pPr>
            <a:r>
              <a:rPr sz="1400" lang="fr-FR">
                <a:solidFill>
                  <a:srgbClr val="161616"/>
                </a:solidFill>
                <a:latin typeface="Arial"/>
              </a:rPr>
              <a:t>• </a:t>
            </a:r>
            <a:r>
              <a:rPr sz="1400" b="0" lang="fr-FR">
                <a:solidFill>
                  <a:srgbClr val="161616"/>
                </a:solidFill>
                <a:latin typeface="Arial"/>
              </a:rPr>
              <a:t>P-10 - Clic droit &gt; Modifier l'hyperlien, puis compléter le libellé dans le corps.</a:t>
            </a:r>
          </a:p>
        </p:txBody>
      </p:sp>
      <p:sp>
        <p:nvSpPr>
          <p:cNvPr id="17" name="DSFR-box"/>
          <p:cNvSpPr/>
          <p:nvPr/>
        </p:nvSpPr>
        <p:spPr>
          <a:xfrm>
            <a:off x="548640" y="49651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56631"/>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le texte se sélectionne et chaque lien reste clair hors contexte.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651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L'information essentielle reste dans le corps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P-11 [P] - Reprendre dans le corps l'information d'un filigrane</a:t>
            </a:r>
          </a:p>
        </p:txBody>
      </p:sp>
      <p:sp>
        <p:nvSpPr>
          <p:cNvPr id="12" name="DSFR-box"/>
          <p:cNvSpPr/>
          <p:nvPr/>
        </p:nvSpPr>
        <p:spPr>
          <a:xfrm>
            <a:off x="548640" y="2990088"/>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584448"/>
            <a:ext cx="5097779" cy="173736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Ne jamais faire porter une information essentielle uniquement par un filigrane, un en-tête ou un arrière-plan.</a:t>
            </a:r>
          </a:p>
          <a:p>
            <a:pPr algn="l">
              <a:lnSpc>
                <a:spcPct val="108000"/>
              </a:lnSpc>
            </a:pPr>
            <a:r>
              <a:rPr sz="1400" lang="fr-FR">
                <a:solidFill>
                  <a:srgbClr val="161616"/>
                </a:solidFill>
                <a:latin typeface="Arial"/>
              </a:rPr>
              <a:t>• </a:t>
            </a:r>
            <a:r>
              <a:rPr sz="1400" b="0" lang="fr-FR">
                <a:solidFill>
                  <a:srgbClr val="161616"/>
                </a:solidFill>
                <a:latin typeface="Arial"/>
              </a:rPr>
              <a:t>Ajouter le statut dans le corps avec un style adapté ; conserver ou retirer le filigrane selon son utilité visuelle.</a:t>
            </a:r>
          </a:p>
          <a:p>
            <a:pPr algn="l">
              <a:lnSpc>
                <a:spcPct val="108000"/>
              </a:lnSpc>
            </a:pPr>
            <a:r>
              <a:rPr sz="1400" lang="fr-FR">
                <a:solidFill>
                  <a:srgbClr val="161616"/>
                </a:solidFill>
                <a:latin typeface="Arial"/>
              </a:rPr>
              <a:t>• </a:t>
            </a:r>
            <a:r>
              <a:rPr sz="1400" b="0" lang="fr-FR">
                <a:solidFill>
                  <a:srgbClr val="161616"/>
                </a:solidFill>
                <a:latin typeface="Arial"/>
              </a:rPr>
              <a:t>Reprendre le même statut à un emplacement logique du corps.</a:t>
            </a:r>
          </a:p>
        </p:txBody>
      </p:sp>
      <p:sp>
        <p:nvSpPr>
          <p:cNvPr id="16" name="DSFR-box"/>
          <p:cNvSpPr/>
          <p:nvPr/>
        </p:nvSpPr>
        <p:spPr>
          <a:xfrm>
            <a:off x="6313931" y="2990088"/>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584448"/>
            <a:ext cx="5097779" cy="173736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Ajouter le statut dans le corps avec un style adapté ; traiter l'arrière-plan séparément.</a:t>
            </a:r>
          </a:p>
          <a:p>
            <a:pPr algn="l">
              <a:lnSpc>
                <a:spcPct val="108000"/>
              </a:lnSpc>
            </a:pPr>
            <a:r>
              <a:rPr sz="1400" lang="fr-FR">
                <a:solidFill>
                  <a:srgbClr val="161616"/>
                </a:solidFill>
                <a:latin typeface="Arial"/>
              </a:rPr>
              <a:t>• </a:t>
            </a:r>
            <a:r>
              <a:rPr sz="1400" b="0" lang="fr-FR">
                <a:solidFill>
                  <a:srgbClr val="161616"/>
                </a:solidFill>
                <a:latin typeface="Arial"/>
              </a:rPr>
              <a:t>Preuve : Statut compréhensible dans le texte linéarisé sans en-tête ni arrière-plan.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0088"/>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0088"/>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Sécuriser couleurs, graphiques et tableaux</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graphicFrame>
        <p:nvGraphicFramePr>
          <p:cNvPr id="8" name="Table 7"/>
          <p:cNvGraphicFramePr>
            <a:graphicFrameLocks noGrp="1"/>
          </p:cNvGraphicFramePr>
          <p:nvPr/>
        </p:nvGraphicFramePr>
        <p:xfrm>
          <a:off x="475488" y="2103120"/>
          <a:ext cx="11228832" cy="2414016"/>
        </p:xfrm>
        <a:graphic>
          <a:graphicData uri="http://schemas.openxmlformats.org/drawingml/2006/table">
            <a:tbl>
              <a:tblPr firstRow="1" bandRow="1">
                <a:tableStyleId>{5C22544A-7EE6-4342-B048-85BDC9FD1C3A}</a:tableStyleId>
              </a:tblPr>
              <a:tblGrid>
                <a:gridCol w="1051560"/>
                <a:gridCol w="1143000"/>
                <a:gridCol w="9034272"/>
              </a:tblGrid>
              <a:tr h="60350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603504">
                <a:tc>
                  <a:txBody>
                    <a:bodyPr wrap="square" anchor="ctr" lIns="73152" rIns="73152"/>
                    <a:lstStyle/>
                    <a:p>
                      <a:pPr algn="l">
                        <a:lnSpc>
                          <a:spcPct val="125000"/>
                        </a:lnSpc>
                      </a:pPr>
                      <a:r>
                        <a:rPr sz="1400" b="0" i="0" lang="fr-FR">
                          <a:solidFill>
                            <a:srgbClr val="161616"/>
                          </a:solidFill>
                          <a:latin typeface="Arial"/>
                        </a:rPr>
                        <a:t>P-12</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Mesurer les contrastes utiles</a:t>
                      </a:r>
                    </a:p>
                  </a:txBody>
                  <a:tcPr marL="91440" marR="91440" marT="45720" marB="45720">
                    <a:solidFill>
                      <a:srgbClr val="FFFFFF"/>
                    </a:solidFill>
                  </a:tcPr>
                </a:tc>
              </a:tr>
              <a:tr h="603504">
                <a:tc>
                  <a:txBody>
                    <a:bodyPr wrap="square" anchor="ctr" lIns="73152" rIns="73152"/>
                    <a:lstStyle/>
                    <a:p>
                      <a:pPr algn="l">
                        <a:lnSpc>
                          <a:spcPct val="125000"/>
                        </a:lnSpc>
                      </a:pPr>
                      <a:r>
                        <a:rPr sz="1400" b="0" i="0" lang="fr-FR">
                          <a:solidFill>
                            <a:srgbClr val="161616"/>
                          </a:solidFill>
                          <a:latin typeface="Arial"/>
                        </a:rPr>
                        <a:t>P-13</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Ne pas transmettre une information par la couleur seule</a:t>
                      </a:r>
                    </a:p>
                  </a:txBody>
                  <a:tcPr marL="91440" marR="91440" marT="45720" marB="45720">
                    <a:solidFill>
                      <a:srgbClr val="F5F5FE"/>
                    </a:solidFill>
                  </a:tcPr>
                </a:tc>
              </a:tr>
              <a:tr h="603504">
                <a:tc>
                  <a:txBody>
                    <a:bodyPr wrap="square" anchor="ctr" lIns="73152" rIns="73152"/>
                    <a:lstStyle/>
                    <a:p>
                      <a:pPr algn="l">
                        <a:lnSpc>
                          <a:spcPct val="125000"/>
                        </a:lnSpc>
                      </a:pPr>
                      <a:r>
                        <a:rPr sz="1400" b="0" i="0" lang="fr-FR">
                          <a:solidFill>
                            <a:srgbClr val="161616"/>
                          </a:solidFill>
                          <a:latin typeface="Arial"/>
                        </a:rPr>
                        <a:t>P-14</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Structurer un tableau de données simple</a:t>
                      </a:r>
                    </a:p>
                  </a:txBody>
                  <a:tcPr marL="91440" marR="91440" marT="45720" marB="45720">
                    <a:solidFill>
                      <a:srgbClr val="FFFFFF"/>
                    </a:solidFill>
                  </a:tcPr>
                </a:tc>
              </a:tr>
            </a:tbl>
          </a:graphicData>
        </a:graphic>
      </p:graphicFrame>
      <p:sp>
        <p:nvSpPr>
          <p:cNvPr id="10" name="DSFR-box"/>
          <p:cNvSpPr/>
          <p:nvPr/>
        </p:nvSpPr>
        <p:spPr>
          <a:xfrm>
            <a:off x="548640" y="49377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0292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Mesurer, rendre l'information indépendante de la couleur,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9" name="DSFR-accent-decoratif" descr=""/>
          <p:cNvSpPr/>
          <p:nvPr/>
        </p:nvSpPr>
        <p:spPr>
          <a:xfrm>
            <a:off x="475488" y="49377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Le contraste se mesure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196596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P-12 [P] - Mesurer les contrastes utiles</a:t>
            </a:r>
          </a:p>
        </p:txBody>
      </p:sp>
      <p:sp>
        <p:nvSpPr>
          <p:cNvPr id="11" name="DSFR-kpi-pave"/>
          <p:cNvSpPr/>
          <p:nvPr/>
        </p:nvSpPr>
        <p:spPr>
          <a:xfrm>
            <a:off x="475488"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13" name="DSFR-kpi-pave"/>
          <p:cNvSpPr/>
          <p:nvPr/>
        </p:nvSpPr>
        <p:spPr>
          <a:xfrm>
            <a:off x="6240779"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6240779"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 et éléments graphiques</a:t>
            </a:r>
          </a:p>
        </p:txBody>
      </p:sp>
      <p:sp>
        <p:nvSpPr>
          <p:cNvPr id="16" name="DSFR-box"/>
          <p:cNvSpPr/>
          <p:nvPr/>
        </p:nvSpPr>
        <p:spPr>
          <a:xfrm>
            <a:off x="548640" y="4389120"/>
            <a:ext cx="5390388"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704088" y="45262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8" name="DSFR-card-contenu"/>
          <p:cNvSpPr txBox="1"/>
          <p:nvPr/>
        </p:nvSpPr>
        <p:spPr>
          <a:xfrm>
            <a:off x="704088" y="4983480"/>
            <a:ext cx="5097779" cy="82295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Relever les couleurs de police et de fond, mesurer avec l'outil de contraste, puis modifier la couleur de police.</a:t>
            </a:r>
          </a:p>
          <a:p>
            <a:pPr algn="l">
              <a:lnSpc>
                <a:spcPct val="125000"/>
              </a:lnSpc>
            </a:pPr>
            <a:r>
              <a:rPr sz="1400" lang="fr-FR">
                <a:solidFill>
                  <a:srgbClr val="161616"/>
                </a:solidFill>
                <a:latin typeface="Arial"/>
              </a:rPr>
              <a:t>• </a:t>
            </a:r>
            <a:r>
              <a:rPr sz="1400" b="0" lang="fr-FR">
                <a:solidFill>
                  <a:srgbClr val="161616"/>
                </a:solidFill>
                <a:latin typeface="Arial"/>
              </a:rPr>
              <a:t>Mesurer la combinaison puis choisir une couleur qui atteint le seuil applicable.</a:t>
            </a:r>
          </a:p>
        </p:txBody>
      </p:sp>
      <p:sp>
        <p:nvSpPr>
          <p:cNvPr id="20" name="DSFR-box"/>
          <p:cNvSpPr/>
          <p:nvPr/>
        </p:nvSpPr>
        <p:spPr>
          <a:xfrm>
            <a:off x="6313931" y="4389120"/>
            <a:ext cx="5390388"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45262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22" name="DSFR-card-contenu"/>
          <p:cNvSpPr txBox="1"/>
          <p:nvPr/>
        </p:nvSpPr>
        <p:spPr>
          <a:xfrm>
            <a:off x="6469379" y="4983480"/>
            <a:ext cx="5097779" cy="82295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Relever les couleurs de caractère et d'arrière-plan, mesurer, puis modifier la couleur de caractère.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196596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389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4389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graphique compréhensible sans la couleur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P-13 [P] - Ne pas transmettre une information par la couleur seule</a:t>
            </a:r>
          </a:p>
        </p:txBody>
      </p:sp>
      <p:sp>
        <p:nvSpPr>
          <p:cNvPr id="12" name="DSFR-box"/>
          <p:cNvSpPr/>
          <p:nvPr/>
        </p:nvSpPr>
        <p:spPr>
          <a:xfrm>
            <a:off x="548640" y="3017520"/>
            <a:ext cx="5390388" cy="2468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17830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Ajouter étiquettes, motifs ou un équivalent textuel complet à tout code couleur porteur d'information.</a:t>
            </a:r>
          </a:p>
          <a:p>
            <a:pPr algn="l">
              <a:lnSpc>
                <a:spcPct val="108000"/>
              </a:lnSpc>
            </a:pPr>
            <a:r>
              <a:rPr sz="1400" lang="fr-FR">
                <a:solidFill>
                  <a:srgbClr val="161616"/>
                </a:solidFill>
                <a:latin typeface="Arial"/>
              </a:rPr>
              <a:t>• </a:t>
            </a:r>
            <a:r>
              <a:rPr sz="1400" b="0" lang="fr-FR">
                <a:solidFill>
                  <a:srgbClr val="161616"/>
                </a:solidFill>
                <a:latin typeface="Arial"/>
              </a:rPr>
              <a:t>Insertion &gt; Graphique &gt; Histogramme groupé, reporter les valeurs affichées dans l'image, puis afficher les étiquettes et appliquer des motifs distincts.</a:t>
            </a:r>
          </a:p>
          <a:p>
            <a:pPr algn="l">
              <a:lnSpc>
                <a:spcPct val="108000"/>
              </a:lnSpc>
            </a:pPr>
            <a:r>
              <a:rPr sz="1400" lang="fr-FR">
                <a:solidFill>
                  <a:srgbClr val="161616"/>
                </a:solidFill>
                <a:latin typeface="Arial"/>
              </a:rPr>
              <a:t>• </a:t>
            </a:r>
            <a:r>
              <a:rPr sz="1400" b="0" lang="fr-FR">
                <a:solidFill>
                  <a:srgbClr val="161616"/>
                </a:solidFill>
                <a:latin typeface="Arial"/>
              </a:rPr>
              <a:t>Reconstruire dans Word le graphique à partir des valeurs affichées dans l'image, puis ajouter des étiquettes et des motifs ou conserver un équivalent textuel complet.</a:t>
            </a:r>
          </a:p>
        </p:txBody>
      </p:sp>
      <p:sp>
        <p:nvSpPr>
          <p:cNvPr id="16" name="DSFR-box"/>
          <p:cNvSpPr/>
          <p:nvPr/>
        </p:nvSpPr>
        <p:spPr>
          <a:xfrm>
            <a:off x="6313931" y="3017520"/>
            <a:ext cx="5390388" cy="2468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17830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Insertion &gt; Diagramme, reporter les valeurs affichées dans l'image, puis afficher les étiquettes et choisir des remplissages distincts.</a:t>
            </a:r>
          </a:p>
          <a:p>
            <a:pPr algn="l">
              <a:lnSpc>
                <a:spcPct val="108000"/>
              </a:lnSpc>
            </a:pPr>
            <a:r>
              <a:rPr sz="1400" lang="fr-FR">
                <a:solidFill>
                  <a:srgbClr val="161616"/>
                </a:solidFill>
                <a:latin typeface="Arial"/>
              </a:rPr>
              <a:t>• </a:t>
            </a:r>
            <a:r>
              <a:rPr sz="1400" b="0" lang="fr-FR">
                <a:solidFill>
                  <a:srgbClr val="161616"/>
                </a:solidFill>
                <a:latin typeface="Arial"/>
              </a:rPr>
              <a:t>Preuve : Séries et conclusions identifiables en niveaux de gris et dans l'équivalent textuel.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2468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2468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tableau de données simple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P-14 [P] - Structurer un tableau de données simple</a:t>
            </a:r>
          </a:p>
        </p:txBody>
      </p:sp>
      <p:sp>
        <p:nvSpPr>
          <p:cNvPr id="12" name="DSFR-box"/>
          <p:cNvSpPr/>
          <p:nvPr/>
        </p:nvSpPr>
        <p:spPr>
          <a:xfrm>
            <a:off x="548640" y="30175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182880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Utiliser un tableau de données titré, sans fusion, imbrication, fractionnement de ligne ni usage de mise en page, avec en-tête identifié et répété.</a:t>
            </a:r>
          </a:p>
          <a:p>
            <a:pPr algn="l">
              <a:lnSpc>
                <a:spcPct val="108000"/>
              </a:lnSpc>
            </a:pPr>
            <a:r>
              <a:rPr sz="1400" lang="fr-FR">
                <a:solidFill>
                  <a:srgbClr val="161616"/>
                </a:solidFill>
                <a:latin typeface="Arial"/>
              </a:rPr>
              <a:t>• </a:t>
            </a:r>
            <a:r>
              <a:rPr sz="1400" b="0" lang="fr-FR">
                <a:solidFill>
                  <a:srgbClr val="161616"/>
                </a:solidFill>
                <a:latin typeface="Arial"/>
              </a:rPr>
              <a:t>Outils de tableau &gt; Disposition pour défusionner ; Propriétés du tableau pour répéter l'en-tête et interdire le fractionnement des lignes.</a:t>
            </a:r>
          </a:p>
          <a:p>
            <a:pPr algn="l">
              <a:lnSpc>
                <a:spcPct val="108000"/>
              </a:lnSpc>
            </a:pPr>
            <a:r>
              <a:rPr sz="1400" lang="fr-FR">
                <a:solidFill>
                  <a:srgbClr val="161616"/>
                </a:solidFill>
                <a:latin typeface="Arial"/>
              </a:rPr>
              <a:t>• </a:t>
            </a:r>
            <a:r>
              <a:rPr sz="1400" b="0" lang="fr-FR">
                <a:solidFill>
                  <a:srgbClr val="161616"/>
                </a:solidFill>
                <a:latin typeface="Arial"/>
              </a:rPr>
              <a:t>Simplifier la structure, identifier l'en-tête et régler sa répétition ainsi que les lignes.</a:t>
            </a:r>
          </a:p>
        </p:txBody>
      </p:sp>
      <p:sp>
        <p:nvSpPr>
          <p:cNvPr id="16" name="DSFR-box"/>
          <p:cNvSpPr/>
          <p:nvPr/>
        </p:nvSpPr>
        <p:spPr>
          <a:xfrm>
            <a:off x="6313931" y="30175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182880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Tableau &gt; Propriétés pour simplifier la grille, répéter les premières lignes et éviter le fractionnement.</a:t>
            </a:r>
          </a:p>
          <a:p>
            <a:pPr algn="l">
              <a:lnSpc>
                <a:spcPct val="108000"/>
              </a:lnSpc>
            </a:pPr>
            <a:r>
              <a:rPr sz="1400" lang="fr-FR">
                <a:solidFill>
                  <a:srgbClr val="161616"/>
                </a:solidFill>
                <a:latin typeface="Arial"/>
              </a:rPr>
              <a:t>• </a:t>
            </a:r>
            <a:r>
              <a:rPr sz="1400" b="0" lang="fr-FR">
                <a:solidFill>
                  <a:srgbClr val="161616"/>
                </a:solidFill>
                <a:latin typeface="Arial"/>
              </a:rPr>
              <a:t>Preuve : XML sans fusion ni imbrication et relations de cellules vérifiées à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Régler langues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Définir les langues du document et des passages</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P-16</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Régler une typographie lisible par les styles</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P-17</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Appliquer la casse par la mise en forme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P-18</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Développer les sigles et vérifier les majuscules</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Corriger les styles sources : la langue et la lisibilité se règlent à l'échelle du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Langues et styles typographiques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P-15 - Révision &gt; Langue &gt; Définir la langue de vérification pour le document puis pour le passage sélectionné.</a:t>
            </a:r>
          </a:p>
          <a:p>
            <a:pPr algn="l">
              <a:lnSpc>
                <a:spcPct val="108000"/>
              </a:lnSpc>
            </a:pPr>
            <a:r>
              <a:rPr sz="1400" lang="fr-FR">
                <a:solidFill>
                  <a:srgbClr val="161616"/>
                </a:solidFill>
                <a:latin typeface="Arial"/>
              </a:rPr>
              <a:t>• </a:t>
            </a:r>
            <a:r>
              <a:rPr sz="1400" b="0" lang="fr-FR">
                <a:solidFill>
                  <a:srgbClr val="161616"/>
                </a:solidFill>
                <a:latin typeface="Arial"/>
              </a:rPr>
              <a:t>P-16 - Accueil &gt; Styles &gt; Modifier le style Normal, puis régler police, taille, alignement et paragraphe.</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P-15 - Outils &gt; Langue pour tout le texte, puis langue du caractère pour le passage sélectionné.</a:t>
            </a:r>
          </a:p>
          <a:p>
            <a:pPr algn="l">
              <a:lnSpc>
                <a:spcPct val="108000"/>
              </a:lnSpc>
            </a:pPr>
            <a:r>
              <a:rPr sz="1400" lang="fr-FR">
                <a:solidFill>
                  <a:srgbClr val="161616"/>
                </a:solidFill>
                <a:latin typeface="Arial"/>
              </a:rPr>
              <a:t>• </a:t>
            </a:r>
            <a:r>
              <a:rPr sz="1400" b="0" lang="fr-FR">
                <a:solidFill>
                  <a:srgbClr val="161616"/>
                </a:solidFill>
                <a:latin typeface="Arial"/>
              </a:rPr>
              <a:t>P-16 - Styles &gt; Gérer les styles &gt; modifier Style de paragraphe par défaut, puis régler police et retraits et espacement.</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langue cohérente, corps à 12 points minimum, interligne 1,15 et alignement à gauche.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Casse, accents et sigles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P-17 - Corriger le texte, puis Police &gt; Effets &gt; Majuscules si cette apparence est nécessaire.</a:t>
            </a:r>
          </a:p>
          <a:p>
            <a:pPr algn="l">
              <a:lnSpc>
                <a:spcPct val="108000"/>
              </a:lnSpc>
            </a:pPr>
            <a:r>
              <a:rPr sz="1400" lang="fr-FR">
                <a:solidFill>
                  <a:srgbClr val="161616"/>
                </a:solidFill>
                <a:latin typeface="Arial"/>
              </a:rPr>
              <a:t>• </a:t>
            </a:r>
            <a:r>
              <a:rPr sz="1400" b="0" lang="fr-FR">
                <a:solidFill>
                  <a:srgbClr val="161616"/>
                </a:solidFill>
                <a:latin typeface="Arial"/>
              </a:rPr>
              <a:t>P-18 - Développer le terme dans le corps, puis Fichier &gt; Options &gt; Vérification et décocher Ignorer les mots en MAJUSCULES.</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P-17 - Corriger le texte, puis Format &gt; Caractère &gt; Effets de caractères &gt; Majuscules.</a:t>
            </a:r>
          </a:p>
          <a:p>
            <a:pPr algn="l">
              <a:lnSpc>
                <a:spcPct val="108000"/>
              </a:lnSpc>
            </a:pPr>
            <a:r>
              <a:rPr sz="1400" lang="fr-FR">
                <a:solidFill>
                  <a:srgbClr val="161616"/>
                </a:solidFill>
                <a:latin typeface="Arial"/>
              </a:rPr>
              <a:t>• </a:t>
            </a:r>
            <a:r>
              <a:rPr sz="1400" b="0" lang="fr-FR">
                <a:solidFill>
                  <a:srgbClr val="161616"/>
                </a:solidFill>
                <a:latin typeface="Arial"/>
              </a:rPr>
              <a:t>P-18 - Développer le terme dans le corps, puis Outils &gt; Options &gt; Paramètres linguistiques &gt; Linguistique et vérifier les options de contrôle.</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texte source accentué, première occurrence développée et majuscules contrôlées.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Finaliser, vérifier, exporter et contrôler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P-19</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Renseigner les propriétés et le nom du fichier</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P-20</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Exporter un PDF structuré</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C-01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Utiliser le vérificateur d'accessibilité Word</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C-02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Contrôler le PDF après export</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outils automatiques filtrent ; la checklist et la vérification humaine concluent.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Propriétés et vérificateur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P-19 [P] - Renseigner les propriétés et le nom du fichier</a:t>
            </a:r>
          </a:p>
        </p:txBody>
      </p:sp>
      <p:sp>
        <p:nvSpPr>
          <p:cNvPr id="11" name="DSFR-card-contenu"/>
          <p:cNvSpPr txBox="1"/>
          <p:nvPr/>
        </p:nvSpPr>
        <p:spPr>
          <a:xfrm>
            <a:off x="704088" y="2697479"/>
            <a:ext cx="5097779" cy="22402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Renseigner titre, auteur et langue puis enregistrer sous un nom descriptif.</a:t>
            </a:r>
          </a:p>
          <a:p>
            <a:pPr algn="l">
              <a:lnSpc>
                <a:spcPct val="107000"/>
              </a:lnSpc>
            </a:pPr>
            <a:r>
              <a:rPr sz="1400" lang="fr-FR">
                <a:solidFill>
                  <a:srgbClr val="161616"/>
                </a:solidFill>
                <a:latin typeface="Arial"/>
              </a:rPr>
              <a:t>• </a:t>
            </a:r>
            <a:r>
              <a:rPr sz="1400" b="0" lang="fr-FR">
                <a:solidFill>
                  <a:srgbClr val="161616"/>
                </a:solidFill>
                <a:latin typeface="Arial"/>
              </a:rPr>
              <a:t>Fichier &gt; Informations &gt; Propriétés &gt; Propriétés avancées, puis Fichier &gt; Enregistrer sous.</a:t>
            </a:r>
          </a:p>
          <a:p>
            <a:pPr algn="l">
              <a:lnSpc>
                <a:spcPct val="107000"/>
              </a:lnSpc>
            </a:pPr>
            <a:r>
              <a:rPr sz="1400" lang="fr-FR">
                <a:solidFill>
                  <a:srgbClr val="161616"/>
                </a:solidFill>
                <a:latin typeface="Arial"/>
              </a:rPr>
              <a:t>• </a:t>
            </a:r>
            <a:r>
              <a:rPr sz="1400" b="0" lang="fr-FR">
                <a:solidFill>
                  <a:srgbClr val="161616"/>
                </a:solidFill>
                <a:latin typeface="Arial"/>
              </a:rPr>
              <a:t>Preuve : Métadonnées inspectées dans le DOCX et nom de sortie relu.</a:t>
            </a:r>
          </a:p>
        </p:txBody>
      </p:sp>
      <p:sp>
        <p:nvSpPr>
          <p:cNvPr id="13" name="DSFR-box"/>
          <p:cNvSpPr/>
          <p:nvPr/>
        </p:nvSpPr>
        <p:spPr>
          <a:xfrm>
            <a:off x="6313931"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C-01 [C] - Utiliser le vérificateur d'accessibilité Word</a:t>
            </a:r>
          </a:p>
        </p:txBody>
      </p:sp>
      <p:sp>
        <p:nvSpPr>
          <p:cNvPr id="15" name="DSFR-card-contenu"/>
          <p:cNvSpPr txBox="1"/>
          <p:nvPr/>
        </p:nvSpPr>
        <p:spPr>
          <a:xfrm>
            <a:off x="6469379" y="2697479"/>
            <a:ext cx="5097779" cy="22402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Traiter les alertes pertinentes et expliquer toute alerte résiduelle ; viser zéro erreur sans en faire une preuve de conformité.</a:t>
            </a:r>
          </a:p>
          <a:p>
            <a:pPr algn="l">
              <a:lnSpc>
                <a:spcPct val="107000"/>
              </a:lnSpc>
            </a:pPr>
            <a:r>
              <a:rPr sz="1400" lang="fr-FR">
                <a:solidFill>
                  <a:srgbClr val="161616"/>
                </a:solidFill>
                <a:latin typeface="Arial"/>
              </a:rPr>
              <a:t>• </a:t>
            </a:r>
            <a:r>
              <a:rPr sz="1400" b="0" lang="fr-FR">
                <a:solidFill>
                  <a:srgbClr val="161616"/>
                </a:solidFill>
                <a:latin typeface="Arial"/>
              </a:rPr>
              <a:t>Révision &gt; Vérifier l'accessibilité, parcourir chaque résultat et utiliser les actions recommandées avec discernement.</a:t>
            </a:r>
          </a:p>
          <a:p>
            <a:pPr algn="l">
              <a:lnSpc>
                <a:spcPct val="107000"/>
              </a:lnSpc>
            </a:pPr>
            <a:r>
              <a:rPr sz="1400" lang="fr-FR">
                <a:solidFill>
                  <a:srgbClr val="161616"/>
                </a:solidFill>
                <a:latin typeface="Arial"/>
              </a:rPr>
              <a:t>• </a:t>
            </a:r>
            <a:r>
              <a:rPr sz="1400" b="0" lang="fr-FR">
                <a:solidFill>
                  <a:srgbClr val="161616"/>
                </a:solidFill>
                <a:latin typeface="Arial"/>
              </a:rPr>
              <a:t>Preuve : Relevé du vérificateur conservé et alertes résiduelles justifiées.</a:t>
            </a:r>
          </a:p>
        </p:txBody>
      </p:sp>
      <p:sp>
        <p:nvSpPr>
          <p:cNvPr id="16" name="DSFR-texte-libre"/>
          <p:cNvSpPr txBox="1"/>
          <p:nvPr/>
        </p:nvSpPr>
        <p:spPr>
          <a:xfrm>
            <a:off x="475488" y="5193792"/>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Fichier &gt; Propriétés, puis Fichier &gt; Enregistrer sous. | Outils &gt; Vérification de l'accessibilité, parcourir les résultats et vérifier manuellement les points non couverts.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Exporter puis contrôler le PDF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P-20 [P] - Exporter un PDF structuré</a:t>
            </a:r>
          </a:p>
        </p:txBody>
      </p:sp>
      <p:sp>
        <p:nvSpPr>
          <p:cNvPr id="11" name="DSFR-card-contenu"/>
          <p:cNvSpPr txBox="1"/>
          <p:nvPr/>
        </p:nvSpPr>
        <p:spPr>
          <a:xfrm>
            <a:off x="704088" y="2697479"/>
            <a:ext cx="5097779" cy="233172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Exporter avec propriétés, balises de structure et signets générés depuis les titres.</a:t>
            </a:r>
          </a:p>
          <a:p>
            <a:pPr algn="l">
              <a:lnSpc>
                <a:spcPct val="107000"/>
              </a:lnSpc>
            </a:pPr>
            <a:r>
              <a:rPr sz="1400" lang="fr-FR">
                <a:solidFill>
                  <a:srgbClr val="161616"/>
                </a:solidFill>
                <a:latin typeface="Arial"/>
              </a:rPr>
              <a:t>• </a:t>
            </a:r>
            <a:r>
              <a:rPr sz="1400" b="0" lang="fr-FR">
                <a:solidFill>
                  <a:srgbClr val="161616"/>
                </a:solidFill>
                <a:latin typeface="Arial"/>
              </a:rPr>
              <a:t>Vérifier les propriétés dans Fichier &gt; Informations, puis Fichier &gt; Enregistrer sous ou Exporter &gt; PDF &gt; Options et activer les balises de structure ainsi que les signets issus des titres.</a:t>
            </a:r>
          </a:p>
          <a:p>
            <a:pPr algn="l">
              <a:lnSpc>
                <a:spcPct val="107000"/>
              </a:lnSpc>
            </a:pPr>
            <a:r>
              <a:rPr sz="1400" lang="fr-FR">
                <a:solidFill>
                  <a:srgbClr val="161616"/>
                </a:solidFill>
                <a:latin typeface="Arial"/>
              </a:rPr>
              <a:t>• </a:t>
            </a:r>
            <a:r>
              <a:rPr sz="1400" b="0" lang="fr-FR">
                <a:solidFill>
                  <a:srgbClr val="161616"/>
                </a:solidFill>
                <a:latin typeface="Arial"/>
              </a:rPr>
              <a:t>Preuve : Propriétés et structure inspectées dans le PDF</a:t>
            </a:r>
          </a:p>
        </p:txBody>
      </p:sp>
      <p:sp>
        <p:nvSpPr>
          <p:cNvPr id="13" name="DSFR-box"/>
          <p:cNvSpPr/>
          <p:nvPr/>
        </p:nvSpPr>
        <p:spPr>
          <a:xfrm>
            <a:off x="6313931"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C-02 [C] - Contrôler le PDF après export</a:t>
            </a:r>
          </a:p>
        </p:txBody>
      </p:sp>
      <p:sp>
        <p:nvSpPr>
          <p:cNvPr id="15" name="DSFR-card-contenu"/>
          <p:cNvSpPr txBox="1"/>
          <p:nvPr/>
        </p:nvSpPr>
        <p:spPr>
          <a:xfrm>
            <a:off x="6469379" y="2697479"/>
            <a:ext cx="5097779" cy="233172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Contrôler avec PAC, ou Acrobat Pro en alternative, le titre, la langue, les balises et l'ordre de lecture, puis terminer par la checklist humaine.</a:t>
            </a:r>
          </a:p>
          <a:p>
            <a:pPr algn="l">
              <a:lnSpc>
                <a:spcPct val="107000"/>
              </a:lnSpc>
            </a:pPr>
            <a:r>
              <a:rPr sz="1400" lang="fr-FR">
                <a:solidFill>
                  <a:srgbClr val="161616"/>
                </a:solidFill>
                <a:latin typeface="Arial"/>
              </a:rPr>
              <a:t>• </a:t>
            </a:r>
            <a:r>
              <a:rPr sz="1400" b="0" lang="fr-FR">
                <a:solidFill>
                  <a:srgbClr val="161616"/>
                </a:solidFill>
                <a:latin typeface="Arial"/>
              </a:rPr>
              <a:t>Ouvrir le PDF exporté dans PAC ; utiliser Acrobat Pro comme alternative si PAC n'est pas disponible.</a:t>
            </a:r>
          </a:p>
          <a:p>
            <a:pPr algn="l">
              <a:lnSpc>
                <a:spcPct val="107000"/>
              </a:lnSpc>
            </a:pPr>
            <a:r>
              <a:rPr sz="1400" lang="fr-FR">
                <a:solidFill>
                  <a:srgbClr val="161616"/>
                </a:solidFill>
                <a:latin typeface="Arial"/>
              </a:rPr>
              <a:t>• </a:t>
            </a:r>
            <a:r>
              <a:rPr sz="1400" b="0" lang="fr-FR">
                <a:solidFill>
                  <a:srgbClr val="161616"/>
                </a:solidFill>
                <a:latin typeface="Arial"/>
              </a:rPr>
              <a:t>Preuve : Rapport PAC ou Acrobat conservé</a:t>
            </a:r>
          </a:p>
        </p:txBody>
      </p:sp>
      <p:sp>
        <p:nvSpPr>
          <p:cNvPr id="16" name="DSFR-texte-libre"/>
          <p:cNvSpPr txBox="1"/>
          <p:nvPr/>
        </p:nvSpPr>
        <p:spPr>
          <a:xfrm>
            <a:off x="475488" y="5230368"/>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Vérifier les propriétés dans Fichier &gt; Propriétés, puis Fichier &gt; Exporter vers &gt; Exporter au format PDF et activer PDF balisé ainsi que l'export des repères. | Ouvrir le PDF exporté dans PAC ; utiliser Acrobat Pro comme alternative si PAC n'est pas disponible.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1 et 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Structurer et naviguer</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P-01 [P] - Le titre principal et les titres de section utilisent des styles adaptés.</a:t>
            </a:r>
          </a:p>
          <a:p>
            <a:pPr algn="l">
              <a:lnSpc>
                <a:spcPct val="105000"/>
              </a:lnSpc>
            </a:pPr>
            <a:r>
              <a:rPr sz="1400" lang="fr-FR">
                <a:solidFill>
                  <a:srgbClr val="161616"/>
                </a:solidFill>
                <a:latin typeface="Arial"/>
              </a:rPr>
              <a:t>• </a:t>
            </a:r>
            <a:r>
              <a:rPr sz="1400" b="0" lang="fr-FR">
                <a:solidFill>
                  <a:srgbClr val="161616"/>
                </a:solidFill>
                <a:latin typeface="Arial"/>
              </a:rPr>
              <a:t>P-02 [P] - La hiérarchie des titres ne saute aucun niveau.</a:t>
            </a:r>
          </a:p>
          <a:p>
            <a:pPr algn="l">
              <a:lnSpc>
                <a:spcPct val="105000"/>
              </a:lnSpc>
            </a:pPr>
            <a:r>
              <a:rPr sz="1400" lang="fr-FR">
                <a:solidFill>
                  <a:srgbClr val="161616"/>
                </a:solidFill>
                <a:latin typeface="Arial"/>
              </a:rPr>
              <a:t>• </a:t>
            </a:r>
            <a:r>
              <a:rPr sz="1400" b="0" lang="fr-FR">
                <a:solidFill>
                  <a:srgbClr val="161616"/>
                </a:solidFill>
                <a:latin typeface="Arial"/>
              </a:rPr>
              <a:t>P-03 [P] - Le volet de navigation et le sommaire automatique reflètent le même plan.</a:t>
            </a:r>
          </a:p>
          <a:p>
            <a:pPr algn="l">
              <a:lnSpc>
                <a:spcPct val="105000"/>
              </a:lnSpc>
            </a:pPr>
            <a:r>
              <a:rPr sz="1400" lang="fr-FR">
                <a:solidFill>
                  <a:srgbClr val="161616"/>
                </a:solidFill>
                <a:latin typeface="Arial"/>
              </a:rPr>
              <a:t>• </a:t>
            </a:r>
            <a:r>
              <a:rPr sz="1400" b="0" lang="fr-FR">
                <a:solidFill>
                  <a:srgbClr val="161616"/>
                </a:solidFill>
                <a:latin typeface="Arial"/>
              </a:rPr>
              <a:t>P-04 [P] - Les listes sont créées avec les fonctions de puces ou de numérotation.</a:t>
            </a:r>
          </a:p>
          <a:p>
            <a:pPr algn="l">
              <a:lnSpc>
                <a:spcPct val="105000"/>
              </a:lnSpc>
            </a:pPr>
            <a:r>
              <a:rPr sz="1400" lang="fr-FR">
                <a:solidFill>
                  <a:srgbClr val="161616"/>
                </a:solidFill>
                <a:latin typeface="Arial"/>
              </a:rPr>
              <a:t>• </a:t>
            </a:r>
            <a:r>
              <a:rPr sz="1400" b="0" lang="fr-FR">
                <a:solidFill>
                  <a:srgbClr val="161616"/>
                </a:solidFill>
                <a:latin typeface="Arial"/>
              </a:rPr>
              <a:t>P-05 [P] - La mise en page n'est pas simulée par des caractères ou des paragraphes vides.</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Rendre les contenus et les liens compréhensibles</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P-06 [P] - Chaque image informative simple possède une alternative pertinente.</a:t>
            </a:r>
          </a:p>
          <a:p>
            <a:pPr algn="l">
              <a:lnSpc>
                <a:spcPct val="105000"/>
              </a:lnSpc>
            </a:pPr>
            <a:r>
              <a:rPr sz="1400" lang="fr-FR">
                <a:solidFill>
                  <a:srgbClr val="161616"/>
                </a:solidFill>
                <a:latin typeface="Arial"/>
              </a:rPr>
              <a:t>• </a:t>
            </a:r>
            <a:r>
              <a:rPr sz="1400" b="0" lang="fr-FR">
                <a:solidFill>
                  <a:srgbClr val="161616"/>
                </a:solidFill>
                <a:latin typeface="Arial"/>
              </a:rPr>
              <a:t>P-07 [P] - Une image complexe possède une alternative courte et une description détaillée adjacente.</a:t>
            </a:r>
          </a:p>
          <a:p>
            <a:pPr algn="l">
              <a:lnSpc>
                <a:spcPct val="105000"/>
              </a:lnSpc>
            </a:pPr>
            <a:r>
              <a:rPr sz="1400" lang="fr-FR">
                <a:solidFill>
                  <a:srgbClr val="161616"/>
                </a:solidFill>
                <a:latin typeface="Arial"/>
              </a:rPr>
              <a:t>• </a:t>
            </a:r>
            <a:r>
              <a:rPr sz="1400" b="0" lang="fr-FR">
                <a:solidFill>
                  <a:srgbClr val="161616"/>
                </a:solidFill>
                <a:latin typeface="Arial"/>
              </a:rPr>
              <a:t>P-08 [P] - Les images redondantes sont traitées comme décoratives sans masquer d'information.</a:t>
            </a:r>
          </a:p>
          <a:p>
            <a:pPr algn="l">
              <a:lnSpc>
                <a:spcPct val="105000"/>
              </a:lnSpc>
            </a:pPr>
            <a:r>
              <a:rPr sz="1400" lang="fr-FR">
                <a:solidFill>
                  <a:srgbClr val="161616"/>
                </a:solidFill>
                <a:latin typeface="Arial"/>
              </a:rPr>
              <a:t>• </a:t>
            </a:r>
            <a:r>
              <a:rPr sz="1400" b="0" lang="fr-FR">
                <a:solidFill>
                  <a:srgbClr val="161616"/>
                </a:solidFill>
                <a:latin typeface="Arial"/>
              </a:rPr>
              <a:t>P-09 [P] - Les informations textuelles sont fournies en vrai texte, pas seulement en image.</a:t>
            </a:r>
          </a:p>
          <a:p>
            <a:pPr algn="l">
              <a:lnSpc>
                <a:spcPct val="105000"/>
              </a:lnSpc>
            </a:pPr>
            <a:r>
              <a:rPr sz="1400" lang="fr-FR">
                <a:solidFill>
                  <a:srgbClr val="161616"/>
                </a:solidFill>
                <a:latin typeface="Arial"/>
              </a:rPr>
              <a:t>• </a:t>
            </a:r>
            <a:r>
              <a:rPr sz="1400" b="0" lang="fr-FR">
                <a:solidFill>
                  <a:srgbClr val="161616"/>
                </a:solidFill>
                <a:latin typeface="Arial"/>
              </a:rPr>
              <a:t>P-10 [P] - Chaque lien est compréhensible hors contexte et chaque téléchargement est décrit.</a:t>
            </a:r>
          </a:p>
          <a:p>
            <a:pPr algn="l">
              <a:lnSpc>
                <a:spcPct val="105000"/>
              </a:lnSpc>
            </a:pPr>
            <a:r>
              <a:rPr sz="1400" lang="fr-FR">
                <a:solidFill>
                  <a:srgbClr val="161616"/>
                </a:solidFill>
                <a:latin typeface="Arial"/>
              </a:rPr>
              <a:t>• </a:t>
            </a:r>
            <a:r>
              <a:rPr sz="1400" b="0" lang="fr-FR">
                <a:solidFill>
                  <a:srgbClr val="161616"/>
                </a:solidFill>
                <a:latin typeface="Arial"/>
              </a:rPr>
              <a:t>P-11 [P] - Toute information essentielle portée par un filigrane est aussi présente dans le corps.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3 et 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Sécuriser couleurs, graphiques et tableaux</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P-12 [P] - Les contrastes sont mesurés et atteignent le seuil correspondant au contenu.</a:t>
            </a:r>
          </a:p>
          <a:p>
            <a:pPr algn="l">
              <a:lnSpc>
                <a:spcPct val="105000"/>
              </a:lnSpc>
            </a:pPr>
            <a:r>
              <a:rPr sz="1400" lang="fr-FR">
                <a:solidFill>
                  <a:srgbClr val="161616"/>
                </a:solidFill>
                <a:latin typeface="Arial"/>
              </a:rPr>
              <a:t>• </a:t>
            </a:r>
            <a:r>
              <a:rPr sz="1400" b="0" lang="fr-FR">
                <a:solidFill>
                  <a:srgbClr val="161616"/>
                </a:solidFill>
                <a:latin typeface="Arial"/>
              </a:rPr>
              <a:t>P-13 [P] - Une information donnée par la couleur possède aussi un repère non coloré.</a:t>
            </a:r>
          </a:p>
          <a:p>
            <a:pPr algn="l">
              <a:lnSpc>
                <a:spcPct val="105000"/>
              </a:lnSpc>
            </a:pPr>
            <a:r>
              <a:rPr sz="1400" lang="fr-FR">
                <a:solidFill>
                  <a:srgbClr val="161616"/>
                </a:solidFill>
                <a:latin typeface="Arial"/>
              </a:rPr>
              <a:t>• </a:t>
            </a:r>
            <a:r>
              <a:rPr sz="1400" b="0" lang="fr-FR">
                <a:solidFill>
                  <a:srgbClr val="161616"/>
                </a:solidFill>
                <a:latin typeface="Arial"/>
              </a:rPr>
              <a:t>P-14 [P] - Les tableaux de données sont simples, titrés et possèdent des en-têtes identifiés.</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Régler langues et lisibilité</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P-15 [P] - La langue principale et les changements de langue sont correctement définis.</a:t>
            </a:r>
          </a:p>
          <a:p>
            <a:pPr algn="l">
              <a:lnSpc>
                <a:spcPct val="105000"/>
              </a:lnSpc>
            </a:pPr>
            <a:r>
              <a:rPr sz="1400" lang="fr-FR">
                <a:solidFill>
                  <a:srgbClr val="161616"/>
                </a:solidFill>
                <a:latin typeface="Arial"/>
              </a:rPr>
              <a:t>• </a:t>
            </a:r>
            <a:r>
              <a:rPr sz="1400" b="0" lang="fr-FR">
                <a:solidFill>
                  <a:srgbClr val="161616"/>
                </a:solidFill>
                <a:latin typeface="Arial"/>
              </a:rPr>
              <a:t>P-16 [P] - Le corps utilise une police sans sérif, au moins 12 points, un interligne de 1,15 et un alignement à gauche.</a:t>
            </a:r>
          </a:p>
          <a:p>
            <a:pPr algn="l">
              <a:lnSpc>
                <a:spcPct val="105000"/>
              </a:lnSpc>
            </a:pPr>
            <a:r>
              <a:rPr sz="1400" lang="fr-FR">
                <a:solidFill>
                  <a:srgbClr val="161616"/>
                </a:solidFill>
                <a:latin typeface="Arial"/>
              </a:rPr>
              <a:t>• </a:t>
            </a:r>
            <a:r>
              <a:rPr sz="1400" b="0" lang="fr-FR">
                <a:solidFill>
                  <a:srgbClr val="161616"/>
                </a:solidFill>
                <a:latin typeface="Arial"/>
              </a:rPr>
              <a:t>P-17 [P] - Les mots sont saisis normalement avec leurs accents avant toute mise en forme en majuscules.</a:t>
            </a:r>
          </a:p>
          <a:p>
            <a:pPr algn="l">
              <a:lnSpc>
                <a:spcPct val="105000"/>
              </a:lnSpc>
            </a:pPr>
            <a:r>
              <a:rPr sz="1400" lang="fr-FR">
                <a:solidFill>
                  <a:srgbClr val="161616"/>
                </a:solidFill>
                <a:latin typeface="Arial"/>
              </a:rPr>
              <a:t>• </a:t>
            </a:r>
            <a:r>
              <a:rPr sz="1400" b="0" lang="fr-FR">
                <a:solidFill>
                  <a:srgbClr val="161616"/>
                </a:solidFill>
                <a:latin typeface="Arial"/>
              </a:rPr>
              <a:t>P-18 [P] - Les sigles sont développés à leur première occurrence et les majuscules sont vérifiées.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 5 et points signalés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Finaliser, vérifier, exporter et contrôler</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P-19 [P] - Le titre, l'auteur, la langue et le nom de fichier sont renseignés de façon descriptive.</a:t>
            </a:r>
          </a:p>
          <a:p>
            <a:pPr algn="l">
              <a:lnSpc>
                <a:spcPct val="105000"/>
              </a:lnSpc>
            </a:pPr>
            <a:r>
              <a:rPr sz="1400" lang="fr-FR">
                <a:solidFill>
                  <a:srgbClr val="161616"/>
                </a:solidFill>
                <a:latin typeface="Arial"/>
              </a:rPr>
              <a:t>• </a:t>
            </a:r>
            <a:r>
              <a:rPr sz="1400" b="0" lang="fr-FR">
                <a:solidFill>
                  <a:srgbClr val="161616"/>
                </a:solidFill>
                <a:latin typeface="Arial"/>
              </a:rPr>
              <a:t>P-20 [P] - Le PDF est exporté avec ses propriétés, ses balises et ses signets.</a:t>
            </a:r>
          </a:p>
          <a:p>
            <a:pPr algn="l">
              <a:lnSpc>
                <a:spcPct val="105000"/>
              </a:lnSpc>
            </a:pPr>
            <a:r>
              <a:rPr sz="1400" lang="fr-FR">
                <a:solidFill>
                  <a:srgbClr val="161616"/>
                </a:solidFill>
                <a:latin typeface="Arial"/>
              </a:rPr>
              <a:t>• </a:t>
            </a:r>
            <a:r>
              <a:rPr sz="1400" b="0" lang="fr-FR">
                <a:solidFill>
                  <a:srgbClr val="161616"/>
                </a:solidFill>
                <a:latin typeface="Arial"/>
              </a:rPr>
              <a:t>C-01 [C] - Le vérificateur a été exécuté, ses alertes pertinentes traitées et les alertes résiduelles expliquées.</a:t>
            </a:r>
          </a:p>
          <a:p>
            <a:pPr algn="l">
              <a:lnSpc>
                <a:spcPct val="105000"/>
              </a:lnSpc>
            </a:pPr>
            <a:r>
              <a:rPr sz="1400" lang="fr-FR">
                <a:solidFill>
                  <a:srgbClr val="161616"/>
                </a:solidFill>
                <a:latin typeface="Arial"/>
              </a:rPr>
              <a:t>• </a:t>
            </a:r>
            <a:r>
              <a:rPr sz="1400" b="0" lang="fr-FR">
                <a:solidFill>
                  <a:srgbClr val="161616"/>
                </a:solidFill>
                <a:latin typeface="Arial"/>
              </a:rPr>
              <a:t>C-02 [C] - Le PDF a été contrôlé après export avec PAC ou Acrobat Pro puis avec la checklist humaine.</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Contrôles signalés</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S-01 [S] - Le document n'est pas protégé lorsque sa modification doit rester possible.</a:t>
            </a:r>
          </a:p>
          <a:p>
            <a:pPr algn="l">
              <a:lnSpc>
                <a:spcPct val="105000"/>
              </a:lnSpc>
            </a:pPr>
            <a:r>
              <a:rPr sz="1400" lang="fr-FR">
                <a:solidFill>
                  <a:srgbClr val="161616"/>
                </a:solidFill>
                <a:latin typeface="Arial"/>
              </a:rPr>
              <a:t>• </a:t>
            </a:r>
            <a:r>
              <a:rPr sz="1400" b="0" lang="fr-FR">
                <a:solidFill>
                  <a:srgbClr val="161616"/>
                </a:solidFill>
                <a:latin typeface="Arial"/>
              </a:rPr>
              <a:t>S-02 [S] - Le document ne contient aucun contenu clignotant.</a:t>
            </a:r>
          </a:p>
          <a:p>
            <a:pPr algn="l">
              <a:lnSpc>
                <a:spcPct val="105000"/>
              </a:lnSpc>
            </a:pPr>
            <a:r>
              <a:rPr sz="1400" lang="fr-FR">
                <a:solidFill>
                  <a:srgbClr val="161616"/>
                </a:solidFill>
                <a:latin typeface="Arial"/>
              </a:rPr>
              <a:t>• </a:t>
            </a:r>
            <a:r>
              <a:rPr sz="1400" b="0" lang="fr-FR">
                <a:solidFill>
                  <a:srgbClr val="161616"/>
                </a:solidFill>
                <a:latin typeface="Arial"/>
              </a:rPr>
              <a:t>S-03 [S] - Le document ne contient pas de formulaire Word interactif.</a:t>
            </a:r>
          </a:p>
          <a:p>
            <a:pPr algn="l">
              <a:lnSpc>
                <a:spcPct val="105000"/>
              </a:lnSpc>
            </a:pPr>
            <a:r>
              <a:rPr sz="1400" lang="fr-FR">
                <a:solidFill>
                  <a:srgbClr val="161616"/>
                </a:solidFill>
                <a:latin typeface="Arial"/>
              </a:rPr>
              <a:t>• </a:t>
            </a:r>
            <a:r>
              <a:rPr sz="1400" b="0" lang="fr-FR">
                <a:solidFill>
                  <a:srgbClr val="161616"/>
                </a:solidFill>
                <a:latin typeface="Arial"/>
              </a:rPr>
              <a:t>S-04 [S] - Les objets et zones de texte flottants ne portent aucune information essentielle.</a:t>
            </a:r>
          </a:p>
          <a:p>
            <a:pPr algn="l">
              <a:lnSpc>
                <a:spcPct val="105000"/>
              </a:lnSpc>
            </a:pPr>
            <a:r>
              <a:rPr sz="1400" lang="fr-FR">
                <a:solidFill>
                  <a:srgbClr val="161616"/>
                </a:solidFill>
                <a:latin typeface="Arial"/>
              </a:rPr>
              <a:t>• </a:t>
            </a:r>
            <a:r>
              <a:rPr sz="1400" b="0" lang="fr-FR">
                <a:solidFill>
                  <a:srgbClr val="161616"/>
                </a:solidFill>
                <a:latin typeface="Arial"/>
              </a:rPr>
              <a:t>S-05 [S] - Les tableaux ne servent pas à la mise en page et ne sont pas flottants.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Synthèse de la matinée - de l'intention à la preuve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Matin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nous retenons</a:t>
            </a:r>
          </a:p>
        </p:txBody>
      </p:sp>
      <p:sp>
        <p:nvSpPr>
          <p:cNvPr id="11" name="DSFR-card-contenu"/>
          <p:cNvSpPr txBox="1"/>
          <p:nvPr/>
        </p:nvSpPr>
        <p:spPr>
          <a:xfrm>
            <a:off x="704088" y="2697479"/>
            <a:ext cx="5097779" cy="17373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L'environnement peut créer ou supprimer une situation de handicap</a:t>
            </a:r>
          </a:p>
          <a:p>
            <a:pPr algn="l">
              <a:lnSpc>
                <a:spcPct val="125000"/>
              </a:lnSpc>
            </a:pPr>
            <a:r>
              <a:rPr sz="1400" lang="fr-FR">
                <a:solidFill>
                  <a:srgbClr val="161616"/>
                </a:solidFill>
                <a:latin typeface="Arial"/>
              </a:rPr>
              <a:t>• </a:t>
            </a:r>
            <a:r>
              <a:rPr sz="1400" b="0" lang="fr-FR">
                <a:solidFill>
                  <a:srgbClr val="161616"/>
                </a:solidFill>
                <a:latin typeface="Arial"/>
              </a:rPr>
              <a:t>La structure et le sens comptent autant que l'apparence</a:t>
            </a:r>
          </a:p>
          <a:p>
            <a:pPr algn="l">
              <a:lnSpc>
                <a:spcPct val="125000"/>
              </a:lnSpc>
            </a:pPr>
            <a:r>
              <a:rPr sz="1400" lang="fr-FR">
                <a:solidFill>
                  <a:srgbClr val="161616"/>
                </a:solidFill>
                <a:latin typeface="Arial"/>
              </a:rPr>
              <a:t>• </a:t>
            </a:r>
            <a:r>
              <a:rPr sz="1400" b="0" lang="fr-FR">
                <a:solidFill>
                  <a:srgbClr val="161616"/>
                </a:solidFill>
                <a:latin typeface="Arial"/>
              </a:rPr>
              <a:t>Une correction doit produire une preuve vérifiable</a:t>
            </a:r>
          </a:p>
        </p:txBody>
      </p:sp>
      <p:sp>
        <p:nvSpPr>
          <p:cNvPr id="13" name="DSFR-box"/>
          <p:cNvSpPr/>
          <p:nvPr/>
        </p:nvSpPr>
        <p:spPr>
          <a:xfrm>
            <a:off x="6313931"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Questions et transition</a:t>
            </a:r>
          </a:p>
        </p:txBody>
      </p:sp>
      <p:sp>
        <p:nvSpPr>
          <p:cNvPr id="15" name="DSFR-card-contenu"/>
          <p:cNvSpPr txBox="1"/>
          <p:nvPr/>
        </p:nvSpPr>
        <p:spPr>
          <a:xfrm>
            <a:off x="6469379" y="2697479"/>
            <a:ext cx="5097779" cy="17373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Quel réflexe allez-vous réutiliser dans votre prochain document ?</a:t>
            </a:r>
          </a:p>
          <a:p>
            <a:pPr algn="l">
              <a:lnSpc>
                <a:spcPct val="125000"/>
              </a:lnSpc>
            </a:pPr>
            <a:r>
              <a:rPr sz="1400" lang="fr-FR">
                <a:solidFill>
                  <a:srgbClr val="161616"/>
                </a:solidFill>
                <a:latin typeface="Arial"/>
              </a:rPr>
              <a:t>• </a:t>
            </a:r>
            <a:r>
              <a:rPr sz="1400" b="0" lang="fr-FR">
                <a:solidFill>
                  <a:srgbClr val="161616"/>
                </a:solidFill>
                <a:latin typeface="Arial"/>
              </a:rPr>
              <a:t>Quel point demande encore une clarification ?</a:t>
            </a:r>
          </a:p>
          <a:p>
            <a:pPr algn="l">
              <a:lnSpc>
                <a:spcPct val="125000"/>
              </a:lnSpc>
            </a:pPr>
            <a:r>
              <a:rPr sz="1400" lang="fr-FR">
                <a:solidFill>
                  <a:srgbClr val="161616"/>
                </a:solidFill>
                <a:latin typeface="Arial"/>
              </a:rPr>
              <a:t>• </a:t>
            </a:r>
            <a:r>
              <a:rPr sz="1400" b="0" lang="fr-FR">
                <a:solidFill>
                  <a:srgbClr val="161616"/>
                </a:solidFill>
                <a:latin typeface="Arial"/>
              </a:rPr>
              <a:t>Après les documents, nous appliquerons la même démarche au Web</a:t>
            </a:r>
          </a:p>
        </p:txBody>
      </p:sp>
      <p:sp>
        <p:nvSpPr>
          <p:cNvPr id="17" name="DSFR-box"/>
          <p:cNvSpPr/>
          <p:nvPr/>
        </p:nvSpPr>
        <p:spPr>
          <a:xfrm>
            <a:off x="548640" y="48920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98347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Structurer, rendre compréhensible, vérifier avec les outils, puis contrôler humainement.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Synthèse de la matinée</a:t>
            </a:r>
          </a:p>
        </p:txBody>
      </p:sp>
      <p:sp>
        <p:nvSpPr>
          <p:cNvPr id="8" name="DSFR-accent-decoratif" descr=""/>
          <p:cNvSpPr/>
          <p:nvPr/>
        </p:nvSpPr>
        <p:spPr>
          <a:xfrm>
            <a:off x="475488"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920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