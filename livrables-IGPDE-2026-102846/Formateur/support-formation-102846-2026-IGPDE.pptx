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1"/>
  </p:sldMasterIdLst>
  <p:notesMasterIdLst>
    <p:notesMasterId r:id="rId18"/>
  </p:notesMasterIdLst>
  <p:handoutMasterIdLst>
    <p:handoutMasterId r:id="rId19"/>
  </p:handoutMasterIdLst>
  <p:sldIdLst>
    <p:sldId id="256" r:id="rId8"/>
    <p:sldId id="257" r:id="rId9"/>
    <p:sldId id="258" r:id="rId10"/>
    <p:sldId id="259" r:id="rId11"/>
    <p:sldId id="260" r:id="rId12"/>
    <p:sldId id="261" r:id="rId13"/>
    <p:sldId id="262" r:id="rId14"/>
    <p:sldId id="263" r:id="rId15"/>
    <p:sldId id="264" r:id="rId16"/>
    <p:sldId id="265" r:id="rId17"/>
    <p:sldId id="266" r:id="rId7"/>
    <p:sldId id="267" r:id="rId6"/>
    <p:sldId id="268" r:id="rId5"/>
    <p:sldId id="269" r:id="rId4"/>
    <p:sldId id="270" r:id="rId3"/>
    <p:sldId id="271" r:id="rId2"/>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Lst>
  <p:sldSz cx="12191969" cy="68580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mple" id="{1B2C009F-958F-4730-953E-C3BCDF6DEDF4}">
          <p14:sldIdLst>
            <p14:sldId id="342"/>
            <p14:sldId id="335"/>
            <p14:sldId id="336"/>
            <p14:sldId id="337"/>
            <p14:sldId id="348"/>
            <p14:sldId id="344"/>
            <p14:sldId id="347"/>
          </p14:sldIdLst>
        </p14:section>
        <p14:section name="IGPDE" id="{0B896E98-F45E-4768-8620-EDDF394BE181}">
          <p14:sldIdLst>
            <p14:sldId id="332"/>
            <p14:sldId id="331"/>
            <p14:sldId id="327"/>
            <p14:sldId id="340"/>
            <p14:sldId id="329"/>
            <p14:sldId id="330"/>
          </p14:sldIdLst>
        </p14:section>
        <p14:section name="MÉTHODOLOGIE" id="{EB03BDE6-D677-4574-A7BF-9721F91BDEB8}">
          <p14:sldIdLst>
            <p14:sldId id="319"/>
            <p14:sldId id="323"/>
            <p14:sldId id="324"/>
          </p14:sldIdLst>
        </p14:section>
      </p14:sectionLst>
    </p:ext>
    <p:ext uri="{EFAFB233-063F-42B5-8137-9DF3F51BA10A}">
      <p15:sldGuideLst xmlns:p15="http://schemas.microsoft.com/office/powerpoint/2012/main">
        <p15:guide id="1" orient="horz" pos="1620">
          <p15:clr>
            <a:srgbClr val="A4A3A4"/>
          </p15:clr>
        </p15:guide>
        <p15:guide id="2" orient="horz" pos="191">
          <p15:clr>
            <a:srgbClr val="A4A3A4"/>
          </p15:clr>
        </p15:guide>
        <p15:guide id="3" orient="horz" pos="854">
          <p15:clr>
            <a:srgbClr val="A4A3A4"/>
          </p15:clr>
        </p15:guide>
        <p15:guide id="4" orient="horz" pos="821">
          <p15:clr>
            <a:srgbClr val="A4A3A4"/>
          </p15:clr>
        </p15:guide>
        <p15:guide id="5" orient="horz" pos="3049">
          <p15:clr>
            <a:srgbClr val="A4A3A4"/>
          </p15:clr>
        </p15:guide>
        <p15:guide id="6" orient="horz" pos="3151">
          <p15:clr>
            <a:srgbClr val="A4A3A4"/>
          </p15:clr>
        </p15:guide>
        <p15:guide id="7" pos="2880">
          <p15:clr>
            <a:srgbClr val="A4A3A4"/>
          </p15:clr>
        </p15:guide>
        <p15:guide id="8" pos="476">
          <p15:clr>
            <a:srgbClr val="A4A3A4"/>
          </p15:clr>
        </p15:guide>
        <p15:guide id="9" pos="5193">
          <p15:clr>
            <a:srgbClr val="A4A3A4"/>
          </p15:clr>
        </p15:guide>
        <p15:guide id="10" pos="54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4" autoAdjust="0"/>
    <p:restoredTop sz="96224" autoAdjust="0"/>
  </p:normalViewPr>
  <p:slideViewPr>
    <p:cSldViewPr showGuides="1">
      <p:cViewPr varScale="1">
        <p:scale>
          <a:sx n="135" d="100"/>
          <a:sy n="135" d="100"/>
        </p:scale>
        <p:origin x="120" y="114"/>
      </p:cViewPr>
      <p:guideLst>
        <p:guide orient="horz" pos="1620"/>
        <p:guide orient="horz" pos="191"/>
        <p:guide orient="horz" pos="854"/>
        <p:guide orient="horz" pos="821"/>
        <p:guide orient="horz" pos="3049"/>
        <p:guide orient="horz" pos="3151"/>
        <p:guide pos="2880"/>
        <p:guide pos="476"/>
        <p:guide pos="5193"/>
        <p:guide pos="5465"/>
      </p:guideLst>
    </p:cSldViewPr>
  </p:slideViewPr>
  <p:outlineViewPr>
    <p:cViewPr>
      <p:scale>
        <a:sx n="33" d="100"/>
        <a:sy n="33" d="100"/>
      </p:scale>
      <p:origin x="0" y="-2562"/>
    </p:cViewPr>
  </p:outlineViewPr>
  <p:notesTextViewPr>
    <p:cViewPr>
      <p:scale>
        <a:sx n="100" d="100"/>
        <a:sy n="100" d="100"/>
      </p:scale>
      <p:origin x="0" y="0"/>
    </p:cViewPr>
  </p:notesTextViewPr>
  <p:sorterViewPr>
    <p:cViewPr>
      <p:scale>
        <a:sx n="172" d="100"/>
        <a:sy n="172" d="100"/>
      </p:scale>
      <p:origin x="0" y="-3540"/>
    </p:cViewPr>
  </p:sorterViewPr>
  <p:notesViewPr>
    <p:cSldViewPr showGuides="1">
      <p:cViewPr varScale="1">
        <p:scale>
          <a:sx n="83" d="100"/>
          <a:sy n="83" d="100"/>
        </p:scale>
        <p:origin x="3132"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6.xml"/><Relationship Id="rId3" Type="http://schemas.openxmlformats.org/officeDocument/2006/relationships/slide" Target="slides/slide15.xml"/><Relationship Id="rId4" Type="http://schemas.openxmlformats.org/officeDocument/2006/relationships/slide" Target="slides/slide14.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1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DB2658-7BE8-4FC5-8F36-ABC54AD38E15}" type="datetimeFigureOut">
              <a:rPr lang="fr-FR" smtClean="0"/>
              <a:t>06/09/2024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23471C-61B7-441C-A48C-C1E234DDF525}" type="slidenum">
              <a:rPr lang="fr-FR" smtClean="0"/>
              <a:t>‹N°›</a:t>
            </a:fld>
            <a:endParaRPr lang="fr-FR"/>
          </a:p>
        </p:txBody>
      </p:sp>
    </p:spTree>
    <p:extLst>
      <p:ext uri="{BB962C8B-B14F-4D97-AF65-F5344CB8AC3E}">
        <p14:creationId xmlns:p14="http://schemas.microsoft.com/office/powerpoint/2010/main" val="23066938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fr-FR" dirty="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D680E798-53FF-4C51-A981-953463752515}" type="datetimeFigureOut">
              <a:rPr lang="fr-FR" smtClean="0"/>
              <a:pPr/>
              <a:t>06/09/2024</a:t>
            </a:fld>
            <a:endParaRPr lang="fr-FR" dirty="0"/>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fr-FR" dirty="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1B06CD8F-B7ED-4A05-9FB1-A01CC0EF02CC}" type="slidenum">
              <a:rPr lang="fr-FR" smtClean="0"/>
              <a:pPr/>
              <a:t>‹N°›</a:t>
            </a:fld>
            <a:endParaRPr lang="fr-FR" dirty="0"/>
          </a:p>
        </p:txBody>
      </p:sp>
    </p:spTree>
    <p:extLst>
      <p:ext uri="{BB962C8B-B14F-4D97-AF65-F5344CB8AC3E}">
        <p14:creationId xmlns:p14="http://schemas.microsoft.com/office/powerpoint/2010/main" val="411662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Slide de couverture - accueil des stagiaires et installation.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Objectifs repris mot pour mot de la fiche catalogue 102846.</a:t>
            </a:r>
          </a:p>
          <a:p>
            <a:r>
              <a:rPr lang="fr-FR"/>
              <a:t>Présenter les 3 objectifs, insister sur le caractère opérationnel : cette formation débouche sur des gestes concrets, pas seulement de la théorie.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Présenter les 4 modules, indiquer les horaires approximatifs.</a:t>
            </a:r>
          </a:p>
          <a:p>
            <a:r>
              <a:rPr lang="fr-FR"/>
              <a:t>Signaler que chaque module se termine par un geste concret.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Présentation de Bertrand : parcours SIRCOM, Opquast, sensibilisation accessibilité.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Présentation d'Alexandra : parcours, spécialisation accessibilité, DU-RAN.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Chaque stagiaire suit la grille à voix haute - 2 minutes maxi par personne.</a:t>
            </a:r>
          </a:p>
          <a:p>
            <a:r>
              <a:rPr lang="fr-FR"/>
              <a:t>Colonne 1 : ancre les métiers présents dans la salle (utile pour choisir les exemples).</a:t>
            </a:r>
          </a:p>
          <a:p>
            <a:r>
              <a:rPr lang="fr-FR"/>
              <a:t>Colonne 2 : révèle le niveau réel du groupe - adapter le rythme en conséquence.</a:t>
            </a:r>
          </a:p>
          <a:p>
            <a:r>
              <a:rPr lang="fr-FR"/>
              <a:t>Colonne 3 : noter les attentes au tableau, y revenir en clôture pour montrer qu'elles ont été traitées.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Constituer les binômes en mélangeant les directions si possible - éviter que deux personnes du même bureau soient ensemble (échanges plus riches entre services différents).</a:t>
            </a:r>
          </a:p>
          <a:p>
            <a:r>
              <a:rPr lang="fr-FR"/>
              <a:t>Si nombre impair : un trinôme.</a:t>
            </a:r>
          </a:p>
          <a:p>
            <a:r>
              <a:rPr lang="fr-FR"/>
              <a:t>Chaque binôme pioche une carte idée reçue puis prend 2-3 minutes pour se présenter et échanger sur leur quotidien.</a:t>
            </a:r>
          </a:p>
          <a:p>
            <a:r>
              <a:rPr lang="fr-FR"/>
              <a:t>Ensuite ils confrontent leurs cartes et préparent une courte restitution au groupe.</a:t>
            </a:r>
          </a:p>
          <a:p>
            <a:r>
              <a:rPr lang="fr-FR"/>
              <a:t>Lancer le débat ouvert après chaque présentation - laisser circuler la parole.</a:t>
            </a:r>
          </a:p>
          <a:p>
            <a:r>
              <a:rPr lang="fr-FR"/>
              <a:t>Les binômes ne sont pas imposés pour les ateliers Word/Web mais encouragés : insister sur le bénéfice mutuel (relecture croisée, explication = ancrage).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 cartes ont été piochées au moment de la constitution des binômes.</a:t>
            </a:r>
          </a:p>
          <a:p>
            <a:r>
              <a:rPr lang="fr-FR"/>
              <a:t>Laisser 2-3 minutes aux binômes pour discuter entre eux de leurs cartes.</a:t>
            </a:r>
          </a:p>
          <a:p>
            <a:r>
              <a:rPr lang="fr-FR"/>
              <a:t>Puis chaque binôme présente sa carte et dit ce qu'il en pense - le reste du groupe réagit librement.</a:t>
            </a:r>
          </a:p>
          <a:p>
            <a:r>
              <a:rPr lang="fr-FR"/>
              <a:t>Ne pas corriger immédiatement - laisser le débat s'installer avant d'afficher la slide de décryptage.</a:t>
            </a:r>
          </a:p>
          <a:p>
            <a:r>
              <a:rPr lang="fr-FR"/>
              <a:t>Objectif : casser les freins avant même de commencer la théorie.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le groupe répondre vrai/faux avant d'afficher le décryptage.</a:t>
            </a:r>
          </a:p>
          <a:p>
            <a:r>
              <a:rPr lang="fr-FR"/>
              <a:t>Insister : le handicap permanent n'est qu'une fraction.</a:t>
            </a:r>
          </a:p>
          <a:p>
            <a:r>
              <a:rPr lang="fr-FR"/>
              <a:t>Le handicap temporaire (bras cassé, conjonctivite) et situationnel (plein soleil sur téléphone) touchent tout le monde.</a:t>
            </a:r>
          </a:p>
          <a:p>
            <a:r>
              <a:rPr lang="fr-FR"/>
              <a:t>Analogie : l'ascenseur est utile aux personnes en fauteuil, aux parents avec poussette, aux livreurs les mains prises.</a:t>
            </a:r>
          </a:p>
          <a:p>
            <a:r>
              <a:rPr lang="fr-FR"/>
              <a:t>L'accessibilité profite à tous.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un contre-exemple si possible : un site très accessible peut être très design.</a:t>
            </a:r>
          </a:p>
          <a:p>
            <a:r>
              <a:rPr lang="fr-FR"/>
              <a:t>La contrainte de contraste 4,5:1 produit des palettes plus sereines, pas plus laides.</a:t>
            </a:r>
          </a:p>
          <a:p>
            <a:r>
              <a:rPr lang="fr-FR"/>
              <a:t>Analogie : les normes de sécurité incendie n'ont pas empêché d'architecturer de beaux bâtiments.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Bonne nouvelle pour les stagiaires : on ne peut pas tout apprendre en 1 jour.</a:t>
            </a:r>
          </a:p>
          <a:p>
            <a:r>
              <a:rPr lang="fr-FR"/>
              <a:t>L'objectif de cette formation, c'est d'ouvrir les yeux sur l'étendue du sujet et d'acquérir les réflexes sur les points les plus fréquents.</a:t>
            </a:r>
          </a:p>
          <a:p>
            <a:r>
              <a:rPr lang="fr-FR"/>
              <a:t>Le reste vient avec la pratique et les ressources (RGAA, points de contrôle rapides W3C).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idée reçue est la plus difficile à déconstruire car elle repose sur une logique réelle : il y a des spécialistes.</a:t>
            </a:r>
          </a:p>
          <a:p>
            <a:r>
              <a:rPr lang="fr-FR"/>
              <a:t>Répondre : oui, les développeurs et chefs de projet ont leurs responsabilités.</a:t>
            </a:r>
          </a:p>
          <a:p>
            <a:r>
              <a:rPr lang="fr-FR"/>
              <a:t>Mais vous aussi - c'est précisément pourquoi vous êtes là aujourd'hui.</a:t>
            </a:r>
          </a:p>
          <a:p>
            <a:r>
              <a:rPr lang="fr-FR"/>
              <a:t>Votre document Word mal structuré empêche un lecteur d'écran de lire.</a:t>
            </a:r>
          </a:p>
          <a:p>
            <a:r>
              <a:rPr lang="fr-FR"/>
              <a:t>Votre image sans texte alternatif prive un non-voyant de l'information.</a:t>
            </a:r>
          </a:p>
          <a:p>
            <a:r>
              <a:rPr lang="fr-FR"/>
              <a:t>Personne n'est exempté.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bâtiment : une rampe d'accès intégrée dès la construction coûte quelques centaines d'euros.</a:t>
            </a:r>
          </a:p>
          <a:p>
            <a:r>
              <a:rPr lang="fr-FR"/>
              <a:t>La reprise après construction, plusieurs milliers.</a:t>
            </a:r>
          </a:p>
          <a:p>
            <a:r>
              <a:rPr lang="fr-FR"/>
              <a:t>Pour les documents : appliquer les styles Titre dans Word, c'est 30 secondes de plus.</a:t>
            </a:r>
          </a:p>
          <a:p>
            <a:r>
              <a:rPr lang="fr-FR"/>
              <a:t>Corriger un PDF de 50 pages après coup, c'est des heures.</a:t>
            </a:r>
          </a:p>
          <a:p>
            <a:r>
              <a:rPr lang="fr-FR"/>
              <a:t>L'accessibilité est rentable quand elle est intégrée - c'est le message central.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idée reçue - transition naturelle vers la journée : « Aujourd'hui, on ne remet pas à la fin.</a:t>
            </a:r>
          </a:p>
          <a:p>
            <a:r>
              <a:rPr lang="fr-FR"/>
              <a:t>On commence par les bons réflexes et on les ancre maintenant. » Demander au groupe : laquelle de ces 6 idées reçues vous parlait le plus ce matin ?</a:t>
            </a:r>
          </a:p>
          <a:p>
            <a:r>
              <a:rPr lang="fr-FR"/>
              <a:t>Cette question fait le lien entre l'icebreaker et la suite du programme.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Annoncer les cinq questions qui structurent la partie I.</a:t>
            </a:r>
          </a:p>
          <a:p>
            <a:r>
              <a:rPr lang="fr-FR"/>
              <a:t>Préciser que la progression va de la définition aux premiers gestes concrets.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Ouverture du module 1.</a:t>
            </a:r>
          </a:p>
          <a:p>
            <a:r>
              <a:rPr lang="fr-FR"/>
              <a:t>Poser la question : si je vous dis accessibilité numérique, à quoi pensez-vous ?</a:t>
            </a:r>
          </a:p>
          <a:p>
            <a:r>
              <a:rPr lang="fr-FR"/>
              <a:t>Laisser 30 secondes de silence avant de basculer vers la définition.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Poser la définition avant tout.</a:t>
            </a:r>
          </a:p>
          <a:p>
            <a:r>
              <a:rPr lang="fr-FR"/>
              <a:t>Insister sur le fait que l'accessibilité ne concerne pas que le web ni que le handicap lourd.</a:t>
            </a:r>
          </a:p>
          <a:p>
            <a:r>
              <a:rPr lang="fr-FR"/>
              <a:t>Faire reformuler par le groupe : quels supports produisez-vous au quotidien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fait la transition entre l'approche communication et le cadre de conformité.</a:t>
            </a:r>
          </a:p>
          <a:p>
            <a:r>
              <a:rPr lang="fr-FR"/>
              <a:t>Ne pas détailler les 106 critères maintenant : expliquer que la formation donnera des clés utilisables, puis les points de contrôle rapides permettront de repérer les problèmes les plus fréquents.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Mnémonique : PUCC (Percevoir, Utiliser, Comprendre, Compatible).</a:t>
            </a:r>
          </a:p>
          <a:p>
            <a:r>
              <a:rPr lang="fr-FR"/>
              <a:t>Faire reformuler par le groupe : 'Si je suis aveugle, quel principe est en jeu ?' (Percevoir). 'Si je ne peux pas utiliser la souris ?' (Utiliser).</a:t>
            </a:r>
          </a:p>
          <a:p>
            <a:r>
              <a:rPr lang="fr-FR"/>
              <a:t>Ces 4 principes structurent le RGAA et reviendront dans les modules suivants.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Transition vers les publics concernés.</a:t>
            </a:r>
          </a:p>
          <a:p>
            <a:r>
              <a:rPr lang="fr-FR"/>
              <a:t>Avant de montrer les 4 familles, demander au groupe : à votre avis, combien de personnes sont concernées par l'accessibilité numérique en France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détailler chaque handicap - l'objectif est de montrer la diversité des besoins.</a:t>
            </a:r>
          </a:p>
          <a:p>
            <a:r>
              <a:rPr lang="fr-FR"/>
              <a:t>Faire le lien avec les gestes concrets vus dans les modules suivants : alt text (visuelle), sous-titres (auditive), clavier (motrice), langage clair (cognitive).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Daltonisme : environ 8 % des hommes et 0,4 % des femmes.</a:t>
            </a:r>
          </a:p>
          <a:p>
            <a:r>
              <a:rPr lang="fr-FR"/>
              <a:t>Laisser les stagiaires naviguer librement sur le site Atalan pendant 5 minutes.</a:t>
            </a:r>
          </a:p>
          <a:p>
            <a:r>
              <a:rPr lang="fr-FR"/>
              <a:t>Chaque simulation illustre un type de handicap et montre ce que nos choix de mise en forme peuvent faciliter ou bloquer.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Amir est aveugle de naissance et utilise un lecteur d'écran (NVDA ou JAWS) pour tout son travail.</a:t>
            </a:r>
          </a:p>
          <a:p>
            <a:r>
              <a:rPr lang="fr-FR"/>
              <a:t>Ce profil est central pour les communicants : chaque image sans alt, chaque tableau sans structure, chaque lien « cliquez ici » est un mur pour lui.</a:t>
            </a:r>
          </a:p>
          <a:p>
            <a:r>
              <a:rPr lang="fr-FR"/>
              <a:t>Faire la demo du lecteur d'écran sur un document mal structure vs bien structure pour marquer les esprits.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Anaïs a une DMLA précoce diagnostiquée il y a 10 ans.</a:t>
            </a:r>
          </a:p>
          <a:p>
            <a:r>
              <a:rPr lang="fr-FR"/>
              <a:t>Ce profil illustre la déficience visuelle.</a:t>
            </a:r>
          </a:p>
          <a:p>
            <a:r>
              <a:rPr lang="fr-FR"/>
              <a:t>Insister sur le fait que le contraste et la taille de texte sont des leviers que le communicant maîtrise directement dans ses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Justine est sourde de naissance.</a:t>
            </a:r>
          </a:p>
          <a:p>
            <a:r>
              <a:rPr lang="fr-FR"/>
              <a:t>Ce profil illustre la déficience auditive.</a:t>
            </a:r>
          </a:p>
          <a:p>
            <a:r>
              <a:rPr lang="fr-FR"/>
              <a:t>Le message clé pour les communicants : tout contenu audio doit avoir un équivalent textuel.</a:t>
            </a:r>
          </a:p>
          <a:p>
            <a:r>
              <a:rPr lang="fr-FR"/>
              <a:t>Les sous-titres automatiques ne suffisent pas toujours, une relecture humaine est nécessaire.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Agathe utilise un fauteuil roulant et des contacteurs adaptés.</a:t>
            </a:r>
          </a:p>
          <a:p>
            <a:r>
              <a:rPr lang="fr-FR"/>
              <a:t>Ce profil illustre la déficience motrice.</a:t>
            </a:r>
          </a:p>
          <a:p>
            <a:r>
              <a:rPr lang="fr-FR"/>
              <a:t>Pour les communicants : penser aux zones cliquables suffisamment grandes dans les PDF et formulaires, et à la navigation au clavier.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Anatole illustre la déficience cognitive.</a:t>
            </a:r>
          </a:p>
          <a:p>
            <a:r>
              <a:rPr lang="fr-FR"/>
              <a:t>Pour les communicants : les règles du FALC et du langage clair ne profitent pas qu'aux personnes handicapees mentales - elles aident aussi les personnes agees, fatiguees, en situation de stress ou dont le français n'est pas la langue maternelle.</a:t>
            </a:r>
          </a:p>
          <a:p>
            <a:r>
              <a:rPr lang="fr-FR"/>
              <a:t>Faire le lien avec les slides FALC.</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Paul illustre les troubles dys et le TDAH.</a:t>
            </a:r>
          </a:p>
          <a:p>
            <a:r>
              <a:rPr lang="fr-FR"/>
              <a:t>Pour les communicants : ne jamais justifier le texte dans un document Word ou PDF, privilegier les polices sans serif (Marianne, Arial), éviter les carrousels en lecture automatique sans bouton pause, et garder des paragraphes courts.</a:t>
            </a:r>
          </a:p>
          <a:p>
            <a:r>
              <a:rPr lang="fr-FR"/>
              <a:t>Ces règles beneficient a tous les lecteurs.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Slide de synthèse qui fait le lien entre les personas et les 4 principes WCAG.</a:t>
            </a:r>
          </a:p>
          <a:p>
            <a:r>
              <a:rPr lang="fr-FR"/>
              <a:t>Distribuer la fiche stagiaire (fiche-stagiaire-principes-wcag.pdf) à ce moment-là.</a:t>
            </a:r>
          </a:p>
          <a:p>
            <a:r>
              <a:rPr lang="fr-FR"/>
              <a:t>Dire : « Vous n'avez pas besoin de retenir tout WCAG.</a:t>
            </a:r>
          </a:p>
          <a:p>
            <a:r>
              <a:rPr lang="fr-FR"/>
              <a:t>Gardez les 4 questions sous la main.</a:t>
            </a:r>
          </a:p>
          <a:p>
            <a:r>
              <a:rPr lang="fr-FR"/>
              <a:t>À chaque anomalie Word ou web, demandez-vous : est-ce un problème pour percevoir, utiliser, comprendre ou être lu par les outils ?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le lien avec les personas vus juste avant : Amir = aveugle, Anais = malvoyante, Justine = sourde.</a:t>
            </a:r>
          </a:p>
          <a:p>
            <a:r>
              <a:rPr lang="fr-FR"/>
              <a:t>Ce tableau récapitule les solutions de manière structurée.</a:t>
            </a:r>
          </a:p>
          <a:p>
            <a:r>
              <a:rPr lang="fr-FR"/>
              <a:t>La plage braille et la loupe logicielle sont des technologies d'assistance qu'on peut montrer en photo ou en vidéo courte si le temps le permet.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le lien avec Agathe (motrice), Paul (dyslexie/TDAH) et Anatole (cognitif).</a:t>
            </a:r>
          </a:p>
          <a:p>
            <a:r>
              <a:rPr lang="fr-FR"/>
              <a:t>Pour le handicap mental et le TSA, insister sur le fait qu'il n'existe pas de technologie d'assistance spécifique : c'est le contenu et l'interface qui doivent s'adapter.</a:t>
            </a:r>
          </a:p>
          <a:p>
            <a:r>
              <a:rPr lang="fr-FR"/>
              <a:t>Le FALC et le langage clair sont les réponses principales.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 chiffres viennent du guide Accessibiliser sa communication.</a:t>
            </a:r>
          </a:p>
          <a:p>
            <a:r>
              <a:rPr lang="fr-FR"/>
              <a:t>Ne pas transformer cette slide en cours théorique sur le validisme.</a:t>
            </a:r>
          </a:p>
          <a:p>
            <a:r>
              <a:rPr lang="fr-FR"/>
              <a:t>Objectif : faire comprendre que l'accessibilité de la communication répond à des situations nombreuses, souvent invisibles, et qu'une bonne intention ne garantit pas l'accès effectif.</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schéma illustre le modèle social du handicap, opposé au modèle médical.</a:t>
            </a:r>
          </a:p>
          <a:p>
            <a:r>
              <a:rPr lang="fr-FR"/>
              <a:t>La personne en fauteuil n'est pas en situation de handicap devant un bureau adapté, mais le devient face à un escalier.</a:t>
            </a:r>
          </a:p>
          <a:p>
            <a:r>
              <a:rPr lang="fr-FR"/>
              <a:t>Transposer au numérique : un PDF non structuré = un escalier pour un lecteur d'écran.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les stagiaires découvrir le tableau.</a:t>
            </a:r>
          </a:p>
          <a:p>
            <a:r>
              <a:rPr lang="fr-FR"/>
              <a:t>Demander : dans quelle colonne vous êtes-vous déjà retrouvés ?</a:t>
            </a:r>
          </a:p>
          <a:p>
            <a:r>
              <a:rPr lang="fr-FR"/>
              <a:t>Tout le monde a déjà été en situation de handicap temporaire ou situationnel.</a:t>
            </a:r>
          </a:p>
          <a:p>
            <a:r>
              <a:rPr lang="fr-FR"/>
              <a:t>C'est là que le déclic se produit : l'accessibilité concerne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Transition vers le cadre juridique.</a:t>
            </a:r>
          </a:p>
          <a:p>
            <a:r>
              <a:rPr lang="fr-FR"/>
              <a:t>Rappeler que l'accessibilité n'est pas seulement une bonne pratique, c'est une obligation légale avec des sanctions.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Chronologie en 4 étapes : montrer la progression du droit.</a:t>
            </a:r>
          </a:p>
          <a:p>
            <a:r>
              <a:rPr lang="fr-FR"/>
              <a:t>Le RGAA 4.1.2 = 106 critères regroupés en 13 thèmes.</a:t>
            </a:r>
          </a:p>
          <a:p>
            <a:r>
              <a:rPr lang="fr-FR"/>
              <a:t>Depuis 2023, l'Arcom est l'autorité de contrôle de l'article 47.</a:t>
            </a:r>
          </a:p>
          <a:p>
            <a:r>
              <a:rPr lang="fr-FR"/>
              <a:t>La DINUM édite le RGAA et accompagne les administrations.</a:t>
            </a:r>
          </a:p>
          <a:p>
            <a:r>
              <a:rPr lang="fr-FR"/>
              <a:t>La sanction peut atteindre 50 000 EUR pour le non-respect de l'obligation d'accessibilité par les organismes publics et assimilés, et 25 000 EUR pour le non-respect des obligations déclaratives.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directive 2016/2102 est déjà transposée et applicable.</a:t>
            </a:r>
          </a:p>
          <a:p>
            <a:r>
              <a:rPr lang="fr-FR"/>
              <a:t>L'EAA (2019/882) étend l'obligation au secteur privé depuis juin 2025.</a:t>
            </a:r>
          </a:p>
          <a:p>
            <a:r>
              <a:rPr lang="fr-FR"/>
              <a:t>Pointer que le mouvement est européen, pas seulement français : les obligations vont continuer à se renforcer.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détailler chaque thème : les participants les retrouveront dans les modules suivants.</a:t>
            </a:r>
          </a:p>
          <a:p>
            <a:r>
              <a:rPr lang="fr-FR"/>
              <a:t>Insister sur le SPAN : c'est le document stratégique que chaque organisme public doit publier.</a:t>
            </a:r>
          </a:p>
          <a:p>
            <a:r>
              <a:rPr lang="fr-FR"/>
              <a:t>Environ 25 % des tests RGAA sont automatisables, le reste nécessite un audit humain.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Trois taux de conformité :</a:t>
            </a:r>
          </a:p>
          <a:p>
            <a:r>
              <a:rPr lang="fr-FR"/>
              <a:t>- Non conforme : site non audité ou niveau inférieur à 50 %</a:t>
            </a:r>
          </a:p>
          <a:p>
            <a:r>
              <a:rPr lang="fr-FR"/>
              <a:t>- Partiellement conforme : de 50 % a 99 %</a:t>
            </a:r>
          </a:p>
          <a:p>
            <a:r>
              <a:rPr lang="fr-FR"/>
              <a:t>- Totalement conforme : 100 % des critères validés</a:t>
            </a:r>
          </a:p>
          <a:p/>
          <a:p>
            <a:r>
              <a:rPr lang="fr-FR"/>
              <a:t>Exemptions :</a:t>
            </a:r>
          </a:p>
          <a:p>
            <a:r>
              <a:rPr lang="fr-FR"/>
              <a:t>- Fichiers bureautiques publiés avant le 23 septembre 2018</a:t>
            </a:r>
          </a:p>
          <a:p>
            <a:r>
              <a:rPr lang="fr-FR"/>
              <a:t>- Contenus intranets/extranets publiés avant le 23 septembre 2019</a:t>
            </a:r>
          </a:p>
          <a:p>
            <a:r>
              <a:rPr lang="fr-FR"/>
              <a:t>- Contenus audios/vidéos publiés avant le 23 septembre 2020</a:t>
            </a:r>
          </a:p>
          <a:p>
            <a:r>
              <a:rPr lang="fr-FR"/>
              <a:t>- Contenus vidéos, tiers, cartes peuvent aussi être exemptés</a:t>
            </a:r>
          </a:p>
          <a:p/>
          <a:p>
            <a:r>
              <a:rPr lang="fr-FR"/>
              <a:t>Exemples de critères :</a:t>
            </a:r>
          </a:p>
          <a:p>
            <a:r>
              <a:rPr lang="fr-FR"/>
              <a:t>1.</a:t>
            </a:r>
          </a:p>
          <a:p>
            <a:r>
              <a:rPr lang="fr-FR"/>
              <a:t>Les images porteuses d'informations doivent avoir un texte alternatif.</a:t>
            </a:r>
          </a:p>
          <a:p>
            <a:r>
              <a:rPr lang="fr-FR"/>
              <a:t>Les images décoratives ne doivent pas en avoir.</a:t>
            </a:r>
            <a:br/>
            <a:r>
              <a:rPr lang="fr-FR"/>
              <a:t>2.</a:t>
            </a:r>
          </a:p>
          <a:p>
            <a:r>
              <a:rPr lang="fr-FR"/>
              <a:t>Les médias avec du son doivent avoir une alternative (sous-titrage, LSF) et les vidéos une audiodescription.</a:t>
            </a:r>
            <a:br/>
            <a:r>
              <a:rPr lang="fr-FR"/>
              <a:t>3.</a:t>
            </a:r>
          </a:p>
          <a:p>
            <a:r>
              <a:rPr lang="fr-FR"/>
              <a:t>Plusieurs systèmes de navigation doivent être disponibles (menu, plan du site, recherche).</a:t>
            </a:r>
          </a:p>
          <a:p>
            <a:r>
              <a:rPr lang="fr-FR"/>
              <a:t>Les éléments-clés sont toujours au même endroit.</a:t>
            </a:r>
          </a:p>
          <a:p>
            <a:r>
              <a:rPr lang="fr-FR"/>
              <a:t>Ref : https://accessibilite.numerique.gouv.fr/</a:t>
            </a:r>
            <a:br/>
            <a:r>
              <a:rPr lang="fr-FR"/>
              <a:t>Critères : https://accessibilite.numerique.gouv.fr/methode/criteres-et-tests/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Activité individuelle 10 min + débrief collectif 5 min.</a:t>
            </a:r>
          </a:p>
          <a:p>
            <a:r>
              <a:rPr lang="fr-FR"/>
              <a:t>Faire ressortir : la plupart des structures publiques sont soumises au RGAA ; les communicants produisent des contenus concernés (PDF, vidéos, réseaux sociaux).</a:t>
            </a:r>
          </a:p>
          <a:p>
            <a:r>
              <a:rPr lang="fr-FR"/>
              <a:t>Fallback si pas de réseau : distribuer le PDF de l'arbre de décision Idéance (dans _source/références/).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5 minutes : chaque stagiaire cherche la déclaration de son propre site.</a:t>
            </a:r>
          </a:p>
          <a:p>
            <a:r>
              <a:rPr lang="fr-FR"/>
              <a:t>Si introuvable : c'est déjà une non-conformité à signaler.</a:t>
            </a:r>
          </a:p>
          <a:p>
            <a:r>
              <a:rPr lang="fr-FR"/>
              <a:t>La voie de recours = Défenseur des droits si absence de réponse en 2 mois.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Rappel : environ 25 % des tests RGAA sont automatisables, le reste nécessite un audit humain.</a:t>
            </a:r>
          </a:p>
          <a:p>
            <a:r>
              <a:rPr lang="fr-FR"/>
              <a:t>Attention : 100 % conforme ne veut pas forcément dire accessible - le RGAA ne couvre pas tous les usages.</a:t>
            </a:r>
          </a:p>
          <a:p>
            <a:r>
              <a:rPr lang="fr-FR"/>
              <a:t>Le RAN est le référent accessibilité numérique, interlocuteur interne pour piloter la démarche.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Au-delà du cadre légal, pourquoi s'investir ?</a:t>
            </a:r>
          </a:p>
          <a:p>
            <a:r>
              <a:rPr lang="fr-FR"/>
              <a:t>Cette section passe du devoir à la conviction : droit fondamental, charte de l'État, bénéfice pour tous.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tableau gagnant-gagnant est tire de la Charte d'accessibilité de la communication de l'État (SIG, mars 2021).</a:t>
            </a:r>
          </a:p>
          <a:p>
            <a:r>
              <a:rPr lang="fr-FR"/>
              <a:t>Cote gauche : ce que vit la personne face a un contenu inaccessible.</a:t>
            </a:r>
          </a:p>
          <a:p>
            <a:r>
              <a:rPr lang="fr-FR"/>
              <a:t>Cote droit : ce qu'une communication accessible lui apporte.</a:t>
            </a:r>
          </a:p>
          <a:p>
            <a:r>
              <a:rPr lang="fr-FR"/>
              <a:t>Pour le communicant, une communication accessible est une communication qui atteint son objectif.</a:t>
            </a:r>
          </a:p>
          <a:p>
            <a:r>
              <a:rPr lang="fr-FR"/>
              <a:t>Montrer la couverture de la charte : c'est un document officiel du Premier Ministre.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sert de cadrage.</a:t>
            </a:r>
          </a:p>
          <a:p>
            <a:r>
              <a:rPr lang="fr-FR"/>
              <a:t>Le guide source est une introduction utile, pas un référentiel complet ni un substitut à une formation.</a:t>
            </a:r>
          </a:p>
          <a:p>
            <a:r>
              <a:rPr lang="fr-FR"/>
              <a:t>Faire reformuler par le groupe : accessibiliser une communication, ce n'est pas seulement corriger un site web, c'est penser le support final et l'usage réel.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question du module : passer à l'action.</a:t>
            </a:r>
          </a:p>
          <a:p>
            <a:r>
              <a:rPr lang="fr-FR"/>
              <a:t>Les slides suivantes donnent les premiers outils concrets avant d'entrer dans les modules pratiques (Word, web, réseaux sociaux).</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rapidement où trouver ces réglages : Windows &gt; Paramètres &gt; Accessibilité / macOS &gt; Préférences Système &gt; Accessibilité.</a:t>
            </a:r>
          </a:p>
          <a:p>
            <a:r>
              <a:rPr lang="fr-FR"/>
              <a:t>Word et PowerPoint proposent un vérificateur d'accessibilité intégré (onglet Révision).</a:t>
            </a:r>
          </a:p>
          <a:p>
            <a:r>
              <a:rPr lang="fr-FR"/>
              <a:t>On le verra en détail dans le module 2.</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annonce les réflexes qui seront travaillés ensuite dans Word, le web et les réseaux sociaux.</a:t>
            </a:r>
          </a:p>
          <a:p>
            <a:r>
              <a:rPr lang="fr-FR"/>
              <a:t>Ne pas entrer trop tôt dans les détails techniques : elle doit installer un filtre de lecture commun.</a:t>
            </a:r>
          </a:p>
          <a:p>
            <a:r>
              <a:rPr lang="fr-FR"/>
              <a:t>Pour les QR codes, rappeler la règle demandée : toujours ajouter le lien visible à côté et la mention Scannez-moi !</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FALC est un cadre formel européen, le langage clair est une démarche applicable à tout contenu.</a:t>
            </a:r>
          </a:p>
          <a:p>
            <a:r>
              <a:rPr lang="fr-FR"/>
              <a:t>Les deux se complètent.</a:t>
            </a:r>
          </a:p>
          <a:p>
            <a:r>
              <a:rPr lang="fr-FR"/>
              <a:t>Ne pas confondre FALC et écriture simplifiée : le FALC suit des règles précises et implique une validation par des lecteurs en situation de handicap cognitif.</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Rassurer les stagiaires : ils ne partent pas de zéro.</a:t>
            </a:r>
          </a:p>
          <a:p>
            <a:r>
              <a:rPr lang="fr-FR"/>
              <a:t>La sensibilisation d'aujourd'hui est la première étape.</a:t>
            </a:r>
          </a:p>
          <a:p>
            <a:r>
              <a:rPr lang="fr-FR"/>
              <a:t>Mentor est un parcours en ligne gratuit.</a:t>
            </a:r>
          </a:p>
          <a:p>
            <a:r>
              <a:rPr lang="fr-FR"/>
              <a:t>La formation IGPDE 102846 est le prolongement de cette journée.</a:t>
            </a:r>
          </a:p>
          <a:p>
            <a:r>
              <a:rPr lang="fr-FR"/>
              <a:t>La DINUM propose des formats plus techniques pour ceux qui veulent aller plus loin.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Insister sur le fait que le FALC n'est pas juste 'ecrire simple'.</a:t>
            </a:r>
          </a:p>
          <a:p>
            <a:r>
              <a:rPr lang="fr-FR"/>
              <a:t>C'est un processus formalise avec une validation obligatoire par des personnes concernées. 'Rien pour nous sans nous' est le principe fondamental.</a:t>
            </a:r>
          </a:p>
          <a:p>
            <a:r>
              <a:rPr lang="fr-FR"/>
              <a:t>Le logo FALC ne peut pas être appose sans cette validation.</a:t>
            </a:r>
          </a:p>
          <a:p>
            <a:r>
              <a:rPr lang="fr-FR"/>
              <a:t>En pratique, contacter des associations comme l'Unapei ou des ESAT pour trouver des relecteurs.</a:t>
            </a:r>
          </a:p>
          <a:p>
            <a:r>
              <a:rPr lang="fr-FR"/>
              <a:t>Le guide Unapei 'L'information pour tous' est téléchargeable gratuitement.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les deux documents si possible.</a:t>
            </a:r>
          </a:p>
          <a:p>
            <a:r>
              <a:rPr lang="fr-FR"/>
              <a:t>Le rapport de la DIA est un bon exemple car il vient d'une institution publique et montre que le FALC n'est pas reserve aux associations.</a:t>
            </a:r>
          </a:p>
          <a:p>
            <a:r>
              <a:rPr lang="fr-FR"/>
              <a:t>Le PDF accessible et la version FALC sont complementaires : le premier est le document officiel rendu navigable, le second est une version simplifiee pour un public plus large.</a:t>
            </a:r>
          </a:p>
          <a:p>
            <a:r>
              <a:rPr lang="fr-FR"/>
              <a:t>PDF accessible : https://handicap.gouv.fr/sites/handicap/files/2025-03/delegation-interministerielle-accessibilite-rapport-activite-2024.pdf</a:t>
            </a:r>
            <a:br/>
            <a:r>
              <a:rPr lang="fr-FR"/>
              <a:t>Version FALC : https://handicap.gouv.fr/sites/handicap/files/2025-03/delegation-interministerielle-accessibilite-synthese-FLAC-rapport-activite-2024.pdf</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L'escalier avec rampe intégrée est un exemple emblématique du design universel.</a:t>
            </a:r>
          </a:p>
          <a:p>
            <a:r>
              <a:rPr lang="fr-FR"/>
              <a:t>Faire le parallèle avec la communication : un document structuré dès le départ (titres, alt text, contraste) est accessible sans effort supplémentaire.</a:t>
            </a:r>
          </a:p>
          <a:p>
            <a:r>
              <a:rPr lang="fr-FR"/>
              <a:t>Le bandeau #accessibleatous rappelle que les bénéficiaires dépassent largement le public handicapé.</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Annoncer un TP guidé de 90 minutes organisé en 5 stations.</a:t>
            </a:r>
          </a:p>
          <a:p>
            <a:r>
              <a:rPr lang="fr-FR"/>
              <a:t>La théorie, la manipulation et la preuve avancent ensemble dans le document de Sami.</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la citation à voix haute, lentement, avec des pauses.</a:t>
            </a:r>
          </a:p>
          <a:p>
            <a:r>
              <a:rPr lang="fr-FR"/>
              <a:t>Ne pas commenter.</a:t>
            </a:r>
          </a:p>
          <a:p>
            <a:r>
              <a:rPr lang="fr-FR"/>
              <a:t>Laisser le silence s'installer 5 secondes.</a:t>
            </a:r>
          </a:p>
          <a:p>
            <a:r>
              <a:rPr lang="fr-FR"/>
              <a:t>Demander : est-ce que vous avez déjà reçu un document ou un email illisible ?</a:t>
            </a:r>
          </a:p>
          <a:p>
            <a:r>
              <a:rPr lang="fr-FR"/>
              <a:t>Cette personne vivait ça tous les jours.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30 secondes pour que chacun vote.</a:t>
            </a:r>
          </a:p>
          <a:p>
            <a:r>
              <a:rPr lang="fr-FR"/>
              <a:t>Demander à main levée.</a:t>
            </a:r>
          </a:p>
          <a:p>
            <a:r>
              <a:rPr lang="fr-FR"/>
              <a:t>Ne pas donner la réponse maintenant - la curiosité crée l'attention.</a:t>
            </a:r>
          </a:p>
          <a:p>
            <a:r>
              <a:rPr lang="fr-FR"/>
              <a:t>Zeigarnik : la boucle ouverte maintient l'engagement.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Donner la réponse : le document B.</a:t>
            </a:r>
          </a:p>
          <a:p>
            <a:r>
              <a:rPr lang="fr-FR"/>
              <a:t>Expliquer que les deux documents peuvent être identiques à l'écran, mais que NVDA dépend des styles de titres, des textes alternatifs et d'un nom de fichier explicite.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formuler le message : l'accessibilité ne se voit pas, elle se manipule et se vérifie.</a:t>
            </a:r>
          </a:p>
          <a:p>
            <a:r>
              <a:rPr lang="fr-FR"/>
              <a:t>Revenir sur les propriétés qui distinguent les deux documents. 15 % = moyenne nationale Source : OMS 2024.</a:t>
            </a:r>
          </a:p>
          <a:p>
            <a:r>
              <a:rPr lang="fr-FR"/>
              <a:t>Le chiffre 0 ligne de code est le déclencheur de confiance : tout le monde peut le faire.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Préambule limité à 5 minutes, quiz compris.</a:t>
            </a:r>
          </a:p>
          <a:p>
            <a:r>
              <a:rPr lang="fr-FR"/>
              <a:t>Distribuer la checklist et les cartes WCAG, puis proposer le DOCX avec pistes comme point de départ conseillé.</a:t>
            </a:r>
          </a:p>
          <a:p>
            <a:r>
              <a:rPr lang="fr-FR"/>
              <a:t>Le DOCX inaccessible constitue la variante autonome.</a:t>
            </a:r>
          </a:p>
          <a:p>
            <a:r>
              <a:rPr lang="fr-FR"/>
              <a:t>Ne pas révéler le corrigé avant la remise finale.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17 minutes, synthèse comprise.</a:t>
            </a:r>
          </a:p>
          <a:p>
            <a:r>
              <a:rPr lang="fr-FR"/>
              <a:t>Contrôles travaillés sur cette slide : P-01, P-02, P-03, P-04, P-05.</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distinguer le rôle du texte de son apparence avant d'ouvrir le ruban.</a:t>
            </a:r>
          </a:p>
          <a:p>
            <a:r>
              <a:rPr lang="fr-FR"/>
              <a:t>Question de synthèse : Comment prouver que le document est réellement navigable ?</a:t>
            </a:r>
          </a:p>
          <a:p>
            <a:r>
              <a:rPr lang="fr-FR"/>
              <a:t>Preuves attendues : P-01 : Styles vérifiables dans le DOCX et structure lisible dans le volet de navigation. ; P-02 : Ordre des niveaux contrôlé dans le XML et confirmé dans le volet de navigation. ; P-03 : Navigation cohérente et sommaire actualisable après modification d'un titre. ; P-04 : Structure de liste présente dans le DOCX et annoncée comme liste. ; P-05 : Absence des artifices ciblés dans le XML et contrôle visuel avec marques affichées.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17 minutes, synthèse comprise.</a:t>
            </a:r>
          </a:p>
          <a:p>
            <a:r>
              <a:rPr lang="fr-FR"/>
              <a:t>Contrôles travaillés sur cette slide : P-01, P-02, P-03.</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ouvrir le volet avant de corriger les styles et rappeler que le sommaire en découle.</a:t>
            </a:r>
          </a:p>
          <a:p>
            <a:r>
              <a:rPr lang="fr-FR"/>
              <a:t>Question de synthèse : Le volet et le sommaire racontent-ils le même plan ?</a:t>
            </a:r>
          </a:p>
          <a:p>
            <a:r>
              <a:rPr lang="fr-FR"/>
              <a:t>Preuves attendues : P-01 : Styles vérifiables dans le DOCX et structure lisible dans le volet de navigation. ; P-02 : Ordre des niveaux contrôlé dans le XML et confirmé dans le volet de navigation. ; P-03 : Navigation cohérente et sommaire actualisable après modification d'un titre.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17 minutes, synthèse comprise.</a:t>
            </a:r>
          </a:p>
          <a:p>
            <a:r>
              <a:rPr lang="fr-FR"/>
              <a:t>Contrôles travaillés sur cette slide : P-04, P-05.</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activer les marques avant toute correction et traiter les artifices dans leur ordre d'apparition.</a:t>
            </a:r>
          </a:p>
          <a:p>
            <a:r>
              <a:rPr lang="fr-FR"/>
              <a:t>Question de synthèse : Les listes sont-elles annoncées comme telles et la mise en page résiste-t-elle aux marques affichées ?</a:t>
            </a:r>
          </a:p>
          <a:p>
            <a:r>
              <a:rPr lang="fr-FR"/>
              <a:t>Preuves attendues : P-04 : Structure de liste présente dans le DOCX et annoncée comme liste. ; P-05 : Absence des artifices ciblés dans le XML et contrôle visuel avec marques affichées.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15 minutes, synthèse comprise.</a:t>
            </a:r>
          </a:p>
          <a:p>
            <a:r>
              <a:rPr lang="fr-FR"/>
              <a:t>Contrôles travaillés sur cette slide : P-06, P-07, P-08, P-09, P-10, P-11.</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identifier la fonction de chaque contenu avant d'ouvrir le volet du texte alternatif.</a:t>
            </a:r>
          </a:p>
          <a:p>
            <a:r>
              <a:rPr lang="fr-FR"/>
              <a:t>Question de synthèse : L'information reste-t-elle compréhensible si l'image ou le contexte disparaît ?</a:t>
            </a:r>
          </a:p>
          <a:p>
            <a:r>
              <a:rPr lang="fr-FR"/>
              <a:t>Preuves attendues : P-06 : Alternative présente dans le DOCX et jugée pertinente par lecture humaine. ; P-07 : Équivalence d'information vérifiée sans consulter l'image. ; P-08 : Marqueur décoratif ou équivalent vérifié et absence de perte d'information confirmée. ; P-09 : Texte sélectionnable présent dans le DOCX et image de texte absente. ; P-10 : Destination inchangée, libellé explicite et identification visuelle vérifiées. ; P-11 : Statut compréhensible dans le texte linéarisé sans en-tête ni arrière-plan.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15 minutes, synthèse comprise.</a:t>
            </a:r>
          </a:p>
          <a:p>
            <a:r>
              <a:rPr lang="fr-FR"/>
              <a:t>Contrôles travaillés sur cette slide : P-06, P-07, P-08.</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verbaliser l'information utile avant de rédiger ou de supprimer une alternative.</a:t>
            </a:r>
          </a:p>
          <a:p>
            <a:r>
              <a:rPr lang="fr-FR"/>
              <a:t>Question de synthèse : Que perd-on si l'image est masquée ?</a:t>
            </a:r>
          </a:p>
          <a:p>
            <a:r>
              <a:rPr lang="fr-FR"/>
              <a:t>Preuves attendues : P-06 : Alternative présente dans le DOCX et jugée pertinente par lecture humaine. ; P-07 : Équivalence d'information vérifiée sans consulter l'image. ; P-08 : Marqueur décoratif ou équivalent vérifié et absence de perte d'information confirmée.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15 minutes, synthèse comprise.</a:t>
            </a:r>
          </a:p>
          <a:p>
            <a:r>
              <a:rPr lang="fr-FR"/>
              <a:t>Contrôles travaillés sur cette slide : P-09, P-10.</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tester la sélection du texte puis lire uniquement le libellé du lien.</a:t>
            </a:r>
          </a:p>
          <a:p>
            <a:r>
              <a:rPr lang="fr-FR"/>
              <a:t>Question de synthèse : Le texte peut-il être sélectionné et le lien compris tout seul ?</a:t>
            </a:r>
          </a:p>
          <a:p>
            <a:r>
              <a:rPr lang="fr-FR"/>
              <a:t>Preuves attendues : P-09 : Texte sélectionnable présent dans le DOCX et image de texte absente. ; P-10 : Destination inchangée, libellé explicite et identification visuelle vérifiées.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15 minutes, synthèse comprise.</a:t>
            </a:r>
          </a:p>
          <a:p>
            <a:r>
              <a:rPr lang="fr-FR"/>
              <a:t>Contrôles travaillés sur cette slide : P-11.</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masquer mentalement l'en-tête et l'arrière-plan, sans recréer de filigrane dans l'exercice.</a:t>
            </a:r>
          </a:p>
          <a:p>
            <a:r>
              <a:rPr lang="fr-FR"/>
              <a:t>Question de synthèse : Le statut reste-t-il compréhensible quand on lit uniquement le corps ?</a:t>
            </a:r>
          </a:p>
          <a:p>
            <a:r>
              <a:rPr lang="fr-FR"/>
              <a:t>Preuves attendues : P-11 : Statut compréhensible dans le texte linéarisé sans en-tête ni arrière-plan.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15 minutes, synthèse comprise.</a:t>
            </a:r>
          </a:p>
          <a:p>
            <a:r>
              <a:rPr lang="fr-FR"/>
              <a:t>Contrôles travaillés sur cette slide : P-12, P-13, P-14.</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choisir le seuil avant la mesure et rappeler que le graphique se reconstruit directement dans Word.</a:t>
            </a:r>
          </a:p>
          <a:p>
            <a:r>
              <a:rPr lang="fr-FR"/>
              <a:t>Question de synthèse : Quelle preuve distingue une impression visuelle d'un contrôle vérifiable ?</a:t>
            </a:r>
          </a:p>
          <a:p>
            <a:r>
              <a:rPr lang="fr-FR"/>
              <a:t>Preuves attendues : P-12 : Ratio calculé conservé et couleurs finales vérifiées dans le document. ; P-13 : Séries et conclusions identifiables en niveaux de gris et dans l'équivalent textuel. ; P-14 : XML sans fusion ni imbrication et relations de cellules vérifiées à la lecture.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15 minutes, synthèse comprise.</a:t>
            </a:r>
          </a:p>
          <a:p>
            <a:r>
              <a:rPr lang="fr-FR"/>
              <a:t>Contrôles travaillés sur cette slide : P-12.</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relever les couleurs, choisir le seuil, puis seulement lancer l'outil de mesure.</a:t>
            </a:r>
          </a:p>
          <a:p>
            <a:r>
              <a:rPr lang="fr-FR"/>
              <a:t>Question de synthèse : Quel seuil s'applique avant même de lire le résultat ?</a:t>
            </a:r>
          </a:p>
          <a:p>
            <a:r>
              <a:rPr lang="fr-FR"/>
              <a:t>Preuves attendues : P-12 : Ratio calculé conservé et couleurs finales vérifiées dans le document.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15 minutes, synthèse comprise.</a:t>
            </a:r>
          </a:p>
          <a:p>
            <a:r>
              <a:rPr lang="fr-FR"/>
              <a:t>Contrôles travaillés sur cette slide : P-13.</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reconstruire le graphique dans Word à partir des valeurs, puis ajouter étiquettes et motifs.</a:t>
            </a:r>
          </a:p>
          <a:p>
            <a:r>
              <a:rPr lang="fr-FR"/>
              <a:t>Question de synthèse : Les séries restent-elles identifiables en niveaux de gris ?</a:t>
            </a:r>
          </a:p>
          <a:p>
            <a:r>
              <a:rPr lang="fr-FR"/>
              <a:t>Preuves attendues : P-13 : Séries et conclusions identifiables en niveaux de gris et dans l'équivalent textuel.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15 minutes, synthèse comprise.</a:t>
            </a:r>
          </a:p>
          <a:p>
            <a:r>
              <a:rPr lang="fr-FR"/>
              <a:t>Contrôles travaillés sur cette slide : P-14.</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distinguer tableau de données et mise en page avant d'ouvrir les propriétés du tableau.</a:t>
            </a:r>
          </a:p>
          <a:p>
            <a:r>
              <a:rPr lang="fr-FR"/>
              <a:t>Question de synthèse : Chaque cellule appartient-elle à une grille de données simple ?</a:t>
            </a:r>
          </a:p>
          <a:p>
            <a:r>
              <a:rPr lang="fr-FR"/>
              <a:t>Preuves attendues : P-14 : XML sans fusion ni imbrication et relations de cellules vérifiées à la lecture.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15 minutes, synthèse comprise.</a:t>
            </a:r>
          </a:p>
          <a:p>
            <a:r>
              <a:rPr lang="fr-FR"/>
              <a:t>Contrôles travaillés sur cette slide : P-15, P-16, P-17, P-18.</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corriger le style source et la langue du passage plutôt que les paragraphes un par un.</a:t>
            </a:r>
          </a:p>
          <a:p>
            <a:r>
              <a:rPr lang="fr-FR"/>
              <a:t>Question de synthèse : Le réglage est-il porté par les propriétés et les styles, ou seulement par l'apparence ?</a:t>
            </a:r>
          </a:p>
          <a:p>
            <a:r>
              <a:rPr lang="fr-FR"/>
              <a:t>Preuves attendues : P-15 : Propriétés et XML de langue cohérents ; P-16 : Propriétés typographiques contrôlées dans le DOCX et lisibilité relue. ; P-17 : Texte XML accentué et contrôle visuel de la casse. ; P-18 : Première occurrence compréhensible et faute témoin en majuscules détectée.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15 minutes, synthèse comprise.</a:t>
            </a:r>
          </a:p>
          <a:p>
            <a:r>
              <a:rPr lang="fr-FR"/>
              <a:t>Contrôles travaillés sur cette slide : P-15, P-16.</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distinguer la langue principale de celle du passage, puis modifier le style plutôt que chaque paragraphe.</a:t>
            </a:r>
          </a:p>
          <a:p>
            <a:r>
              <a:rPr lang="fr-FR"/>
              <a:t>Question de synthèse : Une correction du style Normal améliore-t-elle tout le corps ?</a:t>
            </a:r>
          </a:p>
          <a:p>
            <a:r>
              <a:rPr lang="fr-FR"/>
              <a:t>Preuves attendues : P-15 : Propriétés et XML de langue cohérents ; P-16 : Propriétés typographiques contrôlées dans le DOCX et lisibilité relue.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15 minutes, synthèse comprise.</a:t>
            </a:r>
          </a:p>
          <a:p>
            <a:r>
              <a:rPr lang="fr-FR"/>
              <a:t>Contrôles travaillés sur cette slide : P-17, P-18.</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restaurer la saisie normale avant d'appliquer la casse, puis rechercher la première occurrence du sigle.</a:t>
            </a:r>
          </a:p>
          <a:p>
            <a:r>
              <a:rPr lang="fr-FR"/>
              <a:t>Question de synthèse : Le texte reste-t-il correctement écrit sous son apparence visuelle ?</a:t>
            </a:r>
          </a:p>
          <a:p>
            <a:r>
              <a:rPr lang="fr-FR"/>
              <a:t>Preuves attendues : P-17 : Texte XML accentué et contrôle visuel de la casse. ; P-18 : Première occurrence compréhensible et faute témoin en majuscules détectée.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18 minutes, synthèse comprise.</a:t>
            </a:r>
          </a:p>
          <a:p>
            <a:r>
              <a:rPr lang="fr-FR"/>
              <a:t>Contrôles travaillés sur cette slide : P-19, P-20, C-01, C-02.</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distinguer propriété, vérification Word, export PDF et contrôle post-export.</a:t>
            </a:r>
          </a:p>
          <a:p>
            <a:r>
              <a:rPr lang="fr-FR"/>
              <a:t>Question de synthèse : Qu'est-ce que l'outil automatique ne peut pas décider à votre place ?</a:t>
            </a:r>
          </a:p>
          <a:p>
            <a:r>
              <a:rPr lang="fr-FR"/>
              <a:t>Preuves attendues : P-19 : Métadonnées inspectées dans le DOCX et nom de sortie relu. ; P-20 : Propriétés et structure inspectées dans le PDF ; C-01 : Relevé du vérificateur conservé et alertes résiduelles justifiées. ; C-02 : Rapport PAC ou Acrobat conservé</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18 minutes, synthèse comprise.</a:t>
            </a:r>
          </a:p>
          <a:p>
            <a:r>
              <a:rPr lang="fr-FR"/>
              <a:t>Contrôles travaillés sur cette slide : P-19, C-01.</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renseigner les propriétés avant l'analyse, puis discuter chaque alerte au lieu de viser un écran vert à tout prix.</a:t>
            </a:r>
          </a:p>
          <a:p>
            <a:r>
              <a:rPr lang="fr-FR"/>
              <a:t>Question de synthèse : Une absence d'erreur suffit-elle à prouver l'accessibilité ?</a:t>
            </a:r>
          </a:p>
          <a:p>
            <a:r>
              <a:rPr lang="fr-FR"/>
              <a:t>Preuves attendues : P-19 : Métadonnées inspectées dans le DOCX et nom de sortie relu. ; C-01 : Relevé du vérificateur conservé et alertes résiduelles justifiées.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Minutage de la station : 18 minutes, synthèse comprise.</a:t>
            </a:r>
          </a:p>
          <a:p>
            <a:r>
              <a:rPr lang="fr-FR"/>
              <a:t>Contrôles travaillés sur cette slide : P-20, C-02.</a:t>
            </a:r>
          </a:p>
          <a:p>
            <a:r>
              <a:rPr lang="fr-FR"/>
              <a:t>Parcours guidé : partir du DOCX avec pistes, reformuler le problème et laisser le binôme réaliser la correction.</a:t>
            </a:r>
          </a:p>
          <a:p>
            <a:r>
              <a:rPr lang="fr-FR"/>
              <a:t>Variante autonome : partir du DOCX inaccessible et n'ouvrir les pistes qu'en cas de blocage.</a:t>
            </a:r>
          </a:p>
          <a:p>
            <a:r>
              <a:rPr lang="fr-FR"/>
              <a:t>Points d'aide possibles : Faire vérifier les options avant l'export, puis commenter le rapport PAC sans enseigner la remédiation avancée.</a:t>
            </a:r>
          </a:p>
          <a:p>
            <a:r>
              <a:rPr lang="fr-FR"/>
              <a:t>Question de synthèse : Le PDF conserve-t-il le titre, la langue, les balises, les signets et un ordre lisible ?</a:t>
            </a:r>
          </a:p>
          <a:p>
            <a:r>
              <a:rPr lang="fr-FR"/>
              <a:t>Preuves attendues : P-20 : Propriétés et structure inspectées dans le PDF ; C-02 : Rapport PAC ou Acrobat conservé</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relire les cases renseignées après les deux premières stations.</a:t>
            </a:r>
          </a:p>
          <a:p>
            <a:r>
              <a:rPr lang="fr-FR"/>
              <a:t>La formulation et l'ordre proviennent de la matrice et de la checklist distribuée.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relire les cases renseignées après les stations 3 et 4.</a:t>
            </a:r>
          </a:p>
          <a:p>
            <a:r>
              <a:rPr lang="fr-FR"/>
              <a:t>Demander quelle preuve a été conservée pour chaque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terminer la checklist humaine.</a:t>
            </a:r>
          </a:p>
          <a:p>
            <a:r>
              <a:rPr lang="fr-FR"/>
              <a:t>Les contrôles signalés restent importants, mais ne deviennent pas des manipulations obligatoires dans ce TP.</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synthèse dure 15 minutes, de 12 h à 12 h 15, hors des 90 minutes du TP.</a:t>
            </a:r>
          </a:p>
          <a:p>
            <a:r>
              <a:rPr lang="fr-FR"/>
              <a:t>Recueillir les questions, faire formuler un acquis transférable et annoncer la partie III consacrée aux points de contrôle rapides sur le Web.</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Annoncer les cinq thèmes qui structurent la partie III consacrée au Web.</a:t>
            </a:r>
          </a:p>
          <a:p>
            <a:r>
              <a:rPr lang="fr-FR"/>
              <a:t>Préciser que les points de contrôle rapides permettent de repérer les principaux signaux d’alerte avant un audit approfondi.</a:t>
            </a:r>
          </a:p>
          <a:p>
            <a:r>
              <a:rPr lang="fr-FR"/>
              <a:t>À la fin de la partie : mission d’audit groupé sur une page de votre choix.</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Source : The WebAIM Million, mise à jour 2026, https://webaim.org/projects/million/.</a:t>
            </a:r>
          </a:p>
          <a:p>
            <a:r>
              <a:rPr lang="fr-FR"/>
              <a:t>WebAIM a évalué les pages d’accueil des 1 000 000 de sites web les plus visités avec l’API WAVE autonome et des outils complémentaires de collecte technique.</a:t>
            </a:r>
          </a:p>
          <a:p>
            <a:r>
              <a:rPr lang="fr-FR"/>
              <a:t>Résultats publiés à partir de données de février 2026 et dernière mise à jour indiquée au 30 mars 2026.</a:t>
            </a:r>
          </a:p>
          <a:p>
            <a:r>
              <a:rPr lang="fr-FR"/>
              <a:t>Expliquer la limite méthodologique : WAVE détecte des erreurs probables et utiles à repérer, mais un résultat automatisé ne remplace pas un audit RGAA complet.</a:t>
            </a:r>
          </a:p>
          <a:p>
            <a:r>
              <a:rPr lang="fr-FR"/>
              <a:t>Message pédagogique : l’objectif n’est pas de faire peur, mais de rendre visible un problème massif et mesurable.</a:t>
            </a:r>
          </a:p>
          <a:p>
            <a:r>
              <a:rPr lang="fr-FR"/>
              <a:t>La slide suivante montre pourquoi les points de contrôle rapides sont un bon premier filtre.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Source : The WebAIM Million, mise à jour 2026, https://webaim.org/projects/million/.</a:t>
            </a:r>
          </a:p>
          <a:p>
            <a:r>
              <a:rPr lang="fr-FR"/>
              <a:t>Les pourcentages indiquent la part des pages d’accueil concernées par chaque type d’erreur.</a:t>
            </a:r>
          </a:p>
          <a:p>
            <a:r>
              <a:rPr lang="fr-FR"/>
              <a:t>Faire le lien avec le programme : les stagiaires vont maintenant apprendre à repérer ces familles par des gestes simples - contraste, images, titres, clavier, langue, formulaires.</a:t>
            </a:r>
          </a:p>
          <a:p>
            <a:r>
              <a:rPr lang="fr-FR"/>
              <a:t>Préciser que les liens et boutons vides ne sont pas un Point de contrôle rapide autonome dans ce module, mais qu’ils ressortent souvent via les tests images, clavier et formulaires.</a:t>
            </a:r>
          </a:p>
          <a:p>
            <a:r>
              <a:rPr lang="fr-FR"/>
              <a:t>Insister sur la logique de pré-diagnostic : on ne remplace pas l’audit RGAA, on sait mieux quoi remonter.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 « Cette carte de métro, quel type ? » (complexe).</a:t>
            </a:r>
          </a:p>
          <a:p>
            <a:r>
              <a:rPr lang="fr-FR"/>
              <a:t>Insister sur le décoratif - c’est le plus mal compris.</a:t>
            </a:r>
          </a:p>
          <a:p>
            <a:r>
              <a:rPr lang="fr-FR"/>
              <a:t>Un séparateur graphique avec alt="ligne bleue" pollue le lecteur d’écran.</a:t>
            </a:r>
          </a:p>
          <a:p>
            <a:r>
              <a:rPr lang="fr-FR"/>
              <a:t>Règle mnémo : si je retire l’image, est-ce que je perds une info ?</a:t>
            </a:r>
          </a:p>
          <a:p>
            <a:r>
              <a:rPr lang="fr-FR"/>
              <a:t>Si non → alt vide.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Prédiction avant de montrer les 5 règles : « Qu’est-ce qui rend un texte alternatif vraiment utile ? » La bonne réponse n’est pas une longueur magique : c’est le contexte.</a:t>
            </a:r>
          </a:p>
          <a:p>
            <a:r>
              <a:rPr lang="fr-FR"/>
              <a:t>Exemple live : une photo du ministère avec alt="photo du ministère de Bercy prise en 2023" → refactorer en "Ministère de Bercy, façade ouest." - même info, moitié de caractères.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Masquer la colonne verdict et demander à voter pour chaque ligne.</a:t>
            </a:r>
          </a:p>
          <a:p>
            <a:r>
              <a:rPr lang="fr-FR"/>
              <a:t>Débrief rapide après chaque cas : pourquoi KO ? que rédiger à la place ?</a:t>
            </a:r>
          </a:p>
          <a:p>
            <a:r>
              <a:rPr lang="fr-FR"/>
              <a:t>Ligne 5 (loupe) est le piège le plus commun : on décrit ce qu’on voit, pas ce que l’utilisateur fera en cliquant.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live : ouvrir 3 onglets de sites publics, demander lequel est identifiable juste à l’étiquette.</a:t>
            </a:r>
          </a:p>
          <a:p>
            <a:r>
              <a:rPr lang="fr-FR"/>
              <a:t>Piège des CMS : beaucoup héritent du titre du template - toutes les pages « Accueil ».</a:t>
            </a:r>
          </a:p>
          <a:p>
            <a:r>
              <a:rPr lang="fr-FR"/>
              <a:t>Outil : survoler l’onglet dans le navigateur ou regarder la balise &lt;title&gt;.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un document Word où tout le texte est en gras 18 pt n’a pas de plan.</a:t>
            </a:r>
          </a:p>
          <a:p>
            <a:r>
              <a:rPr lang="fr-FR"/>
              <a:t>Même principe sur le web.</a:t>
            </a:r>
          </a:p>
          <a:p>
            <a:r>
              <a:rPr lang="fr-FR"/>
              <a:t>Prédire : « Quel est le saut de hiérarchie le plus fréquent ? » (H2 → H4, parce que H3 « n’est pas assez joli »).</a:t>
            </a:r>
          </a:p>
          <a:p>
            <a:r>
              <a:rPr lang="fr-FR"/>
              <a:t>Outil : l’extension HeadingsMap pour Chrome / Firefox affiche l’arbre des titres en un clic.</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HeadingsMap sur legifrance.gouv.fr ou service-public.fr.</a:t>
            </a:r>
          </a:p>
          <a:p>
            <a:r>
              <a:rPr lang="fr-FR"/>
              <a:t>Engagement (R24) : chaque stagiaire teste sa page d’accueil personnelle ou professionnelle ce soir et note le nombre de H1 détectés - idéalement 1, souvent 0 ou 3.</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lire un SMS à 3 h du matin sur un écran en plein soleil - c’est ce que vit un malvoyant en permanence avec un contraste trop faible.</a:t>
            </a:r>
          </a:p>
          <a:p>
            <a:r>
              <a:rPr lang="fr-FR"/>
              <a:t>Rappeler : le contraste fait partie des défauts les plus fréquents dans les observations WebAIM Million.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live : prendre la page d’accueil de Bercy et mesurer 3 textes au hasard.</a:t>
            </a:r>
          </a:p>
          <a:p>
            <a:r>
              <a:rPr lang="fr-FR"/>
              <a:t>Laisser les stagiaires deviner avant la mesure.</a:t>
            </a:r>
          </a:p>
          <a:p>
            <a:r>
              <a:rPr lang="fr-FR"/>
              <a:t>Engagement (R24) : choisissez votre outil préféré d’ici la fin de la session et testez 5 couleurs de votre charte dans la semaine.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l’ascenseur dans un immeuble.</a:t>
            </a:r>
          </a:p>
          <a:p>
            <a:r>
              <a:rPr lang="fr-FR"/>
              <a:t>Sans ascenseur, chacun monte les 10 étages à pied - y compris les personnes qui ne peuvent pas.</a:t>
            </a:r>
          </a:p>
          <a:p>
            <a:r>
              <a:rPr lang="fr-FR"/>
              <a:t>Faire deviner : combien de tabulations sur la page de leur intranet pour arriver au contenu ?</a:t>
            </a:r>
          </a:p>
          <a:p>
            <a:r>
              <a:rPr lang="fr-FR"/>
              <a:t>Rappel : le lien d’évitement peut être masqué visuellement mais doit apparaître au focus clavier.</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Annoncer le rattachement : cette séquence correspond au point de contrôle rapide n° 6 du W3C, focus et navigation clavier : visibilité du focus, parcours, activation et absence de piège (tabulation, activation, lecture).</a:t>
            </a:r>
          </a:p>
          <a:p>
            <a:r>
              <a:rPr lang="fr-FR"/>
              <a:t>Corpus de référence local : 03-easy-checks/w3c-easy-checks-fr.md.</a:t>
            </a:r>
          </a:p>
          <a:p>
            <a:r>
              <a:rPr lang="fr-FR"/>
              <a:t>Ouvrir par une question : « Posez la main loin de la souris.</a:t>
            </a:r>
          </a:p>
          <a:p>
            <a:r>
              <a:rPr lang="fr-FR"/>
              <a:t>Combien de temps tenez-vous sur votre site préféré ? » Laisser 10 secondes de silence.</a:t>
            </a:r>
          </a:p>
          <a:p>
            <a:r>
              <a:rPr lang="fr-FR"/>
              <a:t>Analogie : le clavier est le GPS de votre site - s’il ne s’allume pas, personne ne trouve la route.</a:t>
            </a:r>
          </a:p>
          <a:p>
            <a:r>
              <a:rPr lang="fr-FR"/>
              <a:t>Objectif : transformer le regard des stagiaires.</a:t>
            </a:r>
          </a:p>
          <a:p>
            <a:r>
              <a:rPr lang="fr-FR"/>
              <a:t>Après cette slide, ils ne regarderont plus une page comme avant.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avant de révéler la 3e colonne (R11) : « Devinez ce qui doit se passer quand j’appuie sur Tab ».</a:t>
            </a:r>
          </a:p>
          <a:p>
            <a:r>
              <a:rPr lang="fr-FR"/>
              <a:t>Insister sur l’indicateur de focus visible - c’est LE critère qui tombe en premier.</a:t>
            </a:r>
          </a:p>
          <a:p>
            <a:r>
              <a:rPr lang="fr-FR"/>
              <a:t>Piège fréquent : un site qui n’annonce jamais l’état d’une case à cocher (ligne Espace).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Avant de révéler les 3 cartes, demander : « Quel est le signal qui vous semble le plus grave ? » Laisser parler 2 stagiaires.</a:t>
            </a:r>
          </a:p>
          <a:p>
            <a:r>
              <a:rPr lang="fr-FR"/>
              <a:t>Rappel rassurant (R18) : détecter un de ces signaux ne sert pas à désigner un coupable, mais à prouver qu’un test clavier doit entrer dans la routine de publication.</a:t>
            </a:r>
          </a:p>
          <a:p>
            <a:r>
              <a:rPr lang="fr-FR"/>
              <a:t>Faire ouvrir le site d’entraînement : https://alexandra-guiderdoni.github.io/tp-fabrication-igpde-102846-ay11/</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Distribuer l’URL du site d’entraînement (fabriqué en interne, avec pièges volontaires).</a:t>
            </a:r>
          </a:p>
          <a:p>
            <a:r>
              <a:rPr lang="fr-FR"/>
              <a:t>Chronométrer 5 minutes.</a:t>
            </a:r>
          </a:p>
          <a:p>
            <a:r>
              <a:rPr lang="fr-FR"/>
              <a:t>Débriefer en collectif : quel signal a été le plus difficile à repérer ? pourquoi ?</a:t>
            </a:r>
          </a:p>
          <a:p>
            <a:r>
              <a:rPr lang="fr-FR"/>
              <a:t>Clore le module avec la question métacognitive (R25) : « Qu’est-ce qui vous aurait aidé à repérer plus vite ? » Engagement : chaque stagiaire annonce ce qu’il testera dès demain sur son propre site.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activer VoiceOver ou NVDA sur une page sans lang et comparer la prononciation.</a:t>
            </a:r>
          </a:p>
          <a:p>
            <a:r>
              <a:rPr lang="fr-FR"/>
              <a:t>Analogie : un comédien à qui on ne dit pas dans quelle langue jouer - il bute sur chaque mot.</a:t>
            </a:r>
          </a:p>
          <a:p>
            <a:r>
              <a:rPr lang="fr-FR"/>
              <a:t>Piège : un gabarit peut être visuellement français tout en oubliant lang="fr" dans le code.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zoomer, c’est mettre des lunettes.</a:t>
            </a:r>
          </a:p>
          <a:p>
            <a:r>
              <a:rPr lang="fr-FR"/>
              <a:t>Votre site doit rester opérationnel avec les lunettes.</a:t>
            </a:r>
          </a:p>
          <a:p>
            <a:r>
              <a:rPr lang="fr-FR"/>
              <a:t>Test immédiat : demander à 2 stagiaires de zoomer à 200 % sur leur intranet et de tenter de remplir un formulaire.</a:t>
            </a:r>
          </a:p>
          <a:p>
            <a:r>
              <a:rPr lang="fr-FR"/>
              <a:t>Souvent, un champ ou un bouton devient inaccessible.</a:t>
            </a:r>
          </a:p>
          <a:p>
            <a:r>
              <a:rPr lang="fr-FR"/>
              <a:t>Ne pas confondre zoom navigateur (OK) et zoom tactile (mobile) - les deux doivent fonctionner.</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dans un train bruyant, même un entendant lit les sous-titres.</a:t>
            </a:r>
          </a:p>
          <a:p>
            <a:r>
              <a:rPr lang="fr-FR"/>
              <a:t>Bénéficiaires (faire deviner) : personnes sourdes ou malentendantes, utilisateurs en open space, apprenants d’une langue étrangère, personnes qui préfèrent lire.</a:t>
            </a:r>
          </a:p>
          <a:p>
            <a:r>
              <a:rPr lang="fr-FR"/>
              <a:t>Nuance capitale : une transcription écrite sur la page n’est pas un sous-titre - les deux sont utiles, pas interchangeables.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 « Quels mots un sous-titrage auto rate le plus souvent ? » Exemple concret à projeter : une vidéo ministérielle avec sous-titres automatiques - pointer 3 erreurs.</a:t>
            </a:r>
          </a:p>
          <a:p>
            <a:r>
              <a:rPr lang="fr-FR"/>
              <a:t>Règle d’or (R18) : l’automatique est un allié pour brouillonner, mais la publication demande une relecture humaine.</a:t>
            </a:r>
          </a:p>
          <a:p>
            <a:r>
              <a:rPr lang="fr-FR"/>
              <a:t>Faire aussi vérifier le cadrage sur les formats réseaux sociaux : les interfaces peuvent masquer le bas de la vidéo.</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Différence avec les sous-titres : sous-titres = synchronisés avec la vidéo, transcription = texte autonome lisible hors vidéo.</a:t>
            </a:r>
          </a:p>
          <a:p>
            <a:r>
              <a:rPr lang="fr-FR"/>
              <a:t>Les deux coexistent pour une vidéo de référence.</a:t>
            </a:r>
          </a:p>
          <a:p>
            <a:r>
              <a:rPr lang="fr-FR"/>
              <a:t>Piège : publier une transcription brute générée automatiquement sans relecture.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montrer 30 secondes d’un film d’animation sans dialogue, puis avec audiodescription.</a:t>
            </a:r>
          </a:p>
          <a:p>
            <a:r>
              <a:rPr lang="fr-FR"/>
              <a:t>Le contraste est saisissant.</a:t>
            </a:r>
          </a:p>
          <a:p>
            <a:r>
              <a:rPr lang="fr-FR"/>
              <a:t>Exception pratique : si la vidéo est entièrement commentée en voix off (ex. reportage narré), l’audiodescription est souvent superflue - tout est déjà dit.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Positionner cette slide comme une synthèse, pas comme un nouveau critère.</a:t>
            </a:r>
          </a:p>
          <a:p>
            <a:r>
              <a:rPr lang="fr-FR"/>
              <a:t>Elle relie les contrôles déjà vus : alternatives textuelles, sous-titres, transcription et audiodescription.</a:t>
            </a:r>
          </a:p>
          <a:p>
            <a:r>
              <a:rPr lang="fr-FR"/>
              <a:t>Question à poser au groupe : si je coupe le son, si je ne vois pas l'image, ou si le PDF est scanné, est-ce que l'information reste accessible ?</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L’audio-description rend accessibles les informations visuelles essentielles : lieux, actions, gestes, expressions et textes affichés.</a:t>
            </a:r>
          </a:p>
          <a:p>
            <a:r>
              <a:rPr lang="fr-FR"/>
              <a:t>Elle s’insère dans les silences sans couvrir les dialogues ni les sons utiles.</a:t>
            </a:r>
          </a:p>
          <a:p>
            <a:r>
              <a:rPr lang="fr-FR"/>
              <a:t>Pour la transcription, faire choisir le niveau adapté à l’usage : semi-intégrale pour restituer l’essentiel, intégrale éditée pour une lecture complète et fluide, verbatim lorsqu’une restitution mot à mot est nécessaire.</a:t>
            </a:r>
          </a:p>
          <a:p>
            <a:r>
              <a:rPr lang="fr-FR"/>
              <a:t>Un outil d’IA peut produire un premier jet, mais la publication exige une relecture humaine.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une rue d’immeubles où les boîtes aux lettres n’ont aucun nom - impossible de distribuer.</a:t>
            </a:r>
          </a:p>
          <a:p>
            <a:r>
              <a:rPr lang="fr-FR"/>
              <a:t>Test décisif : cliquer sur le TEXTE de l’étiquette.</a:t>
            </a:r>
          </a:p>
          <a:p>
            <a:r>
              <a:rPr lang="fr-FR"/>
              <a:t>Si le curseur saute dans le champ, c’est bien balisé.</a:t>
            </a:r>
          </a:p>
          <a:p>
            <a:r>
              <a:rPr lang="fr-FR"/>
              <a:t>Sinon, l’association est cassée - même si visuellement ça semble OK.</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formulaire courant (type CAF, impots.gouv) avec labels floating - zoomer à 200 % et montrer que l’étiquette disparaît derrière le texte saisi.</a:t>
            </a:r>
          </a:p>
          <a:p>
            <a:r>
              <a:rPr lang="fr-FR"/>
              <a:t>Règle pragmatique : si on doit choisir entre joli et utilisable, on choisit utilisable.</a:t>
            </a:r>
          </a:p>
          <a:p>
            <a:r>
              <a:rPr lang="fr-FR"/>
              <a:t>Les labels au-dessus du champ sont plus hauts mais clairs pour tous.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sans &lt;fieldset&gt;/&lt;legend&gt;, les radios sont comme des enfants sans nom de famille - on les entend, on ne sait pas à quelle question ils répondent.</a:t>
            </a:r>
          </a:p>
          <a:p>
            <a:r>
              <a:rPr lang="fr-FR"/>
              <a:t>Côté visuel : le fieldset se traduit souvent par une bordure ou un titre de section - le design peut l’habiller, il ne doit pas le supprimer.</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Règle d'or : le contrôle 13 ne commence pas par les erreurs.</a:t>
            </a:r>
          </a:p>
          <a:p>
            <a:r>
              <a:rPr lang="fr-FR"/>
              <a:t>D'abord, vérifier que l'obligation est comprise avant l'envoi.</a:t>
            </a:r>
          </a:p>
          <a:p>
            <a:r>
              <a:rPr lang="fr-FR"/>
              <a:t>Ensuite, soumettre volontairement un formulaire vide : le message doit nommer le champ, être relié au champ et guider le focus.</a:t>
            </a:r>
          </a:p>
          <a:p>
            <a:r>
              <a:rPr lang="fr-FR"/>
              <a:t>Message à éviter : « Erreur champ 3 ».</a:t>
            </a:r>
          </a:p>
          <a:p>
            <a:r>
              <a:rPr lang="fr-FR"/>
              <a:t>Préférer : « L'adresse électronique doit respecter le format nom@domaine.fr ».</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ouvrir 03-easy-checks/grille-audit-easy-checks.xlsx.</a:t>
            </a:r>
          </a:p>
          <a:p>
            <a:r>
              <a:rPr lang="fr-FR"/>
              <a:t>Expliquer que l’objectif n’est pas seulement de dire « ça passe » ou « ça échoue ».</a:t>
            </a:r>
          </a:p>
          <a:p>
            <a:r>
              <a:rPr lang="fr-FR"/>
              <a:t>Une remontée utile doit permettre à l’équipe web de comprendre le problème, mesurer l’impact, retrouver l’endroit exact et corriger sans refaire toute l’enquête.</a:t>
            </a:r>
          </a:p>
          <a:p>
            <a:r>
              <a:rPr lang="fr-FR"/>
              <a:t>Insister sur les quatre niveaux de sévérité : bloquant, gênant, mineur, info.</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Positionner cette slide comme un bonus volontaire, pas comme un 14e et 15e point de contrôle.</a:t>
            </a:r>
          </a:p>
          <a:p>
            <a:r>
              <a:rPr lang="fr-FR"/>
              <a:t>Pour les liens, rappeler le principe RGAA : un lien doit être compréhensible seul ou avec son contexte immédiat.</a:t>
            </a:r>
          </a:p>
          <a:p>
            <a:r>
              <a:rPr lang="fr-FR"/>
              <a:t>La meilleure pratique reste un libellé directement explicite, surtout pour les personnes qui listent les liens avec un lecteur d'écran.</a:t>
            </a:r>
          </a:p>
          <a:p>
            <a:r>
              <a:rPr lang="fr-FR"/>
              <a:t>Pour les fichiers en téléchargement, citer la logique Opquast : indiquer le format et la taille aide l'utilisateur à décider avant de télécharger.</a:t>
            </a:r>
          </a:p>
          <a:p>
            <a:r>
              <a:rPr lang="fr-FR"/>
              <a:t>Nuance importante : ne pas transformer l'exercice en audit documentaire complet.</a:t>
            </a:r>
          </a:p>
          <a:p>
            <a:r>
              <a:rPr lang="fr-FR"/>
              <a:t>Si un PDF pose problème, le noter comme signal bonus dans la grille, puis renvoyer vers les méthodes d'audit PDF ou vers le module Word/PDF.</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Distribuer la grille d’audit : 03-easy-checks/grille-audit-easy-checks.xlsx.</a:t>
            </a:r>
          </a:p>
          <a:p>
            <a:r>
              <a:rPr lang="fr-FR"/>
              <a:t>Expliquer la logique du site d’exercice : 13 pages, 13 points de contrôle, une page par point.</a:t>
            </a:r>
          </a:p>
          <a:p>
            <a:r>
              <a:rPr lang="fr-FR"/>
              <a:t>Les binômes ne doivent pas tout auditer : ils choisissent quelques points ou pages.</a:t>
            </a:r>
          </a:p>
          <a:p>
            <a:r>
              <a:rPr lang="fr-FR"/>
              <a:t>Répartir le groupe : certains binômes commencent par le début du site, d’autres par la fin, pour que les 13 points soient couverts à la restitution.</a:t>
            </a:r>
          </a:p>
          <a:p>
            <a:r>
              <a:rPr lang="fr-FR"/>
              <a:t>Règle d’audit : une seule non-conformité prouvée suffit à passer le critère en NC ; inutile de chercher toutes les non-conformités possibles d’un même critère.</a:t>
            </a:r>
          </a:p>
          <a:p>
            <a:r>
              <a:rPr lang="fr-FR"/>
              <a:t>Timing : 3 min cadrage, 15 min audit en binômes, 7 min restitution orale, 5 min comparaison avec l’aide ou le corrigé.</a:t>
            </a:r>
          </a:p>
          <a:p>
            <a:r>
              <a:rPr lang="fr-FR"/>
              <a:t>Outils autorisés : DevTools, HeadingsMap, Colour Contrast Analyser, clavier + casque audio.</a:t>
            </a:r>
          </a:p>
          <a:p>
            <a:r>
              <a:rPr lang="fr-FR"/>
              <a:t>Rappeler que le taux points de contrôle rapides n’est pas un taux de conformité RGAA publiable.</a:t>
            </a:r>
          </a:p>
          <a:p>
            <a:r>
              <a:rPr lang="fr-FR"/>
              <a:t>Restitution orale en binôme : point contrôlé, verdict, preuve, correction proposée.</a:t>
            </a:r>
          </a:p>
          <a:p>
            <a:r>
              <a:rPr lang="fr-FR"/>
              <a:t>Si un binôme trouve un lien non explicite ou un PDF problématique, le traiter comme signal bonus : utile à remonter, mais hors calcul des 13 points.</a:t>
            </a:r>
          </a:p>
          <a:p>
            <a:r>
              <a:rPr lang="fr-FR"/>
              <a:t>Clôture métacognitive (R25) : « Quel check vous a surpris ?</a:t>
            </a:r>
          </a:p>
          <a:p>
            <a:r>
              <a:rPr lang="fr-FR"/>
              <a:t>Quel est le plus facile à faire adopter dans votre équipe ? ».</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Annoncer les cinq thèmes qui structurent la partie IV.</a:t>
            </a:r>
          </a:p>
          <a:p>
            <a:r>
              <a:rPr lang="fr-FR"/>
              <a:t>Préciser que la progression va de l’analyse d’un post à la vérification complète avant publication.</a:t>
            </a:r>
          </a:p>
          <a:p>
            <a:r>
              <a:rPr lang="fr-FR"/>
              <a:t>Question d'accroche : Qui a déjà publié une photo sans texte alternatif ?</a:t>
            </a:r>
          </a:p>
          <a:p>
            <a:r>
              <a:rPr lang="fr-FR"/>
              <a:t>Toutes les mains levées - c'est le problème qu'on va résoudre.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stat des 12 millions vient de l'INSEE (enquête Handicap-Santé 2021).</a:t>
            </a:r>
          </a:p>
          <a:p>
            <a:r>
              <a:rPr lang="fr-FR"/>
              <a:t>Ne pas chercher à impressionner avec des chiffres spectaculaires - le vrai impact c'est 'quelqu'un dans votre public ne pourra pas lire ce post'.</a:t>
            </a:r>
          </a:p>
          <a:p>
            <a:r>
              <a:rPr lang="fr-FR"/>
              <a:t>Annoncer la structure : 4 gestes que vous allez voir en détail.</a:t>
            </a:r>
          </a:p>
          <a:p>
            <a:r>
              <a:rPr lang="fr-FR"/>
              <a:t>Commencer par une question : 'Sur vos 10 derniers posts, combien avaient un texte alternatif sur les images ?'</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rien dire.</a:t>
            </a:r>
          </a:p>
          <a:p>
            <a:r>
              <a:rPr lang="fr-FR"/>
              <a:t>Distribuer la consigne, laisser 2 minutes en silence.</a:t>
            </a:r>
          </a:p>
          <a:p>
            <a:r>
              <a:rPr lang="fr-FR"/>
              <a:t>Certains stagiaires vont identifier les émojis, d'autres le contraste, d'autres rien.</a:t>
            </a:r>
          </a:p>
          <a:p>
            <a:r>
              <a:rPr lang="fr-FR"/>
              <a:t>C'est exactement l'objectif : révéler que le problème n'est pas évident visuellement.</a:t>
            </a:r>
          </a:p>
          <a:p>
            <a:r>
              <a:rPr lang="fr-FR"/>
              <a:t>Recueillir les réponses à l'oral avant de passer à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à voix haute la colonne de droite avec le ton d'un lecteur d'écran - monotone, sans pause.</a:t>
            </a:r>
          </a:p>
          <a:p>
            <a:r>
              <a:rPr lang="fr-FR"/>
              <a:t>Silence après la lecture.</a:t>
            </a:r>
          </a:p>
          <a:p>
            <a:r>
              <a:rPr lang="fr-FR"/>
              <a:t>Laisser l'absurdité s'installer.</a:t>
            </a:r>
          </a:p>
          <a:p>
            <a:r>
              <a:rPr lang="fr-FR"/>
              <a:t>L'effet de surprise est la meilleure colle mémorielle ici.</a:t>
            </a:r>
          </a:p>
          <a:p>
            <a:r>
              <a:rPr lang="fr-FR"/>
              <a:t>Ne pas commenter immédiatement - poser la question : 'Qui aurait pensé à ça en publiant ?'</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Insister : aucune information perdue.</a:t>
            </a:r>
          </a:p>
          <a:p>
            <a:r>
              <a:rPr lang="fr-FR"/>
              <a:t>Le message est même plus clair pour tout le monde.</a:t>
            </a:r>
          </a:p>
          <a:p>
            <a:r>
              <a:rPr lang="fr-FR"/>
              <a:t>L'accessibilité améliore la qualité pour tous, pas seulement pour les personnes handicapées.</a:t>
            </a:r>
          </a:p>
          <a:p>
            <a:r>
              <a:rPr lang="fr-FR"/>
              <a:t>Question à poser : 'Combien de temps faut-il pour faire ces 3 modifications ?' - Réponse : 2 minutes.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Post à préparer avant la session : un post LinkedIn ou Twitter avec 5-6 émojis en série et un hashtag sans CamelCase.</a:t>
            </a:r>
          </a:p>
          <a:p>
            <a:r>
              <a:rPr lang="fr-FR"/>
              <a:t>L'effet est immédiatement compréhensible.</a:t>
            </a:r>
          </a:p>
          <a:p>
            <a:r>
              <a:rPr lang="fr-FR"/>
              <a:t>NVDA : Ctrl+Alt+N pour démarrer, Insert+Q pour quitter.</a:t>
            </a:r>
          </a:p>
          <a:p>
            <a:r>
              <a:rPr lang="fr-FR"/>
              <a:t>Si NVDA n'est pas disponible, utiliser Narrateur Windows (Win+Ctrl+Entrée).</a:t>
            </a:r>
          </a:p>
          <a:p>
            <a:r>
              <a:rPr lang="fr-FR"/>
              <a:t>Durée de la démo : 5 minutes max.</a:t>
            </a:r>
          </a:p>
          <a:p>
            <a:r>
              <a:rPr lang="fr-FR"/>
              <a:t>Laisser ensuite 5 minutes aux stagiaires pour tester eux-mêmes sur leur propre PC si le temps le permet.</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sert de boussole pour tout le module.</a:t>
            </a:r>
          </a:p>
          <a:p>
            <a:r>
              <a:rPr lang="fr-FR"/>
              <a:t>Y revenir à la fin.</a:t>
            </a:r>
          </a:p>
          <a:p>
            <a:r>
              <a:rPr lang="fr-FR"/>
              <a:t>Chaque réflexe sera détaillé dans les slides suivantes.</a:t>
            </a:r>
          </a:p>
          <a:p>
            <a:r>
              <a:rPr lang="fr-FR"/>
              <a:t>Le message clé : 4 actions, 2 minutes par publication, zéro compétence technique requise.</a:t>
            </a:r>
          </a:p>
          <a:p>
            <a:r>
              <a:rPr lang="fr-FR"/>
              <a:t>Verbaliser la transition : ces 4 réflexes sont le noyau dur.</a:t>
            </a:r>
          </a:p>
          <a:p>
            <a:r>
              <a:rPr lang="fr-FR"/>
              <a:t>En fin de module, ils seront replacés dans une checklist plus complète en 3 temps : anticiper, rédiger, publier.</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L'analogie du sous-titre fonctionne très bien - tout le monde comprend immédiatement.</a:t>
            </a:r>
          </a:p>
          <a:p>
            <a:r>
              <a:rPr lang="fr-FR"/>
              <a:t>Insister sur le fait que ça bénéficie AUSSI au référencement : argument qui convainc les agents qui ne sont pas sensibles à l'accessibilité pure.</a:t>
            </a:r>
          </a:p>
          <a:p>
            <a:r>
              <a:rPr lang="fr-FR"/>
              <a:t>Montrer rapidement où trouver le champ alt text sur LinkedIn (le plus utilisé en contexte pro).</a:t>
            </a:r>
          </a:p>
          <a:p>
            <a:r>
              <a:rPr lang="fr-FR"/>
              <a:t>Ne pas aller dans le détail de toutes les plateformes ici - ça sera dans le tableau comparatif.</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règle d'or : décrire ce qui est utile pour comprendre le message, pas ce qui est visible.</a:t>
            </a:r>
          </a:p>
          <a:p>
            <a:r>
              <a:rPr lang="fr-FR"/>
              <a:t>Une photo de groupe sans texte = "Équipe de 5 agents en réunion de travail".</a:t>
            </a:r>
          </a:p>
          <a:p>
            <a:r>
              <a:rPr lang="fr-FR"/>
              <a:t>Une infographie avec des chiffres = décrire les chiffres clés dans l'alt text OU dire que le détail est dans le texte du post.</a:t>
            </a:r>
          </a:p>
          <a:p>
            <a:r>
              <a:rPr lang="fr-FR"/>
              <a:t>Recueillir 1-2 exemples à l'oral avant de passer à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lire le tableau ligne par ligne - il sert de mémo à imprimer ou photographier.</a:t>
            </a:r>
          </a:p>
          <a:p>
            <a:r>
              <a:rPr lang="fr-FR"/>
              <a:t>Insister : sur X/Twitter il faut le faire AVANT de publier, on ne peut pas l'ajouter après.</a:t>
            </a:r>
          </a:p>
          <a:p>
            <a:r>
              <a:rPr lang="fr-FR"/>
              <a:t>Sur LinkedIn c'est possible après coup, donc pas d'excuse.</a:t>
            </a:r>
          </a:p>
          <a:p>
            <a:r>
              <a:rPr lang="fr-FR"/>
              <a:t>Un mémo PDF plus complet sera distribué à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règle du test : retirer l'émoji et voir si le message tient.</a:t>
            </a:r>
          </a:p>
          <a:p>
            <a:r>
              <a:rPr lang="fr-FR"/>
              <a:t>Ajouter : vérifier le sens réel de l'émoji avant publication, car certains symboles n'ont pas le même sens selon les publics ou les plateformes.</a:t>
            </a:r>
          </a:p>
          <a:p>
            <a:r>
              <a:rPr lang="fr-FR"/>
              <a:t>Exemple : 'Rejoignez-nous mardi prochain !' vs 'Rejoignez-nous mardi prochain !📅' - le calendrier ne porte pas de sens supplémentaire ici, c'est décoratif.</a:t>
            </a:r>
          </a:p>
          <a:p>
            <a:r>
              <a:rPr lang="fr-FR"/>
              <a:t>Mais '🚨 Fermeture exceptionnelle' : l'émoji alerte sert vraiment de signal.</a:t>
            </a:r>
          </a:p>
          <a:p>
            <a:r>
              <a:rPr lang="fr-FR"/>
              <a:t>Dans ce cas il faut écrire 'ALERTE - Fermeture exceptionnelle' et mettre l'émoji après.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la colonne de droite à voix haute, d'une seule traite, sans intonation.</a:t>
            </a:r>
          </a:p>
          <a:p>
            <a:r>
              <a:rPr lang="fr-FR"/>
              <a:t>L'effet est immédiat.</a:t>
            </a:r>
          </a:p>
          <a:p>
            <a:r>
              <a:rPr lang="fr-FR"/>
              <a:t>Puis lire la version accessible : nette et compréhensible.</a:t>
            </a:r>
          </a:p>
          <a:p>
            <a:r>
              <a:rPr lang="fr-FR"/>
              <a:t>Question à poser : 'Combien de temps pour corriger ce post ?' - 30 secondes.</a:t>
            </a:r>
          </a:p>
          <a:p>
            <a:r>
              <a:rPr lang="fr-FR"/>
              <a:t>L'information est la même, la lisibilité est incomparablement meilleure.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L'anecdote Susan Boyle : en 2012 le label de Susan Boyle a lancé le hashtag #susanalbumparty pour son album.</a:t>
            </a:r>
          </a:p>
          <a:p>
            <a:r>
              <a:rPr lang="fr-FR"/>
              <a:t>Sans CamelCase, le lecteur d'écran (et les humains !) lisaient quelque chose de très différent.</a:t>
            </a:r>
          </a:p>
          <a:p>
            <a:r>
              <a:rPr lang="fr-FR"/>
              <a:t>Depuis, le CamelCase est la norme sur toutes les plateformes.</a:t>
            </a:r>
          </a:p>
          <a:p>
            <a:r>
              <a:rPr lang="fr-FR"/>
              <a:t>Ajouter le critère de longueur : un hashtag trop long devient difficile à lire, à mémoriser et à comprendre à l'écoute.</a:t>
            </a:r>
          </a:p>
          <a:p>
            <a:r>
              <a:rPr lang="fr-FR"/>
              <a:t>C'est une des rares règles d'accessibilité qui est aussi devenue la norme éditoriale standard - bon exemple que l'accessibilité améliore la communication pour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en direct sur un smartphone : aller sur InstaFont, taper 'Bonjour', copier le résultat 'faux gras', le coller dans un post test, puis activer TalkBack (Android) ou VoiceOver (iPhone) pour écouter.</a:t>
            </a:r>
          </a:p>
          <a:p>
            <a:r>
              <a:rPr lang="fr-FR"/>
              <a:t>L'effet est immédiat.</a:t>
            </a:r>
          </a:p>
          <a:p>
            <a:r>
              <a:rPr lang="fr-FR"/>
              <a:t>La règle Opquast 14 est une référence AQW (Assurance Qualité Web) qui couvre aussi le SEO et la lisibilité IA - argument fort pour les agents qui ne sont pas encore convaincus par l'argument accessibilité seul.</a:t>
            </a:r>
          </a:p>
          <a:p>
            <a:r>
              <a:rPr lang="fr-FR"/>
              <a:t>Solution simple : utiliser le gras natif de la plateforme (LinkedIn, Facebook permettent le formatage natif).</a:t>
            </a:r>
          </a:p>
          <a:p>
            <a:r>
              <a:rPr lang="fr-FR"/>
              <a:t>Sinon, écrire en texte simple.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Introduire la communication inclusive par les images, pas par le vocabulaire.</a:t>
            </a:r>
          </a:p>
          <a:p>
            <a:r>
              <a:rPr lang="fr-FR"/>
              <a:t>Cela évite de réduire le sujet à l'écriture inclusive.</a:t>
            </a:r>
          </a:p>
          <a:p>
            <a:r>
              <a:rPr lang="fr-FR"/>
              <a:t>Expliquer que les photos, illustrations et vidéos transmettent des normes : âge, genre, handicap, origine, corpulence, situation sociale.</a:t>
            </a:r>
          </a:p>
          <a:p>
            <a:r>
              <a:rPr lang="fr-FR"/>
              <a:t>Ne pas culpabiliser les stagiaires : l'objectif est de créer un réflexe de sélection.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point délicat : éviter la représentation opportuniste.</a:t>
            </a:r>
          </a:p>
          <a:p>
            <a:r>
              <a:rPr lang="fr-FR"/>
              <a:t>Dire clairement qu'un visuel inclusif ne compense pas une organisation inaccessible.</a:t>
            </a:r>
          </a:p>
          <a:p>
            <a:r>
              <a:rPr lang="fr-FR"/>
              <a:t>Exemple : montrer une personne en fauteuil dans la communication d'un événement alors que le lieu, l'inscription ou les supports ne sont pas accessibles.</a:t>
            </a:r>
          </a:p>
          <a:p>
            <a:r>
              <a:rPr lang="fr-FR"/>
              <a:t>Faire le lien avec l'exercice : la checklist doit vérifier aussi la cohérence réelle.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Sujet sensible à traiter avec neutralité : le critère est la compréhension.</a:t>
            </a:r>
          </a:p>
          <a:p>
            <a:r>
              <a:rPr lang="fr-FR"/>
              <a:t>Les synthèses vocales et les usages évoluent rapidement ; une forme mal acceptée aujourd'hui peut devenir plus lisible demain.</a:t>
            </a:r>
          </a:p>
          <a:p>
            <a:r>
              <a:rPr lang="fr-FR"/>
              <a:t>En revanche, la charge de lecture reste un vrai sujet pour les personnes dyslexiques ou fatiguées cognitivement.</a:t>
            </a:r>
          </a:p>
          <a:p>
            <a:r>
              <a:rPr lang="fr-FR"/>
              <a:t>Conseil pratique : privilégier d'abord les formules épicènes et les mots collectifs, puis la double flexion si le contexte exige de nommer explicitement les genres.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Former des binômes.</a:t>
            </a:r>
          </a:p>
          <a:p>
            <a:r>
              <a:rPr lang="fr-FR"/>
              <a:t>Si les stagiaires n'ont pas de publication sous la main, proposer un post exemple préparé par le formateur.</a:t>
            </a:r>
          </a:p>
          <a:p>
            <a:r>
              <a:rPr lang="fr-FR"/>
              <a:t>La consigne limite volontairement à 2 améliorations : on cherche la priorisation, pas l'exhaustivité.</a:t>
            </a:r>
          </a:p>
          <a:p>
            <a:r>
              <a:rPr lang="fr-FR"/>
              <a:t>Encourager les binômes à choisir au moins un point lié aux représentations si le post contient un visuel.</a:t>
            </a:r>
          </a:p>
          <a:p>
            <a:r>
              <a:rPr lang="fr-FR"/>
              <a:t>Pendant l'exercice, circuler et donner un feedback immédiat sur les arbitrages.</a:t>
            </a:r>
          </a:p>
          <a:p>
            <a:r>
              <a:rPr lang="fr-FR"/>
              <a:t>La restitution orale active l'apprentissage social : chaque binôme enseigne un point au groupe.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première checklist est un support d'exercice.</a:t>
            </a:r>
          </a:p>
          <a:p>
            <a:r>
              <a:rPr lang="fr-FR"/>
              <a:t>Les binômes cochent uniquement ce qu'ils peuvent vérifier sur leur publication.</a:t>
            </a:r>
          </a:p>
          <a:p>
            <a:r>
              <a:rPr lang="fr-FR"/>
              <a:t>Le point représentation doit être traité sans procès d'intention : on évalue le choix éditorial et sa cohérence avec l'action réelle.</a:t>
            </a:r>
          </a:p>
          <a:p>
            <a:r>
              <a:rPr lang="fr-FR"/>
              <a:t>L'objectif est d'éviter le piège classique : tenter de réparer à la publication un visuel qui porte toute l'information.</a:t>
            </a:r>
          </a:p>
          <a:p>
            <a:r>
              <a:rPr lang="fr-FR"/>
              <a:t>Faire le lien avec Word : comme pour un document, on gagne du temps quand l'accessibilité est pensée avant la mise en forme.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transforme les règles vues une par une en routine éditoriale.</a:t>
            </a:r>
          </a:p>
          <a:p>
            <a:r>
              <a:rPr lang="fr-FR"/>
              <a:t>Demander aux binômes de cocher les cinq points sur le post choisi, puis de sélectionner un seul problème prioritaire.</a:t>
            </a:r>
          </a:p>
          <a:p>
            <a:r>
              <a:rPr lang="fr-FR"/>
              <a:t>Pour le langage inclusif, demander : est-ce que la phrase reste claire à l'écoute et à la lecture rapide ?</a:t>
            </a:r>
          </a:p>
          <a:p>
            <a:r>
              <a:rPr lang="fr-FR"/>
              <a:t>Le test UX est simple : si le sens disparaît quand on retire les effets, le post dépend trop de sa mise en forme.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checklist de l'exercice.</a:t>
            </a:r>
          </a:p>
          <a:p>
            <a:r>
              <a:rPr lang="fr-FR"/>
              <a:t>Demander aux binômes de vérifier les alternatives qui manquent vraiment sur leur publication.</a:t>
            </a:r>
          </a:p>
          <a:p>
            <a:r>
              <a:rPr lang="fr-FR"/>
              <a:t>Insister sur la logique d'accès multiple : une information importante ne doit jamais dépendre d'un seul canal.</a:t>
            </a:r>
          </a:p>
          <a:p>
            <a:r>
              <a:rPr lang="fr-FR"/>
              <a:t>Pour les QR codes, rappeler la règle corrigée dans le deck : le QR code aide, mais le lien visible reste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un temps pour les questions.</a:t>
            </a:r>
          </a:p>
          <a:p>
            <a:r>
              <a:rPr lang="fr-FR"/>
              <a:t>Rappeler que les stagiaires peuvent nous contacter par mail pour toute question post-formation.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6617983"/>
            <a:ext cx="239999" cy="239999"/>
          </a:xfrm>
          <a:ln>
            <a:solidFill>
              <a:schemeClr val="tx1">
                <a:alpha val="0"/>
              </a:schemeClr>
            </a:solidFill>
          </a:ln>
        </p:spPr>
        <p:txBody>
          <a:bodyPr/>
          <a:lstStyle>
            <a:lvl1pPr>
              <a:defRPr sz="100">
                <a:solidFill>
                  <a:schemeClr val="tx1">
                    <a:alpha val="0"/>
                  </a:schemeClr>
                </a:solidFill>
              </a:defRPr>
            </a:lvl1pPr>
          </a:lstStyle>
          <a:p>
            <a:r>
              <a:rPr lang="fr-FR"/>
              <a:t>XX/XX/XXXX</a:t>
            </a:r>
            <a:endParaRPr lang="fr-FR" dirty="0"/>
          </a:p>
        </p:txBody>
      </p:sp>
      <p:sp>
        <p:nvSpPr>
          <p:cNvPr id="5" name="Espace réservé du pied de page 4"/>
          <p:cNvSpPr>
            <a:spLocks noGrp="1"/>
          </p:cNvSpPr>
          <p:nvPr>
            <p:ph type="ftr" sz="quarter" idx="11"/>
          </p:nvPr>
        </p:nvSpPr>
        <p:spPr bwMode="gray">
          <a:xfrm>
            <a:off x="959997" y="5226516"/>
            <a:ext cx="4319989" cy="1199997"/>
          </a:xfrm>
        </p:spPr>
        <p:txBody>
          <a:bodyPr anchor="b" anchorCtr="0"/>
          <a:lstStyle>
            <a:lvl1pPr>
              <a:defRPr sz="1150"/>
            </a:lvl1pPr>
          </a:lstStyle>
          <a:p>
            <a:r>
              <a:rPr lang="fr-FR" dirty="0"/>
              <a:t>Institut de la Gestion publique </a:t>
            </a:r>
            <a:br>
              <a:rPr lang="fr-FR" dirty="0"/>
            </a:br>
            <a:r>
              <a:rPr lang="fr-FR" dirty="0"/>
              <a:t>et du Développement économique</a:t>
            </a:r>
          </a:p>
        </p:txBody>
      </p:sp>
      <p:sp>
        <p:nvSpPr>
          <p:cNvPr id="6" name="Espace réservé du numéro de diapositive 5"/>
          <p:cNvSpPr>
            <a:spLocks noGrp="1"/>
          </p:cNvSpPr>
          <p:nvPr>
            <p:ph type="sldNum" sz="quarter" idx="12"/>
          </p:nvPr>
        </p:nvSpPr>
        <p:spPr bwMode="gray">
          <a:xfrm>
            <a:off x="0" y="6617983"/>
            <a:ext cx="239999" cy="239999"/>
          </a:xfr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pPr/>
              <a:t>‹N°›</a:t>
            </a:fld>
            <a:endParaRPr lang="fr-FR" dirty="0"/>
          </a:p>
        </p:txBody>
      </p:sp>
      <p:sp>
        <p:nvSpPr>
          <p:cNvPr id="7" name="Titre 6"/>
          <p:cNvSpPr>
            <a:spLocks noGrp="1"/>
          </p:cNvSpPr>
          <p:nvPr>
            <p:ph type="title" hasCustomPrompt="1"/>
          </p:nvPr>
        </p:nvSpPr>
        <p:spPr bwMode="gray">
          <a:xfrm>
            <a:off x="0" y="0"/>
            <a:ext cx="239999" cy="239999"/>
          </a:xfrm>
          <a:ln>
            <a:solidFill>
              <a:schemeClr val="tx1">
                <a:alpha val="0"/>
              </a:schemeClr>
            </a:solidFill>
          </a:ln>
        </p:spPr>
        <p:txBody>
          <a:bodyPr/>
          <a:lstStyle>
            <a:lvl1pPr>
              <a:defRPr sz="100">
                <a:solidFill>
                  <a:schemeClr val="tx1">
                    <a:alpha val="0"/>
                  </a:schemeClr>
                </a:solidFill>
              </a:defRPr>
            </a:lvl1pPr>
          </a:lstStyle>
          <a:p>
            <a:r>
              <a:rPr lang="fr-FR" dirty="0"/>
              <a:t>Titre</a:t>
            </a:r>
          </a:p>
        </p:txBody>
      </p:sp>
      <p:pic>
        <p:nvPicPr>
          <p:cNvPr id="8"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5488" y="320040"/>
            <a:ext cx="2560320" cy="2319695"/>
          </a:xfrm>
          <a:prstGeom prst="rect">
            <a:avLst/>
          </a:prstGeom>
        </p:spPr>
      </p:pic>
      <p:pic>
        <p:nvPicPr>
          <p:cNvPr id="9" name="Imag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75520" y="777240"/>
            <a:ext cx="1828800" cy="1828800"/>
          </a:xfrm>
          <a:prstGeom prst="rect">
            <a:avLst/>
          </a:prstGeom>
        </p:spPr>
      </p:pic>
    </p:spTree>
    <p:extLst>
      <p:ext uri="{BB962C8B-B14F-4D97-AF65-F5344CB8AC3E}">
        <p14:creationId xmlns:p14="http://schemas.microsoft.com/office/powerpoint/2010/main" val="343261095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3" orient="horz" pos="386" userDrawn="1">
          <p15:clr>
            <a:srgbClr val="FBAE40"/>
          </p15:clr>
        </p15:guide>
        <p15:guide id="4" pos="443" userDrawn="1">
          <p15:clr>
            <a:srgbClr val="FBAE40"/>
          </p15:clr>
        </p15:guide>
        <p15:guide id="5" orient="horz" pos="303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239999" cy="239999"/>
          </a:xfrm>
          <a:ln>
            <a:solidFill>
              <a:schemeClr val="tx1">
                <a:alpha val="0"/>
              </a:schemeClr>
            </a:solidFill>
          </a:ln>
        </p:spPr>
        <p:txBody>
          <a:bodyPr/>
          <a:lstStyle>
            <a:lvl1pPr>
              <a:defRPr sz="100">
                <a:solidFill>
                  <a:schemeClr val="tx1">
                    <a:alpha val="0"/>
                  </a:schemeClr>
                </a:solidFill>
              </a:defRPr>
            </a:lvl1pPr>
          </a:lstStyle>
          <a:p>
            <a:r>
              <a:rPr lang="fr-FR" dirty="0"/>
              <a:t>Titre</a:t>
            </a:r>
          </a:p>
        </p:txBody>
      </p:sp>
      <p:sp>
        <p:nvSpPr>
          <p:cNvPr id="2" name="Espace réservé de la date 1"/>
          <p:cNvSpPr>
            <a:spLocks noGrp="1"/>
          </p:cNvSpPr>
          <p:nvPr>
            <p:ph type="dt" sz="half" idx="10"/>
          </p:nvPr>
        </p:nvSpPr>
        <p:spPr bwMode="gray"/>
        <p:txBody>
          <a:bodyPr/>
          <a:lstStyle/>
          <a:p>
            <a:pPr algn="r"/>
            <a:r>
              <a:rPr lang="fr-FR" cap="all"/>
              <a:t>XX/XX/XXXX</a:t>
            </a:r>
            <a:endParaRPr lang="fr-FR" cap="all" dirty="0"/>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11" name="Espace réservé du texte 10"/>
          <p:cNvSpPr>
            <a:spLocks noGrp="1"/>
          </p:cNvSpPr>
          <p:nvPr>
            <p:ph type="body" sz="quarter" idx="13" hasCustomPrompt="1"/>
          </p:nvPr>
        </p:nvSpPr>
        <p:spPr bwMode="gray">
          <a:xfrm>
            <a:off x="479998" y="3128053"/>
            <a:ext cx="11231971" cy="2769593"/>
          </a:xfrm>
        </p:spPr>
        <p:txBody>
          <a:bodyPr/>
          <a:lstStyle>
            <a:lvl1pPr>
              <a:lnSpc>
                <a:spcPct val="90000"/>
              </a:lnSpc>
              <a:spcAft>
                <a:spcPts val="0"/>
              </a:spcAft>
              <a:defRPr sz="3250" b="1" cap="all" baseline="0"/>
            </a:lvl1pPr>
            <a:lvl2pPr marL="0" indent="0">
              <a:spcBef>
                <a:spcPts val="500"/>
              </a:spcBef>
              <a:spcAft>
                <a:spcPts val="0"/>
              </a:spcAft>
              <a:buNone/>
              <a:defRPr sz="1850"/>
            </a:lvl2pPr>
          </a:lstStyle>
          <a:p>
            <a:pPr lvl="0"/>
            <a:r>
              <a:rPr lang="fr-FR" dirty="0"/>
              <a:t>Titre</a:t>
            </a:r>
          </a:p>
          <a:p>
            <a:pPr lvl="1"/>
            <a:r>
              <a:rPr lang="fr-FR" dirty="0"/>
              <a:t>Sous-titre</a:t>
            </a:r>
          </a:p>
        </p:txBody>
      </p:sp>
      <p:cxnSp>
        <p:nvCxnSpPr>
          <p:cNvPr id="12" name="Connecteur droit 11"/>
          <p:cNvCxnSpPr/>
          <p:nvPr userDrawn="1"/>
        </p:nvCxnSpPr>
        <p:spPr bwMode="gray">
          <a:xfrm>
            <a:off x="479998" y="6379184"/>
            <a:ext cx="11231971"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Imag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2227" y="212775"/>
            <a:ext cx="2143038" cy="1941631"/>
          </a:xfrm>
          <a:prstGeom prst="rect">
            <a:avLst/>
          </a:prstGeom>
        </p:spPr>
      </p:pic>
      <p:pic>
        <p:nvPicPr>
          <p:cNvPr id="10" name="Imag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04467" y="465665"/>
            <a:ext cx="1464915" cy="1464915"/>
          </a:xfrm>
          <a:prstGeom prst="rect">
            <a:avLst/>
          </a:prstGeom>
        </p:spPr>
      </p:pic>
      <p:sp>
        <p:nvSpPr>
          <p:cNvPr id="13" name="Espace réservé du pied de page 4">
            <a:extLst>
              <a:ext uri="{FF2B5EF4-FFF2-40B4-BE49-F238E27FC236}">
                <a16:creationId xmlns:a16="http://schemas.microsoft.com/office/drawing/2014/main" id="{1877CCD8-58D1-4121-82F0-FFD6288F90E5}"/>
              </a:ext>
            </a:extLst>
          </p:cNvPr>
          <p:cNvSpPr>
            <a:spLocks noGrp="1"/>
          </p:cNvSpPr>
          <p:nvPr>
            <p:ph type="ftr" sz="quarter" idx="11"/>
          </p:nvPr>
        </p:nvSpPr>
        <p:spPr>
          <a:xfrm>
            <a:off x="479998" y="6377984"/>
            <a:ext cx="7871980" cy="479998"/>
          </a:xfrm>
        </p:spPr>
        <p:txBody>
          <a:bodyPr/>
          <a:lstStyle/>
          <a:p>
            <a:r>
              <a:rPr lang="fr-FR" dirty="0"/>
              <a:t>Institut de la Gestion publique et du Développement économique</a:t>
            </a:r>
          </a:p>
        </p:txBody>
      </p:sp>
    </p:spTree>
    <p:extLst>
      <p:ext uri="{BB962C8B-B14F-4D97-AF65-F5344CB8AC3E}">
        <p14:creationId xmlns:p14="http://schemas.microsoft.com/office/powerpoint/2010/main" val="3483904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7" y="1199997"/>
            <a:ext cx="11231971" cy="959997"/>
          </a:xfrm>
        </p:spPr>
        <p:txBody>
          <a:bodyPr/>
          <a:lstStyle>
            <a:lvl1pPr>
              <a:defRPr/>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8" name="Espace réservé du texte 7"/>
          <p:cNvSpPr>
            <a:spLocks noGrp="1"/>
          </p:cNvSpPr>
          <p:nvPr>
            <p:ph type="body" sz="quarter" idx="13" hasCustomPrompt="1"/>
          </p:nvPr>
        </p:nvSpPr>
        <p:spPr bwMode="gray">
          <a:xfrm>
            <a:off x="479996" y="2522617"/>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
        <p:nvSpPr>
          <p:cNvPr id="9" name="Espace réservé du texte 7"/>
          <p:cNvSpPr>
            <a:spLocks noGrp="1"/>
          </p:cNvSpPr>
          <p:nvPr>
            <p:ph type="body" sz="quarter" idx="14" hasCustomPrompt="1"/>
          </p:nvPr>
        </p:nvSpPr>
        <p:spPr bwMode="gray">
          <a:xfrm>
            <a:off x="4415988" y="2524793"/>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
        <p:nvSpPr>
          <p:cNvPr id="10" name="Espace réservé du texte 7"/>
          <p:cNvSpPr>
            <a:spLocks noGrp="1"/>
          </p:cNvSpPr>
          <p:nvPr>
            <p:ph type="body" sz="quarter" idx="15" hasCustomPrompt="1"/>
          </p:nvPr>
        </p:nvSpPr>
        <p:spPr bwMode="gray">
          <a:xfrm>
            <a:off x="8351977" y="2524793"/>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Tree>
    <p:extLst>
      <p:ext uri="{BB962C8B-B14F-4D97-AF65-F5344CB8AC3E}">
        <p14:creationId xmlns:p14="http://schemas.microsoft.com/office/powerpoint/2010/main" val="1641030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0" y="983997"/>
            <a:ext cx="12191969" cy="5875185"/>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2" name="Titre 1"/>
          <p:cNvSpPr>
            <a:spLocks noGrp="1"/>
          </p:cNvSpPr>
          <p:nvPr>
            <p:ph type="title" hasCustomPrompt="1"/>
          </p:nvPr>
        </p:nvSpPr>
        <p:spPr bwMode="gray">
          <a:xfrm>
            <a:off x="479997" y="983997"/>
            <a:ext cx="11231971" cy="5395186"/>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396000" indent="-396000">
              <a:buFont typeface="+mj-lt"/>
              <a:buAutoNum type="arabicPeriod"/>
              <a:defRPr sz="3250"/>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908596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7" y="1199997"/>
            <a:ext cx="11231971" cy="959997"/>
          </a:xfrm>
        </p:spPr>
        <p:txBody>
          <a:bodyPr/>
          <a:lstStyle>
            <a:lvl1pPr>
              <a:defRPr/>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10" name="Espace réservé du texte 9"/>
          <p:cNvSpPr>
            <a:spLocks noGrp="1"/>
          </p:cNvSpPr>
          <p:nvPr>
            <p:ph type="body" sz="quarter" idx="13" hasCustomPrompt="1"/>
          </p:nvPr>
        </p:nvSpPr>
        <p:spPr bwMode="gray">
          <a:xfrm>
            <a:off x="4415988" y="239999"/>
            <a:ext cx="7295981" cy="479998"/>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
        <p:nvSpPr>
          <p:cNvPr id="12" name="Espace réservé du texte 11"/>
          <p:cNvSpPr>
            <a:spLocks noGrp="1"/>
          </p:cNvSpPr>
          <p:nvPr>
            <p:ph type="body" sz="quarter" idx="14" hasCustomPrompt="1"/>
          </p:nvPr>
        </p:nvSpPr>
        <p:spPr bwMode="gray">
          <a:xfrm>
            <a:off x="479997"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3" name="Espace réservé du texte 11"/>
          <p:cNvSpPr>
            <a:spLocks noGrp="1"/>
          </p:cNvSpPr>
          <p:nvPr>
            <p:ph type="body" sz="quarter" idx="15" hasCustomPrompt="1"/>
          </p:nvPr>
        </p:nvSpPr>
        <p:spPr bwMode="gray">
          <a:xfrm>
            <a:off x="4415988"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4" name="Espace réservé du texte 11"/>
          <p:cNvSpPr>
            <a:spLocks noGrp="1"/>
          </p:cNvSpPr>
          <p:nvPr>
            <p:ph type="body" sz="quarter" idx="16" hasCustomPrompt="1"/>
          </p:nvPr>
        </p:nvSpPr>
        <p:spPr bwMode="gray">
          <a:xfrm>
            <a:off x="8351979"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Tree>
    <p:extLst>
      <p:ext uri="{BB962C8B-B14F-4D97-AF65-F5344CB8AC3E}">
        <p14:creationId xmlns:p14="http://schemas.microsoft.com/office/powerpoint/2010/main" val="3840454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itre 3"/>
          <p:cNvSpPr>
            <a:spLocks noGrp="1"/>
          </p:cNvSpPr>
          <p:nvPr>
            <p:ph type="title" hasCustomPrompt="1"/>
          </p:nvPr>
        </p:nvSpPr>
        <p:spPr bwMode="gray">
          <a:xfrm>
            <a:off x="479997" y="1199997"/>
            <a:ext cx="11231971" cy="959997"/>
          </a:xfrm>
        </p:spPr>
        <p:txBody>
          <a:bodyPr/>
          <a:lstStyle/>
          <a:p>
            <a:r>
              <a:rPr lang="fr-FR" noProof="0" dirty="0"/>
              <a:t>Titre</a:t>
            </a:r>
            <a:endParaRPr lang="fr-FR" dirty="0"/>
          </a:p>
        </p:txBody>
      </p:sp>
      <p:sp>
        <p:nvSpPr>
          <p:cNvPr id="5" name="Espace réservé de la date 4"/>
          <p:cNvSpPr>
            <a:spLocks noGrp="1"/>
          </p:cNvSpPr>
          <p:nvPr>
            <p:ph type="dt" sz="half" idx="10"/>
          </p:nvPr>
        </p:nvSpPr>
        <p:spPr bwMode="gray"/>
        <p:txBody>
          <a:bodyPr/>
          <a:lstStyle/>
          <a:p>
            <a:pPr algn="r"/>
            <a:r>
              <a:rPr lang="fr-FR" cap="all"/>
              <a:t>XX/XX/XXXX</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a:lstStyle/>
          <a:p>
            <a:r>
              <a:rPr lang="fr-FR" dirty="0"/>
              <a:t>Institut de la Gestion publique et du Développement économique / titre du diaporama</a:t>
            </a:r>
          </a:p>
        </p:txBody>
      </p:sp>
      <p:sp>
        <p:nvSpPr>
          <p:cNvPr id="7" name="Espace réservé du numéro de diapositive 6"/>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9" name="Espace réservé du contenu 8"/>
          <p:cNvSpPr>
            <a:spLocks noGrp="1"/>
          </p:cNvSpPr>
          <p:nvPr>
            <p:ph sz="quarter" idx="14" hasCustomPrompt="1"/>
          </p:nvPr>
        </p:nvSpPr>
        <p:spPr bwMode="gray">
          <a:xfrm>
            <a:off x="479996" y="2447993"/>
            <a:ext cx="11231971" cy="3431991"/>
          </a:xfrm>
        </p:spPr>
        <p:txBody>
          <a:bodyPr/>
          <a:lstStyle>
            <a:lvl1pPr>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5" name="Espace réservé du texte 9"/>
          <p:cNvSpPr>
            <a:spLocks noGrp="1"/>
          </p:cNvSpPr>
          <p:nvPr>
            <p:ph type="body" sz="quarter" idx="13" hasCustomPrompt="1"/>
          </p:nvPr>
        </p:nvSpPr>
        <p:spPr bwMode="gray">
          <a:xfrm>
            <a:off x="4415988" y="239999"/>
            <a:ext cx="7295981" cy="479998"/>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g"/><Relationship Id="rId9"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7" y="1199997"/>
            <a:ext cx="11231971" cy="959997"/>
          </a:xfrm>
          <a:prstGeom prst="rect">
            <a:avLst/>
          </a:prstGeom>
        </p:spPr>
        <p:txBody>
          <a:bodyPr vert="horz" lIns="0" tIns="0" rIns="0" bIns="0" rtlCol="0" anchor="t" anchorCtr="0">
            <a:noAutofit/>
          </a:bodyPr>
          <a:lstStyle/>
          <a:p>
            <a:r>
              <a:rPr lang="fr-FR" noProof="0" dirty="0"/>
              <a:t>Titre</a:t>
            </a:r>
          </a:p>
        </p:txBody>
      </p:sp>
      <p:sp>
        <p:nvSpPr>
          <p:cNvPr id="3" name="Espace réservé du texte 2"/>
          <p:cNvSpPr>
            <a:spLocks noGrp="1"/>
          </p:cNvSpPr>
          <p:nvPr>
            <p:ph type="body" idx="1"/>
          </p:nvPr>
        </p:nvSpPr>
        <p:spPr bwMode="gray">
          <a:xfrm>
            <a:off x="479997" y="2447993"/>
            <a:ext cx="11231971" cy="3431991"/>
          </a:xfrm>
          <a:prstGeom prst="rect">
            <a:avLst/>
          </a:prstGeom>
        </p:spPr>
        <p:txBody>
          <a:bodyPr vert="horz" lIns="0" tIns="0" rIns="0" bIns="0" rtlCol="0" anchor="t" anchorCtr="0">
            <a:noAutofit/>
          </a:bodyPr>
          <a:lstStyle/>
          <a:p>
            <a:pPr lvl="0"/>
            <a:r>
              <a:rPr lang="fr-FR" noProof="0" dirty="0"/>
              <a:t>Texte de niveau 1</a:t>
            </a:r>
          </a:p>
          <a:p>
            <a:pPr lvl="1"/>
            <a:r>
              <a:rPr lang="fr-FR" noProof="0" dirty="0"/>
              <a:t>Texte de niveau 2</a:t>
            </a:r>
          </a:p>
          <a:p>
            <a:pPr lvl="2"/>
            <a:r>
              <a:rPr lang="fr-FR" noProof="0" dirty="0"/>
              <a:t>Texte de niveau 3</a:t>
            </a:r>
          </a:p>
          <a:p>
            <a:pPr lvl="3"/>
            <a:r>
              <a:rPr lang="fr-FR" noProof="0" dirty="0"/>
              <a:t>Texte de niveau 4</a:t>
            </a:r>
          </a:p>
          <a:p>
            <a:pPr lvl="4"/>
            <a:r>
              <a:rPr lang="fr-FR" noProof="0" dirty="0"/>
              <a:t>Texte de niveau 5</a:t>
            </a:r>
          </a:p>
        </p:txBody>
      </p:sp>
      <p:sp>
        <p:nvSpPr>
          <p:cNvPr id="4" name="Espace réservé de la date 3"/>
          <p:cNvSpPr>
            <a:spLocks noGrp="1"/>
          </p:cNvSpPr>
          <p:nvPr>
            <p:ph type="dt" sz="half" idx="2"/>
          </p:nvPr>
        </p:nvSpPr>
        <p:spPr bwMode="gray">
          <a:xfrm>
            <a:off x="10151974" y="6377984"/>
            <a:ext cx="1559996" cy="479998"/>
          </a:xfrm>
          <a:prstGeom prst="rect">
            <a:avLst/>
          </a:prstGeom>
        </p:spPr>
        <p:txBody>
          <a:bodyPr vert="horz" lIns="0" tIns="0" rIns="0" bIns="0" rtlCol="0" anchor="ctr" anchorCtr="0">
            <a:noAutofit/>
          </a:bodyPr>
          <a:lstStyle>
            <a:lvl1pPr algn="ctr">
              <a:defRPr sz="750" b="1">
                <a:solidFill>
                  <a:schemeClr val="tx1"/>
                </a:solidFill>
              </a:defRPr>
            </a:lvl1pPr>
          </a:lstStyle>
          <a:p>
            <a:pPr algn="r"/>
            <a:r>
              <a:rPr lang="fr-FR" cap="all"/>
              <a:t>XX/XX/XXXX</a:t>
            </a:r>
            <a:endParaRPr lang="fr-FR" cap="all" dirty="0"/>
          </a:p>
        </p:txBody>
      </p:sp>
      <p:sp>
        <p:nvSpPr>
          <p:cNvPr id="5" name="Espace réservé du pied de page 4"/>
          <p:cNvSpPr>
            <a:spLocks noGrp="1"/>
          </p:cNvSpPr>
          <p:nvPr>
            <p:ph type="ftr" sz="quarter" idx="3"/>
          </p:nvPr>
        </p:nvSpPr>
        <p:spPr bwMode="gray">
          <a:xfrm>
            <a:off x="479998" y="6377984"/>
            <a:ext cx="7871980" cy="479998"/>
          </a:xfrm>
          <a:prstGeom prst="rect">
            <a:avLst/>
          </a:prstGeom>
        </p:spPr>
        <p:txBody>
          <a:bodyPr vert="horz" lIns="0" tIns="0" rIns="0" bIns="0" rtlCol="0" anchor="ctr" anchorCtr="0">
            <a:noAutofit/>
          </a:bodyPr>
          <a:lstStyle>
            <a:lvl1pPr algn="l">
              <a:defRPr sz="750" b="1">
                <a:solidFill>
                  <a:schemeClr val="tx1"/>
                </a:solidFill>
              </a:defRPr>
            </a:lvl1pPr>
          </a:lstStyle>
          <a:p>
            <a:r>
              <a:rPr lang="fr-FR" dirty="0"/>
              <a:t>Institut de la Gestion publique et du Développement économique / titre du diaporama</a:t>
            </a:r>
          </a:p>
        </p:txBody>
      </p:sp>
      <p:sp>
        <p:nvSpPr>
          <p:cNvPr id="6" name="Espace réservé du numéro de diapositive 5"/>
          <p:cNvSpPr>
            <a:spLocks noGrp="1"/>
          </p:cNvSpPr>
          <p:nvPr>
            <p:ph type="sldNum" sz="quarter" idx="4"/>
          </p:nvPr>
        </p:nvSpPr>
        <p:spPr bwMode="gray">
          <a:xfrm>
            <a:off x="8351979" y="6377984"/>
            <a:ext cx="1799995" cy="479998"/>
          </a:xfrm>
          <a:prstGeom prst="rect">
            <a:avLst/>
          </a:prstGeom>
        </p:spPr>
        <p:txBody>
          <a:bodyPr vert="horz" lIns="0" tIns="0" rIns="0" bIns="0" rtlCol="0" anchor="ctr" anchorCtr="0">
            <a:noAutofit/>
          </a:bodyPr>
          <a:lstStyle>
            <a:lvl1pPr algn="r">
              <a:defRPr sz="750" b="1">
                <a:solidFill>
                  <a:schemeClr val="tx1"/>
                </a:solidFill>
              </a:defRPr>
            </a:lvl1pPr>
          </a:lstStyle>
          <a:p>
            <a:fld id="{733122C9-A0B9-462F-8757-0847AD287B63}" type="slidenum">
              <a:rPr lang="fr-FR" smtClean="0"/>
              <a:pPr/>
              <a:t>‹N°›</a:t>
            </a:fld>
            <a:endParaRPr lang="fr-FR" dirty="0"/>
          </a:p>
        </p:txBody>
      </p:sp>
      <p:cxnSp>
        <p:nvCxnSpPr>
          <p:cNvPr id="10" name="Connecteur droit 9"/>
          <p:cNvCxnSpPr/>
          <p:nvPr userDrawn="1"/>
        </p:nvCxnSpPr>
        <p:spPr bwMode="gray">
          <a:xfrm>
            <a:off x="479998" y="6379184"/>
            <a:ext cx="11231971"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Imag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85976" y="147038"/>
            <a:ext cx="737074" cy="667800"/>
          </a:xfrm>
          <a:prstGeom prst="rect">
            <a:avLst/>
          </a:prstGeom>
        </p:spPr>
      </p:pic>
      <p:pic>
        <p:nvPicPr>
          <p:cNvPr id="11" name="Image 10"/>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533961" y="243271"/>
            <a:ext cx="477928" cy="477928"/>
          </a:xfrm>
          <a:prstGeom prst="rect">
            <a:avLst/>
          </a:prstGeom>
        </p:spPr>
      </p:pic>
    </p:spTree>
  </p:cSld>
  <p:clrMap bg1="lt1" tx1="dk1" bg2="lt2" tx2="dk2" accent1="accent1" accent2="accent2" accent3="accent3" accent4="accent4" accent5="accent5" accent6="accent6" hlink="hlink" folHlink="folHlink"/>
  <p:sldLayoutIdLst>
    <p:sldLayoutId id="2147483808" r:id="rId1"/>
    <p:sldLayoutId id="2147483812" r:id="rId2"/>
    <p:sldLayoutId id="2147483810" r:id="rId3"/>
    <p:sldLayoutId id="2147483811" r:id="rId4"/>
    <p:sldLayoutId id="2147483809" r:id="rId5"/>
    <p:sldLayoutId id="2147483798" r:id="rId6"/>
  </p:sldLayoutIdLst>
  <p:hf hdr="0"/>
  <p:txStyles>
    <p:titleStyle>
      <a:lvl1pPr algn="l" defTabSz="914400" rtl="0" eaLnBrk="1" latinLnBrk="0" hangingPunct="1">
        <a:lnSpc>
          <a:spcPct val="90000"/>
        </a:lnSpc>
        <a:spcBef>
          <a:spcPct val="0"/>
        </a:spcBef>
        <a:buNone/>
        <a:defRPr sz="255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chemeClr val="tx1"/>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hyperlink" Target="https://www.info.gouv.fr/accessibilite" TargetMode="Externa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hyperlink" Target="mailto:bertrand.matge@finances.gouv.fr"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hyperlink" Target="mailto:alexandra.guiderdoni@finances.gouv.fr"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hyperlink" Target="https://atalan.fr/agissons/fr/index.html"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hyperlink" Target="https://obligations-legales-accessibilite-numerique.fr/fr/" TargetMode="External"/><Relationship Id="rId4" Type="http://schemas.openxmlformats.org/officeDocument/2006/relationships/hyperlink" Target="https://obligations-legales-accessibilite-numerique.fr/fr/simulation/" TargetMode="External"/><Relationship Id="rId5" Type="http://schemas.openxmlformats.org/officeDocument/2006/relationships/hyperlink" Target="https://obligations-legales-accessibilite-numerique.fr/fr/comprendre/" TargetMode="Externa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hyperlink" Target="https://handicap.gouv.fr/sites/handicap/files/2025-03/delegation-interministerielle-accessibilite-rapport-activite-2024.pdf" TargetMode="External"/><Relationship Id="rId5" Type="http://schemas.openxmlformats.org/officeDocument/2006/relationships/hyperlink" Target="https://handicap.gouv.fr/sites/handicap/files/2025-03/delegation-interministerielle-accessibilite-synthese-FLAC-rapport-activite-2024.pdf" TargetMode="Externa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jpg"/><Relationship Id="rId3" Type="http://schemas.openxmlformats.org/officeDocument/2006/relationships/image" Target="../media/image29.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hyperlink" Target="https://alexandra-guiderdoni.github.io/tp-fabrication-igpde-102846-ay11/" TargetMode="Externa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hyperlink" Target="https://alexandra-guiderdoni.github.io/tp-fabrication-igpde-102846-ay11/" TargetMode="External"/><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hecklists.opquast.com/fr/qualite-numerique/les-contenus-ne-detournent-pas-de-caracteres-pour-simuler-une-mise-en-forme-visuelle" TargetMode="Externa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303520" y="4114800"/>
            <a:ext cx="6492240" cy="1188720"/>
          </a:xfrm>
        </p:spPr>
        <p:txBody>
          <a:bodyPr wrap="square" anchor="t" lIns="73152" rIns="73152"/>
          <a:lstStyle/>
          <a:p>
            <a:pPr algn="r">
              <a:lnSpc>
                <a:spcPct val="125000"/>
              </a:lnSpc>
            </a:pPr>
            <a:r>
              <a:rPr sz="3200" b="1" i="0" lang="fr-FR">
                <a:solidFill>
                  <a:srgbClr val="000091"/>
                </a:solidFill>
                <a:latin typeface="Arial"/>
              </a:rPr>
              <a:t>L'accessibilité numérique pour la bureautique et le web</a:t>
            </a:r>
          </a:p>
        </p:txBody>
      </p:sp>
      <p:sp>
        <p:nvSpPr>
          <p:cNvPr id="6" name="Espace réservé du numéro de diapositive 5"/>
          <p:cNvSpPr>
            <a:spLocks noGrp="1"/>
          </p:cNvSpPr>
          <p:nvPr>
            <p:ph type="sldNum" sz="quarter" idx="12"/>
          </p:nvPr>
        </p:nvSpPr>
        <p:spPr bwMode="gray">
          <a:xfrm>
            <a:off x="8348472" y="6382512"/>
            <a:ext cx="1801368" cy="475488"/>
          </a:xfrm>
          <a:ln>
            <a:solidFill>
              <a:schemeClr val="tx1">
                <a:alpha val="0"/>
              </a:schemeClr>
            </a:solidFill>
          </a:ln>
        </p:spPr>
        <p:txBody>
          <a:bodyPr wrap="square" anchor="t" lIns="73152" rIns="73152"/>
          <a:lstStyle>
            <a:lvl1pPr>
              <a:defRPr sz="100" lang="fr-FR">
                <a:solidFill>
                  <a:schemeClr val="tx1">
                    <a:alpha val="0"/>
                  </a:schemeClr>
                </a:solidFill>
              </a:defRPr>
            </a:lvl1pPr>
          </a:lstStyle>
          <a:p>
            <a:pPr algn="l">
              <a:lnSpc>
                <a:spcPct val="125000"/>
              </a:lnSpc>
            </a:pPr>
            <a:r>
              <a:rPr sz="1000" b="0" i="0" lang="fr-FR">
                <a:solidFill>
                  <a:srgbClr val="666666"/>
                </a:solidFill>
                <a:latin typeface="Arial"/>
              </a:rPr>
              <a:t>1</a:t>
            </a:r>
            <a:endParaRPr lang="fr-FR" dirty="0"/>
          </a:p>
        </p:txBody>
      </p:sp>
      <p:sp>
        <p:nvSpPr>
          <p:cNvPr id="8" name="DSFR-couverture-soustitre"/>
          <p:cNvSpPr txBox="1"/>
          <p:nvPr/>
        </p:nvSpPr>
        <p:spPr>
          <a:xfrm>
            <a:off x="5303520" y="5440680"/>
            <a:ext cx="6492240" cy="320040"/>
          </a:xfrm>
          <a:prstGeom prst="rect">
            <a:avLst/>
          </a:prstGeom>
          <a:noFill/>
        </p:spPr>
        <p:txBody>
          <a:bodyPr wrap="square" anchor="t" lIns="73152" rIns="73152">
            <a:spAutoFit/>
          </a:bodyPr>
          <a:lstStyle/>
          <a:p>
            <a:pPr algn="r">
              <a:lnSpc>
                <a:spcPct val="125000"/>
              </a:lnSpc>
            </a:pPr>
            <a:r>
              <a:rPr sz="1400" b="1" i="0" lang="fr-FR">
                <a:solidFill>
                  <a:srgbClr val="000091"/>
                </a:solidFill>
                <a:latin typeface="Arial"/>
              </a:rPr>
              <a:t>Formation 102846 | Bureautique et web</a:t>
            </a:r>
          </a:p>
        </p:txBody>
      </p:sp>
      <p:sp>
        <p:nvSpPr>
          <p:cNvPr id="4" name="Espace réservé de la date 3"/>
          <p:cNvSpPr>
            <a:spLocks noGrp="1"/>
          </p:cNvSpPr>
          <p:nvPr>
            <p:ph type="dt" sz="half" idx="10"/>
          </p:nvPr>
        </p:nvSpPr>
        <p:spPr bwMode="gray">
          <a:xfrm>
            <a:off x="10149840" y="6382512"/>
            <a:ext cx="1563624" cy="475488"/>
          </a:xfrm>
          <a:ln>
            <a:solidFill>
              <a:schemeClr val="tx1">
                <a:alpha val="0"/>
              </a:schemeClr>
            </a:solidFill>
          </a:ln>
        </p:spPr>
        <p:txBody>
          <a:bodyPr wrap="square" anchor="t" lIns="73152" rIns="73152"/>
          <a:lstStyle>
            <a:lvl1pPr>
              <a:defRPr sz="100" lang="fr-FR">
                <a:solidFill>
                  <a:schemeClr val="tx1">
                    <a:alpha val="0"/>
                  </a:schemeClr>
                </a:solidFill>
              </a:defRPr>
            </a:lvl1pPr>
          </a:lstStyle>
          <a:p>
            <a:pPr algn="l">
              <a:lnSpc>
                <a:spcPct val="125000"/>
              </a:lnSpc>
            </a:pPr>
            <a:r>
              <a:rPr sz="1000" b="0" i="0" lang="fr-FR">
                <a:solidFill>
                  <a:srgbClr val="666666"/>
                </a:solidFill>
                <a:latin typeface="Arial"/>
              </a:rPr>
              <a:t>9 octobre 2026</a:t>
            </a:r>
            <a:endParaRPr lang="fr-FR" dirty="0"/>
          </a:p>
        </p:txBody>
      </p:sp>
      <p:sp>
        <p:nvSpPr>
          <p:cNvPr id="5" name="Espace réservé du pied de page 4"/>
          <p:cNvSpPr>
            <a:spLocks noGrp="1"/>
          </p:cNvSpPr>
          <p:nvPr>
            <p:ph type="ftr" sz="quarter" idx="11"/>
          </p:nvPr>
        </p:nvSpPr>
        <p:spPr bwMode="gray">
          <a:xfrm>
            <a:off x="475488" y="6382512"/>
            <a:ext cx="7872983" cy="475488"/>
          </a:xfrm>
        </p:spPr>
        <p:txBody>
          <a:bodyPr anchor="t" anchorCtr="0" wrap="square" lIns="73152" rIns="73152"/>
          <a:lstStyle>
            <a:lvl1pPr>
              <a:defRPr sz="1150" lang="fr-FR"/>
            </a:lvl1pPr>
          </a:lstStyle>
          <a:p>
            <a:pPr algn="l">
              <a:lnSpc>
                <a:spcPct val="125000"/>
              </a:lnSpc>
            </a:pPr>
            <a:r>
              <a:rPr sz="1000" b="0" i="0" lang="fr-FR">
                <a:solidFill>
                  <a:srgbClr val="666666"/>
                </a:solidFill>
                <a:latin typeface="Arial"/>
              </a:rPr>
              <a:t>Institut de la Gestion publique et du Développement économique</a:t>
            </a:r>
          </a:p>
        </p:txBody>
      </p:sp>
      <p:cxnSp>
        <p:nvCxnSpPr>
          <p:cNvPr id="7" name="IGPDE-footer-ligne-decoratif" descr=""/>
          <p:cNvCxnSpPr/>
          <p:nvPr/>
        </p:nvCxnSpPr>
        <p:spPr>
          <a:xfrm>
            <a:off x="475488" y="6373368"/>
            <a:ext cx="11228831" cy="0"/>
          </a:xfrm>
          <a:prstGeom prst="line">
            <a:avLst/>
          </a:prstGeom>
          <a:ln w="6350">
            <a:solidFill>
              <a:srgbClr val="99999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560320" y="868680"/>
            <a:ext cx="7315200" cy="822960"/>
          </a:xfrm>
        </p:spPr>
        <p:txBody>
          <a:bodyPr wrap="square" anchor="t" lIns="73152" rIns="73152"/>
          <a:lstStyle/>
          <a:p>
            <a:pPr algn="ctr">
              <a:lnSpc>
                <a:spcPct val="125000"/>
              </a:lnSpc>
            </a:pPr>
            <a:r>
              <a:rPr sz="3600" b="1" i="0" lang="fr-FR">
                <a:solidFill>
                  <a:srgbClr val="000091"/>
                </a:solidFill>
                <a:latin typeface="Arial"/>
              </a:rPr>
              <a:t>Objectifs pédagogiques</a:t>
            </a:r>
          </a:p>
        </p:txBody>
      </p:sp>
      <p:sp>
        <p:nvSpPr>
          <p:cNvPr id="8" name="Espace réservé du numéro de diapositive 7"/>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a:t>
            </a:r>
            <a:endParaRPr lang="fr-FR" dirty="0"/>
          </a:p>
        </p:txBody>
      </p:sp>
      <p:sp>
        <p:nvSpPr>
          <p:cNvPr id="15" name="DSFR-box"/>
          <p:cNvSpPr/>
          <p:nvPr/>
        </p:nvSpPr>
        <p:spPr>
          <a:xfrm>
            <a:off x="548640" y="2103120"/>
            <a:ext cx="5390388" cy="238201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body"/>
          <p:cNvSpPr txBox="1"/>
          <p:nvPr/>
        </p:nvSpPr>
        <p:spPr>
          <a:xfrm>
            <a:off x="704088" y="2240279"/>
            <a:ext cx="5143500" cy="215341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Expliquer les enjeux de l'accessibilité numérique et son cadre légal dans le contexte de la communication</a:t>
            </a:r>
          </a:p>
          <a:p>
            <a:pPr algn="l">
              <a:lnSpc>
                <a:spcPct val="150000"/>
              </a:lnSpc>
            </a:pPr>
            <a:r>
              <a:rPr sz="1400" lang="fr-FR">
                <a:solidFill>
                  <a:srgbClr val="161616"/>
                </a:solidFill>
                <a:latin typeface="Arial"/>
              </a:rPr>
              <a:t>• </a:t>
            </a:r>
            <a:r>
              <a:rPr sz="1400" b="0" lang="fr-FR">
                <a:solidFill>
                  <a:srgbClr val="161616"/>
                </a:solidFill>
                <a:latin typeface="Arial"/>
              </a:rPr>
              <a:t>Identifier et évaluer les principales erreurs d'accessibilité</a:t>
            </a:r>
          </a:p>
          <a:p>
            <a:pPr algn="l">
              <a:lnSpc>
                <a:spcPct val="150000"/>
              </a:lnSpc>
            </a:pPr>
            <a:r>
              <a:rPr sz="1400" lang="fr-FR">
                <a:solidFill>
                  <a:srgbClr val="161616"/>
                </a:solidFill>
                <a:latin typeface="Arial"/>
              </a:rPr>
              <a:t>• </a:t>
            </a:r>
            <a:r>
              <a:rPr sz="1400" b="0" lang="fr-FR">
                <a:solidFill>
                  <a:srgbClr val="161616"/>
                </a:solidFill>
                <a:latin typeface="Arial"/>
              </a:rPr>
              <a:t>Rendre des contenus numériques accessibles</a:t>
            </a:r>
          </a:p>
        </p:txBody>
      </p:sp>
      <p:pic>
        <p:nvPicPr>
          <p:cNvPr id="17" name="Picture 16" descr="Affiche du Service d'information du Gouvernement pour les 20 ans de la loi handicap. Un ordinateur à l'écran inversé illustre un outil inaccessible. L'affiche invite les agents publics à utiliser les outils disponibles sur accessibilite.gouv.fr."/>
          <p:cNvPicPr>
            <a:picLocks noChangeAspect="1"/>
          </p:cNvPicPr>
          <p:nvPr/>
        </p:nvPicPr>
        <p:blipFill>
          <a:blip r:embed="rId2"/>
          <a:stretch>
            <a:fillRect/>
          </a:stretch>
        </p:blipFill>
        <p:spPr>
          <a:xfrm>
            <a:off x="6885432" y="1920240"/>
            <a:ext cx="3493008" cy="4167097"/>
          </a:xfrm>
          <a:prstGeom prst="rect">
            <a:avLst/>
          </a:prstGeom>
        </p:spPr>
      </p:pic>
      <p:pic>
        <p:nvPicPr>
          <p:cNvPr id="18" name="DSFR-qrcode" descr="QR code : https://www.info.gouv.fr/accessibilite"/>
          <p:cNvPicPr>
            <a:picLocks noChangeAspect="1"/>
          </p:cNvPicPr>
          <p:nvPr/>
        </p:nvPicPr>
        <p:blipFill>
          <a:blip r:embed="rId3"/>
          <a:stretch>
            <a:fillRect/>
          </a:stretch>
        </p:blipFill>
        <p:spPr>
          <a:xfrm>
            <a:off x="475488" y="4846320"/>
            <a:ext cx="1024128" cy="1024128"/>
          </a:xfrm>
          <a:prstGeom prst="rect">
            <a:avLst/>
          </a:prstGeom>
        </p:spPr>
      </p:pic>
      <p:sp>
        <p:nvSpPr>
          <p:cNvPr id="19" name="DSFR-qrcode-cta"/>
          <p:cNvSpPr txBox="1"/>
          <p:nvPr/>
        </p:nvSpPr>
        <p:spPr>
          <a:xfrm>
            <a:off x="1627632" y="4919472"/>
            <a:ext cx="4311396"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20" name="DSFR-qrcode-url-visible"/>
          <p:cNvSpPr txBox="1"/>
          <p:nvPr/>
        </p:nvSpPr>
        <p:spPr>
          <a:xfrm>
            <a:off x="1627632" y="5212080"/>
            <a:ext cx="4311396" cy="749808"/>
          </a:xfrm>
          <a:prstGeom prst="rect">
            <a:avLst/>
          </a:prstGeom>
          <a:noFill/>
        </p:spPr>
        <p:txBody>
          <a:bodyPr wrap="square" anchor="t" lIns="73152" rIns="73152">
            <a:spAutoFit/>
          </a:bodyPr>
          <a:lstStyle/>
          <a:p>
            <a:pPr algn="l">
              <a:lnSpc>
                <a:spcPct val="125000"/>
              </a:lnSpc>
            </a:pPr>
            <a:r>
              <a:rPr sz="1000" b="0" i="0" u="sng" lang="fr-FR">
                <a:solidFill>
                  <a:srgbClr val="000091"/>
                </a:solidFill>
                <a:latin typeface="Arial"/>
                <a:hlinkClick r:id="rId4"/>
              </a:rPr>
              <a:t>https://www.info.gouv.fr/accessibilite</a:t>
            </a:r>
          </a:p>
        </p:txBody>
      </p:sp>
      <p:sp>
        <p:nvSpPr>
          <p:cNvPr id="2" name="Espace réservé de la date 1"/>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13" name="Espace réservé du pied de page 4">
            <a:extLst>
              <a:ext uri="{FF2B5EF4-FFF2-40B4-BE49-F238E27FC236}">
                <a16:creationId xmlns:a16="http://schemas.microsoft.com/office/drawing/2014/main" id="{1877CCD8-58D1-4121-82F0-FFD6288F90E5}"/>
              </a:ext>
            </a:extLst>
          </p:cNvPr>
          <p:cNvSpPr>
            <a:spLocks noGrp="1"/>
          </p:cNvSpPr>
          <p:nvPr>
            <p:ph type="ftr" sz="quarter" idx="11"/>
          </p:nvPr>
        </p:nvSpPr>
        <p:spPr>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Objectifs</a:t>
            </a:r>
          </a:p>
        </p:txBody>
      </p:sp>
      <p:sp>
        <p:nvSpPr>
          <p:cNvPr id="14" name="DSFR-accent-decoratif" descr=""/>
          <p:cNvSpPr/>
          <p:nvPr/>
        </p:nvSpPr>
        <p:spPr>
          <a:xfrm>
            <a:off x="475488" y="2103120"/>
            <a:ext cx="73152" cy="238201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Programme de la journée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a:t>
            </a:r>
            <a:endParaRPr lang="fr-FR" dirty="0"/>
          </a:p>
        </p:txBody>
      </p:sp>
      <p:sp>
        <p:nvSpPr>
          <p:cNvPr id="9" name="DSFR-box"/>
          <p:cNvSpPr/>
          <p:nvPr/>
        </p:nvSpPr>
        <p:spPr>
          <a:xfrm>
            <a:off x="548640" y="2057400"/>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1408176" y="2240280"/>
            <a:ext cx="4347972"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Accessibilité et cadre légal</a:t>
            </a:r>
          </a:p>
        </p:txBody>
      </p:sp>
      <p:sp>
        <p:nvSpPr>
          <p:cNvPr id="12" name="DSFR-card-contenu"/>
          <p:cNvSpPr txBox="1"/>
          <p:nvPr/>
        </p:nvSpPr>
        <p:spPr>
          <a:xfrm>
            <a:off x="704088" y="2926080"/>
            <a:ext cx="5097779" cy="91439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Enjeux et obligations des acteurs publics</a:t>
            </a:r>
          </a:p>
          <a:p>
            <a:pPr algn="l">
              <a:lnSpc>
                <a:spcPct val="125000"/>
              </a:lnSpc>
            </a:pPr>
            <a:r>
              <a:rPr sz="1400" lang="fr-FR">
                <a:solidFill>
                  <a:srgbClr val="161616"/>
                </a:solidFill>
                <a:latin typeface="Arial"/>
              </a:rPr>
              <a:t>• </a:t>
            </a:r>
            <a:r>
              <a:rPr sz="1400" b="0" lang="fr-FR">
                <a:solidFill>
                  <a:srgbClr val="161616"/>
                </a:solidFill>
                <a:latin typeface="Arial"/>
              </a:rPr>
              <a:t>Déclaration d'accessibilité</a:t>
            </a:r>
          </a:p>
        </p:txBody>
      </p:sp>
      <p:sp>
        <p:nvSpPr>
          <p:cNvPr id="14" name="DSFR-box"/>
          <p:cNvSpPr/>
          <p:nvPr/>
        </p:nvSpPr>
        <p:spPr>
          <a:xfrm>
            <a:off x="6313931" y="2057400"/>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7173467" y="2240280"/>
            <a:ext cx="4347972"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Bureautique accessible</a:t>
            </a:r>
          </a:p>
        </p:txBody>
      </p:sp>
      <p:sp>
        <p:nvSpPr>
          <p:cNvPr id="17" name="DSFR-card-contenu"/>
          <p:cNvSpPr txBox="1"/>
          <p:nvPr/>
        </p:nvSpPr>
        <p:spPr>
          <a:xfrm>
            <a:off x="6469379" y="2926080"/>
            <a:ext cx="5097779" cy="91439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Documents Word (LibreOffice)</a:t>
            </a:r>
          </a:p>
          <a:p>
            <a:pPr algn="l">
              <a:lnSpc>
                <a:spcPct val="125000"/>
              </a:lnSpc>
            </a:pPr>
            <a:r>
              <a:rPr sz="1400" lang="fr-FR">
                <a:solidFill>
                  <a:srgbClr val="161616"/>
                </a:solidFill>
                <a:latin typeface="Arial"/>
              </a:rPr>
              <a:t>• </a:t>
            </a:r>
            <a:r>
              <a:rPr sz="1400" b="0" lang="fr-FR">
                <a:solidFill>
                  <a:srgbClr val="161616"/>
                </a:solidFill>
                <a:latin typeface="Arial"/>
              </a:rPr>
              <a:t>Export PDF accessible</a:t>
            </a:r>
          </a:p>
        </p:txBody>
      </p:sp>
      <p:sp>
        <p:nvSpPr>
          <p:cNvPr id="19" name="DSFR-box"/>
          <p:cNvSpPr/>
          <p:nvPr/>
        </p:nvSpPr>
        <p:spPr>
          <a:xfrm>
            <a:off x="548640" y="4251959"/>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1408176" y="4434840"/>
            <a:ext cx="4347972"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Points de contrôle rapides W3C</a:t>
            </a:r>
          </a:p>
        </p:txBody>
      </p:sp>
      <p:sp>
        <p:nvSpPr>
          <p:cNvPr id="22" name="DSFR-card-contenu"/>
          <p:cNvSpPr txBox="1"/>
          <p:nvPr/>
        </p:nvSpPr>
        <p:spPr>
          <a:xfrm>
            <a:off x="704088" y="5120640"/>
            <a:ext cx="5097779" cy="91439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13 vérifications rapides W3C WAI</a:t>
            </a:r>
          </a:p>
          <a:p>
            <a:pPr algn="l">
              <a:lnSpc>
                <a:spcPct val="125000"/>
              </a:lnSpc>
            </a:pPr>
            <a:r>
              <a:rPr sz="1400" lang="fr-FR">
                <a:solidFill>
                  <a:srgbClr val="161616"/>
                </a:solidFill>
                <a:latin typeface="Arial"/>
              </a:rPr>
              <a:t>• </a:t>
            </a:r>
            <a:r>
              <a:rPr sz="1400" b="0" lang="fr-FR">
                <a:solidFill>
                  <a:srgbClr val="161616"/>
                </a:solidFill>
                <a:latin typeface="Arial"/>
              </a:rPr>
              <a:t>Démonstration et exercice pratique</a:t>
            </a:r>
          </a:p>
        </p:txBody>
      </p:sp>
      <p:sp>
        <p:nvSpPr>
          <p:cNvPr id="24" name="DSFR-box"/>
          <p:cNvSpPr/>
          <p:nvPr/>
        </p:nvSpPr>
        <p:spPr>
          <a:xfrm>
            <a:off x="6313931" y="4251959"/>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card-titre"/>
          <p:cNvSpPr txBox="1"/>
          <p:nvPr/>
        </p:nvSpPr>
        <p:spPr>
          <a:xfrm>
            <a:off x="7173467" y="4434840"/>
            <a:ext cx="4347972"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Réseaux sociaux</a:t>
            </a:r>
          </a:p>
        </p:txBody>
      </p:sp>
      <p:sp>
        <p:nvSpPr>
          <p:cNvPr id="27" name="DSFR-card-contenu"/>
          <p:cNvSpPr txBox="1"/>
          <p:nvPr/>
        </p:nvSpPr>
        <p:spPr>
          <a:xfrm>
            <a:off x="6469379" y="5120640"/>
            <a:ext cx="5097779" cy="91439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Enjeux et obligations</a:t>
            </a:r>
          </a:p>
          <a:p>
            <a:pPr algn="l">
              <a:lnSpc>
                <a:spcPct val="125000"/>
              </a:lnSpc>
            </a:pPr>
            <a:r>
              <a:rPr sz="1400" lang="fr-FR">
                <a:solidFill>
                  <a:srgbClr val="161616"/>
                </a:solidFill>
                <a:latin typeface="Arial"/>
              </a:rPr>
              <a:t>• </a:t>
            </a:r>
            <a:r>
              <a:rPr sz="1400" b="0" lang="fr-FR">
                <a:solidFill>
                  <a:srgbClr val="161616"/>
                </a:solidFill>
                <a:latin typeface="Arial"/>
              </a:rPr>
              <a:t>Alt text, hashtags, émojis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Programme</a:t>
            </a:r>
          </a:p>
        </p:txBody>
      </p:sp>
      <p:sp>
        <p:nvSpPr>
          <p:cNvPr id="10" name="DSFR-card-numero"/>
          <p:cNvSpPr/>
          <p:nvPr/>
        </p:nvSpPr>
        <p:spPr>
          <a:xfrm>
            <a:off x="704088" y="224028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1</a:t>
            </a:r>
          </a:p>
        </p:txBody>
      </p:sp>
      <p:sp>
        <p:nvSpPr>
          <p:cNvPr id="15" name="DSFR-card-numero"/>
          <p:cNvSpPr/>
          <p:nvPr/>
        </p:nvSpPr>
        <p:spPr>
          <a:xfrm>
            <a:off x="6469379" y="224028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2</a:t>
            </a:r>
          </a:p>
        </p:txBody>
      </p:sp>
      <p:sp>
        <p:nvSpPr>
          <p:cNvPr id="20" name="DSFR-card-numero"/>
          <p:cNvSpPr/>
          <p:nvPr/>
        </p:nvSpPr>
        <p:spPr>
          <a:xfrm>
            <a:off x="704088" y="443484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3</a:t>
            </a:r>
          </a:p>
        </p:txBody>
      </p:sp>
      <p:sp>
        <p:nvSpPr>
          <p:cNvPr id="25" name="DSFR-card-numero"/>
          <p:cNvSpPr/>
          <p:nvPr/>
        </p:nvSpPr>
        <p:spPr>
          <a:xfrm>
            <a:off x="6469379" y="443484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4</a:t>
            </a:r>
          </a:p>
        </p:txBody>
      </p:sp>
      <p:sp>
        <p:nvSpPr>
          <p:cNvPr id="8" name="DSFR-accent-decoratif" descr=""/>
          <p:cNvSpPr/>
          <p:nvPr/>
        </p:nvSpPr>
        <p:spPr>
          <a:xfrm>
            <a:off x="475488" y="205740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05740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475488" y="4251959"/>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6240779" y="4251959"/>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Bertrand Matge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Intervenants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a:t>
            </a:r>
            <a:endParaRPr lang="fr-FR" dirty="0"/>
          </a:p>
        </p:txBody>
      </p:sp>
      <p:pic>
        <p:nvPicPr>
          <p:cNvPr id="8" name="Picture 7" descr="Photo Bertrand Matge"/>
          <p:cNvPicPr>
            <a:picLocks noChangeAspect="1"/>
          </p:cNvPicPr>
          <p:nvPr/>
        </p:nvPicPr>
        <p:blipFill>
          <a:blip r:embed="rId2"/>
          <a:stretch>
            <a:fillRect/>
          </a:stretch>
        </p:blipFill>
        <p:spPr>
          <a:xfrm>
            <a:off x="649224" y="2194560"/>
            <a:ext cx="2185416" cy="2185416"/>
          </a:xfrm>
          <a:prstGeom prst="rect">
            <a:avLst/>
          </a:prstGeom>
        </p:spPr>
      </p:pic>
      <p:sp>
        <p:nvSpPr>
          <p:cNvPr id="10" name="DSFR-box"/>
          <p:cNvSpPr/>
          <p:nvPr/>
        </p:nvSpPr>
        <p:spPr>
          <a:xfrm>
            <a:off x="4005072" y="2194560"/>
            <a:ext cx="7699248" cy="319582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4160520" y="2286000"/>
            <a:ext cx="745236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Responsable pôle support web - Mission Ingénierie du Web, SG-SNUM</a:t>
            </a:r>
          </a:p>
        </p:txBody>
      </p:sp>
      <p:sp>
        <p:nvSpPr>
          <p:cNvPr id="12" name="DSFR-callout-body"/>
          <p:cNvSpPr txBox="1"/>
          <p:nvPr/>
        </p:nvSpPr>
        <p:spPr>
          <a:xfrm>
            <a:off x="4160520" y="2857500"/>
            <a:ext cx="7452360" cy="244144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Formateur Opquast certifié, référent Assurance Qualité Web</a:t>
            </a:r>
          </a:p>
          <a:p>
            <a:pPr algn="l">
              <a:lnSpc>
                <a:spcPct val="150000"/>
              </a:lnSpc>
            </a:pPr>
            <a:r>
              <a:rPr sz="1400" lang="fr-FR">
                <a:solidFill>
                  <a:srgbClr val="161616"/>
                </a:solidFill>
                <a:latin typeface="Arial"/>
              </a:rPr>
              <a:t>• </a:t>
            </a:r>
            <a:r>
              <a:rPr sz="1400" b="0" lang="fr-FR">
                <a:solidFill>
                  <a:srgbClr val="161616"/>
                </a:solidFill>
                <a:latin typeface="Arial"/>
              </a:rPr>
              <a:t>Forme et sensibilise à l'accessibilité depuis plusieurs années</a:t>
            </a:r>
          </a:p>
          <a:p>
            <a:pPr algn="l">
              <a:lnSpc>
                <a:spcPct val="150000"/>
              </a:lnSpc>
            </a:pPr>
            <a:r>
              <a:rPr sz="1400" lang="fr-FR">
                <a:solidFill>
                  <a:srgbClr val="161616"/>
                </a:solidFill>
                <a:latin typeface="Arial"/>
              </a:rPr>
              <a:t>• </a:t>
            </a:r>
            <a:r>
              <a:rPr sz="1400" b="0" lang="fr-FR">
                <a:solidFill>
                  <a:srgbClr val="161616"/>
                </a:solidFill>
                <a:latin typeface="Arial"/>
              </a:rPr>
              <a:t>Passionné par la conception inclusive et l'expérience utilisateur</a:t>
            </a:r>
          </a:p>
          <a:p>
            <a:pPr algn="l">
              <a:lnSpc>
                <a:spcPct val="150000"/>
              </a:lnSpc>
            </a:pPr>
            <a:r>
              <a:rPr sz="1400" lang="fr-FR">
                <a:solidFill>
                  <a:srgbClr val="161616"/>
                </a:solidFill>
                <a:latin typeface="Arial"/>
              </a:rPr>
              <a:t>• </a:t>
            </a:r>
            <a:r>
              <a:rPr sz="1400" b="0" lang="fr-FR">
                <a:solidFill>
                  <a:srgbClr val="161616"/>
                </a:solidFill>
                <a:latin typeface="Arial"/>
              </a:rPr>
              <a:t>Formé à l'audit d'accessibilité numérique</a:t>
            </a:r>
          </a:p>
          <a:p>
            <a:pPr algn="l">
              <a:lnSpc>
                <a:spcPct val="150000"/>
              </a:lnSpc>
            </a:pPr>
            <a:r>
              <a:rPr sz="1400" lang="fr-FR">
                <a:solidFill>
                  <a:srgbClr val="161616"/>
                </a:solidFill>
                <a:latin typeface="Arial"/>
              </a:rPr>
              <a:t>• </a:t>
            </a:r>
            <a:r>
              <a:rPr sz="1400" b="0" u="sng" lang="fr-FR">
                <a:solidFill>
                  <a:srgbClr val="000091"/>
                </a:solidFill>
                <a:latin typeface="Arial"/>
                <a:hlinkClick r:id="rId3"/>
              </a:rPr>
              <a:t>Email : bertrand.matge@finances.gouv.fr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Intervenants</a:t>
            </a:r>
          </a:p>
        </p:txBody>
      </p:sp>
      <p:sp>
        <p:nvSpPr>
          <p:cNvPr id="9" name="DSFR-accent-decoratif" descr=""/>
          <p:cNvSpPr/>
          <p:nvPr/>
        </p:nvSpPr>
        <p:spPr>
          <a:xfrm>
            <a:off x="3931920" y="2194560"/>
            <a:ext cx="73152" cy="31958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Alexandra Guiderdoni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Intervenants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a:t>
            </a:r>
            <a:endParaRPr lang="fr-FR" dirty="0"/>
          </a:p>
        </p:txBody>
      </p:sp>
      <p:pic>
        <p:nvPicPr>
          <p:cNvPr id="8" name="Picture 7" descr="Photo Alexandra Guiderdoni"/>
          <p:cNvPicPr>
            <a:picLocks noChangeAspect="1"/>
          </p:cNvPicPr>
          <p:nvPr/>
        </p:nvPicPr>
        <p:blipFill>
          <a:blip r:embed="rId2"/>
          <a:stretch>
            <a:fillRect/>
          </a:stretch>
        </p:blipFill>
        <p:spPr>
          <a:xfrm>
            <a:off x="649224" y="2194560"/>
            <a:ext cx="2185416" cy="2809821"/>
          </a:xfrm>
          <a:prstGeom prst="rect">
            <a:avLst/>
          </a:prstGeom>
        </p:spPr>
      </p:pic>
      <p:sp>
        <p:nvSpPr>
          <p:cNvPr id="10" name="DSFR-box"/>
          <p:cNvSpPr/>
          <p:nvPr/>
        </p:nvSpPr>
        <p:spPr>
          <a:xfrm>
            <a:off x="4005072" y="2194560"/>
            <a:ext cx="7699248" cy="332384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4160520" y="2286000"/>
            <a:ext cx="745236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Chef de projet - Mission Ingénierie du Web, SG-SNUM</a:t>
            </a:r>
          </a:p>
        </p:txBody>
      </p:sp>
      <p:sp>
        <p:nvSpPr>
          <p:cNvPr id="12" name="DSFR-callout-body"/>
          <p:cNvSpPr txBox="1"/>
          <p:nvPr/>
        </p:nvSpPr>
        <p:spPr>
          <a:xfrm>
            <a:off x="4160520" y="2697479"/>
            <a:ext cx="7452360" cy="2729484"/>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Spécialisée dans les technologies web et l'accessibilité numérique</a:t>
            </a:r>
          </a:p>
          <a:p>
            <a:pPr algn="l">
              <a:lnSpc>
                <a:spcPct val="150000"/>
              </a:lnSpc>
            </a:pPr>
            <a:r>
              <a:rPr sz="1400" lang="fr-FR">
                <a:solidFill>
                  <a:srgbClr val="161616"/>
                </a:solidFill>
                <a:latin typeface="Arial"/>
              </a:rPr>
              <a:t>• </a:t>
            </a:r>
            <a:r>
              <a:rPr sz="1400" b="0" lang="fr-FR">
                <a:solidFill>
                  <a:srgbClr val="161616"/>
                </a:solidFill>
                <a:latin typeface="Arial"/>
              </a:rPr>
              <a:t>Expérience : Ministère des affaires étrangères, ESN</a:t>
            </a:r>
          </a:p>
          <a:p>
            <a:pPr algn="l">
              <a:lnSpc>
                <a:spcPct val="150000"/>
              </a:lnSpc>
            </a:pPr>
            <a:r>
              <a:rPr sz="1400" lang="fr-FR">
                <a:solidFill>
                  <a:srgbClr val="161616"/>
                </a:solidFill>
                <a:latin typeface="Arial"/>
              </a:rPr>
              <a:t>• </a:t>
            </a:r>
            <a:r>
              <a:rPr sz="1400" b="0" lang="fr-FR">
                <a:solidFill>
                  <a:srgbClr val="161616"/>
                </a:solidFill>
                <a:latin typeface="Arial"/>
              </a:rPr>
              <a:t>DU-RAN (diplôme universitaire référent accessibilité numérique), 1re session 2024</a:t>
            </a:r>
          </a:p>
          <a:p>
            <a:pPr algn="l">
              <a:lnSpc>
                <a:spcPct val="150000"/>
              </a:lnSpc>
            </a:pPr>
            <a:r>
              <a:rPr sz="1400" lang="fr-FR">
                <a:solidFill>
                  <a:srgbClr val="161616"/>
                </a:solidFill>
                <a:latin typeface="Arial"/>
              </a:rPr>
              <a:t>• </a:t>
            </a:r>
            <a:r>
              <a:rPr sz="1400" b="0" lang="fr-FR">
                <a:solidFill>
                  <a:srgbClr val="161616"/>
                </a:solidFill>
                <a:latin typeface="Arial"/>
              </a:rPr>
              <a:t>Formée à l'audit d'accessibilité numérique RGAA</a:t>
            </a:r>
          </a:p>
          <a:p>
            <a:pPr algn="l">
              <a:lnSpc>
                <a:spcPct val="150000"/>
              </a:lnSpc>
            </a:pPr>
            <a:r>
              <a:rPr sz="1400" lang="fr-FR">
                <a:solidFill>
                  <a:srgbClr val="161616"/>
                </a:solidFill>
                <a:latin typeface="Arial"/>
              </a:rPr>
              <a:t>• </a:t>
            </a:r>
            <a:r>
              <a:rPr sz="1400" b="0" lang="fr-FR">
                <a:solidFill>
                  <a:srgbClr val="161616"/>
                </a:solidFill>
                <a:latin typeface="Arial"/>
              </a:rPr>
              <a:t>Formatrice et Référente en Assurance Qualité pour le Web - Opquast</a:t>
            </a:r>
          </a:p>
          <a:p>
            <a:pPr algn="l">
              <a:lnSpc>
                <a:spcPct val="150000"/>
              </a:lnSpc>
            </a:pPr>
            <a:r>
              <a:rPr sz="1400" lang="fr-FR">
                <a:solidFill>
                  <a:srgbClr val="161616"/>
                </a:solidFill>
                <a:latin typeface="Arial"/>
              </a:rPr>
              <a:t>• </a:t>
            </a:r>
            <a:r>
              <a:rPr sz="1400" b="0" u="sng" lang="fr-FR">
                <a:solidFill>
                  <a:srgbClr val="000091"/>
                </a:solidFill>
                <a:latin typeface="Arial"/>
                <a:hlinkClick r:id="rId3"/>
              </a:rPr>
              <a:t>Email : alexandra.guiderdoni@finances.gouv.fr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Intervenants</a:t>
            </a:r>
          </a:p>
        </p:txBody>
      </p:sp>
      <p:sp>
        <p:nvSpPr>
          <p:cNvPr id="9" name="DSFR-accent-decoratif" descr=""/>
          <p:cNvSpPr/>
          <p:nvPr/>
        </p:nvSpPr>
        <p:spPr>
          <a:xfrm>
            <a:off x="3931920" y="2194560"/>
            <a:ext cx="73152" cy="332384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Présentez-vous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a:t>
            </a:r>
            <a:endParaRPr lang="fr-FR" dirty="0"/>
          </a:p>
        </p:txBody>
      </p:sp>
      <p:sp>
        <p:nvSpPr>
          <p:cNvPr id="9" name="DSFR-box"/>
          <p:cNvSpPr/>
          <p:nvPr/>
        </p:nvSpPr>
        <p:spPr>
          <a:xfrm>
            <a:off x="548640" y="2103120"/>
            <a:ext cx="3468623" cy="3154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Qui êtes-vous ?</a:t>
            </a:r>
          </a:p>
        </p:txBody>
      </p:sp>
      <p:sp>
        <p:nvSpPr>
          <p:cNvPr id="11" name="DSFR-card-contenu"/>
          <p:cNvSpPr txBox="1"/>
          <p:nvPr/>
        </p:nvSpPr>
        <p:spPr>
          <a:xfrm>
            <a:off x="704088" y="2697479"/>
            <a:ext cx="3176016" cy="2468880"/>
          </a:xfrm>
          <a:prstGeom prst="rect">
            <a:avLst/>
          </a:prstGeom>
          <a:noFill/>
        </p:spPr>
        <p:txBody>
          <a:bodyPr wrap="square" anchor="t" lIns="73152" rIns="73152">
            <a:spAutoFit/>
          </a:bodyPr>
          <a:lstStyle/>
          <a:p>
            <a:pPr algn="l">
              <a:lnSpc>
                <a:spcPct val="150000"/>
              </a:lnSpc>
            </a:pPr>
            <a:r>
              <a:rPr sz="1400" b="0" i="0" lang="fr-FR">
                <a:solidFill>
                  <a:srgbClr val="161616"/>
                </a:solidFill>
                <a:latin typeface="Arial"/>
              </a:rPr>
              <a:t>Bonjour, je m'appelle [prénom]
Je suis [métier / fonction]
chez [direction / service]
depuis [durée]</a:t>
            </a:r>
          </a:p>
        </p:txBody>
      </p:sp>
      <p:sp>
        <p:nvSpPr>
          <p:cNvPr id="13" name="DSFR-box"/>
          <p:cNvSpPr/>
          <p:nvPr/>
        </p:nvSpPr>
        <p:spPr>
          <a:xfrm>
            <a:off x="4392167" y="2103120"/>
            <a:ext cx="3468623" cy="3154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4547615"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Mon rapport à l'accessibilité</a:t>
            </a:r>
          </a:p>
        </p:txBody>
      </p:sp>
      <p:sp>
        <p:nvSpPr>
          <p:cNvPr id="15" name="DSFR-card-contenu"/>
          <p:cNvSpPr txBox="1"/>
          <p:nvPr/>
        </p:nvSpPr>
        <p:spPr>
          <a:xfrm>
            <a:off x="4547615" y="2697479"/>
            <a:ext cx="3176016" cy="2468880"/>
          </a:xfrm>
          <a:prstGeom prst="rect">
            <a:avLst/>
          </a:prstGeom>
          <a:noFill/>
        </p:spPr>
        <p:txBody>
          <a:bodyPr wrap="square" anchor="t" lIns="73152" rIns="73152">
            <a:spAutoFit/>
          </a:bodyPr>
          <a:lstStyle/>
          <a:p>
            <a:pPr algn="l">
              <a:lnSpc>
                <a:spcPct val="150000"/>
              </a:lnSpc>
            </a:pPr>
            <a:r>
              <a:rPr sz="1400" b="0" i="0" lang="fr-FR">
                <a:solidFill>
                  <a:srgbClr val="161616"/>
                </a:solidFill>
                <a:latin typeface="Arial"/>
              </a:rPr>
              <a:t>Quand j'entends « accessibilité numérique », je pense à [premier mot]
Je me situe plutôt :
[ ] Complet débutant
[ ] J'en ai entendu parler
[ ] J'ai déjà appliqué quelques règles</a:t>
            </a:r>
          </a:p>
        </p:txBody>
      </p:sp>
      <p:sp>
        <p:nvSpPr>
          <p:cNvPr id="17" name="DSFR-box"/>
          <p:cNvSpPr/>
          <p:nvPr/>
        </p:nvSpPr>
        <p:spPr>
          <a:xfrm>
            <a:off x="8235695" y="2103120"/>
            <a:ext cx="3468623" cy="3154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rd-titre"/>
          <p:cNvSpPr txBox="1"/>
          <p:nvPr/>
        </p:nvSpPr>
        <p:spPr>
          <a:xfrm>
            <a:off x="8391144"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j'attends</a:t>
            </a:r>
          </a:p>
        </p:txBody>
      </p:sp>
      <p:sp>
        <p:nvSpPr>
          <p:cNvPr id="19" name="DSFR-card-contenu"/>
          <p:cNvSpPr txBox="1"/>
          <p:nvPr/>
        </p:nvSpPr>
        <p:spPr>
          <a:xfrm>
            <a:off x="8391144" y="2697479"/>
            <a:ext cx="3176016" cy="2468880"/>
          </a:xfrm>
          <a:prstGeom prst="rect">
            <a:avLst/>
          </a:prstGeom>
          <a:noFill/>
        </p:spPr>
        <p:txBody>
          <a:bodyPr wrap="square" anchor="t" lIns="73152" rIns="73152">
            <a:spAutoFit/>
          </a:bodyPr>
          <a:lstStyle/>
          <a:p>
            <a:pPr algn="l">
              <a:lnSpc>
                <a:spcPct val="150000"/>
              </a:lnSpc>
            </a:pPr>
            <a:r>
              <a:rPr sz="1400" b="0" i="0" lang="fr-FR">
                <a:solidFill>
                  <a:srgbClr val="161616"/>
                </a:solidFill>
                <a:latin typeface="Arial"/>
              </a:rPr>
              <a:t>Je produis principalement [type de contenu]
Pour un usage :
[ ] Interne   [ ] Grand public
Ce que j'espère retirer :
J'aimerais [objectif personnel]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8" name="DSFR-accent-decoratif" descr=""/>
          <p:cNvSpPr/>
          <p:nvPr/>
        </p:nvSpPr>
        <p:spPr>
          <a:xfrm>
            <a:off x="475488" y="2103120"/>
            <a:ext cx="73152" cy="31546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319015" y="2103120"/>
            <a:ext cx="73152" cy="31546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8162543" y="2103120"/>
            <a:ext cx="73152" cy="31546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Organisation des activités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a:t>
            </a:r>
            <a:endParaRPr lang="fr-FR" dirty="0"/>
          </a:p>
        </p:txBody>
      </p:sp>
      <p:sp>
        <p:nvSpPr>
          <p:cNvPr id="9" name="DSFR-box"/>
          <p:cNvSpPr/>
          <p:nvPr/>
        </p:nvSpPr>
        <p:spPr>
          <a:xfrm>
            <a:off x="548640" y="2103120"/>
            <a:ext cx="5390388" cy="22402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Activité idées reçues</a:t>
            </a:r>
          </a:p>
        </p:txBody>
      </p:sp>
      <p:sp>
        <p:nvSpPr>
          <p:cNvPr id="11" name="DSFR-card-contenu"/>
          <p:cNvSpPr txBox="1"/>
          <p:nvPr/>
        </p:nvSpPr>
        <p:spPr>
          <a:xfrm>
            <a:off x="704088" y="2697479"/>
            <a:ext cx="5097779" cy="15544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Mettez-vous par deux et piochez une carte idée reçue</a:t>
            </a:r>
          </a:p>
          <a:p>
            <a:pPr algn="l">
              <a:lnSpc>
                <a:spcPct val="125000"/>
              </a:lnSpc>
            </a:pPr>
            <a:r>
              <a:rPr sz="1400" lang="fr-FR">
                <a:solidFill>
                  <a:srgbClr val="161616"/>
                </a:solidFill>
                <a:latin typeface="Arial"/>
              </a:rPr>
              <a:t>• </a:t>
            </a:r>
            <a:r>
              <a:rPr sz="1400" b="0" lang="fr-FR">
                <a:solidFill>
                  <a:srgbClr val="161616"/>
                </a:solidFill>
                <a:latin typeface="Arial"/>
              </a:rPr>
              <a:t>Présentez-vous et échangez sur votre quotidien</a:t>
            </a:r>
          </a:p>
          <a:p>
            <a:pPr algn="l">
              <a:lnSpc>
                <a:spcPct val="125000"/>
              </a:lnSpc>
            </a:pPr>
            <a:r>
              <a:rPr sz="1400" lang="fr-FR">
                <a:solidFill>
                  <a:srgbClr val="161616"/>
                </a:solidFill>
                <a:latin typeface="Arial"/>
              </a:rPr>
              <a:t>• </a:t>
            </a:r>
            <a:r>
              <a:rPr sz="1400" b="0" lang="fr-FR">
                <a:solidFill>
                  <a:srgbClr val="161616"/>
                </a:solidFill>
                <a:latin typeface="Arial"/>
              </a:rPr>
              <a:t>Confrontez vos cartes : qu'en pensez-vous ?</a:t>
            </a:r>
          </a:p>
          <a:p>
            <a:pPr algn="l">
              <a:lnSpc>
                <a:spcPct val="125000"/>
              </a:lnSpc>
            </a:pPr>
            <a:r>
              <a:rPr sz="1400" lang="fr-FR">
                <a:solidFill>
                  <a:srgbClr val="161616"/>
                </a:solidFill>
                <a:latin typeface="Arial"/>
              </a:rPr>
              <a:t>• </a:t>
            </a:r>
            <a:r>
              <a:rPr sz="1400" b="0" lang="fr-FR">
                <a:solidFill>
                  <a:srgbClr val="161616"/>
                </a:solidFill>
                <a:latin typeface="Arial"/>
              </a:rPr>
              <a:t>Présentez vos réflexions au groupe - débat ouvert</a:t>
            </a:r>
          </a:p>
        </p:txBody>
      </p:sp>
      <p:sp>
        <p:nvSpPr>
          <p:cNvPr id="13" name="DSFR-box"/>
          <p:cNvSpPr/>
          <p:nvPr/>
        </p:nvSpPr>
        <p:spPr>
          <a:xfrm>
            <a:off x="6313931" y="2103120"/>
            <a:ext cx="5390388" cy="22402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 les ateliers Word et Web</a:t>
            </a:r>
          </a:p>
        </p:txBody>
      </p:sp>
      <p:sp>
        <p:nvSpPr>
          <p:cNvPr id="15" name="DSFR-card-contenu"/>
          <p:cNvSpPr txBox="1"/>
          <p:nvPr/>
        </p:nvSpPr>
        <p:spPr>
          <a:xfrm>
            <a:off x="6469379" y="2697479"/>
            <a:ext cx="5097779" cy="15544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N'hésitez pas à travailler en binôme</a:t>
            </a:r>
          </a:p>
          <a:p>
            <a:pPr algn="l">
              <a:lnSpc>
                <a:spcPct val="125000"/>
              </a:lnSpc>
            </a:pPr>
            <a:r>
              <a:rPr sz="1400" lang="fr-FR">
                <a:solidFill>
                  <a:srgbClr val="161616"/>
                </a:solidFill>
                <a:latin typeface="Arial"/>
              </a:rPr>
              <a:t>• </a:t>
            </a:r>
            <a:r>
              <a:rPr sz="1400" b="0" lang="fr-FR">
                <a:solidFill>
                  <a:srgbClr val="161616"/>
                </a:solidFill>
                <a:latin typeface="Arial"/>
              </a:rPr>
              <a:t>Deux regards repèrent ce qu'un seul ne voit pas</a:t>
            </a:r>
          </a:p>
          <a:p>
            <a:pPr algn="l">
              <a:lnSpc>
                <a:spcPct val="125000"/>
              </a:lnSpc>
            </a:pPr>
            <a:r>
              <a:rPr sz="1400" lang="fr-FR">
                <a:solidFill>
                  <a:srgbClr val="161616"/>
                </a:solidFill>
                <a:latin typeface="Arial"/>
              </a:rPr>
              <a:t>• </a:t>
            </a:r>
            <a:r>
              <a:rPr sz="1400" b="0" lang="fr-FR">
                <a:solidFill>
                  <a:srgbClr val="161616"/>
                </a:solidFill>
                <a:latin typeface="Arial"/>
              </a:rPr>
              <a:t>Expliquer à quelqu'un consolide l'apprentissage</a:t>
            </a:r>
          </a:p>
        </p:txBody>
      </p:sp>
      <p:sp>
        <p:nvSpPr>
          <p:cNvPr id="17" name="DSFR-box"/>
          <p:cNvSpPr/>
          <p:nvPr/>
        </p:nvSpPr>
        <p:spPr>
          <a:xfrm>
            <a:off x="548640" y="475488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84632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Première étape : trouvez votre binôme et piochez votre carte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8" name="DSFR-accent-decoratif" descr=""/>
          <p:cNvSpPr/>
          <p:nvPr/>
        </p:nvSpPr>
        <p:spPr>
          <a:xfrm>
            <a:off x="475488" y="2103120"/>
            <a:ext cx="73152" cy="22402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2402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75488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Ensemble, faisons tomber les préjugés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L'accessibilité numérique, ça fait peur ... mais souvent pour de mauvaises raisons.</a:t>
            </a:r>
          </a:p>
        </p:txBody>
      </p:sp>
      <p:sp>
        <p:nvSpPr>
          <p:cNvPr id="12" name="DSFR-box"/>
          <p:cNvSpPr/>
          <p:nvPr/>
        </p:nvSpPr>
        <p:spPr>
          <a:xfrm>
            <a:off x="548640" y="326898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lert-info-titre"/>
          <p:cNvSpPr txBox="1"/>
          <p:nvPr/>
        </p:nvSpPr>
        <p:spPr>
          <a:xfrm>
            <a:off x="704088" y="33604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Activité : vrai ou faux ?</a:t>
            </a:r>
          </a:p>
        </p:txBody>
      </p:sp>
      <p:sp>
        <p:nvSpPr>
          <p:cNvPr id="14" name="DSFR-alert-info-body"/>
          <p:cNvSpPr txBox="1"/>
          <p:nvPr/>
        </p:nvSpPr>
        <p:spPr>
          <a:xfrm>
            <a:off x="704088" y="377190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En binôme, confrontez vos cartes : vrai ou faux ?</a:t>
            </a:r>
          </a:p>
          <a:p>
            <a:pPr algn="l">
              <a:lnSpc>
                <a:spcPct val="150000"/>
              </a:lnSpc>
            </a:pPr>
            <a:r>
              <a:rPr sz="1400" lang="fr-FR">
                <a:solidFill>
                  <a:srgbClr val="161616"/>
                </a:solidFill>
                <a:latin typeface="Arial"/>
              </a:rPr>
              <a:t>• </a:t>
            </a:r>
            <a:r>
              <a:rPr sz="1400" b="0" lang="fr-FR">
                <a:solidFill>
                  <a:srgbClr val="161616"/>
                </a:solidFill>
                <a:latin typeface="Arial"/>
              </a:rPr>
              <a:t>Échangez vos arguments, préparez votre position</a:t>
            </a:r>
          </a:p>
          <a:p>
            <a:pPr algn="l">
              <a:lnSpc>
                <a:spcPct val="150000"/>
              </a:lnSpc>
            </a:pPr>
            <a:r>
              <a:rPr sz="1400" lang="fr-FR">
                <a:solidFill>
                  <a:srgbClr val="161616"/>
                </a:solidFill>
                <a:latin typeface="Arial"/>
              </a:rPr>
              <a:t>• </a:t>
            </a:r>
            <a:r>
              <a:rPr sz="1400" b="0" lang="fr-FR">
                <a:solidFill>
                  <a:srgbClr val="161616"/>
                </a:solidFill>
                <a:latin typeface="Arial"/>
              </a:rPr>
              <a:t>Chaque binôme présente sa carte au groupe - débat ouvert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26898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1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a:t>
            </a:r>
            <a:endParaRPr lang="fr-FR" dirty="0"/>
          </a:p>
        </p:txBody>
      </p:sp>
      <p:sp>
        <p:nvSpPr>
          <p:cNvPr id="9" name="DSFR-box"/>
          <p:cNvSpPr/>
          <p:nvPr/>
        </p:nvSpPr>
        <p:spPr>
          <a:xfrm>
            <a:off x="548640" y="2103120"/>
            <a:ext cx="5390388" cy="272856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149412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Ça ne concerne qu'une minorité de personnes »</a:t>
            </a:r>
          </a:p>
        </p:txBody>
      </p:sp>
      <p:sp>
        <p:nvSpPr>
          <p:cNvPr id="14" name="DSFR-box"/>
          <p:cNvSpPr/>
          <p:nvPr/>
        </p:nvSpPr>
        <p:spPr>
          <a:xfrm>
            <a:off x="6313931" y="2103120"/>
            <a:ext cx="5390388" cy="27285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134209"/>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1 milliard+ de personnes dans le monde vivent avec un handicap (OMS)</a:t>
            </a:r>
          </a:p>
          <a:p>
            <a:pPr algn="l">
              <a:lnSpc>
                <a:spcPct val="130000"/>
              </a:lnSpc>
            </a:pPr>
            <a:r>
              <a:rPr sz="1400" lang="fr-FR">
                <a:solidFill>
                  <a:srgbClr val="161616"/>
                </a:solidFill>
                <a:latin typeface="Arial"/>
              </a:rPr>
              <a:t>• </a:t>
            </a:r>
            <a:r>
              <a:rPr sz="1400" b="0" lang="fr-FR">
                <a:solidFill>
                  <a:srgbClr val="161616"/>
                </a:solidFill>
                <a:latin typeface="Arial"/>
              </a:rPr>
              <a:t>Soit 15 % de la population mondiale - 1 personne sur 6</a:t>
            </a:r>
          </a:p>
          <a:p>
            <a:pPr algn="l">
              <a:lnSpc>
                <a:spcPct val="130000"/>
              </a:lnSpc>
            </a:pPr>
            <a:r>
              <a:rPr sz="1400" lang="fr-FR">
                <a:solidFill>
                  <a:srgbClr val="161616"/>
                </a:solidFill>
                <a:latin typeface="Arial"/>
              </a:rPr>
              <a:t>• </a:t>
            </a:r>
            <a:r>
              <a:rPr sz="1400" b="0" lang="fr-FR">
                <a:solidFill>
                  <a:srgbClr val="161616"/>
                </a:solidFill>
                <a:latin typeface="Arial"/>
              </a:rPr>
              <a:t>En France : 12 millions de personnes en situation de handicap</a:t>
            </a:r>
          </a:p>
          <a:p>
            <a:pPr algn="l">
              <a:lnSpc>
                <a:spcPct val="130000"/>
              </a:lnSpc>
            </a:pPr>
            <a:r>
              <a:rPr sz="1400" lang="fr-FR">
                <a:solidFill>
                  <a:srgbClr val="161616"/>
                </a:solidFill>
                <a:latin typeface="Arial"/>
              </a:rPr>
              <a:t>• </a:t>
            </a:r>
            <a:r>
              <a:rPr sz="1400" b="0" lang="fr-FR">
                <a:solidFill>
                  <a:srgbClr val="161616"/>
                </a:solidFill>
                <a:latin typeface="Arial"/>
              </a:rPr>
              <a:t>Et chacun sera concerné un jour : âge, accident, maladie temporaire</a:t>
            </a:r>
          </a:p>
        </p:txBody>
      </p:sp>
      <p:pic>
        <p:nvPicPr>
          <p:cNvPr id="17" name="DSFR-qrcode" descr="QR code : https://ideance.net/blog/4602/idees-recues-a11y"/>
          <p:cNvPicPr>
            <a:picLocks noChangeAspect="1"/>
          </p:cNvPicPr>
          <p:nvPr/>
        </p:nvPicPr>
        <p:blipFill>
          <a:blip r:embed="rId2"/>
          <a:stretch>
            <a:fillRect/>
          </a:stretch>
        </p:blipFill>
        <p:spPr>
          <a:xfrm>
            <a:off x="6240779" y="4919472"/>
            <a:ext cx="868680" cy="868680"/>
          </a:xfrm>
          <a:prstGeom prst="rect">
            <a:avLst/>
          </a:prstGeom>
        </p:spPr>
      </p:pic>
      <p:sp>
        <p:nvSpPr>
          <p:cNvPr id="18" name="DSFR-qrcode-cta"/>
          <p:cNvSpPr txBox="1"/>
          <p:nvPr/>
        </p:nvSpPr>
        <p:spPr>
          <a:xfrm>
            <a:off x="7237475" y="4992624"/>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237475" y="5285232"/>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1</a:t>
            </a:r>
          </a:p>
        </p:txBody>
      </p:sp>
      <p:sp>
        <p:nvSpPr>
          <p:cNvPr id="8" name="DSFR-accent-decoratif" descr=""/>
          <p:cNvSpPr/>
          <p:nvPr/>
        </p:nvSpPr>
        <p:spPr>
          <a:xfrm>
            <a:off x="475488" y="2103120"/>
            <a:ext cx="73152" cy="27285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7285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2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a:t>
            </a:r>
            <a:endParaRPr lang="fr-FR" dirty="0"/>
          </a:p>
        </p:txBody>
      </p:sp>
      <p:sp>
        <p:nvSpPr>
          <p:cNvPr id="9" name="DSFR-box"/>
          <p:cNvSpPr/>
          <p:nvPr/>
        </p:nvSpPr>
        <p:spPr>
          <a:xfrm>
            <a:off x="548640" y="2103120"/>
            <a:ext cx="5390388" cy="19431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7086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La créativité et l'UX seront dégradées »</a:t>
            </a:r>
          </a:p>
        </p:txBody>
      </p:sp>
      <p:sp>
        <p:nvSpPr>
          <p:cNvPr id="14" name="DSFR-box"/>
          <p:cNvSpPr/>
          <p:nvPr/>
        </p:nvSpPr>
        <p:spPr>
          <a:xfrm>
            <a:off x="6313931" y="2103120"/>
            <a:ext cx="5390388" cy="279257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198217"/>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L'accessibilité n'impose pas un design archaïque, austère ou sans inspiration</a:t>
            </a:r>
          </a:p>
          <a:p>
            <a:pPr algn="l">
              <a:lnSpc>
                <a:spcPct val="130000"/>
              </a:lnSpc>
            </a:pPr>
            <a:r>
              <a:rPr sz="1400" lang="fr-FR">
                <a:solidFill>
                  <a:srgbClr val="161616"/>
                </a:solidFill>
                <a:latin typeface="Arial"/>
              </a:rPr>
              <a:t>• </a:t>
            </a:r>
            <a:r>
              <a:rPr sz="1400" b="0" lang="fr-FR">
                <a:solidFill>
                  <a:srgbClr val="161616"/>
                </a:solidFill>
                <a:latin typeface="Arial"/>
              </a:rPr>
              <a:t>Les contraintes sont des leviers de créativité, pas des freins</a:t>
            </a:r>
          </a:p>
          <a:p>
            <a:pPr algn="l">
              <a:lnSpc>
                <a:spcPct val="130000"/>
              </a:lnSpc>
            </a:pPr>
            <a:r>
              <a:rPr sz="1400" lang="fr-FR">
                <a:solidFill>
                  <a:srgbClr val="161616"/>
                </a:solidFill>
                <a:latin typeface="Arial"/>
              </a:rPr>
              <a:t>• </a:t>
            </a:r>
            <a:r>
              <a:rPr sz="1400" b="0" lang="fr-FR">
                <a:solidFill>
                  <a:srgbClr val="161616"/>
                </a:solidFill>
                <a:latin typeface="Arial"/>
              </a:rPr>
              <a:t>Les interfaces les plus accessibles sont souvent les plus claires et élégantes</a:t>
            </a:r>
          </a:p>
          <a:p>
            <a:pPr algn="l">
              <a:lnSpc>
                <a:spcPct val="130000"/>
              </a:lnSpc>
            </a:pPr>
            <a:r>
              <a:rPr sz="1400" lang="fr-FR">
                <a:solidFill>
                  <a:srgbClr val="161616"/>
                </a:solidFill>
                <a:latin typeface="Arial"/>
              </a:rPr>
              <a:t>• </a:t>
            </a:r>
            <a:r>
              <a:rPr sz="1400" b="0" lang="fr-FR">
                <a:solidFill>
                  <a:srgbClr val="161616"/>
                </a:solidFill>
                <a:latin typeface="Arial"/>
              </a:rPr>
              <a:t>Exemple : le DSFR (Design System de l'État) est à la fois accessible et soigné</a:t>
            </a:r>
          </a:p>
        </p:txBody>
      </p:sp>
      <p:pic>
        <p:nvPicPr>
          <p:cNvPr id="17" name="DSFR-qrcode" descr="QR code : https://ideance.net/blog/4602/idees-recues-a11y"/>
          <p:cNvPicPr>
            <a:picLocks noChangeAspect="1"/>
          </p:cNvPicPr>
          <p:nvPr/>
        </p:nvPicPr>
        <p:blipFill>
          <a:blip r:embed="rId2"/>
          <a:stretch>
            <a:fillRect/>
          </a:stretch>
        </p:blipFill>
        <p:spPr>
          <a:xfrm>
            <a:off x="6240779" y="5029200"/>
            <a:ext cx="868680" cy="868680"/>
          </a:xfrm>
          <a:prstGeom prst="rect">
            <a:avLst/>
          </a:prstGeom>
        </p:spPr>
      </p:pic>
      <p:sp>
        <p:nvSpPr>
          <p:cNvPr id="18" name="DSFR-qrcode-cta"/>
          <p:cNvSpPr txBox="1"/>
          <p:nvPr/>
        </p:nvSpPr>
        <p:spPr>
          <a:xfrm>
            <a:off x="7237475" y="5102352"/>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237475" y="5394960"/>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2</a:t>
            </a:r>
          </a:p>
        </p:txBody>
      </p:sp>
      <p:sp>
        <p:nvSpPr>
          <p:cNvPr id="8" name="DSFR-accent-decoratif" descr=""/>
          <p:cNvSpPr/>
          <p:nvPr/>
        </p:nvSpPr>
        <p:spPr>
          <a:xfrm>
            <a:off x="475488" y="2103120"/>
            <a:ext cx="73152" cy="19431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79257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3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a:t>
            </a:r>
            <a:endParaRPr lang="fr-FR" dirty="0"/>
          </a:p>
        </p:txBody>
      </p:sp>
      <p:sp>
        <p:nvSpPr>
          <p:cNvPr id="9" name="DSFR-box"/>
          <p:cNvSpPr/>
          <p:nvPr/>
        </p:nvSpPr>
        <p:spPr>
          <a:xfrm>
            <a:off x="548640" y="2103120"/>
            <a:ext cx="5390388" cy="19431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7086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C'est juste du contraste et des images décrites »</a:t>
            </a:r>
          </a:p>
        </p:txBody>
      </p:sp>
      <p:sp>
        <p:nvSpPr>
          <p:cNvPr id="14" name="DSFR-box"/>
          <p:cNvSpPr/>
          <p:nvPr/>
        </p:nvSpPr>
        <p:spPr>
          <a:xfrm>
            <a:off x="6313931" y="2103120"/>
            <a:ext cx="5390388" cy="279257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198217"/>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Le contraste et les textes alternatifs ne sont que 2 exigences sur des centaines</a:t>
            </a:r>
          </a:p>
          <a:p>
            <a:pPr algn="l">
              <a:lnSpc>
                <a:spcPct val="130000"/>
              </a:lnSpc>
            </a:pPr>
            <a:r>
              <a:rPr sz="1400" lang="fr-FR">
                <a:solidFill>
                  <a:srgbClr val="161616"/>
                </a:solidFill>
                <a:latin typeface="Arial"/>
              </a:rPr>
              <a:t>• </a:t>
            </a:r>
            <a:r>
              <a:rPr sz="1400" b="0" lang="fr-FR">
                <a:solidFill>
                  <a:srgbClr val="161616"/>
                </a:solidFill>
                <a:latin typeface="Arial"/>
              </a:rPr>
              <a:t>Le RGAA compte 106 critères, les WCAG 2.1 en comptent 78</a:t>
            </a:r>
          </a:p>
          <a:p>
            <a:pPr algn="l">
              <a:lnSpc>
                <a:spcPct val="130000"/>
              </a:lnSpc>
            </a:pPr>
            <a:r>
              <a:rPr sz="1400" lang="fr-FR">
                <a:solidFill>
                  <a:srgbClr val="161616"/>
                </a:solidFill>
                <a:latin typeface="Arial"/>
              </a:rPr>
              <a:t>• </a:t>
            </a:r>
            <a:r>
              <a:rPr sz="1400" b="0" lang="fr-FR">
                <a:solidFill>
                  <a:srgbClr val="161616"/>
                </a:solidFill>
                <a:latin typeface="Arial"/>
              </a:rPr>
              <a:t>Titres, liens, tableaux, formulaires, langue, ordre de lecture ... autant de dimensions</a:t>
            </a:r>
          </a:p>
          <a:p>
            <a:pPr algn="l">
              <a:lnSpc>
                <a:spcPct val="130000"/>
              </a:lnSpc>
            </a:pPr>
            <a:r>
              <a:rPr sz="1400" lang="fr-FR">
                <a:solidFill>
                  <a:srgbClr val="161616"/>
                </a:solidFill>
                <a:latin typeface="Arial"/>
              </a:rPr>
              <a:t>• </a:t>
            </a:r>
            <a:r>
              <a:rPr sz="1400" b="0" lang="fr-FR">
                <a:solidFill>
                  <a:srgbClr val="161616"/>
                </a:solidFill>
                <a:latin typeface="Arial"/>
              </a:rPr>
              <a:t>L'accessibilité touche toute la chaîne : rédaction, mise en forme, export, publication</a:t>
            </a:r>
          </a:p>
        </p:txBody>
      </p:sp>
      <p:pic>
        <p:nvPicPr>
          <p:cNvPr id="17" name="DSFR-qrcode" descr="QR code : https://ideance.net/blog/4602/idees-recues-a11y"/>
          <p:cNvPicPr>
            <a:picLocks noChangeAspect="1"/>
          </p:cNvPicPr>
          <p:nvPr/>
        </p:nvPicPr>
        <p:blipFill>
          <a:blip r:embed="rId2"/>
          <a:stretch>
            <a:fillRect/>
          </a:stretch>
        </p:blipFill>
        <p:spPr>
          <a:xfrm>
            <a:off x="6240779" y="5029200"/>
            <a:ext cx="868680" cy="868680"/>
          </a:xfrm>
          <a:prstGeom prst="rect">
            <a:avLst/>
          </a:prstGeom>
        </p:spPr>
      </p:pic>
      <p:sp>
        <p:nvSpPr>
          <p:cNvPr id="18" name="DSFR-qrcode-cta"/>
          <p:cNvSpPr txBox="1"/>
          <p:nvPr/>
        </p:nvSpPr>
        <p:spPr>
          <a:xfrm>
            <a:off x="7237475" y="5102352"/>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237475" y="5394960"/>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3</a:t>
            </a:r>
          </a:p>
        </p:txBody>
      </p:sp>
      <p:sp>
        <p:nvSpPr>
          <p:cNvPr id="8" name="DSFR-accent-decoratif" descr=""/>
          <p:cNvSpPr/>
          <p:nvPr/>
        </p:nvSpPr>
        <p:spPr>
          <a:xfrm>
            <a:off x="475488" y="2103120"/>
            <a:ext cx="73152" cy="19431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79257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4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a:t>
            </a:r>
            <a:endParaRPr lang="fr-FR" dirty="0"/>
          </a:p>
        </p:txBody>
      </p:sp>
      <p:sp>
        <p:nvSpPr>
          <p:cNvPr id="9" name="DSFR-box"/>
          <p:cNvSpPr/>
          <p:nvPr/>
        </p:nvSpPr>
        <p:spPr>
          <a:xfrm>
            <a:off x="548640" y="2103120"/>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46863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Ce n'est pas de mon ressort »</a:t>
            </a:r>
          </a:p>
        </p:txBody>
      </p:sp>
      <p:sp>
        <p:nvSpPr>
          <p:cNvPr id="14" name="DSFR-box"/>
          <p:cNvSpPr/>
          <p:nvPr/>
        </p:nvSpPr>
        <p:spPr>
          <a:xfrm>
            <a:off x="6313931" y="2103120"/>
            <a:ext cx="5390388" cy="279257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198217"/>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L'accessibilité ne peut pas être portée par une seule équipe ou une seule personne</a:t>
            </a:r>
          </a:p>
          <a:p>
            <a:pPr algn="l">
              <a:lnSpc>
                <a:spcPct val="130000"/>
              </a:lnSpc>
            </a:pPr>
            <a:r>
              <a:rPr sz="1400" lang="fr-FR">
                <a:solidFill>
                  <a:srgbClr val="161616"/>
                </a:solidFill>
                <a:latin typeface="Arial"/>
              </a:rPr>
              <a:t>• </a:t>
            </a:r>
            <a:r>
              <a:rPr sz="1400" b="0" lang="fr-FR">
                <a:solidFill>
                  <a:srgbClr val="161616"/>
                </a:solidFill>
                <a:latin typeface="Arial"/>
              </a:rPr>
              <a:t>Elle implique tous les producteurs de contenu : rédacteurs, communicants, designers ...</a:t>
            </a:r>
          </a:p>
          <a:p>
            <a:pPr algn="l">
              <a:lnSpc>
                <a:spcPct val="130000"/>
              </a:lnSpc>
            </a:pPr>
            <a:r>
              <a:rPr sz="1400" lang="fr-FR">
                <a:solidFill>
                  <a:srgbClr val="161616"/>
                </a:solidFill>
                <a:latin typeface="Arial"/>
              </a:rPr>
              <a:t>• </a:t>
            </a:r>
            <a:r>
              <a:rPr sz="1400" b="0" lang="fr-FR">
                <a:solidFill>
                  <a:srgbClr val="161616"/>
                </a:solidFill>
                <a:latin typeface="Arial"/>
              </a:rPr>
              <a:t>Chaque document Word, chaque image publiée engage une responsabilité</a:t>
            </a:r>
          </a:p>
          <a:p>
            <a:pPr algn="l">
              <a:lnSpc>
                <a:spcPct val="130000"/>
              </a:lnSpc>
            </a:pPr>
            <a:r>
              <a:rPr sz="1400" lang="fr-FR">
                <a:solidFill>
                  <a:srgbClr val="161616"/>
                </a:solidFill>
                <a:latin typeface="Arial"/>
              </a:rPr>
              <a:t>• </a:t>
            </a:r>
            <a:r>
              <a:rPr sz="1400" b="0" lang="fr-FR">
                <a:solidFill>
                  <a:srgbClr val="161616"/>
                </a:solidFill>
                <a:latin typeface="Arial"/>
              </a:rPr>
              <a:t>La loi de 2005 et la directive européenne 2016/2102 s'appliquent à tous les agents publics</a:t>
            </a:r>
          </a:p>
        </p:txBody>
      </p:sp>
      <p:pic>
        <p:nvPicPr>
          <p:cNvPr id="17" name="DSFR-qrcode" descr="QR code : https://ideance.net/blog/4602/idees-recues-a11y"/>
          <p:cNvPicPr>
            <a:picLocks noChangeAspect="1"/>
          </p:cNvPicPr>
          <p:nvPr/>
        </p:nvPicPr>
        <p:blipFill>
          <a:blip r:embed="rId2"/>
          <a:stretch>
            <a:fillRect/>
          </a:stretch>
        </p:blipFill>
        <p:spPr>
          <a:xfrm>
            <a:off x="6240779" y="5029200"/>
            <a:ext cx="868680" cy="868680"/>
          </a:xfrm>
          <a:prstGeom prst="rect">
            <a:avLst/>
          </a:prstGeom>
        </p:spPr>
      </p:pic>
      <p:sp>
        <p:nvSpPr>
          <p:cNvPr id="18" name="DSFR-qrcode-cta"/>
          <p:cNvSpPr txBox="1"/>
          <p:nvPr/>
        </p:nvSpPr>
        <p:spPr>
          <a:xfrm>
            <a:off x="7237475" y="5102352"/>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237475" y="5394960"/>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4</a:t>
            </a:r>
          </a:p>
        </p:txBody>
      </p:sp>
      <p:sp>
        <p:nvSpPr>
          <p:cNvPr id="8" name="DSFR-accent-decoratif" descr=""/>
          <p:cNvSpPr/>
          <p:nvPr/>
        </p:nvSpPr>
        <p:spPr>
          <a:xfrm>
            <a:off x="475488" y="2103120"/>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79257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5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13</a:t>
            </a:r>
            <a:endParaRPr lang="fr-FR" dirty="0"/>
          </a:p>
        </p:txBody>
      </p:sp>
      <p:sp>
        <p:nvSpPr>
          <p:cNvPr id="9" name="DSFR-box"/>
          <p:cNvSpPr/>
          <p:nvPr/>
        </p:nvSpPr>
        <p:spPr>
          <a:xfrm>
            <a:off x="548640" y="2103120"/>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46863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Ça coûte trop cher »</a:t>
            </a:r>
          </a:p>
        </p:txBody>
      </p:sp>
      <p:sp>
        <p:nvSpPr>
          <p:cNvPr id="14" name="DSFR-box"/>
          <p:cNvSpPr/>
          <p:nvPr/>
        </p:nvSpPr>
        <p:spPr>
          <a:xfrm>
            <a:off x="6313931" y="2103120"/>
            <a:ext cx="5390388" cy="279257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198217"/>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Oui - si l'accessibilité est traitée comme un ajustement en fin de projet</a:t>
            </a:r>
          </a:p>
          <a:p>
            <a:pPr algn="l">
              <a:lnSpc>
                <a:spcPct val="130000"/>
              </a:lnSpc>
            </a:pPr>
            <a:r>
              <a:rPr sz="1400" lang="fr-FR">
                <a:solidFill>
                  <a:srgbClr val="161616"/>
                </a:solidFill>
                <a:latin typeface="Arial"/>
              </a:rPr>
              <a:t>• </a:t>
            </a:r>
            <a:r>
              <a:rPr sz="1400" b="0" lang="fr-FR">
                <a:solidFill>
                  <a:srgbClr val="161616"/>
                </a:solidFill>
                <a:latin typeface="Arial"/>
              </a:rPr>
              <a:t>Non - si elle est intégrée dès la conception (approche « shift left »)</a:t>
            </a:r>
          </a:p>
          <a:p>
            <a:pPr algn="l">
              <a:lnSpc>
                <a:spcPct val="130000"/>
              </a:lnSpc>
            </a:pPr>
            <a:r>
              <a:rPr sz="1400" lang="fr-FR">
                <a:solidFill>
                  <a:srgbClr val="161616"/>
                </a:solidFill>
                <a:latin typeface="Arial"/>
              </a:rPr>
              <a:t>• </a:t>
            </a:r>
            <a:r>
              <a:rPr sz="1400" b="0" lang="fr-FR">
                <a:solidFill>
                  <a:srgbClr val="161616"/>
                </a:solidFill>
                <a:latin typeface="Arial"/>
              </a:rPr>
              <a:t>Corriger un document Word après publication : 10 fois plus cher que le faire d'emblée</a:t>
            </a:r>
          </a:p>
          <a:p>
            <a:pPr algn="l">
              <a:lnSpc>
                <a:spcPct val="130000"/>
              </a:lnSpc>
            </a:pPr>
            <a:r>
              <a:rPr sz="1400" lang="fr-FR">
                <a:solidFill>
                  <a:srgbClr val="161616"/>
                </a:solidFill>
                <a:latin typeface="Arial"/>
              </a:rPr>
              <a:t>• </a:t>
            </a:r>
            <a:r>
              <a:rPr sz="1400" b="0" lang="fr-FR">
                <a:solidFill>
                  <a:srgbClr val="161616"/>
                </a:solidFill>
                <a:latin typeface="Arial"/>
              </a:rPr>
              <a:t>Les réflexes appris aujourd'hui ne coûtent rien : juste un changement d'habitude</a:t>
            </a:r>
          </a:p>
        </p:txBody>
      </p:sp>
      <p:pic>
        <p:nvPicPr>
          <p:cNvPr id="17" name="DSFR-qrcode" descr="QR code : https://ideance.net/blog/4602/idees-recues-a11y"/>
          <p:cNvPicPr>
            <a:picLocks noChangeAspect="1"/>
          </p:cNvPicPr>
          <p:nvPr/>
        </p:nvPicPr>
        <p:blipFill>
          <a:blip r:embed="rId2"/>
          <a:stretch>
            <a:fillRect/>
          </a:stretch>
        </p:blipFill>
        <p:spPr>
          <a:xfrm>
            <a:off x="6240779" y="5029200"/>
            <a:ext cx="868680" cy="868680"/>
          </a:xfrm>
          <a:prstGeom prst="rect">
            <a:avLst/>
          </a:prstGeom>
        </p:spPr>
      </p:pic>
      <p:sp>
        <p:nvSpPr>
          <p:cNvPr id="18" name="DSFR-qrcode-cta"/>
          <p:cNvSpPr txBox="1"/>
          <p:nvPr/>
        </p:nvSpPr>
        <p:spPr>
          <a:xfrm>
            <a:off x="7237475" y="5102352"/>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237475" y="5394960"/>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5</a:t>
            </a:r>
          </a:p>
        </p:txBody>
      </p:sp>
      <p:sp>
        <p:nvSpPr>
          <p:cNvPr id="8" name="DSFR-accent-decoratif" descr=""/>
          <p:cNvSpPr/>
          <p:nvPr/>
        </p:nvSpPr>
        <p:spPr>
          <a:xfrm>
            <a:off x="475488" y="2103120"/>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79257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6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14</a:t>
            </a:r>
            <a:endParaRPr lang="fr-FR" dirty="0"/>
          </a:p>
        </p:txBody>
      </p:sp>
      <p:sp>
        <p:nvSpPr>
          <p:cNvPr id="9" name="DSFR-box"/>
          <p:cNvSpPr/>
          <p:nvPr/>
        </p:nvSpPr>
        <p:spPr>
          <a:xfrm>
            <a:off x="548640" y="2103120"/>
            <a:ext cx="5390388" cy="32918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205740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On s'en occupe à la fin ! »</a:t>
            </a:r>
          </a:p>
        </p:txBody>
      </p:sp>
      <p:sp>
        <p:nvSpPr>
          <p:cNvPr id="14" name="DSFR-box"/>
          <p:cNvSpPr/>
          <p:nvPr/>
        </p:nvSpPr>
        <p:spPr>
          <a:xfrm>
            <a:off x="6313931" y="2103120"/>
            <a:ext cx="5390388" cy="32918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697480"/>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Prise en compte tardive = grosses corrections après coup</a:t>
            </a:r>
          </a:p>
          <a:p>
            <a:pPr algn="l">
              <a:lnSpc>
                <a:spcPct val="130000"/>
              </a:lnSpc>
            </a:pPr>
            <a:r>
              <a:rPr sz="1400" lang="fr-FR">
                <a:solidFill>
                  <a:srgbClr val="161616"/>
                </a:solidFill>
                <a:latin typeface="Arial"/>
              </a:rPr>
              <a:t>• </a:t>
            </a:r>
            <a:r>
              <a:rPr sz="1400" b="0" lang="fr-FR">
                <a:solidFill>
                  <a:srgbClr val="161616"/>
                </a:solidFill>
                <a:latin typeface="Arial"/>
              </a:rPr>
              <a:t>Cela pèse sur l'efficacité des projets et génère de la frustration pour les équipes</a:t>
            </a:r>
          </a:p>
          <a:p>
            <a:pPr algn="l">
              <a:lnSpc>
                <a:spcPct val="130000"/>
              </a:lnSpc>
            </a:pPr>
            <a:r>
              <a:rPr sz="1400" lang="fr-FR">
                <a:solidFill>
                  <a:srgbClr val="161616"/>
                </a:solidFill>
                <a:latin typeface="Arial"/>
              </a:rPr>
              <a:t>• </a:t>
            </a:r>
            <a:r>
              <a:rPr sz="1400" b="0" lang="fr-FR">
                <a:solidFill>
                  <a:srgbClr val="161616"/>
                </a:solidFill>
                <a:latin typeface="Arial"/>
              </a:rPr>
              <a:t>L'accessibilité « à la fin » est souvent l'accessibilité jamais faite</a:t>
            </a:r>
          </a:p>
          <a:p>
            <a:pPr algn="l">
              <a:lnSpc>
                <a:spcPct val="130000"/>
              </a:lnSpc>
            </a:pPr>
            <a:r>
              <a:rPr sz="1400" lang="fr-FR">
                <a:solidFill>
                  <a:srgbClr val="161616"/>
                </a:solidFill>
                <a:latin typeface="Arial"/>
              </a:rPr>
              <a:t>• </a:t>
            </a:r>
            <a:r>
              <a:rPr sz="1400" b="0" lang="fr-FR">
                <a:solidFill>
                  <a:srgbClr val="161616"/>
                </a:solidFill>
                <a:latin typeface="Arial"/>
              </a:rPr>
              <a:t>Solution : intégrer les bons réflexes à chaque étape, pas les accumuler en sprint final</a:t>
            </a:r>
          </a:p>
        </p:txBody>
      </p:sp>
      <p:pic>
        <p:nvPicPr>
          <p:cNvPr id="17" name="DSFR-qrcode" descr="QR code : https://ideance.net/blog/4602/idees-recues-a11y"/>
          <p:cNvPicPr>
            <a:picLocks noChangeAspect="1"/>
          </p:cNvPicPr>
          <p:nvPr/>
        </p:nvPicPr>
        <p:blipFill>
          <a:blip r:embed="rId2"/>
          <a:stretch>
            <a:fillRect/>
          </a:stretch>
        </p:blipFill>
        <p:spPr>
          <a:xfrm>
            <a:off x="6240779" y="5440680"/>
            <a:ext cx="822960" cy="822960"/>
          </a:xfrm>
          <a:prstGeom prst="rect">
            <a:avLst/>
          </a:prstGeom>
        </p:spPr>
      </p:pic>
      <p:sp>
        <p:nvSpPr>
          <p:cNvPr id="18" name="DSFR-qrcode-cta"/>
          <p:cNvSpPr txBox="1"/>
          <p:nvPr/>
        </p:nvSpPr>
        <p:spPr>
          <a:xfrm>
            <a:off x="7191755" y="5513832"/>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191755" y="5806440"/>
            <a:ext cx="4457700" cy="548640"/>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6</a:t>
            </a:r>
          </a:p>
        </p:txBody>
      </p:sp>
      <p:sp>
        <p:nvSpPr>
          <p:cNvPr id="8" name="DSFR-accent-decoratif" descr=""/>
          <p:cNvSpPr/>
          <p:nvPr/>
        </p:nvSpPr>
        <p:spPr>
          <a:xfrm>
            <a:off x="475488" y="2103120"/>
            <a:ext cx="73152" cy="32918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32918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Partie I - Accessibilité et cadre légal</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Partie I | Plan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15</a:t>
            </a:r>
            <a:endParaRPr lang="fr-FR" dirty="0"/>
          </a:p>
        </p:txBody>
      </p:sp>
      <p:sp>
        <p:nvSpPr>
          <p:cNvPr id="8" name="DSFR-stepper-pastille-1"/>
          <p:cNvSpPr/>
          <p:nvPr/>
        </p:nvSpPr>
        <p:spPr>
          <a:xfrm>
            <a:off x="115763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L'accessibilité numérique, c'est quoi ?</a:t>
            </a:r>
          </a:p>
        </p:txBody>
      </p:sp>
      <p:sp>
        <p:nvSpPr>
          <p:cNvPr id="11" name="DSFR-stepper-pastille-2"/>
          <p:cNvSpPr/>
          <p:nvPr/>
        </p:nvSpPr>
        <p:spPr>
          <a:xfrm>
            <a:off x="346374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2781604"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L'accessibilité numérique, c'est pour qui ?</a:t>
            </a:r>
          </a:p>
        </p:txBody>
      </p:sp>
      <p:sp>
        <p:nvSpPr>
          <p:cNvPr id="14" name="DSFR-stepper-pastille-3"/>
          <p:cNvSpPr/>
          <p:nvPr/>
        </p:nvSpPr>
        <p:spPr>
          <a:xfrm>
            <a:off x="5769864"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5087721"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L'accessibilité numérique, quel cadre légal ?</a:t>
            </a:r>
          </a:p>
        </p:txBody>
      </p:sp>
      <p:sp>
        <p:nvSpPr>
          <p:cNvPr id="17" name="DSFR-stepper-pastille-4"/>
          <p:cNvSpPr/>
          <p:nvPr/>
        </p:nvSpPr>
        <p:spPr>
          <a:xfrm>
            <a:off x="807598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9" name="DSFR-stepper-texte-4"/>
          <p:cNvSpPr txBox="1"/>
          <p:nvPr/>
        </p:nvSpPr>
        <p:spPr>
          <a:xfrm>
            <a:off x="739383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L'accessibilité numérique, pourquoi ?</a:t>
            </a:r>
          </a:p>
        </p:txBody>
      </p:sp>
      <p:sp>
        <p:nvSpPr>
          <p:cNvPr id="20" name="DSFR-stepper-pastille-5"/>
          <p:cNvSpPr/>
          <p:nvPr/>
        </p:nvSpPr>
        <p:spPr>
          <a:xfrm>
            <a:off x="1038209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5</a:t>
            </a:r>
          </a:p>
        </p:txBody>
      </p:sp>
      <p:sp>
        <p:nvSpPr>
          <p:cNvPr id="21" name="DSFR-stepper-texte-5"/>
          <p:cNvSpPr txBox="1"/>
          <p:nvPr/>
        </p:nvSpPr>
        <p:spPr>
          <a:xfrm>
            <a:off x="9699955"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L'accessibilité numérique, comment s'y mettre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Partie I</a:t>
            </a:r>
          </a:p>
        </p:txBody>
      </p:sp>
      <p:sp>
        <p:nvSpPr>
          <p:cNvPr id="9" name="DSFR-stepper-connecteur-1-decoratif" descr=""/>
          <p:cNvSpPr/>
          <p:nvPr/>
        </p:nvSpPr>
        <p:spPr>
          <a:xfrm>
            <a:off x="179771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16</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Arial"/>
              </a:rPr>
              <a:t>1. L'accessibilité numérique, c'est quoi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L'accessibilité numérique, c'est quoi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Q1 - C'est quoi | Définition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17</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Rendre possible l'accès à l'information et aux fonctionnalités numériques aux personnes en situation de handicap, quels que soient leur matériel, leur logiciel ou leur situation.</a:t>
            </a:r>
          </a:p>
        </p:txBody>
      </p:sp>
      <p:sp>
        <p:nvSpPr>
          <p:cNvPr id="12" name="DSFR-box"/>
          <p:cNvSpPr/>
          <p:nvPr/>
        </p:nvSpPr>
        <p:spPr>
          <a:xfrm>
            <a:off x="548640" y="3302812"/>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Tous les contenus sont concernés</a:t>
            </a:r>
          </a:p>
        </p:txBody>
      </p:sp>
      <p:sp>
        <p:nvSpPr>
          <p:cNvPr id="14" name="DSFR-callout-body"/>
          <p:cNvSpPr txBox="1"/>
          <p:nvPr/>
        </p:nvSpPr>
        <p:spPr>
          <a:xfrm>
            <a:off x="704088" y="3805732"/>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Sites web, applications, newsletters, courriels</a:t>
            </a:r>
          </a:p>
          <a:p>
            <a:pPr algn="l">
              <a:lnSpc>
                <a:spcPct val="120000"/>
              </a:lnSpc>
            </a:pPr>
            <a:r>
              <a:rPr sz="1400" lang="fr-FR">
                <a:solidFill>
                  <a:srgbClr val="161616"/>
                </a:solidFill>
                <a:latin typeface="Arial"/>
              </a:rPr>
              <a:t>• </a:t>
            </a:r>
            <a:r>
              <a:rPr sz="1400" b="0" lang="fr-FR">
                <a:solidFill>
                  <a:srgbClr val="161616"/>
                </a:solidFill>
                <a:latin typeface="Arial"/>
              </a:rPr>
              <a:t>Vidéos, podcasts, visuels animés</a:t>
            </a:r>
          </a:p>
          <a:p>
            <a:pPr algn="l">
              <a:lnSpc>
                <a:spcPct val="120000"/>
              </a:lnSpc>
            </a:pPr>
            <a:r>
              <a:rPr sz="1400" lang="fr-FR">
                <a:solidFill>
                  <a:srgbClr val="161616"/>
                </a:solidFill>
                <a:latin typeface="Arial"/>
              </a:rPr>
              <a:t>• </a:t>
            </a:r>
            <a:r>
              <a:rPr sz="1400" b="0" lang="fr-FR">
                <a:solidFill>
                  <a:srgbClr val="161616"/>
                </a:solidFill>
                <a:latin typeface="Arial"/>
              </a:rPr>
              <a:t>Documents bureautiques, PDF, formulaires</a:t>
            </a:r>
          </a:p>
          <a:p>
            <a:pPr algn="l">
              <a:lnSpc>
                <a:spcPct val="120000"/>
              </a:lnSpc>
            </a:pPr>
            <a:r>
              <a:rPr sz="1400" lang="fr-FR">
                <a:solidFill>
                  <a:srgbClr val="161616"/>
                </a:solidFill>
                <a:latin typeface="Arial"/>
              </a:rPr>
              <a:t>• </a:t>
            </a:r>
            <a:r>
              <a:rPr sz="1400" b="0" lang="fr-FR">
                <a:solidFill>
                  <a:srgbClr val="161616"/>
                </a:solidFill>
                <a:latin typeface="Arial"/>
              </a:rPr>
              <a:t>Affiches, flyers, plans, QR codes</a:t>
            </a:r>
          </a:p>
        </p:txBody>
      </p:sp>
      <p:sp>
        <p:nvSpPr>
          <p:cNvPr id="16" name="DSFR-box"/>
          <p:cNvSpPr/>
          <p:nvPr/>
        </p:nvSpPr>
        <p:spPr>
          <a:xfrm>
            <a:off x="6313931" y="3302812"/>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llout-titre"/>
          <p:cNvSpPr txBox="1"/>
          <p:nvPr/>
        </p:nvSpPr>
        <p:spPr>
          <a:xfrm>
            <a:off x="6469379"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Utile pour tous, indispensable pour certains</a:t>
            </a:r>
          </a:p>
        </p:txBody>
      </p:sp>
      <p:sp>
        <p:nvSpPr>
          <p:cNvPr id="18" name="DSFR-callout-body"/>
          <p:cNvSpPr txBox="1"/>
          <p:nvPr/>
        </p:nvSpPr>
        <p:spPr>
          <a:xfrm>
            <a:off x="6469379" y="3805732"/>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Handicap permanent, temporaire ou situationnel</a:t>
            </a:r>
          </a:p>
          <a:p>
            <a:pPr algn="l">
              <a:lnSpc>
                <a:spcPct val="120000"/>
              </a:lnSpc>
            </a:pPr>
            <a:r>
              <a:rPr sz="1400" lang="fr-FR">
                <a:solidFill>
                  <a:srgbClr val="161616"/>
                </a:solidFill>
                <a:latin typeface="Arial"/>
              </a:rPr>
              <a:t>• </a:t>
            </a:r>
            <a:r>
              <a:rPr sz="1400" b="0" lang="fr-FR">
                <a:solidFill>
                  <a:srgbClr val="161616"/>
                </a:solidFill>
                <a:latin typeface="Arial"/>
              </a:rPr>
              <a:t>Matériel ancien, connexion lente, écran petit</a:t>
            </a:r>
          </a:p>
          <a:p>
            <a:pPr algn="l">
              <a:lnSpc>
                <a:spcPct val="120000"/>
              </a:lnSpc>
            </a:pPr>
            <a:r>
              <a:rPr sz="1400" lang="fr-FR">
                <a:solidFill>
                  <a:srgbClr val="161616"/>
                </a:solidFill>
                <a:latin typeface="Arial"/>
              </a:rPr>
              <a:t>• </a:t>
            </a:r>
            <a:r>
              <a:rPr sz="1400" b="0" lang="fr-FR">
                <a:solidFill>
                  <a:srgbClr val="161616"/>
                </a:solidFill>
                <a:latin typeface="Arial"/>
              </a:rPr>
              <a:t>Environnement bruyant, lumineux ou contraint</a:t>
            </a:r>
          </a:p>
          <a:p>
            <a:pPr algn="l">
              <a:lnSpc>
                <a:spcPct val="120000"/>
              </a:lnSpc>
            </a:pPr>
            <a:r>
              <a:rPr sz="1400" lang="fr-FR">
                <a:solidFill>
                  <a:srgbClr val="161616"/>
                </a:solidFill>
                <a:latin typeface="Arial"/>
              </a:rPr>
              <a:t>• </a:t>
            </a:r>
            <a:r>
              <a:rPr sz="1400" b="0" lang="fr-FR">
                <a:solidFill>
                  <a:srgbClr val="161616"/>
                </a:solidFill>
                <a:latin typeface="Arial"/>
              </a:rPr>
              <a:t>Langue étrangère, faible littératie numérique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02812"/>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02812"/>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Point sur l'accessibilité numérique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Q1 - C'est quoi | WCAG et RGAA</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18</a:t>
            </a:r>
            <a:endParaRPr lang="fr-FR" dirty="0"/>
          </a:p>
        </p:txBody>
      </p:sp>
      <p:sp>
        <p:nvSpPr>
          <p:cNvPr id="9" name="DSFR-box"/>
          <p:cNvSpPr/>
          <p:nvPr/>
        </p:nvSpPr>
        <p:spPr>
          <a:xfrm>
            <a:off x="548640" y="2450592"/>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542032"/>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L'accessibilité numérique permet d'accéder à l'information quel que soit le support, l'outil ou la situation.</a:t>
            </a:r>
          </a:p>
        </p:txBody>
      </p:sp>
      <p:sp>
        <p:nvSpPr>
          <p:cNvPr id="11" name="DSFR-kpi-pave"/>
          <p:cNvSpPr/>
          <p:nvPr/>
        </p:nvSpPr>
        <p:spPr>
          <a:xfrm>
            <a:off x="475488"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WCAG</a:t>
            </a:r>
          </a:p>
        </p:txBody>
      </p:sp>
      <p:sp>
        <p:nvSpPr>
          <p:cNvPr id="12" name="DSFR-kpi-label"/>
          <p:cNvSpPr txBox="1"/>
          <p:nvPr/>
        </p:nvSpPr>
        <p:spPr>
          <a:xfrm>
            <a:off x="475488"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
            </a:r>
          </a:p>
        </p:txBody>
      </p:sp>
      <p:sp>
        <p:nvSpPr>
          <p:cNvPr id="13" name="DSFR-kpi-pave"/>
          <p:cNvSpPr/>
          <p:nvPr/>
        </p:nvSpPr>
        <p:spPr>
          <a:xfrm>
            <a:off x="4319015"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RGAA</a:t>
            </a:r>
          </a:p>
        </p:txBody>
      </p:sp>
      <p:sp>
        <p:nvSpPr>
          <p:cNvPr id="14" name="DSFR-kpi-label"/>
          <p:cNvSpPr txBox="1"/>
          <p:nvPr/>
        </p:nvSpPr>
        <p:spPr>
          <a:xfrm>
            <a:off x="4319015"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
            </a:r>
          </a:p>
        </p:txBody>
      </p:sp>
      <p:sp>
        <p:nvSpPr>
          <p:cNvPr id="15" name="DSFR-kpi-pave"/>
          <p:cNvSpPr/>
          <p:nvPr/>
        </p:nvSpPr>
        <p:spPr>
          <a:xfrm>
            <a:off x="8162543"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106 / 13</a:t>
            </a:r>
          </a:p>
        </p:txBody>
      </p:sp>
      <p:sp>
        <p:nvSpPr>
          <p:cNvPr id="16" name="DSFR-kpi-label"/>
          <p:cNvSpPr txBox="1"/>
          <p:nvPr/>
        </p:nvSpPr>
        <p:spPr>
          <a:xfrm>
            <a:off x="8162543"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
            </a:r>
          </a:p>
        </p:txBody>
      </p:sp>
      <p:sp>
        <p:nvSpPr>
          <p:cNvPr id="17" name="DSFR-texte-libre"/>
          <p:cNvSpPr txBox="1"/>
          <p:nvPr/>
        </p:nvSpPr>
        <p:spPr>
          <a:xfrm>
            <a:off x="475488" y="5125212"/>
            <a:ext cx="11228832" cy="5486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WCAG : référence internationale du W3C. RGAA : référentiel français publié par la DINUM. 106 critères regroupés en 13 thématiques.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2450592"/>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4 principes pour tout retenir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Q1 - C'est quoi | 4 principes WCAG</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19</a:t>
            </a:r>
            <a:endParaRPr lang="fr-FR" dirty="0"/>
          </a:p>
        </p:txBody>
      </p:sp>
      <p:sp>
        <p:nvSpPr>
          <p:cNvPr id="9" name="DSFR-box"/>
          <p:cNvSpPr/>
          <p:nvPr/>
        </p:nvSpPr>
        <p:spPr>
          <a:xfrm>
            <a:off x="548640" y="2450592"/>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542032"/>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Les WCAG reposent sur 4 principes. Chacun se résume en une question à poser devant tout contenu.</a:t>
            </a:r>
          </a:p>
        </p:txBody>
      </p:sp>
      <p:sp>
        <p:nvSpPr>
          <p:cNvPr id="12" name="DSFR-box"/>
          <p:cNvSpPr/>
          <p:nvPr/>
        </p:nvSpPr>
        <p:spPr>
          <a:xfrm>
            <a:off x="548640" y="3616452"/>
            <a:ext cx="2507741"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704088" y="4302252"/>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Percevoir</a:t>
            </a:r>
          </a:p>
        </p:txBody>
      </p:sp>
      <p:sp>
        <p:nvSpPr>
          <p:cNvPr id="15" name="DSFR-card-contenu"/>
          <p:cNvSpPr txBox="1"/>
          <p:nvPr/>
        </p:nvSpPr>
        <p:spPr>
          <a:xfrm>
            <a:off x="704088" y="4759452"/>
            <a:ext cx="2215134" cy="11338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L'information reste-t-elle disponible si je ne vois pas ou n'entends pas ?</a:t>
            </a:r>
          </a:p>
        </p:txBody>
      </p:sp>
      <p:sp>
        <p:nvSpPr>
          <p:cNvPr id="17" name="DSFR-box"/>
          <p:cNvSpPr/>
          <p:nvPr/>
        </p:nvSpPr>
        <p:spPr>
          <a:xfrm>
            <a:off x="3431286" y="3616452"/>
            <a:ext cx="2507741"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3586734" y="4302252"/>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Utiliser</a:t>
            </a:r>
          </a:p>
        </p:txBody>
      </p:sp>
      <p:sp>
        <p:nvSpPr>
          <p:cNvPr id="20" name="DSFR-card-contenu"/>
          <p:cNvSpPr txBox="1"/>
          <p:nvPr/>
        </p:nvSpPr>
        <p:spPr>
          <a:xfrm>
            <a:off x="3586734" y="4759452"/>
            <a:ext cx="2215134" cy="11338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Puis-je naviguer et agir sans souris, sans geste imposé ?</a:t>
            </a:r>
          </a:p>
        </p:txBody>
      </p:sp>
      <p:sp>
        <p:nvSpPr>
          <p:cNvPr id="22" name="DSFR-box"/>
          <p:cNvSpPr/>
          <p:nvPr/>
        </p:nvSpPr>
        <p:spPr>
          <a:xfrm>
            <a:off x="6313931" y="3616452"/>
            <a:ext cx="2507741"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card-titre"/>
          <p:cNvSpPr txBox="1"/>
          <p:nvPr/>
        </p:nvSpPr>
        <p:spPr>
          <a:xfrm>
            <a:off x="6469379" y="4302252"/>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Comprendre</a:t>
            </a:r>
          </a:p>
        </p:txBody>
      </p:sp>
      <p:sp>
        <p:nvSpPr>
          <p:cNvPr id="25" name="DSFR-card-contenu"/>
          <p:cNvSpPr txBox="1"/>
          <p:nvPr/>
        </p:nvSpPr>
        <p:spPr>
          <a:xfrm>
            <a:off x="6469379" y="4759452"/>
            <a:ext cx="2215134" cy="11338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Les mots, formulaires et comportements sont-ils prévisibles ?</a:t>
            </a:r>
          </a:p>
        </p:txBody>
      </p:sp>
      <p:sp>
        <p:nvSpPr>
          <p:cNvPr id="27" name="DSFR-box"/>
          <p:cNvSpPr/>
          <p:nvPr/>
        </p:nvSpPr>
        <p:spPr>
          <a:xfrm>
            <a:off x="9196578" y="3616452"/>
            <a:ext cx="2507741"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FR-card-titre"/>
          <p:cNvSpPr txBox="1"/>
          <p:nvPr/>
        </p:nvSpPr>
        <p:spPr>
          <a:xfrm>
            <a:off x="9352026" y="4302252"/>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Compatible</a:t>
            </a:r>
          </a:p>
        </p:txBody>
      </p:sp>
      <p:sp>
        <p:nvSpPr>
          <p:cNvPr id="30" name="DSFR-card-contenu"/>
          <p:cNvSpPr txBox="1"/>
          <p:nvPr/>
        </p:nvSpPr>
        <p:spPr>
          <a:xfrm>
            <a:off x="9352026" y="4759452"/>
            <a:ext cx="2215134" cy="11338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Les aides techniques peuvent-elles interpréter l'interface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13" name="DSFR-card-numero"/>
          <p:cNvSpPr/>
          <p:nvPr/>
        </p:nvSpPr>
        <p:spPr>
          <a:xfrm>
            <a:off x="704088"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1</a:t>
            </a:r>
          </a:p>
        </p:txBody>
      </p:sp>
      <p:sp>
        <p:nvSpPr>
          <p:cNvPr id="18" name="DSFR-card-numero"/>
          <p:cNvSpPr/>
          <p:nvPr/>
        </p:nvSpPr>
        <p:spPr>
          <a:xfrm>
            <a:off x="3586734"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2</a:t>
            </a:r>
          </a:p>
        </p:txBody>
      </p:sp>
      <p:sp>
        <p:nvSpPr>
          <p:cNvPr id="23" name="DSFR-card-numero"/>
          <p:cNvSpPr/>
          <p:nvPr/>
        </p:nvSpPr>
        <p:spPr>
          <a:xfrm>
            <a:off x="6469379"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3</a:t>
            </a:r>
          </a:p>
        </p:txBody>
      </p:sp>
      <p:sp>
        <p:nvSpPr>
          <p:cNvPr id="28" name="DSFR-card-numero"/>
          <p:cNvSpPr/>
          <p:nvPr/>
        </p:nvSpPr>
        <p:spPr>
          <a:xfrm>
            <a:off x="9352026"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4</a:t>
            </a:r>
          </a:p>
        </p:txBody>
      </p:sp>
      <p:sp>
        <p:nvSpPr>
          <p:cNvPr id="8" name="DSFR-accent-decoratif" descr=""/>
          <p:cNvSpPr/>
          <p:nvPr/>
        </p:nvSpPr>
        <p:spPr>
          <a:xfrm>
            <a:off x="475488" y="2450592"/>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616452"/>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3358134" y="3616452"/>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ccent-decoratif" descr=""/>
          <p:cNvSpPr/>
          <p:nvPr/>
        </p:nvSpPr>
        <p:spPr>
          <a:xfrm>
            <a:off x="6240779" y="3616452"/>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9123426" y="3616452"/>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20</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Arial"/>
              </a:rPr>
              <a:t>2. L'accessibilité numérique, c'est pour qui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C'est pour qui ? 4 familles de besoins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4 familles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21</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Chaque type de handicap implique des besoins concrets que vos contenus doivent prendre en compte.</a:t>
            </a:r>
          </a:p>
        </p:txBody>
      </p:sp>
      <p:sp>
        <p:nvSpPr>
          <p:cNvPr id="12" name="DSFR-box"/>
          <p:cNvSpPr/>
          <p:nvPr/>
        </p:nvSpPr>
        <p:spPr>
          <a:xfrm>
            <a:off x="548640" y="2994660"/>
            <a:ext cx="2507741" cy="186537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Visuelle</a:t>
            </a:r>
          </a:p>
        </p:txBody>
      </p:sp>
      <p:sp>
        <p:nvSpPr>
          <p:cNvPr id="14" name="DSFR-card-contenu"/>
          <p:cNvSpPr txBox="1"/>
          <p:nvPr/>
        </p:nvSpPr>
        <p:spPr>
          <a:xfrm>
            <a:off x="704088" y="3589020"/>
            <a:ext cx="2215134" cy="117957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Lecteur d'écran, loupe, contraste</a:t>
            </a:r>
          </a:p>
          <a:p>
            <a:pPr algn="l">
              <a:lnSpc>
                <a:spcPct val="125000"/>
              </a:lnSpc>
            </a:pPr>
            <a:r>
              <a:rPr sz="1400" lang="fr-FR">
                <a:solidFill>
                  <a:srgbClr val="161616"/>
                </a:solidFill>
                <a:latin typeface="Arial"/>
              </a:rPr>
              <a:t>• </a:t>
            </a:r>
            <a:r>
              <a:rPr sz="1400" b="0" lang="fr-FR">
                <a:solidFill>
                  <a:srgbClr val="161616"/>
                </a:solidFill>
                <a:latin typeface="Arial"/>
              </a:rPr>
              <a:t>Alt text, structure, couleurs</a:t>
            </a:r>
          </a:p>
        </p:txBody>
      </p:sp>
      <p:sp>
        <p:nvSpPr>
          <p:cNvPr id="16" name="DSFR-box"/>
          <p:cNvSpPr/>
          <p:nvPr/>
        </p:nvSpPr>
        <p:spPr>
          <a:xfrm>
            <a:off x="3431286" y="2994660"/>
            <a:ext cx="2507741" cy="186537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3586734"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Auditive</a:t>
            </a:r>
          </a:p>
        </p:txBody>
      </p:sp>
      <p:sp>
        <p:nvSpPr>
          <p:cNvPr id="18" name="DSFR-card-contenu"/>
          <p:cNvSpPr txBox="1"/>
          <p:nvPr/>
        </p:nvSpPr>
        <p:spPr>
          <a:xfrm>
            <a:off x="3586734" y="3589020"/>
            <a:ext cx="2215134" cy="117957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Sous-titres, transcription, LSF</a:t>
            </a:r>
          </a:p>
          <a:p>
            <a:pPr algn="l">
              <a:lnSpc>
                <a:spcPct val="125000"/>
              </a:lnSpc>
            </a:pPr>
            <a:r>
              <a:rPr sz="1400" lang="fr-FR">
                <a:solidFill>
                  <a:srgbClr val="161616"/>
                </a:solidFill>
                <a:latin typeface="Arial"/>
              </a:rPr>
              <a:t>• </a:t>
            </a:r>
            <a:r>
              <a:rPr sz="1400" b="0" lang="fr-FR">
                <a:solidFill>
                  <a:srgbClr val="161616"/>
                </a:solidFill>
                <a:latin typeface="Arial"/>
              </a:rPr>
              <a:t>Alertes visuelles, pas que sonores</a:t>
            </a:r>
          </a:p>
        </p:txBody>
      </p:sp>
      <p:sp>
        <p:nvSpPr>
          <p:cNvPr id="20" name="DSFR-box"/>
          <p:cNvSpPr/>
          <p:nvPr/>
        </p:nvSpPr>
        <p:spPr>
          <a:xfrm>
            <a:off x="6313931" y="2994660"/>
            <a:ext cx="2507741" cy="186537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6469379"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Motrice</a:t>
            </a:r>
          </a:p>
        </p:txBody>
      </p:sp>
      <p:sp>
        <p:nvSpPr>
          <p:cNvPr id="22" name="DSFR-card-contenu"/>
          <p:cNvSpPr txBox="1"/>
          <p:nvPr/>
        </p:nvSpPr>
        <p:spPr>
          <a:xfrm>
            <a:off x="6469379" y="3589020"/>
            <a:ext cx="2215134" cy="117957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Clavier seul, contacteur, voix</a:t>
            </a:r>
          </a:p>
          <a:p>
            <a:pPr algn="l">
              <a:lnSpc>
                <a:spcPct val="125000"/>
              </a:lnSpc>
            </a:pPr>
            <a:r>
              <a:rPr sz="1400" lang="fr-FR">
                <a:solidFill>
                  <a:srgbClr val="161616"/>
                </a:solidFill>
                <a:latin typeface="Arial"/>
              </a:rPr>
              <a:t>• </a:t>
            </a:r>
            <a:r>
              <a:rPr sz="1400" b="0" lang="fr-FR">
                <a:solidFill>
                  <a:srgbClr val="161616"/>
                </a:solidFill>
                <a:latin typeface="Arial"/>
              </a:rPr>
              <a:t>Cibles larges, pas de geste imposé</a:t>
            </a:r>
          </a:p>
        </p:txBody>
      </p:sp>
      <p:sp>
        <p:nvSpPr>
          <p:cNvPr id="24" name="DSFR-box"/>
          <p:cNvSpPr/>
          <p:nvPr/>
        </p:nvSpPr>
        <p:spPr>
          <a:xfrm>
            <a:off x="9196578" y="2994660"/>
            <a:ext cx="2507741" cy="186537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FR-card-titre"/>
          <p:cNvSpPr txBox="1"/>
          <p:nvPr/>
        </p:nvSpPr>
        <p:spPr>
          <a:xfrm>
            <a:off x="9352026"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Cognitive</a:t>
            </a:r>
          </a:p>
        </p:txBody>
      </p:sp>
      <p:sp>
        <p:nvSpPr>
          <p:cNvPr id="26" name="DSFR-card-contenu"/>
          <p:cNvSpPr txBox="1"/>
          <p:nvPr/>
        </p:nvSpPr>
        <p:spPr>
          <a:xfrm>
            <a:off x="9352026" y="3589020"/>
            <a:ext cx="2215134" cy="117957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Langage clair, mise en page aérée</a:t>
            </a:r>
          </a:p>
          <a:p>
            <a:pPr algn="l">
              <a:lnSpc>
                <a:spcPct val="125000"/>
              </a:lnSpc>
            </a:pPr>
            <a:r>
              <a:rPr sz="1400" lang="fr-FR">
                <a:solidFill>
                  <a:srgbClr val="161616"/>
                </a:solidFill>
                <a:latin typeface="Arial"/>
              </a:rPr>
              <a:t>• </a:t>
            </a:r>
            <a:r>
              <a:rPr sz="1400" b="0" lang="fr-FR">
                <a:solidFill>
                  <a:srgbClr val="161616"/>
                </a:solidFill>
                <a:latin typeface="Arial"/>
              </a:rPr>
              <a:t>Navigation prévisible, pas de surcharge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186537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3358134" y="2994660"/>
            <a:ext cx="73152" cy="186537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6240779" y="2994660"/>
            <a:ext cx="73152" cy="186537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9123426" y="2994660"/>
            <a:ext cx="73152" cy="186537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Comprendre pour mieux agir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Comprendre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22</a:t>
            </a:r>
            <a:endParaRPr lang="fr-FR" dirty="0"/>
          </a:p>
        </p:txBody>
      </p:sp>
      <p:sp>
        <p:nvSpPr>
          <p:cNvPr id="9" name="DSFR-box"/>
          <p:cNvSpPr/>
          <p:nvPr/>
        </p:nvSpPr>
        <p:spPr>
          <a:xfrm>
            <a:off x="548640" y="2103120"/>
            <a:ext cx="5390388" cy="18173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5097779" cy="163449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Il ne s’agit pas de se mettre à la place d’une personne handicapée, mais d’observer ce que nos choix numériques peuvent faciliter ou bloquer.</a:t>
            </a:r>
          </a:p>
        </p:txBody>
      </p:sp>
      <p:sp>
        <p:nvSpPr>
          <p:cNvPr id="12" name="DSFR-box"/>
          <p:cNvSpPr/>
          <p:nvPr/>
        </p:nvSpPr>
        <p:spPr>
          <a:xfrm>
            <a:off x="548640" y="4148632"/>
            <a:ext cx="5390388" cy="192252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424007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Testez les simulations suivantes</a:t>
            </a:r>
          </a:p>
        </p:txBody>
      </p:sp>
      <p:sp>
        <p:nvSpPr>
          <p:cNvPr id="14" name="DSFR-callout-body"/>
          <p:cNvSpPr txBox="1"/>
          <p:nvPr/>
        </p:nvSpPr>
        <p:spPr>
          <a:xfrm>
            <a:off x="704088" y="4651552"/>
            <a:ext cx="5143500" cy="132816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Daltonisme</a:t>
            </a:r>
          </a:p>
          <a:p>
            <a:pPr algn="l">
              <a:lnSpc>
                <a:spcPct val="125000"/>
              </a:lnSpc>
            </a:pPr>
            <a:r>
              <a:rPr sz="1400" lang="fr-FR">
                <a:solidFill>
                  <a:srgbClr val="161616"/>
                </a:solidFill>
                <a:latin typeface="Arial"/>
              </a:rPr>
              <a:t>• </a:t>
            </a:r>
            <a:r>
              <a:rPr sz="1400" b="0" lang="fr-FR">
                <a:solidFill>
                  <a:srgbClr val="161616"/>
                </a:solidFill>
                <a:latin typeface="Arial"/>
              </a:rPr>
              <a:t>Malvoyance</a:t>
            </a:r>
          </a:p>
          <a:p>
            <a:pPr algn="l">
              <a:lnSpc>
                <a:spcPct val="125000"/>
              </a:lnSpc>
            </a:pPr>
            <a:r>
              <a:rPr sz="1400" lang="fr-FR">
                <a:solidFill>
                  <a:srgbClr val="161616"/>
                </a:solidFill>
                <a:latin typeface="Arial"/>
              </a:rPr>
              <a:t>• </a:t>
            </a:r>
            <a:r>
              <a:rPr sz="1400" b="0" lang="fr-FR">
                <a:solidFill>
                  <a:srgbClr val="161616"/>
                </a:solidFill>
                <a:latin typeface="Arial"/>
              </a:rPr>
              <a:t>Cécité</a:t>
            </a:r>
          </a:p>
          <a:p>
            <a:pPr algn="l">
              <a:lnSpc>
                <a:spcPct val="125000"/>
              </a:lnSpc>
            </a:pPr>
            <a:r>
              <a:rPr sz="1400" lang="fr-FR">
                <a:solidFill>
                  <a:srgbClr val="161616"/>
                </a:solidFill>
                <a:latin typeface="Arial"/>
              </a:rPr>
              <a:t>• </a:t>
            </a:r>
            <a:r>
              <a:rPr sz="1400" b="0" lang="fr-FR">
                <a:solidFill>
                  <a:srgbClr val="161616"/>
                </a:solidFill>
                <a:latin typeface="Arial"/>
              </a:rPr>
              <a:t>Surdité</a:t>
            </a:r>
          </a:p>
          <a:p>
            <a:pPr algn="l">
              <a:lnSpc>
                <a:spcPct val="125000"/>
              </a:lnSpc>
            </a:pPr>
            <a:r>
              <a:rPr sz="1400" lang="fr-FR">
                <a:solidFill>
                  <a:srgbClr val="161616"/>
                </a:solidFill>
                <a:latin typeface="Arial"/>
              </a:rPr>
              <a:t>• </a:t>
            </a:r>
            <a:r>
              <a:rPr sz="1400" b="0" lang="fr-FR">
                <a:solidFill>
                  <a:srgbClr val="161616"/>
                </a:solidFill>
                <a:latin typeface="Arial"/>
              </a:rPr>
              <a:t>Handicap moteur</a:t>
            </a:r>
          </a:p>
        </p:txBody>
      </p:sp>
      <p:pic>
        <p:nvPicPr>
          <p:cNvPr id="15" name="Picture 14" descr="Page d'accueil du site Atalan - L'accessibilité numérique, et si nous agissions ?"/>
          <p:cNvPicPr>
            <a:picLocks noChangeAspect="1"/>
          </p:cNvPicPr>
          <p:nvPr/>
        </p:nvPicPr>
        <p:blipFill>
          <a:blip r:embed="rId2"/>
          <a:stretch>
            <a:fillRect/>
          </a:stretch>
        </p:blipFill>
        <p:spPr>
          <a:xfrm>
            <a:off x="6240779" y="2103120"/>
            <a:ext cx="5463540" cy="3017520"/>
          </a:xfrm>
          <a:prstGeom prst="rect">
            <a:avLst/>
          </a:prstGeom>
        </p:spPr>
      </p:pic>
      <p:sp>
        <p:nvSpPr>
          <p:cNvPr id="16" name="DSFR-texte-libre"/>
          <p:cNvSpPr txBox="1"/>
          <p:nvPr/>
        </p:nvSpPr>
        <p:spPr>
          <a:xfrm>
            <a:off x="6240779" y="5303520"/>
            <a:ext cx="5463540" cy="457200"/>
          </a:xfrm>
          <a:prstGeom prst="rect">
            <a:avLst/>
          </a:prstGeom>
          <a:noFill/>
        </p:spPr>
        <p:txBody>
          <a:bodyPr wrap="square">
            <a:spAutoFit/>
          </a:bodyPr>
          <a:lstStyle/>
          <a:p>
            <a:pPr algn="ctr"/>
            <a:r>
              <a:rPr sz="1400" b="1" u="sng" lang="fr-FR">
                <a:hlinkClick r:id="rId3"/>
              </a:rPr>
              <a:t>L'accessibilité numérique, et si nous agissions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2103120"/>
            <a:ext cx="73152" cy="18173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4148632"/>
            <a:ext cx="73152" cy="192252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Amir, chargé d'études - cécité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Amir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23</a:t>
            </a:r>
            <a:endParaRPr lang="fr-FR" dirty="0"/>
          </a:p>
        </p:txBody>
      </p:sp>
      <p:pic>
        <p:nvPicPr>
          <p:cNvPr id="8" name="Picture 7" descr="Portrait illustratif - Amir"/>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209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1126540"/>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Alternative textuelle sur chaque image (attribut alt)</a:t>
            </a:r>
          </a:p>
          <a:p>
            <a:pPr algn="l">
              <a:lnSpc>
                <a:spcPct val="130000"/>
              </a:lnSpc>
            </a:pPr>
            <a:r>
              <a:rPr sz="1400" lang="fr-FR">
                <a:solidFill>
                  <a:srgbClr val="161616"/>
                </a:solidFill>
                <a:latin typeface="Arial"/>
              </a:rPr>
              <a:t>• </a:t>
            </a:r>
            <a:r>
              <a:rPr sz="1400" b="0" lang="fr-FR">
                <a:solidFill>
                  <a:srgbClr val="161616"/>
                </a:solidFill>
                <a:latin typeface="Arial"/>
              </a:rPr>
              <a:t>Structure logique du document (titres, listes, tableaux)</a:t>
            </a:r>
          </a:p>
          <a:p>
            <a:pPr algn="l">
              <a:lnSpc>
                <a:spcPct val="130000"/>
              </a:lnSpc>
            </a:pPr>
            <a:r>
              <a:rPr sz="1400" lang="fr-FR">
                <a:solidFill>
                  <a:srgbClr val="161616"/>
                </a:solidFill>
                <a:latin typeface="Arial"/>
              </a:rPr>
              <a:t>• </a:t>
            </a:r>
            <a:r>
              <a:rPr sz="1400" b="0" lang="fr-FR">
                <a:solidFill>
                  <a:srgbClr val="161616"/>
                </a:solidFill>
                <a:latin typeface="Arial"/>
              </a:rPr>
              <a:t>Liens explicites (pas de « cliquez ici »)</a:t>
            </a:r>
          </a:p>
          <a:p>
            <a:pPr algn="l">
              <a:lnSpc>
                <a:spcPct val="130000"/>
              </a:lnSpc>
            </a:pPr>
            <a:r>
              <a:rPr sz="1400" lang="fr-FR">
                <a:solidFill>
                  <a:srgbClr val="161616"/>
                </a:solidFill>
                <a:latin typeface="Arial"/>
              </a:rPr>
              <a:t>• </a:t>
            </a:r>
            <a:r>
              <a:rPr sz="1400" b="0" lang="fr-FR">
                <a:solidFill>
                  <a:srgbClr val="161616"/>
                </a:solidFill>
                <a:latin typeface="Arial"/>
              </a:rPr>
              <a:t>Formulaires avec des étiquettes associées aux champs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Percevoir + Compatible</a:t>
            </a:r>
          </a:p>
        </p:txBody>
      </p:sp>
      <p:pic>
        <p:nvPicPr>
          <p:cNvPr id="16" name="Picture 15" descr="Lecteurs d'écran"/>
          <p:cNvPicPr>
            <a:picLocks noChangeAspect="1"/>
          </p:cNvPicPr>
          <p:nvPr/>
        </p:nvPicPr>
        <p:blipFill>
          <a:blip r:embed="rId3"/>
          <a:stretch>
            <a:fillRect/>
          </a:stretch>
        </p:blipFill>
        <p:spPr>
          <a:xfrm>
            <a:off x="1918000" y="4617720"/>
            <a:ext cx="656751" cy="1201020"/>
          </a:xfrm>
          <a:prstGeom prst="rect">
            <a:avLst/>
          </a:prstGeom>
        </p:spPr>
      </p:pic>
      <p:sp>
        <p:nvSpPr>
          <p:cNvPr id="17" name="DSFR-texte-libre"/>
          <p:cNvSpPr txBox="1"/>
          <p:nvPr/>
        </p:nvSpPr>
        <p:spPr>
          <a:xfrm>
            <a:off x="475488" y="5852159"/>
            <a:ext cx="3541775" cy="365760"/>
          </a:xfrm>
          <a:prstGeom prst="rect">
            <a:avLst/>
          </a:prstGeom>
          <a:noFill/>
        </p:spPr>
        <p:txBody>
          <a:bodyPr wrap="square" anchor="t" lIns="73152" rIns="73152">
            <a:spAutoFit/>
          </a:bodyPr>
          <a:lstStyle/>
          <a:p>
            <a:pPr algn="l">
              <a:lnSpc>
                <a:spcPct val="125000"/>
              </a:lnSpc>
            </a:pPr>
            <a:r>
              <a:rPr sz="1400" b="1" i="0" lang="fr-FR">
                <a:solidFill>
                  <a:srgbClr val="161616"/>
                </a:solidFill>
                <a:latin typeface="Arial"/>
              </a:rPr>
              <a:t>Lecteurs d'écran</a:t>
            </a:r>
          </a:p>
        </p:txBody>
      </p:sp>
      <p:pic>
        <p:nvPicPr>
          <p:cNvPr id="18" name="Picture 17" descr="Plage braille"/>
          <p:cNvPicPr>
            <a:picLocks noChangeAspect="1"/>
          </p:cNvPicPr>
          <p:nvPr/>
        </p:nvPicPr>
        <p:blipFill>
          <a:blip r:embed="rId4"/>
          <a:stretch>
            <a:fillRect/>
          </a:stretch>
        </p:blipFill>
        <p:spPr>
          <a:xfrm>
            <a:off x="5065145" y="4617720"/>
            <a:ext cx="2049517" cy="1358919"/>
          </a:xfrm>
          <a:prstGeom prst="rect">
            <a:avLst/>
          </a:prstGeom>
        </p:spPr>
      </p:pic>
      <p:sp>
        <p:nvSpPr>
          <p:cNvPr id="19" name="DSFR-texte-libre"/>
          <p:cNvSpPr txBox="1"/>
          <p:nvPr/>
        </p:nvSpPr>
        <p:spPr>
          <a:xfrm>
            <a:off x="4319015" y="5852159"/>
            <a:ext cx="3541775" cy="365760"/>
          </a:xfrm>
          <a:prstGeom prst="rect">
            <a:avLst/>
          </a:prstGeom>
          <a:noFill/>
        </p:spPr>
        <p:txBody>
          <a:bodyPr wrap="square" anchor="t" lIns="73152" rIns="73152">
            <a:spAutoFit/>
          </a:bodyPr>
          <a:lstStyle/>
          <a:p>
            <a:pPr algn="l">
              <a:lnSpc>
                <a:spcPct val="125000"/>
              </a:lnSpc>
            </a:pPr>
            <a:r>
              <a:rPr sz="1400" b="1" i="0" lang="fr-FR">
                <a:solidFill>
                  <a:srgbClr val="161616"/>
                </a:solidFill>
                <a:latin typeface="Arial"/>
              </a:rPr>
              <a:t>Plage braille</a:t>
            </a:r>
          </a:p>
        </p:txBody>
      </p:sp>
      <p:pic>
        <p:nvPicPr>
          <p:cNvPr id="20" name="Picture 19" descr="Synthèse vocale"/>
          <p:cNvPicPr>
            <a:picLocks noChangeAspect="1"/>
          </p:cNvPicPr>
          <p:nvPr/>
        </p:nvPicPr>
        <p:blipFill>
          <a:blip r:embed="rId5"/>
          <a:stretch>
            <a:fillRect/>
          </a:stretch>
        </p:blipFill>
        <p:spPr>
          <a:xfrm>
            <a:off x="9339072" y="4617720"/>
            <a:ext cx="1188720" cy="1188720"/>
          </a:xfrm>
          <a:prstGeom prst="rect">
            <a:avLst/>
          </a:prstGeom>
        </p:spPr>
      </p:pic>
      <p:sp>
        <p:nvSpPr>
          <p:cNvPr id="21" name="DSFR-texte-libre"/>
          <p:cNvSpPr txBox="1"/>
          <p:nvPr/>
        </p:nvSpPr>
        <p:spPr>
          <a:xfrm>
            <a:off x="8162543" y="5852159"/>
            <a:ext cx="3541775" cy="365760"/>
          </a:xfrm>
          <a:prstGeom prst="rect">
            <a:avLst/>
          </a:prstGeom>
          <a:noFill/>
        </p:spPr>
        <p:txBody>
          <a:bodyPr wrap="square" anchor="t" lIns="73152" rIns="73152">
            <a:spAutoFit/>
          </a:bodyPr>
          <a:lstStyle/>
          <a:p>
            <a:pPr algn="l">
              <a:lnSpc>
                <a:spcPct val="125000"/>
              </a:lnSpc>
            </a:pPr>
            <a:r>
              <a:rPr sz="1400" b="1" i="0" lang="fr-FR">
                <a:solidFill>
                  <a:srgbClr val="161616"/>
                </a:solidFill>
                <a:latin typeface="Arial"/>
              </a:rPr>
              <a:t>Synthèse vocale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7209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Anaïs, gestionnaire RH - malvoyance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Anaïs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24</a:t>
            </a:r>
            <a:endParaRPr lang="fr-FR" dirty="0"/>
          </a:p>
        </p:txBody>
      </p:sp>
      <p:pic>
        <p:nvPicPr>
          <p:cNvPr id="8" name="Picture 7" descr="Portrait illustratif - Anaïs"/>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712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876909"/>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Agrandir la taille des textes et des interfaces</a:t>
            </a:r>
          </a:p>
          <a:p>
            <a:pPr algn="l">
              <a:lnSpc>
                <a:spcPct val="130000"/>
              </a:lnSpc>
            </a:pPr>
            <a:r>
              <a:rPr sz="1400" lang="fr-FR">
                <a:solidFill>
                  <a:srgbClr val="161616"/>
                </a:solidFill>
                <a:latin typeface="Arial"/>
              </a:rPr>
              <a:t>• </a:t>
            </a:r>
            <a:r>
              <a:rPr sz="1400" b="0" lang="fr-FR">
                <a:solidFill>
                  <a:srgbClr val="161616"/>
                </a:solidFill>
                <a:latin typeface="Arial"/>
              </a:rPr>
              <a:t>Contraste suffisant entre texte et fond (ratio 4.5:1 minimum)</a:t>
            </a:r>
          </a:p>
          <a:p>
            <a:pPr algn="l">
              <a:lnSpc>
                <a:spcPct val="130000"/>
              </a:lnSpc>
            </a:pPr>
            <a:r>
              <a:rPr sz="1400" lang="fr-FR">
                <a:solidFill>
                  <a:srgbClr val="161616"/>
                </a:solidFill>
                <a:latin typeface="Arial"/>
              </a:rPr>
              <a:t>• </a:t>
            </a:r>
            <a:r>
              <a:rPr sz="1400" b="0" lang="fr-FR">
                <a:solidFill>
                  <a:srgbClr val="161616"/>
                </a:solidFill>
                <a:latin typeface="Arial"/>
              </a:rPr>
              <a:t>Pouvoir naviguer sans dépendre uniquement des couleurs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Percevoir</a:t>
            </a:r>
          </a:p>
        </p:txBody>
      </p:sp>
      <p:sp>
        <p:nvSpPr>
          <p:cNvPr id="17" name="DSFR-box"/>
          <p:cNvSpPr/>
          <p:nvPr/>
        </p:nvSpPr>
        <p:spPr>
          <a:xfrm>
            <a:off x="548640"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encadre-titre"/>
          <p:cNvSpPr txBox="1"/>
          <p:nvPr/>
        </p:nvSpPr>
        <p:spPr>
          <a:xfrm>
            <a:off x="704088"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Agrandissement</a:t>
            </a:r>
          </a:p>
        </p:txBody>
      </p:sp>
      <p:sp>
        <p:nvSpPr>
          <p:cNvPr id="20" name="DSFR-box"/>
          <p:cNvSpPr/>
          <p:nvPr/>
        </p:nvSpPr>
        <p:spPr>
          <a:xfrm>
            <a:off x="4392167"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encadre-titre"/>
          <p:cNvSpPr txBox="1"/>
          <p:nvPr/>
        </p:nvSpPr>
        <p:spPr>
          <a:xfrm>
            <a:off x="4547615"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Contraste renforcé</a:t>
            </a:r>
          </a:p>
        </p:txBody>
      </p:sp>
      <p:sp>
        <p:nvSpPr>
          <p:cNvPr id="23" name="DSFR-box"/>
          <p:cNvSpPr/>
          <p:nvPr/>
        </p:nvSpPr>
        <p:spPr>
          <a:xfrm>
            <a:off x="8235695"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encadre-titre"/>
          <p:cNvSpPr txBox="1"/>
          <p:nvPr/>
        </p:nvSpPr>
        <p:spPr>
          <a:xfrm>
            <a:off x="8391144"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Synthèse vocale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4712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319015"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8162543"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Justine, chargée de communication - surdité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Justine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25</a:t>
            </a:r>
            <a:endParaRPr lang="fr-FR" dirty="0"/>
          </a:p>
        </p:txBody>
      </p:sp>
      <p:pic>
        <p:nvPicPr>
          <p:cNvPr id="8" name="Picture 7" descr="Portrait illustratif - Justin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712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876909"/>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Sous-titres sur toutes les vidéos et contenus audio</a:t>
            </a:r>
          </a:p>
          <a:p>
            <a:pPr algn="l">
              <a:lnSpc>
                <a:spcPct val="130000"/>
              </a:lnSpc>
            </a:pPr>
            <a:r>
              <a:rPr sz="1400" lang="fr-FR">
                <a:solidFill>
                  <a:srgbClr val="161616"/>
                </a:solidFill>
                <a:latin typeface="Arial"/>
              </a:rPr>
              <a:t>• </a:t>
            </a:r>
            <a:r>
              <a:rPr sz="1400" b="0" lang="fr-FR">
                <a:solidFill>
                  <a:srgbClr val="161616"/>
                </a:solidFill>
                <a:latin typeface="Arial"/>
              </a:rPr>
              <a:t>Transcription textuelle des podcasts et webinaires</a:t>
            </a:r>
          </a:p>
          <a:p>
            <a:pPr algn="l">
              <a:lnSpc>
                <a:spcPct val="130000"/>
              </a:lnSpc>
            </a:pPr>
            <a:r>
              <a:rPr sz="1400" lang="fr-FR">
                <a:solidFill>
                  <a:srgbClr val="161616"/>
                </a:solidFill>
                <a:latin typeface="Arial"/>
              </a:rPr>
              <a:t>• </a:t>
            </a:r>
            <a:r>
              <a:rPr sz="1400" b="0" lang="fr-FR">
                <a:solidFill>
                  <a:srgbClr val="161616"/>
                </a:solidFill>
                <a:latin typeface="Arial"/>
              </a:rPr>
              <a:t>Alertes visuelles, jamais uniquement sonores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Percevoir</a:t>
            </a:r>
          </a:p>
        </p:txBody>
      </p:sp>
      <p:sp>
        <p:nvSpPr>
          <p:cNvPr id="17" name="DSFR-box"/>
          <p:cNvSpPr/>
          <p:nvPr/>
        </p:nvSpPr>
        <p:spPr>
          <a:xfrm>
            <a:off x="548640"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encadre-titre"/>
          <p:cNvSpPr txBox="1"/>
          <p:nvPr/>
        </p:nvSpPr>
        <p:spPr>
          <a:xfrm>
            <a:off x="704088"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Sous-titres relus</a:t>
            </a:r>
          </a:p>
        </p:txBody>
      </p:sp>
      <p:sp>
        <p:nvSpPr>
          <p:cNvPr id="20" name="DSFR-box"/>
          <p:cNvSpPr/>
          <p:nvPr/>
        </p:nvSpPr>
        <p:spPr>
          <a:xfrm>
            <a:off x="4392167"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encadre-titre"/>
          <p:cNvSpPr txBox="1"/>
          <p:nvPr/>
        </p:nvSpPr>
        <p:spPr>
          <a:xfrm>
            <a:off x="4547615"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Transcription</a:t>
            </a:r>
          </a:p>
        </p:txBody>
      </p:sp>
      <p:sp>
        <p:nvSpPr>
          <p:cNvPr id="23" name="DSFR-box"/>
          <p:cNvSpPr/>
          <p:nvPr/>
        </p:nvSpPr>
        <p:spPr>
          <a:xfrm>
            <a:off x="8235695"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encadre-titre"/>
          <p:cNvSpPr txBox="1"/>
          <p:nvPr/>
        </p:nvSpPr>
        <p:spPr>
          <a:xfrm>
            <a:off x="8391144"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Alertes visuelles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4712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319015"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8162543"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Agathe, chargée de mission - déficience motrice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Agathe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26</a:t>
            </a:r>
            <a:endParaRPr lang="fr-FR" dirty="0"/>
          </a:p>
        </p:txBody>
      </p:sp>
      <p:pic>
        <p:nvPicPr>
          <p:cNvPr id="8" name="Picture 7" descr="Portrait illustratif - Agath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712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876909"/>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Naviguer sans souris, avec des contacteurs adaptés</a:t>
            </a:r>
          </a:p>
          <a:p>
            <a:pPr algn="l">
              <a:lnSpc>
                <a:spcPct val="130000"/>
              </a:lnSpc>
            </a:pPr>
            <a:r>
              <a:rPr sz="1400" lang="fr-FR">
                <a:solidFill>
                  <a:srgbClr val="161616"/>
                </a:solidFill>
                <a:latin typeface="Arial"/>
              </a:rPr>
              <a:t>• </a:t>
            </a:r>
            <a:r>
              <a:rPr sz="1400" b="0" lang="fr-FR">
                <a:solidFill>
                  <a:srgbClr val="161616"/>
                </a:solidFill>
                <a:latin typeface="Arial"/>
              </a:rPr>
              <a:t>Cibles cliquables suffisamment larges (44 x 44 px minimum)</a:t>
            </a:r>
          </a:p>
          <a:p>
            <a:pPr algn="l">
              <a:lnSpc>
                <a:spcPct val="130000"/>
              </a:lnSpc>
            </a:pPr>
            <a:r>
              <a:rPr sz="1400" lang="fr-FR">
                <a:solidFill>
                  <a:srgbClr val="161616"/>
                </a:solidFill>
                <a:latin typeface="Arial"/>
              </a:rPr>
              <a:t>• </a:t>
            </a:r>
            <a:r>
              <a:rPr sz="1400" b="0" lang="fr-FR">
                <a:solidFill>
                  <a:srgbClr val="161616"/>
                </a:solidFill>
                <a:latin typeface="Arial"/>
              </a:rPr>
              <a:t>Commande vocale pour piloter l'interface</a:t>
            </a:r>
          </a:p>
        </p:txBody>
      </p:sp>
      <p:sp>
        <p:nvSpPr>
          <p:cNvPr id="14" name="DSFR-box"/>
          <p:cNvSpPr/>
          <p:nvPr/>
        </p:nvSpPr>
        <p:spPr>
          <a:xfrm>
            <a:off x="548640" y="4041648"/>
            <a:ext cx="1938528" cy="411480"/>
          </a:xfrm>
          <a:prstGeom prst="rect">
            <a:avLst/>
          </a:prstGeom>
          <a:solidFill>
            <a:srgbClr val="B8F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18753C"/>
                </a:solidFill>
                <a:latin typeface="Arial"/>
              </a:rPr>
              <a:t>Utiliser</a:t>
            </a:r>
          </a:p>
        </p:txBody>
      </p:sp>
      <p:sp>
        <p:nvSpPr>
          <p:cNvPr id="17" name="DSFR-box"/>
          <p:cNvSpPr/>
          <p:nvPr/>
        </p:nvSpPr>
        <p:spPr>
          <a:xfrm>
            <a:off x="548640" y="4617720"/>
            <a:ext cx="3468623" cy="1234440"/>
          </a:xfrm>
          <a:prstGeom prst="rect">
            <a:avLst/>
          </a:prstGeom>
          <a:solidFill>
            <a:srgbClr val="B8F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encadre-titre"/>
          <p:cNvSpPr txBox="1"/>
          <p:nvPr/>
        </p:nvSpPr>
        <p:spPr>
          <a:xfrm>
            <a:off x="704088"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18753C"/>
                </a:solidFill>
                <a:latin typeface="Arial"/>
              </a:rPr>
              <a:t>Clavier et contacteurs</a:t>
            </a:r>
          </a:p>
        </p:txBody>
      </p:sp>
      <p:sp>
        <p:nvSpPr>
          <p:cNvPr id="20" name="DSFR-box"/>
          <p:cNvSpPr/>
          <p:nvPr/>
        </p:nvSpPr>
        <p:spPr>
          <a:xfrm>
            <a:off x="4392167" y="4617720"/>
            <a:ext cx="3468623" cy="1234440"/>
          </a:xfrm>
          <a:prstGeom prst="rect">
            <a:avLst/>
          </a:prstGeom>
          <a:solidFill>
            <a:srgbClr val="B8F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encadre-titre"/>
          <p:cNvSpPr txBox="1"/>
          <p:nvPr/>
        </p:nvSpPr>
        <p:spPr>
          <a:xfrm>
            <a:off x="4547615"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18753C"/>
                </a:solidFill>
                <a:latin typeface="Arial"/>
              </a:rPr>
              <a:t>Souris trackball</a:t>
            </a:r>
          </a:p>
        </p:txBody>
      </p:sp>
      <p:sp>
        <p:nvSpPr>
          <p:cNvPr id="23" name="DSFR-box"/>
          <p:cNvSpPr/>
          <p:nvPr/>
        </p:nvSpPr>
        <p:spPr>
          <a:xfrm>
            <a:off x="8235695" y="4617720"/>
            <a:ext cx="3468623" cy="1234440"/>
          </a:xfrm>
          <a:prstGeom prst="rect">
            <a:avLst/>
          </a:prstGeom>
          <a:solidFill>
            <a:srgbClr val="B8F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encadre-titre"/>
          <p:cNvSpPr txBox="1"/>
          <p:nvPr/>
        </p:nvSpPr>
        <p:spPr>
          <a:xfrm>
            <a:off x="8391144"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18753C"/>
                </a:solidFill>
                <a:latin typeface="Arial"/>
              </a:rPr>
              <a:t>Commande vocale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4712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617720"/>
            <a:ext cx="73152" cy="1234440"/>
          </a:xfrm>
          <a:prstGeom prst="rect">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319015" y="4617720"/>
            <a:ext cx="73152" cy="1234440"/>
          </a:xfrm>
          <a:prstGeom prst="rect">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8162543" y="4617720"/>
            <a:ext cx="73152" cy="1234440"/>
          </a:xfrm>
          <a:prstGeom prst="rect">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Anatole, lycéen - handicap cognitif</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Anatole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27</a:t>
            </a:r>
            <a:endParaRPr lang="fr-FR" dirty="0"/>
          </a:p>
        </p:txBody>
      </p:sp>
      <p:pic>
        <p:nvPicPr>
          <p:cNvPr id="8" name="Picture 7" descr="Portrait illustratif - Anatol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209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1126540"/>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Phrases courtes et simples, sans double négation</a:t>
            </a:r>
          </a:p>
          <a:p>
            <a:pPr algn="l">
              <a:lnSpc>
                <a:spcPct val="130000"/>
              </a:lnSpc>
            </a:pPr>
            <a:r>
              <a:rPr sz="1400" lang="fr-FR">
                <a:solidFill>
                  <a:srgbClr val="161616"/>
                </a:solidFill>
                <a:latin typeface="Arial"/>
              </a:rPr>
              <a:t>• </a:t>
            </a:r>
            <a:r>
              <a:rPr sz="1400" b="0" lang="fr-FR">
                <a:solidFill>
                  <a:srgbClr val="161616"/>
                </a:solidFill>
                <a:latin typeface="Arial"/>
              </a:rPr>
              <a:t>Mise en page aérée, une idée par paragraphe</a:t>
            </a:r>
          </a:p>
          <a:p>
            <a:pPr algn="l">
              <a:lnSpc>
                <a:spcPct val="130000"/>
              </a:lnSpc>
            </a:pPr>
            <a:r>
              <a:rPr sz="1400" lang="fr-FR">
                <a:solidFill>
                  <a:srgbClr val="161616"/>
                </a:solidFill>
                <a:latin typeface="Arial"/>
              </a:rPr>
              <a:t>• </a:t>
            </a:r>
            <a:r>
              <a:rPr sz="1400" b="0" lang="fr-FR">
                <a:solidFill>
                  <a:srgbClr val="161616"/>
                </a:solidFill>
                <a:latin typeface="Arial"/>
              </a:rPr>
              <a:t>Pictogrammes pour accompagner le texte</a:t>
            </a:r>
          </a:p>
          <a:p>
            <a:pPr algn="l">
              <a:lnSpc>
                <a:spcPct val="130000"/>
              </a:lnSpc>
            </a:pPr>
            <a:r>
              <a:rPr sz="1400" lang="fr-FR">
                <a:solidFill>
                  <a:srgbClr val="161616"/>
                </a:solidFill>
                <a:latin typeface="Arial"/>
              </a:rPr>
              <a:t>• </a:t>
            </a:r>
            <a:r>
              <a:rPr sz="1400" b="0" lang="fr-FR">
                <a:solidFill>
                  <a:srgbClr val="161616"/>
                </a:solidFill>
                <a:latin typeface="Arial"/>
              </a:rPr>
              <a:t>Navigation prévisible, sans changements inattendus</a:t>
            </a:r>
          </a:p>
        </p:txBody>
      </p:sp>
      <p:sp>
        <p:nvSpPr>
          <p:cNvPr id="14" name="DSFR-box"/>
          <p:cNvSpPr/>
          <p:nvPr/>
        </p:nvSpPr>
        <p:spPr>
          <a:xfrm>
            <a:off x="548640" y="4041648"/>
            <a:ext cx="1938528" cy="411480"/>
          </a:xfrm>
          <a:prstGeom prst="rect">
            <a:avLst/>
          </a:prstGeom>
          <a:solidFill>
            <a:srgbClr val="FE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B34E00"/>
                </a:solidFill>
                <a:latin typeface="Arial"/>
              </a:rPr>
              <a:t>Comprendre</a:t>
            </a:r>
          </a:p>
        </p:txBody>
      </p:sp>
      <p:sp>
        <p:nvSpPr>
          <p:cNvPr id="17" name="DSFR-box"/>
          <p:cNvSpPr/>
          <p:nvPr/>
        </p:nvSpPr>
        <p:spPr>
          <a:xfrm>
            <a:off x="548640" y="4498848"/>
            <a:ext cx="11155680"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459028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Profil</a:t>
            </a:r>
          </a:p>
        </p:txBody>
      </p:sp>
      <p:sp>
        <p:nvSpPr>
          <p:cNvPr id="19" name="DSFR-callout-body"/>
          <p:cNvSpPr txBox="1"/>
          <p:nvPr/>
        </p:nvSpPr>
        <p:spPr>
          <a:xfrm>
            <a:off x="704088" y="5001768"/>
            <a:ext cx="10908792"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Porteur de trisomie 21</a:t>
            </a:r>
          </a:p>
          <a:p>
            <a:pPr algn="l">
              <a:lnSpc>
                <a:spcPct val="120000"/>
              </a:lnSpc>
            </a:pPr>
            <a:r>
              <a:rPr sz="1400" lang="fr-FR">
                <a:solidFill>
                  <a:srgbClr val="161616"/>
                </a:solidFill>
                <a:latin typeface="Arial"/>
              </a:rPr>
              <a:t>• </a:t>
            </a:r>
            <a:r>
              <a:rPr sz="1400" b="0" lang="fr-FR">
                <a:solidFill>
                  <a:srgbClr val="161616"/>
                </a:solidFill>
                <a:latin typeface="Arial"/>
              </a:rPr>
              <a:t>Lire lui demande du temps et de la concentration</a:t>
            </a:r>
          </a:p>
          <a:p>
            <a:pPr algn="l">
              <a:lnSpc>
                <a:spcPct val="120000"/>
              </a:lnSpc>
            </a:pPr>
            <a:r>
              <a:rPr sz="1400" lang="fr-FR">
                <a:solidFill>
                  <a:srgbClr val="161616"/>
                </a:solidFill>
                <a:latin typeface="Arial"/>
              </a:rPr>
              <a:t>• </a:t>
            </a:r>
            <a:r>
              <a:rPr sz="1400" b="0" lang="fr-FR">
                <a:solidFill>
                  <a:srgbClr val="161616"/>
                </a:solidFill>
                <a:latin typeface="Arial"/>
              </a:rPr>
              <a:t>Il comprend mieux les phrases simples et courtes</a:t>
            </a:r>
          </a:p>
          <a:p>
            <a:pPr algn="l">
              <a:lnSpc>
                <a:spcPct val="120000"/>
              </a:lnSpc>
            </a:pPr>
            <a:r>
              <a:rPr sz="1400" lang="fr-FR">
                <a:solidFill>
                  <a:srgbClr val="161616"/>
                </a:solidFill>
                <a:latin typeface="Arial"/>
              </a:rPr>
              <a:t>• </a:t>
            </a:r>
            <a:r>
              <a:rPr sz="1400" b="0" lang="fr-FR">
                <a:solidFill>
                  <a:srgbClr val="161616"/>
                </a:solidFill>
                <a:latin typeface="Arial"/>
              </a:rPr>
              <a:t>Le langage clair et le FALC lui sont indispensables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7209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B34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498848"/>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Paul, attaché de presse - TDAH et dyslexie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Paul</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28</a:t>
            </a:r>
            <a:endParaRPr lang="fr-FR" dirty="0"/>
          </a:p>
        </p:txBody>
      </p:sp>
      <p:pic>
        <p:nvPicPr>
          <p:cNvPr id="8" name="Picture 7" descr="Portrait illustratif - Paul"/>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209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1126540"/>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Mettre en pause les animations (carrousels, vidéo autoplay)</a:t>
            </a:r>
          </a:p>
          <a:p>
            <a:pPr algn="l">
              <a:lnSpc>
                <a:spcPct val="130000"/>
              </a:lnSpc>
            </a:pPr>
            <a:r>
              <a:rPr sz="1400" lang="fr-FR">
                <a:solidFill>
                  <a:srgbClr val="161616"/>
                </a:solidFill>
                <a:latin typeface="Arial"/>
              </a:rPr>
              <a:t>• </a:t>
            </a:r>
            <a:r>
              <a:rPr sz="1400" b="0" lang="fr-FR">
                <a:solidFill>
                  <a:srgbClr val="161616"/>
                </a:solidFill>
                <a:latin typeface="Arial"/>
              </a:rPr>
              <a:t>Textes non justifiés, avec un espacement suffisant</a:t>
            </a:r>
          </a:p>
          <a:p>
            <a:pPr algn="l">
              <a:lnSpc>
                <a:spcPct val="130000"/>
              </a:lnSpc>
            </a:pPr>
            <a:r>
              <a:rPr sz="1400" lang="fr-FR">
                <a:solidFill>
                  <a:srgbClr val="161616"/>
                </a:solidFill>
                <a:latin typeface="Arial"/>
              </a:rPr>
              <a:t>• </a:t>
            </a:r>
            <a:r>
              <a:rPr sz="1400" b="0" lang="fr-FR">
                <a:solidFill>
                  <a:srgbClr val="161616"/>
                </a:solidFill>
                <a:latin typeface="Arial"/>
              </a:rPr>
              <a:t>Polices lisibles, sans empattement (sans serif)</a:t>
            </a:r>
          </a:p>
          <a:p>
            <a:pPr algn="l">
              <a:lnSpc>
                <a:spcPct val="130000"/>
              </a:lnSpc>
            </a:pPr>
            <a:r>
              <a:rPr sz="1400" lang="fr-FR">
                <a:solidFill>
                  <a:srgbClr val="161616"/>
                </a:solidFill>
                <a:latin typeface="Arial"/>
              </a:rPr>
              <a:t>• </a:t>
            </a:r>
            <a:r>
              <a:rPr sz="1400" b="0" lang="fr-FR">
                <a:solidFill>
                  <a:srgbClr val="161616"/>
                </a:solidFill>
                <a:latin typeface="Arial"/>
              </a:rPr>
              <a:t>Mise en page aérée, paragraphes courts</a:t>
            </a:r>
          </a:p>
        </p:txBody>
      </p:sp>
      <p:sp>
        <p:nvSpPr>
          <p:cNvPr id="14" name="DSFR-box"/>
          <p:cNvSpPr/>
          <p:nvPr/>
        </p:nvSpPr>
        <p:spPr>
          <a:xfrm>
            <a:off x="548640" y="4041648"/>
            <a:ext cx="1938528" cy="411480"/>
          </a:xfrm>
          <a:prstGeom prst="rect">
            <a:avLst/>
          </a:prstGeom>
          <a:solidFill>
            <a:srgbClr val="FE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B34E00"/>
                </a:solidFill>
                <a:latin typeface="Arial"/>
              </a:rPr>
              <a:t>Comprendre + Percevoir</a:t>
            </a:r>
          </a:p>
        </p:txBody>
      </p:sp>
      <p:sp>
        <p:nvSpPr>
          <p:cNvPr id="17" name="DSFR-box"/>
          <p:cNvSpPr/>
          <p:nvPr/>
        </p:nvSpPr>
        <p:spPr>
          <a:xfrm>
            <a:off x="548640" y="4572000"/>
            <a:ext cx="11155680" cy="141366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Profil</a:t>
            </a:r>
          </a:p>
        </p:txBody>
      </p:sp>
      <p:sp>
        <p:nvSpPr>
          <p:cNvPr id="19" name="DSFR-callout-body"/>
          <p:cNvSpPr txBox="1"/>
          <p:nvPr/>
        </p:nvSpPr>
        <p:spPr>
          <a:xfrm>
            <a:off x="704088" y="5074920"/>
            <a:ext cx="10908792" cy="81930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Consulte quotidiennement des sites d'info pour ses revues de presse</a:t>
            </a:r>
          </a:p>
          <a:p>
            <a:pPr algn="l">
              <a:lnSpc>
                <a:spcPct val="120000"/>
              </a:lnSpc>
            </a:pPr>
            <a:r>
              <a:rPr sz="1400" lang="fr-FR">
                <a:solidFill>
                  <a:srgbClr val="161616"/>
                </a:solidFill>
                <a:latin typeface="Arial"/>
              </a:rPr>
              <a:t>• </a:t>
            </a:r>
            <a:r>
              <a:rPr sz="1400" b="0" lang="fr-FR">
                <a:solidFill>
                  <a:srgbClr val="161616"/>
                </a:solidFill>
                <a:latin typeface="Arial"/>
              </a:rPr>
              <a:t>Trouble de l'attention : les animations non contrôlables le déconcentrent</a:t>
            </a:r>
          </a:p>
          <a:p>
            <a:pPr algn="l">
              <a:lnSpc>
                <a:spcPct val="120000"/>
              </a:lnSpc>
            </a:pPr>
            <a:r>
              <a:rPr sz="1400" lang="fr-FR">
                <a:solidFill>
                  <a:srgbClr val="161616"/>
                </a:solidFill>
                <a:latin typeface="Arial"/>
              </a:rPr>
              <a:t>• </a:t>
            </a:r>
            <a:r>
              <a:rPr sz="1400" b="0" lang="fr-FR">
                <a:solidFill>
                  <a:srgbClr val="161616"/>
                </a:solidFill>
                <a:latin typeface="Arial"/>
              </a:rPr>
              <a:t>Dyslexie : le texte justifié et les polices à empattement ralentissent sa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7209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B34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572000"/>
            <a:ext cx="73152" cy="141366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6 profils, 4 questions - votre boussole WCAG</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Synthèse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29</a:t>
            </a:r>
            <a:endParaRPr lang="fr-FR" dirty="0"/>
          </a:p>
        </p:txBody>
      </p:sp>
      <p:graphicFrame>
        <p:nvGraphicFramePr>
          <p:cNvPr id="8" name="Table 7"/>
          <p:cNvGraphicFramePr>
            <a:graphicFrameLocks noGrp="1"/>
          </p:cNvGraphicFramePr>
          <p:nvPr/>
        </p:nvGraphicFramePr>
        <p:xfrm>
          <a:off x="475488" y="2103120"/>
          <a:ext cx="11228832" cy="2880360"/>
        </p:xfrm>
        <a:graphic>
          <a:graphicData uri="http://schemas.openxmlformats.org/drawingml/2006/table">
            <a:tbl>
              <a:tblPr firstRow="1" bandRow="1">
                <a:tableStyleId>{5C22544A-7EE6-4342-B048-85BDC9FD1C3A}</a:tableStyleId>
              </a:tblPr>
              <a:tblGrid>
                <a:gridCol w="2560320"/>
                <a:gridCol w="2377440"/>
                <a:gridCol w="2377440"/>
                <a:gridCol w="2377440"/>
                <a:gridCol w="1536192"/>
              </a:tblGrid>
              <a:tr h="411480">
                <a:tc>
                  <a:txBody>
                    <a:bodyPr wrap="square" anchor="ctr" lIns="73152" rIns="73152"/>
                    <a:lstStyle/>
                    <a:p>
                      <a:pPr algn="l">
                        <a:lnSpc>
                          <a:spcPct val="125000"/>
                        </a:lnSpc>
                      </a:pPr>
                      <a:r>
                        <a:rPr sz="1400" b="1" i="0" lang="fr-FR">
                          <a:solidFill>
                            <a:srgbClr val="FFFFFF"/>
                          </a:solidFill>
                          <a:latin typeface="Arial"/>
                        </a:rPr>
                        <a:t>Persona</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Percevoir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Utiliser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Comprendre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Compatible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Amir (aveugle)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Alt text, structure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Lecteur d'écran</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Anaïs (malvoyante)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Contrastes, taille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Justine (sourde)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Sous-titres, transcription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Agathe (motrice)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Clavier, cibles 44px</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Anatole (cognitif)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FALC, phrases courtes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Paul (TDAH, dyslexie)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Polices lisibles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Pas de justification</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Solutions par type de déficience (1/2)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Fiches solutions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30</a:t>
            </a:r>
            <a:endParaRPr lang="fr-FR" dirty="0"/>
          </a:p>
        </p:txBody>
      </p:sp>
      <p:sp>
        <p:nvSpPr>
          <p:cNvPr id="9" name="DSFR-box"/>
          <p:cNvSpPr/>
          <p:nvPr/>
        </p:nvSpPr>
        <p:spPr>
          <a:xfrm>
            <a:off x="548640" y="16916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7830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Chaque déficience appelle des solutions et des technologies d'assistance spécifiques.</a:t>
            </a:r>
          </a:p>
        </p:txBody>
      </p:sp>
      <p:graphicFrame>
        <p:nvGraphicFramePr>
          <p:cNvPr id="11" name="Table 10"/>
          <p:cNvGraphicFramePr>
            <a:graphicFrameLocks noGrp="1"/>
          </p:cNvGraphicFramePr>
          <p:nvPr/>
        </p:nvGraphicFramePr>
        <p:xfrm>
          <a:off x="475488" y="2702052"/>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Arial"/>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Aveugle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Malvoyant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Inaccessibilité au visuel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Inaccessibilité partielle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Remplacer par audio et tactile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Grossissement, contrastes, luminosité</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Plage braille, synthèse vocale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Loupe logicielle, synthèse vocale</a:t>
                      </a:r>
                    </a:p>
                  </a:txBody>
                  <a:tcPr marL="91440" marR="91440" marT="45720" marB="45720">
                    <a:solidFill>
                      <a:srgbClr val="FFFFFF"/>
                    </a:solidFill>
                  </a:tcPr>
                </a:tc>
              </a:tr>
            </a:tbl>
          </a:graphicData>
        </a:graphic>
      </p:graphicFrame>
      <p:graphicFrame>
        <p:nvGraphicFramePr>
          <p:cNvPr id="12" name="Table 11"/>
          <p:cNvGraphicFramePr>
            <a:graphicFrameLocks noGrp="1"/>
          </p:cNvGraphicFramePr>
          <p:nvPr/>
        </p:nvGraphicFramePr>
        <p:xfrm>
          <a:off x="475488" y="4503420"/>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Arial"/>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Sourd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Malentendant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Inaccessibilité à l'audio</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Inaccessibilité partielle à l'audio</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Remplacer par le visuel (sous-titres, LSF)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Renforcement du signal auditif, visuel</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Sous-titrage, velotypie, LSF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Appareil auditif, boucle magnétique</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6916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Solutions par type de déficience (2/2)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Fiches solutions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31</a:t>
            </a:r>
            <a:endParaRPr lang="fr-FR" dirty="0"/>
          </a:p>
        </p:txBody>
      </p:sp>
      <p:sp>
        <p:nvSpPr>
          <p:cNvPr id="9" name="DSFR-box"/>
          <p:cNvSpPr/>
          <p:nvPr/>
        </p:nvSpPr>
        <p:spPr>
          <a:xfrm>
            <a:off x="548640" y="16916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7830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Les déficiences motrices et cognitives impliquent des réponses différentes, mais un principe commun : simplifier l'interaction.</a:t>
            </a:r>
          </a:p>
        </p:txBody>
      </p:sp>
      <p:graphicFrame>
        <p:nvGraphicFramePr>
          <p:cNvPr id="11" name="Table 10"/>
          <p:cNvGraphicFramePr>
            <a:graphicFrameLocks noGrp="1"/>
          </p:cNvGraphicFramePr>
          <p:nvPr/>
        </p:nvGraphicFramePr>
        <p:xfrm>
          <a:off x="475488" y="2702052"/>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Arial"/>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Handicap moteur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Dyslexie / troubles dys</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Manipulation, préhension, pointage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Lecture, repérage, décodage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Navigation clavier, zones cliquables larges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Polices simples, texte non justifié, mise en page aérée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Trackball, clavier virtuel, commande oculaire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Synthèse vocale, règle de lecture</a:t>
                      </a:r>
                    </a:p>
                  </a:txBody>
                  <a:tcPr marL="91440" marR="91440" marT="45720" marB="45720">
                    <a:solidFill>
                      <a:srgbClr val="FFFFFF"/>
                    </a:solidFill>
                  </a:tcPr>
                </a:tc>
              </a:tr>
            </a:tbl>
          </a:graphicData>
        </a:graphic>
      </p:graphicFrame>
      <p:graphicFrame>
        <p:nvGraphicFramePr>
          <p:cNvPr id="12" name="Table 11"/>
          <p:cNvGraphicFramePr>
            <a:graphicFrameLocks noGrp="1"/>
          </p:cNvGraphicFramePr>
          <p:nvPr/>
        </p:nvGraphicFramePr>
        <p:xfrm>
          <a:off x="475488" y="4503420"/>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Arial"/>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Handicap mental</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TSA</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Compréhension, défilement, animation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Structuration, repérage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Interfaces simples, FALC, pictogrammes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Consignes claires, structure documentaire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Pas de technologie d'assistance spécifique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Pas de technologie d'assistance spécifique</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6916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Handicap : sortir de l'angle mort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Chiffres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32</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L'accessibilité n'est pas une faveur : c'est une condition d'accès équitable à l'information.</a:t>
            </a:r>
          </a:p>
        </p:txBody>
      </p:sp>
      <p:sp>
        <p:nvSpPr>
          <p:cNvPr id="12" name="DSFR-box"/>
          <p:cNvSpPr/>
          <p:nvPr/>
        </p:nvSpPr>
        <p:spPr>
          <a:xfrm>
            <a:off x="548640" y="2948940"/>
            <a:ext cx="3468623" cy="150647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086100"/>
            <a:ext cx="3176016" cy="411480"/>
          </a:xfrm>
          <a:prstGeom prst="rect">
            <a:avLst/>
          </a:prstGeom>
          <a:noFill/>
        </p:spPr>
        <p:txBody>
          <a:bodyPr wrap="square" anchor="t" lIns="73152" rIns="73152">
            <a:spAutoFit/>
          </a:bodyPr>
          <a:lstStyle/>
          <a:p>
            <a:pPr algn="l">
              <a:lnSpc>
                <a:spcPct val="125000"/>
              </a:lnSpc>
            </a:pPr>
            <a:r>
              <a:rPr sz="2400" b="1" i="0" lang="fr-FR">
                <a:solidFill>
                  <a:srgbClr val="000091"/>
                </a:solidFill>
                <a:latin typeface="Arial"/>
              </a:rPr>
              <a:t>1/5</a:t>
            </a:r>
          </a:p>
        </p:txBody>
      </p:sp>
      <p:sp>
        <p:nvSpPr>
          <p:cNvPr id="14" name="DSFR-card-contenu"/>
          <p:cNvSpPr txBox="1"/>
          <p:nvPr/>
        </p:nvSpPr>
        <p:spPr>
          <a:xfrm>
            <a:off x="704088" y="3543300"/>
            <a:ext cx="3176016" cy="820674"/>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1 personne sur 5 est en situation de handicap ou connaît un trouble invalidant.</a:t>
            </a:r>
          </a:p>
        </p:txBody>
      </p:sp>
      <p:sp>
        <p:nvSpPr>
          <p:cNvPr id="16" name="DSFR-box"/>
          <p:cNvSpPr/>
          <p:nvPr/>
        </p:nvSpPr>
        <p:spPr>
          <a:xfrm>
            <a:off x="4392167" y="2948940"/>
            <a:ext cx="3468623" cy="150647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4547615" y="3086100"/>
            <a:ext cx="3176016" cy="411480"/>
          </a:xfrm>
          <a:prstGeom prst="rect">
            <a:avLst/>
          </a:prstGeom>
          <a:noFill/>
        </p:spPr>
        <p:txBody>
          <a:bodyPr wrap="square" anchor="t" lIns="73152" rIns="73152">
            <a:spAutoFit/>
          </a:bodyPr>
          <a:lstStyle/>
          <a:p>
            <a:pPr algn="l">
              <a:lnSpc>
                <a:spcPct val="125000"/>
              </a:lnSpc>
            </a:pPr>
            <a:r>
              <a:rPr sz="2400" b="1" i="0" lang="fr-FR">
                <a:solidFill>
                  <a:srgbClr val="000091"/>
                </a:solidFill>
                <a:latin typeface="Arial"/>
              </a:rPr>
              <a:t>85%</a:t>
            </a:r>
          </a:p>
        </p:txBody>
      </p:sp>
      <p:sp>
        <p:nvSpPr>
          <p:cNvPr id="18" name="DSFR-card-contenu"/>
          <p:cNvSpPr txBox="1"/>
          <p:nvPr/>
        </p:nvSpPr>
        <p:spPr>
          <a:xfrm>
            <a:off x="4547615" y="3543300"/>
            <a:ext cx="3176016" cy="820674"/>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des handicaps sont acquis au cours de la vie</a:t>
            </a:r>
          </a:p>
        </p:txBody>
      </p:sp>
      <p:sp>
        <p:nvSpPr>
          <p:cNvPr id="20" name="DSFR-box"/>
          <p:cNvSpPr/>
          <p:nvPr/>
        </p:nvSpPr>
        <p:spPr>
          <a:xfrm>
            <a:off x="8235695" y="2948940"/>
            <a:ext cx="3468623" cy="150647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91144" y="3086100"/>
            <a:ext cx="3176016" cy="411480"/>
          </a:xfrm>
          <a:prstGeom prst="rect">
            <a:avLst/>
          </a:prstGeom>
          <a:noFill/>
        </p:spPr>
        <p:txBody>
          <a:bodyPr wrap="square" anchor="t" lIns="73152" rIns="73152">
            <a:spAutoFit/>
          </a:bodyPr>
          <a:lstStyle/>
          <a:p>
            <a:pPr algn="l">
              <a:lnSpc>
                <a:spcPct val="125000"/>
              </a:lnSpc>
            </a:pPr>
            <a:r>
              <a:rPr sz="2400" b="1" i="0" lang="fr-FR">
                <a:solidFill>
                  <a:srgbClr val="000091"/>
                </a:solidFill>
                <a:latin typeface="Arial"/>
              </a:rPr>
              <a:t>1er</a:t>
            </a:r>
          </a:p>
        </p:txBody>
      </p:sp>
      <p:sp>
        <p:nvSpPr>
          <p:cNvPr id="22" name="DSFR-card-contenu"/>
          <p:cNvSpPr txBox="1"/>
          <p:nvPr/>
        </p:nvSpPr>
        <p:spPr>
          <a:xfrm>
            <a:off x="8391144" y="3543300"/>
            <a:ext cx="3176016" cy="820674"/>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Le handicap est le 1er facteur de discrimination selon le Défenseur des droits</a:t>
            </a:r>
          </a:p>
        </p:txBody>
      </p:sp>
      <p:sp>
        <p:nvSpPr>
          <p:cNvPr id="24" name="DSFR-box"/>
          <p:cNvSpPr/>
          <p:nvPr/>
        </p:nvSpPr>
        <p:spPr>
          <a:xfrm>
            <a:off x="548640" y="4637836"/>
            <a:ext cx="11155680" cy="141366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FR-callout-titre"/>
          <p:cNvSpPr txBox="1"/>
          <p:nvPr/>
        </p:nvSpPr>
        <p:spPr>
          <a:xfrm>
            <a:off x="704088" y="4729276"/>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Validisme : le piège à déconstruire</a:t>
            </a:r>
          </a:p>
        </p:txBody>
      </p:sp>
      <p:sp>
        <p:nvSpPr>
          <p:cNvPr id="26" name="DSFR-callout-body"/>
          <p:cNvSpPr txBox="1"/>
          <p:nvPr/>
        </p:nvSpPr>
        <p:spPr>
          <a:xfrm>
            <a:off x="704088" y="5140756"/>
            <a:ext cx="10908792" cy="81930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Penser le public comme valide par défaut</a:t>
            </a:r>
          </a:p>
          <a:p>
            <a:pPr algn="l">
              <a:lnSpc>
                <a:spcPct val="120000"/>
              </a:lnSpc>
            </a:pPr>
            <a:r>
              <a:rPr sz="1400" lang="fr-FR">
                <a:solidFill>
                  <a:srgbClr val="161616"/>
                </a:solidFill>
                <a:latin typeface="Arial"/>
              </a:rPr>
              <a:t>• </a:t>
            </a:r>
            <a:r>
              <a:rPr sz="1400" b="0" lang="fr-FR">
                <a:solidFill>
                  <a:srgbClr val="161616"/>
                </a:solidFill>
                <a:latin typeface="Arial"/>
              </a:rPr>
              <a:t>Confondre bonne intention et accès réel</a:t>
            </a:r>
          </a:p>
          <a:p>
            <a:pPr algn="l">
              <a:lnSpc>
                <a:spcPct val="120000"/>
              </a:lnSpc>
            </a:pPr>
            <a:r>
              <a:rPr sz="1400" lang="fr-FR">
                <a:solidFill>
                  <a:srgbClr val="161616"/>
                </a:solidFill>
                <a:latin typeface="Arial"/>
              </a:rPr>
              <a:t>• </a:t>
            </a:r>
            <a:r>
              <a:rPr sz="1400" b="0" lang="fr-FR">
                <a:solidFill>
                  <a:srgbClr val="161616"/>
                </a:solidFill>
                <a:latin typeface="Arial"/>
              </a:rPr>
              <a:t>Oublier les handicaps invisibles, acquis ou temporaires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48940"/>
            <a:ext cx="73152" cy="150647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319015" y="2948940"/>
            <a:ext cx="73152" cy="150647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8162543" y="2948940"/>
            <a:ext cx="73152" cy="150647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475488" y="4637836"/>
            <a:ext cx="73152" cy="141366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Déficience n'est pas situation de handicap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Déficience vs situation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33</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handicap n'est pas un état fixe : c'est la rencontre entre une déficience et un environnement inadapté.</a:t>
            </a:r>
          </a:p>
        </p:txBody>
      </p:sp>
      <p:pic>
        <p:nvPicPr>
          <p:cNvPr id="11" name="Picture 10" descr="Schéma montrant 3 situations : une personne en fauteuil devant un bureau adapté (pas de handicap), en fauteuil seul (état de déficience), en fauteuil face à un escalier (situation de handicap)"/>
          <p:cNvPicPr>
            <a:picLocks noChangeAspect="1"/>
          </p:cNvPicPr>
          <p:nvPr/>
        </p:nvPicPr>
        <p:blipFill>
          <a:blip r:embed="rId2"/>
          <a:stretch>
            <a:fillRect/>
          </a:stretch>
        </p:blipFill>
        <p:spPr>
          <a:xfrm>
            <a:off x="475488" y="2994660"/>
            <a:ext cx="5029200" cy="2743200"/>
          </a:xfrm>
          <a:prstGeom prst="rect">
            <a:avLst/>
          </a:prstGeom>
        </p:spPr>
      </p:pic>
      <p:sp>
        <p:nvSpPr>
          <p:cNvPr id="13" name="DSFR-box"/>
          <p:cNvSpPr/>
          <p:nvPr/>
        </p:nvSpPr>
        <p:spPr>
          <a:xfrm>
            <a:off x="5897880" y="2994660"/>
            <a:ext cx="5806440" cy="197053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053328" y="3086100"/>
            <a:ext cx="555955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ça change pour vous</a:t>
            </a:r>
          </a:p>
        </p:txBody>
      </p:sp>
      <p:sp>
        <p:nvSpPr>
          <p:cNvPr id="15" name="DSFR-callout-body"/>
          <p:cNvSpPr txBox="1"/>
          <p:nvPr/>
        </p:nvSpPr>
        <p:spPr>
          <a:xfrm>
            <a:off x="6053328" y="3497579"/>
            <a:ext cx="5559552" cy="1376172"/>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C'est l'</a:t>
            </a:r>
            <a:r>
              <a:rPr sz="1400" b="1" lang="fr-FR">
                <a:solidFill>
                  <a:srgbClr val="161616"/>
                </a:solidFill>
                <a:latin typeface="Arial"/>
              </a:rPr>
              <a:t>environnement</a:t>
            </a:r>
            <a:r>
              <a:rPr sz="1400" b="0" lang="fr-FR">
                <a:solidFill>
                  <a:srgbClr val="161616"/>
                </a:solidFill>
                <a:latin typeface="Arial"/>
              </a:rPr>
              <a:t> qui crée le handicap, pas la personne</a:t>
            </a:r>
          </a:p>
          <a:p>
            <a:pPr algn="l">
              <a:lnSpc>
                <a:spcPct val="130000"/>
              </a:lnSpc>
            </a:pPr>
            <a:r>
              <a:rPr sz="1400" lang="fr-FR">
                <a:solidFill>
                  <a:srgbClr val="161616"/>
                </a:solidFill>
                <a:latin typeface="Arial"/>
              </a:rPr>
              <a:t>• </a:t>
            </a:r>
            <a:r>
              <a:rPr sz="1400" b="0" lang="fr-FR">
                <a:solidFill>
                  <a:srgbClr val="161616"/>
                </a:solidFill>
                <a:latin typeface="Arial"/>
              </a:rPr>
              <a:t>Un document inaccessible = une barrière que vous pouvez lever</a:t>
            </a:r>
          </a:p>
          <a:p>
            <a:pPr algn="l">
              <a:lnSpc>
                <a:spcPct val="130000"/>
              </a:lnSpc>
            </a:pPr>
            <a:r>
              <a:rPr sz="1400" lang="fr-FR">
                <a:solidFill>
                  <a:srgbClr val="161616"/>
                </a:solidFill>
                <a:latin typeface="Arial"/>
              </a:rPr>
              <a:t>• </a:t>
            </a:r>
            <a:r>
              <a:rPr sz="1400" b="0" lang="fr-FR">
                <a:solidFill>
                  <a:srgbClr val="161616"/>
                </a:solidFill>
                <a:latin typeface="Arial"/>
              </a:rPr>
              <a:t>Mettre en accessibilité votre communication supprime la situation de handicap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5824728" y="2994660"/>
            <a:ext cx="73152" cy="197053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spectre du handicap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Spectre du handicap</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34</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handicap n'est pas binaire. Il peut être permanent, temporaire, situationnel ou lié au vieillissement.</a:t>
            </a:r>
          </a:p>
        </p:txBody>
      </p:sp>
      <p:pic>
        <p:nvPicPr>
          <p:cNvPr id="11" name="Picture 10" descr="Tableau à 5 colonnes (permanent, temporaire, situationnel, vieillissement) et 4 lignes (manipulation, vision, cognition, mobilité). Exemples : une seule main, bras cassé, bébé dans les bras, douleurs ; visibilité faible, oeil gonflé, lumière tamisée, vue qui baisse ; amnésie, fatigue, première utilisation, Alzheimer ; fauteuil roulant, jambe cassée, chaussures inconfortables, canne."/>
          <p:cNvPicPr>
            <a:picLocks noChangeAspect="1"/>
          </p:cNvPicPr>
          <p:nvPr/>
        </p:nvPicPr>
        <p:blipFill>
          <a:blip r:embed="rId2"/>
          <a:stretch>
            <a:fillRect/>
          </a:stretch>
        </p:blipFill>
        <p:spPr>
          <a:xfrm>
            <a:off x="4064508" y="3040380"/>
            <a:ext cx="4050791" cy="3175938"/>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35</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Arial"/>
              </a:rPr>
              <a:t>3. L'accessibilité numérique, quel cadre légal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cadre légal : de 2005 à aujourd'hui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Jalons législatifs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36</a:t>
            </a:r>
            <a:endParaRPr lang="fr-FR" dirty="0"/>
          </a:p>
        </p:txBody>
      </p:sp>
      <p:sp>
        <p:nvSpPr>
          <p:cNvPr id="8" name="DSFR-stepper-pastille-1"/>
          <p:cNvSpPr/>
          <p:nvPr/>
        </p:nvSpPr>
        <p:spPr>
          <a:xfrm>
            <a:off x="144589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Loi Handicap 2005 : 1re obligation d'accessibilité</a:t>
            </a:r>
          </a:p>
        </p:txBody>
      </p:sp>
      <p:sp>
        <p:nvSpPr>
          <p:cNvPr id="11" name="DSFR-stepper-pastille-2"/>
          <p:cNvSpPr/>
          <p:nvPr/>
        </p:nvSpPr>
        <p:spPr>
          <a:xfrm>
            <a:off x="4328541"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3358134"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Directive européenne 2016 : extension au secteur public</a:t>
            </a:r>
          </a:p>
        </p:txBody>
      </p:sp>
      <p:sp>
        <p:nvSpPr>
          <p:cNvPr id="14" name="DSFR-stepper-pastille-3"/>
          <p:cNvSpPr/>
          <p:nvPr/>
        </p:nvSpPr>
        <p:spPr>
          <a:xfrm>
            <a:off x="7211186"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6240779"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RGAA 4.1.2 (décret 2019-768) : référentiel opposable</a:t>
            </a:r>
          </a:p>
        </p:txBody>
      </p:sp>
      <p:sp>
        <p:nvSpPr>
          <p:cNvPr id="17" name="DSFR-stepper-pastille-4"/>
          <p:cNvSpPr/>
          <p:nvPr/>
        </p:nvSpPr>
        <p:spPr>
          <a:xfrm>
            <a:off x="10093832"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8" name="DSFR-stepper-texte-4"/>
          <p:cNvSpPr txBox="1"/>
          <p:nvPr/>
        </p:nvSpPr>
        <p:spPr>
          <a:xfrm>
            <a:off x="9123426"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2023 : l'Arcom devient l'autorité de contrôle</a:t>
            </a:r>
          </a:p>
        </p:txBody>
      </p:sp>
      <p:sp>
        <p:nvSpPr>
          <p:cNvPr id="20" name="DSFR-box"/>
          <p:cNvSpPr/>
          <p:nvPr/>
        </p:nvSpPr>
        <p:spPr>
          <a:xfrm>
            <a:off x="548640" y="4114800"/>
            <a:ext cx="11155680"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2062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Qui est concerné ?</a:t>
            </a:r>
          </a:p>
        </p:txBody>
      </p:sp>
      <p:sp>
        <p:nvSpPr>
          <p:cNvPr id="22" name="DSFR-alert-info-body"/>
          <p:cNvSpPr txBox="1"/>
          <p:nvPr/>
        </p:nvSpPr>
        <p:spPr>
          <a:xfrm>
            <a:off x="704088" y="4617720"/>
            <a:ext cx="10908792" cy="1280160"/>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État, collectivités, établissements publics</a:t>
            </a:r>
          </a:p>
          <a:p>
            <a:pPr algn="l">
              <a:lnSpc>
                <a:spcPct val="150000"/>
              </a:lnSpc>
            </a:pPr>
            <a:r>
              <a:rPr sz="1400" lang="fr-FR">
                <a:solidFill>
                  <a:srgbClr val="161616"/>
                </a:solidFill>
                <a:latin typeface="Arial"/>
              </a:rPr>
              <a:t>• </a:t>
            </a:r>
            <a:r>
              <a:rPr sz="1400" b="0" lang="fr-FR">
                <a:solidFill>
                  <a:srgbClr val="161616"/>
                </a:solidFill>
                <a:latin typeface="Arial"/>
              </a:rPr>
              <a:t>Entreprises privées gérant un service public ou CA &gt; 250 M EUR</a:t>
            </a:r>
          </a:p>
          <a:p>
            <a:pPr algn="l">
              <a:lnSpc>
                <a:spcPct val="150000"/>
              </a:lnSpc>
            </a:pPr>
            <a:r>
              <a:rPr sz="1400" lang="fr-FR">
                <a:solidFill>
                  <a:srgbClr val="161616"/>
                </a:solidFill>
                <a:latin typeface="Arial"/>
              </a:rPr>
              <a:t>• </a:t>
            </a:r>
            <a:r>
              <a:rPr sz="1400" b="0" lang="fr-FR">
                <a:solidFill>
                  <a:srgbClr val="161616"/>
                </a:solidFill>
                <a:latin typeface="Arial"/>
              </a:rPr>
              <a:t>Jusqu'à 50 000 EUR : accessibilité des organismes publics et assimilés</a:t>
            </a:r>
          </a:p>
          <a:p>
            <a:pPr algn="l">
              <a:lnSpc>
                <a:spcPct val="150000"/>
              </a:lnSpc>
            </a:pPr>
            <a:r>
              <a:rPr sz="1400" lang="fr-FR">
                <a:solidFill>
                  <a:srgbClr val="161616"/>
                </a:solidFill>
                <a:latin typeface="Arial"/>
              </a:rPr>
              <a:t>• </a:t>
            </a:r>
            <a:r>
              <a:rPr sz="1400" b="0" lang="fr-FR">
                <a:solidFill>
                  <a:srgbClr val="161616"/>
                </a:solidFill>
                <a:latin typeface="Arial"/>
              </a:rPr>
              <a:t>Jusqu'à 25 000 EUR : obligations déclaratives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stepper-connecteur-1-decoratif" descr=""/>
          <p:cNvSpPr/>
          <p:nvPr/>
        </p:nvSpPr>
        <p:spPr>
          <a:xfrm>
            <a:off x="2085975"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968621"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7851267"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11480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cadre européen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Directives européennes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37</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Deux directives européennes structurent l'obligation d'accessibilité numérique en France.</a:t>
            </a:r>
          </a:p>
        </p:txBody>
      </p:sp>
      <p:sp>
        <p:nvSpPr>
          <p:cNvPr id="12" name="DSFR-box"/>
          <p:cNvSpPr/>
          <p:nvPr/>
        </p:nvSpPr>
        <p:spPr>
          <a:xfrm>
            <a:off x="548640" y="2994660"/>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Directive 2016/2102 - secteur public</a:t>
            </a:r>
          </a:p>
        </p:txBody>
      </p:sp>
      <p:sp>
        <p:nvSpPr>
          <p:cNvPr id="14" name="DSFR-callout-body"/>
          <p:cNvSpPr txBox="1"/>
          <p:nvPr/>
        </p:nvSpPr>
        <p:spPr>
          <a:xfrm>
            <a:off x="704088" y="3497579"/>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Sites web et applications mobiles du secteur public</a:t>
            </a:r>
          </a:p>
          <a:p>
            <a:pPr algn="l">
              <a:lnSpc>
                <a:spcPct val="120000"/>
              </a:lnSpc>
            </a:pPr>
            <a:r>
              <a:rPr sz="1400" lang="fr-FR">
                <a:solidFill>
                  <a:srgbClr val="161616"/>
                </a:solidFill>
                <a:latin typeface="Arial"/>
              </a:rPr>
              <a:t>• </a:t>
            </a:r>
            <a:r>
              <a:rPr sz="1400" b="0" lang="fr-FR">
                <a:solidFill>
                  <a:srgbClr val="161616"/>
                </a:solidFill>
                <a:latin typeface="Arial"/>
              </a:rPr>
              <a:t>Transposée en droit français par le décret 2019-768</a:t>
            </a:r>
          </a:p>
          <a:p>
            <a:pPr algn="l">
              <a:lnSpc>
                <a:spcPct val="120000"/>
              </a:lnSpc>
            </a:pPr>
            <a:r>
              <a:rPr sz="1400" lang="fr-FR">
                <a:solidFill>
                  <a:srgbClr val="161616"/>
                </a:solidFill>
                <a:latin typeface="Arial"/>
              </a:rPr>
              <a:t>• </a:t>
            </a:r>
            <a:r>
              <a:rPr sz="1400" b="0" lang="fr-FR">
                <a:solidFill>
                  <a:srgbClr val="161616"/>
                </a:solidFill>
                <a:latin typeface="Arial"/>
              </a:rPr>
              <a:t>Obligation de déclaration d'accessibilité</a:t>
            </a:r>
          </a:p>
          <a:p>
            <a:pPr algn="l">
              <a:lnSpc>
                <a:spcPct val="120000"/>
              </a:lnSpc>
            </a:pPr>
            <a:r>
              <a:rPr sz="1400" lang="fr-FR">
                <a:solidFill>
                  <a:srgbClr val="161616"/>
                </a:solidFill>
                <a:latin typeface="Arial"/>
              </a:rPr>
              <a:t>• </a:t>
            </a:r>
            <a:r>
              <a:rPr sz="1400" b="0" lang="fr-FR">
                <a:solidFill>
                  <a:srgbClr val="161616"/>
                </a:solidFill>
                <a:latin typeface="Arial"/>
              </a:rPr>
              <a:t>Base du RGAA actuel</a:t>
            </a:r>
          </a:p>
        </p:txBody>
      </p:sp>
      <p:sp>
        <p:nvSpPr>
          <p:cNvPr id="16" name="DSFR-box"/>
          <p:cNvSpPr/>
          <p:nvPr/>
        </p:nvSpPr>
        <p:spPr>
          <a:xfrm>
            <a:off x="6313931" y="2994660"/>
            <a:ext cx="5390388" cy="1644091"/>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warning-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Directive 2019/882 - secteur privé</a:t>
            </a:r>
          </a:p>
        </p:txBody>
      </p:sp>
      <p:sp>
        <p:nvSpPr>
          <p:cNvPr id="18" name="DSFR-alert-warning-body"/>
          <p:cNvSpPr txBox="1"/>
          <p:nvPr/>
        </p:nvSpPr>
        <p:spPr>
          <a:xfrm>
            <a:off x="6469379" y="3497579"/>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Acte européen d'accessibilité (EAA)</a:t>
            </a:r>
          </a:p>
          <a:p>
            <a:pPr algn="l">
              <a:lnSpc>
                <a:spcPct val="120000"/>
              </a:lnSpc>
            </a:pPr>
            <a:r>
              <a:rPr sz="1400" lang="fr-FR">
                <a:solidFill>
                  <a:srgbClr val="161616"/>
                </a:solidFill>
                <a:latin typeface="Arial"/>
              </a:rPr>
              <a:t>• </a:t>
            </a:r>
            <a:r>
              <a:rPr sz="1400" b="0" lang="fr-FR">
                <a:solidFill>
                  <a:srgbClr val="161616"/>
                </a:solidFill>
                <a:latin typeface="Arial"/>
              </a:rPr>
              <a:t>Applicable à partir du 28 juin 2025</a:t>
            </a:r>
          </a:p>
          <a:p>
            <a:pPr algn="l">
              <a:lnSpc>
                <a:spcPct val="120000"/>
              </a:lnSpc>
            </a:pPr>
            <a:r>
              <a:rPr sz="1400" lang="fr-FR">
                <a:solidFill>
                  <a:srgbClr val="161616"/>
                </a:solidFill>
                <a:latin typeface="Arial"/>
              </a:rPr>
              <a:t>• </a:t>
            </a:r>
            <a:r>
              <a:rPr sz="1400" b="0" lang="fr-FR">
                <a:solidFill>
                  <a:srgbClr val="161616"/>
                </a:solidFill>
                <a:latin typeface="Arial"/>
              </a:rPr>
              <a:t>Commerce en ligne, banque, transport, télécom</a:t>
            </a:r>
          </a:p>
          <a:p>
            <a:pPr algn="l">
              <a:lnSpc>
                <a:spcPct val="120000"/>
              </a:lnSpc>
            </a:pPr>
            <a:r>
              <a:rPr sz="1400" lang="fr-FR">
                <a:solidFill>
                  <a:srgbClr val="161616"/>
                </a:solidFill>
                <a:latin typeface="Arial"/>
              </a:rPr>
              <a:t>• </a:t>
            </a:r>
            <a:r>
              <a:rPr sz="1400" b="0" lang="fr-FR">
                <a:solidFill>
                  <a:srgbClr val="161616"/>
                </a:solidFill>
                <a:latin typeface="Arial"/>
              </a:rPr>
              <a:t>Élargit l'obligation au-delà du secteur public</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RGAA : 13 thèmes, 3 niveaux de conformité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13 thèmes RGAA</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38</a:t>
            </a:r>
            <a:endParaRPr lang="fr-FR" dirty="0"/>
          </a:p>
        </p:txBody>
      </p:sp>
      <p:graphicFrame>
        <p:nvGraphicFramePr>
          <p:cNvPr id="8" name="Table 7"/>
          <p:cNvGraphicFramePr>
            <a:graphicFrameLocks noGrp="1"/>
          </p:cNvGraphicFramePr>
          <p:nvPr/>
        </p:nvGraphicFramePr>
        <p:xfrm>
          <a:off x="475488" y="1737360"/>
          <a:ext cx="10927080" cy="2194560"/>
        </p:xfrm>
        <a:graphic>
          <a:graphicData uri="http://schemas.openxmlformats.org/drawingml/2006/table">
            <a:tbl>
              <a:tblPr firstRow="1" bandRow="1">
                <a:tableStyleId>{5C22544A-7EE6-4342-B048-85BDC9FD1C3A}</a:tableStyleId>
              </a:tblPr>
              <a:tblGrid>
                <a:gridCol w="5463540"/>
                <a:gridCol w="5463540"/>
              </a:tblGrid>
              <a:tr h="274320">
                <a:tc>
                  <a:txBody>
                    <a:bodyPr wrap="square" anchor="ctr" lIns="73152" rIns="73152"/>
                    <a:lstStyle/>
                    <a:p>
                      <a:pPr algn="l">
                        <a:lnSpc>
                          <a:spcPct val="125000"/>
                        </a:lnSpc>
                      </a:pPr>
                      <a:r>
                        <a:rPr sz="1400" b="1" i="0" lang="fr-FR">
                          <a:solidFill>
                            <a:srgbClr val="FFFFFF"/>
                          </a:solidFill>
                          <a:latin typeface="Arial"/>
                        </a:rPr>
                        <a:t>Les 13 thèmes du RGAA</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
                      </a:r>
                    </a:p>
                  </a:txBody>
                  <a:tcPr marL="91440" marR="91440" marT="45720" marB="45720">
                    <a:solidFill>
                      <a:srgbClr val="000091"/>
                    </a:solidFill>
                  </a:tcPr>
                </a:tc>
              </a:tr>
              <a:tr h="274320">
                <a:tc>
                  <a:txBody>
                    <a:bodyPr wrap="square" anchor="ctr" lIns="73152" rIns="73152"/>
                    <a:lstStyle/>
                    <a:p>
                      <a:pPr algn="l">
                        <a:lnSpc>
                          <a:spcPct val="125000"/>
                        </a:lnSpc>
                      </a:pPr>
                      <a:r>
                        <a:rPr sz="1400" b="0" i="0" lang="fr-FR">
                          <a:solidFill>
                            <a:srgbClr val="161616"/>
                          </a:solidFill>
                          <a:latin typeface="Arial"/>
                        </a:rPr>
                        <a:t>1. Images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8. Éléments obligatoires</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Arial"/>
                        </a:rPr>
                        <a:t>2. Cadres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9. Structuration</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Arial"/>
                        </a:rPr>
                        <a:t>3. Couleurs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10. Présentation</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Arial"/>
                        </a:rPr>
                        <a:t>4. Multimédia</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11. Formulaires</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Arial"/>
                        </a:rPr>
                        <a:t>5. Tableaux</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12. Navigation</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Arial"/>
                        </a:rPr>
                        <a:t>6. Liens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13. Consultation</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Arial"/>
                        </a:rPr>
                        <a:t>7. Scripts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r>
            </a:tbl>
          </a:graphicData>
        </a:graphic>
      </p:graphicFrame>
      <p:sp>
        <p:nvSpPr>
          <p:cNvPr id="10" name="DSFR-box"/>
          <p:cNvSpPr/>
          <p:nvPr/>
        </p:nvSpPr>
        <p:spPr>
          <a:xfrm>
            <a:off x="548640" y="4663440"/>
            <a:ext cx="5390388" cy="107213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48006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SPAN</a:t>
            </a:r>
          </a:p>
        </p:txBody>
      </p:sp>
      <p:sp>
        <p:nvSpPr>
          <p:cNvPr id="12" name="DSFR-card-contenu"/>
          <p:cNvSpPr txBox="1"/>
          <p:nvPr/>
        </p:nvSpPr>
        <p:spPr>
          <a:xfrm>
            <a:off x="704088" y="5257800"/>
            <a:ext cx="5097779" cy="386333"/>
          </a:xfrm>
          <a:prstGeom prst="rect">
            <a:avLst/>
          </a:prstGeom>
          <a:noFill/>
        </p:spPr>
        <p:txBody>
          <a:bodyPr wrap="square" anchor="t" lIns="73152" rIns="73152">
            <a:spAutoFit/>
          </a:bodyPr>
          <a:lstStyle/>
          <a:p>
            <a:pPr algn="l">
              <a:lnSpc>
                <a:spcPct val="120000"/>
              </a:lnSpc>
            </a:pPr>
            <a:r>
              <a:rPr sz="1400" b="0" i="0" lang="fr-FR">
                <a:solidFill>
                  <a:srgbClr val="161616"/>
                </a:solidFill>
                <a:latin typeface="Arial"/>
              </a:rPr>
              <a:t>Schéma pluriannuel d'accessibilité sur 3 ans</a:t>
            </a:r>
          </a:p>
        </p:txBody>
      </p:sp>
      <p:sp>
        <p:nvSpPr>
          <p:cNvPr id="14" name="DSFR-box"/>
          <p:cNvSpPr/>
          <p:nvPr/>
        </p:nvSpPr>
        <p:spPr>
          <a:xfrm>
            <a:off x="6313931" y="4663440"/>
            <a:ext cx="5390388" cy="155219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rd-titre"/>
          <p:cNvSpPr txBox="1"/>
          <p:nvPr/>
        </p:nvSpPr>
        <p:spPr>
          <a:xfrm>
            <a:off x="6469379" y="48006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Trois niveaux de conformité</a:t>
            </a:r>
          </a:p>
        </p:txBody>
      </p:sp>
      <p:sp>
        <p:nvSpPr>
          <p:cNvPr id="16" name="DSFR-card-contenu"/>
          <p:cNvSpPr txBox="1"/>
          <p:nvPr/>
        </p:nvSpPr>
        <p:spPr>
          <a:xfrm>
            <a:off x="6469379" y="5257800"/>
            <a:ext cx="5097779" cy="866393"/>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Non conforme : moins de 50 % des critères</a:t>
            </a:r>
          </a:p>
          <a:p>
            <a:pPr algn="l">
              <a:lnSpc>
                <a:spcPct val="120000"/>
              </a:lnSpc>
            </a:pPr>
            <a:r>
              <a:rPr sz="1400" lang="fr-FR">
                <a:solidFill>
                  <a:srgbClr val="161616"/>
                </a:solidFill>
                <a:latin typeface="Arial"/>
              </a:rPr>
              <a:t>• </a:t>
            </a:r>
            <a:r>
              <a:rPr sz="1400" b="0" lang="fr-FR">
                <a:solidFill>
                  <a:srgbClr val="161616"/>
                </a:solidFill>
                <a:latin typeface="Arial"/>
              </a:rPr>
              <a:t>Partiellement conforme : de 50 % à 99 %</a:t>
            </a:r>
          </a:p>
          <a:p>
            <a:pPr algn="l">
              <a:lnSpc>
                <a:spcPct val="120000"/>
              </a:lnSpc>
            </a:pPr>
            <a:r>
              <a:rPr sz="1400" lang="fr-FR">
                <a:solidFill>
                  <a:srgbClr val="161616"/>
                </a:solidFill>
                <a:latin typeface="Arial"/>
              </a:rPr>
              <a:t>• </a:t>
            </a:r>
            <a:r>
              <a:rPr sz="1400" b="0" lang="fr-FR">
                <a:solidFill>
                  <a:srgbClr val="161616"/>
                </a:solidFill>
                <a:latin typeface="Arial"/>
              </a:rPr>
              <a:t>Totalement conforme : 100 % des critères applicables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475488" y="4663440"/>
            <a:ext cx="73152" cy="107213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4663440"/>
            <a:ext cx="73152" cy="155219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RGAA - Référentiel Général d'Amélioration de l'Accessibilité</a:t>
            </a:r>
          </a:p>
        </p:txBody>
      </p:sp>
      <p:sp>
        <p:nvSpPr>
          <p:cNvPr id="3" name="Text Placeholder 2"/>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RGAA détail</a:t>
            </a:r>
          </a:p>
        </p:txBody>
      </p:sp>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39</a:t>
            </a:r>
            <a:endParaRPr lang="fr-FR" dirty="0"/>
          </a:p>
        </p:txBody>
      </p:sp>
      <p:sp>
        <p:nvSpPr>
          <p:cNvPr id="7" name="DSFR-box"/>
          <p:cNvSpPr/>
          <p:nvPr/>
        </p:nvSpPr>
        <p:spPr>
          <a:xfrm>
            <a:off x="548640" y="2103120"/>
            <a:ext cx="3468623" cy="199567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callout-titre"/>
          <p:cNvSpPr txBox="1"/>
          <p:nvPr/>
        </p:nvSpPr>
        <p:spPr>
          <a:xfrm>
            <a:off x="704088"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Structure en 2 parties</a:t>
            </a:r>
          </a:p>
        </p:txBody>
      </p:sp>
      <p:sp>
        <p:nvSpPr>
          <p:cNvPr id="9" name="DSFR-callout-body"/>
          <p:cNvSpPr txBox="1"/>
          <p:nvPr/>
        </p:nvSpPr>
        <p:spPr>
          <a:xfrm>
            <a:off x="704088" y="2606039"/>
            <a:ext cx="3221735" cy="1401318"/>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Obligations légales</a:t>
            </a:r>
          </a:p>
          <a:p>
            <a:pPr algn="l">
              <a:lnSpc>
                <a:spcPct val="125000"/>
              </a:lnSpc>
            </a:pPr>
            <a:r>
              <a:rPr sz="1400" lang="fr-FR">
                <a:solidFill>
                  <a:srgbClr val="161616"/>
                </a:solidFill>
                <a:latin typeface="Arial"/>
              </a:rPr>
              <a:t>• </a:t>
            </a:r>
            <a:r>
              <a:rPr sz="1400" b="0" lang="fr-FR">
                <a:solidFill>
                  <a:srgbClr val="161616"/>
                </a:solidFill>
                <a:latin typeface="Arial"/>
              </a:rPr>
              <a:t>Méthode technique</a:t>
            </a:r>
          </a:p>
          <a:p>
            <a:pPr algn="l">
              <a:lnSpc>
                <a:spcPct val="125000"/>
              </a:lnSpc>
            </a:pPr>
            <a:r>
              <a:rPr sz="1400" lang="fr-FR">
                <a:solidFill>
                  <a:srgbClr val="161616"/>
                </a:solidFill>
                <a:latin typeface="Arial"/>
              </a:rPr>
              <a:t>• </a:t>
            </a:r>
            <a:r>
              <a:rPr sz="1400" b="0" lang="fr-FR">
                <a:solidFill>
                  <a:srgbClr val="161616"/>
                </a:solidFill>
                <a:latin typeface="Arial"/>
              </a:rPr>
              <a:t>13 thématiques</a:t>
            </a:r>
          </a:p>
          <a:p>
            <a:pPr algn="l">
              <a:lnSpc>
                <a:spcPct val="125000"/>
              </a:lnSpc>
            </a:pPr>
            <a:r>
              <a:rPr sz="1400" lang="fr-FR">
                <a:solidFill>
                  <a:srgbClr val="161616"/>
                </a:solidFill>
                <a:latin typeface="Arial"/>
              </a:rPr>
              <a:t>• </a:t>
            </a:r>
            <a:r>
              <a:rPr sz="1400" b="0" lang="fr-FR">
                <a:solidFill>
                  <a:srgbClr val="161616"/>
                </a:solidFill>
                <a:latin typeface="Arial"/>
              </a:rPr>
              <a:t>106 critères au total</a:t>
            </a:r>
          </a:p>
          <a:p>
            <a:pPr algn="l">
              <a:lnSpc>
                <a:spcPct val="125000"/>
              </a:lnSpc>
            </a:pPr>
            <a:r>
              <a:rPr sz="1400" lang="fr-FR">
                <a:solidFill>
                  <a:srgbClr val="161616"/>
                </a:solidFill>
                <a:latin typeface="Arial"/>
              </a:rPr>
              <a:t>• </a:t>
            </a:r>
            <a:r>
              <a:rPr sz="1400" b="0" lang="fr-FR">
                <a:solidFill>
                  <a:srgbClr val="161616"/>
                </a:solidFill>
                <a:latin typeface="Arial"/>
              </a:rPr>
              <a:t>258 tests unitaires</a:t>
            </a:r>
          </a:p>
        </p:txBody>
      </p:sp>
      <p:sp>
        <p:nvSpPr>
          <p:cNvPr id="11" name="DSFR-box"/>
          <p:cNvSpPr/>
          <p:nvPr/>
        </p:nvSpPr>
        <p:spPr>
          <a:xfrm>
            <a:off x="4392167" y="2103120"/>
            <a:ext cx="3468623" cy="223570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callout-titre"/>
          <p:cNvSpPr txBox="1"/>
          <p:nvPr/>
        </p:nvSpPr>
        <p:spPr>
          <a:xfrm>
            <a:off x="4547615"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Images</a:t>
            </a:r>
          </a:p>
        </p:txBody>
      </p:sp>
      <p:sp>
        <p:nvSpPr>
          <p:cNvPr id="13" name="DSFR-callout-body"/>
          <p:cNvSpPr txBox="1"/>
          <p:nvPr/>
        </p:nvSpPr>
        <p:spPr>
          <a:xfrm>
            <a:off x="4547615" y="2606039"/>
            <a:ext cx="3221735" cy="1641348"/>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Cadres</a:t>
            </a:r>
          </a:p>
          <a:p>
            <a:pPr algn="l">
              <a:lnSpc>
                <a:spcPct val="125000"/>
              </a:lnSpc>
            </a:pPr>
            <a:r>
              <a:rPr sz="1400" lang="fr-FR">
                <a:solidFill>
                  <a:srgbClr val="161616"/>
                </a:solidFill>
                <a:latin typeface="Arial"/>
              </a:rPr>
              <a:t>• </a:t>
            </a:r>
            <a:r>
              <a:rPr sz="1400" b="0" lang="fr-FR">
                <a:solidFill>
                  <a:srgbClr val="161616"/>
                </a:solidFill>
                <a:latin typeface="Arial"/>
              </a:rPr>
              <a:t>Couleurs</a:t>
            </a:r>
          </a:p>
          <a:p>
            <a:pPr algn="l">
              <a:lnSpc>
                <a:spcPct val="125000"/>
              </a:lnSpc>
            </a:pPr>
            <a:r>
              <a:rPr sz="1400" lang="fr-FR">
                <a:solidFill>
                  <a:srgbClr val="161616"/>
                </a:solidFill>
                <a:latin typeface="Arial"/>
              </a:rPr>
              <a:t>• </a:t>
            </a:r>
            <a:r>
              <a:rPr sz="1400" b="0" lang="fr-FR">
                <a:solidFill>
                  <a:srgbClr val="161616"/>
                </a:solidFill>
                <a:latin typeface="Arial"/>
              </a:rPr>
              <a:t>Multimédia</a:t>
            </a:r>
          </a:p>
          <a:p>
            <a:pPr algn="l">
              <a:lnSpc>
                <a:spcPct val="125000"/>
              </a:lnSpc>
            </a:pPr>
            <a:r>
              <a:rPr sz="1400" lang="fr-FR">
                <a:solidFill>
                  <a:srgbClr val="161616"/>
                </a:solidFill>
                <a:latin typeface="Arial"/>
              </a:rPr>
              <a:t>• </a:t>
            </a:r>
            <a:r>
              <a:rPr sz="1400" b="0" lang="fr-FR">
                <a:solidFill>
                  <a:srgbClr val="161616"/>
                </a:solidFill>
                <a:latin typeface="Arial"/>
              </a:rPr>
              <a:t>Tableaux</a:t>
            </a:r>
          </a:p>
          <a:p>
            <a:pPr algn="l">
              <a:lnSpc>
                <a:spcPct val="125000"/>
              </a:lnSpc>
            </a:pPr>
            <a:r>
              <a:rPr sz="1400" lang="fr-FR">
                <a:solidFill>
                  <a:srgbClr val="161616"/>
                </a:solidFill>
                <a:latin typeface="Arial"/>
              </a:rPr>
              <a:t>• </a:t>
            </a:r>
            <a:r>
              <a:rPr sz="1400" b="0" lang="fr-FR">
                <a:solidFill>
                  <a:srgbClr val="161616"/>
                </a:solidFill>
                <a:latin typeface="Arial"/>
              </a:rPr>
              <a:t>Liens</a:t>
            </a:r>
          </a:p>
          <a:p>
            <a:pPr algn="l">
              <a:lnSpc>
                <a:spcPct val="125000"/>
              </a:lnSpc>
            </a:pPr>
            <a:r>
              <a:rPr sz="1400" lang="fr-FR">
                <a:solidFill>
                  <a:srgbClr val="161616"/>
                </a:solidFill>
                <a:latin typeface="Arial"/>
              </a:rPr>
              <a:t>• </a:t>
            </a:r>
            <a:r>
              <a:rPr sz="1400" b="0" lang="fr-FR">
                <a:solidFill>
                  <a:srgbClr val="161616"/>
                </a:solidFill>
                <a:latin typeface="Arial"/>
              </a:rPr>
              <a:t>Scripts</a:t>
            </a:r>
          </a:p>
        </p:txBody>
      </p:sp>
      <p:sp>
        <p:nvSpPr>
          <p:cNvPr id="15" name="DSFR-box"/>
          <p:cNvSpPr/>
          <p:nvPr/>
        </p:nvSpPr>
        <p:spPr>
          <a:xfrm>
            <a:off x="8235695" y="2103120"/>
            <a:ext cx="3468623" cy="199567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8391144"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Éléments obligatoires</a:t>
            </a:r>
          </a:p>
        </p:txBody>
      </p:sp>
      <p:sp>
        <p:nvSpPr>
          <p:cNvPr id="17" name="DSFR-callout-body"/>
          <p:cNvSpPr txBox="1"/>
          <p:nvPr/>
        </p:nvSpPr>
        <p:spPr>
          <a:xfrm>
            <a:off x="8391144" y="2606039"/>
            <a:ext cx="3221735" cy="1401318"/>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Structuration</a:t>
            </a:r>
          </a:p>
          <a:p>
            <a:pPr algn="l">
              <a:lnSpc>
                <a:spcPct val="125000"/>
              </a:lnSpc>
            </a:pPr>
            <a:r>
              <a:rPr sz="1400" lang="fr-FR">
                <a:solidFill>
                  <a:srgbClr val="161616"/>
                </a:solidFill>
                <a:latin typeface="Arial"/>
              </a:rPr>
              <a:t>• </a:t>
            </a:r>
            <a:r>
              <a:rPr sz="1400" b="0" lang="fr-FR">
                <a:solidFill>
                  <a:srgbClr val="161616"/>
                </a:solidFill>
                <a:latin typeface="Arial"/>
              </a:rPr>
              <a:t>Navigation</a:t>
            </a:r>
          </a:p>
          <a:p>
            <a:pPr algn="l">
              <a:lnSpc>
                <a:spcPct val="125000"/>
              </a:lnSpc>
            </a:pPr>
            <a:r>
              <a:rPr sz="1400" lang="fr-FR">
                <a:solidFill>
                  <a:srgbClr val="161616"/>
                </a:solidFill>
                <a:latin typeface="Arial"/>
              </a:rPr>
              <a:t>• </a:t>
            </a:r>
            <a:r>
              <a:rPr sz="1400" b="0" lang="fr-FR">
                <a:solidFill>
                  <a:srgbClr val="161616"/>
                </a:solidFill>
                <a:latin typeface="Arial"/>
              </a:rPr>
              <a:t>Présentation</a:t>
            </a:r>
          </a:p>
          <a:p>
            <a:pPr algn="l">
              <a:lnSpc>
                <a:spcPct val="125000"/>
              </a:lnSpc>
            </a:pPr>
            <a:r>
              <a:rPr sz="1400" lang="fr-FR">
                <a:solidFill>
                  <a:srgbClr val="161616"/>
                </a:solidFill>
                <a:latin typeface="Arial"/>
              </a:rPr>
              <a:t>• </a:t>
            </a:r>
            <a:r>
              <a:rPr sz="1400" b="0" lang="fr-FR">
                <a:solidFill>
                  <a:srgbClr val="161616"/>
                </a:solidFill>
                <a:latin typeface="Arial"/>
              </a:rPr>
              <a:t>Formulaires</a:t>
            </a:r>
          </a:p>
          <a:p>
            <a:pPr algn="l">
              <a:lnSpc>
                <a:spcPct val="125000"/>
              </a:lnSpc>
            </a:pPr>
            <a:r>
              <a:rPr sz="1400" lang="fr-FR">
                <a:solidFill>
                  <a:srgbClr val="161616"/>
                </a:solidFill>
                <a:latin typeface="Arial"/>
              </a:rPr>
              <a:t>• </a:t>
            </a:r>
            <a:r>
              <a:rPr sz="1400" b="0" lang="fr-FR">
                <a:solidFill>
                  <a:srgbClr val="161616"/>
                </a:solidFill>
                <a:latin typeface="Arial"/>
              </a:rPr>
              <a:t>Consultation</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103120"/>
            <a:ext cx="73152" cy="199567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ccent-decoratif" descr=""/>
          <p:cNvSpPr/>
          <p:nvPr/>
        </p:nvSpPr>
        <p:spPr>
          <a:xfrm>
            <a:off x="4319015" y="2103120"/>
            <a:ext cx="73152" cy="22357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ccent-decoratif" descr=""/>
          <p:cNvSpPr/>
          <p:nvPr/>
        </p:nvSpPr>
        <p:spPr>
          <a:xfrm>
            <a:off x="8162543" y="2103120"/>
            <a:ext cx="73152" cy="199567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Quelles obligations pour votre structure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Obligations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40</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Vous connaissez le cadre. Mais concrètement, quelles obligations s'appliquent à votre poste et à votre structure ?</a:t>
            </a:r>
          </a:p>
        </p:txBody>
      </p:sp>
      <p:sp>
        <p:nvSpPr>
          <p:cNvPr id="12" name="DSFR-box"/>
          <p:cNvSpPr/>
          <p:nvPr/>
        </p:nvSpPr>
        <p:spPr>
          <a:xfrm>
            <a:off x="548640" y="3314700"/>
            <a:ext cx="9326880" cy="129844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lert-info-titre"/>
          <p:cNvSpPr txBox="1"/>
          <p:nvPr/>
        </p:nvSpPr>
        <p:spPr>
          <a:xfrm>
            <a:off x="704088" y="3406140"/>
            <a:ext cx="90799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Activité - simulateur Obligally (10 min)</a:t>
            </a:r>
          </a:p>
        </p:txBody>
      </p:sp>
      <p:sp>
        <p:nvSpPr>
          <p:cNvPr id="14" name="DSFR-alert-info-body"/>
          <p:cNvSpPr txBox="1"/>
          <p:nvPr/>
        </p:nvSpPr>
        <p:spPr>
          <a:xfrm>
            <a:off x="704088" y="3817620"/>
            <a:ext cx="9079992" cy="70408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Cliquez sur Simuler et répondez aux questions</a:t>
            </a:r>
          </a:p>
          <a:p>
            <a:pPr algn="l">
              <a:lnSpc>
                <a:spcPct val="150000"/>
              </a:lnSpc>
            </a:pPr>
            <a:r>
              <a:rPr sz="1400" lang="fr-FR">
                <a:solidFill>
                  <a:srgbClr val="161616"/>
                </a:solidFill>
                <a:latin typeface="Arial"/>
              </a:rPr>
              <a:t>• </a:t>
            </a:r>
            <a:r>
              <a:rPr sz="1400" b="0" lang="fr-FR">
                <a:solidFill>
                  <a:srgbClr val="161616"/>
                </a:solidFill>
                <a:latin typeface="Arial"/>
              </a:rPr>
              <a:t>Notez le résultat : quelles normes s'appliquent à vous ?</a:t>
            </a:r>
          </a:p>
        </p:txBody>
      </p:sp>
      <p:pic>
        <p:nvPicPr>
          <p:cNvPr id="15" name="Picture 14" descr="QR code vers le simulateur Obligally : https://obligations-legales-accessibilite-numerique.fr/fr/"/>
          <p:cNvPicPr>
            <a:picLocks noChangeAspect="1"/>
          </p:cNvPicPr>
          <p:nvPr/>
        </p:nvPicPr>
        <p:blipFill>
          <a:blip r:embed="rId2"/>
          <a:stretch>
            <a:fillRect/>
          </a:stretch>
        </p:blipFill>
        <p:spPr>
          <a:xfrm>
            <a:off x="10012680" y="3634739"/>
            <a:ext cx="1645920" cy="1645920"/>
          </a:xfrm>
          <a:prstGeom prst="rect">
            <a:avLst/>
          </a:prstGeom>
        </p:spPr>
      </p:pic>
      <p:sp>
        <p:nvSpPr>
          <p:cNvPr id="16" name="DSFR-texte-libre"/>
          <p:cNvSpPr txBox="1"/>
          <p:nvPr/>
        </p:nvSpPr>
        <p:spPr>
          <a:xfrm>
            <a:off x="10012680" y="5326379"/>
            <a:ext cx="1645920" cy="320040"/>
          </a:xfrm>
          <a:prstGeom prst="rect">
            <a:avLst/>
          </a:prstGeom>
          <a:noFill/>
        </p:spPr>
        <p:txBody>
          <a:bodyPr wrap="square" anchor="t" lIns="73152" rIns="73152">
            <a:spAutoFit/>
          </a:bodyPr>
          <a:lstStyle/>
          <a:p>
            <a:pPr algn="l">
              <a:lnSpc>
                <a:spcPct val="125000"/>
              </a:lnSpc>
            </a:pPr>
            <a:r>
              <a:rPr sz="1400" b="1" i="0" lang="fr-FR">
                <a:solidFill>
                  <a:srgbClr val="161616"/>
                </a:solidFill>
                <a:latin typeface="Arial"/>
              </a:rPr>
              <a:t>Scannez-moi !</a:t>
            </a:r>
          </a:p>
        </p:txBody>
      </p:sp>
      <p:sp>
        <p:nvSpPr>
          <p:cNvPr id="17" name="TextBox 16"/>
          <p:cNvSpPr txBox="1"/>
          <p:nvPr/>
        </p:nvSpPr>
        <p:spPr>
          <a:xfrm>
            <a:off x="475488" y="4844491"/>
            <a:ext cx="11228832" cy="320040"/>
          </a:xfrm>
          <a:prstGeom prst="rect">
            <a:avLst/>
          </a:prstGeom>
          <a:noFill/>
        </p:spPr>
        <p:txBody>
          <a:bodyPr wrap="square">
            <a:spAutoFit/>
          </a:bodyPr>
          <a:lstStyle/>
          <a:p>
            <a:r>
              <a:rPr sz="1400" b="1" u="sng" lang="fr-FR">
                <a:solidFill>
                  <a:srgbClr val="000091"/>
                </a:solidFill>
                <a:hlinkClick r:id="rId3"/>
              </a:rPr>
              <a:t>https://obligations-legales-accessibilite-numerique.fr/fr/</a:t>
            </a:r>
          </a:p>
        </p:txBody>
      </p:sp>
      <p:sp>
        <p:nvSpPr>
          <p:cNvPr id="18" name="TextBox 17"/>
          <p:cNvSpPr txBox="1"/>
          <p:nvPr/>
        </p:nvSpPr>
        <p:spPr>
          <a:xfrm>
            <a:off x="475488" y="5164531"/>
            <a:ext cx="11228832" cy="297180"/>
          </a:xfrm>
          <a:prstGeom prst="rect">
            <a:avLst/>
          </a:prstGeom>
          <a:noFill/>
        </p:spPr>
        <p:txBody>
          <a:bodyPr wrap="none">
            <a:spAutoFit/>
          </a:bodyPr>
          <a:lstStyle/>
          <a:p>
            <a:r>
              <a:rPr sz="1400" b="1" lang="fr-FR">
                <a:solidFill>
                  <a:srgbClr val="161616"/>
                </a:solidFill>
              </a:rPr>
              <a:t>Simuler : </a:t>
            </a:r>
            <a:r>
              <a:rPr sz="1400" u="sng" lang="fr-FR">
                <a:solidFill>
                  <a:srgbClr val="000091"/>
                </a:solidFill>
                <a:hlinkClick r:id="rId4"/>
              </a:rPr>
              <a:t>https://obligations-legales-accessibilite-numerique.fr/fr/simulation/</a:t>
            </a:r>
          </a:p>
        </p:txBody>
      </p:sp>
      <p:sp>
        <p:nvSpPr>
          <p:cNvPr id="19" name="TextBox 18"/>
          <p:cNvSpPr txBox="1"/>
          <p:nvPr/>
        </p:nvSpPr>
        <p:spPr>
          <a:xfrm>
            <a:off x="475488" y="5466283"/>
            <a:ext cx="11228832" cy="297180"/>
          </a:xfrm>
          <a:prstGeom prst="rect">
            <a:avLst/>
          </a:prstGeom>
          <a:noFill/>
        </p:spPr>
        <p:txBody>
          <a:bodyPr wrap="none">
            <a:spAutoFit/>
          </a:bodyPr>
          <a:lstStyle/>
          <a:p>
            <a:r>
              <a:rPr sz="1400" b="1" lang="fr-FR">
                <a:solidFill>
                  <a:srgbClr val="161616"/>
                </a:solidFill>
              </a:rPr>
              <a:t>Comprendre : </a:t>
            </a:r>
            <a:r>
              <a:rPr sz="1400" u="sng" lang="fr-FR">
                <a:solidFill>
                  <a:srgbClr val="000091"/>
                </a:solidFill>
                <a:hlinkClick r:id="rId5"/>
              </a:rPr>
              <a:t>https://obligations-legales-accessibilite-numerique.fr/fr/comprendre/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29844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La déclaration d'accessibilité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Déclaration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41</a:t>
            </a:r>
            <a:endParaRPr lang="fr-FR" dirty="0"/>
          </a:p>
        </p:txBody>
      </p:sp>
      <p:graphicFrame>
        <p:nvGraphicFramePr>
          <p:cNvPr id="8" name="Table 7"/>
          <p:cNvGraphicFramePr>
            <a:graphicFrameLocks noGrp="1"/>
          </p:cNvGraphicFramePr>
          <p:nvPr/>
        </p:nvGraphicFramePr>
        <p:xfrm>
          <a:off x="475488" y="2103120"/>
          <a:ext cx="11228832" cy="2468880"/>
        </p:xfrm>
        <a:graphic>
          <a:graphicData uri="http://schemas.openxmlformats.org/drawingml/2006/table">
            <a:tbl>
              <a:tblPr firstRow="1" bandRow="1">
                <a:tableStyleId>{5C22544A-7EE6-4342-B048-85BDC9FD1C3A}</a:tableStyleId>
              </a:tblPr>
              <a:tblGrid>
                <a:gridCol w="5029200"/>
                <a:gridCol w="6199632"/>
              </a:tblGrid>
              <a:tr h="411480">
                <a:tc>
                  <a:txBody>
                    <a:bodyPr wrap="square" anchor="ctr" lIns="73152" rIns="73152"/>
                    <a:lstStyle/>
                    <a:p>
                      <a:pPr algn="l">
                        <a:lnSpc>
                          <a:spcPct val="125000"/>
                        </a:lnSpc>
                      </a:pPr>
                      <a:r>
                        <a:rPr sz="1400" b="1" i="0" lang="fr-FR">
                          <a:solidFill>
                            <a:srgbClr val="FFFFFF"/>
                          </a:solidFill>
                          <a:latin typeface="Arial"/>
                        </a:rPr>
                        <a:t>Que doit-elle contenir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Exemple concret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Taux de conformité RGAA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Ex. : 62 % conforme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Statut global</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Partiellement conforme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Technologies utilisées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HTML5, CSS3, JavaScript</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Environnements de test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Chrome + NVDA, Safari + VoiceOver</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Contact et voie de recours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accessibilite@mon-ministere.gouv.fr</a:t>
                      </a:r>
                    </a:p>
                  </a:txBody>
                  <a:tcPr marL="91440" marR="91440" marT="45720" marB="45720">
                    <a:solidFill>
                      <a:srgbClr val="FFFFFF"/>
                    </a:solidFill>
                  </a:tcPr>
                </a:tc>
              </a:tr>
            </a:tbl>
          </a:graphicData>
        </a:graphic>
      </p:graphicFrame>
      <p:sp>
        <p:nvSpPr>
          <p:cNvPr id="10" name="DSFR-box"/>
          <p:cNvSpPr/>
          <p:nvPr/>
        </p:nvSpPr>
        <p:spPr>
          <a:xfrm>
            <a:off x="548640" y="4572000"/>
            <a:ext cx="11155680" cy="158648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success-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Exercice pratique</a:t>
            </a:r>
          </a:p>
        </p:txBody>
      </p:sp>
      <p:sp>
        <p:nvSpPr>
          <p:cNvPr id="12" name="DSFR-alert-success-body"/>
          <p:cNvSpPr txBox="1"/>
          <p:nvPr/>
        </p:nvSpPr>
        <p:spPr>
          <a:xfrm>
            <a:off x="704088" y="5074920"/>
            <a:ext cx="10908792" cy="992124"/>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Cherchez la déclaration d'accessibilité de votre site</a:t>
            </a:r>
          </a:p>
          <a:p>
            <a:pPr algn="l">
              <a:lnSpc>
                <a:spcPct val="150000"/>
              </a:lnSpc>
            </a:pPr>
            <a:r>
              <a:rPr sz="1400" lang="fr-FR">
                <a:solidFill>
                  <a:srgbClr val="161616"/>
                </a:solidFill>
                <a:latin typeface="Arial"/>
              </a:rPr>
              <a:t>• </a:t>
            </a:r>
            <a:r>
              <a:rPr sz="1400" b="0" lang="fr-FR">
                <a:solidFill>
                  <a:srgbClr val="161616"/>
                </a:solidFill>
                <a:latin typeface="Arial"/>
              </a:rPr>
              <a:t>URL type : /déclaration-accessibilité</a:t>
            </a:r>
          </a:p>
          <a:p>
            <a:pPr algn="l">
              <a:lnSpc>
                <a:spcPct val="150000"/>
              </a:lnSpc>
            </a:pPr>
            <a:r>
              <a:rPr sz="1400" lang="fr-FR">
                <a:solidFill>
                  <a:srgbClr val="161616"/>
                </a:solidFill>
                <a:latin typeface="Arial"/>
              </a:rPr>
              <a:t>• </a:t>
            </a:r>
            <a:r>
              <a:rPr sz="1400" b="0" lang="fr-FR">
                <a:solidFill>
                  <a:srgbClr val="161616"/>
                </a:solidFill>
                <a:latin typeface="Arial"/>
              </a:rPr>
              <a:t>Notez le taux de conformité affiché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475488" y="4572000"/>
            <a:ext cx="73152" cy="158648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Les obligations légales de mise en accessibilité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Récap obligations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42</a:t>
            </a:r>
            <a:endParaRPr lang="fr-FR" dirty="0"/>
          </a:p>
        </p:txBody>
      </p:sp>
      <p:sp>
        <p:nvSpPr>
          <p:cNvPr id="9" name="DSFR-box"/>
          <p:cNvSpPr/>
          <p:nvPr/>
        </p:nvSpPr>
        <p:spPr>
          <a:xfrm>
            <a:off x="548640" y="2103120"/>
            <a:ext cx="11155680" cy="192252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Documents obligatoires</a:t>
            </a:r>
          </a:p>
        </p:txBody>
      </p:sp>
      <p:sp>
        <p:nvSpPr>
          <p:cNvPr id="11" name="DSFR-callout-body"/>
          <p:cNvSpPr txBox="1"/>
          <p:nvPr/>
        </p:nvSpPr>
        <p:spPr>
          <a:xfrm>
            <a:off x="704088" y="2606039"/>
            <a:ext cx="10908792" cy="132816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Schéma pluriannuel d'accessibilité numérique (SPAN)</a:t>
            </a:r>
          </a:p>
          <a:p>
            <a:pPr algn="l">
              <a:lnSpc>
                <a:spcPct val="125000"/>
              </a:lnSpc>
            </a:pPr>
            <a:r>
              <a:rPr sz="1400" lang="fr-FR">
                <a:solidFill>
                  <a:srgbClr val="161616"/>
                </a:solidFill>
                <a:latin typeface="Arial"/>
              </a:rPr>
              <a:t>• </a:t>
            </a:r>
            <a:r>
              <a:rPr sz="1400" b="0" lang="fr-FR">
                <a:solidFill>
                  <a:srgbClr val="161616"/>
                </a:solidFill>
                <a:latin typeface="Arial"/>
              </a:rPr>
              <a:t>Plan d'action annuel</a:t>
            </a:r>
          </a:p>
          <a:p>
            <a:pPr algn="l">
              <a:lnSpc>
                <a:spcPct val="125000"/>
              </a:lnSpc>
            </a:pPr>
            <a:r>
              <a:rPr sz="1400" lang="fr-FR">
                <a:solidFill>
                  <a:srgbClr val="161616"/>
                </a:solidFill>
                <a:latin typeface="Arial"/>
              </a:rPr>
              <a:t>• </a:t>
            </a:r>
            <a:r>
              <a:rPr sz="1400" b="0" lang="fr-FR">
                <a:solidFill>
                  <a:srgbClr val="161616"/>
                </a:solidFill>
                <a:latin typeface="Arial"/>
              </a:rPr>
              <a:t>Audit d'accessibilité RGAA en version 4.1.2</a:t>
            </a:r>
          </a:p>
          <a:p>
            <a:pPr algn="l">
              <a:lnSpc>
                <a:spcPct val="125000"/>
              </a:lnSpc>
            </a:pPr>
            <a:r>
              <a:rPr sz="1400" lang="fr-FR">
                <a:solidFill>
                  <a:srgbClr val="161616"/>
                </a:solidFill>
                <a:latin typeface="Arial"/>
              </a:rPr>
              <a:t>• </a:t>
            </a:r>
            <a:r>
              <a:rPr sz="1400" b="0" lang="fr-FR">
                <a:solidFill>
                  <a:srgbClr val="161616"/>
                </a:solidFill>
                <a:latin typeface="Arial"/>
              </a:rPr>
              <a:t>Un moyen de contact</a:t>
            </a:r>
          </a:p>
          <a:p>
            <a:pPr algn="l">
              <a:lnSpc>
                <a:spcPct val="125000"/>
              </a:lnSpc>
            </a:pPr>
            <a:r>
              <a:rPr sz="1400" lang="fr-FR">
                <a:solidFill>
                  <a:srgbClr val="161616"/>
                </a:solidFill>
                <a:latin typeface="Arial"/>
              </a:rPr>
              <a:t>• </a:t>
            </a:r>
            <a:r>
              <a:rPr sz="1400" b="0" lang="fr-FR">
                <a:solidFill>
                  <a:srgbClr val="161616"/>
                </a:solidFill>
                <a:latin typeface="Arial"/>
              </a:rPr>
              <a:t>RAN (Référent Accessibilité Numérique)</a:t>
            </a:r>
          </a:p>
        </p:txBody>
      </p:sp>
      <p:graphicFrame>
        <p:nvGraphicFramePr>
          <p:cNvPr id="12" name="Table 11"/>
          <p:cNvGraphicFramePr>
            <a:graphicFrameLocks noGrp="1"/>
          </p:cNvGraphicFramePr>
          <p:nvPr/>
        </p:nvGraphicFramePr>
        <p:xfrm>
          <a:off x="475488" y="4572000"/>
          <a:ext cx="11228832" cy="1645920"/>
        </p:xfrm>
        <a:graphic>
          <a:graphicData uri="http://schemas.openxmlformats.org/drawingml/2006/table">
            <a:tbl>
              <a:tblPr firstRow="1" bandRow="1">
                <a:tableStyleId>{5C22544A-7EE6-4342-B048-85BDC9FD1C3A}</a:tableStyleId>
              </a:tblPr>
              <a:tblGrid>
                <a:gridCol w="4572000"/>
                <a:gridCol w="6656832"/>
              </a:tblGrid>
              <a:tr h="411480">
                <a:tc>
                  <a:txBody>
                    <a:bodyPr wrap="square" anchor="ctr" lIns="73152" rIns="73152"/>
                    <a:lstStyle/>
                    <a:p>
                      <a:pPr algn="l">
                        <a:lnSpc>
                          <a:spcPct val="125000"/>
                        </a:lnSpc>
                      </a:pPr>
                      <a:r>
                        <a:rPr sz="1400" b="1" i="0" lang="fr-FR">
                          <a:solidFill>
                            <a:srgbClr val="FFFFFF"/>
                          </a:solidFill>
                          <a:latin typeface="Arial"/>
                        </a:rPr>
                        <a:t>Mention</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Signification</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Accessibilité : non conforme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49 % et moins, ou aucun audit en cours de validité</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Accessibilité : partiellement conforme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De 50 % à 99 % des critères respectés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Accessibilité : totalement conforme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100 % des critères applicables validés</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2103120"/>
            <a:ext cx="73152" cy="192252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43</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Arial"/>
              </a:rPr>
              <a:t>4. L'accessibilité numérique, pourquoi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Pourquoi agir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Q4 - Pourquoi | Droit et charte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44</a:t>
            </a:r>
            <a:endParaRPr lang="fr-FR" dirty="0"/>
          </a:p>
        </p:txBody>
      </p:sp>
      <p:sp>
        <p:nvSpPr>
          <p:cNvPr id="9" name="DSFR-box"/>
          <p:cNvSpPr/>
          <p:nvPr/>
        </p:nvSpPr>
        <p:spPr>
          <a:xfrm>
            <a:off x="548640" y="2011680"/>
            <a:ext cx="9509759" cy="141366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03120"/>
            <a:ext cx="926287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Un droit, pas une faveur</a:t>
            </a:r>
          </a:p>
        </p:txBody>
      </p:sp>
      <p:sp>
        <p:nvSpPr>
          <p:cNvPr id="11" name="DSFR-callout-body"/>
          <p:cNvSpPr txBox="1"/>
          <p:nvPr/>
        </p:nvSpPr>
        <p:spPr>
          <a:xfrm>
            <a:off x="704088" y="2514600"/>
            <a:ext cx="9262872" cy="81930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Droit fondamental d'accès à l'information</a:t>
            </a:r>
          </a:p>
          <a:p>
            <a:pPr algn="l">
              <a:lnSpc>
                <a:spcPct val="120000"/>
              </a:lnSpc>
            </a:pPr>
            <a:r>
              <a:rPr sz="1400" lang="fr-FR">
                <a:solidFill>
                  <a:srgbClr val="161616"/>
                </a:solidFill>
                <a:latin typeface="Arial"/>
              </a:rPr>
              <a:t>• </a:t>
            </a:r>
            <a:r>
              <a:rPr sz="1400" b="0" lang="fr-FR">
                <a:solidFill>
                  <a:srgbClr val="161616"/>
                </a:solidFill>
                <a:latin typeface="Arial"/>
              </a:rPr>
              <a:t>Lutte contre la discrimination numérique</a:t>
            </a:r>
          </a:p>
          <a:p>
            <a:pPr algn="l">
              <a:lnSpc>
                <a:spcPct val="120000"/>
              </a:lnSpc>
            </a:pPr>
            <a:r>
              <a:rPr sz="1400" lang="fr-FR">
                <a:solidFill>
                  <a:srgbClr val="161616"/>
                </a:solidFill>
                <a:latin typeface="Arial"/>
              </a:rPr>
              <a:t>• </a:t>
            </a:r>
            <a:r>
              <a:rPr sz="1400" b="0" lang="fr-FR">
                <a:solidFill>
                  <a:srgbClr val="161616"/>
                </a:solidFill>
                <a:latin typeface="Arial"/>
              </a:rPr>
              <a:t>Inclusion dans la vie professionnelle et citoyenne</a:t>
            </a:r>
          </a:p>
        </p:txBody>
      </p:sp>
      <p:pic>
        <p:nvPicPr>
          <p:cNvPr id="12" name="Picture 11" descr="Couverture de la Charte d'accessibilité de la communication de l'État"/>
          <p:cNvPicPr>
            <a:picLocks noChangeAspect="1"/>
          </p:cNvPicPr>
          <p:nvPr/>
        </p:nvPicPr>
        <p:blipFill>
          <a:blip r:embed="rId2"/>
          <a:stretch>
            <a:fillRect/>
          </a:stretch>
        </p:blipFill>
        <p:spPr>
          <a:xfrm>
            <a:off x="10332719" y="2011680"/>
            <a:ext cx="1371600" cy="2882348"/>
          </a:xfrm>
          <a:prstGeom prst="rect">
            <a:avLst/>
          </a:prstGeom>
        </p:spPr>
      </p:pic>
      <p:graphicFrame>
        <p:nvGraphicFramePr>
          <p:cNvPr id="13" name="Table 12"/>
          <p:cNvGraphicFramePr>
            <a:graphicFrameLocks noGrp="1"/>
          </p:cNvGraphicFramePr>
          <p:nvPr/>
        </p:nvGraphicFramePr>
        <p:xfrm>
          <a:off x="475488" y="3653942"/>
          <a:ext cx="9582912" cy="2057400"/>
        </p:xfrm>
        <a:graphic>
          <a:graphicData uri="http://schemas.openxmlformats.org/drawingml/2006/table">
            <a:tbl>
              <a:tblPr firstRow="1" bandRow="1">
                <a:tableStyleId>{5C22544A-7EE6-4342-B048-85BDC9FD1C3A}</a:tableStyleId>
              </a:tblPr>
              <a:tblGrid>
                <a:gridCol w="4791456"/>
                <a:gridCol w="4791456"/>
              </a:tblGrid>
              <a:tr h="411480">
                <a:tc>
                  <a:txBody>
                    <a:bodyPr wrap="square" anchor="ctr" lIns="73152" rIns="73152"/>
                    <a:lstStyle/>
                    <a:p>
                      <a:pPr algn="l">
                        <a:lnSpc>
                          <a:spcPct val="125000"/>
                        </a:lnSpc>
                      </a:pPr>
                      <a:r>
                        <a:rPr sz="1400" b="1" i="0" lang="fr-FR">
                          <a:solidFill>
                            <a:srgbClr val="FFFFFF"/>
                          </a:solidFill>
                          <a:latin typeface="Arial"/>
                        </a:rPr>
                        <a:t>Communication inaccessible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Communication accessible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Non compréhension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Accès à l'information</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Frustration, énervement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Confiance en soi</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Décrochage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Autonomie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Exclusion</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Inclusion sociale</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2011680"/>
            <a:ext cx="73152" cy="141366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Communication accessible, de quoi parle-t-on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Q4 - Pourquoi | Communication accessible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45</a:t>
            </a:r>
            <a:endParaRPr lang="fr-FR" dirty="0"/>
          </a:p>
        </p:txBody>
      </p:sp>
      <p:sp>
        <p:nvSpPr>
          <p:cNvPr id="9" name="DSFR-box"/>
          <p:cNvSpPr/>
          <p:nvPr/>
        </p:nvSpPr>
        <p:spPr>
          <a:xfrm>
            <a:off x="548640" y="1874519"/>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Contenus que le public peut lire, comprendre et utiliser.</a:t>
            </a:r>
          </a:p>
        </p:txBody>
      </p:sp>
      <p:sp>
        <p:nvSpPr>
          <p:cNvPr id="12" name="DSFR-box"/>
          <p:cNvSpPr/>
          <p:nvPr/>
        </p:nvSpPr>
        <p:spPr>
          <a:xfrm>
            <a:off x="548640" y="2679192"/>
            <a:ext cx="5390388" cy="168249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77063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3 questions à garder en tête</a:t>
            </a:r>
          </a:p>
        </p:txBody>
      </p:sp>
      <p:sp>
        <p:nvSpPr>
          <p:cNvPr id="14" name="DSFR-callout-body"/>
          <p:cNvSpPr txBox="1"/>
          <p:nvPr/>
        </p:nvSpPr>
        <p:spPr>
          <a:xfrm>
            <a:off x="704088" y="3182112"/>
            <a:ext cx="5143500" cy="108813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Qui risque d'être empêché par ce support ?</a:t>
            </a:r>
          </a:p>
          <a:p>
            <a:pPr algn="l">
              <a:lnSpc>
                <a:spcPct val="125000"/>
              </a:lnSpc>
            </a:pPr>
            <a:r>
              <a:rPr sz="1400" lang="fr-FR">
                <a:solidFill>
                  <a:srgbClr val="161616"/>
                </a:solidFill>
                <a:latin typeface="Arial"/>
              </a:rPr>
              <a:t>• </a:t>
            </a:r>
            <a:r>
              <a:rPr sz="1400" b="0" lang="fr-FR">
                <a:solidFill>
                  <a:srgbClr val="161616"/>
                </a:solidFill>
                <a:latin typeface="Arial"/>
              </a:rPr>
              <a:t>Quel autre chemin donne accès à la même information ?</a:t>
            </a:r>
          </a:p>
          <a:p>
            <a:pPr algn="l">
              <a:lnSpc>
                <a:spcPct val="125000"/>
              </a:lnSpc>
            </a:pPr>
            <a:r>
              <a:rPr sz="1400" lang="fr-FR">
                <a:solidFill>
                  <a:srgbClr val="161616"/>
                </a:solidFill>
                <a:latin typeface="Arial"/>
              </a:rPr>
              <a:t>• </a:t>
            </a:r>
            <a:r>
              <a:rPr sz="1400" b="0" lang="fr-FR">
                <a:solidFill>
                  <a:srgbClr val="161616"/>
                </a:solidFill>
                <a:latin typeface="Arial"/>
              </a:rPr>
              <a:t>Quelle règle simple peut être appliquée dès maintenant ?</a:t>
            </a:r>
          </a:p>
        </p:txBody>
      </p:sp>
      <p:sp>
        <p:nvSpPr>
          <p:cNvPr id="16" name="DSFR-box"/>
          <p:cNvSpPr/>
          <p:nvPr/>
        </p:nvSpPr>
        <p:spPr>
          <a:xfrm>
            <a:off x="6313931" y="2679192"/>
            <a:ext cx="5390388" cy="16824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277063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Les supports concernés</a:t>
            </a:r>
          </a:p>
        </p:txBody>
      </p:sp>
      <p:sp>
        <p:nvSpPr>
          <p:cNvPr id="18" name="DSFR-alert-info-body"/>
          <p:cNvSpPr txBox="1"/>
          <p:nvPr/>
        </p:nvSpPr>
        <p:spPr>
          <a:xfrm>
            <a:off x="6469379" y="3182112"/>
            <a:ext cx="5143500" cy="108813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Web : site, application, newsletter, mails</a:t>
            </a:r>
          </a:p>
          <a:p>
            <a:pPr algn="l">
              <a:lnSpc>
                <a:spcPct val="125000"/>
              </a:lnSpc>
            </a:pPr>
            <a:r>
              <a:rPr sz="1400" lang="fr-FR">
                <a:solidFill>
                  <a:srgbClr val="161616"/>
                </a:solidFill>
                <a:latin typeface="Arial"/>
              </a:rPr>
              <a:t>• </a:t>
            </a:r>
            <a:r>
              <a:rPr sz="1400" b="0" lang="fr-FR">
                <a:solidFill>
                  <a:srgbClr val="161616"/>
                </a:solidFill>
                <a:latin typeface="Arial"/>
              </a:rPr>
              <a:t>Médias : vidéo, podcast, visuel animé</a:t>
            </a:r>
          </a:p>
          <a:p>
            <a:pPr algn="l">
              <a:lnSpc>
                <a:spcPct val="125000"/>
              </a:lnSpc>
            </a:pPr>
            <a:r>
              <a:rPr sz="1400" lang="fr-FR">
                <a:solidFill>
                  <a:srgbClr val="161616"/>
                </a:solidFill>
                <a:latin typeface="Arial"/>
              </a:rPr>
              <a:t>• </a:t>
            </a:r>
            <a:r>
              <a:rPr sz="1400" b="0" lang="fr-FR">
                <a:solidFill>
                  <a:srgbClr val="161616"/>
                </a:solidFill>
                <a:latin typeface="Arial"/>
              </a:rPr>
              <a:t>Documents : PDF, bureautique, formulaires</a:t>
            </a:r>
          </a:p>
          <a:p>
            <a:pPr algn="l">
              <a:lnSpc>
                <a:spcPct val="125000"/>
              </a:lnSpc>
            </a:pPr>
            <a:r>
              <a:rPr sz="1400" lang="fr-FR">
                <a:solidFill>
                  <a:srgbClr val="161616"/>
                </a:solidFill>
                <a:latin typeface="Arial"/>
              </a:rPr>
              <a:t>• </a:t>
            </a:r>
            <a:r>
              <a:rPr sz="1400" b="0" lang="fr-FR">
                <a:solidFill>
                  <a:srgbClr val="161616"/>
                </a:solidFill>
                <a:latin typeface="Arial"/>
              </a:rPr>
              <a:t>Imprimés : affiche, flyer, plan, QR code...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679192"/>
            <a:ext cx="73152" cy="16824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679192"/>
            <a:ext cx="73152" cy="16824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46</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Arial"/>
              </a:rPr>
              <a:t>5. L'accessibilité numérique, comment s'y mettre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Des outils déjà intégrés à vos postes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Outils intégrés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47</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Les systèmes d'exploitation et les suites bureautiques intègrent déjà des fonctions d'accessibilité. Pas besoin de tout réinventer.</a:t>
            </a:r>
          </a:p>
        </p:txBody>
      </p:sp>
      <p:sp>
        <p:nvSpPr>
          <p:cNvPr id="12" name="DSFR-box"/>
          <p:cNvSpPr/>
          <p:nvPr/>
        </p:nvSpPr>
        <p:spPr>
          <a:xfrm>
            <a:off x="548640" y="3302812"/>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Vision</a:t>
            </a:r>
          </a:p>
        </p:txBody>
      </p:sp>
      <p:sp>
        <p:nvSpPr>
          <p:cNvPr id="14" name="DSFR-callout-body"/>
          <p:cNvSpPr txBox="1"/>
          <p:nvPr/>
        </p:nvSpPr>
        <p:spPr>
          <a:xfrm>
            <a:off x="704088" y="3805732"/>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Loupe et zoom intégrés</a:t>
            </a:r>
          </a:p>
          <a:p>
            <a:pPr algn="l">
              <a:lnSpc>
                <a:spcPct val="120000"/>
              </a:lnSpc>
            </a:pPr>
            <a:r>
              <a:rPr sz="1400" lang="fr-FR">
                <a:solidFill>
                  <a:srgbClr val="161616"/>
                </a:solidFill>
                <a:latin typeface="Arial"/>
              </a:rPr>
              <a:t>• </a:t>
            </a:r>
            <a:r>
              <a:rPr sz="1400" b="0" lang="fr-FR">
                <a:solidFill>
                  <a:srgbClr val="161616"/>
                </a:solidFill>
                <a:latin typeface="Arial"/>
              </a:rPr>
              <a:t>Filtres de couleur et mode sombre</a:t>
            </a:r>
          </a:p>
          <a:p>
            <a:pPr algn="l">
              <a:lnSpc>
                <a:spcPct val="120000"/>
              </a:lnSpc>
            </a:pPr>
            <a:r>
              <a:rPr sz="1400" lang="fr-FR">
                <a:solidFill>
                  <a:srgbClr val="161616"/>
                </a:solidFill>
                <a:latin typeface="Arial"/>
              </a:rPr>
              <a:t>• </a:t>
            </a:r>
            <a:r>
              <a:rPr sz="1400" b="0" lang="fr-FR">
                <a:solidFill>
                  <a:srgbClr val="161616"/>
                </a:solidFill>
                <a:latin typeface="Arial"/>
              </a:rPr>
              <a:t>Narrateur / NVDA (lecteur d'écran)</a:t>
            </a:r>
          </a:p>
          <a:p>
            <a:pPr algn="l">
              <a:lnSpc>
                <a:spcPct val="120000"/>
              </a:lnSpc>
            </a:pPr>
            <a:r>
              <a:rPr sz="1400" lang="fr-FR">
                <a:solidFill>
                  <a:srgbClr val="161616"/>
                </a:solidFill>
                <a:latin typeface="Arial"/>
              </a:rPr>
              <a:t>• </a:t>
            </a:r>
            <a:r>
              <a:rPr sz="1400" b="0" lang="fr-FR">
                <a:solidFill>
                  <a:srgbClr val="161616"/>
                </a:solidFill>
                <a:latin typeface="Arial"/>
              </a:rPr>
              <a:t>Réglage de la taille du texte</a:t>
            </a:r>
          </a:p>
        </p:txBody>
      </p:sp>
      <p:sp>
        <p:nvSpPr>
          <p:cNvPr id="16" name="DSFR-box"/>
          <p:cNvSpPr/>
          <p:nvPr/>
        </p:nvSpPr>
        <p:spPr>
          <a:xfrm>
            <a:off x="6313931" y="3302812"/>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llout-titre"/>
          <p:cNvSpPr txBox="1"/>
          <p:nvPr/>
        </p:nvSpPr>
        <p:spPr>
          <a:xfrm>
            <a:off x="6469379"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Audition et interaction</a:t>
            </a:r>
          </a:p>
        </p:txBody>
      </p:sp>
      <p:sp>
        <p:nvSpPr>
          <p:cNvPr id="18" name="DSFR-callout-body"/>
          <p:cNvSpPr txBox="1"/>
          <p:nvPr/>
        </p:nvSpPr>
        <p:spPr>
          <a:xfrm>
            <a:off x="6469379" y="3805732"/>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Sous-titres en temps réel</a:t>
            </a:r>
          </a:p>
          <a:p>
            <a:pPr algn="l">
              <a:lnSpc>
                <a:spcPct val="120000"/>
              </a:lnSpc>
            </a:pPr>
            <a:r>
              <a:rPr sz="1400" lang="fr-FR">
                <a:solidFill>
                  <a:srgbClr val="161616"/>
                </a:solidFill>
                <a:latin typeface="Arial"/>
              </a:rPr>
              <a:t>• </a:t>
            </a:r>
            <a:r>
              <a:rPr sz="1400" b="0" lang="fr-FR">
                <a:solidFill>
                  <a:srgbClr val="161616"/>
                </a:solidFill>
                <a:latin typeface="Arial"/>
              </a:rPr>
              <a:t>Commandes vocales</a:t>
            </a:r>
          </a:p>
          <a:p>
            <a:pPr algn="l">
              <a:lnSpc>
                <a:spcPct val="120000"/>
              </a:lnSpc>
            </a:pPr>
            <a:r>
              <a:rPr sz="1400" lang="fr-FR">
                <a:solidFill>
                  <a:srgbClr val="161616"/>
                </a:solidFill>
                <a:latin typeface="Arial"/>
              </a:rPr>
              <a:t>• </a:t>
            </a:r>
            <a:r>
              <a:rPr sz="1400" b="0" lang="fr-FR">
                <a:solidFill>
                  <a:srgbClr val="161616"/>
                </a:solidFill>
                <a:latin typeface="Arial"/>
              </a:rPr>
              <a:t>Navigation au clavier</a:t>
            </a:r>
          </a:p>
          <a:p>
            <a:pPr algn="l">
              <a:lnSpc>
                <a:spcPct val="120000"/>
              </a:lnSpc>
            </a:pPr>
            <a:r>
              <a:rPr sz="1400" lang="fr-FR">
                <a:solidFill>
                  <a:srgbClr val="161616"/>
                </a:solidFill>
                <a:latin typeface="Arial"/>
              </a:rPr>
              <a:t>• </a:t>
            </a:r>
            <a:r>
              <a:rPr sz="1400" b="0" lang="fr-FR">
                <a:solidFill>
                  <a:srgbClr val="161616"/>
                </a:solidFill>
                <a:latin typeface="Arial"/>
              </a:rPr>
              <a:t>Vérification d'accessibilité (Word, PowerPoint)</a:t>
            </a:r>
          </a:p>
        </p:txBody>
      </p:sp>
      <p:pic>
        <p:nvPicPr>
          <p:cNvPr id="19" name="Picture 18" descr="Logo NVDA - lecteur d'écran gratuit et open source"/>
          <p:cNvPicPr>
            <a:picLocks noChangeAspect="1"/>
          </p:cNvPicPr>
          <p:nvPr/>
        </p:nvPicPr>
        <p:blipFill>
          <a:blip r:embed="rId2"/>
          <a:stretch>
            <a:fillRect/>
          </a:stretch>
        </p:blipFill>
        <p:spPr>
          <a:xfrm>
            <a:off x="5632704" y="5056632"/>
            <a:ext cx="914400" cy="914400"/>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02812"/>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02812"/>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Règles transversales : texte, contraste, QR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Règles transversales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48</a:t>
            </a:r>
            <a:endParaRPr lang="fr-FR" dirty="0"/>
          </a:p>
        </p:txBody>
      </p:sp>
      <p:sp>
        <p:nvSpPr>
          <p:cNvPr id="9" name="DSFR-box"/>
          <p:cNvSpPr/>
          <p:nvPr/>
        </p:nvSpPr>
        <p:spPr>
          <a:xfrm>
            <a:off x="548640" y="2103120"/>
            <a:ext cx="3468623"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Textes lisibles</a:t>
            </a:r>
          </a:p>
        </p:txBody>
      </p:sp>
      <p:sp>
        <p:nvSpPr>
          <p:cNvPr id="12" name="DSFR-card-contenu"/>
          <p:cNvSpPr txBox="1"/>
          <p:nvPr/>
        </p:nvSpPr>
        <p:spPr>
          <a:xfrm>
            <a:off x="704088" y="3246120"/>
            <a:ext cx="3176016" cy="1133855"/>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Police simple, sans empattement</a:t>
            </a:r>
          </a:p>
          <a:p>
            <a:pPr algn="l">
              <a:lnSpc>
                <a:spcPct val="125000"/>
              </a:lnSpc>
            </a:pPr>
            <a:r>
              <a:rPr sz="1400" lang="fr-FR">
                <a:solidFill>
                  <a:srgbClr val="161616"/>
                </a:solidFill>
                <a:latin typeface="Arial"/>
              </a:rPr>
              <a:t>• </a:t>
            </a:r>
            <a:r>
              <a:rPr sz="1400" b="0" lang="fr-FR">
                <a:solidFill>
                  <a:srgbClr val="161616"/>
                </a:solidFill>
                <a:latin typeface="Arial"/>
              </a:rPr>
              <a:t>Alignement à gauche</a:t>
            </a:r>
          </a:p>
          <a:p>
            <a:pPr algn="l">
              <a:lnSpc>
                <a:spcPct val="125000"/>
              </a:lnSpc>
            </a:pPr>
            <a:r>
              <a:rPr sz="1400" lang="fr-FR">
                <a:solidFill>
                  <a:srgbClr val="161616"/>
                </a:solidFill>
                <a:latin typeface="Arial"/>
              </a:rPr>
              <a:t>• </a:t>
            </a:r>
            <a:r>
              <a:rPr sz="1400" b="0" lang="fr-FR">
                <a:solidFill>
                  <a:srgbClr val="161616"/>
                </a:solidFill>
                <a:latin typeface="Arial"/>
              </a:rPr>
              <a:t>Paragraphes courts et aérés</a:t>
            </a:r>
          </a:p>
          <a:p>
            <a:pPr algn="l">
              <a:lnSpc>
                <a:spcPct val="125000"/>
              </a:lnSpc>
            </a:pPr>
            <a:r>
              <a:rPr sz="1400" lang="fr-FR">
                <a:solidFill>
                  <a:srgbClr val="161616"/>
                </a:solidFill>
                <a:latin typeface="Arial"/>
              </a:rPr>
              <a:t>• </a:t>
            </a:r>
            <a:r>
              <a:rPr sz="1400" b="0" lang="fr-FR">
                <a:solidFill>
                  <a:srgbClr val="161616"/>
                </a:solidFill>
                <a:latin typeface="Arial"/>
              </a:rPr>
              <a:t>Taille adaptée au support final</a:t>
            </a:r>
          </a:p>
        </p:txBody>
      </p:sp>
      <p:sp>
        <p:nvSpPr>
          <p:cNvPr id="14" name="DSFR-box"/>
          <p:cNvSpPr/>
          <p:nvPr/>
        </p:nvSpPr>
        <p:spPr>
          <a:xfrm>
            <a:off x="4392167" y="2103120"/>
            <a:ext cx="3468623"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4547615"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Contrastes testés</a:t>
            </a:r>
          </a:p>
        </p:txBody>
      </p:sp>
      <p:sp>
        <p:nvSpPr>
          <p:cNvPr id="17" name="DSFR-card-contenu"/>
          <p:cNvSpPr txBox="1"/>
          <p:nvPr/>
        </p:nvSpPr>
        <p:spPr>
          <a:xfrm>
            <a:off x="4547615" y="3246120"/>
            <a:ext cx="3176016" cy="1133855"/>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Ratio 4,5:1 minimum</a:t>
            </a:r>
          </a:p>
          <a:p>
            <a:pPr algn="l">
              <a:lnSpc>
                <a:spcPct val="125000"/>
              </a:lnSpc>
            </a:pPr>
            <a:r>
              <a:rPr sz="1400" lang="fr-FR">
                <a:solidFill>
                  <a:srgbClr val="161616"/>
                </a:solidFill>
                <a:latin typeface="Arial"/>
              </a:rPr>
              <a:t>• </a:t>
            </a:r>
            <a:r>
              <a:rPr sz="1400" b="0" lang="fr-FR">
                <a:solidFill>
                  <a:srgbClr val="161616"/>
                </a:solidFill>
                <a:latin typeface="Arial"/>
              </a:rPr>
              <a:t>Idéal : viser 7:1</a:t>
            </a:r>
          </a:p>
          <a:p>
            <a:pPr algn="l">
              <a:lnSpc>
                <a:spcPct val="125000"/>
              </a:lnSpc>
            </a:pPr>
            <a:r>
              <a:rPr sz="1400" lang="fr-FR">
                <a:solidFill>
                  <a:srgbClr val="161616"/>
                </a:solidFill>
                <a:latin typeface="Arial"/>
              </a:rPr>
              <a:t>• </a:t>
            </a:r>
            <a:r>
              <a:rPr sz="1400" b="0" lang="fr-FR">
                <a:solidFill>
                  <a:srgbClr val="161616"/>
                </a:solidFill>
                <a:latin typeface="Arial"/>
              </a:rPr>
              <a:t>Éviter les dégradés sous le texte</a:t>
            </a:r>
          </a:p>
          <a:p>
            <a:pPr algn="l">
              <a:lnSpc>
                <a:spcPct val="125000"/>
              </a:lnSpc>
            </a:pPr>
            <a:r>
              <a:rPr sz="1400" lang="fr-FR">
                <a:solidFill>
                  <a:srgbClr val="161616"/>
                </a:solidFill>
                <a:latin typeface="Arial"/>
              </a:rPr>
              <a:t>• </a:t>
            </a:r>
            <a:r>
              <a:rPr sz="1400" b="0" lang="fr-FR">
                <a:solidFill>
                  <a:srgbClr val="161616"/>
                </a:solidFill>
                <a:latin typeface="Arial"/>
              </a:rPr>
              <a:t>Tester avec un outil, pas à l'œil</a:t>
            </a:r>
          </a:p>
        </p:txBody>
      </p:sp>
      <p:sp>
        <p:nvSpPr>
          <p:cNvPr id="19" name="DSFR-box"/>
          <p:cNvSpPr/>
          <p:nvPr/>
        </p:nvSpPr>
        <p:spPr>
          <a:xfrm>
            <a:off x="8235695" y="2103120"/>
            <a:ext cx="3468623"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91144"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QR codes utiles</a:t>
            </a:r>
          </a:p>
        </p:txBody>
      </p:sp>
      <p:sp>
        <p:nvSpPr>
          <p:cNvPr id="22" name="DSFR-card-contenu"/>
          <p:cNvSpPr txBox="1"/>
          <p:nvPr/>
        </p:nvSpPr>
        <p:spPr>
          <a:xfrm>
            <a:off x="8391144" y="3246120"/>
            <a:ext cx="3176016" cy="1133855"/>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Jamais le seul accès</a:t>
            </a:r>
          </a:p>
          <a:p>
            <a:pPr algn="l">
              <a:lnSpc>
                <a:spcPct val="125000"/>
              </a:lnSpc>
            </a:pPr>
            <a:r>
              <a:rPr sz="1400" lang="fr-FR">
                <a:solidFill>
                  <a:srgbClr val="161616"/>
                </a:solidFill>
                <a:latin typeface="Arial"/>
              </a:rPr>
              <a:t>• </a:t>
            </a:r>
            <a:r>
              <a:rPr sz="1400" b="0" lang="fr-FR">
                <a:solidFill>
                  <a:srgbClr val="161616"/>
                </a:solidFill>
                <a:latin typeface="Arial"/>
              </a:rPr>
              <a:t>Lien visible à côté</a:t>
            </a:r>
          </a:p>
          <a:p>
            <a:pPr algn="l">
              <a:lnSpc>
                <a:spcPct val="125000"/>
              </a:lnSpc>
            </a:pPr>
            <a:r>
              <a:rPr sz="1400" lang="fr-FR">
                <a:solidFill>
                  <a:srgbClr val="161616"/>
                </a:solidFill>
                <a:latin typeface="Arial"/>
              </a:rPr>
              <a:t>• </a:t>
            </a:r>
            <a:r>
              <a:rPr sz="1400" b="0" lang="fr-FR">
                <a:solidFill>
                  <a:srgbClr val="161616"/>
                </a:solidFill>
                <a:latin typeface="Arial"/>
              </a:rPr>
              <a:t>Mention « Scannez-moi ! »</a:t>
            </a:r>
          </a:p>
          <a:p>
            <a:pPr algn="l">
              <a:lnSpc>
                <a:spcPct val="125000"/>
              </a:lnSpc>
            </a:pPr>
            <a:r>
              <a:rPr sz="1400" lang="fr-FR">
                <a:solidFill>
                  <a:srgbClr val="161616"/>
                </a:solidFill>
                <a:latin typeface="Arial"/>
              </a:rPr>
              <a:t>• </a:t>
            </a:r>
            <a:r>
              <a:rPr sz="1400" b="0" lang="fr-FR">
                <a:solidFill>
                  <a:srgbClr val="161616"/>
                </a:solidFill>
                <a:latin typeface="Arial"/>
              </a:rPr>
              <a:t>Taille et contraste suffisants</a:t>
            </a:r>
          </a:p>
        </p:txBody>
      </p:sp>
      <p:sp>
        <p:nvSpPr>
          <p:cNvPr id="24" name="DSFR-box"/>
          <p:cNvSpPr/>
          <p:nvPr/>
        </p:nvSpPr>
        <p:spPr>
          <a:xfrm>
            <a:off x="548640" y="4791455"/>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FR-highlight"/>
          <p:cNvSpPr txBox="1"/>
          <p:nvPr/>
        </p:nvSpPr>
        <p:spPr>
          <a:xfrm>
            <a:off x="749808" y="4882895"/>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Un support accessible ne dépend jamais d'un seul canal.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1</a:t>
            </a:r>
          </a:p>
        </p:txBody>
      </p:sp>
      <p:sp>
        <p:nvSpPr>
          <p:cNvPr id="15" name="DSFR-card-numero"/>
          <p:cNvSpPr/>
          <p:nvPr/>
        </p:nvSpPr>
        <p:spPr>
          <a:xfrm>
            <a:off x="4547615"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2</a:t>
            </a:r>
          </a:p>
        </p:txBody>
      </p:sp>
      <p:sp>
        <p:nvSpPr>
          <p:cNvPr id="20" name="DSFR-card-numero"/>
          <p:cNvSpPr/>
          <p:nvPr/>
        </p:nvSpPr>
        <p:spPr>
          <a:xfrm>
            <a:off x="8391144"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3</a:t>
            </a:r>
          </a:p>
        </p:txBody>
      </p:sp>
      <p:sp>
        <p:nvSpPr>
          <p:cNvPr id="8" name="DSFR-accent-decoratif" descr=""/>
          <p:cNvSpPr/>
          <p:nvPr/>
        </p:nvSpPr>
        <p:spPr>
          <a:xfrm>
            <a:off x="475488" y="2103120"/>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319015" y="2103120"/>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8162543" y="2103120"/>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475488" y="4791455"/>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FALC et langage clair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FALC et langage clair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49</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Simplifier ne veut pas dire appauvrir : c'est rendre le message accessible au plus grand nombre.</a:t>
            </a:r>
          </a:p>
        </p:txBody>
      </p:sp>
      <p:sp>
        <p:nvSpPr>
          <p:cNvPr id="12" name="DSFR-box"/>
          <p:cNvSpPr/>
          <p:nvPr/>
        </p:nvSpPr>
        <p:spPr>
          <a:xfrm>
            <a:off x="548640" y="2994660"/>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FALC - Facile à lire et à comprendre</a:t>
            </a:r>
          </a:p>
        </p:txBody>
      </p:sp>
      <p:sp>
        <p:nvSpPr>
          <p:cNvPr id="14" name="DSFR-callout-body"/>
          <p:cNvSpPr txBox="1"/>
          <p:nvPr/>
        </p:nvSpPr>
        <p:spPr>
          <a:xfrm>
            <a:off x="704088" y="3497579"/>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Règles européennes d'accessibilité cognitive</a:t>
            </a:r>
          </a:p>
          <a:p>
            <a:pPr algn="l">
              <a:lnSpc>
                <a:spcPct val="120000"/>
              </a:lnSpc>
            </a:pPr>
            <a:r>
              <a:rPr sz="1400" lang="fr-FR">
                <a:solidFill>
                  <a:srgbClr val="161616"/>
                </a:solidFill>
                <a:latin typeface="Arial"/>
              </a:rPr>
              <a:t>• </a:t>
            </a:r>
            <a:r>
              <a:rPr sz="1400" b="0" lang="fr-FR">
                <a:solidFill>
                  <a:srgbClr val="161616"/>
                </a:solidFill>
                <a:latin typeface="Arial"/>
              </a:rPr>
              <a:t>Phrases courtes, mots simples, une idée par phrase</a:t>
            </a:r>
          </a:p>
          <a:p>
            <a:pPr algn="l">
              <a:lnSpc>
                <a:spcPct val="120000"/>
              </a:lnSpc>
            </a:pPr>
            <a:r>
              <a:rPr sz="1400" lang="fr-FR">
                <a:solidFill>
                  <a:srgbClr val="161616"/>
                </a:solidFill>
                <a:latin typeface="Arial"/>
              </a:rPr>
              <a:t>• </a:t>
            </a:r>
            <a:r>
              <a:rPr sz="1400" b="0" lang="fr-FR">
                <a:solidFill>
                  <a:srgbClr val="161616"/>
                </a:solidFill>
                <a:latin typeface="Arial"/>
              </a:rPr>
              <a:t>Images explicatives, mise en page aérée</a:t>
            </a:r>
          </a:p>
          <a:p>
            <a:pPr algn="l">
              <a:lnSpc>
                <a:spcPct val="120000"/>
              </a:lnSpc>
            </a:pPr>
            <a:r>
              <a:rPr sz="1400" lang="fr-FR">
                <a:solidFill>
                  <a:srgbClr val="161616"/>
                </a:solidFill>
                <a:latin typeface="Arial"/>
              </a:rPr>
              <a:t>• </a:t>
            </a:r>
            <a:r>
              <a:rPr sz="1400" b="0" lang="fr-FR">
                <a:solidFill>
                  <a:srgbClr val="161616"/>
                </a:solidFill>
                <a:latin typeface="Arial"/>
              </a:rPr>
              <a:t>Validation par des personnes concernées</a:t>
            </a:r>
          </a:p>
        </p:txBody>
      </p:sp>
      <p:sp>
        <p:nvSpPr>
          <p:cNvPr id="16" name="DSFR-box"/>
          <p:cNvSpPr/>
          <p:nvPr/>
        </p:nvSpPr>
        <p:spPr>
          <a:xfrm>
            <a:off x="6313931" y="2994660"/>
            <a:ext cx="5390388" cy="1644091"/>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Langage clair</a:t>
            </a:r>
          </a:p>
        </p:txBody>
      </p:sp>
      <p:sp>
        <p:nvSpPr>
          <p:cNvPr id="18" name="DSFR-alert-info-body"/>
          <p:cNvSpPr txBox="1"/>
          <p:nvPr/>
        </p:nvSpPr>
        <p:spPr>
          <a:xfrm>
            <a:off x="6469379" y="3497579"/>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Structurer : titres, listes, paragraphes courts</a:t>
            </a:r>
          </a:p>
          <a:p>
            <a:pPr algn="l">
              <a:lnSpc>
                <a:spcPct val="120000"/>
              </a:lnSpc>
            </a:pPr>
            <a:r>
              <a:rPr sz="1400" lang="fr-FR">
                <a:solidFill>
                  <a:srgbClr val="161616"/>
                </a:solidFill>
                <a:latin typeface="Arial"/>
              </a:rPr>
              <a:t>• </a:t>
            </a:r>
            <a:r>
              <a:rPr sz="1400" b="0" lang="fr-FR">
                <a:solidFill>
                  <a:srgbClr val="161616"/>
                </a:solidFill>
                <a:latin typeface="Arial"/>
              </a:rPr>
              <a:t>Expliquer : sigles, jargon, termes techniques</a:t>
            </a:r>
          </a:p>
          <a:p>
            <a:pPr algn="l">
              <a:lnSpc>
                <a:spcPct val="120000"/>
              </a:lnSpc>
            </a:pPr>
            <a:r>
              <a:rPr sz="1400" lang="fr-FR">
                <a:solidFill>
                  <a:srgbClr val="161616"/>
                </a:solidFill>
                <a:latin typeface="Arial"/>
              </a:rPr>
              <a:t>• </a:t>
            </a:r>
            <a:r>
              <a:rPr sz="1400" b="0" lang="fr-FR">
                <a:solidFill>
                  <a:srgbClr val="161616"/>
                </a:solidFill>
                <a:latin typeface="Arial"/>
              </a:rPr>
              <a:t>Guider : verbes d'action, consignes explicites</a:t>
            </a:r>
          </a:p>
          <a:p>
            <a:pPr algn="l">
              <a:lnSpc>
                <a:spcPct val="120000"/>
              </a:lnSpc>
            </a:pPr>
            <a:r>
              <a:rPr sz="1400" lang="fr-FR">
                <a:solidFill>
                  <a:srgbClr val="161616"/>
                </a:solidFill>
                <a:latin typeface="Arial"/>
              </a:rPr>
              <a:t>• </a:t>
            </a:r>
            <a:r>
              <a:rPr sz="1400" b="0" lang="fr-FR">
                <a:solidFill>
                  <a:srgbClr val="161616"/>
                </a:solidFill>
                <a:latin typeface="Arial"/>
              </a:rPr>
              <a:t>Tester : relecture à voix haute, lisibilité</a:t>
            </a:r>
          </a:p>
        </p:txBody>
      </p:sp>
      <p:pic>
        <p:nvPicPr>
          <p:cNvPr id="19" name="Picture 18" descr="Logo FALC - Facile à lire et à comprendre"/>
          <p:cNvPicPr>
            <a:picLocks noChangeAspect="1"/>
          </p:cNvPicPr>
          <p:nvPr/>
        </p:nvPicPr>
        <p:blipFill>
          <a:blip r:embed="rId2"/>
          <a:stretch>
            <a:fillRect/>
          </a:stretch>
        </p:blipFill>
        <p:spPr>
          <a:xfrm>
            <a:off x="5815583" y="4730191"/>
            <a:ext cx="548640" cy="498037"/>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Comment s'y mettre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Premiers pas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50</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Des règles et bonnes pratiques simples permettent de garantir l'accessibilité à toutes et tous.</a:t>
            </a:r>
          </a:p>
        </p:txBody>
      </p:sp>
      <p:sp>
        <p:nvSpPr>
          <p:cNvPr id="12" name="DSFR-box"/>
          <p:cNvSpPr/>
          <p:nvPr/>
        </p:nvSpPr>
        <p:spPr>
          <a:xfrm>
            <a:off x="548640" y="2994660"/>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4 étapes pour avancer</a:t>
            </a:r>
          </a:p>
        </p:txBody>
      </p:sp>
      <p:sp>
        <p:nvSpPr>
          <p:cNvPr id="14" name="DSFR-callout-body"/>
          <p:cNvSpPr txBox="1"/>
          <p:nvPr/>
        </p:nvSpPr>
        <p:spPr>
          <a:xfrm>
            <a:off x="704088" y="3497579"/>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Être sensibilisé - c'est ce qu'on fait aujourd'hui</a:t>
            </a:r>
          </a:p>
          <a:p>
            <a:pPr algn="l">
              <a:lnSpc>
                <a:spcPct val="120000"/>
              </a:lnSpc>
            </a:pPr>
            <a:r>
              <a:rPr sz="1400" lang="fr-FR">
                <a:solidFill>
                  <a:srgbClr val="161616"/>
                </a:solidFill>
                <a:latin typeface="Arial"/>
              </a:rPr>
              <a:t>• </a:t>
            </a:r>
            <a:r>
              <a:rPr sz="1400" b="0" lang="fr-FR">
                <a:solidFill>
                  <a:srgbClr val="161616"/>
                </a:solidFill>
                <a:latin typeface="Arial"/>
              </a:rPr>
              <a:t>Être à l'écoute des besoins spécifiques</a:t>
            </a:r>
          </a:p>
          <a:p>
            <a:pPr algn="l">
              <a:lnSpc>
                <a:spcPct val="120000"/>
              </a:lnSpc>
            </a:pPr>
            <a:r>
              <a:rPr sz="1400" lang="fr-FR">
                <a:solidFill>
                  <a:srgbClr val="161616"/>
                </a:solidFill>
                <a:latin typeface="Arial"/>
              </a:rPr>
              <a:t>• </a:t>
            </a:r>
            <a:r>
              <a:rPr sz="1400" b="0" lang="fr-FR">
                <a:solidFill>
                  <a:srgbClr val="161616"/>
                </a:solidFill>
                <a:latin typeface="Arial"/>
              </a:rPr>
              <a:t>Connaître les matériels et logiciels adaptés</a:t>
            </a:r>
          </a:p>
          <a:p>
            <a:pPr algn="l">
              <a:lnSpc>
                <a:spcPct val="120000"/>
              </a:lnSpc>
            </a:pPr>
            <a:r>
              <a:rPr sz="1400" lang="fr-FR">
                <a:solidFill>
                  <a:srgbClr val="161616"/>
                </a:solidFill>
                <a:latin typeface="Arial"/>
              </a:rPr>
              <a:t>• </a:t>
            </a:r>
            <a:r>
              <a:rPr sz="1400" b="0" lang="fr-FR">
                <a:solidFill>
                  <a:srgbClr val="161616"/>
                </a:solidFill>
                <a:latin typeface="Arial"/>
              </a:rPr>
              <a:t>Se former pour découvrir un nouvel univers</a:t>
            </a:r>
          </a:p>
        </p:txBody>
      </p:sp>
      <p:sp>
        <p:nvSpPr>
          <p:cNvPr id="16" name="DSFR-box"/>
          <p:cNvSpPr/>
          <p:nvPr/>
        </p:nvSpPr>
        <p:spPr>
          <a:xfrm>
            <a:off x="6313931" y="2994660"/>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Offre de formation</a:t>
            </a:r>
          </a:p>
        </p:txBody>
      </p:sp>
      <p:sp>
        <p:nvSpPr>
          <p:cNvPr id="18" name="DSFR-alert-success-body"/>
          <p:cNvSpPr txBox="1"/>
          <p:nvPr/>
        </p:nvSpPr>
        <p:spPr>
          <a:xfrm>
            <a:off x="6469379" y="3497579"/>
            <a:ext cx="5143500" cy="1280160"/>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Mentor (en ligne) : l'accessibilité numérique selon votre métier</a:t>
            </a:r>
          </a:p>
          <a:p>
            <a:pPr algn="l">
              <a:lnSpc>
                <a:spcPct val="120000"/>
              </a:lnSpc>
            </a:pPr>
            <a:r>
              <a:rPr sz="1400" lang="fr-FR">
                <a:solidFill>
                  <a:srgbClr val="161616"/>
                </a:solidFill>
                <a:latin typeface="Arial"/>
              </a:rPr>
              <a:t>• </a:t>
            </a:r>
            <a:r>
              <a:rPr sz="1400" b="0" lang="fr-FR">
                <a:solidFill>
                  <a:srgbClr val="161616"/>
                </a:solidFill>
                <a:latin typeface="Arial"/>
              </a:rPr>
              <a:t>IGPDE : l'accessibilité numérique pour la bureautique et le web (réf. 102846)</a:t>
            </a:r>
          </a:p>
          <a:p>
            <a:pPr algn="l">
              <a:lnSpc>
                <a:spcPct val="120000"/>
              </a:lnSpc>
            </a:pPr>
            <a:r>
              <a:rPr sz="1400" lang="fr-FR">
                <a:solidFill>
                  <a:srgbClr val="161616"/>
                </a:solidFill>
                <a:latin typeface="Arial"/>
              </a:rPr>
              <a:t>• </a:t>
            </a:r>
            <a:r>
              <a:rPr sz="1400" b="0" lang="fr-FR">
                <a:solidFill>
                  <a:srgbClr val="161616"/>
                </a:solidFill>
                <a:latin typeface="Arial"/>
              </a:rPr>
              <a:t>DINUM : sensibilisation, design inclusif, audit RGAA</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FALC : la méthode en 5 étapes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FALC méthode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51</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Il est très difficile de faire simple ! Le FALC suit un processus rigoureux.</a:t>
            </a:r>
          </a:p>
        </p:txBody>
      </p:sp>
      <p:sp>
        <p:nvSpPr>
          <p:cNvPr id="12" name="DSFR-box"/>
          <p:cNvSpPr/>
          <p:nvPr/>
        </p:nvSpPr>
        <p:spPr>
          <a:xfrm>
            <a:off x="548640" y="2948940"/>
            <a:ext cx="5390388" cy="293065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40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Les 5 étapes</a:t>
            </a:r>
          </a:p>
        </p:txBody>
      </p:sp>
      <p:sp>
        <p:nvSpPr>
          <p:cNvPr id="14" name="DSFR-callout-body"/>
          <p:cNvSpPr txBox="1"/>
          <p:nvPr/>
        </p:nvSpPr>
        <p:spPr>
          <a:xfrm>
            <a:off x="704088" y="3451860"/>
            <a:ext cx="5143500" cy="2336292"/>
          </a:xfrm>
          <a:prstGeom prst="rect">
            <a:avLst/>
          </a:prstGeom>
          <a:noFill/>
        </p:spPr>
        <p:txBody>
          <a:bodyPr wrap="square" lIns="73152" rIns="73152">
            <a:spAutoFit/>
          </a:bodyPr>
          <a:lstStyle/>
          <a:p>
            <a:pPr algn="l">
              <a:lnSpc>
                <a:spcPct val="115000"/>
              </a:lnSpc>
            </a:pPr>
            <a:r>
              <a:rPr sz="1400" b="0" lang="fr-FR">
                <a:solidFill>
                  <a:srgbClr val="161616"/>
                </a:solidFill>
                <a:latin typeface="Arial"/>
              </a:rPr>
              <a:t>1. </a:t>
            </a:r>
            <a:r>
              <a:rPr sz="1400" b="1" lang="fr-FR">
                <a:solidFill>
                  <a:srgbClr val="161616"/>
                </a:solidFill>
                <a:latin typeface="Arial"/>
              </a:rPr>
              <a:t>Préparatoire</a:t>
            </a:r>
            <a:r>
              <a:rPr sz="1400" b="0" lang="fr-FR">
                <a:solidFill>
                  <a:srgbClr val="161616"/>
                </a:solidFill>
                <a:latin typeface="Arial"/>
              </a:rPr>
              <a:t> : recherches, résumé simplifié, contrôle des contre-sens</a:t>
            </a:r>
          </a:p>
          <a:p>
            <a:pPr algn="l">
              <a:lnSpc>
                <a:spcPct val="115000"/>
              </a:lnSpc>
            </a:pPr>
            <a:r>
              <a:rPr sz="1400" b="0" lang="fr-FR">
                <a:solidFill>
                  <a:srgbClr val="161616"/>
                </a:solidFill>
                <a:latin typeface="Arial"/>
              </a:rPr>
              <a:t>2. </a:t>
            </a:r>
            <a:r>
              <a:rPr sz="1400" b="1" lang="fr-FR">
                <a:solidFill>
                  <a:srgbClr val="161616"/>
                </a:solidFill>
                <a:latin typeface="Arial"/>
              </a:rPr>
              <a:t>Transcription en duo</a:t>
            </a:r>
            <a:r>
              <a:rPr sz="1400" b="0" lang="fr-FR">
                <a:solidFill>
                  <a:srgbClr val="161616"/>
                </a:solidFill>
                <a:latin typeface="Arial"/>
              </a:rPr>
              <a:t> : simplification, illustrations, mise en page</a:t>
            </a:r>
          </a:p>
          <a:p>
            <a:pPr algn="l">
              <a:lnSpc>
                <a:spcPct val="115000"/>
              </a:lnSpc>
            </a:pPr>
            <a:r>
              <a:rPr sz="1400" b="0" lang="fr-FR">
                <a:solidFill>
                  <a:srgbClr val="161616"/>
                </a:solidFill>
                <a:latin typeface="Arial"/>
              </a:rPr>
              <a:t>3. </a:t>
            </a:r>
            <a:r>
              <a:rPr sz="1400" b="1" lang="fr-FR">
                <a:solidFill>
                  <a:srgbClr val="161616"/>
                </a:solidFill>
                <a:latin typeface="Arial"/>
              </a:rPr>
              <a:t>Validation</a:t>
            </a:r>
            <a:r>
              <a:rPr sz="1400" b="0" lang="fr-FR">
                <a:solidFill>
                  <a:srgbClr val="161616"/>
                </a:solidFill>
                <a:latin typeface="Arial"/>
              </a:rPr>
              <a:t> : relecture par des personnes handicapees intellectuelles</a:t>
            </a:r>
          </a:p>
          <a:p>
            <a:pPr algn="l">
              <a:lnSpc>
                <a:spcPct val="115000"/>
              </a:lnSpc>
            </a:pPr>
            <a:r>
              <a:rPr sz="1400" b="0" lang="fr-FR">
                <a:solidFill>
                  <a:srgbClr val="161616"/>
                </a:solidFill>
                <a:latin typeface="Arial"/>
              </a:rPr>
              <a:t>4. </a:t>
            </a:r>
            <a:r>
              <a:rPr sz="1400" b="1" lang="fr-FR">
                <a:solidFill>
                  <a:srgbClr val="161616"/>
                </a:solidFill>
                <a:latin typeface="Arial"/>
              </a:rPr>
              <a:t>Publication</a:t>
            </a:r>
            <a:r>
              <a:rPr sz="1400" b="0" lang="fr-FR">
                <a:solidFill>
                  <a:srgbClr val="161616"/>
                </a:solidFill>
                <a:latin typeface="Arial"/>
              </a:rPr>
              <a:t> : logo FALC, credit des personnes impliquees</a:t>
            </a:r>
          </a:p>
          <a:p>
            <a:pPr algn="l">
              <a:lnSpc>
                <a:spcPct val="115000"/>
              </a:lnSpc>
            </a:pPr>
            <a:r>
              <a:rPr sz="1400" b="0" lang="fr-FR">
                <a:solidFill>
                  <a:srgbClr val="161616"/>
                </a:solidFill>
                <a:latin typeface="Arial"/>
              </a:rPr>
              <a:t>5. </a:t>
            </a:r>
            <a:r>
              <a:rPr sz="1400" b="1" lang="fr-FR">
                <a:solidFill>
                  <a:srgbClr val="161616"/>
                </a:solidFill>
                <a:latin typeface="Arial"/>
              </a:rPr>
              <a:t>Itération</a:t>
            </a:r>
            <a:r>
              <a:rPr sz="1400" b="0" lang="fr-FR">
                <a:solidFill>
                  <a:srgbClr val="161616"/>
                </a:solidFill>
                <a:latin typeface="Arial"/>
              </a:rPr>
              <a:t> : savoir dire stop - un texte ne sera jamais compris a 100 %</a:t>
            </a:r>
          </a:p>
        </p:txBody>
      </p:sp>
      <p:sp>
        <p:nvSpPr>
          <p:cNvPr id="16" name="DSFR-box"/>
          <p:cNvSpPr/>
          <p:nvPr/>
        </p:nvSpPr>
        <p:spPr>
          <a:xfrm>
            <a:off x="6313931" y="2948940"/>
            <a:ext cx="5390388" cy="138485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warning-titre"/>
          <p:cNvSpPr txBox="1"/>
          <p:nvPr/>
        </p:nvSpPr>
        <p:spPr>
          <a:xfrm>
            <a:off x="6469379" y="3040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Conditions obligatoires</a:t>
            </a:r>
          </a:p>
        </p:txBody>
      </p:sp>
      <p:sp>
        <p:nvSpPr>
          <p:cNvPr id="18" name="DSFR-alert-warning-body"/>
          <p:cNvSpPr txBox="1"/>
          <p:nvPr/>
        </p:nvSpPr>
        <p:spPr>
          <a:xfrm>
            <a:off x="6469379" y="3451860"/>
            <a:ext cx="5143500" cy="7904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Validation par des personnes concernées (obligatoire)</a:t>
            </a:r>
          </a:p>
          <a:p>
            <a:pPr algn="l">
              <a:lnSpc>
                <a:spcPct val="115000"/>
              </a:lnSpc>
            </a:pPr>
            <a:r>
              <a:rPr sz="1400" lang="fr-FR">
                <a:solidFill>
                  <a:srgbClr val="161616"/>
                </a:solidFill>
                <a:latin typeface="Arial"/>
              </a:rPr>
              <a:t>• </a:t>
            </a:r>
            <a:r>
              <a:rPr sz="1400" b="0" lang="fr-FR">
                <a:solidFill>
                  <a:srgbClr val="161616"/>
                </a:solidFill>
                <a:latin typeface="Arial"/>
              </a:rPr>
              <a:t>80 % des critères FALC respectes (Unapei)</a:t>
            </a:r>
          </a:p>
          <a:p>
            <a:pPr algn="l">
              <a:lnSpc>
                <a:spcPct val="115000"/>
              </a:lnSpc>
            </a:pPr>
            <a:r>
              <a:rPr sz="1400" lang="fr-FR">
                <a:solidFill>
                  <a:srgbClr val="161616"/>
                </a:solidFill>
                <a:latin typeface="Arial"/>
              </a:rPr>
              <a:t>• </a:t>
            </a:r>
            <a:r>
              <a:rPr sz="1400" b="0" lang="fr-FR">
                <a:solidFill>
                  <a:srgbClr val="161616"/>
                </a:solidFill>
                <a:latin typeface="Arial"/>
              </a:rPr>
              <a:t>Logo europeen FALC + credit des valideurs</a:t>
            </a:r>
          </a:p>
        </p:txBody>
      </p:sp>
      <p:pic>
        <p:nvPicPr>
          <p:cNvPr id="19" name="Picture 18" descr="Couverture du guide Unapei - L'information pour tous"/>
          <p:cNvPicPr>
            <a:picLocks noChangeAspect="1"/>
          </p:cNvPicPr>
          <p:nvPr/>
        </p:nvPicPr>
        <p:blipFill>
          <a:blip r:embed="rId2"/>
          <a:stretch>
            <a:fillRect/>
          </a:stretch>
        </p:blipFill>
        <p:spPr>
          <a:xfrm>
            <a:off x="8721090" y="5074920"/>
            <a:ext cx="502920" cy="1048863"/>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48940"/>
            <a:ext cx="73152" cy="293065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48940"/>
            <a:ext cx="73152" cy="138485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Exemple : le rapport DIA en version accessible et FALC</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FALC exemple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52</a:t>
            </a:r>
            <a:endParaRPr lang="fr-FR" dirty="0"/>
          </a:p>
        </p:txBody>
      </p:sp>
      <p:sp>
        <p:nvSpPr>
          <p:cNvPr id="9" name="DSFR-box"/>
          <p:cNvSpPr/>
          <p:nvPr/>
        </p:nvSpPr>
        <p:spPr>
          <a:xfrm>
            <a:off x="548640" y="1737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288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rapport d'activité 2024 de la Délégation interministérielle à l'accessibilité existe en PDF accessible et en version FALC.</a:t>
            </a:r>
          </a:p>
        </p:txBody>
      </p:sp>
      <p:pic>
        <p:nvPicPr>
          <p:cNvPr id="11" name="Picture 10" descr="Logo europeen FALC - personnage lisant un document avec pouce leve"/>
          <p:cNvPicPr>
            <a:picLocks noChangeAspect="1"/>
          </p:cNvPicPr>
          <p:nvPr/>
        </p:nvPicPr>
        <p:blipFill>
          <a:blip r:embed="rId2"/>
          <a:stretch>
            <a:fillRect/>
          </a:stretch>
        </p:blipFill>
        <p:spPr>
          <a:xfrm>
            <a:off x="2658618" y="2766060"/>
            <a:ext cx="1097280" cy="1097280"/>
          </a:xfrm>
          <a:prstGeom prst="rect">
            <a:avLst/>
          </a:prstGeom>
        </p:spPr>
      </p:pic>
      <p:pic>
        <p:nvPicPr>
          <p:cNvPr id="12" name="Picture 11" descr="Couverture du rapport d'activité 2024 de la DIA en version FALC"/>
          <p:cNvPicPr>
            <a:picLocks noChangeAspect="1"/>
          </p:cNvPicPr>
          <p:nvPr/>
        </p:nvPicPr>
        <p:blipFill>
          <a:blip r:embed="rId3"/>
          <a:stretch>
            <a:fillRect/>
          </a:stretch>
        </p:blipFill>
        <p:spPr>
          <a:xfrm>
            <a:off x="8423909" y="2766060"/>
            <a:ext cx="1097280" cy="1097280"/>
          </a:xfrm>
          <a:prstGeom prst="rect">
            <a:avLst/>
          </a:prstGeom>
        </p:spPr>
      </p:pic>
      <p:sp>
        <p:nvSpPr>
          <p:cNvPr id="14" name="DSFR-box"/>
          <p:cNvSpPr/>
          <p:nvPr/>
        </p:nvSpPr>
        <p:spPr>
          <a:xfrm>
            <a:off x="548640" y="4046220"/>
            <a:ext cx="5390388" cy="138485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704088" y="41376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PDF accessible</a:t>
            </a:r>
          </a:p>
        </p:txBody>
      </p:sp>
      <p:sp>
        <p:nvSpPr>
          <p:cNvPr id="16" name="DSFR-callout-body"/>
          <p:cNvSpPr txBox="1"/>
          <p:nvPr/>
        </p:nvSpPr>
        <p:spPr>
          <a:xfrm>
            <a:off x="704088" y="4549140"/>
            <a:ext cx="5143500" cy="7904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Structure balisée (titres, listes, tableaux)</a:t>
            </a:r>
          </a:p>
          <a:p>
            <a:pPr algn="l">
              <a:lnSpc>
                <a:spcPct val="115000"/>
              </a:lnSpc>
            </a:pPr>
            <a:r>
              <a:rPr sz="1400" lang="fr-FR">
                <a:solidFill>
                  <a:srgbClr val="161616"/>
                </a:solidFill>
                <a:latin typeface="Arial"/>
              </a:rPr>
              <a:t>• </a:t>
            </a:r>
            <a:r>
              <a:rPr sz="1400" b="0" lang="fr-FR">
                <a:solidFill>
                  <a:srgbClr val="161616"/>
                </a:solidFill>
                <a:latin typeface="Arial"/>
              </a:rPr>
              <a:t>Alt text sur les images, ordre de lecture logique</a:t>
            </a:r>
          </a:p>
          <a:p>
            <a:pPr algn="l">
              <a:lnSpc>
                <a:spcPct val="115000"/>
              </a:lnSpc>
            </a:pPr>
            <a:r>
              <a:rPr sz="1400" lang="fr-FR">
                <a:solidFill>
                  <a:srgbClr val="161616"/>
                </a:solidFill>
                <a:latin typeface="Arial"/>
              </a:rPr>
              <a:t>• </a:t>
            </a:r>
            <a:r>
              <a:rPr sz="1400" b="0" u="sng" lang="fr-FR">
                <a:solidFill>
                  <a:srgbClr val="000091"/>
                </a:solidFill>
                <a:latin typeface="Arial"/>
                <a:hlinkClick r:id="rId4"/>
              </a:rPr>
              <a:t>Télécharger (handicap.gouv.fr)</a:t>
            </a:r>
          </a:p>
        </p:txBody>
      </p:sp>
      <p:sp>
        <p:nvSpPr>
          <p:cNvPr id="18" name="DSFR-box"/>
          <p:cNvSpPr/>
          <p:nvPr/>
        </p:nvSpPr>
        <p:spPr>
          <a:xfrm>
            <a:off x="6313931" y="4046220"/>
            <a:ext cx="5390388" cy="138485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llout-titre"/>
          <p:cNvSpPr txBox="1"/>
          <p:nvPr/>
        </p:nvSpPr>
        <p:spPr>
          <a:xfrm>
            <a:off x="6469379" y="41376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Version FALC</a:t>
            </a:r>
          </a:p>
        </p:txBody>
      </p:sp>
      <p:sp>
        <p:nvSpPr>
          <p:cNvPr id="20" name="DSFR-callout-body"/>
          <p:cNvSpPr txBox="1"/>
          <p:nvPr/>
        </p:nvSpPr>
        <p:spPr>
          <a:xfrm>
            <a:off x="6469379" y="4549140"/>
            <a:ext cx="5143500" cy="7904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Phrases courtes, vocabulaire simple, pictogrammes</a:t>
            </a:r>
          </a:p>
          <a:p>
            <a:pPr algn="l">
              <a:lnSpc>
                <a:spcPct val="115000"/>
              </a:lnSpc>
            </a:pPr>
            <a:r>
              <a:rPr sz="1400" lang="fr-FR">
                <a:solidFill>
                  <a:srgbClr val="161616"/>
                </a:solidFill>
                <a:latin typeface="Arial"/>
              </a:rPr>
              <a:t>• </a:t>
            </a:r>
            <a:r>
              <a:rPr sz="1400" b="0" lang="fr-FR">
                <a:solidFill>
                  <a:srgbClr val="161616"/>
                </a:solidFill>
                <a:latin typeface="Arial"/>
              </a:rPr>
              <a:t>Validé par des personnes concernées</a:t>
            </a:r>
          </a:p>
          <a:p>
            <a:pPr algn="l">
              <a:lnSpc>
                <a:spcPct val="115000"/>
              </a:lnSpc>
            </a:pPr>
            <a:r>
              <a:rPr sz="1400" lang="fr-FR">
                <a:solidFill>
                  <a:srgbClr val="161616"/>
                </a:solidFill>
                <a:latin typeface="Arial"/>
              </a:rPr>
              <a:t>• </a:t>
            </a:r>
            <a:r>
              <a:rPr sz="1400" b="0" u="sng" lang="fr-FR">
                <a:solidFill>
                  <a:srgbClr val="000091"/>
                </a:solidFill>
                <a:latin typeface="Arial"/>
                <a:hlinkClick r:id="rId5"/>
              </a:rPr>
              <a:t>Télécharger (handicap.gouv.fr)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737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6220"/>
            <a:ext cx="73152" cy="138485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6240779" y="4046220"/>
            <a:ext cx="73152" cy="138485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L'accessibilité dès la conception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Conception accessible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53</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L'accessibilité rend les choses possibles pour certains et plus simples pour tous.</a:t>
            </a:r>
          </a:p>
        </p:txBody>
      </p:sp>
      <p:pic>
        <p:nvPicPr>
          <p:cNvPr id="11" name="Picture 10" descr="Escalier avec rampe intégrée dès la conception : la pente douce est fondue dans les marches, utilisable par tous sans aménagement postérieur"/>
          <p:cNvPicPr>
            <a:picLocks noChangeAspect="1"/>
          </p:cNvPicPr>
          <p:nvPr/>
        </p:nvPicPr>
        <p:blipFill>
          <a:blip r:embed="rId2"/>
          <a:stretch>
            <a:fillRect/>
          </a:stretch>
        </p:blipFill>
        <p:spPr>
          <a:xfrm>
            <a:off x="475488" y="2994660"/>
            <a:ext cx="5486400" cy="2560320"/>
          </a:xfrm>
          <a:prstGeom prst="rect">
            <a:avLst/>
          </a:prstGeom>
        </p:spPr>
      </p:pic>
      <p:sp>
        <p:nvSpPr>
          <p:cNvPr id="13" name="DSFR-box"/>
          <p:cNvSpPr/>
          <p:nvPr/>
        </p:nvSpPr>
        <p:spPr>
          <a:xfrm>
            <a:off x="6355080" y="2994660"/>
            <a:ext cx="5349240" cy="197053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510528" y="3086100"/>
            <a:ext cx="510235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Concevoir accessible, pas adapter après</a:t>
            </a:r>
          </a:p>
        </p:txBody>
      </p:sp>
      <p:sp>
        <p:nvSpPr>
          <p:cNvPr id="15" name="DSFR-callout-body"/>
          <p:cNvSpPr txBox="1"/>
          <p:nvPr/>
        </p:nvSpPr>
        <p:spPr>
          <a:xfrm>
            <a:off x="6510528" y="3497579"/>
            <a:ext cx="5102352" cy="1376172"/>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Intégrer l'accessibilité dès le début, pas en rattrapage</a:t>
            </a:r>
          </a:p>
          <a:p>
            <a:pPr algn="l">
              <a:lnSpc>
                <a:spcPct val="130000"/>
              </a:lnSpc>
            </a:pPr>
            <a:r>
              <a:rPr sz="1400" lang="fr-FR">
                <a:solidFill>
                  <a:srgbClr val="161616"/>
                </a:solidFill>
                <a:latin typeface="Arial"/>
              </a:rPr>
              <a:t>• </a:t>
            </a:r>
            <a:r>
              <a:rPr sz="1400" b="0" lang="fr-FR">
                <a:solidFill>
                  <a:srgbClr val="161616"/>
                </a:solidFill>
                <a:latin typeface="Arial"/>
              </a:rPr>
              <a:t>Un document bien structuré profite à tous les lecteurs</a:t>
            </a:r>
          </a:p>
          <a:p>
            <a:pPr algn="l">
              <a:lnSpc>
                <a:spcPct val="130000"/>
              </a:lnSpc>
            </a:pPr>
            <a:r>
              <a:rPr sz="1400" lang="fr-FR">
                <a:solidFill>
                  <a:srgbClr val="161616"/>
                </a:solidFill>
                <a:latin typeface="Arial"/>
              </a:rPr>
              <a:t>• </a:t>
            </a:r>
            <a:r>
              <a:rPr sz="1400" b="0" lang="fr-FR">
                <a:solidFill>
                  <a:srgbClr val="161616"/>
                </a:solidFill>
                <a:latin typeface="Arial"/>
              </a:rPr>
              <a:t>La rampe intégrée est plus élégante que la rampe ajoutée</a:t>
            </a:r>
          </a:p>
        </p:txBody>
      </p:sp>
      <p:pic>
        <p:nvPicPr>
          <p:cNvPr id="16" name="Picture 15" descr="Bandeau #accessibleatous : pictogrammes poussette, personne âgée, femme enceinte, fauteuil roulant"/>
          <p:cNvPicPr>
            <a:picLocks noChangeAspect="1"/>
          </p:cNvPicPr>
          <p:nvPr/>
        </p:nvPicPr>
        <p:blipFill>
          <a:blip r:embed="rId3"/>
          <a:stretch>
            <a:fillRect/>
          </a:stretch>
        </p:blipFill>
        <p:spPr>
          <a:xfrm>
            <a:off x="8078724" y="5349240"/>
            <a:ext cx="1828800" cy="702706"/>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81928" y="2994660"/>
            <a:ext cx="73152" cy="197053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Partie II - Documents bureautiques accessibles - TP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Partie II | Plan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54</a:t>
            </a:r>
            <a:endParaRPr lang="fr-FR" dirty="0"/>
          </a:p>
        </p:txBody>
      </p:sp>
      <p:sp>
        <p:nvSpPr>
          <p:cNvPr id="8" name="DSFR-stepper-pastille-1"/>
          <p:cNvSpPr/>
          <p:nvPr/>
        </p:nvSpPr>
        <p:spPr>
          <a:xfrm>
            <a:off x="115763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Structurer et naviguer</a:t>
            </a:r>
          </a:p>
        </p:txBody>
      </p:sp>
      <p:sp>
        <p:nvSpPr>
          <p:cNvPr id="11" name="DSFR-stepper-pastille-2"/>
          <p:cNvSpPr/>
          <p:nvPr/>
        </p:nvSpPr>
        <p:spPr>
          <a:xfrm>
            <a:off x="346374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2781604"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Rendre les contenus et les liens compréhensibles</a:t>
            </a:r>
          </a:p>
        </p:txBody>
      </p:sp>
      <p:sp>
        <p:nvSpPr>
          <p:cNvPr id="14" name="DSFR-stepper-pastille-3"/>
          <p:cNvSpPr/>
          <p:nvPr/>
        </p:nvSpPr>
        <p:spPr>
          <a:xfrm>
            <a:off x="5769864"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5087721"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Sécuriser couleurs, graphiques et tableaux</a:t>
            </a:r>
          </a:p>
        </p:txBody>
      </p:sp>
      <p:sp>
        <p:nvSpPr>
          <p:cNvPr id="17" name="DSFR-stepper-pastille-4"/>
          <p:cNvSpPr/>
          <p:nvPr/>
        </p:nvSpPr>
        <p:spPr>
          <a:xfrm>
            <a:off x="807598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9" name="DSFR-stepper-texte-4"/>
          <p:cNvSpPr txBox="1"/>
          <p:nvPr/>
        </p:nvSpPr>
        <p:spPr>
          <a:xfrm>
            <a:off x="739383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Régler langues et lisibilité</a:t>
            </a:r>
          </a:p>
        </p:txBody>
      </p:sp>
      <p:sp>
        <p:nvSpPr>
          <p:cNvPr id="20" name="DSFR-stepper-pastille-5"/>
          <p:cNvSpPr/>
          <p:nvPr/>
        </p:nvSpPr>
        <p:spPr>
          <a:xfrm>
            <a:off x="1038209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5</a:t>
            </a:r>
          </a:p>
        </p:txBody>
      </p:sp>
      <p:sp>
        <p:nvSpPr>
          <p:cNvPr id="21" name="DSFR-stepper-texte-5"/>
          <p:cNvSpPr txBox="1"/>
          <p:nvPr/>
        </p:nvSpPr>
        <p:spPr>
          <a:xfrm>
            <a:off x="9699955"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Finaliser, vérifier, exporter et contrôler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Partie II</a:t>
            </a:r>
          </a:p>
        </p:txBody>
      </p:sp>
      <p:sp>
        <p:nvSpPr>
          <p:cNvPr id="9" name="DSFR-stepper-connecteur-1-decoratif" descr=""/>
          <p:cNvSpPr/>
          <p:nvPr/>
        </p:nvSpPr>
        <p:spPr>
          <a:xfrm>
            <a:off x="179771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lecteur d'écran en action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Ouverture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55</a:t>
            </a:r>
            <a:endParaRPr lang="fr-FR" dirty="0"/>
          </a:p>
        </p:txBody>
      </p:sp>
      <p:sp>
        <p:nvSpPr>
          <p:cNvPr id="9" name="DSFR-box"/>
          <p:cNvSpPr/>
          <p:nvPr/>
        </p:nvSpPr>
        <p:spPr>
          <a:xfrm>
            <a:off x="548640" y="2240280"/>
            <a:ext cx="5390388" cy="3131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377440"/>
            <a:ext cx="5097779" cy="411480"/>
          </a:xfrm>
          <a:prstGeom prst="rect">
            <a:avLst/>
          </a:prstGeom>
          <a:noFill/>
        </p:spPr>
        <p:txBody>
          <a:bodyPr wrap="square" anchor="t" lIns="73152" rIns="73152">
            <a:spAutoFit/>
          </a:bodyPr>
          <a:lstStyle/>
          <a:p>
            <a:pPr algn="l">
              <a:lnSpc>
                <a:spcPct val="125000"/>
              </a:lnSpc>
            </a:pPr>
            <a:r>
              <a:rPr sz="1600" b="1" i="0" lang="fr-FR">
                <a:solidFill>
                  <a:srgbClr val="000091"/>
                </a:solidFill>
                <a:latin typeface="Arial"/>
              </a:rPr>
              <a:t>Ce qu’entend le lecteur d’écran</a:t>
            </a:r>
          </a:p>
        </p:txBody>
      </p:sp>
      <p:sp>
        <p:nvSpPr>
          <p:cNvPr id="11" name="DSFR-card-contenu"/>
          <p:cNvSpPr txBox="1"/>
          <p:nvPr/>
        </p:nvSpPr>
        <p:spPr>
          <a:xfrm>
            <a:off x="704088" y="2834640"/>
            <a:ext cx="5097779" cy="244602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Texte, texte, texte, texte, texte, texte ...
Pendant 4 minutes. Sans titre. Sans repère.
Sans pouvoir naviguer vers la section qui le concerne.
-&gt; C'est ce qu'entend une personne malvoyante face à votre document Word.</a:t>
            </a:r>
          </a:p>
        </p:txBody>
      </p:sp>
      <p:sp>
        <p:nvSpPr>
          <p:cNvPr id="13" name="DSFR-box"/>
          <p:cNvSpPr/>
          <p:nvPr/>
        </p:nvSpPr>
        <p:spPr>
          <a:xfrm>
            <a:off x="6313931" y="2240280"/>
            <a:ext cx="5390388" cy="3131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377440"/>
            <a:ext cx="5097779" cy="411480"/>
          </a:xfrm>
          <a:prstGeom prst="rect">
            <a:avLst/>
          </a:prstGeom>
          <a:noFill/>
        </p:spPr>
        <p:txBody>
          <a:bodyPr wrap="square" anchor="t" lIns="73152" rIns="73152">
            <a:spAutoFit/>
          </a:bodyPr>
          <a:lstStyle/>
          <a:p>
            <a:pPr algn="l">
              <a:lnSpc>
                <a:spcPct val="125000"/>
              </a:lnSpc>
            </a:pPr>
            <a:r>
              <a:rPr sz="1600" b="1" i="0" lang="fr-FR">
                <a:solidFill>
                  <a:srgbClr val="000091"/>
                </a:solidFill>
                <a:latin typeface="Arial"/>
              </a:rPr>
              <a:t>15 % de vos destinataires sont concernés</a:t>
            </a:r>
          </a:p>
        </p:txBody>
      </p:sp>
      <p:sp>
        <p:nvSpPr>
          <p:cNvPr id="15" name="DSFR-card-contenu"/>
          <p:cNvSpPr txBox="1"/>
          <p:nvPr/>
        </p:nvSpPr>
        <p:spPr>
          <a:xfrm>
            <a:off x="6469379" y="2834640"/>
            <a:ext cx="5097779" cy="244602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80 % de ces handicaps sont invisibles</a:t>
            </a:r>
          </a:p>
          <a:p>
            <a:pPr algn="l">
              <a:lnSpc>
                <a:spcPct val="125000"/>
              </a:lnSpc>
            </a:pPr>
            <a:r>
              <a:rPr sz="1400" lang="fr-FR">
                <a:solidFill>
                  <a:srgbClr val="161616"/>
                </a:solidFill>
                <a:latin typeface="Arial"/>
              </a:rPr>
              <a:t>• </a:t>
            </a:r>
            <a:r>
              <a:rPr sz="1400" b="0" lang="fr-FR">
                <a:solidFill>
                  <a:srgbClr val="161616"/>
                </a:solidFill>
                <a:latin typeface="Arial"/>
              </a:rPr>
              <a:t>Dans une réunion de 12 personnes : au moins 1 daltonien</a:t>
            </a:r>
          </a:p>
          <a:p>
            <a:pPr algn="l">
              <a:lnSpc>
                <a:spcPct val="125000"/>
              </a:lnSpc>
            </a:pPr>
            <a:r>
              <a:rPr sz="1400" lang="fr-FR">
                <a:solidFill>
                  <a:srgbClr val="161616"/>
                </a:solidFill>
                <a:latin typeface="Arial"/>
              </a:rPr>
              <a:t>• </a:t>
            </a:r>
            <a:r>
              <a:rPr sz="1400" b="0" lang="fr-FR">
                <a:solidFill>
                  <a:srgbClr val="161616"/>
                </a:solidFill>
                <a:latin typeface="Arial"/>
              </a:rPr>
              <a:t>Parmi 30 destinataires : 4 ou 5 ont un handicap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Contexte</a:t>
            </a:r>
          </a:p>
        </p:txBody>
      </p:sp>
      <p:sp>
        <p:nvSpPr>
          <p:cNvPr id="8" name="DSFR-accent-decoratif" descr=""/>
          <p:cNvSpPr/>
          <p:nvPr/>
        </p:nvSpPr>
        <p:spPr>
          <a:xfrm>
            <a:off x="475488" y="2240280"/>
            <a:ext cx="73152" cy="3131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240280"/>
            <a:ext cx="73152" cy="3131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Quiz - lequel de ces deux documents est accessible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Quiz flash</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56</a:t>
            </a:r>
            <a:endParaRPr lang="fr-FR" dirty="0"/>
          </a:p>
        </p:txBody>
      </p:sp>
      <p:sp>
        <p:nvSpPr>
          <p:cNvPr id="9" name="DSFR-box"/>
          <p:cNvSpPr/>
          <p:nvPr/>
        </p:nvSpPr>
        <p:spPr>
          <a:xfrm>
            <a:off x="548640" y="19659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574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Ils sont visuellement identiques. Lequel préférez-vous pour NVDA ?</a:t>
            </a:r>
          </a:p>
        </p:txBody>
      </p:sp>
      <p:sp>
        <p:nvSpPr>
          <p:cNvPr id="11" name="DSFR-texte-libre"/>
          <p:cNvSpPr txBox="1"/>
          <p:nvPr/>
        </p:nvSpPr>
        <p:spPr>
          <a:xfrm>
            <a:off x="475488" y="2743200"/>
            <a:ext cx="5463540" cy="365760"/>
          </a:xfrm>
          <a:prstGeom prst="rect">
            <a:avLst/>
          </a:prstGeom>
          <a:noFill/>
        </p:spPr>
        <p:txBody>
          <a:bodyPr wrap="square" anchor="t" lIns="73152" rIns="73152">
            <a:spAutoFit/>
          </a:bodyPr>
          <a:lstStyle/>
          <a:p>
            <a:pPr algn="ctr">
              <a:lnSpc>
                <a:spcPct val="125000"/>
              </a:lnSpc>
            </a:pPr>
            <a:r>
              <a:rPr sz="1800" b="1" i="0" lang="fr-FR">
                <a:solidFill>
                  <a:srgbClr val="161616"/>
                </a:solidFill>
                <a:latin typeface="Arial"/>
              </a:rPr>
              <a:t>Document A</a:t>
            </a:r>
          </a:p>
        </p:txBody>
      </p:sp>
      <p:pic>
        <p:nvPicPr>
          <p:cNvPr id="12" name="Picture 11" descr="Aperçu stylisé du document a, visuellement identique à l'autre document."/>
          <p:cNvPicPr>
            <a:picLocks noChangeAspect="1"/>
          </p:cNvPicPr>
          <p:nvPr/>
        </p:nvPicPr>
        <p:blipFill>
          <a:blip r:embed="rId2"/>
          <a:stretch>
            <a:fillRect/>
          </a:stretch>
        </p:blipFill>
        <p:spPr>
          <a:xfrm>
            <a:off x="2224278" y="3154680"/>
            <a:ext cx="1965960" cy="2778433"/>
          </a:xfrm>
          <a:prstGeom prst="rect">
            <a:avLst/>
          </a:prstGeom>
        </p:spPr>
      </p:pic>
      <p:sp>
        <p:nvSpPr>
          <p:cNvPr id="13" name="DSFR-texte-libre"/>
          <p:cNvSpPr txBox="1"/>
          <p:nvPr/>
        </p:nvSpPr>
        <p:spPr>
          <a:xfrm>
            <a:off x="6240779" y="2743200"/>
            <a:ext cx="5463540" cy="365760"/>
          </a:xfrm>
          <a:prstGeom prst="rect">
            <a:avLst/>
          </a:prstGeom>
          <a:noFill/>
        </p:spPr>
        <p:txBody>
          <a:bodyPr wrap="square" anchor="t" lIns="73152" rIns="73152">
            <a:spAutoFit/>
          </a:bodyPr>
          <a:lstStyle/>
          <a:p>
            <a:pPr algn="ctr">
              <a:lnSpc>
                <a:spcPct val="125000"/>
              </a:lnSpc>
            </a:pPr>
            <a:r>
              <a:rPr sz="1800" b="1" i="0" lang="fr-FR">
                <a:solidFill>
                  <a:srgbClr val="161616"/>
                </a:solidFill>
                <a:latin typeface="Arial"/>
              </a:rPr>
              <a:t>Document B</a:t>
            </a:r>
          </a:p>
        </p:txBody>
      </p:sp>
      <p:pic>
        <p:nvPicPr>
          <p:cNvPr id="14" name="Picture 13" descr="Aperçu stylisé du document b, visuellement identique à l'autre document."/>
          <p:cNvPicPr>
            <a:picLocks noChangeAspect="1"/>
          </p:cNvPicPr>
          <p:nvPr/>
        </p:nvPicPr>
        <p:blipFill>
          <a:blip r:embed="rId2"/>
          <a:stretch>
            <a:fillRect/>
          </a:stretch>
        </p:blipFill>
        <p:spPr>
          <a:xfrm>
            <a:off x="7989569" y="3154680"/>
            <a:ext cx="1965960" cy="2778433"/>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Quiz</a:t>
            </a:r>
          </a:p>
        </p:txBody>
      </p:sp>
      <p:sp>
        <p:nvSpPr>
          <p:cNvPr id="8" name="DSFR-accent-decoratif" descr=""/>
          <p:cNvSpPr/>
          <p:nvPr/>
        </p:nvSpPr>
        <p:spPr>
          <a:xfrm>
            <a:off x="475488" y="19659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Réponse - le document B est accessible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Quiz flash</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57</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À l'écran, rien ne les distingue. La différence se trouve dans la structure du fichier.</a:t>
            </a:r>
          </a:p>
        </p:txBody>
      </p:sp>
      <p:sp>
        <p:nvSpPr>
          <p:cNvPr id="12" name="DSFR-box"/>
          <p:cNvSpPr/>
          <p:nvPr/>
        </p:nvSpPr>
        <p:spPr>
          <a:xfrm>
            <a:off x="548640" y="3314700"/>
            <a:ext cx="5390388" cy="17716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45186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Document A</a:t>
            </a:r>
          </a:p>
        </p:txBody>
      </p:sp>
      <p:sp>
        <p:nvSpPr>
          <p:cNvPr id="14" name="DSFR-card-contenu"/>
          <p:cNvSpPr txBox="1"/>
          <p:nvPr/>
        </p:nvSpPr>
        <p:spPr>
          <a:xfrm>
            <a:off x="704088" y="3909059"/>
            <a:ext cx="5097779" cy="10858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Titres mis en gras, police Arial 16</a:t>
            </a:r>
          </a:p>
          <a:p>
            <a:pPr algn="l">
              <a:lnSpc>
                <a:spcPct val="125000"/>
              </a:lnSpc>
            </a:pPr>
            <a:r>
              <a:rPr sz="1400" lang="fr-FR">
                <a:solidFill>
                  <a:srgbClr val="161616"/>
                </a:solidFill>
                <a:latin typeface="Arial"/>
              </a:rPr>
              <a:t>• </a:t>
            </a:r>
            <a:r>
              <a:rPr sz="1400" b="0" lang="fr-FR">
                <a:solidFill>
                  <a:srgbClr val="161616"/>
                </a:solidFill>
                <a:latin typeface="Arial"/>
              </a:rPr>
              <a:t>Image sans description</a:t>
            </a:r>
          </a:p>
          <a:p>
            <a:pPr algn="l">
              <a:lnSpc>
                <a:spcPct val="125000"/>
              </a:lnSpc>
            </a:pPr>
            <a:r>
              <a:rPr sz="1400" lang="fr-FR">
                <a:solidFill>
                  <a:srgbClr val="161616"/>
                </a:solidFill>
                <a:latin typeface="Arial"/>
              </a:rPr>
              <a:t>• </a:t>
            </a:r>
            <a:r>
              <a:rPr sz="1400" b="0" lang="fr-FR">
                <a:solidFill>
                  <a:srgbClr val="161616"/>
                </a:solidFill>
                <a:latin typeface="Arial"/>
              </a:rPr>
              <a:t>Fichier nommé Document1.docx</a:t>
            </a:r>
          </a:p>
        </p:txBody>
      </p:sp>
      <p:sp>
        <p:nvSpPr>
          <p:cNvPr id="16" name="DSFR-box"/>
          <p:cNvSpPr/>
          <p:nvPr/>
        </p:nvSpPr>
        <p:spPr>
          <a:xfrm>
            <a:off x="6313931" y="3314700"/>
            <a:ext cx="5390388" cy="17716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345186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Document B</a:t>
            </a:r>
          </a:p>
        </p:txBody>
      </p:sp>
      <p:sp>
        <p:nvSpPr>
          <p:cNvPr id="18" name="DSFR-card-contenu"/>
          <p:cNvSpPr txBox="1"/>
          <p:nvPr/>
        </p:nvSpPr>
        <p:spPr>
          <a:xfrm>
            <a:off x="6469379" y="3909059"/>
            <a:ext cx="5097779" cy="10858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Titres avec le style « Titre 1 »</a:t>
            </a:r>
          </a:p>
          <a:p>
            <a:pPr algn="l">
              <a:lnSpc>
                <a:spcPct val="125000"/>
              </a:lnSpc>
            </a:pPr>
            <a:r>
              <a:rPr sz="1400" lang="fr-FR">
                <a:solidFill>
                  <a:srgbClr val="161616"/>
                </a:solidFill>
                <a:latin typeface="Arial"/>
              </a:rPr>
              <a:t>• </a:t>
            </a:r>
            <a:r>
              <a:rPr sz="1400" b="0" lang="fr-FR">
                <a:solidFill>
                  <a:srgbClr val="161616"/>
                </a:solidFill>
                <a:latin typeface="Arial"/>
              </a:rPr>
              <a:t>Image avec texte alternatif</a:t>
            </a:r>
          </a:p>
          <a:p>
            <a:pPr algn="l">
              <a:lnSpc>
                <a:spcPct val="125000"/>
              </a:lnSpc>
            </a:pPr>
            <a:r>
              <a:rPr sz="1400" lang="fr-FR">
                <a:solidFill>
                  <a:srgbClr val="161616"/>
                </a:solidFill>
                <a:latin typeface="Arial"/>
              </a:rPr>
              <a:t>• </a:t>
            </a:r>
            <a:r>
              <a:rPr sz="1400" b="0" lang="fr-FR">
                <a:solidFill>
                  <a:srgbClr val="161616"/>
                </a:solidFill>
                <a:latin typeface="Arial"/>
              </a:rPr>
              <a:t>Fichier nommé rapport-bilan-2024.docx</a:t>
            </a:r>
          </a:p>
        </p:txBody>
      </p:sp>
      <p:sp>
        <p:nvSpPr>
          <p:cNvPr id="20" name="DSFR-box"/>
          <p:cNvSpPr/>
          <p:nvPr/>
        </p:nvSpPr>
        <p:spPr>
          <a:xfrm>
            <a:off x="548640" y="540639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highlight"/>
          <p:cNvSpPr txBox="1"/>
          <p:nvPr/>
        </p:nvSpPr>
        <p:spPr>
          <a:xfrm>
            <a:off x="749808" y="5497829"/>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 structure du fichier détermine ce que NVDA peut restituer.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Réponse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7716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14700"/>
            <a:ext cx="73152" cy="17716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540639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Pourquoi ça vous concerne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58</a:t>
            </a:r>
            <a:endParaRPr lang="fr-FR" dirty="0"/>
          </a:p>
        </p:txBody>
      </p:sp>
      <p:sp>
        <p:nvSpPr>
          <p:cNvPr id="8" name="DSFR-kpi-pave"/>
          <p:cNvSpPr/>
          <p:nvPr/>
        </p:nvSpPr>
        <p:spPr>
          <a:xfrm>
            <a:off x="475488"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15 %</a:t>
            </a:r>
          </a:p>
        </p:txBody>
      </p:sp>
      <p:sp>
        <p:nvSpPr>
          <p:cNvPr id="9" name="DSFR-kpi-label"/>
          <p:cNvSpPr txBox="1"/>
          <p:nvPr/>
        </p:nvSpPr>
        <p:spPr>
          <a:xfrm>
            <a:off x="475488"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de vos destinataires sont concernés par un handicap</a:t>
            </a:r>
          </a:p>
        </p:txBody>
      </p:sp>
      <p:sp>
        <p:nvSpPr>
          <p:cNvPr id="10" name="DSFR-kpi-pave"/>
          <p:cNvSpPr/>
          <p:nvPr/>
        </p:nvSpPr>
        <p:spPr>
          <a:xfrm>
            <a:off x="4319015"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80 %</a:t>
            </a:r>
          </a:p>
        </p:txBody>
      </p:sp>
      <p:sp>
        <p:nvSpPr>
          <p:cNvPr id="11" name="DSFR-kpi-label"/>
          <p:cNvSpPr txBox="1"/>
          <p:nvPr/>
        </p:nvSpPr>
        <p:spPr>
          <a:xfrm>
            <a:off x="4319015"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de ces handicaps sont invisibles - rien ne le montre</a:t>
            </a:r>
          </a:p>
        </p:txBody>
      </p:sp>
      <p:sp>
        <p:nvSpPr>
          <p:cNvPr id="12" name="DSFR-kpi-pave"/>
          <p:cNvSpPr/>
          <p:nvPr/>
        </p:nvSpPr>
        <p:spPr>
          <a:xfrm>
            <a:off x="8162543"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0 ligne</a:t>
            </a:r>
          </a:p>
        </p:txBody>
      </p:sp>
      <p:sp>
        <p:nvSpPr>
          <p:cNvPr id="13" name="DSFR-kpi-label"/>
          <p:cNvSpPr txBox="1"/>
          <p:nvPr/>
        </p:nvSpPr>
        <p:spPr>
          <a:xfrm>
            <a:off x="8162543"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de code nécessaire - uniquement des réflexes dans le ruban Word</a:t>
            </a:r>
          </a:p>
        </p:txBody>
      </p:sp>
      <p:sp>
        <p:nvSpPr>
          <p:cNvPr id="15" name="DSFR-box"/>
          <p:cNvSpPr/>
          <p:nvPr/>
        </p:nvSpPr>
        <p:spPr>
          <a:xfrm>
            <a:off x="548640" y="379476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704088" y="38862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L'accessibilité ne se voit pas : elle se manipule et se vérifie</a:t>
            </a:r>
          </a:p>
        </p:txBody>
      </p:sp>
      <p:sp>
        <p:nvSpPr>
          <p:cNvPr id="17" name="DSFR-callout-body"/>
          <p:cNvSpPr txBox="1"/>
          <p:nvPr/>
        </p:nvSpPr>
        <p:spPr>
          <a:xfrm>
            <a:off x="704088" y="4297680"/>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 style Titre 1 crée une structure de navigation</a:t>
            </a:r>
          </a:p>
          <a:p>
            <a:pPr algn="l">
              <a:lnSpc>
                <a:spcPct val="125000"/>
              </a:lnSpc>
            </a:pPr>
            <a:r>
              <a:rPr sz="1400" lang="fr-FR">
                <a:solidFill>
                  <a:srgbClr val="161616"/>
                </a:solidFill>
                <a:latin typeface="Arial"/>
              </a:rPr>
              <a:t>• </a:t>
            </a:r>
            <a:r>
              <a:rPr sz="1400" b="0" lang="fr-FR">
                <a:solidFill>
                  <a:srgbClr val="161616"/>
                </a:solidFill>
                <a:latin typeface="Arial"/>
              </a:rPr>
              <a:t>Le texte de remplacement décrit la fonction de l'image</a:t>
            </a:r>
          </a:p>
          <a:p>
            <a:pPr algn="l">
              <a:lnSpc>
                <a:spcPct val="125000"/>
              </a:lnSpc>
            </a:pPr>
            <a:r>
              <a:rPr sz="1400" lang="fr-FR">
                <a:solidFill>
                  <a:srgbClr val="161616"/>
                </a:solidFill>
                <a:latin typeface="Arial"/>
              </a:rPr>
              <a:t>• </a:t>
            </a:r>
            <a:r>
              <a:rPr sz="1400" b="0" lang="fr-FR">
                <a:solidFill>
                  <a:srgbClr val="161616"/>
                </a:solidFill>
                <a:latin typeface="Arial"/>
              </a:rPr>
              <a:t>Le nom de fichier permet de retrouver le document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Pourquoi</a:t>
            </a:r>
          </a:p>
        </p:txBody>
      </p:sp>
      <p:sp>
        <p:nvSpPr>
          <p:cNvPr id="14" name="DSFR-accent-decoratif" descr=""/>
          <p:cNvSpPr/>
          <p:nvPr/>
        </p:nvSpPr>
        <p:spPr>
          <a:xfrm>
            <a:off x="475488" y="379476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Votre mission : rendre accessible le guide de Sami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Préambule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59</a:t>
            </a:r>
            <a:endParaRPr lang="fr-FR" dirty="0"/>
          </a:p>
        </p:txBody>
      </p:sp>
      <p:sp>
        <p:nvSpPr>
          <p:cNvPr id="9" name="DSFR-box"/>
          <p:cNvSpPr/>
          <p:nvPr/>
        </p:nvSpPr>
        <p:spPr>
          <a:xfrm>
            <a:off x="548640" y="2103120"/>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Point de départ</a:t>
            </a:r>
          </a:p>
        </p:txBody>
      </p:sp>
      <p:sp>
        <p:nvSpPr>
          <p:cNvPr id="11" name="DSFR-card-contenu"/>
          <p:cNvSpPr txBox="1"/>
          <p:nvPr/>
        </p:nvSpPr>
        <p:spPr>
          <a:xfrm>
            <a:off x="704088" y="2697479"/>
            <a:ext cx="5097779" cy="118871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Conseillé : tp-doc-aide-correction.docx</a:t>
            </a:r>
          </a:p>
          <a:p>
            <a:pPr algn="l">
              <a:lnSpc>
                <a:spcPct val="125000"/>
              </a:lnSpc>
            </a:pPr>
            <a:r>
              <a:rPr sz="1400" lang="fr-FR">
                <a:solidFill>
                  <a:srgbClr val="161616"/>
                </a:solidFill>
                <a:latin typeface="Arial"/>
              </a:rPr>
              <a:t>• </a:t>
            </a:r>
            <a:r>
              <a:rPr sz="1400" b="0" lang="fr-FR">
                <a:solidFill>
                  <a:srgbClr val="161616"/>
                </a:solidFill>
                <a:latin typeface="Arial"/>
              </a:rPr>
              <a:t>Variante autonome : tp-doc-inaccessible.docx</a:t>
            </a:r>
          </a:p>
          <a:p>
            <a:pPr algn="l">
              <a:lnSpc>
                <a:spcPct val="125000"/>
              </a:lnSpc>
            </a:pPr>
            <a:r>
              <a:rPr sz="1400" lang="fr-FR">
                <a:solidFill>
                  <a:srgbClr val="161616"/>
                </a:solidFill>
                <a:latin typeface="Arial"/>
              </a:rPr>
              <a:t>• </a:t>
            </a:r>
            <a:r>
              <a:rPr sz="1400" b="0" lang="fr-FR">
                <a:solidFill>
                  <a:srgbClr val="161616"/>
                </a:solidFill>
                <a:latin typeface="Arial"/>
              </a:rPr>
              <a:t>5 stations en 90 minutes</a:t>
            </a:r>
          </a:p>
        </p:txBody>
      </p:sp>
      <p:sp>
        <p:nvSpPr>
          <p:cNvPr id="13" name="DSFR-box"/>
          <p:cNvSpPr/>
          <p:nvPr/>
        </p:nvSpPr>
        <p:spPr>
          <a:xfrm>
            <a:off x="6313931" y="2103120"/>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Productions à remettre</a:t>
            </a:r>
          </a:p>
        </p:txBody>
      </p:sp>
      <p:sp>
        <p:nvSpPr>
          <p:cNvPr id="15" name="DSFR-card-contenu"/>
          <p:cNvSpPr txBox="1"/>
          <p:nvPr/>
        </p:nvSpPr>
        <p:spPr>
          <a:xfrm>
            <a:off x="6469379" y="2697479"/>
            <a:ext cx="5097779" cy="118871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 DOCX corrigé par votre binôme</a:t>
            </a:r>
          </a:p>
          <a:p>
            <a:pPr algn="l">
              <a:lnSpc>
                <a:spcPct val="125000"/>
              </a:lnSpc>
            </a:pPr>
            <a:r>
              <a:rPr sz="1400" lang="fr-FR">
                <a:solidFill>
                  <a:srgbClr val="161616"/>
                </a:solidFill>
                <a:latin typeface="Arial"/>
              </a:rPr>
              <a:t>• </a:t>
            </a:r>
            <a:r>
              <a:rPr sz="1400" b="0" lang="fr-FR">
                <a:solidFill>
                  <a:srgbClr val="161616"/>
                </a:solidFill>
                <a:latin typeface="Arial"/>
              </a:rPr>
              <a:t>La checklist renseignée au fil des stations</a:t>
            </a:r>
          </a:p>
          <a:p>
            <a:pPr algn="l">
              <a:lnSpc>
                <a:spcPct val="125000"/>
              </a:lnSpc>
            </a:pPr>
            <a:r>
              <a:rPr sz="1400" lang="fr-FR">
                <a:solidFill>
                  <a:srgbClr val="161616"/>
                </a:solidFill>
                <a:latin typeface="Arial"/>
              </a:rPr>
              <a:t>• </a:t>
            </a:r>
            <a:r>
              <a:rPr sz="1400" b="0" lang="fr-FR">
                <a:solidFill>
                  <a:srgbClr val="161616"/>
                </a:solidFill>
                <a:latin typeface="Arial"/>
              </a:rPr>
              <a:t>Le PDF exporté puis contrôlé</a:t>
            </a:r>
          </a:p>
        </p:txBody>
      </p:sp>
      <p:sp>
        <p:nvSpPr>
          <p:cNvPr id="17" name="DSFR-box"/>
          <p:cNvSpPr/>
          <p:nvPr/>
        </p:nvSpPr>
        <p:spPr>
          <a:xfrm>
            <a:off x="548640" y="431596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40740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Checklist dès le départ ; cartes WCAG reliées informellement à chaque contrôle.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Mission</a:t>
            </a:r>
          </a:p>
        </p:txBody>
      </p:sp>
      <p:sp>
        <p:nvSpPr>
          <p:cNvPr id="8" name="DSFR-accent-decoratif" descr=""/>
          <p:cNvSpPr/>
          <p:nvPr/>
        </p:nvSpPr>
        <p:spPr>
          <a:xfrm>
            <a:off x="475488" y="210312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31596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1 - Structurer et naviguer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1</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60</a:t>
            </a:r>
            <a:endParaRPr lang="fr-FR" dirty="0"/>
          </a:p>
        </p:txBody>
      </p:sp>
      <p:graphicFrame>
        <p:nvGraphicFramePr>
          <p:cNvPr id="8" name="Table 7"/>
          <p:cNvGraphicFramePr>
            <a:graphicFrameLocks noGrp="1"/>
          </p:cNvGraphicFramePr>
          <p:nvPr/>
        </p:nvGraphicFramePr>
        <p:xfrm>
          <a:off x="475488" y="2057400"/>
          <a:ext cx="11228832" cy="3072384"/>
        </p:xfrm>
        <a:graphic>
          <a:graphicData uri="http://schemas.openxmlformats.org/drawingml/2006/table">
            <a:tbl>
              <a:tblPr firstRow="1" bandRow="1">
                <a:tableStyleId>{5C22544A-7EE6-4342-B048-85BDC9FD1C3A}</a:tableStyleId>
              </a:tblPr>
              <a:tblGrid>
                <a:gridCol w="1051560"/>
                <a:gridCol w="1143000"/>
                <a:gridCol w="9034272"/>
              </a:tblGrid>
              <a:tr h="512064">
                <a:tc>
                  <a:txBody>
                    <a:bodyPr wrap="square" anchor="ctr" lIns="73152" rIns="73152"/>
                    <a:lstStyle/>
                    <a:p>
                      <a:pPr algn="l">
                        <a:lnSpc>
                          <a:spcPct val="125000"/>
                        </a:lnSpc>
                      </a:pPr>
                      <a:r>
                        <a:rPr sz="1400" b="1" i="0" lang="fr-FR">
                          <a:solidFill>
                            <a:srgbClr val="FFFFFF"/>
                          </a:solidFill>
                          <a:latin typeface="Arial"/>
                        </a:rPr>
                        <a:t>ID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Niveau</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Points travaillés</a:t>
                      </a:r>
                    </a:p>
                  </a:txBody>
                  <a:tcPr marL="91440" marR="91440" marT="45720" marB="45720">
                    <a:solidFill>
                      <a:srgbClr val="000091"/>
                    </a:solidFill>
                  </a:tcPr>
                </a:tc>
              </a:tr>
              <a:tr h="512064">
                <a:tc>
                  <a:txBody>
                    <a:bodyPr wrap="square" anchor="ctr" lIns="73152" rIns="73152"/>
                    <a:lstStyle/>
                    <a:p>
                      <a:pPr algn="l">
                        <a:lnSpc>
                          <a:spcPct val="125000"/>
                        </a:lnSpc>
                      </a:pPr>
                      <a:r>
                        <a:rPr sz="1400" b="0" i="0" lang="fr-FR">
                          <a:solidFill>
                            <a:srgbClr val="161616"/>
                          </a:solidFill>
                          <a:latin typeface="Arial"/>
                        </a:rPr>
                        <a:t>P-01</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Distinguer le titre principal des titres hiérarchiques</a:t>
                      </a:r>
                    </a:p>
                  </a:txBody>
                  <a:tcPr marL="91440" marR="91440" marT="45720" marB="45720">
                    <a:solidFill>
                      <a:srgbClr val="FFFFFF"/>
                    </a:solidFill>
                  </a:tcPr>
                </a:tc>
              </a:tr>
              <a:tr h="512064">
                <a:tc>
                  <a:txBody>
                    <a:bodyPr wrap="square" anchor="ctr" lIns="73152" rIns="73152"/>
                    <a:lstStyle/>
                    <a:p>
                      <a:pPr algn="l">
                        <a:lnSpc>
                          <a:spcPct val="125000"/>
                        </a:lnSpc>
                      </a:pPr>
                      <a:r>
                        <a:rPr sz="1400" b="0" i="0" lang="fr-FR">
                          <a:solidFill>
                            <a:srgbClr val="161616"/>
                          </a:solidFill>
                          <a:latin typeface="Arial"/>
                        </a:rPr>
                        <a:t>P-02</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Construire une hiérarchie de titres cohérente</a:t>
                      </a:r>
                    </a:p>
                  </a:txBody>
                  <a:tcPr marL="91440" marR="91440" marT="45720" marB="45720">
                    <a:solidFill>
                      <a:srgbClr val="F5F5FE"/>
                    </a:solidFill>
                  </a:tcPr>
                </a:tc>
              </a:tr>
              <a:tr h="512064">
                <a:tc>
                  <a:txBody>
                    <a:bodyPr wrap="square" anchor="ctr" lIns="73152" rIns="73152"/>
                    <a:lstStyle/>
                    <a:p>
                      <a:pPr algn="l">
                        <a:lnSpc>
                          <a:spcPct val="125000"/>
                        </a:lnSpc>
                      </a:pPr>
                      <a:r>
                        <a:rPr sz="1400" b="0" i="0" lang="fr-FR">
                          <a:solidFill>
                            <a:srgbClr val="161616"/>
                          </a:solidFill>
                          <a:latin typeface="Arial"/>
                        </a:rPr>
                        <a:t>P-03</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Naviguer et générer un sommaire automatique</a:t>
                      </a:r>
                    </a:p>
                  </a:txBody>
                  <a:tcPr marL="91440" marR="91440" marT="45720" marB="45720">
                    <a:solidFill>
                      <a:srgbClr val="FFFFFF"/>
                    </a:solidFill>
                  </a:tcPr>
                </a:tc>
              </a:tr>
              <a:tr h="512064">
                <a:tc>
                  <a:txBody>
                    <a:bodyPr wrap="square" anchor="ctr" lIns="73152" rIns="73152"/>
                    <a:lstStyle/>
                    <a:p>
                      <a:pPr algn="l">
                        <a:lnSpc>
                          <a:spcPct val="125000"/>
                        </a:lnSpc>
                      </a:pPr>
                      <a:r>
                        <a:rPr sz="1400" b="0" i="0" lang="fr-FR">
                          <a:solidFill>
                            <a:srgbClr val="161616"/>
                          </a:solidFill>
                          <a:latin typeface="Arial"/>
                        </a:rPr>
                        <a:t>P-04</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Utiliser des listes natives</a:t>
                      </a:r>
                    </a:p>
                  </a:txBody>
                  <a:tcPr marL="91440" marR="91440" marT="45720" marB="45720">
                    <a:solidFill>
                      <a:srgbClr val="F5F5FE"/>
                    </a:solidFill>
                  </a:tcPr>
                </a:tc>
              </a:tr>
              <a:tr h="512064">
                <a:tc>
                  <a:txBody>
                    <a:bodyPr wrap="square" anchor="ctr" lIns="73152" rIns="73152"/>
                    <a:lstStyle/>
                    <a:p>
                      <a:pPr algn="l">
                        <a:lnSpc>
                          <a:spcPct val="125000"/>
                        </a:lnSpc>
                      </a:pPr>
                      <a:r>
                        <a:rPr sz="1400" b="0" i="0" lang="fr-FR">
                          <a:solidFill>
                            <a:srgbClr val="161616"/>
                          </a:solidFill>
                          <a:latin typeface="Arial"/>
                        </a:rPr>
                        <a:t>P-05</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Employer les fonctions de mise en page adaptées</a:t>
                      </a:r>
                    </a:p>
                  </a:txBody>
                  <a:tcPr marL="91440" marR="91440" marT="45720" marB="45720">
                    <a:solidFill>
                      <a:srgbClr val="FFFFFF"/>
                    </a:solidFill>
                  </a:tcPr>
                </a:tc>
              </a:tr>
            </a:tbl>
          </a:graphicData>
        </a:graphic>
      </p:graphicFrame>
      <p:sp>
        <p:nvSpPr>
          <p:cNvPr id="10" name="DSFR-box"/>
          <p:cNvSpPr/>
          <p:nvPr/>
        </p:nvSpPr>
        <p:spPr>
          <a:xfrm>
            <a:off x="548640" y="525780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highlight"/>
          <p:cNvSpPr txBox="1"/>
          <p:nvPr/>
        </p:nvSpPr>
        <p:spPr>
          <a:xfrm>
            <a:off x="749808" y="534924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Manipuler la structure, puis prouver le résultat dans le volet et le sommaire.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1</a:t>
            </a:r>
          </a:p>
        </p:txBody>
      </p:sp>
      <p:sp>
        <p:nvSpPr>
          <p:cNvPr id="9" name="DSFR-accent-decoratif" descr=""/>
          <p:cNvSpPr/>
          <p:nvPr/>
        </p:nvSpPr>
        <p:spPr>
          <a:xfrm>
            <a:off x="475488" y="525780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1 - Titres, hiérarchie et sommaire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1</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61</a:t>
            </a:r>
            <a:endParaRPr lang="fr-FR" dirty="0"/>
          </a:p>
        </p:txBody>
      </p:sp>
      <p:sp>
        <p:nvSpPr>
          <p:cNvPr id="9" name="DSFR-box"/>
          <p:cNvSpPr/>
          <p:nvPr/>
        </p:nvSpPr>
        <p:spPr>
          <a:xfrm>
            <a:off x="548640" y="2103120"/>
            <a:ext cx="5390388" cy="35204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283464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P-01 - Accueil &gt; Styles, puis appliquer Titre au titre principal et les niveaux de titre aux sections.</a:t>
            </a:r>
          </a:p>
          <a:p>
            <a:pPr algn="l">
              <a:lnSpc>
                <a:spcPct val="108000"/>
              </a:lnSpc>
            </a:pPr>
            <a:r>
              <a:rPr sz="1400" lang="fr-FR">
                <a:solidFill>
                  <a:srgbClr val="161616"/>
                </a:solidFill>
                <a:latin typeface="Arial"/>
              </a:rPr>
              <a:t>• </a:t>
            </a:r>
            <a:r>
              <a:rPr sz="1400" b="0" lang="fr-FR">
                <a:solidFill>
                  <a:srgbClr val="161616"/>
                </a:solidFill>
                <a:latin typeface="Arial"/>
              </a:rPr>
              <a:t>P-02 - Affichage &gt; Volet de navigation, puis corriger les styles depuis Accueil &gt; Styles.</a:t>
            </a:r>
          </a:p>
          <a:p>
            <a:pPr algn="l">
              <a:lnSpc>
                <a:spcPct val="108000"/>
              </a:lnSpc>
            </a:pPr>
            <a:r>
              <a:rPr sz="1400" lang="fr-FR">
                <a:solidFill>
                  <a:srgbClr val="161616"/>
                </a:solidFill>
                <a:latin typeface="Arial"/>
              </a:rPr>
              <a:t>• </a:t>
            </a:r>
            <a:r>
              <a:rPr sz="1400" b="0" lang="fr-FR">
                <a:solidFill>
                  <a:srgbClr val="161616"/>
                </a:solidFill>
                <a:latin typeface="Arial"/>
              </a:rPr>
              <a:t>P-03 - Références &gt; Table des matières &gt; Table automatique, puis clic droit &gt; Mettre à jour les champs.</a:t>
            </a:r>
          </a:p>
        </p:txBody>
      </p:sp>
      <p:sp>
        <p:nvSpPr>
          <p:cNvPr id="13" name="DSFR-box"/>
          <p:cNvSpPr/>
          <p:nvPr/>
        </p:nvSpPr>
        <p:spPr>
          <a:xfrm>
            <a:off x="6313931" y="2103120"/>
            <a:ext cx="5390388" cy="35204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283464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P-01 - Styles &gt; Gérer les styles, puis appliquer Titre et Titre 1 à Titre 3 selon le niveau.</a:t>
            </a:r>
          </a:p>
          <a:p>
            <a:pPr algn="l">
              <a:lnSpc>
                <a:spcPct val="108000"/>
              </a:lnSpc>
            </a:pPr>
            <a:r>
              <a:rPr sz="1400" lang="fr-FR">
                <a:solidFill>
                  <a:srgbClr val="161616"/>
                </a:solidFill>
                <a:latin typeface="Arial"/>
              </a:rPr>
              <a:t>• </a:t>
            </a:r>
            <a:r>
              <a:rPr sz="1400" b="0" lang="fr-FR">
                <a:solidFill>
                  <a:srgbClr val="161616"/>
                </a:solidFill>
                <a:latin typeface="Arial"/>
              </a:rPr>
              <a:t>P-02 - Affichage &gt; Navigateur, puis corriger les styles depuis Styles &gt; Gérer les styles.</a:t>
            </a:r>
          </a:p>
          <a:p>
            <a:pPr algn="l">
              <a:lnSpc>
                <a:spcPct val="108000"/>
              </a:lnSpc>
            </a:pPr>
            <a:r>
              <a:rPr sz="1400" lang="fr-FR">
                <a:solidFill>
                  <a:srgbClr val="161616"/>
                </a:solidFill>
                <a:latin typeface="Arial"/>
              </a:rPr>
              <a:t>• </a:t>
            </a:r>
            <a:r>
              <a:rPr sz="1400" b="0" lang="fr-FR">
                <a:solidFill>
                  <a:srgbClr val="161616"/>
                </a:solidFill>
                <a:latin typeface="Arial"/>
              </a:rPr>
              <a:t>P-03 - Insertion &gt; Table des matières et index &gt; Table des matières, index ou bibliographie.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1</a:t>
            </a:r>
          </a:p>
        </p:txBody>
      </p:sp>
      <p:sp>
        <p:nvSpPr>
          <p:cNvPr id="8" name="DSFR-accent-decoratif" descr=""/>
          <p:cNvSpPr/>
          <p:nvPr/>
        </p:nvSpPr>
        <p:spPr>
          <a:xfrm>
            <a:off x="475488" y="2103120"/>
            <a:ext cx="73152" cy="35204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35204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1 - Listes et mise en page robuste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1</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62</a:t>
            </a:r>
            <a:endParaRPr lang="fr-FR" dirty="0"/>
          </a:p>
        </p:txBody>
      </p:sp>
      <p:sp>
        <p:nvSpPr>
          <p:cNvPr id="9" name="DSFR-box"/>
          <p:cNvSpPr/>
          <p:nvPr/>
        </p:nvSpPr>
        <p:spPr>
          <a:xfrm>
            <a:off x="548640" y="2103120"/>
            <a:ext cx="5390388" cy="26060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1920240"/>
          </a:xfrm>
          <a:prstGeom prst="rect">
            <a:avLst/>
          </a:prstGeom>
          <a:noFill/>
        </p:spPr>
        <p:txBody>
          <a:bodyPr wrap="square" lIns="73152" rIns="73152">
            <a:spAutoFit/>
          </a:bodyPr>
          <a:lstStyle/>
          <a:p>
            <a:pPr algn="l">
              <a:lnSpc>
                <a:spcPct val="110000"/>
              </a:lnSpc>
            </a:pPr>
            <a:r>
              <a:rPr sz="1400" lang="fr-FR">
                <a:solidFill>
                  <a:srgbClr val="161616"/>
                </a:solidFill>
                <a:latin typeface="Arial"/>
              </a:rPr>
              <a:t>• </a:t>
            </a:r>
            <a:r>
              <a:rPr sz="1400" b="0" lang="fr-FR">
                <a:solidFill>
                  <a:srgbClr val="161616"/>
                </a:solidFill>
                <a:latin typeface="Arial"/>
              </a:rPr>
              <a:t>P-04 - Sélectionner les paragraphes, puis Accueil &gt; Puces ou Numérotation.</a:t>
            </a:r>
          </a:p>
          <a:p>
            <a:pPr algn="l">
              <a:lnSpc>
                <a:spcPct val="110000"/>
              </a:lnSpc>
            </a:pPr>
            <a:r>
              <a:rPr sz="1400" lang="fr-FR">
                <a:solidFill>
                  <a:srgbClr val="161616"/>
                </a:solidFill>
                <a:latin typeface="Arial"/>
              </a:rPr>
              <a:t>• </a:t>
            </a:r>
            <a:r>
              <a:rPr sz="1400" b="0" lang="fr-FR">
                <a:solidFill>
                  <a:srgbClr val="161616"/>
                </a:solidFill>
                <a:latin typeface="Arial"/>
              </a:rPr>
              <a:t>P-05 - Accueil &gt; Afficher tout, puis régler Paragraphe, Mise en page &gt; Sauts et Mise en page &gt; Colonnes.</a:t>
            </a:r>
          </a:p>
        </p:txBody>
      </p:sp>
      <p:sp>
        <p:nvSpPr>
          <p:cNvPr id="13" name="DSFR-box"/>
          <p:cNvSpPr/>
          <p:nvPr/>
        </p:nvSpPr>
        <p:spPr>
          <a:xfrm>
            <a:off x="6313931" y="2103120"/>
            <a:ext cx="5390388" cy="26060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1920240"/>
          </a:xfrm>
          <a:prstGeom prst="rect">
            <a:avLst/>
          </a:prstGeom>
          <a:noFill/>
        </p:spPr>
        <p:txBody>
          <a:bodyPr wrap="square" lIns="73152" rIns="73152">
            <a:spAutoFit/>
          </a:bodyPr>
          <a:lstStyle/>
          <a:p>
            <a:pPr algn="l">
              <a:lnSpc>
                <a:spcPct val="110000"/>
              </a:lnSpc>
            </a:pPr>
            <a:r>
              <a:rPr sz="1400" lang="fr-FR">
                <a:solidFill>
                  <a:srgbClr val="161616"/>
                </a:solidFill>
                <a:latin typeface="Arial"/>
              </a:rPr>
              <a:t>• </a:t>
            </a:r>
            <a:r>
              <a:rPr sz="1400" b="0" lang="fr-FR">
                <a:solidFill>
                  <a:srgbClr val="161616"/>
                </a:solidFill>
                <a:latin typeface="Arial"/>
              </a:rPr>
              <a:t>P-04 - Sélectionner les paragraphes, puis Format &gt; Puces et numérotation.</a:t>
            </a:r>
          </a:p>
          <a:p>
            <a:pPr algn="l">
              <a:lnSpc>
                <a:spcPct val="110000"/>
              </a:lnSpc>
            </a:pPr>
            <a:r>
              <a:rPr sz="1400" lang="fr-FR">
                <a:solidFill>
                  <a:srgbClr val="161616"/>
                </a:solidFill>
                <a:latin typeface="Arial"/>
              </a:rPr>
              <a:t>• </a:t>
            </a:r>
            <a:r>
              <a:rPr sz="1400" b="0" lang="fr-FR">
                <a:solidFill>
                  <a:srgbClr val="161616"/>
                </a:solidFill>
                <a:latin typeface="Arial"/>
              </a:rPr>
              <a:t>P-05 - Affichage &gt; Marques de formatage, puis Format &gt; Paragraphe et Format &gt; Style de page.</a:t>
            </a:r>
          </a:p>
        </p:txBody>
      </p:sp>
      <p:sp>
        <p:nvSpPr>
          <p:cNvPr id="17" name="DSFR-box"/>
          <p:cNvSpPr/>
          <p:nvPr/>
        </p:nvSpPr>
        <p:spPr>
          <a:xfrm>
            <a:off x="548640" y="500176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09320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Manipulation : afficher les marques, corriger les artifices, puis vérifier la structure.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1</a:t>
            </a:r>
          </a:p>
        </p:txBody>
      </p:sp>
      <p:sp>
        <p:nvSpPr>
          <p:cNvPr id="8" name="DSFR-accent-decoratif" descr=""/>
          <p:cNvSpPr/>
          <p:nvPr/>
        </p:nvSpPr>
        <p:spPr>
          <a:xfrm>
            <a:off x="475488" y="2103120"/>
            <a:ext cx="73152" cy="26060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6060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00176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2 - Rendre les contenus et les liens compréhensibles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2</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63</a:t>
            </a:r>
            <a:endParaRPr lang="fr-FR" dirty="0"/>
          </a:p>
        </p:txBody>
      </p:sp>
      <p:graphicFrame>
        <p:nvGraphicFramePr>
          <p:cNvPr id="8" name="Table 7"/>
          <p:cNvGraphicFramePr>
            <a:graphicFrameLocks noGrp="1"/>
          </p:cNvGraphicFramePr>
          <p:nvPr/>
        </p:nvGraphicFramePr>
        <p:xfrm>
          <a:off x="475488" y="2011680"/>
          <a:ext cx="11228832" cy="3136392"/>
        </p:xfrm>
        <a:graphic>
          <a:graphicData uri="http://schemas.openxmlformats.org/drawingml/2006/table">
            <a:tbl>
              <a:tblPr firstRow="1" bandRow="1">
                <a:tableStyleId>{5C22544A-7EE6-4342-B048-85BDC9FD1C3A}</a:tableStyleId>
              </a:tblPr>
              <a:tblGrid>
                <a:gridCol w="1051560"/>
                <a:gridCol w="1143000"/>
                <a:gridCol w="9034272"/>
              </a:tblGrid>
              <a:tr h="448056">
                <a:tc>
                  <a:txBody>
                    <a:bodyPr wrap="square" anchor="ctr" lIns="73152" rIns="73152"/>
                    <a:lstStyle/>
                    <a:p>
                      <a:pPr algn="l">
                        <a:lnSpc>
                          <a:spcPct val="125000"/>
                        </a:lnSpc>
                      </a:pPr>
                      <a:r>
                        <a:rPr sz="1400" b="1" i="0" lang="fr-FR">
                          <a:solidFill>
                            <a:srgbClr val="FFFFFF"/>
                          </a:solidFill>
                          <a:latin typeface="Arial"/>
                        </a:rPr>
                        <a:t>ID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Niveau</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Points travaillés</a:t>
                      </a:r>
                    </a:p>
                  </a:txBody>
                  <a:tcPr marL="91440" marR="91440" marT="45720" marB="45720">
                    <a:solidFill>
                      <a:srgbClr val="000091"/>
                    </a:solidFill>
                  </a:tcPr>
                </a:tc>
              </a:tr>
              <a:tr h="448056">
                <a:tc>
                  <a:txBody>
                    <a:bodyPr wrap="square" anchor="ctr" lIns="73152" rIns="73152"/>
                    <a:lstStyle/>
                    <a:p>
                      <a:pPr algn="l">
                        <a:lnSpc>
                          <a:spcPct val="125000"/>
                        </a:lnSpc>
                      </a:pPr>
                      <a:r>
                        <a:rPr sz="1400" b="0" i="0" lang="fr-FR">
                          <a:solidFill>
                            <a:srgbClr val="161616"/>
                          </a:solidFill>
                          <a:latin typeface="Arial"/>
                        </a:rPr>
                        <a:t>P-06</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Rédiger l'alternative d'une image informative simple</a:t>
                      </a:r>
                    </a:p>
                  </a:txBody>
                  <a:tcPr marL="91440" marR="91440" marT="45720" marB="45720">
                    <a:solidFill>
                      <a:srgbClr val="FFFFFF"/>
                    </a:solidFill>
                  </a:tcPr>
                </a:tc>
              </a:tr>
              <a:tr h="448056">
                <a:tc>
                  <a:txBody>
                    <a:bodyPr wrap="square" anchor="ctr" lIns="73152" rIns="73152"/>
                    <a:lstStyle/>
                    <a:p>
                      <a:pPr algn="l">
                        <a:lnSpc>
                          <a:spcPct val="125000"/>
                        </a:lnSpc>
                      </a:pPr>
                      <a:r>
                        <a:rPr sz="1400" b="0" i="0" lang="fr-FR">
                          <a:solidFill>
                            <a:srgbClr val="161616"/>
                          </a:solidFill>
                          <a:latin typeface="Arial"/>
                        </a:rPr>
                        <a:t>P-07</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Décrire une image complexe</a:t>
                      </a:r>
                    </a:p>
                  </a:txBody>
                  <a:tcPr marL="91440" marR="91440" marT="45720" marB="45720">
                    <a:solidFill>
                      <a:srgbClr val="F5F5FE"/>
                    </a:solidFill>
                  </a:tcPr>
                </a:tc>
              </a:tr>
              <a:tr h="448056">
                <a:tc>
                  <a:txBody>
                    <a:bodyPr wrap="square" anchor="ctr" lIns="73152" rIns="73152"/>
                    <a:lstStyle/>
                    <a:p>
                      <a:pPr algn="l">
                        <a:lnSpc>
                          <a:spcPct val="125000"/>
                        </a:lnSpc>
                      </a:pPr>
                      <a:r>
                        <a:rPr sz="1400" b="0" i="0" lang="fr-FR">
                          <a:solidFill>
                            <a:srgbClr val="161616"/>
                          </a:solidFill>
                          <a:latin typeface="Arial"/>
                        </a:rPr>
                        <a:t>P-08</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Marquer une image redondante comme décorative</a:t>
                      </a:r>
                    </a:p>
                  </a:txBody>
                  <a:tcPr marL="91440" marR="91440" marT="45720" marB="45720">
                    <a:solidFill>
                      <a:srgbClr val="FFFFFF"/>
                    </a:solidFill>
                  </a:tcPr>
                </a:tc>
              </a:tr>
              <a:tr h="448056">
                <a:tc>
                  <a:txBody>
                    <a:bodyPr wrap="square" anchor="ctr" lIns="73152" rIns="73152"/>
                    <a:lstStyle/>
                    <a:p>
                      <a:pPr algn="l">
                        <a:lnSpc>
                          <a:spcPct val="125000"/>
                        </a:lnSpc>
                      </a:pPr>
                      <a:r>
                        <a:rPr sz="1400" b="0" i="0" lang="fr-FR">
                          <a:solidFill>
                            <a:srgbClr val="161616"/>
                          </a:solidFill>
                          <a:latin typeface="Arial"/>
                        </a:rPr>
                        <a:t>P-09</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Remplacer une image de texte par du vrai texte</a:t>
                      </a:r>
                    </a:p>
                  </a:txBody>
                  <a:tcPr marL="91440" marR="91440" marT="45720" marB="45720">
                    <a:solidFill>
                      <a:srgbClr val="F5F5FE"/>
                    </a:solidFill>
                  </a:tcPr>
                </a:tc>
              </a:tr>
              <a:tr h="448056">
                <a:tc>
                  <a:txBody>
                    <a:bodyPr wrap="square" anchor="ctr" lIns="73152" rIns="73152"/>
                    <a:lstStyle/>
                    <a:p>
                      <a:pPr algn="l">
                        <a:lnSpc>
                          <a:spcPct val="125000"/>
                        </a:lnSpc>
                      </a:pPr>
                      <a:r>
                        <a:rPr sz="1400" b="0" i="0" lang="fr-FR">
                          <a:solidFill>
                            <a:srgbClr val="161616"/>
                          </a:solidFill>
                          <a:latin typeface="Arial"/>
                        </a:rPr>
                        <a:t>P-10</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Rendre les liens autonomes et identifiables</a:t>
                      </a:r>
                    </a:p>
                  </a:txBody>
                  <a:tcPr marL="91440" marR="91440" marT="45720" marB="45720">
                    <a:solidFill>
                      <a:srgbClr val="FFFFFF"/>
                    </a:solidFill>
                  </a:tcPr>
                </a:tc>
              </a:tr>
              <a:tr h="448056">
                <a:tc>
                  <a:txBody>
                    <a:bodyPr wrap="square" anchor="ctr" lIns="73152" rIns="73152"/>
                    <a:lstStyle/>
                    <a:p>
                      <a:pPr algn="l">
                        <a:lnSpc>
                          <a:spcPct val="125000"/>
                        </a:lnSpc>
                      </a:pPr>
                      <a:r>
                        <a:rPr sz="1400" b="0" i="0" lang="fr-FR">
                          <a:solidFill>
                            <a:srgbClr val="161616"/>
                          </a:solidFill>
                          <a:latin typeface="Arial"/>
                        </a:rPr>
                        <a:t>P-11</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Reprendre dans le corps l'information d'un en-tête</a:t>
                      </a:r>
                    </a:p>
                  </a:txBody>
                  <a:tcPr marL="91440" marR="91440" marT="45720" marB="45720">
                    <a:solidFill>
                      <a:srgbClr val="F5F5FE"/>
                    </a:solidFill>
                  </a:tcPr>
                </a:tc>
              </a:tr>
            </a:tbl>
          </a:graphicData>
        </a:graphic>
      </p:graphicFrame>
      <p:sp>
        <p:nvSpPr>
          <p:cNvPr id="10" name="DSFR-box"/>
          <p:cNvSpPr/>
          <p:nvPr/>
        </p:nvSpPr>
        <p:spPr>
          <a:xfrm>
            <a:off x="548640" y="532180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highlight"/>
          <p:cNvSpPr txBox="1"/>
          <p:nvPr/>
        </p:nvSpPr>
        <p:spPr>
          <a:xfrm>
            <a:off x="749808" y="541324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Choisir le traitement selon l'usage : informative, complexe, décorative ou textuelle.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2</a:t>
            </a:r>
          </a:p>
        </p:txBody>
      </p:sp>
      <p:sp>
        <p:nvSpPr>
          <p:cNvPr id="9" name="DSFR-accent-decoratif" descr=""/>
          <p:cNvSpPr/>
          <p:nvPr/>
        </p:nvSpPr>
        <p:spPr>
          <a:xfrm>
            <a:off x="475488" y="532180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2 - Choisir le bon traitement pour chaque image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2</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64</a:t>
            </a:r>
            <a:endParaRPr lang="fr-FR" dirty="0"/>
          </a:p>
        </p:txBody>
      </p:sp>
      <p:sp>
        <p:nvSpPr>
          <p:cNvPr id="9" name="DSFR-box"/>
          <p:cNvSpPr/>
          <p:nvPr/>
        </p:nvSpPr>
        <p:spPr>
          <a:xfrm>
            <a:off x="548640" y="2103120"/>
            <a:ext cx="5390388" cy="36118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2926080"/>
          </a:xfrm>
          <a:prstGeom prst="rect">
            <a:avLst/>
          </a:prstGeom>
          <a:noFill/>
        </p:spPr>
        <p:txBody>
          <a:bodyPr wrap="square" lIns="73152" rIns="73152">
            <a:spAutoFit/>
          </a:bodyPr>
          <a:lstStyle/>
          <a:p>
            <a:pPr algn="l">
              <a:lnSpc>
                <a:spcPct val="107000"/>
              </a:lnSpc>
            </a:pPr>
            <a:r>
              <a:rPr sz="1400" lang="fr-FR">
                <a:solidFill>
                  <a:srgbClr val="161616"/>
                </a:solidFill>
                <a:latin typeface="Arial"/>
              </a:rPr>
              <a:t>• </a:t>
            </a:r>
            <a:r>
              <a:rPr sz="1400" b="0" lang="fr-FR">
                <a:solidFill>
                  <a:srgbClr val="161616"/>
                </a:solidFill>
                <a:latin typeface="Arial"/>
              </a:rPr>
              <a:t>P-06 - Clic droit sur l'image &gt; Afficher le texte de remplacement, puis renseigner la description.</a:t>
            </a:r>
          </a:p>
          <a:p>
            <a:pPr algn="l">
              <a:lnSpc>
                <a:spcPct val="107000"/>
              </a:lnSpc>
            </a:pPr>
            <a:r>
              <a:rPr sz="1400" lang="fr-FR">
                <a:solidFill>
                  <a:srgbClr val="161616"/>
                </a:solidFill>
                <a:latin typeface="Arial"/>
              </a:rPr>
              <a:t>• </a:t>
            </a:r>
            <a:r>
              <a:rPr sz="1400" b="0" lang="fr-FR">
                <a:solidFill>
                  <a:srgbClr val="161616"/>
                </a:solidFill>
                <a:latin typeface="Arial"/>
              </a:rPr>
              <a:t>P-07 - Ajouter le texte de remplacement, puis saisir la description détaillée dans un paragraphe voisin.</a:t>
            </a:r>
          </a:p>
          <a:p>
            <a:pPr algn="l">
              <a:lnSpc>
                <a:spcPct val="107000"/>
              </a:lnSpc>
            </a:pPr>
            <a:r>
              <a:rPr sz="1400" lang="fr-FR">
                <a:solidFill>
                  <a:srgbClr val="161616"/>
                </a:solidFill>
                <a:latin typeface="Arial"/>
              </a:rPr>
              <a:t>• </a:t>
            </a:r>
            <a:r>
              <a:rPr sz="1400" b="0" lang="fr-FR">
                <a:solidFill>
                  <a:srgbClr val="161616"/>
                </a:solidFill>
                <a:latin typeface="Arial"/>
              </a:rPr>
              <a:t>P-08 - Afficher le texte de remplacement puis cocher Marquer comme décoratif.</a:t>
            </a:r>
          </a:p>
        </p:txBody>
      </p:sp>
      <p:sp>
        <p:nvSpPr>
          <p:cNvPr id="13" name="DSFR-box"/>
          <p:cNvSpPr/>
          <p:nvPr/>
        </p:nvSpPr>
        <p:spPr>
          <a:xfrm>
            <a:off x="6313931" y="2103120"/>
            <a:ext cx="5390388" cy="36118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2926080"/>
          </a:xfrm>
          <a:prstGeom prst="rect">
            <a:avLst/>
          </a:prstGeom>
          <a:noFill/>
        </p:spPr>
        <p:txBody>
          <a:bodyPr wrap="square" lIns="73152" rIns="73152">
            <a:spAutoFit/>
          </a:bodyPr>
          <a:lstStyle/>
          <a:p>
            <a:pPr algn="l">
              <a:lnSpc>
                <a:spcPct val="107000"/>
              </a:lnSpc>
            </a:pPr>
            <a:r>
              <a:rPr sz="1400" lang="fr-FR">
                <a:solidFill>
                  <a:srgbClr val="161616"/>
                </a:solidFill>
                <a:latin typeface="Arial"/>
              </a:rPr>
              <a:t>• </a:t>
            </a:r>
            <a:r>
              <a:rPr sz="1400" b="0" lang="fr-FR">
                <a:solidFill>
                  <a:srgbClr val="161616"/>
                </a:solidFill>
                <a:latin typeface="Arial"/>
              </a:rPr>
              <a:t>P-06 - Clic droit sur l'image &gt; Propriétés &gt; Options, puis renseigner le texte alternatif.</a:t>
            </a:r>
          </a:p>
          <a:p>
            <a:pPr algn="l">
              <a:lnSpc>
                <a:spcPct val="107000"/>
              </a:lnSpc>
            </a:pPr>
            <a:r>
              <a:rPr sz="1400" lang="fr-FR">
                <a:solidFill>
                  <a:srgbClr val="161616"/>
                </a:solidFill>
                <a:latin typeface="Arial"/>
              </a:rPr>
              <a:t>• </a:t>
            </a:r>
            <a:r>
              <a:rPr sz="1400" b="0" lang="fr-FR">
                <a:solidFill>
                  <a:srgbClr val="161616"/>
                </a:solidFill>
                <a:latin typeface="Arial"/>
              </a:rPr>
              <a:t>P-07 - Renseigner le texte alternatif dans les propriétés, puis ajouter la description dans le corps.</a:t>
            </a:r>
          </a:p>
          <a:p>
            <a:pPr algn="l">
              <a:lnSpc>
                <a:spcPct val="107000"/>
              </a:lnSpc>
            </a:pPr>
            <a:r>
              <a:rPr sz="1400" lang="fr-FR">
                <a:solidFill>
                  <a:srgbClr val="161616"/>
                </a:solidFill>
                <a:latin typeface="Arial"/>
              </a:rPr>
              <a:t>• </a:t>
            </a:r>
            <a:r>
              <a:rPr sz="1400" b="0" lang="fr-FR">
                <a:solidFill>
                  <a:srgbClr val="161616"/>
                </a:solidFill>
                <a:latin typeface="Arial"/>
              </a:rPr>
              <a:t>P-08 - Si l'option Décoratif existe, l'activer ; sinon laisser titre et description vides seulement après vérification de la redondance.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2</a:t>
            </a:r>
          </a:p>
        </p:txBody>
      </p:sp>
      <p:sp>
        <p:nvSpPr>
          <p:cNvPr id="8" name="DSFR-accent-decoratif" descr=""/>
          <p:cNvSpPr/>
          <p:nvPr/>
        </p:nvSpPr>
        <p:spPr>
          <a:xfrm>
            <a:off x="475488" y="2103120"/>
            <a:ext cx="73152" cy="36118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36118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2 - Vrai texte et liens compréhensibles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2</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65</a:t>
            </a:r>
            <a:endParaRPr lang="fr-FR" dirty="0"/>
          </a:p>
        </p:txBody>
      </p:sp>
      <p:sp>
        <p:nvSpPr>
          <p:cNvPr id="9" name="DSFR-box"/>
          <p:cNvSpPr/>
          <p:nvPr/>
        </p:nvSpPr>
        <p:spPr>
          <a:xfrm>
            <a:off x="548640" y="2103120"/>
            <a:ext cx="5390388" cy="2514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1828800"/>
          </a:xfrm>
          <a:prstGeom prst="rect">
            <a:avLst/>
          </a:prstGeom>
          <a:noFill/>
        </p:spPr>
        <p:txBody>
          <a:bodyPr wrap="square" lIns="73152" rIns="73152">
            <a:spAutoFit/>
          </a:bodyPr>
          <a:lstStyle/>
          <a:p>
            <a:pPr algn="l">
              <a:lnSpc>
                <a:spcPct val="110000"/>
              </a:lnSpc>
            </a:pPr>
            <a:r>
              <a:rPr sz="1400" lang="fr-FR">
                <a:solidFill>
                  <a:srgbClr val="161616"/>
                </a:solidFill>
                <a:latin typeface="Arial"/>
              </a:rPr>
              <a:t>• </a:t>
            </a:r>
            <a:r>
              <a:rPr sz="1400" b="0" lang="fr-FR">
                <a:solidFill>
                  <a:srgbClr val="161616"/>
                </a:solidFill>
                <a:latin typeface="Arial"/>
              </a:rPr>
              <a:t>P-09 - Insérer le texte dans un paragraphe structuré, appliquer les styles utiles puis supprimer l'image de texte.</a:t>
            </a:r>
          </a:p>
          <a:p>
            <a:pPr algn="l">
              <a:lnSpc>
                <a:spcPct val="110000"/>
              </a:lnSpc>
            </a:pPr>
            <a:r>
              <a:rPr sz="1400" lang="fr-FR">
                <a:solidFill>
                  <a:srgbClr val="161616"/>
                </a:solidFill>
                <a:latin typeface="Arial"/>
              </a:rPr>
              <a:t>• </a:t>
            </a:r>
            <a:r>
              <a:rPr sz="1400" b="0" lang="fr-FR">
                <a:solidFill>
                  <a:srgbClr val="161616"/>
                </a:solidFill>
                <a:latin typeface="Arial"/>
              </a:rPr>
              <a:t>P-10 - Modifier le texte affiché du lien via clic droit &gt; Modifier le lien, puis compléter le libellé dans le corps.</a:t>
            </a:r>
          </a:p>
        </p:txBody>
      </p:sp>
      <p:sp>
        <p:nvSpPr>
          <p:cNvPr id="13" name="DSFR-box"/>
          <p:cNvSpPr/>
          <p:nvPr/>
        </p:nvSpPr>
        <p:spPr>
          <a:xfrm>
            <a:off x="6313931" y="2103120"/>
            <a:ext cx="5390388" cy="2514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1828800"/>
          </a:xfrm>
          <a:prstGeom prst="rect">
            <a:avLst/>
          </a:prstGeom>
          <a:noFill/>
        </p:spPr>
        <p:txBody>
          <a:bodyPr wrap="square" lIns="73152" rIns="73152">
            <a:spAutoFit/>
          </a:bodyPr>
          <a:lstStyle/>
          <a:p>
            <a:pPr algn="l">
              <a:lnSpc>
                <a:spcPct val="110000"/>
              </a:lnSpc>
            </a:pPr>
            <a:r>
              <a:rPr sz="1400" lang="fr-FR">
                <a:solidFill>
                  <a:srgbClr val="161616"/>
                </a:solidFill>
                <a:latin typeface="Arial"/>
              </a:rPr>
              <a:t>• </a:t>
            </a:r>
            <a:r>
              <a:rPr sz="1400" b="0" lang="fr-FR">
                <a:solidFill>
                  <a:srgbClr val="161616"/>
                </a:solidFill>
                <a:latin typeface="Arial"/>
              </a:rPr>
              <a:t>P-09 - Saisir le texte dans le corps, appliquer les styles utiles puis supprimer l'image de texte.</a:t>
            </a:r>
          </a:p>
          <a:p>
            <a:pPr algn="l">
              <a:lnSpc>
                <a:spcPct val="110000"/>
              </a:lnSpc>
            </a:pPr>
            <a:r>
              <a:rPr sz="1400" lang="fr-FR">
                <a:solidFill>
                  <a:srgbClr val="161616"/>
                </a:solidFill>
                <a:latin typeface="Arial"/>
              </a:rPr>
              <a:t>• </a:t>
            </a:r>
            <a:r>
              <a:rPr sz="1400" b="0" lang="fr-FR">
                <a:solidFill>
                  <a:srgbClr val="161616"/>
                </a:solidFill>
                <a:latin typeface="Arial"/>
              </a:rPr>
              <a:t>P-10 - Clic droit &gt; Modifier l'hyperlien, puis compléter le libellé dans le corps.</a:t>
            </a:r>
          </a:p>
        </p:txBody>
      </p:sp>
      <p:sp>
        <p:nvSpPr>
          <p:cNvPr id="17" name="DSFR-box"/>
          <p:cNvSpPr/>
          <p:nvPr/>
        </p:nvSpPr>
        <p:spPr>
          <a:xfrm>
            <a:off x="548640" y="4965192"/>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056631"/>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Preuve : le texte se sélectionne et chaque lien reste clair hors contexte.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2</a:t>
            </a:r>
          </a:p>
        </p:txBody>
      </p:sp>
      <p:sp>
        <p:nvSpPr>
          <p:cNvPr id="8" name="DSFR-accent-decoratif" descr=""/>
          <p:cNvSpPr/>
          <p:nvPr/>
        </p:nvSpPr>
        <p:spPr>
          <a:xfrm>
            <a:off x="475488" y="2103120"/>
            <a:ext cx="73152" cy="2514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514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965192"/>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2 - L'information essentielle reste dans le corps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2</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66</a:t>
            </a:r>
            <a:endParaRPr lang="fr-FR" dirty="0"/>
          </a:p>
        </p:txBody>
      </p:sp>
      <p:sp>
        <p:nvSpPr>
          <p:cNvPr id="9" name="DSFR-box"/>
          <p:cNvSpPr/>
          <p:nvPr/>
        </p:nvSpPr>
        <p:spPr>
          <a:xfrm>
            <a:off x="548640" y="201168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0312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P-11 [P] - Reprendre dans le corps l'information d'un en-tête</a:t>
            </a:r>
          </a:p>
        </p:txBody>
      </p:sp>
      <p:sp>
        <p:nvSpPr>
          <p:cNvPr id="12" name="DSFR-box"/>
          <p:cNvSpPr/>
          <p:nvPr/>
        </p:nvSpPr>
        <p:spPr>
          <a:xfrm>
            <a:off x="548640" y="2990088"/>
            <a:ext cx="5390388" cy="24231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127248"/>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4" name="DSFR-card-contenu"/>
          <p:cNvSpPr txBox="1"/>
          <p:nvPr/>
        </p:nvSpPr>
        <p:spPr>
          <a:xfrm>
            <a:off x="704088" y="3584448"/>
            <a:ext cx="5097779" cy="173736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Ne jamais faire porter une information essentielle uniquement par un filigrane, un en-tête ou un arrière-plan.</a:t>
            </a:r>
          </a:p>
          <a:p>
            <a:pPr algn="l">
              <a:lnSpc>
                <a:spcPct val="108000"/>
              </a:lnSpc>
            </a:pPr>
            <a:r>
              <a:rPr sz="1400" lang="fr-FR">
                <a:solidFill>
                  <a:srgbClr val="161616"/>
                </a:solidFill>
                <a:latin typeface="Arial"/>
              </a:rPr>
              <a:t>• </a:t>
            </a:r>
            <a:r>
              <a:rPr sz="1400" b="0" lang="fr-FR">
                <a:solidFill>
                  <a:srgbClr val="161616"/>
                </a:solidFill>
                <a:latin typeface="Arial"/>
              </a:rPr>
              <a:t>Ajouter le statut dans le corps avec un style adapté ; l'en-tête peut le conserver, sans en être l'unique porteur.</a:t>
            </a:r>
          </a:p>
          <a:p>
            <a:pPr algn="l">
              <a:lnSpc>
                <a:spcPct val="108000"/>
              </a:lnSpc>
            </a:pPr>
            <a:r>
              <a:rPr sz="1400" lang="fr-FR">
                <a:solidFill>
                  <a:srgbClr val="161616"/>
                </a:solidFill>
                <a:latin typeface="Arial"/>
              </a:rPr>
              <a:t>• </a:t>
            </a:r>
            <a:r>
              <a:rPr sz="1400" b="0" lang="fr-FR">
                <a:solidFill>
                  <a:srgbClr val="161616"/>
                </a:solidFill>
                <a:latin typeface="Arial"/>
              </a:rPr>
              <a:t>Reprendre le même statut à un emplacement logique du corps.</a:t>
            </a:r>
          </a:p>
        </p:txBody>
      </p:sp>
      <p:sp>
        <p:nvSpPr>
          <p:cNvPr id="16" name="DSFR-box"/>
          <p:cNvSpPr/>
          <p:nvPr/>
        </p:nvSpPr>
        <p:spPr>
          <a:xfrm>
            <a:off x="6313931" y="2990088"/>
            <a:ext cx="5390388" cy="24231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3127248"/>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8" name="DSFR-card-contenu"/>
          <p:cNvSpPr txBox="1"/>
          <p:nvPr/>
        </p:nvSpPr>
        <p:spPr>
          <a:xfrm>
            <a:off x="6469379" y="3584448"/>
            <a:ext cx="5097779" cy="173736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Ajouter le statut dans le corps avec un style adapté ; l'en-tête peut le conserver, sans en être l'unique porteur.</a:t>
            </a:r>
          </a:p>
          <a:p>
            <a:pPr algn="l">
              <a:lnSpc>
                <a:spcPct val="108000"/>
              </a:lnSpc>
            </a:pPr>
            <a:r>
              <a:rPr sz="1400" lang="fr-FR">
                <a:solidFill>
                  <a:srgbClr val="161616"/>
                </a:solidFill>
                <a:latin typeface="Arial"/>
              </a:rPr>
              <a:t>• </a:t>
            </a:r>
            <a:r>
              <a:rPr sz="1400" b="0" lang="fr-FR">
                <a:solidFill>
                  <a:srgbClr val="161616"/>
                </a:solidFill>
                <a:latin typeface="Arial"/>
              </a:rPr>
              <a:t>Preuve : Statut compréhensible dans le texte linéarisé sans en-tête ni arrière-plan.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2</a:t>
            </a:r>
          </a:p>
        </p:txBody>
      </p:sp>
      <p:sp>
        <p:nvSpPr>
          <p:cNvPr id="8" name="DSFR-accent-decoratif" descr=""/>
          <p:cNvSpPr/>
          <p:nvPr/>
        </p:nvSpPr>
        <p:spPr>
          <a:xfrm>
            <a:off x="475488" y="201168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0088"/>
            <a:ext cx="73152" cy="24231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0088"/>
            <a:ext cx="73152" cy="24231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3 - Sécuriser couleurs, graphiques et tableaux</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3</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67</a:t>
            </a:r>
            <a:endParaRPr lang="fr-FR" dirty="0"/>
          </a:p>
        </p:txBody>
      </p:sp>
      <p:graphicFrame>
        <p:nvGraphicFramePr>
          <p:cNvPr id="8" name="Table 7"/>
          <p:cNvGraphicFramePr>
            <a:graphicFrameLocks noGrp="1"/>
          </p:cNvGraphicFramePr>
          <p:nvPr/>
        </p:nvGraphicFramePr>
        <p:xfrm>
          <a:off x="475488" y="2103120"/>
          <a:ext cx="11228832" cy="2414016"/>
        </p:xfrm>
        <a:graphic>
          <a:graphicData uri="http://schemas.openxmlformats.org/drawingml/2006/table">
            <a:tbl>
              <a:tblPr firstRow="1" bandRow="1">
                <a:tableStyleId>{5C22544A-7EE6-4342-B048-85BDC9FD1C3A}</a:tableStyleId>
              </a:tblPr>
              <a:tblGrid>
                <a:gridCol w="1051560"/>
                <a:gridCol w="1143000"/>
                <a:gridCol w="9034272"/>
              </a:tblGrid>
              <a:tr h="603504">
                <a:tc>
                  <a:txBody>
                    <a:bodyPr wrap="square" anchor="ctr" lIns="73152" rIns="73152"/>
                    <a:lstStyle/>
                    <a:p>
                      <a:pPr algn="l">
                        <a:lnSpc>
                          <a:spcPct val="125000"/>
                        </a:lnSpc>
                      </a:pPr>
                      <a:r>
                        <a:rPr sz="1400" b="1" i="0" lang="fr-FR">
                          <a:solidFill>
                            <a:srgbClr val="FFFFFF"/>
                          </a:solidFill>
                          <a:latin typeface="Arial"/>
                        </a:rPr>
                        <a:t>ID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Niveau</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Points travaillés</a:t>
                      </a:r>
                    </a:p>
                  </a:txBody>
                  <a:tcPr marL="91440" marR="91440" marT="45720" marB="45720">
                    <a:solidFill>
                      <a:srgbClr val="000091"/>
                    </a:solidFill>
                  </a:tcPr>
                </a:tc>
              </a:tr>
              <a:tr h="603504">
                <a:tc>
                  <a:txBody>
                    <a:bodyPr wrap="square" anchor="ctr" lIns="73152" rIns="73152"/>
                    <a:lstStyle/>
                    <a:p>
                      <a:pPr algn="l">
                        <a:lnSpc>
                          <a:spcPct val="125000"/>
                        </a:lnSpc>
                      </a:pPr>
                      <a:r>
                        <a:rPr sz="1400" b="0" i="0" lang="fr-FR">
                          <a:solidFill>
                            <a:srgbClr val="161616"/>
                          </a:solidFill>
                          <a:latin typeface="Arial"/>
                        </a:rPr>
                        <a:t>P-12</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Mesurer les contrastes utiles</a:t>
                      </a:r>
                    </a:p>
                  </a:txBody>
                  <a:tcPr marL="91440" marR="91440" marT="45720" marB="45720">
                    <a:solidFill>
                      <a:srgbClr val="FFFFFF"/>
                    </a:solidFill>
                  </a:tcPr>
                </a:tc>
              </a:tr>
              <a:tr h="603504">
                <a:tc>
                  <a:txBody>
                    <a:bodyPr wrap="square" anchor="ctr" lIns="73152" rIns="73152"/>
                    <a:lstStyle/>
                    <a:p>
                      <a:pPr algn="l">
                        <a:lnSpc>
                          <a:spcPct val="125000"/>
                        </a:lnSpc>
                      </a:pPr>
                      <a:r>
                        <a:rPr sz="1400" b="0" i="0" lang="fr-FR">
                          <a:solidFill>
                            <a:srgbClr val="161616"/>
                          </a:solidFill>
                          <a:latin typeface="Arial"/>
                        </a:rPr>
                        <a:t>P-13</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Ne pas transmettre une information par la couleur seule</a:t>
                      </a:r>
                    </a:p>
                  </a:txBody>
                  <a:tcPr marL="91440" marR="91440" marT="45720" marB="45720">
                    <a:solidFill>
                      <a:srgbClr val="F5F5FE"/>
                    </a:solidFill>
                  </a:tcPr>
                </a:tc>
              </a:tr>
              <a:tr h="603504">
                <a:tc>
                  <a:txBody>
                    <a:bodyPr wrap="square" anchor="ctr" lIns="73152" rIns="73152"/>
                    <a:lstStyle/>
                    <a:p>
                      <a:pPr algn="l">
                        <a:lnSpc>
                          <a:spcPct val="125000"/>
                        </a:lnSpc>
                      </a:pPr>
                      <a:r>
                        <a:rPr sz="1400" b="0" i="0" lang="fr-FR">
                          <a:solidFill>
                            <a:srgbClr val="161616"/>
                          </a:solidFill>
                          <a:latin typeface="Arial"/>
                        </a:rPr>
                        <a:t>P-14</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Structurer un tableau de données simple</a:t>
                      </a:r>
                    </a:p>
                  </a:txBody>
                  <a:tcPr marL="91440" marR="91440" marT="45720" marB="45720">
                    <a:solidFill>
                      <a:srgbClr val="FFFFFF"/>
                    </a:solidFill>
                  </a:tcPr>
                </a:tc>
              </a:tr>
            </a:tbl>
          </a:graphicData>
        </a:graphic>
      </p:graphicFrame>
      <p:sp>
        <p:nvSpPr>
          <p:cNvPr id="10" name="DSFR-box"/>
          <p:cNvSpPr/>
          <p:nvPr/>
        </p:nvSpPr>
        <p:spPr>
          <a:xfrm>
            <a:off x="548640" y="49377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highlight"/>
          <p:cNvSpPr txBox="1"/>
          <p:nvPr/>
        </p:nvSpPr>
        <p:spPr>
          <a:xfrm>
            <a:off x="749808" y="50292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Mesurer, rendre l'information indépendante de la couleur, puis vérifier la structure.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3</a:t>
            </a:r>
          </a:p>
        </p:txBody>
      </p:sp>
      <p:sp>
        <p:nvSpPr>
          <p:cNvPr id="9" name="DSFR-accent-decoratif" descr=""/>
          <p:cNvSpPr/>
          <p:nvPr/>
        </p:nvSpPr>
        <p:spPr>
          <a:xfrm>
            <a:off x="475488" y="49377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3 - Le contraste se mesure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3</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68</a:t>
            </a:r>
            <a:endParaRPr lang="fr-FR" dirty="0"/>
          </a:p>
        </p:txBody>
      </p:sp>
      <p:sp>
        <p:nvSpPr>
          <p:cNvPr id="9" name="DSFR-box"/>
          <p:cNvSpPr/>
          <p:nvPr/>
        </p:nvSpPr>
        <p:spPr>
          <a:xfrm>
            <a:off x="548640" y="196596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5740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P-12 [P] - Mesurer les contrastes utiles</a:t>
            </a:r>
          </a:p>
        </p:txBody>
      </p:sp>
      <p:sp>
        <p:nvSpPr>
          <p:cNvPr id="11" name="DSFR-kpi-pave"/>
          <p:cNvSpPr/>
          <p:nvPr/>
        </p:nvSpPr>
        <p:spPr>
          <a:xfrm>
            <a:off x="475488" y="2926080"/>
            <a:ext cx="5463540" cy="71323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4,5:1</a:t>
            </a:r>
          </a:p>
        </p:txBody>
      </p:sp>
      <p:sp>
        <p:nvSpPr>
          <p:cNvPr id="12" name="DSFR-kpi-label"/>
          <p:cNvSpPr txBox="1"/>
          <p:nvPr/>
        </p:nvSpPr>
        <p:spPr>
          <a:xfrm>
            <a:off x="475488" y="3694176"/>
            <a:ext cx="5463540" cy="329184"/>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Texte normal</a:t>
            </a:r>
          </a:p>
        </p:txBody>
      </p:sp>
      <p:sp>
        <p:nvSpPr>
          <p:cNvPr id="13" name="DSFR-kpi-pave"/>
          <p:cNvSpPr/>
          <p:nvPr/>
        </p:nvSpPr>
        <p:spPr>
          <a:xfrm>
            <a:off x="6240779" y="2926080"/>
            <a:ext cx="5463540" cy="71323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3:1</a:t>
            </a:r>
          </a:p>
        </p:txBody>
      </p:sp>
      <p:sp>
        <p:nvSpPr>
          <p:cNvPr id="14" name="DSFR-kpi-label"/>
          <p:cNvSpPr txBox="1"/>
          <p:nvPr/>
        </p:nvSpPr>
        <p:spPr>
          <a:xfrm>
            <a:off x="6240779" y="3694176"/>
            <a:ext cx="5463540" cy="329184"/>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Grand texte et éléments graphiques</a:t>
            </a:r>
          </a:p>
        </p:txBody>
      </p:sp>
      <p:sp>
        <p:nvSpPr>
          <p:cNvPr id="16" name="DSFR-box"/>
          <p:cNvSpPr/>
          <p:nvPr/>
        </p:nvSpPr>
        <p:spPr>
          <a:xfrm>
            <a:off x="548640" y="4389120"/>
            <a:ext cx="5390388" cy="15087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704088" y="452628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8" name="DSFR-card-contenu"/>
          <p:cNvSpPr txBox="1"/>
          <p:nvPr/>
        </p:nvSpPr>
        <p:spPr>
          <a:xfrm>
            <a:off x="704088" y="4983480"/>
            <a:ext cx="5097779" cy="82295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Relever les couleurs de police et de fond, mesurer avec l'outil de contraste, puis modifier la couleur de police.</a:t>
            </a:r>
          </a:p>
          <a:p>
            <a:pPr algn="l">
              <a:lnSpc>
                <a:spcPct val="125000"/>
              </a:lnSpc>
            </a:pPr>
            <a:r>
              <a:rPr sz="1400" lang="fr-FR">
                <a:solidFill>
                  <a:srgbClr val="161616"/>
                </a:solidFill>
                <a:latin typeface="Arial"/>
              </a:rPr>
              <a:t>• </a:t>
            </a:r>
            <a:r>
              <a:rPr sz="1400" b="0" lang="fr-FR">
                <a:solidFill>
                  <a:srgbClr val="161616"/>
                </a:solidFill>
                <a:latin typeface="Arial"/>
              </a:rPr>
              <a:t>Mesurer la combinaison puis choisir une couleur qui atteint le seuil applicable.</a:t>
            </a:r>
          </a:p>
        </p:txBody>
      </p:sp>
      <p:sp>
        <p:nvSpPr>
          <p:cNvPr id="20" name="DSFR-box"/>
          <p:cNvSpPr/>
          <p:nvPr/>
        </p:nvSpPr>
        <p:spPr>
          <a:xfrm>
            <a:off x="6313931" y="4389120"/>
            <a:ext cx="5390388" cy="15087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6469379" y="452628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22" name="DSFR-card-contenu"/>
          <p:cNvSpPr txBox="1"/>
          <p:nvPr/>
        </p:nvSpPr>
        <p:spPr>
          <a:xfrm>
            <a:off x="6469379" y="4983480"/>
            <a:ext cx="5097779" cy="82295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Relever les couleurs de caractère et d'arrière-plan, mesurer, puis modifier la couleur de caractère.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3</a:t>
            </a:r>
          </a:p>
        </p:txBody>
      </p:sp>
      <p:sp>
        <p:nvSpPr>
          <p:cNvPr id="8" name="DSFR-accent-decoratif" descr=""/>
          <p:cNvSpPr/>
          <p:nvPr/>
        </p:nvSpPr>
        <p:spPr>
          <a:xfrm>
            <a:off x="475488" y="196596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389120"/>
            <a:ext cx="73152" cy="15087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6240779" y="4389120"/>
            <a:ext cx="73152" cy="15087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3 - Un graphique compréhensible sans la couleur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3</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69</a:t>
            </a:r>
            <a:endParaRPr lang="fr-FR" dirty="0"/>
          </a:p>
        </p:txBody>
      </p:sp>
      <p:sp>
        <p:nvSpPr>
          <p:cNvPr id="9" name="DSFR-box"/>
          <p:cNvSpPr/>
          <p:nvPr/>
        </p:nvSpPr>
        <p:spPr>
          <a:xfrm>
            <a:off x="548640" y="201168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0312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P-13 [P] - Ne pas transmettre une information par la couleur seule</a:t>
            </a:r>
          </a:p>
        </p:txBody>
      </p:sp>
      <p:sp>
        <p:nvSpPr>
          <p:cNvPr id="12" name="DSFR-box"/>
          <p:cNvSpPr/>
          <p:nvPr/>
        </p:nvSpPr>
        <p:spPr>
          <a:xfrm>
            <a:off x="548640" y="3017520"/>
            <a:ext cx="5390388" cy="24688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1546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4" name="DSFR-card-contenu"/>
          <p:cNvSpPr txBox="1"/>
          <p:nvPr/>
        </p:nvSpPr>
        <p:spPr>
          <a:xfrm>
            <a:off x="704088" y="3611879"/>
            <a:ext cx="5097779" cy="178308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Ajouter étiquettes, motifs ou un équivalent textuel complet à tout code couleur porteur d'information.</a:t>
            </a:r>
          </a:p>
          <a:p>
            <a:pPr algn="l">
              <a:lnSpc>
                <a:spcPct val="108000"/>
              </a:lnSpc>
            </a:pPr>
            <a:r>
              <a:rPr sz="1400" lang="fr-FR">
                <a:solidFill>
                  <a:srgbClr val="161616"/>
                </a:solidFill>
                <a:latin typeface="Arial"/>
              </a:rPr>
              <a:t>• </a:t>
            </a:r>
            <a:r>
              <a:rPr sz="1400" b="0" lang="fr-FR">
                <a:solidFill>
                  <a:srgbClr val="161616"/>
                </a:solidFill>
                <a:latin typeface="Arial"/>
              </a:rPr>
              <a:t>Insertion &gt; Graphique &gt; Histogramme groupé, reporter les valeurs affichées dans l'image, puis afficher les étiquettes et appliquer des motifs distincts.</a:t>
            </a:r>
          </a:p>
          <a:p>
            <a:pPr algn="l">
              <a:lnSpc>
                <a:spcPct val="108000"/>
              </a:lnSpc>
            </a:pPr>
            <a:r>
              <a:rPr sz="1400" lang="fr-FR">
                <a:solidFill>
                  <a:srgbClr val="161616"/>
                </a:solidFill>
                <a:latin typeface="Arial"/>
              </a:rPr>
              <a:t>• </a:t>
            </a:r>
            <a:r>
              <a:rPr sz="1400" b="0" lang="fr-FR">
                <a:solidFill>
                  <a:srgbClr val="161616"/>
                </a:solidFill>
                <a:latin typeface="Arial"/>
              </a:rPr>
              <a:t>Reconstruire dans Word le graphique à partir des valeurs affichées dans l'image, puis ajouter des étiquettes et des motifs ou conserver un équivalent textuel complet.</a:t>
            </a:r>
          </a:p>
        </p:txBody>
      </p:sp>
      <p:sp>
        <p:nvSpPr>
          <p:cNvPr id="16" name="DSFR-box"/>
          <p:cNvSpPr/>
          <p:nvPr/>
        </p:nvSpPr>
        <p:spPr>
          <a:xfrm>
            <a:off x="6313931" y="3017520"/>
            <a:ext cx="5390388" cy="24688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31546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8" name="DSFR-card-contenu"/>
          <p:cNvSpPr txBox="1"/>
          <p:nvPr/>
        </p:nvSpPr>
        <p:spPr>
          <a:xfrm>
            <a:off x="6469379" y="3611879"/>
            <a:ext cx="5097779" cy="178308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Insertion &gt; Diagramme, reporter les valeurs affichées dans l'image, puis afficher les étiquettes et choisir des remplissages distincts.</a:t>
            </a:r>
          </a:p>
          <a:p>
            <a:pPr algn="l">
              <a:lnSpc>
                <a:spcPct val="108000"/>
              </a:lnSpc>
            </a:pPr>
            <a:r>
              <a:rPr sz="1400" lang="fr-FR">
                <a:solidFill>
                  <a:srgbClr val="161616"/>
                </a:solidFill>
                <a:latin typeface="Arial"/>
              </a:rPr>
              <a:t>• </a:t>
            </a:r>
            <a:r>
              <a:rPr sz="1400" b="0" lang="fr-FR">
                <a:solidFill>
                  <a:srgbClr val="161616"/>
                </a:solidFill>
                <a:latin typeface="Arial"/>
              </a:rPr>
              <a:t>Preuve : Séries et conclusions identifiables en niveaux de gris et dans l'équivalent textuel.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3</a:t>
            </a:r>
          </a:p>
        </p:txBody>
      </p:sp>
      <p:sp>
        <p:nvSpPr>
          <p:cNvPr id="8" name="DSFR-accent-decoratif" descr=""/>
          <p:cNvSpPr/>
          <p:nvPr/>
        </p:nvSpPr>
        <p:spPr>
          <a:xfrm>
            <a:off x="475488" y="201168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017520"/>
            <a:ext cx="73152" cy="24688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017520"/>
            <a:ext cx="73152" cy="24688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3 - Un tableau de données simple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3</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70</a:t>
            </a:r>
            <a:endParaRPr lang="fr-FR" dirty="0"/>
          </a:p>
        </p:txBody>
      </p:sp>
      <p:sp>
        <p:nvSpPr>
          <p:cNvPr id="9" name="DSFR-box"/>
          <p:cNvSpPr/>
          <p:nvPr/>
        </p:nvSpPr>
        <p:spPr>
          <a:xfrm>
            <a:off x="548640" y="201168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0312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P-14 [P] - Structurer un tableau de données simple</a:t>
            </a:r>
          </a:p>
        </p:txBody>
      </p:sp>
      <p:sp>
        <p:nvSpPr>
          <p:cNvPr id="12" name="DSFR-box"/>
          <p:cNvSpPr/>
          <p:nvPr/>
        </p:nvSpPr>
        <p:spPr>
          <a:xfrm>
            <a:off x="548640" y="3017520"/>
            <a:ext cx="5390388" cy="2514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1546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4" name="DSFR-card-contenu"/>
          <p:cNvSpPr txBox="1"/>
          <p:nvPr/>
        </p:nvSpPr>
        <p:spPr>
          <a:xfrm>
            <a:off x="704088" y="3611879"/>
            <a:ext cx="5097779" cy="182880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Utiliser un tableau de données titré, sans fusion, imbrication, fractionnement de ligne ni usage de mise en page, avec en-tête identifié et répété.</a:t>
            </a:r>
          </a:p>
          <a:p>
            <a:pPr algn="l">
              <a:lnSpc>
                <a:spcPct val="108000"/>
              </a:lnSpc>
            </a:pPr>
            <a:r>
              <a:rPr sz="1400" lang="fr-FR">
                <a:solidFill>
                  <a:srgbClr val="161616"/>
                </a:solidFill>
                <a:latin typeface="Arial"/>
              </a:rPr>
              <a:t>• </a:t>
            </a:r>
            <a:r>
              <a:rPr sz="1400" b="0" lang="fr-FR">
                <a:solidFill>
                  <a:srgbClr val="161616"/>
                </a:solidFill>
                <a:latin typeface="Arial"/>
              </a:rPr>
              <a:t>Outils de tableau &gt; Disposition pour défusionner ; Propriétés du tableau pour répéter l'en-tête et interdire le fractionnement des lignes.</a:t>
            </a:r>
          </a:p>
          <a:p>
            <a:pPr algn="l">
              <a:lnSpc>
                <a:spcPct val="108000"/>
              </a:lnSpc>
            </a:pPr>
            <a:r>
              <a:rPr sz="1400" lang="fr-FR">
                <a:solidFill>
                  <a:srgbClr val="161616"/>
                </a:solidFill>
                <a:latin typeface="Arial"/>
              </a:rPr>
              <a:t>• </a:t>
            </a:r>
            <a:r>
              <a:rPr sz="1400" b="0" lang="fr-FR">
                <a:solidFill>
                  <a:srgbClr val="161616"/>
                </a:solidFill>
                <a:latin typeface="Arial"/>
              </a:rPr>
              <a:t>Simplifier la structure, identifier l'en-tête et régler sa répétition ainsi que les lignes.</a:t>
            </a:r>
          </a:p>
        </p:txBody>
      </p:sp>
      <p:sp>
        <p:nvSpPr>
          <p:cNvPr id="16" name="DSFR-box"/>
          <p:cNvSpPr/>
          <p:nvPr/>
        </p:nvSpPr>
        <p:spPr>
          <a:xfrm>
            <a:off x="6313931" y="3017520"/>
            <a:ext cx="5390388" cy="2514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31546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8" name="DSFR-card-contenu"/>
          <p:cNvSpPr txBox="1"/>
          <p:nvPr/>
        </p:nvSpPr>
        <p:spPr>
          <a:xfrm>
            <a:off x="6469379" y="3611879"/>
            <a:ext cx="5097779" cy="182880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Tableau &gt; Propriétés pour simplifier la grille, répéter les premières lignes et éviter le fractionnement.</a:t>
            </a:r>
          </a:p>
          <a:p>
            <a:pPr algn="l">
              <a:lnSpc>
                <a:spcPct val="108000"/>
              </a:lnSpc>
            </a:pPr>
            <a:r>
              <a:rPr sz="1400" lang="fr-FR">
                <a:solidFill>
                  <a:srgbClr val="161616"/>
                </a:solidFill>
                <a:latin typeface="Arial"/>
              </a:rPr>
              <a:t>• </a:t>
            </a:r>
            <a:r>
              <a:rPr sz="1400" b="0" lang="fr-FR">
                <a:solidFill>
                  <a:srgbClr val="161616"/>
                </a:solidFill>
                <a:latin typeface="Arial"/>
              </a:rPr>
              <a:t>Preuve : XML sans fusion ni imbrication et relations de cellules vérifiées à la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3</a:t>
            </a:r>
          </a:p>
        </p:txBody>
      </p:sp>
      <p:sp>
        <p:nvSpPr>
          <p:cNvPr id="8" name="DSFR-accent-decoratif" descr=""/>
          <p:cNvSpPr/>
          <p:nvPr/>
        </p:nvSpPr>
        <p:spPr>
          <a:xfrm>
            <a:off x="475488" y="201168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017520"/>
            <a:ext cx="73152" cy="2514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017520"/>
            <a:ext cx="73152" cy="2514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4 - Régler langues et lisibilité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4</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71</a:t>
            </a:r>
            <a:endParaRPr lang="fr-FR" dirty="0"/>
          </a:p>
        </p:txBody>
      </p:sp>
      <p:graphicFrame>
        <p:nvGraphicFramePr>
          <p:cNvPr id="8" name="Table 7"/>
          <p:cNvGraphicFramePr>
            <a:graphicFrameLocks noGrp="1"/>
          </p:cNvGraphicFramePr>
          <p:nvPr/>
        </p:nvGraphicFramePr>
        <p:xfrm>
          <a:off x="475488" y="2103120"/>
          <a:ext cx="11228832" cy="2834640"/>
        </p:xfrm>
        <a:graphic>
          <a:graphicData uri="http://schemas.openxmlformats.org/drawingml/2006/table">
            <a:tbl>
              <a:tblPr firstRow="1" bandRow="1">
                <a:tableStyleId>{5C22544A-7EE6-4342-B048-85BDC9FD1C3A}</a:tableStyleId>
              </a:tblPr>
              <a:tblGrid>
                <a:gridCol w="1051560"/>
                <a:gridCol w="1143000"/>
                <a:gridCol w="9034272"/>
              </a:tblGrid>
              <a:tr h="566928">
                <a:tc>
                  <a:txBody>
                    <a:bodyPr wrap="square" anchor="ctr" lIns="73152" rIns="73152"/>
                    <a:lstStyle/>
                    <a:p>
                      <a:pPr algn="l">
                        <a:lnSpc>
                          <a:spcPct val="125000"/>
                        </a:lnSpc>
                      </a:pPr>
                      <a:r>
                        <a:rPr sz="1400" b="1" i="0" lang="fr-FR">
                          <a:solidFill>
                            <a:srgbClr val="FFFFFF"/>
                          </a:solidFill>
                          <a:latin typeface="Arial"/>
                        </a:rPr>
                        <a:t>ID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Niveau</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Points travaillés</a:t>
                      </a:r>
                    </a:p>
                  </a:txBody>
                  <a:tcPr marL="91440" marR="91440" marT="45720" marB="45720">
                    <a:solidFill>
                      <a:srgbClr val="000091"/>
                    </a:solidFill>
                  </a:tcPr>
                </a:tc>
              </a:tr>
              <a:tr h="566928">
                <a:tc>
                  <a:txBody>
                    <a:bodyPr wrap="square" anchor="ctr" lIns="73152" rIns="73152"/>
                    <a:lstStyle/>
                    <a:p>
                      <a:pPr algn="l">
                        <a:lnSpc>
                          <a:spcPct val="125000"/>
                        </a:lnSpc>
                      </a:pPr>
                      <a:r>
                        <a:rPr sz="1400" b="0" i="0" lang="fr-FR">
                          <a:solidFill>
                            <a:srgbClr val="161616"/>
                          </a:solidFill>
                          <a:latin typeface="Arial"/>
                        </a:rPr>
                        <a:t>P-15</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Définir les langues du document et des passages</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P-16</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Régler une typographie lisible par les styles</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Arial"/>
                        </a:rPr>
                        <a:t>P-17</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Appliquer la casse par la mise en forme</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P-18</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Développer les sigles et vérifier les majuscules</a:t>
                      </a:r>
                    </a:p>
                  </a:txBody>
                  <a:tcPr marL="91440" marR="91440" marT="45720" marB="45720">
                    <a:solidFill>
                      <a:srgbClr val="F5F5FE"/>
                    </a:solidFill>
                  </a:tcPr>
                </a:tc>
              </a:tr>
            </a:tbl>
          </a:graphicData>
        </a:graphic>
      </p:graphicFrame>
      <p:sp>
        <p:nvSpPr>
          <p:cNvPr id="10" name="DSFR-box"/>
          <p:cNvSpPr/>
          <p:nvPr/>
        </p:nvSpPr>
        <p:spPr>
          <a:xfrm>
            <a:off x="548640" y="50749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highlight"/>
          <p:cNvSpPr txBox="1"/>
          <p:nvPr/>
        </p:nvSpPr>
        <p:spPr>
          <a:xfrm>
            <a:off x="749808" y="5166359"/>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Corriger les styles sources : la langue et la lisibilité se règlent à l'échelle du document.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4</a:t>
            </a:r>
          </a:p>
        </p:txBody>
      </p:sp>
      <p:sp>
        <p:nvSpPr>
          <p:cNvPr id="9" name="DSFR-accent-decoratif" descr=""/>
          <p:cNvSpPr/>
          <p:nvPr/>
        </p:nvSpPr>
        <p:spPr>
          <a:xfrm>
            <a:off x="475488" y="50749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4 - Langues et styles typographiques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4</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72</a:t>
            </a:r>
            <a:endParaRPr lang="fr-FR" dirty="0"/>
          </a:p>
        </p:txBody>
      </p:sp>
      <p:sp>
        <p:nvSpPr>
          <p:cNvPr id="9" name="DSFR-box"/>
          <p:cNvSpPr/>
          <p:nvPr/>
        </p:nvSpPr>
        <p:spPr>
          <a:xfrm>
            <a:off x="548640" y="2103120"/>
            <a:ext cx="5390388" cy="26974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201168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P-15 - Révision &gt; Langue &gt; Définir la langue de vérification pour le document puis pour le passage sélectionné.</a:t>
            </a:r>
          </a:p>
          <a:p>
            <a:pPr algn="l">
              <a:lnSpc>
                <a:spcPct val="108000"/>
              </a:lnSpc>
            </a:pPr>
            <a:r>
              <a:rPr sz="1400" lang="fr-FR">
                <a:solidFill>
                  <a:srgbClr val="161616"/>
                </a:solidFill>
                <a:latin typeface="Arial"/>
              </a:rPr>
              <a:t>• </a:t>
            </a:r>
            <a:r>
              <a:rPr sz="1400" b="0" lang="fr-FR">
                <a:solidFill>
                  <a:srgbClr val="161616"/>
                </a:solidFill>
                <a:latin typeface="Arial"/>
              </a:rPr>
              <a:t>P-16 - Accueil &gt; Styles &gt; Modifier le style Normal, puis régler police, taille, alignement et paragraphe.</a:t>
            </a:r>
          </a:p>
        </p:txBody>
      </p:sp>
      <p:sp>
        <p:nvSpPr>
          <p:cNvPr id="13" name="DSFR-box"/>
          <p:cNvSpPr/>
          <p:nvPr/>
        </p:nvSpPr>
        <p:spPr>
          <a:xfrm>
            <a:off x="6313931" y="2103120"/>
            <a:ext cx="5390388" cy="26974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201168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P-15 - Outils &gt; Langue pour tout le texte, puis langue du caractère pour le passage sélectionné.</a:t>
            </a:r>
          </a:p>
          <a:p>
            <a:pPr algn="l">
              <a:lnSpc>
                <a:spcPct val="108000"/>
              </a:lnSpc>
            </a:pPr>
            <a:r>
              <a:rPr sz="1400" lang="fr-FR">
                <a:solidFill>
                  <a:srgbClr val="161616"/>
                </a:solidFill>
                <a:latin typeface="Arial"/>
              </a:rPr>
              <a:t>• </a:t>
            </a:r>
            <a:r>
              <a:rPr sz="1400" b="0" lang="fr-FR">
                <a:solidFill>
                  <a:srgbClr val="161616"/>
                </a:solidFill>
                <a:latin typeface="Arial"/>
              </a:rPr>
              <a:t>P-16 - Styles &gt; Gérer les styles &gt; modifier Style de paragraphe par défaut, puis régler police et retraits et espacement.</a:t>
            </a:r>
          </a:p>
        </p:txBody>
      </p:sp>
      <p:sp>
        <p:nvSpPr>
          <p:cNvPr id="17" name="DSFR-box"/>
          <p:cNvSpPr/>
          <p:nvPr/>
        </p:nvSpPr>
        <p:spPr>
          <a:xfrm>
            <a:off x="548640" y="509320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18464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Preuve : langue cohérente, corps à 12 points minimum, interligne 1,15 et alignement à gauche.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4</a:t>
            </a:r>
          </a:p>
        </p:txBody>
      </p:sp>
      <p:sp>
        <p:nvSpPr>
          <p:cNvPr id="8" name="DSFR-accent-decoratif" descr=""/>
          <p:cNvSpPr/>
          <p:nvPr/>
        </p:nvSpPr>
        <p:spPr>
          <a:xfrm>
            <a:off x="475488" y="2103120"/>
            <a:ext cx="73152" cy="26974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6974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09320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4 - Casse, accents et sigles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4</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73</a:t>
            </a:r>
            <a:endParaRPr lang="fr-FR" dirty="0"/>
          </a:p>
        </p:txBody>
      </p:sp>
      <p:sp>
        <p:nvSpPr>
          <p:cNvPr id="9" name="DSFR-box"/>
          <p:cNvSpPr/>
          <p:nvPr/>
        </p:nvSpPr>
        <p:spPr>
          <a:xfrm>
            <a:off x="548640" y="2103120"/>
            <a:ext cx="5390388" cy="26974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201168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P-17 - Corriger le texte, puis Police &gt; Effets &gt; Majuscules si cette apparence est nécessaire.</a:t>
            </a:r>
          </a:p>
          <a:p>
            <a:pPr algn="l">
              <a:lnSpc>
                <a:spcPct val="108000"/>
              </a:lnSpc>
            </a:pPr>
            <a:r>
              <a:rPr sz="1400" lang="fr-FR">
                <a:solidFill>
                  <a:srgbClr val="161616"/>
                </a:solidFill>
                <a:latin typeface="Arial"/>
              </a:rPr>
              <a:t>• </a:t>
            </a:r>
            <a:r>
              <a:rPr sz="1400" b="0" lang="fr-FR">
                <a:solidFill>
                  <a:srgbClr val="161616"/>
                </a:solidFill>
                <a:latin typeface="Arial"/>
              </a:rPr>
              <a:t>P-18 - Développer le terme dans le corps, puis Fichier &gt; Options &gt; Vérification et décocher Ignorer les mots en MAJUSCULES.</a:t>
            </a:r>
          </a:p>
        </p:txBody>
      </p:sp>
      <p:sp>
        <p:nvSpPr>
          <p:cNvPr id="13" name="DSFR-box"/>
          <p:cNvSpPr/>
          <p:nvPr/>
        </p:nvSpPr>
        <p:spPr>
          <a:xfrm>
            <a:off x="6313931" y="2103120"/>
            <a:ext cx="5390388" cy="26974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2011680"/>
          </a:xfrm>
          <a:prstGeom prst="rect">
            <a:avLst/>
          </a:prstGeom>
          <a:noFill/>
        </p:spPr>
        <p:txBody>
          <a:bodyPr wrap="square" lIns="73152" rIns="73152">
            <a:spAutoFit/>
          </a:bodyPr>
          <a:lstStyle/>
          <a:p>
            <a:pPr algn="l">
              <a:lnSpc>
                <a:spcPct val="108000"/>
              </a:lnSpc>
            </a:pPr>
            <a:r>
              <a:rPr sz="1400" lang="fr-FR">
                <a:solidFill>
                  <a:srgbClr val="161616"/>
                </a:solidFill>
                <a:latin typeface="Arial"/>
              </a:rPr>
              <a:t>• </a:t>
            </a:r>
            <a:r>
              <a:rPr sz="1400" b="0" lang="fr-FR">
                <a:solidFill>
                  <a:srgbClr val="161616"/>
                </a:solidFill>
                <a:latin typeface="Arial"/>
              </a:rPr>
              <a:t>P-17 - Corriger le texte, puis Format &gt; Caractère &gt; Effets de caractères &gt; Majuscules.</a:t>
            </a:r>
          </a:p>
          <a:p>
            <a:pPr algn="l">
              <a:lnSpc>
                <a:spcPct val="108000"/>
              </a:lnSpc>
            </a:pPr>
            <a:r>
              <a:rPr sz="1400" lang="fr-FR">
                <a:solidFill>
                  <a:srgbClr val="161616"/>
                </a:solidFill>
                <a:latin typeface="Arial"/>
              </a:rPr>
              <a:t>• </a:t>
            </a:r>
            <a:r>
              <a:rPr sz="1400" b="0" lang="fr-FR">
                <a:solidFill>
                  <a:srgbClr val="161616"/>
                </a:solidFill>
                <a:latin typeface="Arial"/>
              </a:rPr>
              <a:t>P-18 - Développer le terme dans le corps, puis Outils &gt; Options &gt; Paramètres linguistiques &gt; Linguistique et vérifier les options de contrôle.</a:t>
            </a:r>
          </a:p>
        </p:txBody>
      </p:sp>
      <p:sp>
        <p:nvSpPr>
          <p:cNvPr id="17" name="DSFR-box"/>
          <p:cNvSpPr/>
          <p:nvPr/>
        </p:nvSpPr>
        <p:spPr>
          <a:xfrm>
            <a:off x="548640" y="509320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18464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Preuve : texte source accentué, première occurrence développée et majuscules contrôlées.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4</a:t>
            </a:r>
          </a:p>
        </p:txBody>
      </p:sp>
      <p:sp>
        <p:nvSpPr>
          <p:cNvPr id="8" name="DSFR-accent-decoratif" descr=""/>
          <p:cNvSpPr/>
          <p:nvPr/>
        </p:nvSpPr>
        <p:spPr>
          <a:xfrm>
            <a:off x="475488" y="2103120"/>
            <a:ext cx="73152" cy="26974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6974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09320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5 - Finaliser, vérifier, exporter et contrôler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5</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74</a:t>
            </a:r>
            <a:endParaRPr lang="fr-FR" dirty="0"/>
          </a:p>
        </p:txBody>
      </p:sp>
      <p:graphicFrame>
        <p:nvGraphicFramePr>
          <p:cNvPr id="8" name="Table 7"/>
          <p:cNvGraphicFramePr>
            <a:graphicFrameLocks noGrp="1"/>
          </p:cNvGraphicFramePr>
          <p:nvPr/>
        </p:nvGraphicFramePr>
        <p:xfrm>
          <a:off x="475488" y="2103120"/>
          <a:ext cx="11228832" cy="2834640"/>
        </p:xfrm>
        <a:graphic>
          <a:graphicData uri="http://schemas.openxmlformats.org/drawingml/2006/table">
            <a:tbl>
              <a:tblPr firstRow="1" bandRow="1">
                <a:tableStyleId>{5C22544A-7EE6-4342-B048-85BDC9FD1C3A}</a:tableStyleId>
              </a:tblPr>
              <a:tblGrid>
                <a:gridCol w="1051560"/>
                <a:gridCol w="1143000"/>
                <a:gridCol w="9034272"/>
              </a:tblGrid>
              <a:tr h="566928">
                <a:tc>
                  <a:txBody>
                    <a:bodyPr wrap="square" anchor="ctr" lIns="73152" rIns="73152"/>
                    <a:lstStyle/>
                    <a:p>
                      <a:pPr algn="l">
                        <a:lnSpc>
                          <a:spcPct val="125000"/>
                        </a:lnSpc>
                      </a:pPr>
                      <a:r>
                        <a:rPr sz="1400" b="1" i="0" lang="fr-FR">
                          <a:solidFill>
                            <a:srgbClr val="FFFFFF"/>
                          </a:solidFill>
                          <a:latin typeface="Arial"/>
                        </a:rPr>
                        <a:t>ID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Niveau</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Points travaillés</a:t>
                      </a:r>
                    </a:p>
                  </a:txBody>
                  <a:tcPr marL="91440" marR="91440" marT="45720" marB="45720">
                    <a:solidFill>
                      <a:srgbClr val="000091"/>
                    </a:solidFill>
                  </a:tcPr>
                </a:tc>
              </a:tr>
              <a:tr h="566928">
                <a:tc>
                  <a:txBody>
                    <a:bodyPr wrap="square" anchor="ctr" lIns="73152" rIns="73152"/>
                    <a:lstStyle/>
                    <a:p>
                      <a:pPr algn="l">
                        <a:lnSpc>
                          <a:spcPct val="125000"/>
                        </a:lnSpc>
                      </a:pPr>
                      <a:r>
                        <a:rPr sz="1400" b="0" i="0" lang="fr-FR">
                          <a:solidFill>
                            <a:srgbClr val="161616"/>
                          </a:solidFill>
                          <a:latin typeface="Arial"/>
                        </a:rPr>
                        <a:t>P-19</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Renseigner les propriétés et le nom du fichier</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P-20</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Exporter un PDF structuré</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Arial"/>
                        </a:rPr>
                        <a:t>C-01</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Utiliser le vérificateur d'accessibilité Word</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C-02</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Contrôler le PDF après export</a:t>
                      </a:r>
                    </a:p>
                  </a:txBody>
                  <a:tcPr marL="91440" marR="91440" marT="45720" marB="45720">
                    <a:solidFill>
                      <a:srgbClr val="F5F5FE"/>
                    </a:solidFill>
                  </a:tcPr>
                </a:tc>
              </a:tr>
            </a:tbl>
          </a:graphicData>
        </a:graphic>
      </p:graphicFrame>
      <p:sp>
        <p:nvSpPr>
          <p:cNvPr id="10" name="DSFR-box"/>
          <p:cNvSpPr/>
          <p:nvPr/>
        </p:nvSpPr>
        <p:spPr>
          <a:xfrm>
            <a:off x="548640" y="50749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highlight"/>
          <p:cNvSpPr txBox="1"/>
          <p:nvPr/>
        </p:nvSpPr>
        <p:spPr>
          <a:xfrm>
            <a:off x="749808" y="5166359"/>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Les outils automatiques filtrent ; la checklist et la vérification humaine concluent.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5</a:t>
            </a:r>
          </a:p>
        </p:txBody>
      </p:sp>
      <p:sp>
        <p:nvSpPr>
          <p:cNvPr id="9" name="DSFR-accent-decoratif" descr=""/>
          <p:cNvSpPr/>
          <p:nvPr/>
        </p:nvSpPr>
        <p:spPr>
          <a:xfrm>
            <a:off x="475488" y="50749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5 - Propriétés et vérificateur Word</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5</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75</a:t>
            </a:r>
            <a:endParaRPr lang="fr-FR" dirty="0"/>
          </a:p>
        </p:txBody>
      </p:sp>
      <p:sp>
        <p:nvSpPr>
          <p:cNvPr id="9" name="DSFR-box"/>
          <p:cNvSpPr/>
          <p:nvPr/>
        </p:nvSpPr>
        <p:spPr>
          <a:xfrm>
            <a:off x="548640" y="2103120"/>
            <a:ext cx="5390388" cy="2926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P-19 [P] - Renseigner les propriétés et le nom du fichier</a:t>
            </a:r>
          </a:p>
        </p:txBody>
      </p:sp>
      <p:sp>
        <p:nvSpPr>
          <p:cNvPr id="11" name="DSFR-card-contenu"/>
          <p:cNvSpPr txBox="1"/>
          <p:nvPr/>
        </p:nvSpPr>
        <p:spPr>
          <a:xfrm>
            <a:off x="704088" y="2697479"/>
            <a:ext cx="5097779" cy="2240280"/>
          </a:xfrm>
          <a:prstGeom prst="rect">
            <a:avLst/>
          </a:prstGeom>
          <a:noFill/>
        </p:spPr>
        <p:txBody>
          <a:bodyPr wrap="square" lIns="73152" rIns="73152">
            <a:spAutoFit/>
          </a:bodyPr>
          <a:lstStyle/>
          <a:p>
            <a:pPr algn="l">
              <a:lnSpc>
                <a:spcPct val="107000"/>
              </a:lnSpc>
            </a:pPr>
            <a:r>
              <a:rPr sz="1400" lang="fr-FR">
                <a:solidFill>
                  <a:srgbClr val="161616"/>
                </a:solidFill>
                <a:latin typeface="Arial"/>
              </a:rPr>
              <a:t>• </a:t>
            </a:r>
            <a:r>
              <a:rPr sz="1400" b="0" lang="fr-FR">
                <a:solidFill>
                  <a:srgbClr val="161616"/>
                </a:solidFill>
                <a:latin typeface="Arial"/>
              </a:rPr>
              <a:t>Renseigner titre, auteur et langue puis enregistrer sous un nom descriptif.</a:t>
            </a:r>
          </a:p>
          <a:p>
            <a:pPr algn="l">
              <a:lnSpc>
                <a:spcPct val="107000"/>
              </a:lnSpc>
            </a:pPr>
            <a:r>
              <a:rPr sz="1400" lang="fr-FR">
                <a:solidFill>
                  <a:srgbClr val="161616"/>
                </a:solidFill>
                <a:latin typeface="Arial"/>
              </a:rPr>
              <a:t>• </a:t>
            </a:r>
            <a:r>
              <a:rPr sz="1400" b="0" lang="fr-FR">
                <a:solidFill>
                  <a:srgbClr val="161616"/>
                </a:solidFill>
                <a:latin typeface="Arial"/>
              </a:rPr>
              <a:t>Fichier &gt; Informations &gt; Propriétés &gt; Propriétés avancées, puis Fichier &gt; Enregistrer sous.</a:t>
            </a:r>
          </a:p>
          <a:p>
            <a:pPr algn="l">
              <a:lnSpc>
                <a:spcPct val="107000"/>
              </a:lnSpc>
            </a:pPr>
            <a:r>
              <a:rPr sz="1400" lang="fr-FR">
                <a:solidFill>
                  <a:srgbClr val="161616"/>
                </a:solidFill>
                <a:latin typeface="Arial"/>
              </a:rPr>
              <a:t>• </a:t>
            </a:r>
            <a:r>
              <a:rPr sz="1400" b="0" lang="fr-FR">
                <a:solidFill>
                  <a:srgbClr val="161616"/>
                </a:solidFill>
                <a:latin typeface="Arial"/>
              </a:rPr>
              <a:t>Preuve : Métadonnées inspectées dans le DOCX et nom de sortie relu.</a:t>
            </a:r>
          </a:p>
        </p:txBody>
      </p:sp>
      <p:sp>
        <p:nvSpPr>
          <p:cNvPr id="13" name="DSFR-box"/>
          <p:cNvSpPr/>
          <p:nvPr/>
        </p:nvSpPr>
        <p:spPr>
          <a:xfrm>
            <a:off x="6313931" y="2103120"/>
            <a:ext cx="5390388" cy="2926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C-01 [C] - Utiliser le vérificateur d'accessibilité Word</a:t>
            </a:r>
          </a:p>
        </p:txBody>
      </p:sp>
      <p:sp>
        <p:nvSpPr>
          <p:cNvPr id="15" name="DSFR-card-contenu"/>
          <p:cNvSpPr txBox="1"/>
          <p:nvPr/>
        </p:nvSpPr>
        <p:spPr>
          <a:xfrm>
            <a:off x="6469379" y="2697479"/>
            <a:ext cx="5097779" cy="2240280"/>
          </a:xfrm>
          <a:prstGeom prst="rect">
            <a:avLst/>
          </a:prstGeom>
          <a:noFill/>
        </p:spPr>
        <p:txBody>
          <a:bodyPr wrap="square" lIns="73152" rIns="73152">
            <a:spAutoFit/>
          </a:bodyPr>
          <a:lstStyle/>
          <a:p>
            <a:pPr algn="l">
              <a:lnSpc>
                <a:spcPct val="107000"/>
              </a:lnSpc>
            </a:pPr>
            <a:r>
              <a:rPr sz="1400" lang="fr-FR">
                <a:solidFill>
                  <a:srgbClr val="161616"/>
                </a:solidFill>
                <a:latin typeface="Arial"/>
              </a:rPr>
              <a:t>• </a:t>
            </a:r>
            <a:r>
              <a:rPr sz="1400" b="0" lang="fr-FR">
                <a:solidFill>
                  <a:srgbClr val="161616"/>
                </a:solidFill>
                <a:latin typeface="Arial"/>
              </a:rPr>
              <a:t>Traiter les alertes pertinentes et expliquer toute alerte résiduelle ; viser zéro erreur sans en faire une preuve de conformité.</a:t>
            </a:r>
          </a:p>
          <a:p>
            <a:pPr algn="l">
              <a:lnSpc>
                <a:spcPct val="107000"/>
              </a:lnSpc>
            </a:pPr>
            <a:r>
              <a:rPr sz="1400" lang="fr-FR">
                <a:solidFill>
                  <a:srgbClr val="161616"/>
                </a:solidFill>
                <a:latin typeface="Arial"/>
              </a:rPr>
              <a:t>• </a:t>
            </a:r>
            <a:r>
              <a:rPr sz="1400" b="0" lang="fr-FR">
                <a:solidFill>
                  <a:srgbClr val="161616"/>
                </a:solidFill>
                <a:latin typeface="Arial"/>
              </a:rPr>
              <a:t>Révision &gt; Vérifier l'accessibilité, parcourir chaque résultat et utiliser les actions recommandées avec discernement.</a:t>
            </a:r>
          </a:p>
          <a:p>
            <a:pPr algn="l">
              <a:lnSpc>
                <a:spcPct val="107000"/>
              </a:lnSpc>
            </a:pPr>
            <a:r>
              <a:rPr sz="1400" lang="fr-FR">
                <a:solidFill>
                  <a:srgbClr val="161616"/>
                </a:solidFill>
                <a:latin typeface="Arial"/>
              </a:rPr>
              <a:t>• </a:t>
            </a:r>
            <a:r>
              <a:rPr sz="1400" b="0" lang="fr-FR">
                <a:solidFill>
                  <a:srgbClr val="161616"/>
                </a:solidFill>
                <a:latin typeface="Arial"/>
              </a:rPr>
              <a:t>Preuve : Relevé du vérificateur conservé et alertes résiduelles justifiées.</a:t>
            </a:r>
          </a:p>
        </p:txBody>
      </p:sp>
      <p:sp>
        <p:nvSpPr>
          <p:cNvPr id="16" name="DSFR-texte-libre"/>
          <p:cNvSpPr txBox="1"/>
          <p:nvPr/>
        </p:nvSpPr>
        <p:spPr>
          <a:xfrm>
            <a:off x="475488" y="5193792"/>
            <a:ext cx="11228832" cy="8229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Dans Writer - complément : Fichier &gt; Propriétés, puis Fichier &gt; Enregistrer sous. | Outils &gt; Vérification de l'accessibilité, parcourir les résultats et vérifier manuellement les points non couverts.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5</a:t>
            </a:r>
          </a:p>
        </p:txBody>
      </p:sp>
      <p:sp>
        <p:nvSpPr>
          <p:cNvPr id="8" name="DSFR-accent-decoratif" descr=""/>
          <p:cNvSpPr/>
          <p:nvPr/>
        </p:nvSpPr>
        <p:spPr>
          <a:xfrm>
            <a:off x="475488" y="2103120"/>
            <a:ext cx="73152" cy="2926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926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Station 5 - Exporter puis contrôler le PDF</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Station 5</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76</a:t>
            </a:r>
            <a:endParaRPr lang="fr-FR" dirty="0"/>
          </a:p>
        </p:txBody>
      </p:sp>
      <p:sp>
        <p:nvSpPr>
          <p:cNvPr id="9" name="DSFR-box"/>
          <p:cNvSpPr/>
          <p:nvPr/>
        </p:nvSpPr>
        <p:spPr>
          <a:xfrm>
            <a:off x="548640" y="2103120"/>
            <a:ext cx="5390388" cy="30175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P-20 [P] - Exporter un PDF structuré</a:t>
            </a:r>
          </a:p>
        </p:txBody>
      </p:sp>
      <p:sp>
        <p:nvSpPr>
          <p:cNvPr id="11" name="DSFR-card-contenu"/>
          <p:cNvSpPr txBox="1"/>
          <p:nvPr/>
        </p:nvSpPr>
        <p:spPr>
          <a:xfrm>
            <a:off x="704088" y="2697479"/>
            <a:ext cx="5097779" cy="2331720"/>
          </a:xfrm>
          <a:prstGeom prst="rect">
            <a:avLst/>
          </a:prstGeom>
          <a:noFill/>
        </p:spPr>
        <p:txBody>
          <a:bodyPr wrap="square" lIns="73152" rIns="73152">
            <a:spAutoFit/>
          </a:bodyPr>
          <a:lstStyle/>
          <a:p>
            <a:pPr algn="l">
              <a:lnSpc>
                <a:spcPct val="107000"/>
              </a:lnSpc>
            </a:pPr>
            <a:r>
              <a:rPr sz="1400" lang="fr-FR">
                <a:solidFill>
                  <a:srgbClr val="161616"/>
                </a:solidFill>
                <a:latin typeface="Arial"/>
              </a:rPr>
              <a:t>• </a:t>
            </a:r>
            <a:r>
              <a:rPr sz="1400" b="0" lang="fr-FR">
                <a:solidFill>
                  <a:srgbClr val="161616"/>
                </a:solidFill>
                <a:latin typeface="Arial"/>
              </a:rPr>
              <a:t>Exporter avec propriétés, balises de structure et signets générés depuis les titres.</a:t>
            </a:r>
          </a:p>
          <a:p>
            <a:pPr algn="l">
              <a:lnSpc>
                <a:spcPct val="107000"/>
              </a:lnSpc>
            </a:pPr>
            <a:r>
              <a:rPr sz="1400" lang="fr-FR">
                <a:solidFill>
                  <a:srgbClr val="161616"/>
                </a:solidFill>
                <a:latin typeface="Arial"/>
              </a:rPr>
              <a:t>• </a:t>
            </a:r>
            <a:r>
              <a:rPr sz="1400" b="0" lang="fr-FR">
                <a:solidFill>
                  <a:srgbClr val="161616"/>
                </a:solidFill>
                <a:latin typeface="Arial"/>
              </a:rPr>
              <a:t>Vérifier les propriétés dans Fichier &gt; Informations, puis Fichier &gt; Enregistrer sous ou Exporter &gt; PDF &gt; Options et activer les balises de structure ainsi que les signets issus des titres.</a:t>
            </a:r>
          </a:p>
          <a:p>
            <a:pPr algn="l">
              <a:lnSpc>
                <a:spcPct val="107000"/>
              </a:lnSpc>
            </a:pPr>
            <a:r>
              <a:rPr sz="1400" lang="fr-FR">
                <a:solidFill>
                  <a:srgbClr val="161616"/>
                </a:solidFill>
                <a:latin typeface="Arial"/>
              </a:rPr>
              <a:t>• </a:t>
            </a:r>
            <a:r>
              <a:rPr sz="1400" b="0" lang="fr-FR">
                <a:solidFill>
                  <a:srgbClr val="161616"/>
                </a:solidFill>
                <a:latin typeface="Arial"/>
              </a:rPr>
              <a:t>Preuve : Propriétés et structure inspectées dans le PDF</a:t>
            </a:r>
          </a:p>
        </p:txBody>
      </p:sp>
      <p:sp>
        <p:nvSpPr>
          <p:cNvPr id="13" name="DSFR-box"/>
          <p:cNvSpPr/>
          <p:nvPr/>
        </p:nvSpPr>
        <p:spPr>
          <a:xfrm>
            <a:off x="6313931" y="2103120"/>
            <a:ext cx="5390388" cy="30175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C-02 [C] - Contrôler le PDF après export</a:t>
            </a:r>
          </a:p>
        </p:txBody>
      </p:sp>
      <p:sp>
        <p:nvSpPr>
          <p:cNvPr id="15" name="DSFR-card-contenu"/>
          <p:cNvSpPr txBox="1"/>
          <p:nvPr/>
        </p:nvSpPr>
        <p:spPr>
          <a:xfrm>
            <a:off x="6469379" y="2697479"/>
            <a:ext cx="5097779" cy="2331720"/>
          </a:xfrm>
          <a:prstGeom prst="rect">
            <a:avLst/>
          </a:prstGeom>
          <a:noFill/>
        </p:spPr>
        <p:txBody>
          <a:bodyPr wrap="square" lIns="73152" rIns="73152">
            <a:spAutoFit/>
          </a:bodyPr>
          <a:lstStyle/>
          <a:p>
            <a:pPr algn="l">
              <a:lnSpc>
                <a:spcPct val="107000"/>
              </a:lnSpc>
            </a:pPr>
            <a:r>
              <a:rPr sz="1400" lang="fr-FR">
                <a:solidFill>
                  <a:srgbClr val="161616"/>
                </a:solidFill>
                <a:latin typeface="Arial"/>
              </a:rPr>
              <a:t>• </a:t>
            </a:r>
            <a:r>
              <a:rPr sz="1400" b="0" lang="fr-FR">
                <a:solidFill>
                  <a:srgbClr val="161616"/>
                </a:solidFill>
                <a:latin typeface="Arial"/>
              </a:rPr>
              <a:t>Contrôler avec PAC, ou Acrobat Pro en alternative, le titre, la langue, les balises et l'ordre de lecture, puis terminer par la checklist humaine.</a:t>
            </a:r>
          </a:p>
          <a:p>
            <a:pPr algn="l">
              <a:lnSpc>
                <a:spcPct val="107000"/>
              </a:lnSpc>
            </a:pPr>
            <a:r>
              <a:rPr sz="1400" lang="fr-FR">
                <a:solidFill>
                  <a:srgbClr val="161616"/>
                </a:solidFill>
                <a:latin typeface="Arial"/>
              </a:rPr>
              <a:t>• </a:t>
            </a:r>
            <a:r>
              <a:rPr sz="1400" b="0" lang="fr-FR">
                <a:solidFill>
                  <a:srgbClr val="161616"/>
                </a:solidFill>
                <a:latin typeface="Arial"/>
              </a:rPr>
              <a:t>Ouvrir le PDF exporté dans PAC ; utiliser Acrobat Pro comme alternative si PAC n'est pas disponible.</a:t>
            </a:r>
          </a:p>
          <a:p>
            <a:pPr algn="l">
              <a:lnSpc>
                <a:spcPct val="107000"/>
              </a:lnSpc>
            </a:pPr>
            <a:r>
              <a:rPr sz="1400" lang="fr-FR">
                <a:solidFill>
                  <a:srgbClr val="161616"/>
                </a:solidFill>
                <a:latin typeface="Arial"/>
              </a:rPr>
              <a:t>• </a:t>
            </a:r>
            <a:r>
              <a:rPr sz="1400" b="0" lang="fr-FR">
                <a:solidFill>
                  <a:srgbClr val="161616"/>
                </a:solidFill>
                <a:latin typeface="Arial"/>
              </a:rPr>
              <a:t>Preuve : Rapport PAC ou Acrobat conservé</a:t>
            </a:r>
          </a:p>
        </p:txBody>
      </p:sp>
      <p:sp>
        <p:nvSpPr>
          <p:cNvPr id="16" name="DSFR-texte-libre"/>
          <p:cNvSpPr txBox="1"/>
          <p:nvPr/>
        </p:nvSpPr>
        <p:spPr>
          <a:xfrm>
            <a:off x="475488" y="5230368"/>
            <a:ext cx="11228832" cy="8229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Dans Writer - complément : Vérifier les propriétés dans Fichier &gt; Propriétés, puis Fichier &gt; Exporter vers &gt; Exporter au format PDF et activer PDF balisé ainsi que l'export des repères. | Ouvrir le PDF exporté dans PAC ; utiliser Acrobat Pro comme alternative si PAC n'est pas disponible.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Station 5</a:t>
            </a:r>
          </a:p>
        </p:txBody>
      </p:sp>
      <p:sp>
        <p:nvSpPr>
          <p:cNvPr id="8" name="DSFR-accent-decoratif" descr=""/>
          <p:cNvSpPr/>
          <p:nvPr/>
        </p:nvSpPr>
        <p:spPr>
          <a:xfrm>
            <a:off x="475488" y="2103120"/>
            <a:ext cx="73152" cy="30175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30175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progressive - Stations 1 et 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77</a:t>
            </a:r>
            <a:endParaRPr lang="fr-FR" dirty="0"/>
          </a:p>
        </p:txBody>
      </p:sp>
      <p:sp>
        <p:nvSpPr>
          <p:cNvPr id="9" name="DSFR-box"/>
          <p:cNvSpPr/>
          <p:nvPr/>
        </p:nvSpPr>
        <p:spPr>
          <a:xfrm>
            <a:off x="548640" y="2103120"/>
            <a:ext cx="5390388" cy="374903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Structurer et naviguer</a:t>
            </a:r>
          </a:p>
        </p:txBody>
      </p:sp>
      <p:sp>
        <p:nvSpPr>
          <p:cNvPr id="11" name="DSFR-card-contenu"/>
          <p:cNvSpPr txBox="1"/>
          <p:nvPr/>
        </p:nvSpPr>
        <p:spPr>
          <a:xfrm>
            <a:off x="704088" y="2697479"/>
            <a:ext cx="5097779" cy="3063239"/>
          </a:xfrm>
          <a:prstGeom prst="rect">
            <a:avLst/>
          </a:prstGeom>
          <a:noFill/>
        </p:spPr>
        <p:txBody>
          <a:bodyPr wrap="square" lIns="73152" rIns="73152">
            <a:spAutoFit/>
          </a:bodyPr>
          <a:lstStyle/>
          <a:p>
            <a:pPr algn="l">
              <a:lnSpc>
                <a:spcPct val="105000"/>
              </a:lnSpc>
            </a:pPr>
            <a:r>
              <a:rPr sz="1400" lang="fr-FR">
                <a:solidFill>
                  <a:srgbClr val="161616"/>
                </a:solidFill>
                <a:latin typeface="Arial"/>
              </a:rPr>
              <a:t>• </a:t>
            </a:r>
            <a:r>
              <a:rPr sz="1400" b="0" lang="fr-FR">
                <a:solidFill>
                  <a:srgbClr val="161616"/>
                </a:solidFill>
                <a:latin typeface="Arial"/>
              </a:rPr>
              <a:t>P-01 [P] - Le titre principal et les titres de section utilisent des styles adaptés.</a:t>
            </a:r>
          </a:p>
          <a:p>
            <a:pPr algn="l">
              <a:lnSpc>
                <a:spcPct val="105000"/>
              </a:lnSpc>
            </a:pPr>
            <a:r>
              <a:rPr sz="1400" lang="fr-FR">
                <a:solidFill>
                  <a:srgbClr val="161616"/>
                </a:solidFill>
                <a:latin typeface="Arial"/>
              </a:rPr>
              <a:t>• </a:t>
            </a:r>
            <a:r>
              <a:rPr sz="1400" b="0" lang="fr-FR">
                <a:solidFill>
                  <a:srgbClr val="161616"/>
                </a:solidFill>
                <a:latin typeface="Arial"/>
              </a:rPr>
              <a:t>P-02 [P] - La hiérarchie des titres ne saute aucun niveau.</a:t>
            </a:r>
          </a:p>
          <a:p>
            <a:pPr algn="l">
              <a:lnSpc>
                <a:spcPct val="105000"/>
              </a:lnSpc>
            </a:pPr>
            <a:r>
              <a:rPr sz="1400" lang="fr-FR">
                <a:solidFill>
                  <a:srgbClr val="161616"/>
                </a:solidFill>
                <a:latin typeface="Arial"/>
              </a:rPr>
              <a:t>• </a:t>
            </a:r>
            <a:r>
              <a:rPr sz="1400" b="0" lang="fr-FR">
                <a:solidFill>
                  <a:srgbClr val="161616"/>
                </a:solidFill>
                <a:latin typeface="Arial"/>
              </a:rPr>
              <a:t>P-03 [P] - Le volet de navigation et le sommaire automatique reflètent le même plan.</a:t>
            </a:r>
          </a:p>
          <a:p>
            <a:pPr algn="l">
              <a:lnSpc>
                <a:spcPct val="105000"/>
              </a:lnSpc>
            </a:pPr>
            <a:r>
              <a:rPr sz="1400" lang="fr-FR">
                <a:solidFill>
                  <a:srgbClr val="161616"/>
                </a:solidFill>
                <a:latin typeface="Arial"/>
              </a:rPr>
              <a:t>• </a:t>
            </a:r>
            <a:r>
              <a:rPr sz="1400" b="0" lang="fr-FR">
                <a:solidFill>
                  <a:srgbClr val="161616"/>
                </a:solidFill>
                <a:latin typeface="Arial"/>
              </a:rPr>
              <a:t>P-04 [P] - Les listes sont créées avec les fonctions de puces ou de numérotation.</a:t>
            </a:r>
          </a:p>
          <a:p>
            <a:pPr algn="l">
              <a:lnSpc>
                <a:spcPct val="105000"/>
              </a:lnSpc>
            </a:pPr>
            <a:r>
              <a:rPr sz="1400" lang="fr-FR">
                <a:solidFill>
                  <a:srgbClr val="161616"/>
                </a:solidFill>
                <a:latin typeface="Arial"/>
              </a:rPr>
              <a:t>• </a:t>
            </a:r>
            <a:r>
              <a:rPr sz="1400" b="0" lang="fr-FR">
                <a:solidFill>
                  <a:srgbClr val="161616"/>
                </a:solidFill>
                <a:latin typeface="Arial"/>
              </a:rPr>
              <a:t>P-05 [P] - La mise en page n'est pas simulée par des caractères ou des paragraphes vides.</a:t>
            </a:r>
          </a:p>
        </p:txBody>
      </p:sp>
      <p:sp>
        <p:nvSpPr>
          <p:cNvPr id="13" name="DSFR-box"/>
          <p:cNvSpPr/>
          <p:nvPr/>
        </p:nvSpPr>
        <p:spPr>
          <a:xfrm>
            <a:off x="6313931" y="2103120"/>
            <a:ext cx="5390388" cy="374903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Rendre les contenus et les liens compréhensibles</a:t>
            </a:r>
          </a:p>
        </p:txBody>
      </p:sp>
      <p:sp>
        <p:nvSpPr>
          <p:cNvPr id="15" name="DSFR-card-contenu"/>
          <p:cNvSpPr txBox="1"/>
          <p:nvPr/>
        </p:nvSpPr>
        <p:spPr>
          <a:xfrm>
            <a:off x="6469379" y="2697479"/>
            <a:ext cx="5097779" cy="3063239"/>
          </a:xfrm>
          <a:prstGeom prst="rect">
            <a:avLst/>
          </a:prstGeom>
          <a:noFill/>
        </p:spPr>
        <p:txBody>
          <a:bodyPr wrap="square" lIns="73152" rIns="73152">
            <a:spAutoFit/>
          </a:bodyPr>
          <a:lstStyle/>
          <a:p>
            <a:pPr algn="l">
              <a:lnSpc>
                <a:spcPct val="105000"/>
              </a:lnSpc>
            </a:pPr>
            <a:r>
              <a:rPr sz="1400" lang="fr-FR">
                <a:solidFill>
                  <a:srgbClr val="161616"/>
                </a:solidFill>
                <a:latin typeface="Arial"/>
              </a:rPr>
              <a:t>• </a:t>
            </a:r>
            <a:r>
              <a:rPr sz="1400" b="0" lang="fr-FR">
                <a:solidFill>
                  <a:srgbClr val="161616"/>
                </a:solidFill>
                <a:latin typeface="Arial"/>
              </a:rPr>
              <a:t>P-06 [P] - Chaque image informative simple possède une alternative pertinente.</a:t>
            </a:r>
          </a:p>
          <a:p>
            <a:pPr algn="l">
              <a:lnSpc>
                <a:spcPct val="105000"/>
              </a:lnSpc>
            </a:pPr>
            <a:r>
              <a:rPr sz="1400" lang="fr-FR">
                <a:solidFill>
                  <a:srgbClr val="161616"/>
                </a:solidFill>
                <a:latin typeface="Arial"/>
              </a:rPr>
              <a:t>• </a:t>
            </a:r>
            <a:r>
              <a:rPr sz="1400" b="0" lang="fr-FR">
                <a:solidFill>
                  <a:srgbClr val="161616"/>
                </a:solidFill>
                <a:latin typeface="Arial"/>
              </a:rPr>
              <a:t>P-07 [P] - Une image complexe possède une alternative courte et une description détaillée adjacente.</a:t>
            </a:r>
          </a:p>
          <a:p>
            <a:pPr algn="l">
              <a:lnSpc>
                <a:spcPct val="105000"/>
              </a:lnSpc>
            </a:pPr>
            <a:r>
              <a:rPr sz="1400" lang="fr-FR">
                <a:solidFill>
                  <a:srgbClr val="161616"/>
                </a:solidFill>
                <a:latin typeface="Arial"/>
              </a:rPr>
              <a:t>• </a:t>
            </a:r>
            <a:r>
              <a:rPr sz="1400" b="0" lang="fr-FR">
                <a:solidFill>
                  <a:srgbClr val="161616"/>
                </a:solidFill>
                <a:latin typeface="Arial"/>
              </a:rPr>
              <a:t>P-08 [P] - Les images redondantes sont traitées comme décoratives sans masquer d'information.</a:t>
            </a:r>
          </a:p>
          <a:p>
            <a:pPr algn="l">
              <a:lnSpc>
                <a:spcPct val="105000"/>
              </a:lnSpc>
            </a:pPr>
            <a:r>
              <a:rPr sz="1400" lang="fr-FR">
                <a:solidFill>
                  <a:srgbClr val="161616"/>
                </a:solidFill>
                <a:latin typeface="Arial"/>
              </a:rPr>
              <a:t>• </a:t>
            </a:r>
            <a:r>
              <a:rPr sz="1400" b="0" lang="fr-FR">
                <a:solidFill>
                  <a:srgbClr val="161616"/>
                </a:solidFill>
                <a:latin typeface="Arial"/>
              </a:rPr>
              <a:t>P-09 [P] - Les informations textuelles sont fournies en vrai texte, pas seulement en image.</a:t>
            </a:r>
          </a:p>
          <a:p>
            <a:pPr algn="l">
              <a:lnSpc>
                <a:spcPct val="105000"/>
              </a:lnSpc>
            </a:pPr>
            <a:r>
              <a:rPr sz="1400" lang="fr-FR">
                <a:solidFill>
                  <a:srgbClr val="161616"/>
                </a:solidFill>
                <a:latin typeface="Arial"/>
              </a:rPr>
              <a:t>• </a:t>
            </a:r>
            <a:r>
              <a:rPr sz="1400" b="0" lang="fr-FR">
                <a:solidFill>
                  <a:srgbClr val="161616"/>
                </a:solidFill>
                <a:latin typeface="Arial"/>
              </a:rPr>
              <a:t>P-10 [P] - Chaque lien est compréhensible hors contexte et chaque téléchargement est décrit.</a:t>
            </a:r>
          </a:p>
          <a:p>
            <a:pPr algn="l">
              <a:lnSpc>
                <a:spcPct val="105000"/>
              </a:lnSpc>
            </a:pPr>
            <a:r>
              <a:rPr sz="1400" lang="fr-FR">
                <a:solidFill>
                  <a:srgbClr val="161616"/>
                </a:solidFill>
                <a:latin typeface="Arial"/>
              </a:rPr>
              <a:t>• </a:t>
            </a:r>
            <a:r>
              <a:rPr sz="1400" b="0" lang="fr-FR">
                <a:solidFill>
                  <a:srgbClr val="161616"/>
                </a:solidFill>
                <a:latin typeface="Arial"/>
              </a:rPr>
              <a:t>P-11 [P] - Toute information essentielle portée par un en-tête, un filigrane ou un arrière-plan est aussi présente dans le corps.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Checklist</a:t>
            </a:r>
          </a:p>
        </p:txBody>
      </p:sp>
      <p:sp>
        <p:nvSpPr>
          <p:cNvPr id="8" name="DSFR-accent-decoratif" descr=""/>
          <p:cNvSpPr/>
          <p:nvPr/>
        </p:nvSpPr>
        <p:spPr>
          <a:xfrm>
            <a:off x="475488" y="2103120"/>
            <a:ext cx="73152" cy="374903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374903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progressive - Stations 3 et 4</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78</a:t>
            </a:r>
            <a:endParaRPr lang="fr-FR" dirty="0"/>
          </a:p>
        </p:txBody>
      </p:sp>
      <p:sp>
        <p:nvSpPr>
          <p:cNvPr id="9" name="DSFR-box"/>
          <p:cNvSpPr/>
          <p:nvPr/>
        </p:nvSpPr>
        <p:spPr>
          <a:xfrm>
            <a:off x="548640" y="2103120"/>
            <a:ext cx="5390388" cy="374903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Sécuriser couleurs, graphiques et tableaux</a:t>
            </a:r>
          </a:p>
        </p:txBody>
      </p:sp>
      <p:sp>
        <p:nvSpPr>
          <p:cNvPr id="11" name="DSFR-card-contenu"/>
          <p:cNvSpPr txBox="1"/>
          <p:nvPr/>
        </p:nvSpPr>
        <p:spPr>
          <a:xfrm>
            <a:off x="704088" y="2697479"/>
            <a:ext cx="5097779" cy="3063239"/>
          </a:xfrm>
          <a:prstGeom prst="rect">
            <a:avLst/>
          </a:prstGeom>
          <a:noFill/>
        </p:spPr>
        <p:txBody>
          <a:bodyPr wrap="square" lIns="73152" rIns="73152">
            <a:spAutoFit/>
          </a:bodyPr>
          <a:lstStyle/>
          <a:p>
            <a:pPr algn="l">
              <a:lnSpc>
                <a:spcPct val="105000"/>
              </a:lnSpc>
            </a:pPr>
            <a:r>
              <a:rPr sz="1400" lang="fr-FR">
                <a:solidFill>
                  <a:srgbClr val="161616"/>
                </a:solidFill>
                <a:latin typeface="Arial"/>
              </a:rPr>
              <a:t>• </a:t>
            </a:r>
            <a:r>
              <a:rPr sz="1400" b="0" lang="fr-FR">
                <a:solidFill>
                  <a:srgbClr val="161616"/>
                </a:solidFill>
                <a:latin typeface="Arial"/>
              </a:rPr>
              <a:t>P-12 [P] - Les contrastes sont mesurés et atteignent le seuil correspondant au contenu.</a:t>
            </a:r>
          </a:p>
          <a:p>
            <a:pPr algn="l">
              <a:lnSpc>
                <a:spcPct val="105000"/>
              </a:lnSpc>
            </a:pPr>
            <a:r>
              <a:rPr sz="1400" lang="fr-FR">
                <a:solidFill>
                  <a:srgbClr val="161616"/>
                </a:solidFill>
                <a:latin typeface="Arial"/>
              </a:rPr>
              <a:t>• </a:t>
            </a:r>
            <a:r>
              <a:rPr sz="1400" b="0" lang="fr-FR">
                <a:solidFill>
                  <a:srgbClr val="161616"/>
                </a:solidFill>
                <a:latin typeface="Arial"/>
              </a:rPr>
              <a:t>P-13 [P] - Une information donnée par la couleur possède aussi un repère non coloré.</a:t>
            </a:r>
          </a:p>
          <a:p>
            <a:pPr algn="l">
              <a:lnSpc>
                <a:spcPct val="105000"/>
              </a:lnSpc>
            </a:pPr>
            <a:r>
              <a:rPr sz="1400" lang="fr-FR">
                <a:solidFill>
                  <a:srgbClr val="161616"/>
                </a:solidFill>
                <a:latin typeface="Arial"/>
              </a:rPr>
              <a:t>• </a:t>
            </a:r>
            <a:r>
              <a:rPr sz="1400" b="0" lang="fr-FR">
                <a:solidFill>
                  <a:srgbClr val="161616"/>
                </a:solidFill>
                <a:latin typeface="Arial"/>
              </a:rPr>
              <a:t>P-14 [P] - Les tableaux de données sont simples, titrés et possèdent des en-têtes identifiés.</a:t>
            </a:r>
          </a:p>
        </p:txBody>
      </p:sp>
      <p:sp>
        <p:nvSpPr>
          <p:cNvPr id="13" name="DSFR-box"/>
          <p:cNvSpPr/>
          <p:nvPr/>
        </p:nvSpPr>
        <p:spPr>
          <a:xfrm>
            <a:off x="6313931" y="2103120"/>
            <a:ext cx="5390388" cy="374903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Régler langues et lisibilité</a:t>
            </a:r>
          </a:p>
        </p:txBody>
      </p:sp>
      <p:sp>
        <p:nvSpPr>
          <p:cNvPr id="15" name="DSFR-card-contenu"/>
          <p:cNvSpPr txBox="1"/>
          <p:nvPr/>
        </p:nvSpPr>
        <p:spPr>
          <a:xfrm>
            <a:off x="6469379" y="2697479"/>
            <a:ext cx="5097779" cy="3063239"/>
          </a:xfrm>
          <a:prstGeom prst="rect">
            <a:avLst/>
          </a:prstGeom>
          <a:noFill/>
        </p:spPr>
        <p:txBody>
          <a:bodyPr wrap="square" lIns="73152" rIns="73152">
            <a:spAutoFit/>
          </a:bodyPr>
          <a:lstStyle/>
          <a:p>
            <a:pPr algn="l">
              <a:lnSpc>
                <a:spcPct val="105000"/>
              </a:lnSpc>
            </a:pPr>
            <a:r>
              <a:rPr sz="1400" lang="fr-FR">
                <a:solidFill>
                  <a:srgbClr val="161616"/>
                </a:solidFill>
                <a:latin typeface="Arial"/>
              </a:rPr>
              <a:t>• </a:t>
            </a:r>
            <a:r>
              <a:rPr sz="1400" b="0" lang="fr-FR">
                <a:solidFill>
                  <a:srgbClr val="161616"/>
                </a:solidFill>
                <a:latin typeface="Arial"/>
              </a:rPr>
              <a:t>P-15 [P] - La langue principale et les changements de langue sont correctement définis.</a:t>
            </a:r>
          </a:p>
          <a:p>
            <a:pPr algn="l">
              <a:lnSpc>
                <a:spcPct val="105000"/>
              </a:lnSpc>
            </a:pPr>
            <a:r>
              <a:rPr sz="1400" lang="fr-FR">
                <a:solidFill>
                  <a:srgbClr val="161616"/>
                </a:solidFill>
                <a:latin typeface="Arial"/>
              </a:rPr>
              <a:t>• </a:t>
            </a:r>
            <a:r>
              <a:rPr sz="1400" b="0" lang="fr-FR">
                <a:solidFill>
                  <a:srgbClr val="161616"/>
                </a:solidFill>
                <a:latin typeface="Arial"/>
              </a:rPr>
              <a:t>P-16 [P] - Le corps utilise une police sans sérif, au moins 12 points, un interligne de 1,15 et un alignement à gauche.</a:t>
            </a:r>
          </a:p>
          <a:p>
            <a:pPr algn="l">
              <a:lnSpc>
                <a:spcPct val="105000"/>
              </a:lnSpc>
            </a:pPr>
            <a:r>
              <a:rPr sz="1400" lang="fr-FR">
                <a:solidFill>
                  <a:srgbClr val="161616"/>
                </a:solidFill>
                <a:latin typeface="Arial"/>
              </a:rPr>
              <a:t>• </a:t>
            </a:r>
            <a:r>
              <a:rPr sz="1400" b="0" lang="fr-FR">
                <a:solidFill>
                  <a:srgbClr val="161616"/>
                </a:solidFill>
                <a:latin typeface="Arial"/>
              </a:rPr>
              <a:t>P-17 [P] - Les mots sont saisis normalement avec leurs accents avant toute mise en forme en majuscules.</a:t>
            </a:r>
          </a:p>
          <a:p>
            <a:pPr algn="l">
              <a:lnSpc>
                <a:spcPct val="105000"/>
              </a:lnSpc>
            </a:pPr>
            <a:r>
              <a:rPr sz="1400" lang="fr-FR">
                <a:solidFill>
                  <a:srgbClr val="161616"/>
                </a:solidFill>
                <a:latin typeface="Arial"/>
              </a:rPr>
              <a:t>• </a:t>
            </a:r>
            <a:r>
              <a:rPr sz="1400" b="0" lang="fr-FR">
                <a:solidFill>
                  <a:srgbClr val="161616"/>
                </a:solidFill>
                <a:latin typeface="Arial"/>
              </a:rPr>
              <a:t>P-18 [P] - Les sigles sont développés à leur première occurrence et les majuscules sont vérifiées.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Checklist</a:t>
            </a:r>
          </a:p>
        </p:txBody>
      </p:sp>
      <p:sp>
        <p:nvSpPr>
          <p:cNvPr id="8" name="DSFR-accent-decoratif" descr=""/>
          <p:cNvSpPr/>
          <p:nvPr/>
        </p:nvSpPr>
        <p:spPr>
          <a:xfrm>
            <a:off x="475488" y="2103120"/>
            <a:ext cx="73152" cy="374903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374903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progressive - Station 5 et points signalés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79</a:t>
            </a:r>
            <a:endParaRPr lang="fr-FR" dirty="0"/>
          </a:p>
        </p:txBody>
      </p:sp>
      <p:sp>
        <p:nvSpPr>
          <p:cNvPr id="9" name="DSFR-box"/>
          <p:cNvSpPr/>
          <p:nvPr/>
        </p:nvSpPr>
        <p:spPr>
          <a:xfrm>
            <a:off x="548640" y="2103120"/>
            <a:ext cx="5390388" cy="374903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Finaliser, vérifier, exporter et contrôler</a:t>
            </a:r>
          </a:p>
        </p:txBody>
      </p:sp>
      <p:sp>
        <p:nvSpPr>
          <p:cNvPr id="11" name="DSFR-card-contenu"/>
          <p:cNvSpPr txBox="1"/>
          <p:nvPr/>
        </p:nvSpPr>
        <p:spPr>
          <a:xfrm>
            <a:off x="704088" y="2697479"/>
            <a:ext cx="5097779" cy="3063239"/>
          </a:xfrm>
          <a:prstGeom prst="rect">
            <a:avLst/>
          </a:prstGeom>
          <a:noFill/>
        </p:spPr>
        <p:txBody>
          <a:bodyPr wrap="square" lIns="73152" rIns="73152">
            <a:spAutoFit/>
          </a:bodyPr>
          <a:lstStyle/>
          <a:p>
            <a:pPr algn="l">
              <a:lnSpc>
                <a:spcPct val="105000"/>
              </a:lnSpc>
            </a:pPr>
            <a:r>
              <a:rPr sz="1400" lang="fr-FR">
                <a:solidFill>
                  <a:srgbClr val="161616"/>
                </a:solidFill>
                <a:latin typeface="Arial"/>
              </a:rPr>
              <a:t>• </a:t>
            </a:r>
            <a:r>
              <a:rPr sz="1400" b="0" lang="fr-FR">
                <a:solidFill>
                  <a:srgbClr val="161616"/>
                </a:solidFill>
                <a:latin typeface="Arial"/>
              </a:rPr>
              <a:t>P-19 [P] - Le titre, l'auteur, la langue et le nom de fichier sont renseignés de façon descriptive.</a:t>
            </a:r>
          </a:p>
          <a:p>
            <a:pPr algn="l">
              <a:lnSpc>
                <a:spcPct val="105000"/>
              </a:lnSpc>
            </a:pPr>
            <a:r>
              <a:rPr sz="1400" lang="fr-FR">
                <a:solidFill>
                  <a:srgbClr val="161616"/>
                </a:solidFill>
                <a:latin typeface="Arial"/>
              </a:rPr>
              <a:t>• </a:t>
            </a:r>
            <a:r>
              <a:rPr sz="1400" b="0" lang="fr-FR">
                <a:solidFill>
                  <a:srgbClr val="161616"/>
                </a:solidFill>
                <a:latin typeface="Arial"/>
              </a:rPr>
              <a:t>P-20 [P] - Le PDF est exporté avec ses propriétés, ses balises et ses signets.</a:t>
            </a:r>
          </a:p>
          <a:p>
            <a:pPr algn="l">
              <a:lnSpc>
                <a:spcPct val="105000"/>
              </a:lnSpc>
            </a:pPr>
            <a:r>
              <a:rPr sz="1400" lang="fr-FR">
                <a:solidFill>
                  <a:srgbClr val="161616"/>
                </a:solidFill>
                <a:latin typeface="Arial"/>
              </a:rPr>
              <a:t>• </a:t>
            </a:r>
            <a:r>
              <a:rPr sz="1400" b="0" lang="fr-FR">
                <a:solidFill>
                  <a:srgbClr val="161616"/>
                </a:solidFill>
                <a:latin typeface="Arial"/>
              </a:rPr>
              <a:t>C-01 [C] - Le vérificateur a été exécuté, ses alertes pertinentes traitées et les alertes résiduelles expliquées.</a:t>
            </a:r>
          </a:p>
          <a:p>
            <a:pPr algn="l">
              <a:lnSpc>
                <a:spcPct val="105000"/>
              </a:lnSpc>
            </a:pPr>
            <a:r>
              <a:rPr sz="1400" lang="fr-FR">
                <a:solidFill>
                  <a:srgbClr val="161616"/>
                </a:solidFill>
                <a:latin typeface="Arial"/>
              </a:rPr>
              <a:t>• </a:t>
            </a:r>
            <a:r>
              <a:rPr sz="1400" b="0" lang="fr-FR">
                <a:solidFill>
                  <a:srgbClr val="161616"/>
                </a:solidFill>
                <a:latin typeface="Arial"/>
              </a:rPr>
              <a:t>C-02 [C] - Le PDF a été contrôlé après export avec PAC ou Acrobat Pro puis avec la checklist humaine.</a:t>
            </a:r>
          </a:p>
        </p:txBody>
      </p:sp>
      <p:sp>
        <p:nvSpPr>
          <p:cNvPr id="13" name="DSFR-box"/>
          <p:cNvSpPr/>
          <p:nvPr/>
        </p:nvSpPr>
        <p:spPr>
          <a:xfrm>
            <a:off x="6313931" y="2103120"/>
            <a:ext cx="5390388" cy="374903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Contrôles signalés</a:t>
            </a:r>
          </a:p>
        </p:txBody>
      </p:sp>
      <p:sp>
        <p:nvSpPr>
          <p:cNvPr id="15" name="DSFR-card-contenu"/>
          <p:cNvSpPr txBox="1"/>
          <p:nvPr/>
        </p:nvSpPr>
        <p:spPr>
          <a:xfrm>
            <a:off x="6469379" y="2697479"/>
            <a:ext cx="5097779" cy="3063239"/>
          </a:xfrm>
          <a:prstGeom prst="rect">
            <a:avLst/>
          </a:prstGeom>
          <a:noFill/>
        </p:spPr>
        <p:txBody>
          <a:bodyPr wrap="square" lIns="73152" rIns="73152">
            <a:spAutoFit/>
          </a:bodyPr>
          <a:lstStyle/>
          <a:p>
            <a:pPr algn="l">
              <a:lnSpc>
                <a:spcPct val="105000"/>
              </a:lnSpc>
            </a:pPr>
            <a:r>
              <a:rPr sz="1400" lang="fr-FR">
                <a:solidFill>
                  <a:srgbClr val="161616"/>
                </a:solidFill>
                <a:latin typeface="Arial"/>
              </a:rPr>
              <a:t>• </a:t>
            </a:r>
            <a:r>
              <a:rPr sz="1400" b="0" lang="fr-FR">
                <a:solidFill>
                  <a:srgbClr val="161616"/>
                </a:solidFill>
                <a:latin typeface="Arial"/>
              </a:rPr>
              <a:t>S-01 [S] - Le document n'est pas protégé lorsque sa modification doit rester possible.</a:t>
            </a:r>
          </a:p>
          <a:p>
            <a:pPr algn="l">
              <a:lnSpc>
                <a:spcPct val="105000"/>
              </a:lnSpc>
            </a:pPr>
            <a:r>
              <a:rPr sz="1400" lang="fr-FR">
                <a:solidFill>
                  <a:srgbClr val="161616"/>
                </a:solidFill>
                <a:latin typeface="Arial"/>
              </a:rPr>
              <a:t>• </a:t>
            </a:r>
            <a:r>
              <a:rPr sz="1400" b="0" lang="fr-FR">
                <a:solidFill>
                  <a:srgbClr val="161616"/>
                </a:solidFill>
                <a:latin typeface="Arial"/>
              </a:rPr>
              <a:t>S-02 [S] - Le document ne contient aucun contenu clignotant.</a:t>
            </a:r>
          </a:p>
          <a:p>
            <a:pPr algn="l">
              <a:lnSpc>
                <a:spcPct val="105000"/>
              </a:lnSpc>
            </a:pPr>
            <a:r>
              <a:rPr sz="1400" lang="fr-FR">
                <a:solidFill>
                  <a:srgbClr val="161616"/>
                </a:solidFill>
                <a:latin typeface="Arial"/>
              </a:rPr>
              <a:t>• </a:t>
            </a:r>
            <a:r>
              <a:rPr sz="1400" b="0" lang="fr-FR">
                <a:solidFill>
                  <a:srgbClr val="161616"/>
                </a:solidFill>
                <a:latin typeface="Arial"/>
              </a:rPr>
              <a:t>S-03 [S] - Le document ne contient pas de formulaire Word interactif.</a:t>
            </a:r>
          </a:p>
          <a:p>
            <a:pPr algn="l">
              <a:lnSpc>
                <a:spcPct val="105000"/>
              </a:lnSpc>
            </a:pPr>
            <a:r>
              <a:rPr sz="1400" lang="fr-FR">
                <a:solidFill>
                  <a:srgbClr val="161616"/>
                </a:solidFill>
                <a:latin typeface="Arial"/>
              </a:rPr>
              <a:t>• </a:t>
            </a:r>
            <a:r>
              <a:rPr sz="1400" b="0" lang="fr-FR">
                <a:solidFill>
                  <a:srgbClr val="161616"/>
                </a:solidFill>
                <a:latin typeface="Arial"/>
              </a:rPr>
              <a:t>S-04 [S] - Les objets et zones de texte flottants ne portent aucune information essentielle.</a:t>
            </a:r>
          </a:p>
          <a:p>
            <a:pPr algn="l">
              <a:lnSpc>
                <a:spcPct val="105000"/>
              </a:lnSpc>
            </a:pPr>
            <a:r>
              <a:rPr sz="1400" lang="fr-FR">
                <a:solidFill>
                  <a:srgbClr val="161616"/>
                </a:solidFill>
                <a:latin typeface="Arial"/>
              </a:rPr>
              <a:t>• </a:t>
            </a:r>
            <a:r>
              <a:rPr sz="1400" b="0" lang="fr-FR">
                <a:solidFill>
                  <a:srgbClr val="161616"/>
                </a:solidFill>
                <a:latin typeface="Arial"/>
              </a:rPr>
              <a:t>S-05 [S] - Les tableaux ne servent pas à la mise en page et ne sont pas flottants.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Checklist</a:t>
            </a:r>
          </a:p>
        </p:txBody>
      </p:sp>
      <p:sp>
        <p:nvSpPr>
          <p:cNvPr id="8" name="DSFR-accent-decoratif" descr=""/>
          <p:cNvSpPr/>
          <p:nvPr/>
        </p:nvSpPr>
        <p:spPr>
          <a:xfrm>
            <a:off x="475488" y="2103120"/>
            <a:ext cx="73152" cy="374903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374903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Synthèse de la matinée - de l'intention à la preuve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Matin | Synthèse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80</a:t>
            </a:r>
            <a:endParaRPr lang="fr-FR" dirty="0"/>
          </a:p>
        </p:txBody>
      </p:sp>
      <p:sp>
        <p:nvSpPr>
          <p:cNvPr id="9" name="DSFR-box"/>
          <p:cNvSpPr/>
          <p:nvPr/>
        </p:nvSpPr>
        <p:spPr>
          <a:xfrm>
            <a:off x="548640" y="2103120"/>
            <a:ext cx="5390388" cy="24231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nous retenons</a:t>
            </a:r>
          </a:p>
        </p:txBody>
      </p:sp>
      <p:sp>
        <p:nvSpPr>
          <p:cNvPr id="11" name="DSFR-card-contenu"/>
          <p:cNvSpPr txBox="1"/>
          <p:nvPr/>
        </p:nvSpPr>
        <p:spPr>
          <a:xfrm>
            <a:off x="704088" y="2697479"/>
            <a:ext cx="5097779" cy="173736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L'environnement peut créer ou supprimer une situation de handicap</a:t>
            </a:r>
          </a:p>
          <a:p>
            <a:pPr algn="l">
              <a:lnSpc>
                <a:spcPct val="125000"/>
              </a:lnSpc>
            </a:pPr>
            <a:r>
              <a:rPr sz="1400" lang="fr-FR">
                <a:solidFill>
                  <a:srgbClr val="161616"/>
                </a:solidFill>
                <a:latin typeface="Arial"/>
              </a:rPr>
              <a:t>• </a:t>
            </a:r>
            <a:r>
              <a:rPr sz="1400" b="0" lang="fr-FR">
                <a:solidFill>
                  <a:srgbClr val="161616"/>
                </a:solidFill>
                <a:latin typeface="Arial"/>
              </a:rPr>
              <a:t>La structure et le sens comptent autant que l'apparence</a:t>
            </a:r>
          </a:p>
          <a:p>
            <a:pPr algn="l">
              <a:lnSpc>
                <a:spcPct val="125000"/>
              </a:lnSpc>
            </a:pPr>
            <a:r>
              <a:rPr sz="1400" lang="fr-FR">
                <a:solidFill>
                  <a:srgbClr val="161616"/>
                </a:solidFill>
                <a:latin typeface="Arial"/>
              </a:rPr>
              <a:t>• </a:t>
            </a:r>
            <a:r>
              <a:rPr sz="1400" b="0" lang="fr-FR">
                <a:solidFill>
                  <a:srgbClr val="161616"/>
                </a:solidFill>
                <a:latin typeface="Arial"/>
              </a:rPr>
              <a:t>Une correction doit produire une preuve vérifiable</a:t>
            </a:r>
          </a:p>
        </p:txBody>
      </p:sp>
      <p:sp>
        <p:nvSpPr>
          <p:cNvPr id="13" name="DSFR-box"/>
          <p:cNvSpPr/>
          <p:nvPr/>
        </p:nvSpPr>
        <p:spPr>
          <a:xfrm>
            <a:off x="6313931" y="2103120"/>
            <a:ext cx="5390388" cy="24231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Questions et transition</a:t>
            </a:r>
          </a:p>
        </p:txBody>
      </p:sp>
      <p:sp>
        <p:nvSpPr>
          <p:cNvPr id="15" name="DSFR-card-contenu"/>
          <p:cNvSpPr txBox="1"/>
          <p:nvPr/>
        </p:nvSpPr>
        <p:spPr>
          <a:xfrm>
            <a:off x="6469379" y="2697479"/>
            <a:ext cx="5097779" cy="173736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Quel réflexe allez-vous réutiliser dans votre prochain document ?</a:t>
            </a:r>
          </a:p>
          <a:p>
            <a:pPr algn="l">
              <a:lnSpc>
                <a:spcPct val="125000"/>
              </a:lnSpc>
            </a:pPr>
            <a:r>
              <a:rPr sz="1400" lang="fr-FR">
                <a:solidFill>
                  <a:srgbClr val="161616"/>
                </a:solidFill>
                <a:latin typeface="Arial"/>
              </a:rPr>
              <a:t>• </a:t>
            </a:r>
            <a:r>
              <a:rPr sz="1400" b="0" lang="fr-FR">
                <a:solidFill>
                  <a:srgbClr val="161616"/>
                </a:solidFill>
                <a:latin typeface="Arial"/>
              </a:rPr>
              <a:t>Quel point demande encore une clarification ?</a:t>
            </a:r>
          </a:p>
          <a:p>
            <a:pPr algn="l">
              <a:lnSpc>
                <a:spcPct val="125000"/>
              </a:lnSpc>
            </a:pPr>
            <a:r>
              <a:rPr sz="1400" lang="fr-FR">
                <a:solidFill>
                  <a:srgbClr val="161616"/>
                </a:solidFill>
                <a:latin typeface="Arial"/>
              </a:rPr>
              <a:t>• </a:t>
            </a:r>
            <a:r>
              <a:rPr sz="1400" b="0" lang="fr-FR">
                <a:solidFill>
                  <a:srgbClr val="161616"/>
                </a:solidFill>
                <a:latin typeface="Arial"/>
              </a:rPr>
              <a:t>Après les documents, nous appliquerons la même démarche au Web</a:t>
            </a:r>
          </a:p>
        </p:txBody>
      </p:sp>
      <p:sp>
        <p:nvSpPr>
          <p:cNvPr id="17" name="DSFR-box"/>
          <p:cNvSpPr/>
          <p:nvPr/>
        </p:nvSpPr>
        <p:spPr>
          <a:xfrm>
            <a:off x="548640" y="48920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983479"/>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Structurer, rendre compréhensible, vérifier avec les outils, puis contrôler humainement.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Synthèse de la matinée</a:t>
            </a:r>
          </a:p>
        </p:txBody>
      </p:sp>
      <p:sp>
        <p:nvSpPr>
          <p:cNvPr id="8" name="DSFR-accent-decoratif" descr=""/>
          <p:cNvSpPr/>
          <p:nvPr/>
        </p:nvSpPr>
        <p:spPr>
          <a:xfrm>
            <a:off x="475488" y="2103120"/>
            <a:ext cx="73152" cy="24231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4231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8920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Partie III - Web accessible - TP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Partie III | Plan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81</a:t>
            </a:r>
            <a:endParaRPr lang="fr-FR" dirty="0"/>
          </a:p>
        </p:txBody>
      </p:sp>
      <p:sp>
        <p:nvSpPr>
          <p:cNvPr id="8" name="DSFR-stepper-pastille-1"/>
          <p:cNvSpPr/>
          <p:nvPr/>
        </p:nvSpPr>
        <p:spPr>
          <a:xfrm>
            <a:off x="115763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Repérer les erreurs fréquentes</a:t>
            </a:r>
          </a:p>
        </p:txBody>
      </p:sp>
      <p:sp>
        <p:nvSpPr>
          <p:cNvPr id="11" name="DSFR-stepper-pastille-2"/>
          <p:cNvSpPr/>
          <p:nvPr/>
        </p:nvSpPr>
        <p:spPr>
          <a:xfrm>
            <a:off x="346374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2781604"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Vérifier les images et les titres</a:t>
            </a:r>
          </a:p>
        </p:txBody>
      </p:sp>
      <p:sp>
        <p:nvSpPr>
          <p:cNvPr id="14" name="DSFR-stepper-pastille-3"/>
          <p:cNvSpPr/>
          <p:nvPr/>
        </p:nvSpPr>
        <p:spPr>
          <a:xfrm>
            <a:off x="5769864"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5087721"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Contrôler les contrastes, les liens et le clavier</a:t>
            </a:r>
          </a:p>
        </p:txBody>
      </p:sp>
      <p:sp>
        <p:nvSpPr>
          <p:cNvPr id="17" name="DSFR-stepper-pastille-4"/>
          <p:cNvSpPr/>
          <p:nvPr/>
        </p:nvSpPr>
        <p:spPr>
          <a:xfrm>
            <a:off x="807598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9" name="DSFR-stepper-texte-4"/>
          <p:cNvSpPr txBox="1"/>
          <p:nvPr/>
        </p:nvSpPr>
        <p:spPr>
          <a:xfrm>
            <a:off x="739383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Tester la langue, le zoom et les médias</a:t>
            </a:r>
          </a:p>
        </p:txBody>
      </p:sp>
      <p:sp>
        <p:nvSpPr>
          <p:cNvPr id="20" name="DSFR-stepper-pastille-5"/>
          <p:cNvSpPr/>
          <p:nvPr/>
        </p:nvSpPr>
        <p:spPr>
          <a:xfrm>
            <a:off x="1038209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5</a:t>
            </a:r>
          </a:p>
        </p:txBody>
      </p:sp>
      <p:sp>
        <p:nvSpPr>
          <p:cNvPr id="21" name="DSFR-stepper-texte-5"/>
          <p:cNvSpPr txBox="1"/>
          <p:nvPr/>
        </p:nvSpPr>
        <p:spPr>
          <a:xfrm>
            <a:off x="9699955"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Examiner les formulaires et réaliser un audit rapide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Partie III</a:t>
            </a:r>
          </a:p>
        </p:txBody>
      </p:sp>
      <p:sp>
        <p:nvSpPr>
          <p:cNvPr id="9" name="DSFR-stepper-connecteur-1-decoratif" descr=""/>
          <p:cNvSpPr/>
          <p:nvPr/>
        </p:nvSpPr>
        <p:spPr>
          <a:xfrm>
            <a:off x="179771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WebAIM Million 2026 : le constat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WebAIM Million 2026</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82</a:t>
            </a:r>
            <a:endParaRPr lang="fr-FR" dirty="0"/>
          </a:p>
        </p:txBody>
      </p:sp>
      <p:sp>
        <p:nvSpPr>
          <p:cNvPr id="8" name="DSFR-kpi-pave"/>
          <p:cNvSpPr/>
          <p:nvPr/>
        </p:nvSpPr>
        <p:spPr>
          <a:xfrm>
            <a:off x="475488"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95,9 %</a:t>
            </a:r>
          </a:p>
        </p:txBody>
      </p:sp>
      <p:sp>
        <p:nvSpPr>
          <p:cNvPr id="9" name="DSFR-kpi-label"/>
          <p:cNvSpPr txBox="1"/>
          <p:nvPr/>
        </p:nvSpPr>
        <p:spPr>
          <a:xfrm>
            <a:off x="475488"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des pages d’accueil ont au moins une erreur WCAG détectée</a:t>
            </a:r>
          </a:p>
        </p:txBody>
      </p:sp>
      <p:sp>
        <p:nvSpPr>
          <p:cNvPr id="10" name="DSFR-kpi-pave"/>
          <p:cNvSpPr/>
          <p:nvPr/>
        </p:nvSpPr>
        <p:spPr>
          <a:xfrm>
            <a:off x="4319015"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56,1</a:t>
            </a:r>
          </a:p>
        </p:txBody>
      </p:sp>
      <p:sp>
        <p:nvSpPr>
          <p:cNvPr id="11" name="DSFR-kpi-label"/>
          <p:cNvSpPr txBox="1"/>
          <p:nvPr/>
        </p:nvSpPr>
        <p:spPr>
          <a:xfrm>
            <a:off x="4319015"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erreurs détectées en moyenne par page d’accueil</a:t>
            </a:r>
          </a:p>
        </p:txBody>
      </p:sp>
      <p:sp>
        <p:nvSpPr>
          <p:cNvPr id="12" name="DSFR-kpi-pave"/>
          <p:cNvSpPr/>
          <p:nvPr/>
        </p:nvSpPr>
        <p:spPr>
          <a:xfrm>
            <a:off x="8162543"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1 437</a:t>
            </a:r>
          </a:p>
        </p:txBody>
      </p:sp>
      <p:sp>
        <p:nvSpPr>
          <p:cNvPr id="13" name="DSFR-kpi-label"/>
          <p:cNvSpPr txBox="1"/>
          <p:nvPr/>
        </p:nvSpPr>
        <p:spPr>
          <a:xfrm>
            <a:off x="8162543"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éléments par page en moyenne : la complexité augmente</a:t>
            </a:r>
          </a:p>
        </p:txBody>
      </p:sp>
      <p:sp>
        <p:nvSpPr>
          <p:cNvPr id="15" name="DSFR-box"/>
          <p:cNvSpPr/>
          <p:nvPr/>
        </p:nvSpPr>
        <p:spPr>
          <a:xfrm>
            <a:off x="548640" y="3566160"/>
            <a:ext cx="11155680"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704088" y="36576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Comment lire ces chiffres</a:t>
            </a:r>
          </a:p>
        </p:txBody>
      </p:sp>
      <p:sp>
        <p:nvSpPr>
          <p:cNvPr id="17" name="DSFR-callout-body"/>
          <p:cNvSpPr txBox="1"/>
          <p:nvPr/>
        </p:nvSpPr>
        <p:spPr>
          <a:xfrm>
            <a:off x="704088" y="4069080"/>
            <a:ext cx="10908792" cy="12412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WebAIM analyse automatiquement les pages d’accueil : c’est un thermomètre, pas un audit RGAA complet.</a:t>
            </a:r>
          </a:p>
          <a:p>
            <a:pPr algn="l">
              <a:lnSpc>
                <a:spcPct val="115000"/>
              </a:lnSpc>
            </a:pPr>
            <a:r>
              <a:rPr sz="1400" lang="fr-FR">
                <a:solidFill>
                  <a:srgbClr val="161616"/>
                </a:solidFill>
                <a:latin typeface="Arial"/>
              </a:rPr>
              <a:t>• </a:t>
            </a:r>
            <a:r>
              <a:rPr sz="1400" b="0" lang="fr-FR">
                <a:solidFill>
                  <a:srgbClr val="161616"/>
                </a:solidFill>
                <a:latin typeface="Arial"/>
              </a:rPr>
              <a:t>L’absence d’erreur détectée ne prouve pas qu’une page est accessible.</a:t>
            </a:r>
          </a:p>
          <a:p>
            <a:pPr algn="l">
              <a:lnSpc>
                <a:spcPct val="115000"/>
              </a:lnSpc>
            </a:pPr>
            <a:r>
              <a:rPr sz="1400" lang="fr-FR">
                <a:solidFill>
                  <a:srgbClr val="161616"/>
                </a:solidFill>
                <a:latin typeface="Arial"/>
              </a:rPr>
              <a:t>• </a:t>
            </a:r>
            <a:r>
              <a:rPr sz="1400" b="0" lang="fr-FR">
                <a:solidFill>
                  <a:srgbClr val="161616"/>
                </a:solidFill>
                <a:latin typeface="Arial"/>
              </a:rPr>
              <a:t>Mais la présence d’erreurs détectées révèle des barrières très probables pour les utilisateurs.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WebAIM</a:t>
            </a:r>
          </a:p>
        </p:txBody>
      </p:sp>
      <p:sp>
        <p:nvSpPr>
          <p:cNvPr id="14" name="DSFR-accent-decoratif" descr=""/>
          <p:cNvSpPr/>
          <p:nvPr/>
        </p:nvSpPr>
        <p:spPr>
          <a:xfrm>
            <a:off x="475488" y="3566160"/>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Six erreurs qui justifient les points de contrôle rapides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WebAIM Million 2026</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83</a:t>
            </a:r>
            <a:endParaRPr lang="fr-FR" dirty="0"/>
          </a:p>
        </p:txBody>
      </p:sp>
      <p:graphicFrame>
        <p:nvGraphicFramePr>
          <p:cNvPr id="8" name="Table 7"/>
          <p:cNvGraphicFramePr>
            <a:graphicFrameLocks noGrp="1"/>
          </p:cNvGraphicFramePr>
          <p:nvPr/>
        </p:nvGraphicFramePr>
        <p:xfrm>
          <a:off x="475488" y="2011680"/>
          <a:ext cx="11228832" cy="2752344"/>
        </p:xfrm>
        <a:graphic>
          <a:graphicData uri="http://schemas.openxmlformats.org/drawingml/2006/table">
            <a:tbl>
              <a:tblPr firstRow="1" bandRow="1">
                <a:tableStyleId>{5C22544A-7EE6-4342-B048-85BDC9FD1C3A}</a:tableStyleId>
              </a:tblPr>
              <a:tblGrid>
                <a:gridCol w="4023360"/>
                <a:gridCol w="2331720"/>
                <a:gridCol w="4873752"/>
              </a:tblGrid>
              <a:tr h="393192">
                <a:tc>
                  <a:txBody>
                    <a:bodyPr wrap="square" anchor="ctr" lIns="73152" rIns="73152"/>
                    <a:lstStyle/>
                    <a:p>
                      <a:pPr algn="l">
                        <a:lnSpc>
                          <a:spcPct val="125000"/>
                        </a:lnSpc>
                      </a:pPr>
                      <a:r>
                        <a:rPr sz="1400" b="1" i="0" lang="fr-FR">
                          <a:solidFill>
                            <a:srgbClr val="FFFFFF"/>
                          </a:solidFill>
                          <a:latin typeface="Arial"/>
                        </a:rPr>
                        <a:t>Erreur fréquente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Pages concernées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 d’entrée</a:t>
                      </a:r>
                    </a:p>
                  </a:txBody>
                  <a:tcPr marL="91440" marR="91440" marT="45720" marB="45720">
                    <a:solidFill>
                      <a:srgbClr val="000091"/>
                    </a:solidFill>
                  </a:tcPr>
                </a:tc>
              </a:tr>
              <a:tr h="393192">
                <a:tc>
                  <a:txBody>
                    <a:bodyPr wrap="square" anchor="ctr" lIns="73152" rIns="73152"/>
                    <a:lstStyle/>
                    <a:p>
                      <a:pPr algn="l">
                        <a:lnSpc>
                          <a:spcPct val="125000"/>
                        </a:lnSpc>
                      </a:pPr>
                      <a:r>
                        <a:rPr sz="1400" b="0" i="0" lang="fr-FR">
                          <a:solidFill>
                            <a:srgbClr val="161616"/>
                          </a:solidFill>
                          <a:latin typeface="Arial"/>
                        </a:rPr>
                        <a:t>Texte à faible contraste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83,9 %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Contraste</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Arial"/>
                        </a:rPr>
                        <a:t>Texte alternatif d’image manquant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53,1 %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Images</a:t>
                      </a:r>
                    </a:p>
                  </a:txBody>
                  <a:tcPr marL="91440" marR="91440" marT="45720" marB="45720">
                    <a:solidFill>
                      <a:srgbClr val="F5F5FE"/>
                    </a:solidFill>
                  </a:tcPr>
                </a:tc>
              </a:tr>
              <a:tr h="393192">
                <a:tc>
                  <a:txBody>
                    <a:bodyPr wrap="square" anchor="ctr" lIns="73152" rIns="73152"/>
                    <a:lstStyle/>
                    <a:p>
                      <a:pPr algn="l">
                        <a:lnSpc>
                          <a:spcPct val="125000"/>
                        </a:lnSpc>
                      </a:pPr>
                      <a:r>
                        <a:rPr sz="1400" b="0" i="0" lang="fr-FR">
                          <a:solidFill>
                            <a:srgbClr val="161616"/>
                          </a:solidFill>
                          <a:latin typeface="Arial"/>
                        </a:rPr>
                        <a:t>Étiquette de formulaire manquante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51 %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Formulaires</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Arial"/>
                        </a:rPr>
                        <a:t>Liens vides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46,3 %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Images / clavier (partiel)</a:t>
                      </a:r>
                    </a:p>
                  </a:txBody>
                  <a:tcPr marL="91440" marR="91440" marT="45720" marB="45720">
                    <a:solidFill>
                      <a:srgbClr val="F5F5FE"/>
                    </a:solidFill>
                  </a:tcPr>
                </a:tc>
              </a:tr>
              <a:tr h="393192">
                <a:tc>
                  <a:txBody>
                    <a:bodyPr wrap="square" anchor="ctr" lIns="73152" rIns="73152"/>
                    <a:lstStyle/>
                    <a:p>
                      <a:pPr algn="l">
                        <a:lnSpc>
                          <a:spcPct val="125000"/>
                        </a:lnSpc>
                      </a:pPr>
                      <a:r>
                        <a:rPr sz="1400" b="0" i="0" lang="fr-FR">
                          <a:solidFill>
                            <a:srgbClr val="161616"/>
                          </a:solidFill>
                          <a:latin typeface="Arial"/>
                        </a:rPr>
                        <a:t>Boutons vides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30,6 %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Clavier / formulaires (partiel)</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Arial"/>
                        </a:rPr>
                        <a:t>Langue du document absente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13,5 %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Langue</a:t>
                      </a:r>
                    </a:p>
                  </a:txBody>
                  <a:tcPr marL="91440" marR="91440" marT="45720" marB="45720">
                    <a:solidFill>
                      <a:srgbClr val="F5F5FE"/>
                    </a:solidFill>
                  </a:tcPr>
                </a:tc>
              </a:tr>
            </a:tbl>
          </a:graphicData>
        </a:graphic>
      </p:graphicFrame>
      <p:sp>
        <p:nvSpPr>
          <p:cNvPr id="10" name="DSFR-box"/>
          <p:cNvSpPr/>
          <p:nvPr/>
        </p:nvSpPr>
        <p:spPr>
          <a:xfrm>
            <a:off x="548640" y="4800600"/>
            <a:ext cx="11155680" cy="139400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704088" y="48920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retenir</a:t>
            </a:r>
          </a:p>
        </p:txBody>
      </p:sp>
      <p:sp>
        <p:nvSpPr>
          <p:cNvPr id="12" name="DSFR-callout-body"/>
          <p:cNvSpPr txBox="1"/>
          <p:nvPr/>
        </p:nvSpPr>
        <p:spPr>
          <a:xfrm>
            <a:off x="704088" y="530352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Ces six familles représentent 96 % des erreurs détectées par WebAIM.</a:t>
            </a:r>
          </a:p>
          <a:p>
            <a:pPr algn="l">
              <a:lnSpc>
                <a:spcPct val="115000"/>
              </a:lnSpc>
            </a:pPr>
            <a:r>
              <a:rPr sz="1400" lang="fr-FR">
                <a:solidFill>
                  <a:srgbClr val="161616"/>
                </a:solidFill>
                <a:latin typeface="Arial"/>
              </a:rPr>
              <a:t>• </a:t>
            </a:r>
            <a:r>
              <a:rPr sz="1400" b="0" lang="fr-FR">
                <a:solidFill>
                  <a:srgbClr val="161616"/>
                </a:solidFill>
                <a:latin typeface="Arial"/>
              </a:rPr>
              <a:t>Les points de contrôle rapides donnent une méthode courte pour les repérer sans audit complet.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WebAIM</a:t>
            </a:r>
          </a:p>
        </p:txBody>
      </p:sp>
      <p:sp>
        <p:nvSpPr>
          <p:cNvPr id="9" name="DSFR-accent-decoratif" descr=""/>
          <p:cNvSpPr/>
          <p:nvPr/>
        </p:nvSpPr>
        <p:spPr>
          <a:xfrm>
            <a:off x="475488" y="480060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Texte alternatif : 4 types d’images, 4 décisions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84</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texte alternatif est le sous-titre de l’image - sans lui, une partie du message devient muette.</a:t>
            </a:r>
          </a:p>
        </p:txBody>
      </p:sp>
      <p:sp>
        <p:nvSpPr>
          <p:cNvPr id="12" name="DSFR-box"/>
          <p:cNvSpPr/>
          <p:nvPr/>
        </p:nvSpPr>
        <p:spPr>
          <a:xfrm>
            <a:off x="548640"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704088"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Informative</a:t>
            </a:r>
          </a:p>
        </p:txBody>
      </p:sp>
      <p:sp>
        <p:nvSpPr>
          <p:cNvPr id="15" name="DSFR-card-contenu"/>
          <p:cNvSpPr txBox="1"/>
          <p:nvPr/>
        </p:nvSpPr>
        <p:spPr>
          <a:xfrm>
            <a:off x="704088"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Apporte une info : photo d’un bâtiment, graphique.
→ texte alternatif court.</a:t>
            </a:r>
          </a:p>
        </p:txBody>
      </p:sp>
      <p:sp>
        <p:nvSpPr>
          <p:cNvPr id="17" name="DSFR-box"/>
          <p:cNvSpPr/>
          <p:nvPr/>
        </p:nvSpPr>
        <p:spPr>
          <a:xfrm>
            <a:off x="3419856"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3575303"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Décorative</a:t>
            </a:r>
          </a:p>
        </p:txBody>
      </p:sp>
      <p:sp>
        <p:nvSpPr>
          <p:cNvPr id="20" name="DSFR-card-contenu"/>
          <p:cNvSpPr txBox="1"/>
          <p:nvPr/>
        </p:nvSpPr>
        <p:spPr>
          <a:xfrm>
            <a:off x="3575303"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Pure ambiance : séparateur, icône floue.
→ alt="" (vide).</a:t>
            </a:r>
          </a:p>
        </p:txBody>
      </p:sp>
      <p:sp>
        <p:nvSpPr>
          <p:cNvPr id="22" name="DSFR-box"/>
          <p:cNvSpPr/>
          <p:nvPr/>
        </p:nvSpPr>
        <p:spPr>
          <a:xfrm>
            <a:off x="6291071"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card-titre"/>
          <p:cNvSpPr txBox="1"/>
          <p:nvPr/>
        </p:nvSpPr>
        <p:spPr>
          <a:xfrm>
            <a:off x="6446519"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Fonctionnelle</a:t>
            </a:r>
          </a:p>
        </p:txBody>
      </p:sp>
      <p:sp>
        <p:nvSpPr>
          <p:cNvPr id="25" name="DSFR-card-contenu"/>
          <p:cNvSpPr txBox="1"/>
          <p:nvPr/>
        </p:nvSpPr>
        <p:spPr>
          <a:xfrm>
            <a:off x="6446519"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Dans un lien ou un bouton : logo cliquable, picto.
→ nommer l’action attendue.</a:t>
            </a:r>
          </a:p>
        </p:txBody>
      </p:sp>
      <p:sp>
        <p:nvSpPr>
          <p:cNvPr id="27" name="DSFR-box"/>
          <p:cNvSpPr/>
          <p:nvPr/>
        </p:nvSpPr>
        <p:spPr>
          <a:xfrm>
            <a:off x="9162287"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FR-card-titre"/>
          <p:cNvSpPr txBox="1"/>
          <p:nvPr/>
        </p:nvSpPr>
        <p:spPr>
          <a:xfrm>
            <a:off x="9317735"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Complexe</a:t>
            </a:r>
          </a:p>
        </p:txBody>
      </p:sp>
      <p:sp>
        <p:nvSpPr>
          <p:cNvPr id="30" name="DSFR-card-contenu"/>
          <p:cNvSpPr txBox="1"/>
          <p:nvPr/>
        </p:nvSpPr>
        <p:spPr>
          <a:xfrm>
            <a:off x="9317735"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Diagramme, schéma, infographie.
→ texte court + description longue à part.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Texte alternatif des images</a:t>
            </a:r>
          </a:p>
        </p:txBody>
      </p:sp>
      <p:sp>
        <p:nvSpPr>
          <p:cNvPr id="13" name="DSFR-card-numero"/>
          <p:cNvSpPr/>
          <p:nvPr/>
        </p:nvSpPr>
        <p:spPr>
          <a:xfrm>
            <a:off x="704088"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1</a:t>
            </a:r>
          </a:p>
        </p:txBody>
      </p:sp>
      <p:sp>
        <p:nvSpPr>
          <p:cNvPr id="18" name="DSFR-card-numero"/>
          <p:cNvSpPr/>
          <p:nvPr/>
        </p:nvSpPr>
        <p:spPr>
          <a:xfrm>
            <a:off x="3575303"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2</a:t>
            </a:r>
          </a:p>
        </p:txBody>
      </p:sp>
      <p:sp>
        <p:nvSpPr>
          <p:cNvPr id="23" name="DSFR-card-numero"/>
          <p:cNvSpPr/>
          <p:nvPr/>
        </p:nvSpPr>
        <p:spPr>
          <a:xfrm>
            <a:off x="6446519"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3</a:t>
            </a:r>
          </a:p>
        </p:txBody>
      </p:sp>
      <p:sp>
        <p:nvSpPr>
          <p:cNvPr id="28" name="DSFR-card-numero"/>
          <p:cNvSpPr/>
          <p:nvPr/>
        </p:nvSpPr>
        <p:spPr>
          <a:xfrm>
            <a:off x="9317735"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4</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3346703"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ccent-decoratif" descr=""/>
          <p:cNvSpPr/>
          <p:nvPr/>
        </p:nvSpPr>
        <p:spPr>
          <a:xfrm>
            <a:off x="6217919"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9089135"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Rédiger un texte alternatif qui sert vraiment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85</a:t>
            </a:r>
            <a:endParaRPr lang="fr-FR" dirty="0"/>
          </a:p>
        </p:txBody>
      </p:sp>
      <p:sp>
        <p:nvSpPr>
          <p:cNvPr id="9" name="DSFR-box"/>
          <p:cNvSpPr/>
          <p:nvPr/>
        </p:nvSpPr>
        <p:spPr>
          <a:xfrm>
            <a:off x="548640" y="210312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5 règles pour un texte alternatif utile :</a:t>
            </a:r>
          </a:p>
        </p:txBody>
      </p:sp>
      <p:sp>
        <p:nvSpPr>
          <p:cNvPr id="11" name="DSFR-callout-body"/>
          <p:cNvSpPr txBox="1"/>
          <p:nvPr/>
        </p:nvSpPr>
        <p:spPr>
          <a:xfrm>
            <a:off x="704088" y="2606039"/>
            <a:ext cx="10908792" cy="133731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Concis : une phrase courte, centrée sur l’information utile</a:t>
            </a:r>
          </a:p>
          <a:p>
            <a:pPr algn="l">
              <a:lnSpc>
                <a:spcPct val="125000"/>
              </a:lnSpc>
            </a:pPr>
            <a:r>
              <a:rPr sz="1400" lang="fr-FR">
                <a:solidFill>
                  <a:srgbClr val="161616"/>
                </a:solidFill>
                <a:latin typeface="Arial"/>
              </a:rPr>
              <a:t>• </a:t>
            </a:r>
            <a:r>
              <a:rPr sz="1400" b="0" lang="fr-FR">
                <a:solidFill>
                  <a:srgbClr val="161616"/>
                </a:solidFill>
                <a:latin typeface="Arial"/>
              </a:rPr>
              <a:t>Objectif : décrit, ne commente pas</a:t>
            </a:r>
          </a:p>
          <a:p>
            <a:pPr algn="l">
              <a:lnSpc>
                <a:spcPct val="125000"/>
              </a:lnSpc>
            </a:pPr>
            <a:r>
              <a:rPr sz="1400" lang="fr-FR">
                <a:solidFill>
                  <a:srgbClr val="161616"/>
                </a:solidFill>
                <a:latin typeface="Arial"/>
              </a:rPr>
              <a:t>• </a:t>
            </a:r>
            <a:r>
              <a:rPr sz="1400" b="0" lang="fr-FR">
                <a:solidFill>
                  <a:srgbClr val="161616"/>
                </a:solidFill>
                <a:latin typeface="Arial"/>
              </a:rPr>
              <a:t>Pas de « photo de » ni « image de » - le lecteur d’écran le dit déjà</a:t>
            </a:r>
          </a:p>
          <a:p>
            <a:pPr algn="l">
              <a:lnSpc>
                <a:spcPct val="125000"/>
              </a:lnSpc>
            </a:pPr>
            <a:r>
              <a:rPr sz="1400" lang="fr-FR">
                <a:solidFill>
                  <a:srgbClr val="161616"/>
                </a:solidFill>
                <a:latin typeface="Arial"/>
              </a:rPr>
              <a:t>• </a:t>
            </a:r>
            <a:r>
              <a:rPr sz="1400" b="0" lang="fr-FR">
                <a:solidFill>
                  <a:srgbClr val="161616"/>
                </a:solidFill>
                <a:latin typeface="Arial"/>
              </a:rPr>
              <a:t>Contextuel : ce qui compte dans cette page, pas tout ce qui est visible</a:t>
            </a:r>
          </a:p>
          <a:p>
            <a:pPr algn="l">
              <a:lnSpc>
                <a:spcPct val="125000"/>
              </a:lnSpc>
            </a:pPr>
            <a:r>
              <a:rPr sz="1400" lang="fr-FR">
                <a:solidFill>
                  <a:srgbClr val="161616"/>
                </a:solidFill>
                <a:latin typeface="Arial"/>
              </a:rPr>
              <a:t>• </a:t>
            </a:r>
            <a:r>
              <a:rPr sz="1400" b="0" lang="fr-FR">
                <a:solidFill>
                  <a:srgbClr val="161616"/>
                </a:solidFill>
                <a:latin typeface="Arial"/>
              </a:rPr>
              <a:t>Ponctué : point final, pour que le lecteur marque la pause</a:t>
            </a:r>
          </a:p>
        </p:txBody>
      </p:sp>
      <p:sp>
        <p:nvSpPr>
          <p:cNvPr id="13" name="DSFR-box"/>
          <p:cNvSpPr/>
          <p:nvPr/>
        </p:nvSpPr>
        <p:spPr>
          <a:xfrm>
            <a:off x="548640" y="459486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704088" y="46863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Piège fréquent</a:t>
            </a:r>
          </a:p>
        </p:txBody>
      </p:sp>
      <p:sp>
        <p:nvSpPr>
          <p:cNvPr id="15" name="DSFR-alert-warning-body"/>
          <p:cNvSpPr txBox="1"/>
          <p:nvPr/>
        </p:nvSpPr>
        <p:spPr>
          <a:xfrm>
            <a:off x="704088" y="509778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Un nom de fichier (IMG_4578.jpg) en guise de texte alternatif = information perdue</a:t>
            </a:r>
          </a:p>
          <a:p>
            <a:pPr algn="l">
              <a:lnSpc>
                <a:spcPct val="150000"/>
              </a:lnSpc>
            </a:pPr>
            <a:r>
              <a:rPr sz="1400" lang="fr-FR">
                <a:solidFill>
                  <a:srgbClr val="161616"/>
                </a:solidFill>
                <a:latin typeface="Arial"/>
              </a:rPr>
              <a:t>• </a:t>
            </a:r>
            <a:r>
              <a:rPr sz="1400" b="0" lang="fr-FR">
                <a:solidFill>
                  <a:srgbClr val="161616"/>
                </a:solidFill>
                <a:latin typeface="Arial"/>
              </a:rPr>
              <a:t>Un texte alternatif qui décrit la décoration au lieu du contenu utile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Texte alternatif des images</a:t>
            </a:r>
          </a:p>
        </p:txBody>
      </p:sp>
      <p:sp>
        <p:nvSpPr>
          <p:cNvPr id="8" name="DSFR-accent-decoratif" descr=""/>
          <p:cNvSpPr/>
          <p:nvPr/>
        </p:nvSpPr>
        <p:spPr>
          <a:xfrm>
            <a:off x="475488"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59486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Texte alternatif : passe ou échoue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86</a:t>
            </a:r>
            <a:endParaRPr lang="fr-FR" dirty="0"/>
          </a:p>
        </p:txBody>
      </p:sp>
      <p:graphicFrame>
        <p:nvGraphicFramePr>
          <p:cNvPr id="8" name="Table 7"/>
          <p:cNvGraphicFramePr>
            <a:graphicFrameLocks noGrp="1"/>
          </p:cNvGraphicFramePr>
          <p:nvPr/>
        </p:nvGraphicFramePr>
        <p:xfrm>
          <a:off x="475488" y="2194560"/>
          <a:ext cx="11228832" cy="3401568"/>
        </p:xfrm>
        <a:graphic>
          <a:graphicData uri="http://schemas.openxmlformats.org/drawingml/2006/table">
            <a:tbl>
              <a:tblPr firstRow="1" bandRow="1">
                <a:tableStyleId>{5C22544A-7EE6-4342-B048-85BDC9FD1C3A}</a:tableStyleId>
              </a:tblPr>
              <a:tblGrid>
                <a:gridCol w="3840480"/>
                <a:gridCol w="4187952"/>
                <a:gridCol w="3200400"/>
              </a:tblGrid>
              <a:tr h="566928">
                <a:tc>
                  <a:txBody>
                    <a:bodyPr wrap="square" anchor="ctr" lIns="73152" rIns="73152"/>
                    <a:lstStyle/>
                    <a:p>
                      <a:pPr algn="l">
                        <a:lnSpc>
                          <a:spcPct val="125000"/>
                        </a:lnSpc>
                      </a:pPr>
                      <a:r>
                        <a:rPr sz="1400" b="1" i="0" lang="fr-FR">
                          <a:solidFill>
                            <a:srgbClr val="FFFFFF"/>
                          </a:solidFill>
                          <a:latin typeface="Arial"/>
                        </a:rPr>
                        <a:t>Image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Alt proposé</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Verdict</a:t>
                      </a:r>
                    </a:p>
                  </a:txBody>
                  <a:tcPr marL="91440" marR="91440" marT="45720" marB="45720">
                    <a:solidFill>
                      <a:srgbClr val="000091"/>
                    </a:solidFill>
                  </a:tcPr>
                </a:tc>
              </a:tr>
              <a:tr h="566928">
                <a:tc>
                  <a:txBody>
                    <a:bodyPr wrap="square" anchor="ctr" lIns="73152" rIns="73152"/>
                    <a:lstStyle/>
                    <a:p>
                      <a:pPr algn="l">
                        <a:lnSpc>
                          <a:spcPct val="125000"/>
                        </a:lnSpc>
                      </a:pPr>
                      <a:r>
                        <a:rPr sz="1400" b="0" i="0" lang="fr-FR">
                          <a:solidFill>
                            <a:srgbClr val="161616"/>
                          </a:solidFill>
                          <a:latin typeface="Arial"/>
                        </a:rPr>
                        <a:t>Logo ministère dans l’en-tête (lien vers l’accueil)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alt="Ministère de l’Économie - Accueil"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OK - fonctionnelle, action nommée</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Photo d’illustration d’un article sur la fraude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alt="image"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KO - aucune information</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Arial"/>
                        </a:rPr>
                        <a:t>Séparateur graphique entre deux sections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alt=""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OK - décorative, alt vide</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Graphique de répartition budgétaire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alt="graphique montrant la répartition du budget 2026, voir détail ci-dessous"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OK - alt court + renvoi au détail</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Arial"/>
                        </a:rPr>
                        <a:t>Icône loupe dans un bouton de recherche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alt="loupe"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KO - décrit l’image, pas l’action (devrait être « Rechercher »)</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Texte alternatif des images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Titre de page : l’étiquette qui oriente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2. Titre de page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87</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titre de page est la 1ʳᵉ chose que lit un lecteur d’écran et la seule chose visible dans l’onglet.</a:t>
            </a:r>
          </a:p>
        </p:txBody>
      </p:sp>
      <p:sp>
        <p:nvSpPr>
          <p:cNvPr id="12" name="DSFR-box"/>
          <p:cNvSpPr/>
          <p:nvPr/>
        </p:nvSpPr>
        <p:spPr>
          <a:xfrm>
            <a:off x="548640" y="2875788"/>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96722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378708"/>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Chaque page a un titre unique, différent des autres pages du site</a:t>
            </a:r>
          </a:p>
          <a:p>
            <a:pPr algn="l">
              <a:lnSpc>
                <a:spcPct val="125000"/>
              </a:lnSpc>
            </a:pPr>
            <a:r>
              <a:rPr sz="1400" lang="fr-FR">
                <a:solidFill>
                  <a:srgbClr val="161616"/>
                </a:solidFill>
                <a:latin typeface="Arial"/>
              </a:rPr>
              <a:t>• </a:t>
            </a:r>
            <a:r>
              <a:rPr sz="1400" b="0" lang="fr-FR">
                <a:solidFill>
                  <a:srgbClr val="161616"/>
                </a:solidFill>
                <a:latin typeface="Arial"/>
              </a:rPr>
              <a:t>Le titre décrit le contenu puis le nom du site (« Déclarer - impots.gouv.fr »)</a:t>
            </a:r>
          </a:p>
          <a:p>
            <a:pPr algn="l">
              <a:lnSpc>
                <a:spcPct val="125000"/>
              </a:lnSpc>
            </a:pPr>
            <a:r>
              <a:rPr sz="1400" lang="fr-FR">
                <a:solidFill>
                  <a:srgbClr val="161616"/>
                </a:solidFill>
                <a:latin typeface="Arial"/>
              </a:rPr>
              <a:t>• </a:t>
            </a:r>
            <a:r>
              <a:rPr sz="1400" b="0" lang="fr-FR">
                <a:solidFill>
                  <a:srgbClr val="161616"/>
                </a:solidFill>
                <a:latin typeface="Arial"/>
              </a:rPr>
              <a:t>Il change quand le contenu principal change (recherche, étape de formulaire)</a:t>
            </a:r>
          </a:p>
        </p:txBody>
      </p:sp>
      <p:sp>
        <p:nvSpPr>
          <p:cNvPr id="16" name="DSFR-box"/>
          <p:cNvSpPr/>
          <p:nvPr/>
        </p:nvSpPr>
        <p:spPr>
          <a:xfrm>
            <a:off x="548640" y="4581144"/>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672583"/>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Exemples</a:t>
            </a:r>
          </a:p>
        </p:txBody>
      </p:sp>
      <p:sp>
        <p:nvSpPr>
          <p:cNvPr id="18" name="DSFR-alert-info-body"/>
          <p:cNvSpPr txBox="1"/>
          <p:nvPr/>
        </p:nvSpPr>
        <p:spPr>
          <a:xfrm>
            <a:off x="704088" y="5084064"/>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OK : « Résultats de recherche : accessibilité - Ministère de la Culture »</a:t>
            </a:r>
          </a:p>
          <a:p>
            <a:pPr algn="l">
              <a:lnSpc>
                <a:spcPct val="150000"/>
              </a:lnSpc>
            </a:pPr>
            <a:r>
              <a:rPr sz="1400" lang="fr-FR">
                <a:solidFill>
                  <a:srgbClr val="161616"/>
                </a:solidFill>
                <a:latin typeface="Arial"/>
              </a:rPr>
              <a:t>• </a:t>
            </a:r>
            <a:r>
              <a:rPr sz="1400" b="0" lang="fr-FR">
                <a:solidFill>
                  <a:srgbClr val="161616"/>
                </a:solidFill>
                <a:latin typeface="Arial"/>
              </a:rPr>
              <a:t>KO : « Accueil » sur chaque page du site</a:t>
            </a:r>
          </a:p>
          <a:p>
            <a:pPr algn="l">
              <a:lnSpc>
                <a:spcPct val="150000"/>
              </a:lnSpc>
            </a:pPr>
            <a:r>
              <a:rPr sz="1400" lang="fr-FR">
                <a:solidFill>
                  <a:srgbClr val="161616"/>
                </a:solidFill>
                <a:latin typeface="Arial"/>
              </a:rPr>
              <a:t>• </a:t>
            </a:r>
            <a:r>
              <a:rPr sz="1400" b="0" lang="fr-FR">
                <a:solidFill>
                  <a:srgbClr val="161616"/>
                </a:solidFill>
                <a:latin typeface="Arial"/>
              </a:rPr>
              <a:t>KO : « Untitled Document » (oubli fréquent sur les PDF)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Titre de page</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875788"/>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581144"/>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Titres : la hiérarchie qui structure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3. Titres et hiérarchie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88</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Un utilisateur de lecteur d’écran navigue de titre en titre comme on navigue dans une table des matières.</a:t>
            </a:r>
          </a:p>
        </p:txBody>
      </p:sp>
      <p:sp>
        <p:nvSpPr>
          <p:cNvPr id="12" name="DSFR-box"/>
          <p:cNvSpPr/>
          <p:nvPr/>
        </p:nvSpPr>
        <p:spPr>
          <a:xfrm>
            <a:off x="548640" y="331470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3 règles qui font passer le check :</a:t>
            </a:r>
          </a:p>
        </p:txBody>
      </p:sp>
      <p:sp>
        <p:nvSpPr>
          <p:cNvPr id="14" name="DSFR-callout-body"/>
          <p:cNvSpPr txBox="1"/>
          <p:nvPr/>
        </p:nvSpPr>
        <p:spPr>
          <a:xfrm>
            <a:off x="704088" y="3817620"/>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Un seul H1 par page, qui reprend le sujet principal</a:t>
            </a:r>
          </a:p>
          <a:p>
            <a:pPr algn="l">
              <a:lnSpc>
                <a:spcPct val="125000"/>
              </a:lnSpc>
            </a:pPr>
            <a:r>
              <a:rPr sz="1400" lang="fr-FR">
                <a:solidFill>
                  <a:srgbClr val="161616"/>
                </a:solidFill>
                <a:latin typeface="Arial"/>
              </a:rPr>
              <a:t>• </a:t>
            </a:r>
            <a:r>
              <a:rPr sz="1400" b="0" lang="fr-FR">
                <a:solidFill>
                  <a:srgbClr val="161616"/>
                </a:solidFill>
                <a:latin typeface="Arial"/>
              </a:rPr>
              <a:t>Les niveaux s’emboîtent sans saut : H1 → H2 → H3, jamais H2 → H4</a:t>
            </a:r>
          </a:p>
          <a:p>
            <a:pPr algn="l">
              <a:lnSpc>
                <a:spcPct val="125000"/>
              </a:lnSpc>
            </a:pPr>
            <a:r>
              <a:rPr sz="1400" lang="fr-FR">
                <a:solidFill>
                  <a:srgbClr val="161616"/>
                </a:solidFill>
                <a:latin typeface="Arial"/>
              </a:rPr>
              <a:t>• </a:t>
            </a:r>
            <a:r>
              <a:rPr sz="1400" b="0" lang="fr-FR">
                <a:solidFill>
                  <a:srgbClr val="161616"/>
                </a:solidFill>
                <a:latin typeface="Arial"/>
              </a:rPr>
              <a:t>Un titre n’est pas une simple mise en forme gras/gros - c’est une balise &lt;h1&gt; à &lt;h6&gt;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Titres et hiérarchie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Titres : 3 façons de vérifier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3. Titres et hiérarchie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89</a:t>
            </a:r>
            <a:endParaRPr lang="fr-FR" dirty="0"/>
          </a:p>
        </p:txBody>
      </p:sp>
      <p:graphicFrame>
        <p:nvGraphicFramePr>
          <p:cNvPr id="8" name="Table 7"/>
          <p:cNvGraphicFramePr>
            <a:graphicFrameLocks noGrp="1"/>
          </p:cNvGraphicFramePr>
          <p:nvPr/>
        </p:nvGraphicFramePr>
        <p:xfrm>
          <a:off x="475488" y="2194560"/>
          <a:ext cx="11228832" cy="2743200"/>
        </p:xfrm>
        <a:graphic>
          <a:graphicData uri="http://schemas.openxmlformats.org/drawingml/2006/table">
            <a:tbl>
              <a:tblPr firstRow="1" bandRow="1">
                <a:tableStyleId>{5C22544A-7EE6-4342-B048-85BDC9FD1C3A}</a:tableStyleId>
              </a:tblPr>
              <a:tblGrid>
                <a:gridCol w="2560320"/>
                <a:gridCol w="4096512"/>
                <a:gridCol w="4572000"/>
              </a:tblGrid>
              <a:tr h="685800">
                <a:tc>
                  <a:txBody>
                    <a:bodyPr wrap="square" anchor="ctr" lIns="73152" rIns="73152"/>
                    <a:lstStyle/>
                    <a:p>
                      <a:pPr algn="l">
                        <a:lnSpc>
                          <a:spcPct val="125000"/>
                        </a:lnSpc>
                      </a:pPr>
                      <a:r>
                        <a:rPr sz="1400" b="1" i="0" lang="fr-FR">
                          <a:solidFill>
                            <a:srgbClr val="FFFFFF"/>
                          </a:solidFill>
                          <a:latin typeface="Arial"/>
                        </a:rPr>
                        <a:t>Méthode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Comment faire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Ce que vous cherchez</a:t>
                      </a:r>
                    </a:p>
                  </a:txBody>
                  <a:tcPr marL="91440" marR="91440" marT="45720" marB="45720">
                    <a:solidFill>
                      <a:srgbClr val="000091"/>
                    </a:solidFill>
                  </a:tcPr>
                </a:tc>
              </a:tr>
              <a:tr h="685800">
                <a:tc>
                  <a:txBody>
                    <a:bodyPr wrap="square" anchor="ctr" lIns="73152" rIns="73152"/>
                    <a:lstStyle/>
                    <a:p>
                      <a:pPr algn="l">
                        <a:lnSpc>
                          <a:spcPct val="125000"/>
                        </a:lnSpc>
                      </a:pPr>
                      <a:r>
                        <a:rPr sz="1400" b="0" i="0" lang="fr-FR">
                          <a:solidFill>
                            <a:srgbClr val="161616"/>
                          </a:solidFill>
                          <a:latin typeface="Arial"/>
                        </a:rPr>
                        <a:t>Extension HeadingsMap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Installer l’extension, ouvrir le panneau latéral.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L’arbre complet des titres s’affiche, les anomalies en rouge.</a:t>
                      </a:r>
                    </a:p>
                  </a:txBody>
                  <a:tcPr marL="91440" marR="91440" marT="45720" marB="45720">
                    <a:solidFill>
                      <a:srgbClr val="FFFFFF"/>
                    </a:solidFill>
                  </a:tcPr>
                </a:tc>
              </a:tr>
              <a:tr h="685800">
                <a:tc>
                  <a:txBody>
                    <a:bodyPr wrap="square" anchor="ctr" lIns="73152" rIns="73152"/>
                    <a:lstStyle/>
                    <a:p>
                      <a:pPr algn="l">
                        <a:lnSpc>
                          <a:spcPct val="125000"/>
                        </a:lnSpc>
                      </a:pPr>
                      <a:r>
                        <a:rPr sz="1400" b="0" i="0" lang="fr-FR">
                          <a:solidFill>
                            <a:srgbClr val="161616"/>
                          </a:solidFill>
                          <a:latin typeface="Arial"/>
                        </a:rPr>
                        <a:t>Plan de document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Extension Web Developer → Information → View Document Outline.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Le plan liste les titres réels et signale les niveaux manquants.</a:t>
                      </a:r>
                    </a:p>
                  </a:txBody>
                  <a:tcPr marL="91440" marR="91440" marT="45720" marB="45720">
                    <a:solidFill>
                      <a:srgbClr val="F5F5FE"/>
                    </a:solidFill>
                  </a:tcPr>
                </a:tc>
              </a:tr>
              <a:tr h="685800">
                <a:tc>
                  <a:txBody>
                    <a:bodyPr wrap="square" anchor="ctr" lIns="73152" rIns="73152"/>
                    <a:lstStyle/>
                    <a:p>
                      <a:pPr algn="l">
                        <a:lnSpc>
                          <a:spcPct val="125000"/>
                        </a:lnSpc>
                      </a:pPr>
                      <a:r>
                        <a:rPr sz="1400" b="0" i="0" lang="fr-FR">
                          <a:solidFill>
                            <a:srgbClr val="161616"/>
                          </a:solidFill>
                          <a:latin typeface="Arial"/>
                        </a:rPr>
                        <a:t>Clic droit « Inspecter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Rechercher `h1`, `h2`, `h3` dans l’onglet Éléments.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Un seul &lt;h1&gt;, pas de saut, pas de titre factice (&lt;div class="titre"&gt;).</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Titres et hiérarchie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Contraste : un seuil chiffré, pas une opinion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4. Contraste des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90</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Ce que vous trouvez « joli gris » peut devenir illisible selon l’écran, la lumière ou la vision de l’utilisateur.</a:t>
            </a:r>
          </a:p>
        </p:txBody>
      </p:sp>
      <p:sp>
        <p:nvSpPr>
          <p:cNvPr id="11" name="DSFR-kpi-pave"/>
          <p:cNvSpPr/>
          <p:nvPr/>
        </p:nvSpPr>
        <p:spPr>
          <a:xfrm>
            <a:off x="475488"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4,5:1</a:t>
            </a:r>
          </a:p>
        </p:txBody>
      </p:sp>
      <p:sp>
        <p:nvSpPr>
          <p:cNvPr id="12" name="DSFR-kpi-label"/>
          <p:cNvSpPr txBox="1"/>
          <p:nvPr/>
        </p:nvSpPr>
        <p:spPr>
          <a:xfrm>
            <a:off x="475488"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Texte normal (sous 18 pt)</a:t>
            </a:r>
          </a:p>
        </p:txBody>
      </p:sp>
      <p:sp>
        <p:nvSpPr>
          <p:cNvPr id="13" name="DSFR-kpi-pave"/>
          <p:cNvSpPr/>
          <p:nvPr/>
        </p:nvSpPr>
        <p:spPr>
          <a:xfrm>
            <a:off x="4319015"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3:1</a:t>
            </a:r>
          </a:p>
        </p:txBody>
      </p:sp>
      <p:sp>
        <p:nvSpPr>
          <p:cNvPr id="14" name="DSFR-kpi-label"/>
          <p:cNvSpPr txBox="1"/>
          <p:nvPr/>
        </p:nvSpPr>
        <p:spPr>
          <a:xfrm>
            <a:off x="4319015"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Texte large (18 pt+ ou 14 pt gras) et composants graphiques</a:t>
            </a:r>
          </a:p>
        </p:txBody>
      </p:sp>
      <p:sp>
        <p:nvSpPr>
          <p:cNvPr id="15" name="DSFR-kpi-pave"/>
          <p:cNvSpPr/>
          <p:nvPr/>
        </p:nvSpPr>
        <p:spPr>
          <a:xfrm>
            <a:off x="8162543"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7:1</a:t>
            </a:r>
          </a:p>
        </p:txBody>
      </p:sp>
      <p:sp>
        <p:nvSpPr>
          <p:cNvPr id="16" name="DSFR-kpi-label"/>
          <p:cNvSpPr txBox="1"/>
          <p:nvPr/>
        </p:nvSpPr>
        <p:spPr>
          <a:xfrm>
            <a:off x="8162543"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Niveau AAA - recommandé pour texte dense</a:t>
            </a:r>
          </a:p>
        </p:txBody>
      </p:sp>
      <p:sp>
        <p:nvSpPr>
          <p:cNvPr id="18" name="DSFR-box"/>
          <p:cNvSpPr/>
          <p:nvPr/>
        </p:nvSpPr>
        <p:spPr>
          <a:xfrm>
            <a:off x="548640" y="466344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llout-titre"/>
          <p:cNvSpPr txBox="1"/>
          <p:nvPr/>
        </p:nvSpPr>
        <p:spPr>
          <a:xfrm>
            <a:off x="704088" y="475487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 compte :</a:t>
            </a:r>
          </a:p>
        </p:txBody>
      </p:sp>
      <p:sp>
        <p:nvSpPr>
          <p:cNvPr id="20" name="DSFR-callout-body"/>
          <p:cNvSpPr txBox="1"/>
          <p:nvPr/>
        </p:nvSpPr>
        <p:spPr>
          <a:xfrm>
            <a:off x="704088" y="5166359"/>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 rapport entre la couleur du texte et celle du fond (ou l’arrière-plan visible)</a:t>
            </a:r>
          </a:p>
          <a:p>
            <a:pPr algn="l">
              <a:lnSpc>
                <a:spcPct val="125000"/>
              </a:lnSpc>
            </a:pPr>
            <a:r>
              <a:rPr sz="1400" lang="fr-FR">
                <a:solidFill>
                  <a:srgbClr val="161616"/>
                </a:solidFill>
                <a:latin typeface="Arial"/>
              </a:rPr>
              <a:t>• </a:t>
            </a:r>
            <a:r>
              <a:rPr sz="1400" b="0" lang="fr-FR">
                <a:solidFill>
                  <a:srgbClr val="161616"/>
                </a:solidFill>
                <a:latin typeface="Arial"/>
              </a:rPr>
              <a:t>Sur un dégradé ou une image, mesurer à l’endroit le moins contrasté</a:t>
            </a:r>
          </a:p>
          <a:p>
            <a:pPr algn="l">
              <a:lnSpc>
                <a:spcPct val="125000"/>
              </a:lnSpc>
            </a:pPr>
            <a:r>
              <a:rPr sz="1400" lang="fr-FR">
                <a:solidFill>
                  <a:srgbClr val="161616"/>
                </a:solidFill>
                <a:latin typeface="Arial"/>
              </a:rPr>
              <a:t>• </a:t>
            </a:r>
            <a:r>
              <a:rPr sz="1400" b="0" lang="fr-FR">
                <a:solidFill>
                  <a:srgbClr val="161616"/>
                </a:solidFill>
                <a:latin typeface="Arial"/>
              </a:rPr>
              <a:t>Ne pas se fier seulement à l’œil - mesurer avec un outil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Contraste des couleurs</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475488" y="466344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Contraste : 3 outils à avoir sous la main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4. Contraste des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91</a:t>
            </a:r>
            <a:endParaRPr lang="fr-FR" dirty="0"/>
          </a:p>
        </p:txBody>
      </p:sp>
      <p:graphicFrame>
        <p:nvGraphicFramePr>
          <p:cNvPr id="8" name="Table 7"/>
          <p:cNvGraphicFramePr>
            <a:graphicFrameLocks noGrp="1"/>
          </p:cNvGraphicFramePr>
          <p:nvPr/>
        </p:nvGraphicFramePr>
        <p:xfrm>
          <a:off x="475488" y="1874519"/>
          <a:ext cx="11228832" cy="2633472"/>
        </p:xfrm>
        <a:graphic>
          <a:graphicData uri="http://schemas.openxmlformats.org/drawingml/2006/table">
            <a:tbl>
              <a:tblPr firstRow="1" bandRow="1">
                <a:tableStyleId>{5C22544A-7EE6-4342-B048-85BDC9FD1C3A}</a:tableStyleId>
              </a:tblPr>
              <a:tblGrid>
                <a:gridCol w="2926080"/>
                <a:gridCol w="4187952"/>
                <a:gridCol w="4114800"/>
              </a:tblGrid>
              <a:tr h="658368">
                <a:tc>
                  <a:txBody>
                    <a:bodyPr wrap="square" anchor="ctr" lIns="73152" rIns="73152"/>
                    <a:lstStyle/>
                    <a:p>
                      <a:pPr algn="l">
                        <a:lnSpc>
                          <a:spcPct val="125000"/>
                        </a:lnSpc>
                      </a:pPr>
                      <a:r>
                        <a:rPr sz="1400" b="1" i="0" lang="fr-FR">
                          <a:solidFill>
                            <a:srgbClr val="FFFFFF"/>
                          </a:solidFill>
                          <a:latin typeface="Arial"/>
                        </a:rPr>
                        <a:t>Outil</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Usage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Quand l’utiliser</a:t>
                      </a:r>
                    </a:p>
                  </a:txBody>
                  <a:tcPr marL="91440" marR="91440" marT="45720" marB="45720">
                    <a:solidFill>
                      <a:srgbClr val="000091"/>
                    </a:solidFill>
                  </a:tcPr>
                </a:tc>
              </a:tr>
              <a:tr h="658368">
                <a:tc>
                  <a:txBody>
                    <a:bodyPr wrap="square" anchor="ctr" lIns="73152" rIns="73152"/>
                    <a:lstStyle/>
                    <a:p>
                      <a:pPr algn="l">
                        <a:lnSpc>
                          <a:spcPct val="125000"/>
                        </a:lnSpc>
                      </a:pPr>
                      <a:r>
                        <a:rPr sz="1400" b="0" i="0" lang="fr-FR">
                          <a:solidFill>
                            <a:srgbClr val="161616"/>
                          </a:solidFill>
                          <a:latin typeface="Arial"/>
                        </a:rPr>
                        <a:t>DevTools Chrome / Firefox</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Clic droit sur un texte → Inspecter → pastille de couleur.</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Mesure ponctuelle pendant la rédaction ou la relecture.</a:t>
                      </a:r>
                    </a:p>
                  </a:txBody>
                  <a:tcPr marL="91440" marR="91440" marT="45720" marB="45720">
                    <a:solidFill>
                      <a:srgbClr val="FFFFFF"/>
                    </a:solidFill>
                  </a:tcPr>
                </a:tc>
              </a:tr>
              <a:tr h="658368">
                <a:tc>
                  <a:txBody>
                    <a:bodyPr wrap="square" anchor="ctr" lIns="73152" rIns="73152"/>
                    <a:lstStyle/>
                    <a:p>
                      <a:pPr algn="l">
                        <a:lnSpc>
                          <a:spcPct val="125000"/>
                        </a:lnSpc>
                      </a:pPr>
                      <a:r>
                        <a:rPr sz="1400" b="0" i="0" lang="fr-FR">
                          <a:solidFill>
                            <a:srgbClr val="161616"/>
                          </a:solidFill>
                          <a:latin typeface="Arial"/>
                        </a:rPr>
                        <a:t>WebAIM Contrast Checker</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webaim.org/resources/contrastchecker - coller les deux couleurs hex.</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Avant de choisir une charte graphique ou un thème.</a:t>
                      </a:r>
                    </a:p>
                  </a:txBody>
                  <a:tcPr marL="91440" marR="91440" marT="45720" marB="45720">
                    <a:solidFill>
                      <a:srgbClr val="F5F5FE"/>
                    </a:solidFill>
                  </a:tcPr>
                </a:tc>
              </a:tr>
              <a:tr h="658368">
                <a:tc>
                  <a:txBody>
                    <a:bodyPr wrap="square" anchor="ctr" lIns="73152" rIns="73152"/>
                    <a:lstStyle/>
                    <a:p>
                      <a:pPr algn="l">
                        <a:lnSpc>
                          <a:spcPct val="125000"/>
                        </a:lnSpc>
                      </a:pPr>
                      <a:r>
                        <a:rPr sz="1400" b="0" i="0" lang="fr-FR">
                          <a:solidFill>
                            <a:srgbClr val="161616"/>
                          </a:solidFill>
                          <a:latin typeface="Arial"/>
                        </a:rPr>
                        <a:t>Colour Contrast Analyser (CCA)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App desktop - pipette qui mesure n’importe quelle zone d’écran.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Tester des maquettes Figma, des captures d’écran, des PDF.</a:t>
                      </a:r>
                    </a:p>
                  </a:txBody>
                  <a:tcPr marL="91440" marR="91440" marT="45720" marB="45720">
                    <a:solidFill>
                      <a:srgbClr val="FFFFFF"/>
                    </a:solidFill>
                  </a:tcPr>
                </a:tc>
              </a:tr>
            </a:tbl>
          </a:graphicData>
        </a:graphic>
      </p:graphicFrame>
      <p:sp>
        <p:nvSpPr>
          <p:cNvPr id="10" name="DSFR-box"/>
          <p:cNvSpPr/>
          <p:nvPr/>
        </p:nvSpPr>
        <p:spPr>
          <a:xfrm>
            <a:off x="548640" y="457200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warning-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Piège classique</a:t>
            </a:r>
          </a:p>
        </p:txBody>
      </p:sp>
      <p:sp>
        <p:nvSpPr>
          <p:cNvPr id="12" name="DSFR-alert-warning-body"/>
          <p:cNvSpPr txBox="1"/>
          <p:nvPr/>
        </p:nvSpPr>
        <p:spPr>
          <a:xfrm>
            <a:off x="704088" y="507492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Texte gris clair sur fond blanc (#999 sur #FFF) : 2,85:1 - échec même en texte large</a:t>
            </a:r>
          </a:p>
          <a:p>
            <a:pPr algn="l">
              <a:lnSpc>
                <a:spcPct val="150000"/>
              </a:lnSpc>
            </a:pPr>
            <a:r>
              <a:rPr sz="1400" lang="fr-FR">
                <a:solidFill>
                  <a:srgbClr val="161616"/>
                </a:solidFill>
                <a:latin typeface="Arial"/>
              </a:rPr>
              <a:t>• </a:t>
            </a:r>
            <a:r>
              <a:rPr sz="1400" b="0" lang="fr-FR">
                <a:solidFill>
                  <a:srgbClr val="161616"/>
                </a:solidFill>
                <a:latin typeface="Arial"/>
              </a:rPr>
              <a:t>Bouton bleu avec texte bleu marine « moderne » : souvent sous le seuil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Contraste des couleurs</a:t>
            </a:r>
          </a:p>
        </p:txBody>
      </p:sp>
      <p:sp>
        <p:nvSpPr>
          <p:cNvPr id="9" name="DSFR-accent-decoratif" descr=""/>
          <p:cNvSpPr/>
          <p:nvPr/>
        </p:nvSpPr>
        <p:spPr>
          <a:xfrm>
            <a:off x="475488" y="457200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Lien d’évitement : le raccourci vers le contenu</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5. Lien d'évitement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92</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Sans lien d’évitement, un utilisateur clavier doit souvent traverser tout le menu avant d’atteindre le contenu.</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 premier lien interactif permet d’aller directement au contenu principal</a:t>
            </a:r>
          </a:p>
          <a:p>
            <a:pPr algn="l">
              <a:lnSpc>
                <a:spcPct val="125000"/>
              </a:lnSpc>
            </a:pPr>
            <a:r>
              <a:rPr sz="1400" lang="fr-FR">
                <a:solidFill>
                  <a:srgbClr val="161616"/>
                </a:solidFill>
                <a:latin typeface="Arial"/>
              </a:rPr>
              <a:t>• </a:t>
            </a:r>
            <a:r>
              <a:rPr sz="1400" b="0" lang="fr-FR">
                <a:solidFill>
                  <a:srgbClr val="161616"/>
                </a:solidFill>
                <a:latin typeface="Arial"/>
              </a:rPr>
              <a:t>Il devient visible dès qu’il a le focus, même s’il était masqué</a:t>
            </a:r>
          </a:p>
          <a:p>
            <a:pPr algn="l">
              <a:lnSpc>
                <a:spcPct val="125000"/>
              </a:lnSpc>
            </a:pPr>
            <a:r>
              <a:rPr sz="1400" lang="fr-FR">
                <a:solidFill>
                  <a:srgbClr val="161616"/>
                </a:solidFill>
                <a:latin typeface="Arial"/>
              </a:rPr>
              <a:t>• </a:t>
            </a:r>
            <a:r>
              <a:rPr sz="1400" b="0" lang="fr-FR">
                <a:solidFill>
                  <a:srgbClr val="161616"/>
                </a:solidFill>
                <a:latin typeface="Arial"/>
              </a:rPr>
              <a:t>Il mène au bloc principal via une ancre (#contenu, #main)</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Démo en 3 Tab</a:t>
            </a:r>
          </a:p>
        </p:txBody>
      </p:sp>
      <p:sp>
        <p:nvSpPr>
          <p:cNvPr id="18" name="DSFR-alert-success-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Ouvrez gouvernement.fr et appuyez Tab : le lien « Contenu » apparaît en haut</a:t>
            </a:r>
          </a:p>
          <a:p>
            <a:pPr algn="l">
              <a:lnSpc>
                <a:spcPct val="150000"/>
              </a:lnSpc>
            </a:pPr>
            <a:r>
              <a:rPr sz="1400" lang="fr-FR">
                <a:solidFill>
                  <a:srgbClr val="161616"/>
                </a:solidFill>
                <a:latin typeface="Arial"/>
              </a:rPr>
              <a:t>• </a:t>
            </a:r>
            <a:r>
              <a:rPr sz="1400" b="0" lang="fr-FR">
                <a:solidFill>
                  <a:srgbClr val="161616"/>
                </a:solidFill>
                <a:latin typeface="Arial"/>
              </a:rPr>
              <a:t>Entrée → vous voilà au contenu, menu contourné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Lien d’évitement</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Naviguer sans souris : le test qui change tout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93</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Quand on navigue au clavier, un focus invisible suffit à perdre toute la page.</a:t>
            </a:r>
          </a:p>
        </p:txBody>
      </p:sp>
      <p:sp>
        <p:nvSpPr>
          <p:cNvPr id="12" name="DSFR-box"/>
          <p:cNvSpPr/>
          <p:nvPr/>
        </p:nvSpPr>
        <p:spPr>
          <a:xfrm>
            <a:off x="548640" y="331470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En 15 minutes, vous saurez :</a:t>
            </a:r>
          </a:p>
        </p:txBody>
      </p:sp>
      <p:sp>
        <p:nvSpPr>
          <p:cNvPr id="14" name="DSFR-callout-body"/>
          <p:cNvSpPr txBox="1"/>
          <p:nvPr/>
        </p:nvSpPr>
        <p:spPr>
          <a:xfrm>
            <a:off x="704088" y="3817620"/>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Utiliser 5 touches pour tester n’importe quelle page</a:t>
            </a:r>
          </a:p>
          <a:p>
            <a:pPr algn="l">
              <a:lnSpc>
                <a:spcPct val="125000"/>
              </a:lnSpc>
            </a:pPr>
            <a:r>
              <a:rPr sz="1400" lang="fr-FR">
                <a:solidFill>
                  <a:srgbClr val="161616"/>
                </a:solidFill>
                <a:latin typeface="Arial"/>
              </a:rPr>
              <a:t>• </a:t>
            </a:r>
            <a:r>
              <a:rPr sz="1400" b="0" lang="fr-FR">
                <a:solidFill>
                  <a:srgbClr val="161616"/>
                </a:solidFill>
                <a:latin typeface="Arial"/>
              </a:rPr>
              <a:t>Repérer 3 signaux qui trahissent un défaut d’accessibilité</a:t>
            </a:r>
          </a:p>
          <a:p>
            <a:pPr algn="l">
              <a:lnSpc>
                <a:spcPct val="125000"/>
              </a:lnSpc>
            </a:pPr>
            <a:r>
              <a:rPr sz="1400" lang="fr-FR">
                <a:solidFill>
                  <a:srgbClr val="161616"/>
                </a:solidFill>
                <a:latin typeface="Arial"/>
              </a:rPr>
              <a:t>• </a:t>
            </a:r>
            <a:r>
              <a:rPr sz="1400" b="0" lang="fr-FR">
                <a:solidFill>
                  <a:srgbClr val="161616"/>
                </a:solidFill>
                <a:latin typeface="Arial"/>
              </a:rPr>
              <a:t>Reproduire l’expérience d’un lecteur d’écran en 3 minutes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Focus et navigation clavier</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5 touches, 3 intentions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94</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Naviguer → Tab / Shift+Tab    Agir → Entrée / Espace    Lire → Flèches ↑ ↓</a:t>
            </a:r>
          </a:p>
        </p:txBody>
      </p:sp>
      <p:graphicFrame>
        <p:nvGraphicFramePr>
          <p:cNvPr id="11" name="Table 10"/>
          <p:cNvGraphicFramePr>
            <a:graphicFrameLocks noGrp="1"/>
          </p:cNvGraphicFramePr>
          <p:nvPr/>
        </p:nvGraphicFramePr>
        <p:xfrm>
          <a:off x="475488" y="3131820"/>
          <a:ext cx="11228832" cy="2852928"/>
        </p:xfrm>
        <a:graphic>
          <a:graphicData uri="http://schemas.openxmlformats.org/drawingml/2006/table">
            <a:tbl>
              <a:tblPr firstRow="1" bandRow="1">
                <a:tableStyleId>{5C22544A-7EE6-4342-B048-85BDC9FD1C3A}</a:tableStyleId>
              </a:tblPr>
              <a:tblGrid>
                <a:gridCol w="1645920"/>
                <a:gridCol w="4480560"/>
                <a:gridCol w="5102352"/>
              </a:tblGrid>
              <a:tr h="475488">
                <a:tc>
                  <a:txBody>
                    <a:bodyPr wrap="square" anchor="ctr" lIns="73152" rIns="73152"/>
                    <a:lstStyle/>
                    <a:p>
                      <a:pPr algn="l">
                        <a:lnSpc>
                          <a:spcPct val="125000"/>
                        </a:lnSpc>
                      </a:pPr>
                      <a:r>
                        <a:rPr sz="1400" b="1" i="0" lang="fr-FR">
                          <a:solidFill>
                            <a:srgbClr val="FFFFFF"/>
                          </a:solidFill>
                          <a:latin typeface="Arial"/>
                        </a:rPr>
                        <a:t>Touche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À quoi elle sert</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Ce qu’il faut vérifier</a:t>
                      </a:r>
                    </a:p>
                  </a:txBody>
                  <a:tcPr marL="91440" marR="91440" marT="45720" marB="45720">
                    <a:solidFill>
                      <a:srgbClr val="000091"/>
                    </a:solidFill>
                  </a:tcPr>
                </a:tc>
              </a:tr>
              <a:tr h="475488">
                <a:tc>
                  <a:txBody>
                    <a:bodyPr wrap="square" anchor="ctr" lIns="73152" rIns="73152"/>
                    <a:lstStyle/>
                    <a:p>
                      <a:pPr algn="l">
                        <a:lnSpc>
                          <a:spcPct val="125000"/>
                        </a:lnSpc>
                      </a:pPr>
                      <a:r>
                        <a:rPr sz="1400" b="0" i="0" lang="fr-FR">
                          <a:solidFill>
                            <a:srgbClr val="161616"/>
                          </a:solidFill>
                          <a:latin typeface="Arial"/>
                        </a:rPr>
                        <a:t>Tab</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Avancer sur l’élément interactif suivant (lien, bouton, champ).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Le focus se déplace et reste visible à chaque étape.</a:t>
                      </a:r>
                    </a:p>
                  </a:txBody>
                  <a:tcPr marL="91440" marR="91440" marT="45720" marB="45720">
                    <a:solidFill>
                      <a:srgbClr val="FFFFFF"/>
                    </a:solidFill>
                  </a:tcPr>
                </a:tc>
              </a:tr>
              <a:tr h="475488">
                <a:tc>
                  <a:txBody>
                    <a:bodyPr wrap="square" anchor="ctr" lIns="73152" rIns="73152"/>
                    <a:lstStyle/>
                    <a:p>
                      <a:pPr algn="l">
                        <a:lnSpc>
                          <a:spcPct val="125000"/>
                        </a:lnSpc>
                      </a:pPr>
                      <a:r>
                        <a:rPr sz="1400" b="0" i="0" lang="fr-FR">
                          <a:solidFill>
                            <a:srgbClr val="161616"/>
                          </a:solidFill>
                          <a:latin typeface="Arial"/>
                        </a:rPr>
                        <a:t>Shift + Tab</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Reculer sur l’élément interactif précédent.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L’ordre inverse est logique, sans saut imprévu.</a:t>
                      </a:r>
                    </a:p>
                  </a:txBody>
                  <a:tcPr marL="91440" marR="91440" marT="45720" marB="45720">
                    <a:solidFill>
                      <a:srgbClr val="F5F5FE"/>
                    </a:solidFill>
                  </a:tcPr>
                </a:tc>
              </a:tr>
              <a:tr h="475488">
                <a:tc>
                  <a:txBody>
                    <a:bodyPr wrap="square" anchor="ctr" lIns="73152" rIns="73152"/>
                    <a:lstStyle/>
                    <a:p>
                      <a:pPr algn="l">
                        <a:lnSpc>
                          <a:spcPct val="125000"/>
                        </a:lnSpc>
                      </a:pPr>
                      <a:r>
                        <a:rPr sz="1400" b="0" i="0" lang="fr-FR">
                          <a:solidFill>
                            <a:srgbClr val="161616"/>
                          </a:solidFill>
                          <a:latin typeface="Arial"/>
                        </a:rPr>
                        <a:t>Entrée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Activer un lien ou soumettre un formulaire.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L’action attendue se déclenche immédiatement.</a:t>
                      </a:r>
                    </a:p>
                  </a:txBody>
                  <a:tcPr marL="91440" marR="91440" marT="45720" marB="45720">
                    <a:solidFill>
                      <a:srgbClr val="FFFFFF"/>
                    </a:solidFill>
                  </a:tcPr>
                </a:tc>
              </a:tr>
              <a:tr h="475488">
                <a:tc>
                  <a:txBody>
                    <a:bodyPr wrap="square" anchor="ctr" lIns="73152" rIns="73152"/>
                    <a:lstStyle/>
                    <a:p>
                      <a:pPr algn="l">
                        <a:lnSpc>
                          <a:spcPct val="125000"/>
                        </a:lnSpc>
                      </a:pPr>
                      <a:r>
                        <a:rPr sz="1400" b="0" i="0" lang="fr-FR">
                          <a:solidFill>
                            <a:srgbClr val="161616"/>
                          </a:solidFill>
                          <a:latin typeface="Arial"/>
                        </a:rPr>
                        <a:t>Barre d’espace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Cocher, décocher, sélectionner un bouton radio.</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L’état coché / non coché est annoncé vocalement.</a:t>
                      </a:r>
                    </a:p>
                  </a:txBody>
                  <a:tcPr marL="91440" marR="91440" marT="45720" marB="45720">
                    <a:solidFill>
                      <a:srgbClr val="F5F5FE"/>
                    </a:solidFill>
                  </a:tcPr>
                </a:tc>
              </a:tr>
              <a:tr h="475488">
                <a:tc>
                  <a:txBody>
                    <a:bodyPr wrap="square" anchor="ctr" lIns="73152" rIns="73152"/>
                    <a:lstStyle/>
                    <a:p>
                      <a:pPr algn="l">
                        <a:lnSpc>
                          <a:spcPct val="125000"/>
                        </a:lnSpc>
                      </a:pPr>
                      <a:r>
                        <a:rPr sz="1400" b="0" i="0" lang="fr-FR">
                          <a:solidFill>
                            <a:srgbClr val="161616"/>
                          </a:solidFill>
                          <a:latin typeface="Arial"/>
                        </a:rPr>
                        <a:t>Flèches ↑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Lire le contenu ligne par ligne avec un lecteur d’écran.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Le texte alternatif des images est lu à haute voix.</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Focus et navigation clavier</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3 signaux qui trahissent un défaut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95</a:t>
            </a:r>
            <a:endParaRPr lang="fr-FR" dirty="0"/>
          </a:p>
        </p:txBody>
      </p:sp>
      <p:sp>
        <p:nvSpPr>
          <p:cNvPr id="9" name="DSFR-box"/>
          <p:cNvSpPr/>
          <p:nvPr/>
        </p:nvSpPr>
        <p:spPr>
          <a:xfrm>
            <a:off x="548640" y="2331720"/>
            <a:ext cx="3465576" cy="212826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1408176" y="2514600"/>
            <a:ext cx="2423160"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Le focus disparaît</a:t>
            </a:r>
          </a:p>
        </p:txBody>
      </p:sp>
      <p:sp>
        <p:nvSpPr>
          <p:cNvPr id="12" name="DSFR-card-contenu"/>
          <p:cNvSpPr txBox="1"/>
          <p:nvPr/>
        </p:nvSpPr>
        <p:spPr>
          <a:xfrm>
            <a:off x="704088" y="3200400"/>
            <a:ext cx="3172968" cy="1168146"/>
          </a:xfrm>
          <a:prstGeom prst="rect">
            <a:avLst/>
          </a:prstGeom>
          <a:noFill/>
        </p:spPr>
        <p:txBody>
          <a:bodyPr wrap="square" anchor="t" lIns="73152" rIns="73152">
            <a:spAutoFit/>
          </a:bodyPr>
          <a:lstStyle/>
          <a:p>
            <a:pPr algn="l">
              <a:lnSpc>
                <a:spcPct val="115000"/>
              </a:lnSpc>
            </a:pPr>
            <a:r>
              <a:rPr sz="1400" b="0" i="0" lang="fr-FR">
                <a:solidFill>
                  <a:srgbClr val="161616"/>
                </a:solidFill>
                <a:latin typeface="Arial"/>
              </a:rPr>
              <a:t>Plus de contour visible pendant la tabulation. L’utilisateur est perdu dès la 3ᵉ touche Tab.</a:t>
            </a:r>
          </a:p>
        </p:txBody>
      </p:sp>
      <p:sp>
        <p:nvSpPr>
          <p:cNvPr id="14" name="DSFR-box"/>
          <p:cNvSpPr/>
          <p:nvPr/>
        </p:nvSpPr>
        <p:spPr>
          <a:xfrm>
            <a:off x="4389120" y="2331720"/>
            <a:ext cx="3465576" cy="212826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5248656" y="2514600"/>
            <a:ext cx="2423160"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L’ordre est illogique</a:t>
            </a:r>
          </a:p>
        </p:txBody>
      </p:sp>
      <p:sp>
        <p:nvSpPr>
          <p:cNvPr id="17" name="DSFR-card-contenu"/>
          <p:cNvSpPr txBox="1"/>
          <p:nvPr/>
        </p:nvSpPr>
        <p:spPr>
          <a:xfrm>
            <a:off x="4544568" y="3200400"/>
            <a:ext cx="3172968" cy="1168146"/>
          </a:xfrm>
          <a:prstGeom prst="rect">
            <a:avLst/>
          </a:prstGeom>
          <a:noFill/>
        </p:spPr>
        <p:txBody>
          <a:bodyPr wrap="square" anchor="t" lIns="73152" rIns="73152">
            <a:spAutoFit/>
          </a:bodyPr>
          <a:lstStyle/>
          <a:p>
            <a:pPr algn="l">
              <a:lnSpc>
                <a:spcPct val="115000"/>
              </a:lnSpc>
            </a:pPr>
            <a:r>
              <a:rPr sz="1400" b="0" i="0" lang="fr-FR">
                <a:solidFill>
                  <a:srgbClr val="161616"/>
                </a:solidFill>
                <a:latin typeface="Arial"/>
              </a:rPr>
              <a:t>Le focus saute à droite avant le menu à gauche. Le lecteur d’écran parcourt la page dans le désordre.</a:t>
            </a:r>
          </a:p>
        </p:txBody>
      </p:sp>
      <p:sp>
        <p:nvSpPr>
          <p:cNvPr id="19" name="DSFR-box"/>
          <p:cNvSpPr/>
          <p:nvPr/>
        </p:nvSpPr>
        <p:spPr>
          <a:xfrm>
            <a:off x="8229600" y="2331720"/>
            <a:ext cx="3465576" cy="212826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9089136" y="2514600"/>
            <a:ext cx="2423160"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L’état n’est pas annoncé</a:t>
            </a:r>
          </a:p>
        </p:txBody>
      </p:sp>
      <p:sp>
        <p:nvSpPr>
          <p:cNvPr id="22" name="DSFR-card-contenu"/>
          <p:cNvSpPr txBox="1"/>
          <p:nvPr/>
        </p:nvSpPr>
        <p:spPr>
          <a:xfrm>
            <a:off x="8385048" y="3200400"/>
            <a:ext cx="3172968" cy="1168146"/>
          </a:xfrm>
          <a:prstGeom prst="rect">
            <a:avLst/>
          </a:prstGeom>
          <a:noFill/>
        </p:spPr>
        <p:txBody>
          <a:bodyPr wrap="square" anchor="t" lIns="73152" rIns="73152">
            <a:spAutoFit/>
          </a:bodyPr>
          <a:lstStyle/>
          <a:p>
            <a:pPr algn="l">
              <a:lnSpc>
                <a:spcPct val="115000"/>
              </a:lnSpc>
            </a:pPr>
            <a:r>
              <a:rPr sz="1400" b="0" i="0" lang="fr-FR">
                <a:solidFill>
                  <a:srgbClr val="161616"/>
                </a:solidFill>
                <a:latin typeface="Arial"/>
              </a:rPr>
              <a:t>Une case qui coche sans dire « coché ». L’information est invisible pour qui ne voit pas l’écran.</a:t>
            </a:r>
          </a:p>
        </p:txBody>
      </p:sp>
      <p:pic>
        <p:nvPicPr>
          <p:cNvPr id="23" name="DSFR-qrcode" descr="QR code : https://alexandra-guiderdoni.github.io/tp-fabrication-igpde-102846-ay11/"/>
          <p:cNvPicPr>
            <a:picLocks noChangeAspect="1"/>
          </p:cNvPicPr>
          <p:nvPr/>
        </p:nvPicPr>
        <p:blipFill>
          <a:blip r:embed="rId2"/>
          <a:stretch>
            <a:fillRect/>
          </a:stretch>
        </p:blipFill>
        <p:spPr>
          <a:xfrm>
            <a:off x="475488" y="4663440"/>
            <a:ext cx="1005840" cy="1005840"/>
          </a:xfrm>
          <a:prstGeom prst="rect">
            <a:avLst/>
          </a:prstGeom>
        </p:spPr>
      </p:pic>
      <p:sp>
        <p:nvSpPr>
          <p:cNvPr id="24" name="DSFR-qrcode-cta"/>
          <p:cNvSpPr txBox="1"/>
          <p:nvPr/>
        </p:nvSpPr>
        <p:spPr>
          <a:xfrm>
            <a:off x="1609344" y="4736592"/>
            <a:ext cx="10094976"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25" name="DSFR-qrcode-url-visible"/>
          <p:cNvSpPr txBox="1"/>
          <p:nvPr/>
        </p:nvSpPr>
        <p:spPr>
          <a:xfrm>
            <a:off x="1609344" y="5029200"/>
            <a:ext cx="10094976" cy="731520"/>
          </a:xfrm>
          <a:prstGeom prst="rect">
            <a:avLst/>
          </a:prstGeom>
          <a:noFill/>
        </p:spPr>
        <p:txBody>
          <a:bodyPr wrap="square" anchor="t" lIns="73152" rIns="73152">
            <a:spAutoFit/>
          </a:bodyPr>
          <a:lstStyle/>
          <a:p>
            <a:pPr algn="l">
              <a:lnSpc>
                <a:spcPct val="125000"/>
              </a:lnSpc>
            </a:pPr>
            <a:r>
              <a:rPr sz="1000" b="0" i="0" u="sng" lang="fr-FR">
                <a:solidFill>
                  <a:srgbClr val="000091"/>
                </a:solidFill>
                <a:latin typeface="Arial"/>
                <a:hlinkClick r:id="rId3"/>
              </a:rPr>
              <a:t>https://alexandra-guiderdoni.github.io/tp-fabrication-igpde-102846-ay11/</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Focus et navigation clavier</a:t>
            </a:r>
          </a:p>
        </p:txBody>
      </p:sp>
      <p:sp>
        <p:nvSpPr>
          <p:cNvPr id="10" name="DSFR-card-numero"/>
          <p:cNvSpPr/>
          <p:nvPr/>
        </p:nvSpPr>
        <p:spPr>
          <a:xfrm>
            <a:off x="704088" y="251460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1</a:t>
            </a:r>
          </a:p>
        </p:txBody>
      </p:sp>
      <p:sp>
        <p:nvSpPr>
          <p:cNvPr id="15" name="DSFR-card-numero"/>
          <p:cNvSpPr/>
          <p:nvPr/>
        </p:nvSpPr>
        <p:spPr>
          <a:xfrm>
            <a:off x="4544568" y="251460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2</a:t>
            </a:r>
          </a:p>
        </p:txBody>
      </p:sp>
      <p:sp>
        <p:nvSpPr>
          <p:cNvPr id="20" name="DSFR-card-numero"/>
          <p:cNvSpPr/>
          <p:nvPr/>
        </p:nvSpPr>
        <p:spPr>
          <a:xfrm>
            <a:off x="8385048" y="251460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3</a:t>
            </a:r>
          </a:p>
        </p:txBody>
      </p:sp>
      <p:sp>
        <p:nvSpPr>
          <p:cNvPr id="8" name="DSFR-accent-decoratif" descr=""/>
          <p:cNvSpPr/>
          <p:nvPr/>
        </p:nvSpPr>
        <p:spPr>
          <a:xfrm>
            <a:off x="475488" y="2331720"/>
            <a:ext cx="73152" cy="212826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315968" y="2331720"/>
            <a:ext cx="73152" cy="212826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8156448" y="2331720"/>
            <a:ext cx="73152" cy="212826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Votre mission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96</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Site d’entraînement :</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Cachez votre souris derrière l’écran</a:t>
            </a:r>
          </a:p>
          <a:p>
            <a:pPr algn="l">
              <a:lnSpc>
                <a:spcPct val="125000"/>
              </a:lnSpc>
            </a:pPr>
            <a:r>
              <a:rPr sz="1400" lang="fr-FR">
                <a:solidFill>
                  <a:srgbClr val="161616"/>
                </a:solidFill>
                <a:latin typeface="Arial"/>
              </a:rPr>
              <a:t>• </a:t>
            </a:r>
            <a:r>
              <a:rPr sz="1400" b="0" lang="fr-FR">
                <a:solidFill>
                  <a:srgbClr val="161616"/>
                </a:solidFill>
                <a:latin typeface="Arial"/>
              </a:rPr>
              <a:t>Tabulez 10 fois et notez chaque fois que le focus disparaît</a:t>
            </a:r>
          </a:p>
          <a:p>
            <a:pPr algn="l">
              <a:lnSpc>
                <a:spcPct val="125000"/>
              </a:lnSpc>
            </a:pPr>
            <a:r>
              <a:rPr sz="1400" lang="fr-FR">
                <a:solidFill>
                  <a:srgbClr val="161616"/>
                </a:solidFill>
                <a:latin typeface="Arial"/>
              </a:rPr>
              <a:t>• </a:t>
            </a:r>
            <a:r>
              <a:rPr sz="1400" b="0" lang="fr-FR">
                <a:solidFill>
                  <a:srgbClr val="161616"/>
                </a:solidFill>
                <a:latin typeface="Arial"/>
              </a:rPr>
              <a:t>Essayez Entrée sur un bouton, Espace sur une case à cocher</a:t>
            </a:r>
          </a:p>
          <a:p>
            <a:pPr algn="l">
              <a:lnSpc>
                <a:spcPct val="125000"/>
              </a:lnSpc>
            </a:pPr>
            <a:r>
              <a:rPr sz="1400" lang="fr-FR">
                <a:solidFill>
                  <a:srgbClr val="161616"/>
                </a:solidFill>
                <a:latin typeface="Arial"/>
              </a:rPr>
              <a:t>• </a:t>
            </a:r>
            <a:r>
              <a:rPr sz="1400" b="0" lang="fr-FR">
                <a:solidFill>
                  <a:srgbClr val="161616"/>
                </a:solidFill>
                <a:latin typeface="Arial"/>
              </a:rPr>
              <a:t>Listez les pièges détectés et associez-les aux 3 signaux</a:t>
            </a:r>
          </a:p>
        </p:txBody>
      </p:sp>
      <p:sp>
        <p:nvSpPr>
          <p:cNvPr id="13" name="DSFR-box"/>
          <p:cNvSpPr/>
          <p:nvPr/>
        </p:nvSpPr>
        <p:spPr>
          <a:xfrm>
            <a:off x="548640" y="4306824"/>
            <a:ext cx="5390388"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398264"/>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Objectif : votre permis clavier</a:t>
            </a:r>
          </a:p>
        </p:txBody>
      </p:sp>
      <p:sp>
        <p:nvSpPr>
          <p:cNvPr id="15" name="DSFR-alert-success-body"/>
          <p:cNvSpPr txBox="1"/>
          <p:nvPr/>
        </p:nvSpPr>
        <p:spPr>
          <a:xfrm>
            <a:off x="704088" y="4809744"/>
            <a:ext cx="5143500" cy="100126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1 signal détecté = vous avez l’œil</a:t>
            </a:r>
          </a:p>
          <a:p>
            <a:pPr algn="l">
              <a:lnSpc>
                <a:spcPct val="150000"/>
              </a:lnSpc>
            </a:pPr>
            <a:r>
              <a:rPr sz="1400" lang="fr-FR">
                <a:solidFill>
                  <a:srgbClr val="161616"/>
                </a:solidFill>
                <a:latin typeface="Arial"/>
              </a:rPr>
              <a:t>• </a:t>
            </a:r>
            <a:r>
              <a:rPr sz="1400" b="0" lang="fr-FR">
                <a:solidFill>
                  <a:srgbClr val="161616"/>
                </a:solidFill>
                <a:latin typeface="Arial"/>
              </a:rPr>
              <a:t>3 signaux détectés = vous êtes auditeur clavier</a:t>
            </a:r>
          </a:p>
        </p:txBody>
      </p:sp>
      <p:pic>
        <p:nvPicPr>
          <p:cNvPr id="16" name="DSFR-qrcode" descr="QR code : https://alexandra-guiderdoni.github.io/tp-fabrication-igpde-102846-ay11/"/>
          <p:cNvPicPr>
            <a:picLocks noChangeAspect="1"/>
          </p:cNvPicPr>
          <p:nvPr/>
        </p:nvPicPr>
        <p:blipFill>
          <a:blip r:embed="rId2"/>
          <a:stretch>
            <a:fillRect/>
          </a:stretch>
        </p:blipFill>
        <p:spPr>
          <a:xfrm>
            <a:off x="6240779" y="4306824"/>
            <a:ext cx="1005840" cy="1005840"/>
          </a:xfrm>
          <a:prstGeom prst="rect">
            <a:avLst/>
          </a:prstGeom>
        </p:spPr>
      </p:pic>
      <p:sp>
        <p:nvSpPr>
          <p:cNvPr id="17" name="DSFR-qrcode-cta"/>
          <p:cNvSpPr txBox="1"/>
          <p:nvPr/>
        </p:nvSpPr>
        <p:spPr>
          <a:xfrm>
            <a:off x="7374636" y="4379976"/>
            <a:ext cx="4329683"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8" name="DSFR-qrcode-url-visible"/>
          <p:cNvSpPr txBox="1"/>
          <p:nvPr/>
        </p:nvSpPr>
        <p:spPr>
          <a:xfrm>
            <a:off x="7374636" y="4672584"/>
            <a:ext cx="4329683" cy="731520"/>
          </a:xfrm>
          <a:prstGeom prst="rect">
            <a:avLst/>
          </a:prstGeom>
          <a:noFill/>
        </p:spPr>
        <p:txBody>
          <a:bodyPr wrap="square" anchor="t" lIns="73152" rIns="73152">
            <a:spAutoFit/>
          </a:bodyPr>
          <a:lstStyle/>
          <a:p>
            <a:pPr algn="l">
              <a:lnSpc>
                <a:spcPct val="125000"/>
              </a:lnSpc>
            </a:pPr>
            <a:r>
              <a:rPr sz="1000" b="0" i="0" u="sng" lang="fr-FR">
                <a:solidFill>
                  <a:srgbClr val="000091"/>
                </a:solidFill>
                <a:latin typeface="Arial"/>
                <a:hlinkClick r:id="rId3"/>
              </a:rPr>
              <a:t>https://alexandra-guiderdoni.github.io/tp-fabrication-igpde-102846-ay11/</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Focus et navigation clavier</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306824"/>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Langue de la page : l’accent juste du lecteur d’écran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7. Langue de la page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97</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Sans langue déclarée, le lecteur d’écran peut choisir une mauvaise prononciation et rendre le texte pénible à écouter.</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La balise &lt;html&gt; porte un attribut lang (ex. lang="fr")</a:t>
            </a:r>
          </a:p>
          <a:p>
            <a:pPr algn="l">
              <a:lnSpc>
                <a:spcPct val="125000"/>
              </a:lnSpc>
            </a:pPr>
            <a:r>
              <a:rPr sz="1400" lang="fr-FR">
                <a:solidFill>
                  <a:srgbClr val="161616"/>
                </a:solidFill>
                <a:latin typeface="Arial"/>
              </a:rPr>
              <a:t>• </a:t>
            </a:r>
            <a:r>
              <a:rPr sz="1400" b="0" lang="fr-FR">
                <a:solidFill>
                  <a:srgbClr val="161616"/>
                </a:solidFill>
                <a:latin typeface="Arial"/>
              </a:rPr>
              <a:t>Les passages dans une autre langue sont balisés : &lt;span lang="en"&gt;workshop&lt;/span&gt;</a:t>
            </a:r>
          </a:p>
          <a:p>
            <a:pPr algn="l">
              <a:lnSpc>
                <a:spcPct val="125000"/>
              </a:lnSpc>
            </a:pPr>
            <a:r>
              <a:rPr sz="1400" lang="fr-FR">
                <a:solidFill>
                  <a:srgbClr val="161616"/>
                </a:solidFill>
                <a:latin typeface="Arial"/>
              </a:rPr>
              <a:t>• </a:t>
            </a:r>
            <a:r>
              <a:rPr sz="1400" b="0" lang="fr-FR">
                <a:solidFill>
                  <a:srgbClr val="161616"/>
                </a:solidFill>
                <a:latin typeface="Arial"/>
              </a:rPr>
              <a:t>Le code langue suit la norme ISO 639 : fr, en, de, es - pas « français »</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Comment vérifier sans coder</a:t>
            </a:r>
          </a:p>
        </p:txBody>
      </p:sp>
      <p:sp>
        <p:nvSpPr>
          <p:cNvPr id="18" name="DSFR-alert-info-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Clic droit → Afficher le code source → regarder la 1ʳᵉ ligne &lt;html lang="…"&gt;</a:t>
            </a:r>
          </a:p>
          <a:p>
            <a:pPr algn="l">
              <a:lnSpc>
                <a:spcPct val="150000"/>
              </a:lnSpc>
            </a:pPr>
            <a:r>
              <a:rPr sz="1400" lang="fr-FR">
                <a:solidFill>
                  <a:srgbClr val="161616"/>
                </a:solidFill>
                <a:latin typeface="Arial"/>
              </a:rPr>
              <a:t>• </a:t>
            </a:r>
            <a:r>
              <a:rPr sz="1400" b="0" lang="fr-FR">
                <a:solidFill>
                  <a:srgbClr val="161616"/>
                </a:solidFill>
                <a:latin typeface="Arial"/>
              </a:rPr>
              <a:t>Ou extension « Web Developer » → Information → View Document Language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Langue de la page</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Zoom à 200 % : tout doit rester lisible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8. Zoom à 200 %</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98</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À 200 %, votre site doit rester le même service : lisible, navigable et utilisable.</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À 200 % de zoom, aucun texte n’est coupé ni superposé</a:t>
            </a:r>
          </a:p>
          <a:p>
            <a:pPr algn="l">
              <a:lnSpc>
                <a:spcPct val="125000"/>
              </a:lnSpc>
            </a:pPr>
            <a:r>
              <a:rPr sz="1400" lang="fr-FR">
                <a:solidFill>
                  <a:srgbClr val="161616"/>
                </a:solidFill>
                <a:latin typeface="Arial"/>
              </a:rPr>
              <a:t>• </a:t>
            </a:r>
            <a:r>
              <a:rPr sz="1400" b="0" lang="fr-FR">
                <a:solidFill>
                  <a:srgbClr val="161616"/>
                </a:solidFill>
                <a:latin typeface="Arial"/>
              </a:rPr>
              <a:t>Pas d’apparition d’un défilement horizontal sur une page classique</a:t>
            </a:r>
          </a:p>
          <a:p>
            <a:pPr algn="l">
              <a:lnSpc>
                <a:spcPct val="125000"/>
              </a:lnSpc>
            </a:pPr>
            <a:r>
              <a:rPr sz="1400" lang="fr-FR">
                <a:solidFill>
                  <a:srgbClr val="161616"/>
                </a:solidFill>
                <a:latin typeface="Arial"/>
              </a:rPr>
              <a:t>• </a:t>
            </a:r>
            <a:r>
              <a:rPr sz="1400" b="0" lang="fr-FR">
                <a:solidFill>
                  <a:srgbClr val="161616"/>
                </a:solidFill>
                <a:latin typeface="Arial"/>
              </a:rPr>
              <a:t>Les menus, boutons et formulaires restent utilisables, pas seulement visibles</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Comment tester</a:t>
            </a:r>
          </a:p>
        </p:txBody>
      </p:sp>
      <p:sp>
        <p:nvSpPr>
          <p:cNvPr id="18" name="DSFR-alert-info-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Ctrl + (ou Cmd + sur Mac) pour zoomer jusqu’à 200 % - répéter 4 fois depuis 100 %</a:t>
            </a:r>
          </a:p>
          <a:p>
            <a:pPr algn="l">
              <a:lnSpc>
                <a:spcPct val="150000"/>
              </a:lnSpc>
            </a:pPr>
            <a:r>
              <a:rPr sz="1400" lang="fr-FR">
                <a:solidFill>
                  <a:srgbClr val="161616"/>
                </a:solidFill>
                <a:latin typeface="Arial"/>
              </a:rPr>
              <a:t>• </a:t>
            </a:r>
            <a:r>
              <a:rPr sz="1400" b="0" lang="fr-FR">
                <a:solidFill>
                  <a:srgbClr val="161616"/>
                </a:solidFill>
                <a:latin typeface="Arial"/>
              </a:rPr>
              <a:t>Parcourir la page : formulaire, menu, pied de page. Si ça casse, le check échoue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Zoom à 200 %</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Sous-titres : le son que tout le monde lit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9. Sous-titres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99</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Une vidéo sans sous-titres devient inutilisable dès que le son manque, est coupé ou ne peut pas être entendu.</a:t>
            </a:r>
          </a:p>
        </p:txBody>
      </p:sp>
      <p:sp>
        <p:nvSpPr>
          <p:cNvPr id="12" name="DSFR-box"/>
          <p:cNvSpPr/>
          <p:nvPr/>
        </p:nvSpPr>
        <p:spPr>
          <a:xfrm>
            <a:off x="548640" y="3314700"/>
            <a:ext cx="11155680" cy="16148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817620"/>
            <a:ext cx="10908792" cy="1020470"/>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La vidéo propose des sous-titres synchronisés (pas seulement une transcription)</a:t>
            </a:r>
          </a:p>
          <a:p>
            <a:pPr algn="l">
              <a:lnSpc>
                <a:spcPct val="115000"/>
              </a:lnSpc>
            </a:pPr>
            <a:r>
              <a:rPr sz="1400" lang="fr-FR">
                <a:solidFill>
                  <a:srgbClr val="161616"/>
                </a:solidFill>
                <a:latin typeface="Arial"/>
              </a:rPr>
              <a:t>• </a:t>
            </a:r>
            <a:r>
              <a:rPr sz="1400" b="0" lang="fr-FR">
                <a:solidFill>
                  <a:srgbClr val="161616"/>
                </a:solidFill>
                <a:latin typeface="Arial"/>
              </a:rPr>
              <a:t>Les sous-titres incluent les paroles ET les informations sonores importantes : « (rires) », « (sonnerie) »</a:t>
            </a:r>
          </a:p>
          <a:p>
            <a:pPr algn="l">
              <a:lnSpc>
                <a:spcPct val="115000"/>
              </a:lnSpc>
            </a:pPr>
            <a:r>
              <a:rPr sz="1400" lang="fr-FR">
                <a:solidFill>
                  <a:srgbClr val="161616"/>
                </a:solidFill>
                <a:latin typeface="Arial"/>
              </a:rPr>
              <a:t>• </a:t>
            </a:r>
            <a:r>
              <a:rPr sz="1400" b="0" lang="fr-FR">
                <a:solidFill>
                  <a:srgbClr val="161616"/>
                </a:solidFill>
                <a:latin typeface="Arial"/>
              </a:rPr>
              <a:t>Ils sont activables/désactivables par l’utilisateur (bouton CC)</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Sous-titres vidéo</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Sous-titres auto : brouillon utile, livrable à relire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9. Sous-titres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100</a:t>
            </a:r>
            <a:endParaRPr lang="fr-FR" dirty="0"/>
          </a:p>
        </p:txBody>
      </p:sp>
      <p:sp>
        <p:nvSpPr>
          <p:cNvPr id="9" name="DSFR-box"/>
          <p:cNvSpPr/>
          <p:nvPr/>
        </p:nvSpPr>
        <p:spPr>
          <a:xfrm>
            <a:off x="548640" y="210312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Pourquoi l’auto ne suffit pas :</a:t>
            </a:r>
          </a:p>
        </p:txBody>
      </p:sp>
      <p:sp>
        <p:nvSpPr>
          <p:cNvPr id="11" name="DSFR-callout-body"/>
          <p:cNvSpPr txBox="1"/>
          <p:nvPr/>
        </p:nvSpPr>
        <p:spPr>
          <a:xfrm>
            <a:off x="704088" y="2606039"/>
            <a:ext cx="10908792" cy="133731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Les sous-titres automatiques peuvent déformer les mots, surtout les noms propres et acronymes</a:t>
            </a:r>
          </a:p>
          <a:p>
            <a:pPr algn="l">
              <a:lnSpc>
                <a:spcPct val="125000"/>
              </a:lnSpc>
            </a:pPr>
            <a:r>
              <a:rPr sz="1400" lang="fr-FR">
                <a:solidFill>
                  <a:srgbClr val="161616"/>
                </a:solidFill>
                <a:latin typeface="Arial"/>
              </a:rPr>
              <a:t>• </a:t>
            </a:r>
            <a:r>
              <a:rPr sz="1400" b="0" lang="fr-FR">
                <a:solidFill>
                  <a:srgbClr val="161616"/>
                </a:solidFill>
                <a:latin typeface="Arial"/>
              </a:rPr>
              <a:t>Noms propres, acronymes, chiffres : souvent mal reconnus</a:t>
            </a:r>
          </a:p>
          <a:p>
            <a:pPr algn="l">
              <a:lnSpc>
                <a:spcPct val="125000"/>
              </a:lnSpc>
            </a:pPr>
            <a:r>
              <a:rPr sz="1400" lang="fr-FR">
                <a:solidFill>
                  <a:srgbClr val="161616"/>
                </a:solidFill>
                <a:latin typeface="Arial"/>
              </a:rPr>
              <a:t>• </a:t>
            </a:r>
            <a:r>
              <a:rPr sz="1400" b="0" lang="fr-FR">
                <a:solidFill>
                  <a:srgbClr val="161616"/>
                </a:solidFill>
                <a:latin typeface="Arial"/>
              </a:rPr>
              <a:t>Ponctuation absente : « on mange les enfants » vs « on mange, les enfants »</a:t>
            </a:r>
          </a:p>
          <a:p>
            <a:pPr algn="l">
              <a:lnSpc>
                <a:spcPct val="125000"/>
              </a:lnSpc>
            </a:pPr>
            <a:r>
              <a:rPr sz="1400" lang="fr-FR">
                <a:solidFill>
                  <a:srgbClr val="161616"/>
                </a:solidFill>
                <a:latin typeface="Arial"/>
              </a:rPr>
              <a:t>• </a:t>
            </a:r>
            <a:r>
              <a:rPr sz="1400" b="0" lang="fr-FR">
                <a:solidFill>
                  <a:srgbClr val="161616"/>
                </a:solidFill>
                <a:latin typeface="Arial"/>
              </a:rPr>
              <a:t>Pas d’indication sonore non verbale (musique, applaudissements)</a:t>
            </a:r>
          </a:p>
        </p:txBody>
      </p:sp>
      <p:sp>
        <p:nvSpPr>
          <p:cNvPr id="13" name="DSFR-box"/>
          <p:cNvSpPr/>
          <p:nvPr/>
        </p:nvSpPr>
        <p:spPr>
          <a:xfrm>
            <a:off x="548640" y="4594860"/>
            <a:ext cx="11155680"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6863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Méthode recommandée</a:t>
            </a:r>
          </a:p>
        </p:txBody>
      </p:sp>
      <p:sp>
        <p:nvSpPr>
          <p:cNvPr id="15" name="DSFR-alert-success-body"/>
          <p:cNvSpPr txBox="1"/>
          <p:nvPr/>
        </p:nvSpPr>
        <p:spPr>
          <a:xfrm>
            <a:off x="704088" y="509778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Générer l’auto (YouTube, Whisper, outil interne) pour accélérer le brouillon</a:t>
            </a:r>
          </a:p>
          <a:p>
            <a:pPr algn="l">
              <a:lnSpc>
                <a:spcPct val="115000"/>
              </a:lnSpc>
            </a:pPr>
            <a:r>
              <a:rPr sz="1400" lang="fr-FR">
                <a:solidFill>
                  <a:srgbClr val="161616"/>
                </a:solidFill>
                <a:latin typeface="Arial"/>
              </a:rPr>
              <a:t>• </a:t>
            </a:r>
            <a:r>
              <a:rPr sz="1400" b="0" lang="fr-FR">
                <a:solidFill>
                  <a:srgbClr val="161616"/>
                </a:solidFill>
                <a:latin typeface="Arial"/>
              </a:rPr>
              <a:t>Relire : noms, chiffres, ponctuation et [indications sonores]</a:t>
            </a:r>
          </a:p>
          <a:p>
            <a:pPr algn="l">
              <a:lnSpc>
                <a:spcPct val="115000"/>
              </a:lnSpc>
            </a:pPr>
            <a:r>
              <a:rPr sz="1400" lang="fr-FR">
                <a:solidFill>
                  <a:srgbClr val="161616"/>
                </a:solidFill>
                <a:latin typeface="Arial"/>
              </a:rPr>
              <a:t>• </a:t>
            </a:r>
            <a:r>
              <a:rPr sz="1400" b="0" lang="fr-FR">
                <a:solidFill>
                  <a:srgbClr val="161616"/>
                </a:solidFill>
                <a:latin typeface="Arial"/>
              </a:rPr>
              <a:t>Tester le rendu : 2 lignes max, contraste fort, sous-titres non masqués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Sous-titres vidéo</a:t>
            </a:r>
          </a:p>
        </p:txBody>
      </p:sp>
      <p:sp>
        <p:nvSpPr>
          <p:cNvPr id="8" name="DSFR-accent-decoratif" descr=""/>
          <p:cNvSpPr/>
          <p:nvPr/>
        </p:nvSpPr>
        <p:spPr>
          <a:xfrm>
            <a:off x="475488"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59486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Transcription : la version texte qui accompagne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10. Transcriptions audio et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101</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 transcription est au podcast ce que le script est au film : la version lisible, indexable, citable.</a:t>
            </a:r>
          </a:p>
        </p:txBody>
      </p:sp>
      <p:sp>
        <p:nvSpPr>
          <p:cNvPr id="12" name="DSFR-box"/>
          <p:cNvSpPr/>
          <p:nvPr/>
        </p:nvSpPr>
        <p:spPr>
          <a:xfrm>
            <a:off x="548640" y="2875788"/>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96722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378708"/>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Toute vidéo / audio propose un lien visible « Lire la transcription »</a:t>
            </a:r>
          </a:p>
          <a:p>
            <a:pPr algn="l">
              <a:lnSpc>
                <a:spcPct val="125000"/>
              </a:lnSpc>
            </a:pPr>
            <a:r>
              <a:rPr sz="1400" lang="fr-FR">
                <a:solidFill>
                  <a:srgbClr val="161616"/>
                </a:solidFill>
                <a:latin typeface="Arial"/>
              </a:rPr>
              <a:t>• </a:t>
            </a:r>
            <a:r>
              <a:rPr sz="1400" b="0" lang="fr-FR">
                <a:solidFill>
                  <a:srgbClr val="161616"/>
                </a:solidFill>
                <a:latin typeface="Arial"/>
              </a:rPr>
              <a:t>La transcription est complète : paroles + informations sonores essentielles</a:t>
            </a:r>
          </a:p>
          <a:p>
            <a:pPr algn="l">
              <a:lnSpc>
                <a:spcPct val="125000"/>
              </a:lnSpc>
            </a:pPr>
            <a:r>
              <a:rPr sz="1400" lang="fr-FR">
                <a:solidFill>
                  <a:srgbClr val="161616"/>
                </a:solidFill>
                <a:latin typeface="Arial"/>
              </a:rPr>
              <a:t>• </a:t>
            </a:r>
            <a:r>
              <a:rPr sz="1400" b="0" lang="fr-FR">
                <a:solidFill>
                  <a:srgbClr val="161616"/>
                </a:solidFill>
                <a:latin typeface="Arial"/>
              </a:rPr>
              <a:t>Elle est sur la même page ou à un clic, pas cachée à deux étages de menu</a:t>
            </a:r>
          </a:p>
          <a:p>
            <a:pPr algn="l">
              <a:lnSpc>
                <a:spcPct val="125000"/>
              </a:lnSpc>
            </a:pPr>
            <a:r>
              <a:rPr sz="1400" lang="fr-FR">
                <a:solidFill>
                  <a:srgbClr val="161616"/>
                </a:solidFill>
                <a:latin typeface="Arial"/>
              </a:rPr>
              <a:t>• </a:t>
            </a:r>
            <a:r>
              <a:rPr sz="1400" b="0" lang="fr-FR">
                <a:solidFill>
                  <a:srgbClr val="161616"/>
                </a:solidFill>
                <a:latin typeface="Arial"/>
              </a:rPr>
              <a:t>Pour une vidéo : la transcription descriptive inclut aussi l’action visible</a:t>
            </a:r>
          </a:p>
        </p:txBody>
      </p:sp>
      <p:sp>
        <p:nvSpPr>
          <p:cNvPr id="16" name="DSFR-box"/>
          <p:cNvSpPr/>
          <p:nvPr/>
        </p:nvSpPr>
        <p:spPr>
          <a:xfrm>
            <a:off x="548640" y="486918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9606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Bonus souvent oublié</a:t>
            </a:r>
          </a:p>
        </p:txBody>
      </p:sp>
      <p:sp>
        <p:nvSpPr>
          <p:cNvPr id="18" name="DSFR-alert-info-body"/>
          <p:cNvSpPr txBox="1"/>
          <p:nvPr/>
        </p:nvSpPr>
        <p:spPr>
          <a:xfrm>
            <a:off x="704088" y="537210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La transcription rend le contenu plus facile à retrouver, relire et citer</a:t>
            </a:r>
          </a:p>
          <a:p>
            <a:pPr algn="l">
              <a:lnSpc>
                <a:spcPct val="150000"/>
              </a:lnSpc>
            </a:pPr>
            <a:r>
              <a:rPr sz="1400" lang="fr-FR">
                <a:solidFill>
                  <a:srgbClr val="161616"/>
                </a:solidFill>
                <a:latin typeface="Arial"/>
              </a:rPr>
              <a:t>• </a:t>
            </a:r>
            <a:r>
              <a:rPr sz="1400" b="0" lang="fr-FR">
                <a:solidFill>
                  <a:srgbClr val="161616"/>
                </a:solidFill>
                <a:latin typeface="Arial"/>
              </a:rPr>
              <a:t>Elle sert aussi aux personnes qui ne peuvent pas lancer la vidéo ou l’audio</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Transcriptions audio et vidéo</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875788"/>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86918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Audiodescription : la voix qui montre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11. Audiodescription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102</a:t>
            </a:r>
            <a:endParaRPr lang="fr-FR" dirty="0"/>
          </a:p>
        </p:txBody>
      </p:sp>
      <p:sp>
        <p:nvSpPr>
          <p:cNvPr id="9" name="DSFR-box"/>
          <p:cNvSpPr/>
          <p:nvPr/>
        </p:nvSpPr>
        <p:spPr>
          <a:xfrm>
            <a:off x="548640" y="201168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0312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L’audiodescription ajoute une voix off qui décrit les images clés pendant les silences.</a:t>
            </a:r>
          </a:p>
        </p:txBody>
      </p:sp>
      <p:sp>
        <p:nvSpPr>
          <p:cNvPr id="12" name="DSFR-box"/>
          <p:cNvSpPr/>
          <p:nvPr/>
        </p:nvSpPr>
        <p:spPr>
          <a:xfrm>
            <a:off x="548640" y="2994660"/>
            <a:ext cx="11155680"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497579"/>
            <a:ext cx="10908792" cy="12412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La vidéo propose une piste audiodécrite activable (bouton AD)</a:t>
            </a:r>
          </a:p>
          <a:p>
            <a:pPr algn="l">
              <a:lnSpc>
                <a:spcPct val="115000"/>
              </a:lnSpc>
            </a:pPr>
            <a:r>
              <a:rPr sz="1400" lang="fr-FR">
                <a:solidFill>
                  <a:srgbClr val="161616"/>
                </a:solidFill>
                <a:latin typeface="Arial"/>
              </a:rPr>
              <a:t>• </a:t>
            </a:r>
            <a:r>
              <a:rPr sz="1400" b="0" lang="fr-FR">
                <a:solidFill>
                  <a:srgbClr val="161616"/>
                </a:solidFill>
                <a:latin typeface="Arial"/>
              </a:rPr>
              <a:t>L’audiodescription décrit les éléments visuels essentiels à la compréhension</a:t>
            </a:r>
          </a:p>
          <a:p>
            <a:pPr algn="l">
              <a:lnSpc>
                <a:spcPct val="115000"/>
              </a:lnSpc>
            </a:pPr>
            <a:r>
              <a:rPr sz="1400" lang="fr-FR">
                <a:solidFill>
                  <a:srgbClr val="161616"/>
                </a:solidFill>
                <a:latin typeface="Arial"/>
              </a:rPr>
              <a:t>• </a:t>
            </a:r>
            <a:r>
              <a:rPr sz="1400" b="0" lang="fr-FR">
                <a:solidFill>
                  <a:srgbClr val="161616"/>
                </a:solidFill>
                <a:latin typeface="Arial"/>
              </a:rPr>
              <a:t>Elle s’intercale dans les silences, sans couvrir les dialogues</a:t>
            </a:r>
          </a:p>
          <a:p>
            <a:pPr algn="l">
              <a:lnSpc>
                <a:spcPct val="115000"/>
              </a:lnSpc>
            </a:pPr>
            <a:r>
              <a:rPr sz="1400" lang="fr-FR">
                <a:solidFill>
                  <a:srgbClr val="161616"/>
                </a:solidFill>
                <a:latin typeface="Arial"/>
              </a:rPr>
              <a:t>• </a:t>
            </a:r>
            <a:r>
              <a:rPr sz="1400" b="0" lang="fr-FR">
                <a:solidFill>
                  <a:srgbClr val="161616"/>
                </a:solidFill>
                <a:latin typeface="Arial"/>
              </a:rPr>
              <a:t>Pour une vidéo sans dialogue essentiel : une description textuelle synchronisée suffit</a:t>
            </a:r>
          </a:p>
        </p:txBody>
      </p:sp>
      <p:sp>
        <p:nvSpPr>
          <p:cNvPr id="16" name="DSFR-box"/>
          <p:cNvSpPr/>
          <p:nvPr/>
        </p:nvSpPr>
        <p:spPr>
          <a:xfrm>
            <a:off x="548640" y="4922215"/>
            <a:ext cx="11155680" cy="128016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quote-texte"/>
          <p:cNvSpPr txBox="1"/>
          <p:nvPr/>
        </p:nvSpPr>
        <p:spPr>
          <a:xfrm>
            <a:off x="749808" y="5059375"/>
            <a:ext cx="10863072" cy="731520"/>
          </a:xfrm>
          <a:prstGeom prst="rect">
            <a:avLst/>
          </a:prstGeom>
          <a:noFill/>
        </p:spPr>
        <p:txBody>
          <a:bodyPr wrap="square" anchor="t" lIns="73152" rIns="73152">
            <a:spAutoFit/>
          </a:bodyPr>
          <a:lstStyle/>
          <a:p>
            <a:pPr algn="l">
              <a:lnSpc>
                <a:spcPct val="125000"/>
              </a:lnSpc>
            </a:pPr>
            <a:r>
              <a:rPr sz="1600" b="0" i="1" lang="fr-FR">
                <a:solidFill>
                  <a:srgbClr val="161616"/>
                </a:solidFill>
                <a:latin typeface="Arial"/>
              </a:rPr>
              <a:t>Quand l’image porte l’information, elle doit aussi être disponible autrement que par la vue.</a:t>
            </a:r>
          </a:p>
        </p:txBody>
      </p:sp>
      <p:sp>
        <p:nvSpPr>
          <p:cNvPr id="18" name="DSFR-quote-auteur"/>
          <p:cNvSpPr txBox="1"/>
          <p:nvPr/>
        </p:nvSpPr>
        <p:spPr>
          <a:xfrm>
            <a:off x="749808" y="5745175"/>
            <a:ext cx="10863072" cy="3657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Principe d’accessibilité vidéo</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Audiodescription</a:t>
            </a:r>
          </a:p>
        </p:txBody>
      </p:sp>
      <p:sp>
        <p:nvSpPr>
          <p:cNvPr id="8" name="DSFR-accent-decoratif" descr=""/>
          <p:cNvSpPr/>
          <p:nvPr/>
        </p:nvSpPr>
        <p:spPr>
          <a:xfrm>
            <a:off x="475488" y="201168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922215"/>
            <a:ext cx="73152" cy="12801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Bonus médias : toujours 2 accès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Bonus médias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103</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Règle d'or : un média en ligne doit rester compréhensible par au moins deux chemins : voir, lire ou écouter.</a:t>
            </a:r>
          </a:p>
        </p:txBody>
      </p:sp>
      <p:sp>
        <p:nvSpPr>
          <p:cNvPr id="12" name="DSFR-box"/>
          <p:cNvSpPr/>
          <p:nvPr/>
        </p:nvSpPr>
        <p:spPr>
          <a:xfrm>
            <a:off x="548640" y="2930652"/>
            <a:ext cx="5390388" cy="211409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 réflexe</a:t>
            </a:r>
          </a:p>
        </p:txBody>
      </p:sp>
      <p:sp>
        <p:nvSpPr>
          <p:cNvPr id="14" name="DSFR-callout-body"/>
          <p:cNvSpPr txBox="1"/>
          <p:nvPr/>
        </p:nvSpPr>
        <p:spPr>
          <a:xfrm>
            <a:off x="704088" y="3433572"/>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Image, schéma ou plan -&gt; description ou texte alternatif</a:t>
            </a:r>
          </a:p>
          <a:p>
            <a:pPr algn="l">
              <a:lnSpc>
                <a:spcPct val="120000"/>
              </a:lnSpc>
            </a:pPr>
            <a:r>
              <a:rPr sz="1400" lang="fr-FR">
                <a:solidFill>
                  <a:srgbClr val="161616"/>
                </a:solidFill>
                <a:latin typeface="Arial"/>
              </a:rPr>
              <a:t>• </a:t>
            </a:r>
            <a:r>
              <a:rPr sz="1400" b="0" lang="fr-FR">
                <a:solidFill>
                  <a:srgbClr val="161616"/>
                </a:solidFill>
                <a:latin typeface="Arial"/>
              </a:rPr>
              <a:t>Vidéo -&gt; sous-titres + informations visuelles essentielles</a:t>
            </a:r>
          </a:p>
          <a:p>
            <a:pPr algn="l">
              <a:lnSpc>
                <a:spcPct val="120000"/>
              </a:lnSpc>
            </a:pPr>
            <a:r>
              <a:rPr sz="1400" lang="fr-FR">
                <a:solidFill>
                  <a:srgbClr val="161616"/>
                </a:solidFill>
                <a:latin typeface="Arial"/>
              </a:rPr>
              <a:t>• </a:t>
            </a:r>
            <a:r>
              <a:rPr sz="1400" b="0" lang="fr-FR">
                <a:solidFill>
                  <a:srgbClr val="161616"/>
                </a:solidFill>
                <a:latin typeface="Arial"/>
              </a:rPr>
              <a:t>Audio ou podcast -&gt; transcription visible et relue</a:t>
            </a:r>
          </a:p>
        </p:txBody>
      </p:sp>
      <p:sp>
        <p:nvSpPr>
          <p:cNvPr id="16" name="DSFR-box"/>
          <p:cNvSpPr/>
          <p:nvPr/>
        </p:nvSpPr>
        <p:spPr>
          <a:xfrm>
            <a:off x="6313931" y="2930652"/>
            <a:ext cx="5390388" cy="21140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Les pièges à repérer</a:t>
            </a:r>
          </a:p>
        </p:txBody>
      </p:sp>
      <p:sp>
        <p:nvSpPr>
          <p:cNvPr id="18" name="DSFR-alert-info-body"/>
          <p:cNvSpPr txBox="1"/>
          <p:nvPr/>
        </p:nvSpPr>
        <p:spPr>
          <a:xfrm>
            <a:off x="6469379" y="3433572"/>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Sous-titres lisibles : contraste fort, bandeau si besoin</a:t>
            </a:r>
          </a:p>
          <a:p>
            <a:pPr algn="l">
              <a:lnSpc>
                <a:spcPct val="120000"/>
              </a:lnSpc>
            </a:pPr>
            <a:r>
              <a:rPr sz="1400" lang="fr-FR">
                <a:solidFill>
                  <a:srgbClr val="161616"/>
                </a:solidFill>
                <a:latin typeface="Arial"/>
              </a:rPr>
              <a:t>• </a:t>
            </a:r>
            <a:r>
              <a:rPr sz="1400" b="0" lang="fr-FR">
                <a:solidFill>
                  <a:srgbClr val="161616"/>
                </a:solidFill>
                <a:latin typeface="Arial"/>
              </a:rPr>
              <a:t>Format réseau social : sous-titres non masqués par l'interface</a:t>
            </a:r>
          </a:p>
          <a:p>
            <a:pPr algn="l">
              <a:lnSpc>
                <a:spcPct val="120000"/>
              </a:lnSpc>
            </a:pPr>
            <a:r>
              <a:rPr sz="1400" lang="fr-FR">
                <a:solidFill>
                  <a:srgbClr val="161616"/>
                </a:solidFill>
                <a:latin typeface="Arial"/>
              </a:rPr>
              <a:t>• </a:t>
            </a:r>
            <a:r>
              <a:rPr sz="1400" b="0" lang="fr-FR">
                <a:solidFill>
                  <a:srgbClr val="161616"/>
                </a:solidFill>
                <a:latin typeface="Arial"/>
              </a:rPr>
              <a:t>PDF : texte sélectionnable, pas une image scannée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Bonus médias</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30652"/>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30652"/>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Bonus médias : Audio-description et transcription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Bonus médias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104</a:t>
            </a:r>
            <a:endParaRPr lang="fr-FR" dirty="0"/>
          </a:p>
        </p:txBody>
      </p:sp>
      <p:sp>
        <p:nvSpPr>
          <p:cNvPr id="9" name="DSFR-box"/>
          <p:cNvSpPr/>
          <p:nvPr/>
        </p:nvSpPr>
        <p:spPr>
          <a:xfrm>
            <a:off x="548640" y="1874519"/>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Image et son : proposer un autre accès à toute information utile.</a:t>
            </a:r>
          </a:p>
        </p:txBody>
      </p:sp>
      <p:sp>
        <p:nvSpPr>
          <p:cNvPr id="12" name="DSFR-box"/>
          <p:cNvSpPr/>
          <p:nvPr/>
        </p:nvSpPr>
        <p:spPr>
          <a:xfrm>
            <a:off x="548640" y="2660904"/>
            <a:ext cx="5390388" cy="24981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752344"/>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Audio-description : ce que ça ajoute</a:t>
            </a:r>
          </a:p>
        </p:txBody>
      </p:sp>
      <p:sp>
        <p:nvSpPr>
          <p:cNvPr id="14" name="DSFR-callout-body"/>
          <p:cNvSpPr txBox="1"/>
          <p:nvPr/>
        </p:nvSpPr>
        <p:spPr>
          <a:xfrm>
            <a:off x="704088" y="3163824"/>
            <a:ext cx="5143500" cy="1903780"/>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Décors, lieux et changements de scène utiles</a:t>
            </a:r>
          </a:p>
          <a:p>
            <a:pPr algn="l">
              <a:lnSpc>
                <a:spcPct val="115000"/>
              </a:lnSpc>
            </a:pPr>
            <a:r>
              <a:rPr sz="1400" lang="fr-FR">
                <a:solidFill>
                  <a:srgbClr val="161616"/>
                </a:solidFill>
                <a:latin typeface="Arial"/>
              </a:rPr>
              <a:t>• </a:t>
            </a:r>
            <a:r>
              <a:rPr sz="1400" b="0" lang="fr-FR">
                <a:solidFill>
                  <a:srgbClr val="161616"/>
                </a:solidFill>
                <a:latin typeface="Arial"/>
              </a:rPr>
              <a:t>Actions, gestes et expressions qui ne s’entendent pas</a:t>
            </a:r>
          </a:p>
          <a:p>
            <a:pPr algn="l">
              <a:lnSpc>
                <a:spcPct val="115000"/>
              </a:lnSpc>
            </a:pPr>
            <a:r>
              <a:rPr sz="1400" lang="fr-FR">
                <a:solidFill>
                  <a:srgbClr val="161616"/>
                </a:solidFill>
                <a:latin typeface="Arial"/>
              </a:rPr>
              <a:t>• </a:t>
            </a:r>
            <a:r>
              <a:rPr sz="1400" b="0" lang="fr-FR">
                <a:solidFill>
                  <a:srgbClr val="161616"/>
                </a:solidFill>
                <a:latin typeface="Arial"/>
              </a:rPr>
              <a:t>Textes et informations importantes affichés à l’écran</a:t>
            </a:r>
          </a:p>
          <a:p>
            <a:pPr algn="l">
              <a:lnSpc>
                <a:spcPct val="115000"/>
              </a:lnSpc>
            </a:pPr>
            <a:r>
              <a:rPr sz="1400" lang="fr-FR">
                <a:solidFill>
                  <a:srgbClr val="161616"/>
                </a:solidFill>
                <a:latin typeface="Arial"/>
              </a:rPr>
              <a:t>• </a:t>
            </a:r>
            <a:r>
              <a:rPr sz="1400" b="0" lang="fr-FR">
                <a:solidFill>
                  <a:srgbClr val="161616"/>
                </a:solidFill>
                <a:latin typeface="Arial"/>
              </a:rPr>
              <a:t>Une voix placée dans les silences, sans couvrir les dialogues</a:t>
            </a:r>
          </a:p>
        </p:txBody>
      </p:sp>
      <p:sp>
        <p:nvSpPr>
          <p:cNvPr id="16" name="DSFR-box"/>
          <p:cNvSpPr/>
          <p:nvPr/>
        </p:nvSpPr>
        <p:spPr>
          <a:xfrm>
            <a:off x="6313931" y="2660904"/>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2752344"/>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Transcription : choisir le niveau</a:t>
            </a:r>
          </a:p>
        </p:txBody>
      </p:sp>
      <p:sp>
        <p:nvSpPr>
          <p:cNvPr id="18" name="DSFR-alert-info-body"/>
          <p:cNvSpPr txBox="1"/>
          <p:nvPr/>
        </p:nvSpPr>
        <p:spPr>
          <a:xfrm>
            <a:off x="6469379" y="3163824"/>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Semi-intégrale : résumé détaillé + citations</a:t>
            </a:r>
          </a:p>
          <a:p>
            <a:pPr algn="l">
              <a:lnSpc>
                <a:spcPct val="115000"/>
              </a:lnSpc>
            </a:pPr>
            <a:r>
              <a:rPr sz="1400" lang="fr-FR">
                <a:solidFill>
                  <a:srgbClr val="161616"/>
                </a:solidFill>
                <a:latin typeface="Arial"/>
              </a:rPr>
              <a:t>• </a:t>
            </a:r>
            <a:r>
              <a:rPr sz="1400" b="0" lang="fr-FR">
                <a:solidFill>
                  <a:srgbClr val="161616"/>
                </a:solidFill>
                <a:latin typeface="Arial"/>
              </a:rPr>
              <a:t>Intégrale éditée : texte complet, corrigé et lisible</a:t>
            </a:r>
          </a:p>
          <a:p>
            <a:pPr algn="l">
              <a:lnSpc>
                <a:spcPct val="115000"/>
              </a:lnSpc>
            </a:pPr>
            <a:r>
              <a:rPr sz="1400" lang="fr-FR">
                <a:solidFill>
                  <a:srgbClr val="161616"/>
                </a:solidFill>
                <a:latin typeface="Arial"/>
              </a:rPr>
              <a:t>• </a:t>
            </a:r>
            <a:r>
              <a:rPr sz="1400" b="0" lang="fr-FR">
                <a:solidFill>
                  <a:srgbClr val="161616"/>
                </a:solidFill>
                <a:latin typeface="Arial"/>
              </a:rPr>
              <a:t>Verbatim : mot à mot, hésitations et sons inclus</a:t>
            </a:r>
          </a:p>
        </p:txBody>
      </p:sp>
      <p:sp>
        <p:nvSpPr>
          <p:cNvPr id="20" name="DSFR-box"/>
          <p:cNvSpPr/>
          <p:nvPr/>
        </p:nvSpPr>
        <p:spPr>
          <a:xfrm>
            <a:off x="548640" y="53053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highlight"/>
          <p:cNvSpPr txBox="1"/>
          <p:nvPr/>
        </p:nvSpPr>
        <p:spPr>
          <a:xfrm>
            <a:off x="749808" y="539678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IA utile pour brouillonner. Publication seulement après relecture humaine.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Bonus médias</a:t>
            </a:r>
          </a:p>
        </p:txBody>
      </p:sp>
      <p:sp>
        <p:nvSpPr>
          <p:cNvPr id="8" name="DSFR-accent-decoratif" descr=""/>
          <p:cNvSpPr/>
          <p:nvPr/>
        </p:nvSpPr>
        <p:spPr>
          <a:xfrm>
            <a:off x="475488" y="1874519"/>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660904"/>
            <a:ext cx="73152" cy="24981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660904"/>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53053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Étiquettes : chaque champ a un nom</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105</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Sans étiquette, un champ est comme une boîte aux lettres sans nom - on ne sait pas ce qu’on glisse dedans.</a:t>
            </a:r>
          </a:p>
        </p:txBody>
      </p:sp>
      <p:sp>
        <p:nvSpPr>
          <p:cNvPr id="12" name="DSFR-box"/>
          <p:cNvSpPr/>
          <p:nvPr/>
        </p:nvSpPr>
        <p:spPr>
          <a:xfrm>
            <a:off x="548640" y="331470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817620"/>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Chaque champ (texte, case, menu déroulant) a une étiquette visible à côté</a:t>
            </a:r>
          </a:p>
          <a:p>
            <a:pPr algn="l">
              <a:lnSpc>
                <a:spcPct val="125000"/>
              </a:lnSpc>
            </a:pPr>
            <a:r>
              <a:rPr sz="1400" lang="fr-FR">
                <a:solidFill>
                  <a:srgbClr val="161616"/>
                </a:solidFill>
                <a:latin typeface="Arial"/>
              </a:rPr>
              <a:t>• </a:t>
            </a:r>
            <a:r>
              <a:rPr sz="1400" b="0" lang="fr-FR">
                <a:solidFill>
                  <a:srgbClr val="161616"/>
                </a:solidFill>
                <a:latin typeface="Arial"/>
              </a:rPr>
              <a:t>L’étiquette reste affichée quand on commence à saisir - elle ne disparaît pas</a:t>
            </a:r>
          </a:p>
          <a:p>
            <a:pPr algn="l">
              <a:lnSpc>
                <a:spcPct val="125000"/>
              </a:lnSpc>
            </a:pPr>
            <a:r>
              <a:rPr sz="1400" lang="fr-FR">
                <a:solidFill>
                  <a:srgbClr val="161616"/>
                </a:solidFill>
                <a:latin typeface="Arial"/>
              </a:rPr>
              <a:t>• </a:t>
            </a:r>
            <a:r>
              <a:rPr sz="1400" b="0" lang="fr-FR">
                <a:solidFill>
                  <a:srgbClr val="161616"/>
                </a:solidFill>
                <a:latin typeface="Arial"/>
              </a:rPr>
              <a:t>Cliquer sur l’étiquette déplace le focus dans le champ (test rapide et décisif)</a:t>
            </a:r>
          </a:p>
          <a:p>
            <a:pPr algn="l">
              <a:lnSpc>
                <a:spcPct val="125000"/>
              </a:lnSpc>
            </a:pPr>
            <a:r>
              <a:rPr sz="1400" lang="fr-FR">
                <a:solidFill>
                  <a:srgbClr val="161616"/>
                </a:solidFill>
                <a:latin typeface="Arial"/>
              </a:rPr>
              <a:t>• </a:t>
            </a:r>
            <a:r>
              <a:rPr sz="1400" b="0" lang="fr-FR">
                <a:solidFill>
                  <a:srgbClr val="161616"/>
                </a:solidFill>
                <a:latin typeface="Arial"/>
              </a:rPr>
              <a:t>Le lecteur d’écran annonce l’étiquette ET le type de champ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Étiquettes de formulaire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Placeholder ≠ étiquette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106</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Pourquoi le placeholder ne remplace pas l’étiquette :</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Il disparaît dès qu’on commence à saisir - on oublie ce qu’on remplit</a:t>
            </a:r>
          </a:p>
          <a:p>
            <a:pPr algn="l">
              <a:lnSpc>
                <a:spcPct val="125000"/>
              </a:lnSpc>
            </a:pPr>
            <a:r>
              <a:rPr sz="1400" lang="fr-FR">
                <a:solidFill>
                  <a:srgbClr val="161616"/>
                </a:solidFill>
                <a:latin typeface="Arial"/>
              </a:rPr>
              <a:t>• </a:t>
            </a:r>
            <a:r>
              <a:rPr sz="1400" b="0" lang="fr-FR">
                <a:solidFill>
                  <a:srgbClr val="161616"/>
                </a:solidFill>
                <a:latin typeface="Arial"/>
              </a:rPr>
              <a:t>Son contraste est souvent trop faible pour passer le check 4</a:t>
            </a:r>
          </a:p>
          <a:p>
            <a:pPr algn="l">
              <a:lnSpc>
                <a:spcPct val="125000"/>
              </a:lnSpc>
            </a:pPr>
            <a:r>
              <a:rPr sz="1400" lang="fr-FR">
                <a:solidFill>
                  <a:srgbClr val="161616"/>
                </a:solidFill>
                <a:latin typeface="Arial"/>
              </a:rPr>
              <a:t>• </a:t>
            </a:r>
            <a:r>
              <a:rPr sz="1400" b="0" lang="fr-FR">
                <a:solidFill>
                  <a:srgbClr val="161616"/>
                </a:solidFill>
                <a:latin typeface="Arial"/>
              </a:rPr>
              <a:t>Il peut être annoncé comme exemple, pas comme nom fiable du champ</a:t>
            </a:r>
          </a:p>
          <a:p>
            <a:pPr algn="l">
              <a:lnSpc>
                <a:spcPct val="125000"/>
              </a:lnSpc>
            </a:pPr>
            <a:r>
              <a:rPr sz="1400" lang="fr-FR">
                <a:solidFill>
                  <a:srgbClr val="161616"/>
                </a:solidFill>
                <a:latin typeface="Arial"/>
              </a:rPr>
              <a:t>• </a:t>
            </a:r>
            <a:r>
              <a:rPr sz="1400" b="0" lang="fr-FR">
                <a:solidFill>
                  <a:srgbClr val="161616"/>
                </a:solidFill>
                <a:latin typeface="Arial"/>
              </a:rPr>
              <a:t>Il devient difficile d’y revenir dès que la saisie commence</a:t>
            </a:r>
          </a:p>
        </p:txBody>
      </p:sp>
      <p:sp>
        <p:nvSpPr>
          <p:cNvPr id="13" name="DSFR-box"/>
          <p:cNvSpPr/>
          <p:nvPr/>
        </p:nvSpPr>
        <p:spPr>
          <a:xfrm>
            <a:off x="548640" y="4306824"/>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39826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Pattern recommandé</a:t>
            </a:r>
          </a:p>
        </p:txBody>
      </p:sp>
      <p:sp>
        <p:nvSpPr>
          <p:cNvPr id="15" name="DSFR-alert-success-body"/>
          <p:cNvSpPr txBox="1"/>
          <p:nvPr/>
        </p:nvSpPr>
        <p:spPr>
          <a:xfrm>
            <a:off x="704088" y="4809744"/>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Étiquette visible au-dessus du champ (ou à gauche)</a:t>
            </a:r>
          </a:p>
          <a:p>
            <a:pPr algn="l">
              <a:lnSpc>
                <a:spcPct val="150000"/>
              </a:lnSpc>
            </a:pPr>
            <a:r>
              <a:rPr sz="1400" lang="fr-FR">
                <a:solidFill>
                  <a:srgbClr val="161616"/>
                </a:solidFill>
                <a:latin typeface="Arial"/>
              </a:rPr>
              <a:t>• </a:t>
            </a:r>
            <a:r>
              <a:rPr sz="1400" b="0" lang="fr-FR">
                <a:solidFill>
                  <a:srgbClr val="161616"/>
                </a:solidFill>
                <a:latin typeface="Arial"/>
              </a:rPr>
              <a:t>Placeholder optionnel, pour donner un exemple de format : « JJ/MM/AAAA »</a:t>
            </a:r>
          </a:p>
          <a:p>
            <a:pPr algn="l">
              <a:lnSpc>
                <a:spcPct val="150000"/>
              </a:lnSpc>
            </a:pPr>
            <a:r>
              <a:rPr sz="1400" lang="fr-FR">
                <a:solidFill>
                  <a:srgbClr val="161616"/>
                </a:solidFill>
                <a:latin typeface="Arial"/>
              </a:rPr>
              <a:t>• </a:t>
            </a:r>
            <a:r>
              <a:rPr sz="1400" b="0" lang="fr-FR">
                <a:solidFill>
                  <a:srgbClr val="161616"/>
                </a:solidFill>
                <a:latin typeface="Arial"/>
              </a:rPr>
              <a:t>Ne pas mettre l’information essentielle uniquement dans le placeholder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Étiquettes de formulaire</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306824"/>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Groupes de champs : l’étiquette commune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107</a:t>
            </a:r>
            <a:endParaRPr lang="fr-FR" dirty="0"/>
          </a:p>
        </p:txBody>
      </p:sp>
      <p:sp>
        <p:nvSpPr>
          <p:cNvPr id="9" name="DSFR-box"/>
          <p:cNvSpPr/>
          <p:nvPr/>
        </p:nvSpPr>
        <p:spPr>
          <a:xfrm>
            <a:off x="548640" y="219456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2860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Quand regrouper :</a:t>
            </a:r>
          </a:p>
        </p:txBody>
      </p:sp>
      <p:sp>
        <p:nvSpPr>
          <p:cNvPr id="11" name="DSFR-callout-body"/>
          <p:cNvSpPr txBox="1"/>
          <p:nvPr/>
        </p:nvSpPr>
        <p:spPr>
          <a:xfrm>
            <a:off x="704088" y="269747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Plusieurs boutons radio qui répondent à la même question (« Civilité : M / Mme / autre »)</a:t>
            </a:r>
          </a:p>
          <a:p>
            <a:pPr algn="l">
              <a:lnSpc>
                <a:spcPct val="125000"/>
              </a:lnSpc>
            </a:pPr>
            <a:r>
              <a:rPr sz="1400" lang="fr-FR">
                <a:solidFill>
                  <a:srgbClr val="161616"/>
                </a:solidFill>
                <a:latin typeface="Arial"/>
              </a:rPr>
              <a:t>• </a:t>
            </a:r>
            <a:r>
              <a:rPr sz="1400" b="0" lang="fr-FR">
                <a:solidFill>
                  <a:srgbClr val="161616"/>
                </a:solidFill>
                <a:latin typeface="Arial"/>
              </a:rPr>
              <a:t>Plusieurs cases à cocher qui partagent un thème (« Jours travaillés »)</a:t>
            </a:r>
          </a:p>
          <a:p>
            <a:pPr algn="l">
              <a:lnSpc>
                <a:spcPct val="125000"/>
              </a:lnSpc>
            </a:pPr>
            <a:r>
              <a:rPr sz="1400" lang="fr-FR">
                <a:solidFill>
                  <a:srgbClr val="161616"/>
                </a:solidFill>
                <a:latin typeface="Arial"/>
              </a:rPr>
              <a:t>• </a:t>
            </a:r>
            <a:r>
              <a:rPr sz="1400" b="0" lang="fr-FR">
                <a:solidFill>
                  <a:srgbClr val="161616"/>
                </a:solidFill>
                <a:latin typeface="Arial"/>
              </a:rPr>
              <a:t>Adresse découpée en plusieurs champs (n°, rue, code postal, ville)</a:t>
            </a:r>
          </a:p>
        </p:txBody>
      </p:sp>
      <p:graphicFrame>
        <p:nvGraphicFramePr>
          <p:cNvPr id="12" name="Table 11"/>
          <p:cNvGraphicFramePr>
            <a:graphicFrameLocks noGrp="1"/>
          </p:cNvGraphicFramePr>
          <p:nvPr/>
        </p:nvGraphicFramePr>
        <p:xfrm>
          <a:off x="475488" y="3977639"/>
          <a:ext cx="11228832" cy="2194560"/>
        </p:xfrm>
        <a:graphic>
          <a:graphicData uri="http://schemas.openxmlformats.org/drawingml/2006/table">
            <a:tbl>
              <a:tblPr firstRow="1" bandRow="1">
                <a:tableStyleId>{5C22544A-7EE6-4342-B048-85BDC9FD1C3A}</a:tableStyleId>
              </a:tblPr>
              <a:tblGrid>
                <a:gridCol w="2926080"/>
                <a:gridCol w="4187952"/>
                <a:gridCol w="4114800"/>
              </a:tblGrid>
              <a:tr h="731520">
                <a:tc>
                  <a:txBody>
                    <a:bodyPr wrap="square" anchor="ctr" lIns="73152" rIns="73152"/>
                    <a:lstStyle/>
                    <a:p>
                      <a:pPr algn="l">
                        <a:lnSpc>
                          <a:spcPct val="125000"/>
                        </a:lnSpc>
                      </a:pPr>
                      <a:r>
                        <a:rPr sz="1400" b="1" i="0" lang="fr-FR">
                          <a:solidFill>
                            <a:srgbClr val="FFFFFF"/>
                          </a:solidFill>
                          <a:latin typeface="Arial"/>
                        </a:rPr>
                        <a:t>Cas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Code vérifié</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Verdict lecteur d’écran</a:t>
                      </a:r>
                    </a:p>
                  </a:txBody>
                  <a:tcPr marL="91440" marR="91440" marT="45720" marB="45720">
                    <a:solidFill>
                      <a:srgbClr val="000091"/>
                    </a:solidFill>
                  </a:tcPr>
                </a:tc>
              </a:tr>
              <a:tr h="731520">
                <a:tc>
                  <a:txBody>
                    <a:bodyPr wrap="square" anchor="ctr" lIns="73152" rIns="73152"/>
                    <a:lstStyle/>
                    <a:p>
                      <a:pPr algn="l">
                        <a:lnSpc>
                          <a:spcPct val="125000"/>
                        </a:lnSpc>
                      </a:pPr>
                      <a:r>
                        <a:rPr sz="1400" b="0" i="0" lang="fr-FR">
                          <a:solidFill>
                            <a:srgbClr val="161616"/>
                          </a:solidFill>
                          <a:latin typeface="Arial"/>
                        </a:rPr>
                        <a:t>3 radios « Civilité » sans regroupement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Chaque radio a son label seul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M, bouton radio » - question perdue</a:t>
                      </a:r>
                    </a:p>
                  </a:txBody>
                  <a:tcPr marL="91440" marR="91440" marT="45720" marB="45720">
                    <a:solidFill>
                      <a:srgbClr val="FFFFFF"/>
                    </a:solidFill>
                  </a:tcPr>
                </a:tc>
              </a:tr>
              <a:tr h="731520">
                <a:tc>
                  <a:txBody>
                    <a:bodyPr wrap="square" anchor="ctr" lIns="73152" rIns="73152"/>
                    <a:lstStyle/>
                    <a:p>
                      <a:pPr algn="l">
                        <a:lnSpc>
                          <a:spcPct val="125000"/>
                        </a:lnSpc>
                      </a:pPr>
                      <a:r>
                        <a:rPr sz="1400" b="0" i="0" lang="fr-FR">
                          <a:solidFill>
                            <a:srgbClr val="161616"/>
                          </a:solidFill>
                          <a:latin typeface="Arial"/>
                        </a:rPr>
                        <a:t>3 radios dans un &lt;fieldset&gt; avec &lt;legend&gt;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&lt;fieldset&gt;&lt;legend&gt;Civilité&lt;/legend&gt;… &lt;input type="radio"&gt;…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Civilité, M, bouton radio » - question claire</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Étiquettes de formulaire</a:t>
            </a:r>
          </a:p>
        </p:txBody>
      </p:sp>
      <p:sp>
        <p:nvSpPr>
          <p:cNvPr id="8" name="DSFR-accent-decoratif" descr=""/>
          <p:cNvSpPr/>
          <p:nvPr/>
        </p:nvSpPr>
        <p:spPr>
          <a:xfrm>
            <a:off x="475488" y="219456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Champs obligatoires : prévenir puis guider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13. Champs obligatoires et erreurs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108</a:t>
            </a:r>
            <a:endParaRPr lang="fr-FR" dirty="0"/>
          </a:p>
        </p:txBody>
      </p:sp>
      <p:sp>
        <p:nvSpPr>
          <p:cNvPr id="9" name="DSFR-box"/>
          <p:cNvSpPr/>
          <p:nvPr/>
        </p:nvSpPr>
        <p:spPr>
          <a:xfrm>
            <a:off x="548640" y="178308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74519"/>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Test #13 = avant envoi + après soumission vide : l'obligation prévient, l'erreur guide.</a:t>
            </a:r>
          </a:p>
        </p:txBody>
      </p:sp>
      <p:sp>
        <p:nvSpPr>
          <p:cNvPr id="12" name="DSFR-box"/>
          <p:cNvSpPr/>
          <p:nvPr/>
        </p:nvSpPr>
        <p:spPr>
          <a:xfrm>
            <a:off x="548640" y="27477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8392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Avant soumission</a:t>
            </a:r>
          </a:p>
        </p:txBody>
      </p:sp>
      <p:sp>
        <p:nvSpPr>
          <p:cNvPr id="14" name="DSFR-callout-body"/>
          <p:cNvSpPr txBox="1"/>
          <p:nvPr/>
        </p:nvSpPr>
        <p:spPr>
          <a:xfrm>
            <a:off x="704088" y="32506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Obligation écrite : « obligatoire » ou règle « tous sauf téléphone »</a:t>
            </a:r>
          </a:p>
          <a:p>
            <a:pPr algn="l">
              <a:lnSpc>
                <a:spcPct val="125000"/>
              </a:lnSpc>
            </a:pPr>
            <a:r>
              <a:rPr sz="1400" lang="fr-FR">
                <a:solidFill>
                  <a:srgbClr val="161616"/>
                </a:solidFill>
                <a:latin typeface="Arial"/>
              </a:rPr>
              <a:t>• </a:t>
            </a:r>
            <a:r>
              <a:rPr sz="1400" b="0" lang="fr-FR">
                <a:solidFill>
                  <a:srgbClr val="161616"/>
                </a:solidFill>
                <a:latin typeface="Arial"/>
              </a:rPr>
              <a:t>Astérisque expliqué s'il est utilisé</a:t>
            </a:r>
          </a:p>
          <a:p>
            <a:pPr algn="l">
              <a:lnSpc>
                <a:spcPct val="125000"/>
              </a:lnSpc>
            </a:pPr>
            <a:r>
              <a:rPr sz="1400" lang="fr-FR">
                <a:solidFill>
                  <a:srgbClr val="161616"/>
                </a:solidFill>
                <a:latin typeface="Arial"/>
              </a:rPr>
              <a:t>• </a:t>
            </a:r>
            <a:r>
              <a:rPr sz="1400" b="0" lang="fr-FR">
                <a:solidFill>
                  <a:srgbClr val="161616"/>
                </a:solidFill>
                <a:latin typeface="Arial"/>
              </a:rPr>
              <a:t>Attribut required ou aria-required="true" présent</a:t>
            </a:r>
          </a:p>
        </p:txBody>
      </p:sp>
      <p:sp>
        <p:nvSpPr>
          <p:cNvPr id="16" name="DSFR-box"/>
          <p:cNvSpPr/>
          <p:nvPr/>
        </p:nvSpPr>
        <p:spPr>
          <a:xfrm>
            <a:off x="548640" y="4416552"/>
            <a:ext cx="11155680" cy="145161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50799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Après soumission</a:t>
            </a:r>
          </a:p>
        </p:txBody>
      </p:sp>
      <p:sp>
        <p:nvSpPr>
          <p:cNvPr id="18" name="DSFR-alert-info-body"/>
          <p:cNvSpPr txBox="1"/>
          <p:nvPr/>
        </p:nvSpPr>
        <p:spPr>
          <a:xfrm>
            <a:off x="704088" y="4919472"/>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Aucune erreur ne doit apparaître avant l'envoi</a:t>
            </a:r>
          </a:p>
          <a:p>
            <a:pPr algn="l">
              <a:lnSpc>
                <a:spcPct val="125000"/>
              </a:lnSpc>
            </a:pPr>
            <a:r>
              <a:rPr sz="1400" lang="fr-FR">
                <a:solidFill>
                  <a:srgbClr val="161616"/>
                </a:solidFill>
                <a:latin typeface="Arial"/>
              </a:rPr>
              <a:t>• </a:t>
            </a:r>
            <a:r>
              <a:rPr sz="1400" b="0" lang="fr-FR">
                <a:solidFill>
                  <a:srgbClr val="161616"/>
                </a:solidFill>
                <a:latin typeface="Arial"/>
              </a:rPr>
              <a:t>Message précis relié au champ, avec aria-invalid si erreur</a:t>
            </a:r>
          </a:p>
          <a:p>
            <a:pPr algn="l">
              <a:lnSpc>
                <a:spcPct val="125000"/>
              </a:lnSpc>
            </a:pPr>
            <a:r>
              <a:rPr sz="1400" lang="fr-FR">
                <a:solidFill>
                  <a:srgbClr val="161616"/>
                </a:solidFill>
                <a:latin typeface="Arial"/>
              </a:rPr>
              <a:t>• </a:t>
            </a:r>
            <a:r>
              <a:rPr sz="1400" b="0" lang="fr-FR">
                <a:solidFill>
                  <a:srgbClr val="161616"/>
                </a:solidFill>
                <a:latin typeface="Arial"/>
              </a:rPr>
              <a:t>Focus vers le récapitulatif ou le premier champ en erreur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Champs obligatoires et erreurs</a:t>
            </a:r>
          </a:p>
        </p:txBody>
      </p:sp>
      <p:sp>
        <p:nvSpPr>
          <p:cNvPr id="8" name="DSFR-accent-decoratif" descr=""/>
          <p:cNvSpPr/>
          <p:nvPr/>
        </p:nvSpPr>
        <p:spPr>
          <a:xfrm>
            <a:off x="475488" y="178308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7477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41655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Ce qu’on remonte dans la grille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Grille d’audit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109</a:t>
            </a:r>
            <a:endParaRPr lang="fr-FR" dirty="0"/>
          </a:p>
        </p:txBody>
      </p:sp>
      <p:graphicFrame>
        <p:nvGraphicFramePr>
          <p:cNvPr id="8" name="Table 7"/>
          <p:cNvGraphicFramePr>
            <a:graphicFrameLocks noGrp="1"/>
          </p:cNvGraphicFramePr>
          <p:nvPr/>
        </p:nvGraphicFramePr>
        <p:xfrm>
          <a:off x="475488" y="1965960"/>
          <a:ext cx="11228831" cy="3017520"/>
        </p:xfrm>
        <a:graphic>
          <a:graphicData uri="http://schemas.openxmlformats.org/drawingml/2006/table">
            <a:tbl>
              <a:tblPr firstRow="1" bandRow="1">
                <a:tableStyleId>{5C22544A-7EE6-4342-B048-85BDC9FD1C3A}</a:tableStyleId>
              </a:tblPr>
              <a:tblGrid>
                <a:gridCol w="1874519"/>
                <a:gridCol w="3840480"/>
                <a:gridCol w="5513832"/>
              </a:tblGrid>
              <a:tr h="502920">
                <a:tc>
                  <a:txBody>
                    <a:bodyPr wrap="square" anchor="ctr" lIns="73152" rIns="73152"/>
                    <a:lstStyle/>
                    <a:p>
                      <a:pPr algn="l">
                        <a:lnSpc>
                          <a:spcPct val="125000"/>
                        </a:lnSpc>
                      </a:pPr>
                      <a:r>
                        <a:rPr sz="1400" b="1" i="0" lang="fr-FR">
                          <a:solidFill>
                            <a:srgbClr val="FFFFFF"/>
                          </a:solidFill>
                          <a:latin typeface="Arial"/>
                        </a:rPr>
                        <a:t>Champ</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Ce qu’il faut écrire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Exemple court</a:t>
                      </a:r>
                    </a:p>
                  </a:txBody>
                  <a:tcPr marL="91440" marR="91440" marT="45720" marB="45720">
                    <a:solidFill>
                      <a:srgbClr val="000091"/>
                    </a:solidFill>
                  </a:tcPr>
                </a:tc>
              </a:tr>
              <a:tr h="502920">
                <a:tc>
                  <a:txBody>
                    <a:bodyPr wrap="square" anchor="ctr" lIns="73152" rIns="73152"/>
                    <a:lstStyle/>
                    <a:p>
                      <a:pPr algn="l">
                        <a:lnSpc>
                          <a:spcPct val="125000"/>
                        </a:lnSpc>
                      </a:pPr>
                      <a:r>
                        <a:rPr sz="1400" b="0" i="0" lang="fr-FR">
                          <a:solidFill>
                            <a:srgbClr val="161616"/>
                          </a:solidFill>
                          <a:latin typeface="Arial"/>
                        </a:rPr>
                        <a:t>Verdict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 NC ou NA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NC</a:t>
                      </a:r>
                    </a:p>
                  </a:txBody>
                  <a:tcPr marL="91440" marR="91440" marT="45720" marB="45720">
                    <a:solidFill>
                      <a:srgbClr val="FFFFFF"/>
                    </a:solidFill>
                  </a:tcPr>
                </a:tc>
              </a:tr>
              <a:tr h="502920">
                <a:tc>
                  <a:txBody>
                    <a:bodyPr wrap="square" anchor="ctr" lIns="73152" rIns="73152"/>
                    <a:lstStyle/>
                    <a:p>
                      <a:pPr algn="l">
                        <a:lnSpc>
                          <a:spcPct val="125000"/>
                        </a:lnSpc>
                      </a:pPr>
                      <a:r>
                        <a:rPr sz="1400" b="0" i="0" lang="fr-FR">
                          <a:solidFill>
                            <a:srgbClr val="161616"/>
                          </a:solidFill>
                          <a:latin typeface="Arial"/>
                        </a:rPr>
                        <a:t>Sévérité</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Bloquant, gênant, mineur ou info</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Gênant</a:t>
                      </a:r>
                    </a:p>
                  </a:txBody>
                  <a:tcPr marL="91440" marR="91440" marT="45720" marB="45720">
                    <a:solidFill>
                      <a:srgbClr val="F5F5FE"/>
                    </a:solidFill>
                  </a:tcPr>
                </a:tc>
              </a:tr>
              <a:tr h="502920">
                <a:tc>
                  <a:txBody>
                    <a:bodyPr wrap="square" anchor="ctr" lIns="73152" rIns="73152"/>
                    <a:lstStyle/>
                    <a:p>
                      <a:pPr algn="l">
                        <a:lnSpc>
                          <a:spcPct val="125000"/>
                        </a:lnSpc>
                      </a:pPr>
                      <a:r>
                        <a:rPr sz="1400" b="0" i="0" lang="fr-FR">
                          <a:solidFill>
                            <a:srgbClr val="161616"/>
                          </a:solidFill>
                          <a:latin typeface="Arial"/>
                        </a:rPr>
                        <a:t>Constat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Ce que vous observez concrètement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Le lien d’évitement n’apparaît pas au focus.</a:t>
                      </a:r>
                    </a:p>
                  </a:txBody>
                  <a:tcPr marL="91440" marR="91440" marT="45720" marB="45720">
                    <a:solidFill>
                      <a:srgbClr val="FFFFFF"/>
                    </a:solidFill>
                  </a:tcPr>
                </a:tc>
              </a:tr>
              <a:tr h="502920">
                <a:tc>
                  <a:txBody>
                    <a:bodyPr wrap="square" anchor="ctr" lIns="73152" rIns="73152"/>
                    <a:lstStyle/>
                    <a:p>
                      <a:pPr algn="l">
                        <a:lnSpc>
                          <a:spcPct val="125000"/>
                        </a:lnSpc>
                      </a:pPr>
                      <a:r>
                        <a:rPr sz="1400" b="0" i="0" lang="fr-FR">
                          <a:solidFill>
                            <a:srgbClr val="161616"/>
                          </a:solidFill>
                          <a:latin typeface="Arial"/>
                        </a:rPr>
                        <a:t>Correctif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Ce que l’équipe doit corriger</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Rendre le lien visible et cibler #contenu.</a:t>
                      </a:r>
                    </a:p>
                  </a:txBody>
                  <a:tcPr marL="91440" marR="91440" marT="45720" marB="45720">
                    <a:solidFill>
                      <a:srgbClr val="F5F5FE"/>
                    </a:solidFill>
                  </a:tcPr>
                </a:tc>
              </a:tr>
              <a:tr h="502920">
                <a:tc>
                  <a:txBody>
                    <a:bodyPr wrap="square" anchor="ctr" lIns="73152" rIns="73152"/>
                    <a:lstStyle/>
                    <a:p>
                      <a:pPr algn="l">
                        <a:lnSpc>
                          <a:spcPct val="125000"/>
                        </a:lnSpc>
                      </a:pPr>
                      <a:r>
                        <a:rPr sz="1400" b="0" i="0" lang="fr-FR">
                          <a:solidFill>
                            <a:srgbClr val="161616"/>
                          </a:solidFill>
                          <a:latin typeface="Arial"/>
                        </a:rPr>
                        <a:t>Preuve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URL, capture, sélecteur ou extrait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/actualites - premier appui sur Tab</a:t>
                      </a:r>
                    </a:p>
                  </a:txBody>
                  <a:tcPr marL="91440" marR="91440" marT="45720" marB="45720">
                    <a:solidFill>
                      <a:srgbClr val="FFFFFF"/>
                    </a:solidFill>
                  </a:tcPr>
                </a:tc>
              </a:tr>
            </a:tbl>
          </a:graphicData>
        </a:graphic>
      </p:graphicFrame>
      <p:sp>
        <p:nvSpPr>
          <p:cNvPr id="10" name="DSFR-box"/>
          <p:cNvSpPr/>
          <p:nvPr/>
        </p:nvSpPr>
        <p:spPr>
          <a:xfrm>
            <a:off x="548640" y="4983480"/>
            <a:ext cx="11155680" cy="117317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704088" y="50749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Règle de travail</a:t>
            </a:r>
          </a:p>
        </p:txBody>
      </p:sp>
      <p:sp>
        <p:nvSpPr>
          <p:cNvPr id="12" name="DSFR-callout-body"/>
          <p:cNvSpPr txBox="1"/>
          <p:nvPr/>
        </p:nvSpPr>
        <p:spPr>
          <a:xfrm>
            <a:off x="704088" y="5486400"/>
            <a:ext cx="10908792" cy="57881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Un défaut sans preuve est difficile à traiter.</a:t>
            </a:r>
          </a:p>
          <a:p>
            <a:pPr algn="l">
              <a:lnSpc>
                <a:spcPct val="115000"/>
              </a:lnSpc>
            </a:pPr>
            <a:r>
              <a:rPr sz="1400" lang="fr-FR">
                <a:solidFill>
                  <a:srgbClr val="161616"/>
                </a:solidFill>
                <a:latin typeface="Arial"/>
              </a:rPr>
              <a:t>• </a:t>
            </a:r>
            <a:r>
              <a:rPr sz="1400" b="0" lang="fr-FR">
                <a:solidFill>
                  <a:srgbClr val="161616"/>
                </a:solidFill>
                <a:latin typeface="Arial"/>
              </a:rPr>
              <a:t>Une preuve sans sévérité est difficile à prioriser.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Grille</a:t>
            </a:r>
          </a:p>
        </p:txBody>
      </p:sp>
      <p:sp>
        <p:nvSpPr>
          <p:cNvPr id="9" name="DSFR-accent-decoratif" descr=""/>
          <p:cNvSpPr/>
          <p:nvPr/>
        </p:nvSpPr>
        <p:spPr>
          <a:xfrm>
            <a:off x="475488" y="4983480"/>
            <a:ext cx="73152" cy="117317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Bonus site web : liens et PDF à repérer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Bonus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110</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Pendant l'audit, ces points ne remplacent pas les 13 checks. Mais si vous les voyez, notez-les : ils améliorent vraiment l'expérience utilisateur.</a:t>
            </a:r>
          </a:p>
        </p:txBody>
      </p:sp>
      <p:sp>
        <p:nvSpPr>
          <p:cNvPr id="12" name="DSFR-box"/>
          <p:cNvSpPr/>
          <p:nvPr/>
        </p:nvSpPr>
        <p:spPr>
          <a:xfrm>
            <a:off x="548640" y="3183940"/>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75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Liens</a:t>
            </a:r>
          </a:p>
        </p:txBody>
      </p:sp>
      <p:sp>
        <p:nvSpPr>
          <p:cNvPr id="14" name="DSFR-callout-body"/>
          <p:cNvSpPr txBox="1"/>
          <p:nvPr/>
        </p:nvSpPr>
        <p:spPr>
          <a:xfrm>
            <a:off x="704088" y="3686860"/>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Éviter les pages saturées de liens sans hiérarchie</a:t>
            </a:r>
          </a:p>
          <a:p>
            <a:pPr algn="l">
              <a:lnSpc>
                <a:spcPct val="120000"/>
              </a:lnSpc>
            </a:pPr>
            <a:r>
              <a:rPr sz="1400" lang="fr-FR">
                <a:solidFill>
                  <a:srgbClr val="161616"/>
                </a:solidFill>
                <a:latin typeface="Arial"/>
              </a:rPr>
              <a:t>• </a:t>
            </a:r>
            <a:r>
              <a:rPr sz="1400" b="0" lang="fr-FR">
                <a:solidFill>
                  <a:srgbClr val="161616"/>
                </a:solidFill>
                <a:latin typeface="Arial"/>
              </a:rPr>
              <a:t>Libellé explicite : « programme de l'exposition photo »</a:t>
            </a:r>
          </a:p>
          <a:p>
            <a:pPr algn="l">
              <a:lnSpc>
                <a:spcPct val="120000"/>
              </a:lnSpc>
            </a:pPr>
            <a:r>
              <a:rPr sz="1400" lang="fr-FR">
                <a:solidFill>
                  <a:srgbClr val="161616"/>
                </a:solidFill>
                <a:latin typeface="Arial"/>
              </a:rPr>
              <a:t>• </a:t>
            </a:r>
            <a:r>
              <a:rPr sz="1400" b="0" lang="fr-FR">
                <a:solidFill>
                  <a:srgbClr val="161616"/>
                </a:solidFill>
                <a:latin typeface="Arial"/>
              </a:rPr>
              <a:t>Éviter « cliquez ici », « en savoir plus », « programme » seul</a:t>
            </a:r>
          </a:p>
          <a:p>
            <a:pPr algn="l">
              <a:lnSpc>
                <a:spcPct val="120000"/>
              </a:lnSpc>
            </a:pPr>
            <a:r>
              <a:rPr sz="1400" lang="fr-FR">
                <a:solidFill>
                  <a:srgbClr val="161616"/>
                </a:solidFill>
                <a:latin typeface="Arial"/>
              </a:rPr>
              <a:t>• </a:t>
            </a:r>
            <a:r>
              <a:rPr sz="1400" b="0" lang="fr-FR">
                <a:solidFill>
                  <a:srgbClr val="161616"/>
                </a:solidFill>
                <a:latin typeface="Arial"/>
              </a:rPr>
              <a:t>Téléchargement : indiquer type et poids du fichier</a:t>
            </a:r>
          </a:p>
        </p:txBody>
      </p:sp>
      <p:sp>
        <p:nvSpPr>
          <p:cNvPr id="16" name="DSFR-box"/>
          <p:cNvSpPr/>
          <p:nvPr/>
        </p:nvSpPr>
        <p:spPr>
          <a:xfrm>
            <a:off x="6313931" y="3183940"/>
            <a:ext cx="5390388" cy="2344521"/>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275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Documents PDF</a:t>
            </a:r>
          </a:p>
        </p:txBody>
      </p:sp>
      <p:sp>
        <p:nvSpPr>
          <p:cNvPr id="18" name="DSFR-alert-info-body"/>
          <p:cNvSpPr txBox="1"/>
          <p:nvPr/>
        </p:nvSpPr>
        <p:spPr>
          <a:xfrm>
            <a:off x="6469379" y="3686860"/>
            <a:ext cx="5143500" cy="175016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Texte sélectionnable : pas de PDF image ou scanné non navigable</a:t>
            </a:r>
          </a:p>
          <a:p>
            <a:pPr algn="l">
              <a:lnSpc>
                <a:spcPct val="120000"/>
              </a:lnSpc>
            </a:pPr>
            <a:r>
              <a:rPr sz="1400" lang="fr-FR">
                <a:solidFill>
                  <a:srgbClr val="161616"/>
                </a:solidFill>
                <a:latin typeface="Arial"/>
              </a:rPr>
              <a:t>• </a:t>
            </a:r>
            <a:r>
              <a:rPr sz="1400" b="0" lang="fr-FR">
                <a:solidFill>
                  <a:srgbClr val="161616"/>
                </a:solidFill>
                <a:latin typeface="Arial"/>
              </a:rPr>
              <a:t>Structure : titres, sommaire et liens internes si le document est long</a:t>
            </a:r>
          </a:p>
          <a:p>
            <a:pPr algn="l">
              <a:lnSpc>
                <a:spcPct val="120000"/>
              </a:lnSpc>
            </a:pPr>
            <a:r>
              <a:rPr sz="1400" lang="fr-FR">
                <a:solidFill>
                  <a:srgbClr val="161616"/>
                </a:solidFill>
                <a:latin typeface="Arial"/>
              </a:rPr>
              <a:t>• </a:t>
            </a:r>
            <a:r>
              <a:rPr sz="1400" b="0" lang="fr-FR">
                <a:solidFill>
                  <a:srgbClr val="161616"/>
                </a:solidFill>
                <a:latin typeface="Arial"/>
              </a:rPr>
              <a:t>Images avec texte alternatif</a:t>
            </a:r>
          </a:p>
          <a:p>
            <a:pPr algn="l">
              <a:lnSpc>
                <a:spcPct val="120000"/>
              </a:lnSpc>
            </a:pPr>
            <a:r>
              <a:rPr sz="1400" lang="fr-FR">
                <a:solidFill>
                  <a:srgbClr val="161616"/>
                </a:solidFill>
                <a:latin typeface="Arial"/>
              </a:rPr>
              <a:t>• </a:t>
            </a:r>
            <a:r>
              <a:rPr sz="1400" b="0" lang="fr-FR">
                <a:solidFill>
                  <a:srgbClr val="161616"/>
                </a:solidFill>
                <a:latin typeface="Arial"/>
              </a:rPr>
              <a:t>Si possible : proposer aussi un format éditable ou OpenDocument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Bonus web</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83940"/>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83940"/>
            <a:ext cx="73152" cy="234452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Votre mission : audit en binôme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Mission finale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111</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 site d’exercice contient 13 pages : 1 page correspond à 1 point de contrôle.</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Choisissez quelques points avec votre binôme : vous n’avez pas à tout couvrir</a:t>
            </a:r>
          </a:p>
          <a:p>
            <a:pPr algn="l">
              <a:lnSpc>
                <a:spcPct val="125000"/>
              </a:lnSpc>
            </a:pPr>
            <a:r>
              <a:rPr sz="1400" lang="fr-FR">
                <a:solidFill>
                  <a:srgbClr val="161616"/>
                </a:solidFill>
                <a:latin typeface="Arial"/>
              </a:rPr>
              <a:t>• </a:t>
            </a:r>
            <a:r>
              <a:rPr sz="1400" b="0" lang="fr-FR">
                <a:solidFill>
                  <a:srgbClr val="161616"/>
                </a:solidFill>
                <a:latin typeface="Arial"/>
              </a:rPr>
              <a:t>Une seule NC prouvée suffit à invalider le critère</a:t>
            </a:r>
          </a:p>
          <a:p>
            <a:pPr algn="l">
              <a:lnSpc>
                <a:spcPct val="125000"/>
              </a:lnSpc>
            </a:pPr>
            <a:r>
              <a:rPr sz="1400" lang="fr-FR">
                <a:solidFill>
                  <a:srgbClr val="161616"/>
                </a:solidFill>
                <a:latin typeface="Arial"/>
              </a:rPr>
              <a:t>• </a:t>
            </a:r>
            <a:r>
              <a:rPr sz="1400" b="0" lang="fr-FR">
                <a:solidFill>
                  <a:srgbClr val="161616"/>
                </a:solidFill>
                <a:latin typeface="Arial"/>
              </a:rPr>
              <a:t>Certains binômes commencent au début, d’autres par la fin</a:t>
            </a:r>
          </a:p>
          <a:p>
            <a:pPr algn="l">
              <a:lnSpc>
                <a:spcPct val="125000"/>
              </a:lnSpc>
            </a:pPr>
            <a:r>
              <a:rPr sz="1400" lang="fr-FR">
                <a:solidFill>
                  <a:srgbClr val="161616"/>
                </a:solidFill>
                <a:latin typeface="Arial"/>
              </a:rPr>
              <a:t>• </a:t>
            </a:r>
            <a:r>
              <a:rPr sz="1400" b="0" lang="fr-FR">
                <a:solidFill>
                  <a:srgbClr val="161616"/>
                </a:solidFill>
                <a:latin typeface="Arial"/>
              </a:rPr>
              <a:t>Bonus si rencontré : lien ou PDF problématique à noter dans la grille</a:t>
            </a:r>
          </a:p>
        </p:txBody>
      </p:sp>
      <p:sp>
        <p:nvSpPr>
          <p:cNvPr id="12" name="DSFR-stepper-pastille-1"/>
          <p:cNvSpPr/>
          <p:nvPr/>
        </p:nvSpPr>
        <p:spPr>
          <a:xfrm>
            <a:off x="1445894"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4" name="DSFR-stepper-texte-1"/>
          <p:cNvSpPr txBox="1"/>
          <p:nvPr/>
        </p:nvSpPr>
        <p:spPr>
          <a:xfrm>
            <a:off x="475488"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Choisir vos points</a:t>
            </a:r>
          </a:p>
        </p:txBody>
      </p:sp>
      <p:sp>
        <p:nvSpPr>
          <p:cNvPr id="15" name="DSFR-stepper-pastille-2"/>
          <p:cNvSpPr/>
          <p:nvPr/>
        </p:nvSpPr>
        <p:spPr>
          <a:xfrm>
            <a:off x="4328541"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7" name="DSFR-stepper-texte-2"/>
          <p:cNvSpPr txBox="1"/>
          <p:nvPr/>
        </p:nvSpPr>
        <p:spPr>
          <a:xfrm>
            <a:off x="3358134"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Prouver 1 NC</a:t>
            </a:r>
          </a:p>
        </p:txBody>
      </p:sp>
      <p:sp>
        <p:nvSpPr>
          <p:cNvPr id="18" name="DSFR-stepper-pastille-3"/>
          <p:cNvSpPr/>
          <p:nvPr/>
        </p:nvSpPr>
        <p:spPr>
          <a:xfrm>
            <a:off x="7211186"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20" name="DSFR-stepper-texte-3"/>
          <p:cNvSpPr txBox="1"/>
          <p:nvPr/>
        </p:nvSpPr>
        <p:spPr>
          <a:xfrm>
            <a:off x="6240779"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Début / fin</a:t>
            </a:r>
          </a:p>
        </p:txBody>
      </p:sp>
      <p:sp>
        <p:nvSpPr>
          <p:cNvPr id="21" name="DSFR-stepper-pastille-4"/>
          <p:cNvSpPr/>
          <p:nvPr/>
        </p:nvSpPr>
        <p:spPr>
          <a:xfrm>
            <a:off x="10093832"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22" name="DSFR-stepper-texte-4"/>
          <p:cNvSpPr txBox="1"/>
          <p:nvPr/>
        </p:nvSpPr>
        <p:spPr>
          <a:xfrm>
            <a:off x="9123426"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Restitution orale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Mission</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stepper-connecteur-1-decoratif" descr=""/>
          <p:cNvSpPr/>
          <p:nvPr/>
        </p:nvSpPr>
        <p:spPr>
          <a:xfrm>
            <a:off x="2085975"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stepper-connecteur-2-decoratif" descr=""/>
          <p:cNvSpPr/>
          <p:nvPr/>
        </p:nvSpPr>
        <p:spPr>
          <a:xfrm>
            <a:off x="4968621"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stepper-connecteur-3-decoratif" descr=""/>
          <p:cNvSpPr/>
          <p:nvPr/>
        </p:nvSpPr>
        <p:spPr>
          <a:xfrm>
            <a:off x="7851267"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Partie IV - Réseaux sociaux accessibles - TP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Partie IV | Plan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112</a:t>
            </a:r>
            <a:endParaRPr lang="fr-FR" dirty="0"/>
          </a:p>
        </p:txBody>
      </p:sp>
      <p:sp>
        <p:nvSpPr>
          <p:cNvPr id="8" name="DSFR-stepper-pastille-1"/>
          <p:cNvSpPr/>
          <p:nvPr/>
        </p:nvSpPr>
        <p:spPr>
          <a:xfrm>
            <a:off x="115763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Comprendre les enjeux des réseaux sociaux</a:t>
            </a:r>
          </a:p>
        </p:txBody>
      </p:sp>
      <p:sp>
        <p:nvSpPr>
          <p:cNvPr id="11" name="DSFR-stepper-pastille-2"/>
          <p:cNvSpPr/>
          <p:nvPr/>
        </p:nvSpPr>
        <p:spPr>
          <a:xfrm>
            <a:off x="346374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2781604"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Décrire les images et choisir les plateformes</a:t>
            </a:r>
          </a:p>
        </p:txBody>
      </p:sp>
      <p:sp>
        <p:nvSpPr>
          <p:cNvPr id="14" name="DSFR-stepper-pastille-3"/>
          <p:cNvSpPr/>
          <p:nvPr/>
        </p:nvSpPr>
        <p:spPr>
          <a:xfrm>
            <a:off x="5769864"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5087721"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Rendre les textes et les caractères lisibles</a:t>
            </a:r>
          </a:p>
        </p:txBody>
      </p:sp>
      <p:sp>
        <p:nvSpPr>
          <p:cNvPr id="17" name="DSFR-stepper-pastille-4"/>
          <p:cNvSpPr/>
          <p:nvPr/>
        </p:nvSpPr>
        <p:spPr>
          <a:xfrm>
            <a:off x="807598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9" name="DSFR-stepper-texte-4"/>
          <p:cNvSpPr txBox="1"/>
          <p:nvPr/>
        </p:nvSpPr>
        <p:spPr>
          <a:xfrm>
            <a:off x="739383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Représenter les publics et écrire clairement</a:t>
            </a:r>
          </a:p>
        </p:txBody>
      </p:sp>
      <p:sp>
        <p:nvSpPr>
          <p:cNvPr id="20" name="DSFR-stepper-pastille-5"/>
          <p:cNvSpPr/>
          <p:nvPr/>
        </p:nvSpPr>
        <p:spPr>
          <a:xfrm>
            <a:off x="1038209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5</a:t>
            </a:r>
          </a:p>
        </p:txBody>
      </p:sp>
      <p:sp>
        <p:nvSpPr>
          <p:cNvPr id="21" name="DSFR-stepper-texte-5"/>
          <p:cNvSpPr txBox="1"/>
          <p:nvPr/>
        </p:nvSpPr>
        <p:spPr>
          <a:xfrm>
            <a:off x="9699955"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Vérifier avant de publier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Partie IV</a:t>
            </a:r>
          </a:p>
        </p:txBody>
      </p:sp>
      <p:sp>
        <p:nvSpPr>
          <p:cNvPr id="9" name="DSFR-stepper-connecteur-1-decoratif" descr=""/>
          <p:cNvSpPr/>
          <p:nvPr/>
        </p:nvSpPr>
        <p:spPr>
          <a:xfrm>
            <a:off x="179771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Pourquoi l'accessibilité sur les réseaux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113</a:t>
            </a:r>
            <a:endParaRPr lang="fr-FR" dirty="0"/>
          </a:p>
        </p:txBody>
      </p:sp>
      <p:sp>
        <p:nvSpPr>
          <p:cNvPr id="9" name="DSFR-box"/>
          <p:cNvSpPr/>
          <p:nvPr/>
        </p:nvSpPr>
        <p:spPr>
          <a:xfrm>
            <a:off x="548640" y="1783080"/>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74519"/>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Les réseaux sociaux sont devenus un canal officiel de communication publique - et donc soumis aux mêmes obligations d'accessibilité.</a:t>
            </a:r>
          </a:p>
        </p:txBody>
      </p:sp>
      <p:sp>
        <p:nvSpPr>
          <p:cNvPr id="12" name="DSFR-box"/>
          <p:cNvSpPr/>
          <p:nvPr/>
        </p:nvSpPr>
        <p:spPr>
          <a:xfrm>
            <a:off x="548640" y="3120847"/>
            <a:ext cx="5390388" cy="296539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12287"/>
            <a:ext cx="514350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Votre audience est plus large que vous ne le pensez</a:t>
            </a:r>
          </a:p>
        </p:txBody>
      </p:sp>
      <p:sp>
        <p:nvSpPr>
          <p:cNvPr id="14" name="DSFR-callout-body"/>
          <p:cNvSpPr txBox="1"/>
          <p:nvPr/>
        </p:nvSpPr>
        <p:spPr>
          <a:xfrm>
            <a:off x="704088" y="3783787"/>
            <a:ext cx="5143500" cy="2211019"/>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12 millions de personnes en situation de handicap en France (INSEE 2021)</a:t>
            </a:r>
          </a:p>
          <a:p>
            <a:pPr algn="l">
              <a:lnSpc>
                <a:spcPct val="120000"/>
              </a:lnSpc>
            </a:pPr>
            <a:r>
              <a:rPr sz="1400" lang="fr-FR">
                <a:solidFill>
                  <a:srgbClr val="161616"/>
                </a:solidFill>
                <a:latin typeface="Arial"/>
              </a:rPr>
              <a:t>• </a:t>
            </a:r>
            <a:r>
              <a:rPr sz="1400" b="0" lang="fr-FR">
                <a:solidFill>
                  <a:srgbClr val="161616"/>
                </a:solidFill>
                <a:latin typeface="Arial"/>
              </a:rPr>
              <a:t>Utilisateurs en contexte défavorable : faible luminosité, connexion lente, bruit</a:t>
            </a:r>
          </a:p>
          <a:p>
            <a:pPr algn="l">
              <a:lnSpc>
                <a:spcPct val="120000"/>
              </a:lnSpc>
            </a:pPr>
            <a:r>
              <a:rPr sz="1400" lang="fr-FR">
                <a:solidFill>
                  <a:srgbClr val="161616"/>
                </a:solidFill>
                <a:latin typeface="Arial"/>
              </a:rPr>
              <a:t>• </a:t>
            </a:r>
            <a:r>
              <a:rPr sz="1400" b="0" lang="fr-FR">
                <a:solidFill>
                  <a:srgbClr val="161616"/>
                </a:solidFill>
                <a:latin typeface="Arial"/>
              </a:rPr>
              <a:t>Moteurs de recherche et outils d'IA qui analysent vos contenus</a:t>
            </a:r>
          </a:p>
          <a:p>
            <a:pPr algn="l">
              <a:lnSpc>
                <a:spcPct val="120000"/>
              </a:lnSpc>
            </a:pPr>
            <a:r>
              <a:rPr sz="1400" lang="fr-FR">
                <a:solidFill>
                  <a:srgbClr val="161616"/>
                </a:solidFill>
                <a:latin typeface="Arial"/>
              </a:rPr>
              <a:t>• </a:t>
            </a:r>
            <a:r>
              <a:rPr sz="1400" b="0" lang="fr-FR">
                <a:solidFill>
                  <a:srgbClr val="161616"/>
                </a:solidFill>
                <a:latin typeface="Arial"/>
              </a:rPr>
              <a:t>Collègues et citoyens qui lisent sans images activées</a:t>
            </a:r>
          </a:p>
        </p:txBody>
      </p:sp>
      <p:sp>
        <p:nvSpPr>
          <p:cNvPr id="16" name="DSFR-box"/>
          <p:cNvSpPr/>
          <p:nvPr/>
        </p:nvSpPr>
        <p:spPr>
          <a:xfrm>
            <a:off x="6313931" y="3120847"/>
            <a:ext cx="5390388" cy="25749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6469379" y="3212287"/>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4 gestes, 2 minutes par post</a:t>
            </a:r>
          </a:p>
        </p:txBody>
      </p:sp>
      <p:sp>
        <p:nvSpPr>
          <p:cNvPr id="18" name="DSFR-alert-success-body"/>
          <p:cNvSpPr txBox="1"/>
          <p:nvPr/>
        </p:nvSpPr>
        <p:spPr>
          <a:xfrm>
            <a:off x="6469379" y="3623767"/>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Geste 1 - Texte alternatif : décrire chaque image en 1 phrase</a:t>
            </a:r>
          </a:p>
          <a:p>
            <a:pPr algn="l">
              <a:lnSpc>
                <a:spcPct val="120000"/>
              </a:lnSpc>
            </a:pPr>
            <a:r>
              <a:rPr sz="1400" lang="fr-FR">
                <a:solidFill>
                  <a:srgbClr val="161616"/>
                </a:solidFill>
                <a:latin typeface="Arial"/>
              </a:rPr>
              <a:t>• </a:t>
            </a:r>
            <a:r>
              <a:rPr sz="1400" b="0" lang="fr-FR">
                <a:solidFill>
                  <a:srgbClr val="161616"/>
                </a:solidFill>
                <a:latin typeface="Arial"/>
              </a:rPr>
              <a:t>Geste 2 - Émojis : 1 ou 2 maximum, en fin de message</a:t>
            </a:r>
          </a:p>
          <a:p>
            <a:pPr algn="l">
              <a:lnSpc>
                <a:spcPct val="120000"/>
              </a:lnSpc>
            </a:pPr>
            <a:r>
              <a:rPr sz="1400" lang="fr-FR">
                <a:solidFill>
                  <a:srgbClr val="161616"/>
                </a:solidFill>
                <a:latin typeface="Arial"/>
              </a:rPr>
              <a:t>• </a:t>
            </a:r>
            <a:r>
              <a:rPr sz="1400" b="0" lang="fr-FR">
                <a:solidFill>
                  <a:srgbClr val="161616"/>
                </a:solidFill>
                <a:latin typeface="Arial"/>
              </a:rPr>
              <a:t>Geste 3 - Hashtags : CamelCase et regroupés en fin de post</a:t>
            </a:r>
          </a:p>
          <a:p>
            <a:pPr algn="l">
              <a:lnSpc>
                <a:spcPct val="120000"/>
              </a:lnSpc>
            </a:pPr>
            <a:r>
              <a:rPr sz="1400" lang="fr-FR">
                <a:solidFill>
                  <a:srgbClr val="161616"/>
                </a:solidFill>
                <a:latin typeface="Arial"/>
              </a:rPr>
              <a:t>• </a:t>
            </a:r>
            <a:r>
              <a:rPr sz="1400" b="0" lang="fr-FR">
                <a:solidFill>
                  <a:srgbClr val="161616"/>
                </a:solidFill>
                <a:latin typeface="Arial"/>
              </a:rPr>
              <a:t>Geste 4 - Texte natif : jamais de faux gras ou faux italique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4</a:t>
            </a:r>
          </a:p>
        </p:txBody>
      </p:sp>
      <p:sp>
        <p:nvSpPr>
          <p:cNvPr id="8" name="DSFR-accent-decoratif" descr=""/>
          <p:cNvSpPr/>
          <p:nvPr/>
        </p:nvSpPr>
        <p:spPr>
          <a:xfrm>
            <a:off x="475488" y="1783080"/>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20847"/>
            <a:ext cx="73152" cy="296539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20847"/>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Regardez ce tweet - qu'est-ce qui ne va pas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114</a:t>
            </a:r>
            <a:endParaRPr lang="fr-FR" dirty="0"/>
          </a:p>
        </p:txBody>
      </p:sp>
      <p:sp>
        <p:nvSpPr>
          <p:cNvPr id="9" name="DSFR-box"/>
          <p:cNvSpPr/>
          <p:nvPr/>
        </p:nvSpPr>
        <p:spPr>
          <a:xfrm>
            <a:off x="548640" y="210312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Tweet publié par l'OMS en 2020</a:t>
            </a:r>
          </a:p>
        </p:txBody>
      </p:sp>
      <p:sp>
        <p:nvSpPr>
          <p:cNvPr id="11" name="DSFR-callout-body"/>
          <p:cNvSpPr txBox="1"/>
          <p:nvPr/>
        </p:nvSpPr>
        <p:spPr>
          <a:xfrm>
            <a:off x="704088" y="2606039"/>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Protégez-vous de la #COVID19 :
Lavez-vous les 👐 avec 1 désinfectant à base d'alcool, du 🧼 &amp; de l'💦.
Quand vous toussez ou 🤧 couvrez votre 👄 &amp; le 👃🏻 dans le pli du coude ou mouchoir.
Évitez de toucher les 👀, le 👃 &amp; la 👄.</a:t>
            </a:r>
          </a:p>
        </p:txBody>
      </p:sp>
      <p:sp>
        <p:nvSpPr>
          <p:cNvPr id="13" name="DSFR-box"/>
          <p:cNvSpPr/>
          <p:nvPr/>
        </p:nvSpPr>
        <p:spPr>
          <a:xfrm>
            <a:off x="6313931" y="2103120"/>
            <a:ext cx="5390388"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info-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En binôme - 2 minutes</a:t>
            </a:r>
          </a:p>
        </p:txBody>
      </p:sp>
      <p:sp>
        <p:nvSpPr>
          <p:cNvPr id="15" name="DSFR-alert-info-body"/>
          <p:cNvSpPr txBox="1"/>
          <p:nvPr/>
        </p:nvSpPr>
        <p:spPr>
          <a:xfrm>
            <a:off x="6469379" y="2606039"/>
            <a:ext cx="5143500" cy="1577340"/>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Identifiez le maximum de problèmes d'accessibilité</a:t>
            </a:r>
          </a:p>
          <a:p>
            <a:pPr algn="l">
              <a:lnSpc>
                <a:spcPct val="150000"/>
              </a:lnSpc>
            </a:pPr>
            <a:r>
              <a:rPr sz="1400" lang="fr-FR">
                <a:solidFill>
                  <a:srgbClr val="161616"/>
                </a:solidFill>
                <a:latin typeface="Arial"/>
              </a:rPr>
              <a:t>• </a:t>
            </a:r>
            <a:r>
              <a:rPr sz="1400" b="0" lang="fr-FR">
                <a:solidFill>
                  <a:srgbClr val="161616"/>
                </a:solidFill>
                <a:latin typeface="Arial"/>
              </a:rPr>
              <a:t>Ne lisez pas le tweet à voix haute</a:t>
            </a:r>
          </a:p>
          <a:p>
            <a:pPr algn="l">
              <a:lnSpc>
                <a:spcPct val="150000"/>
              </a:lnSpc>
            </a:pPr>
            <a:r>
              <a:rPr sz="1400" lang="fr-FR">
                <a:solidFill>
                  <a:srgbClr val="161616"/>
                </a:solidFill>
                <a:latin typeface="Arial"/>
              </a:rPr>
              <a:t>• </a:t>
            </a:r>
            <a:r>
              <a:rPr sz="1400" b="0" lang="fr-FR">
                <a:solidFill>
                  <a:srgbClr val="161616"/>
                </a:solidFill>
                <a:latin typeface="Arial"/>
              </a:rPr>
              <a:t>Notez ce qui vous gêne ou vous surprend</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Ce que vous voyez ≠ ce qui est lu</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115</a:t>
            </a:r>
            <a:endParaRPr lang="fr-FR" dirty="0"/>
          </a:p>
        </p:txBody>
      </p:sp>
      <p:sp>
        <p:nvSpPr>
          <p:cNvPr id="9" name="DSFR-box"/>
          <p:cNvSpPr/>
          <p:nvPr/>
        </p:nvSpPr>
        <p:spPr>
          <a:xfrm>
            <a:off x="548640" y="2103120"/>
            <a:ext cx="5390388"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vous voyez</a:t>
            </a:r>
          </a:p>
        </p:txBody>
      </p:sp>
      <p:sp>
        <p:nvSpPr>
          <p:cNvPr id="11" name="DSFR-callout-body"/>
          <p:cNvSpPr txBox="1"/>
          <p:nvPr/>
        </p:nvSpPr>
        <p:spPr>
          <a:xfrm>
            <a:off x="704088" y="2606039"/>
            <a:ext cx="5143500"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Lavez-vous les 👐 avec du 🧼 &amp; de l'💦.</a:t>
            </a:r>
          </a:p>
          <a:p>
            <a:pPr algn="l">
              <a:lnSpc>
                <a:spcPct val="125000"/>
              </a:lnSpc>
            </a:pPr>
            <a:r>
              <a:rPr sz="1400" lang="fr-FR">
                <a:solidFill>
                  <a:srgbClr val="161616"/>
                </a:solidFill>
                <a:latin typeface="Arial"/>
              </a:rPr>
              <a:t>• </a:t>
            </a:r>
            <a:r>
              <a:rPr sz="1400" b="0" lang="fr-FR">
                <a:solidFill>
                  <a:srgbClr val="161616"/>
                </a:solidFill>
                <a:latin typeface="Arial"/>
              </a:rPr>
              <a:t>Quand vous toussez ou 🤧 couvrez votre 👄.</a:t>
            </a:r>
          </a:p>
          <a:p>
            <a:pPr algn="l">
              <a:lnSpc>
                <a:spcPct val="125000"/>
              </a:lnSpc>
            </a:pPr>
            <a:r>
              <a:rPr sz="1400" lang="fr-FR">
                <a:solidFill>
                  <a:srgbClr val="161616"/>
                </a:solidFill>
                <a:latin typeface="Arial"/>
              </a:rPr>
              <a:t>• </a:t>
            </a:r>
            <a:r>
              <a:rPr sz="1400" b="0" lang="fr-FR">
                <a:solidFill>
                  <a:srgbClr val="161616"/>
                </a:solidFill>
                <a:latin typeface="Arial"/>
              </a:rPr>
              <a:t>Évitez de toucher les 👀, le 👃 &amp; la 👄.</a:t>
            </a:r>
          </a:p>
        </p:txBody>
      </p:sp>
      <p:sp>
        <p:nvSpPr>
          <p:cNvPr id="13" name="DSFR-box"/>
          <p:cNvSpPr/>
          <p:nvPr/>
        </p:nvSpPr>
        <p:spPr>
          <a:xfrm>
            <a:off x="6313931" y="2103120"/>
            <a:ext cx="5390388" cy="245973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NVDA lit à voix haute</a:t>
            </a:r>
          </a:p>
        </p:txBody>
      </p:sp>
      <p:sp>
        <p:nvSpPr>
          <p:cNvPr id="15" name="DSFR-alert-warning-body"/>
          <p:cNvSpPr txBox="1"/>
          <p:nvPr/>
        </p:nvSpPr>
        <p:spPr>
          <a:xfrm>
            <a:off x="6469379" y="2606039"/>
            <a:ext cx="5143500" cy="1865376"/>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Lavez-vous les mains ouvertes avec du savon et éclaboussures de sueur.</a:t>
            </a:r>
          </a:p>
          <a:p>
            <a:pPr algn="l">
              <a:lnSpc>
                <a:spcPct val="150000"/>
              </a:lnSpc>
            </a:pPr>
            <a:r>
              <a:rPr sz="1400" lang="fr-FR">
                <a:solidFill>
                  <a:srgbClr val="161616"/>
                </a:solidFill>
                <a:latin typeface="Arial"/>
              </a:rPr>
              <a:t>• </a:t>
            </a:r>
            <a:r>
              <a:rPr sz="1400" b="0" lang="fr-FR">
                <a:solidFill>
                  <a:srgbClr val="161616"/>
                </a:solidFill>
                <a:latin typeface="Arial"/>
              </a:rPr>
              <a:t>Quand vous toussez ou visage qui éternue couvrez votre bouche.</a:t>
            </a:r>
          </a:p>
          <a:p>
            <a:pPr algn="l">
              <a:lnSpc>
                <a:spcPct val="150000"/>
              </a:lnSpc>
            </a:pPr>
            <a:r>
              <a:rPr sz="1400" lang="fr-FR">
                <a:solidFill>
                  <a:srgbClr val="161616"/>
                </a:solidFill>
                <a:latin typeface="Arial"/>
              </a:rPr>
              <a:t>• </a:t>
            </a:r>
            <a:r>
              <a:rPr sz="1400" b="0" lang="fr-FR">
                <a:solidFill>
                  <a:srgbClr val="161616"/>
                </a:solidFill>
                <a:latin typeface="Arial"/>
              </a:rPr>
              <a:t>Évitez de toucher les yeux grand ouverts, le nez et la bouche.</a:t>
            </a:r>
          </a:p>
        </p:txBody>
      </p:sp>
      <p:sp>
        <p:nvSpPr>
          <p:cNvPr id="17" name="DSFR-box"/>
          <p:cNvSpPr/>
          <p:nvPr/>
        </p:nvSpPr>
        <p:spPr>
          <a:xfrm>
            <a:off x="548640" y="4791456"/>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882896"/>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Chaque émoji a un nom officiel lu intégralement. Il interrompt le flux de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45973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791456"/>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3 changements, 0 perte de sens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116</a:t>
            </a:r>
            <a:endParaRPr lang="fr-FR" dirty="0"/>
          </a:p>
        </p:txBody>
      </p:sp>
      <p:sp>
        <p:nvSpPr>
          <p:cNvPr id="9" name="DSFR-box"/>
          <p:cNvSpPr/>
          <p:nvPr/>
        </p:nvSpPr>
        <p:spPr>
          <a:xfrm>
            <a:off x="548640" y="1920240"/>
            <a:ext cx="5390388"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20116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Version originale - problématique</a:t>
            </a:r>
          </a:p>
        </p:txBody>
      </p:sp>
      <p:sp>
        <p:nvSpPr>
          <p:cNvPr id="11" name="DSFR-alert-error-body"/>
          <p:cNvSpPr txBox="1"/>
          <p:nvPr/>
        </p:nvSpPr>
        <p:spPr>
          <a:xfrm>
            <a:off x="704088" y="2423160"/>
            <a:ext cx="5143500" cy="1577340"/>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Lavez-vous les 👐 avec 1 désinfectant à base d'alcool, du 🧼 &amp; de l'💦.</a:t>
            </a:r>
          </a:p>
          <a:p>
            <a:pPr algn="l">
              <a:lnSpc>
                <a:spcPct val="150000"/>
              </a:lnSpc>
            </a:pPr>
            <a:r>
              <a:rPr sz="1400" lang="fr-FR">
                <a:solidFill>
                  <a:srgbClr val="161616"/>
                </a:solidFill>
                <a:latin typeface="Arial"/>
              </a:rPr>
              <a:t>• </a:t>
            </a:r>
            <a:r>
              <a:rPr sz="1400" b="0" lang="fr-FR">
                <a:solidFill>
                  <a:srgbClr val="161616"/>
                </a:solidFill>
                <a:latin typeface="Arial"/>
              </a:rPr>
              <a:t>Quand vous toussez ou 🤧 couvrez votre 👄 &amp; le 👃🏻.</a:t>
            </a:r>
          </a:p>
          <a:p>
            <a:pPr algn="l">
              <a:lnSpc>
                <a:spcPct val="150000"/>
              </a:lnSpc>
            </a:pPr>
            <a:r>
              <a:rPr sz="1400" lang="fr-FR">
                <a:solidFill>
                  <a:srgbClr val="161616"/>
                </a:solidFill>
                <a:latin typeface="Arial"/>
              </a:rPr>
              <a:t>• </a:t>
            </a:r>
            <a:r>
              <a:rPr sz="1400" b="0" lang="fr-FR">
                <a:solidFill>
                  <a:srgbClr val="161616"/>
                </a:solidFill>
                <a:latin typeface="Arial"/>
              </a:rPr>
              <a:t>Évitez de toucher les 👀, le 👃 &amp; la 👄.</a:t>
            </a:r>
          </a:p>
        </p:txBody>
      </p:sp>
      <p:sp>
        <p:nvSpPr>
          <p:cNvPr id="13" name="DSFR-box"/>
          <p:cNvSpPr/>
          <p:nvPr/>
        </p:nvSpPr>
        <p:spPr>
          <a:xfrm>
            <a:off x="6313931" y="192024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20116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Version accessible</a:t>
            </a:r>
          </a:p>
        </p:txBody>
      </p:sp>
      <p:sp>
        <p:nvSpPr>
          <p:cNvPr id="15" name="DSFR-callout-body"/>
          <p:cNvSpPr txBox="1"/>
          <p:nvPr/>
        </p:nvSpPr>
        <p:spPr>
          <a:xfrm>
            <a:off x="6469379" y="2423160"/>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Protégez-vous du #COVID19 - trois gestes essentiels :</a:t>
            </a:r>
          </a:p>
          <a:p>
            <a:pPr algn="l">
              <a:lnSpc>
                <a:spcPct val="125000"/>
              </a:lnSpc>
            </a:pPr>
            <a:r>
              <a:rPr sz="1400" lang="fr-FR">
                <a:solidFill>
                  <a:srgbClr val="161616"/>
                </a:solidFill>
                <a:latin typeface="Arial"/>
              </a:rPr>
              <a:t>• </a:t>
            </a:r>
            <a:r>
              <a:rPr sz="1400" b="0" lang="fr-FR">
                <a:solidFill>
                  <a:srgbClr val="161616"/>
                </a:solidFill>
                <a:latin typeface="Arial"/>
              </a:rPr>
              <a:t>1. Lavez-vous régulièrement les mains avec du savon et de l'eau 🧼</a:t>
            </a:r>
          </a:p>
          <a:p>
            <a:pPr algn="l">
              <a:lnSpc>
                <a:spcPct val="125000"/>
              </a:lnSpc>
            </a:pPr>
            <a:r>
              <a:rPr sz="1400" lang="fr-FR">
                <a:solidFill>
                  <a:srgbClr val="161616"/>
                </a:solidFill>
                <a:latin typeface="Arial"/>
              </a:rPr>
              <a:t>• </a:t>
            </a:r>
            <a:r>
              <a:rPr sz="1400" b="0" lang="fr-FR">
                <a:solidFill>
                  <a:srgbClr val="161616"/>
                </a:solidFill>
                <a:latin typeface="Arial"/>
              </a:rPr>
              <a:t>2. Quand vous toussez, couvrez-vous avec le pli du coude</a:t>
            </a:r>
          </a:p>
          <a:p>
            <a:pPr algn="l">
              <a:lnSpc>
                <a:spcPct val="125000"/>
              </a:lnSpc>
            </a:pPr>
            <a:r>
              <a:rPr sz="1400" lang="fr-FR">
                <a:solidFill>
                  <a:srgbClr val="161616"/>
                </a:solidFill>
                <a:latin typeface="Arial"/>
              </a:rPr>
              <a:t>• </a:t>
            </a:r>
            <a:r>
              <a:rPr sz="1400" b="0" lang="fr-FR">
                <a:solidFill>
                  <a:srgbClr val="161616"/>
                </a:solidFill>
                <a:latin typeface="Arial"/>
              </a:rPr>
              <a:t>3. Évitez de toucher votre visage</a:t>
            </a:r>
          </a:p>
        </p:txBody>
      </p:sp>
      <p:sp>
        <p:nvSpPr>
          <p:cNvPr id="17" name="DSFR-box"/>
          <p:cNvSpPr/>
          <p:nvPr/>
        </p:nvSpPr>
        <p:spPr>
          <a:xfrm>
            <a:off x="548640" y="4809744"/>
            <a:ext cx="11155680"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lert-success-titre"/>
          <p:cNvSpPr txBox="1"/>
          <p:nvPr/>
        </p:nvSpPr>
        <p:spPr>
          <a:xfrm>
            <a:off x="704088" y="4901183"/>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Les 3 changements</a:t>
            </a:r>
          </a:p>
        </p:txBody>
      </p:sp>
      <p:sp>
        <p:nvSpPr>
          <p:cNvPr id="19" name="DSFR-alert-success-body"/>
          <p:cNvSpPr txBox="1"/>
          <p:nvPr/>
        </p:nvSpPr>
        <p:spPr>
          <a:xfrm>
            <a:off x="704088" y="5312664"/>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Émojis réduits à 1, placé en fin de phrase - le message tient sans eux</a:t>
            </a:r>
          </a:p>
          <a:p>
            <a:pPr algn="l">
              <a:lnSpc>
                <a:spcPct val="115000"/>
              </a:lnSpc>
            </a:pPr>
            <a:r>
              <a:rPr sz="1400" lang="fr-FR">
                <a:solidFill>
                  <a:srgbClr val="161616"/>
                </a:solidFill>
                <a:latin typeface="Arial"/>
              </a:rPr>
              <a:t>• </a:t>
            </a:r>
            <a:r>
              <a:rPr sz="1400" b="0" lang="fr-FR">
                <a:solidFill>
                  <a:srgbClr val="161616"/>
                </a:solidFill>
                <a:latin typeface="Arial"/>
              </a:rPr>
              <a:t>Structure numérotée - navigation facile pour tous les utilisateurs</a:t>
            </a:r>
          </a:p>
          <a:p>
            <a:pPr algn="l">
              <a:lnSpc>
                <a:spcPct val="115000"/>
              </a:lnSpc>
            </a:pPr>
            <a:r>
              <a:rPr sz="1400" lang="fr-FR">
                <a:solidFill>
                  <a:srgbClr val="161616"/>
                </a:solidFill>
                <a:latin typeface="Arial"/>
              </a:rPr>
              <a:t>• </a:t>
            </a:r>
            <a:r>
              <a:rPr sz="1400" b="0" lang="fr-FR">
                <a:solidFill>
                  <a:srgbClr val="161616"/>
                </a:solidFill>
                <a:latin typeface="Arial"/>
              </a:rPr>
              <a:t>Hashtag conservé mais seul, séparé du texte informatif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92024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2024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809744"/>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Démonstration NVDA - le lecteur d'écran en direct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Démonstration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117</a:t>
            </a:r>
            <a:endParaRPr lang="fr-FR" dirty="0"/>
          </a:p>
        </p:txBody>
      </p:sp>
      <p:sp>
        <p:nvSpPr>
          <p:cNvPr id="8" name="DSFR-stepper-pastille-1"/>
          <p:cNvSpPr/>
          <p:nvPr/>
        </p:nvSpPr>
        <p:spPr>
          <a:xfrm>
            <a:off x="144589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Ouvrir le post problématique préparé (avec émojis en série)</a:t>
            </a:r>
          </a:p>
        </p:txBody>
      </p:sp>
      <p:sp>
        <p:nvSpPr>
          <p:cNvPr id="11" name="DSFR-stepper-pastille-2"/>
          <p:cNvSpPr/>
          <p:nvPr/>
        </p:nvSpPr>
        <p:spPr>
          <a:xfrm>
            <a:off x="4328541"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3358134"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Activer NVDA : Ctrl+Alt+N - une voix démarre</a:t>
            </a:r>
          </a:p>
        </p:txBody>
      </p:sp>
      <p:sp>
        <p:nvSpPr>
          <p:cNvPr id="14" name="DSFR-stepper-pastille-3"/>
          <p:cNvSpPr/>
          <p:nvPr/>
        </p:nvSpPr>
        <p:spPr>
          <a:xfrm>
            <a:off x="7211186"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6240779"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Naviguer sur le texte : flèches ou Tab</a:t>
            </a:r>
          </a:p>
        </p:txBody>
      </p:sp>
      <p:sp>
        <p:nvSpPr>
          <p:cNvPr id="17" name="DSFR-stepper-pastille-4"/>
          <p:cNvSpPr/>
          <p:nvPr/>
        </p:nvSpPr>
        <p:spPr>
          <a:xfrm>
            <a:off x="10093832"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8" name="DSFR-stepper-texte-4"/>
          <p:cNvSpPr txBox="1"/>
          <p:nvPr/>
        </p:nvSpPr>
        <p:spPr>
          <a:xfrm>
            <a:off x="9123426"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Écouter la restitution - ne pas regarder l'écran</a:t>
            </a:r>
          </a:p>
        </p:txBody>
      </p:sp>
      <p:sp>
        <p:nvSpPr>
          <p:cNvPr id="20" name="DSFR-box"/>
          <p:cNvSpPr/>
          <p:nvPr/>
        </p:nvSpPr>
        <p:spPr>
          <a:xfrm>
            <a:off x="548640" y="416052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25195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 les stagiaires pendant la démo</a:t>
            </a:r>
          </a:p>
        </p:txBody>
      </p:sp>
      <p:sp>
        <p:nvSpPr>
          <p:cNvPr id="22" name="DSFR-alert-info-body"/>
          <p:cNvSpPr txBox="1"/>
          <p:nvPr/>
        </p:nvSpPr>
        <p:spPr>
          <a:xfrm>
            <a:off x="704088" y="466344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Fermez les yeux ou regardez ailleurs - écoutez uniquement</a:t>
            </a:r>
          </a:p>
          <a:p>
            <a:pPr algn="l">
              <a:lnSpc>
                <a:spcPct val="150000"/>
              </a:lnSpc>
            </a:pPr>
            <a:r>
              <a:rPr sz="1400" lang="fr-FR">
                <a:solidFill>
                  <a:srgbClr val="161616"/>
                </a:solidFill>
                <a:latin typeface="Arial"/>
              </a:rPr>
              <a:t>• </a:t>
            </a:r>
            <a:r>
              <a:rPr sz="1400" b="0" lang="fr-FR">
                <a:solidFill>
                  <a:srgbClr val="161616"/>
                </a:solidFill>
                <a:latin typeface="Arial"/>
              </a:rPr>
              <a:t>Notez le premier mot qui vous vient à l'écoute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9" name="DSFR-stepper-connecteur-1-decoratif" descr=""/>
          <p:cNvSpPr/>
          <p:nvPr/>
        </p:nvSpPr>
        <p:spPr>
          <a:xfrm>
            <a:off x="2085975"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968621"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7851267"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16052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4 réflexes, puis une checklist complète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Réflexes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118</a:t>
            </a:r>
            <a:endParaRPr lang="fr-FR" dirty="0"/>
          </a:p>
        </p:txBody>
      </p:sp>
      <p:sp>
        <p:nvSpPr>
          <p:cNvPr id="9" name="DSFR-box"/>
          <p:cNvSpPr/>
          <p:nvPr/>
        </p:nvSpPr>
        <p:spPr>
          <a:xfrm>
            <a:off x="548640" y="2103120"/>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Texte alternatif</a:t>
            </a:r>
          </a:p>
        </p:txBody>
      </p:sp>
      <p:sp>
        <p:nvSpPr>
          <p:cNvPr id="12" name="DSFR-card-contenu"/>
          <p:cNvSpPr txBox="1"/>
          <p:nvPr/>
        </p:nvSpPr>
        <p:spPr>
          <a:xfrm>
            <a:off x="704088" y="3246120"/>
            <a:ext cx="5097779" cy="7543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Décrire chaque image en 1 à 2 phrases</a:t>
            </a:r>
          </a:p>
          <a:p>
            <a:pPr algn="l">
              <a:lnSpc>
                <a:spcPct val="125000"/>
              </a:lnSpc>
            </a:pPr>
            <a:r>
              <a:rPr sz="1400" lang="fr-FR">
                <a:solidFill>
                  <a:srgbClr val="161616"/>
                </a:solidFill>
                <a:latin typeface="Arial"/>
              </a:rPr>
              <a:t>• </a:t>
            </a:r>
            <a:r>
              <a:rPr sz="1400" b="0" lang="fr-FR">
                <a:solidFill>
                  <a:srgbClr val="161616"/>
                </a:solidFill>
                <a:latin typeface="Arial"/>
              </a:rPr>
              <a:t>Image décorative : utiliser l’option « Décorative » si la plateforme la propose. Sinon, indiquer « Image décorative » dans le texte alternatif.</a:t>
            </a:r>
          </a:p>
        </p:txBody>
      </p:sp>
      <p:sp>
        <p:nvSpPr>
          <p:cNvPr id="14" name="DSFR-box"/>
          <p:cNvSpPr/>
          <p:nvPr/>
        </p:nvSpPr>
        <p:spPr>
          <a:xfrm>
            <a:off x="6313931" y="2103120"/>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6469379"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Émojis sobres</a:t>
            </a:r>
          </a:p>
        </p:txBody>
      </p:sp>
      <p:sp>
        <p:nvSpPr>
          <p:cNvPr id="17" name="DSFR-card-contenu"/>
          <p:cNvSpPr txBox="1"/>
          <p:nvPr/>
        </p:nvSpPr>
        <p:spPr>
          <a:xfrm>
            <a:off x="6469379" y="3246120"/>
            <a:ext cx="5097779" cy="7543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1 ou 2 maximum, en fin de message uniquement</a:t>
            </a:r>
          </a:p>
          <a:p>
            <a:pPr algn="l">
              <a:lnSpc>
                <a:spcPct val="125000"/>
              </a:lnSpc>
            </a:pPr>
            <a:r>
              <a:rPr sz="1400" lang="fr-FR">
                <a:solidFill>
                  <a:srgbClr val="161616"/>
                </a:solidFill>
                <a:latin typeface="Arial"/>
              </a:rPr>
              <a:t>• </a:t>
            </a:r>
            <a:r>
              <a:rPr sz="1400" b="0" lang="fr-FR">
                <a:solidFill>
                  <a:srgbClr val="161616"/>
                </a:solidFill>
                <a:latin typeface="Arial"/>
              </a:rPr>
              <a:t>Le texte doit avoir du sens sans eux</a:t>
            </a:r>
          </a:p>
        </p:txBody>
      </p:sp>
      <p:sp>
        <p:nvSpPr>
          <p:cNvPr id="19" name="DSFR-box"/>
          <p:cNvSpPr/>
          <p:nvPr/>
        </p:nvSpPr>
        <p:spPr>
          <a:xfrm>
            <a:off x="548640" y="4183379"/>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704088" y="48691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Hashtags CamelCase</a:t>
            </a:r>
          </a:p>
        </p:txBody>
      </p:sp>
      <p:sp>
        <p:nvSpPr>
          <p:cNvPr id="22" name="DSFR-card-contenu"/>
          <p:cNvSpPr txBox="1"/>
          <p:nvPr/>
        </p:nvSpPr>
        <p:spPr>
          <a:xfrm>
            <a:off x="704088" y="5326379"/>
            <a:ext cx="5097779" cy="7543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#ServicePublic pas #servicepublic</a:t>
            </a:r>
          </a:p>
          <a:p>
            <a:pPr algn="l">
              <a:lnSpc>
                <a:spcPct val="125000"/>
              </a:lnSpc>
            </a:pPr>
            <a:r>
              <a:rPr sz="1400" lang="fr-FR">
                <a:solidFill>
                  <a:srgbClr val="161616"/>
                </a:solidFill>
                <a:latin typeface="Arial"/>
              </a:rPr>
              <a:t>• </a:t>
            </a:r>
            <a:r>
              <a:rPr sz="1400" b="0" lang="fr-FR">
                <a:solidFill>
                  <a:srgbClr val="161616"/>
                </a:solidFill>
                <a:latin typeface="Arial"/>
              </a:rPr>
              <a:t>Rassembler en fin de post, 2 à 3 maximum</a:t>
            </a:r>
          </a:p>
        </p:txBody>
      </p:sp>
      <p:sp>
        <p:nvSpPr>
          <p:cNvPr id="24" name="DSFR-box"/>
          <p:cNvSpPr/>
          <p:nvPr/>
        </p:nvSpPr>
        <p:spPr>
          <a:xfrm>
            <a:off x="6313931" y="4183379"/>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card-titre"/>
          <p:cNvSpPr txBox="1"/>
          <p:nvPr/>
        </p:nvSpPr>
        <p:spPr>
          <a:xfrm>
            <a:off x="6469379" y="48691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Texte natif</a:t>
            </a:r>
          </a:p>
        </p:txBody>
      </p:sp>
      <p:sp>
        <p:nvSpPr>
          <p:cNvPr id="27" name="DSFR-card-contenu"/>
          <p:cNvSpPr txBox="1"/>
          <p:nvPr/>
        </p:nvSpPr>
        <p:spPr>
          <a:xfrm>
            <a:off x="6469379" y="5326379"/>
            <a:ext cx="5097779" cy="7543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Jamais de faux gras ou faux italique (InstaFont ...)</a:t>
            </a:r>
          </a:p>
          <a:p>
            <a:pPr algn="l">
              <a:lnSpc>
                <a:spcPct val="125000"/>
              </a:lnSpc>
            </a:pPr>
            <a:r>
              <a:rPr sz="1400" lang="fr-FR">
                <a:solidFill>
                  <a:srgbClr val="161616"/>
                </a:solidFill>
                <a:latin typeface="Arial"/>
              </a:rPr>
              <a:t>• </a:t>
            </a:r>
            <a:r>
              <a:rPr sz="1400" b="0" lang="fr-FR">
                <a:solidFill>
                  <a:srgbClr val="161616"/>
                </a:solidFill>
                <a:latin typeface="Arial"/>
              </a:rPr>
              <a:t>Les caractères Unicode stylisés sont illisibles par les lecteurs d'écran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1</a:t>
            </a:r>
          </a:p>
        </p:txBody>
      </p:sp>
      <p:sp>
        <p:nvSpPr>
          <p:cNvPr id="15" name="DSFR-card-numero"/>
          <p:cNvSpPr/>
          <p:nvPr/>
        </p:nvSpPr>
        <p:spPr>
          <a:xfrm>
            <a:off x="6469379"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2</a:t>
            </a:r>
          </a:p>
        </p:txBody>
      </p:sp>
      <p:sp>
        <p:nvSpPr>
          <p:cNvPr id="20" name="DSFR-card-numero"/>
          <p:cNvSpPr/>
          <p:nvPr/>
        </p:nvSpPr>
        <p:spPr>
          <a:xfrm>
            <a:off x="704088" y="432054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3</a:t>
            </a:r>
          </a:p>
        </p:txBody>
      </p:sp>
      <p:sp>
        <p:nvSpPr>
          <p:cNvPr id="25" name="DSFR-card-numero"/>
          <p:cNvSpPr/>
          <p:nvPr/>
        </p:nvSpPr>
        <p:spPr>
          <a:xfrm>
            <a:off x="6469379" y="432054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4</a:t>
            </a:r>
          </a:p>
        </p:txBody>
      </p:sp>
      <p:sp>
        <p:nvSpPr>
          <p:cNvPr id="8" name="DSFR-accent-decoratif" descr=""/>
          <p:cNvSpPr/>
          <p:nvPr/>
        </p:nvSpPr>
        <p:spPr>
          <a:xfrm>
            <a:off x="475488" y="2103120"/>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475488" y="4183379"/>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6240779" y="4183379"/>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texte alternatif : votre sous-titre d'image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Alt text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119</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L'alt text, c'est comme un sous-titre pour votre image : il dit ce qu'elle montre à ceux qui ne peuvent pas la voir.</a:t>
            </a:r>
          </a:p>
        </p:txBody>
      </p:sp>
      <p:sp>
        <p:nvSpPr>
          <p:cNvPr id="12" name="DSFR-box"/>
          <p:cNvSpPr/>
          <p:nvPr/>
        </p:nvSpPr>
        <p:spPr>
          <a:xfrm>
            <a:off x="548640" y="3127248"/>
            <a:ext cx="5390388" cy="24981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186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Qui en bénéficie ?</a:t>
            </a:r>
          </a:p>
        </p:txBody>
      </p:sp>
      <p:sp>
        <p:nvSpPr>
          <p:cNvPr id="14" name="DSFR-callout-body"/>
          <p:cNvSpPr txBox="1"/>
          <p:nvPr/>
        </p:nvSpPr>
        <p:spPr>
          <a:xfrm>
            <a:off x="704088" y="3630168"/>
            <a:ext cx="5143500" cy="1903780"/>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Personnes aveugles ou malvoyantes (lecteur d'écran)</a:t>
            </a:r>
          </a:p>
          <a:p>
            <a:pPr algn="l">
              <a:lnSpc>
                <a:spcPct val="115000"/>
              </a:lnSpc>
            </a:pPr>
            <a:r>
              <a:rPr sz="1400" lang="fr-FR">
                <a:solidFill>
                  <a:srgbClr val="161616"/>
                </a:solidFill>
                <a:latin typeface="Arial"/>
              </a:rPr>
              <a:t>• </a:t>
            </a:r>
            <a:r>
              <a:rPr sz="1400" b="0" lang="fr-FR">
                <a:solidFill>
                  <a:srgbClr val="161616"/>
                </a:solidFill>
                <a:latin typeface="Arial"/>
              </a:rPr>
              <a:t>Connexion lente ou image non chargée</a:t>
            </a:r>
          </a:p>
          <a:p>
            <a:pPr algn="l">
              <a:lnSpc>
                <a:spcPct val="115000"/>
              </a:lnSpc>
            </a:pPr>
            <a:r>
              <a:rPr sz="1400" lang="fr-FR">
                <a:solidFill>
                  <a:srgbClr val="161616"/>
                </a:solidFill>
                <a:latin typeface="Arial"/>
              </a:rPr>
              <a:t>• </a:t>
            </a:r>
            <a:r>
              <a:rPr sz="1400" b="0" lang="fr-FR">
                <a:solidFill>
                  <a:srgbClr val="161616"/>
                </a:solidFill>
                <a:latin typeface="Arial"/>
              </a:rPr>
              <a:t>Moteurs de recherche (Google indexe via l'alt text)</a:t>
            </a:r>
          </a:p>
          <a:p>
            <a:pPr algn="l">
              <a:lnSpc>
                <a:spcPct val="115000"/>
              </a:lnSpc>
            </a:pPr>
            <a:r>
              <a:rPr sz="1400" lang="fr-FR">
                <a:solidFill>
                  <a:srgbClr val="161616"/>
                </a:solidFill>
                <a:latin typeface="Arial"/>
              </a:rPr>
              <a:t>• </a:t>
            </a:r>
            <a:r>
              <a:rPr sz="1400" b="0" lang="fr-FR">
                <a:solidFill>
                  <a:srgbClr val="161616"/>
                </a:solidFill>
                <a:latin typeface="Arial"/>
              </a:rPr>
              <a:t>IA et outils d'analyse d'image</a:t>
            </a:r>
          </a:p>
          <a:p>
            <a:pPr algn="l">
              <a:lnSpc>
                <a:spcPct val="115000"/>
              </a:lnSpc>
            </a:pPr>
            <a:r>
              <a:rPr sz="1400" lang="fr-FR">
                <a:solidFill>
                  <a:srgbClr val="161616"/>
                </a:solidFill>
                <a:latin typeface="Arial"/>
              </a:rPr>
              <a:t>• </a:t>
            </a:r>
            <a:r>
              <a:rPr sz="1400" b="0" lang="fr-FR">
                <a:solidFill>
                  <a:srgbClr val="161616"/>
                </a:solidFill>
                <a:latin typeface="Arial"/>
              </a:rPr>
              <a:t>Contexte défavorable (luminosité, etc.)</a:t>
            </a:r>
          </a:p>
        </p:txBody>
      </p:sp>
      <p:sp>
        <p:nvSpPr>
          <p:cNvPr id="16" name="DSFR-box"/>
          <p:cNvSpPr/>
          <p:nvPr/>
        </p:nvSpPr>
        <p:spPr>
          <a:xfrm>
            <a:off x="6313931" y="3127248"/>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2186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Concrètement sur les réseaux</a:t>
            </a:r>
          </a:p>
        </p:txBody>
      </p:sp>
      <p:sp>
        <p:nvSpPr>
          <p:cNvPr id="18" name="DSFR-alert-info-body"/>
          <p:cNvSpPr txBox="1"/>
          <p:nvPr/>
        </p:nvSpPr>
        <p:spPr>
          <a:xfrm>
            <a:off x="6469379" y="3630168"/>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LinkedIn : Modifier → Texte alternatif</a:t>
            </a:r>
          </a:p>
          <a:p>
            <a:pPr algn="l">
              <a:lnSpc>
                <a:spcPct val="115000"/>
              </a:lnSpc>
            </a:pPr>
            <a:r>
              <a:rPr sz="1400" lang="fr-FR">
                <a:solidFill>
                  <a:srgbClr val="161616"/>
                </a:solidFill>
                <a:latin typeface="Arial"/>
              </a:rPr>
              <a:t>• </a:t>
            </a:r>
            <a:r>
              <a:rPr sz="1400" b="0" lang="fr-FR">
                <a:solidFill>
                  <a:srgbClr val="161616"/>
                </a:solidFill>
                <a:latin typeface="Arial"/>
              </a:rPr>
              <a:t>Facebook : Modifier l'image → Alt text</a:t>
            </a:r>
          </a:p>
          <a:p>
            <a:pPr algn="l">
              <a:lnSpc>
                <a:spcPct val="115000"/>
              </a:lnSpc>
            </a:pPr>
            <a:r>
              <a:rPr sz="1400" lang="fr-FR">
                <a:solidFill>
                  <a:srgbClr val="161616"/>
                </a:solidFill>
                <a:latin typeface="Arial"/>
              </a:rPr>
              <a:t>• </a:t>
            </a:r>
            <a:r>
              <a:rPr sz="1400" b="0" lang="fr-FR">
                <a:solidFill>
                  <a:srgbClr val="161616"/>
                </a:solidFill>
                <a:latin typeface="Arial"/>
              </a:rPr>
              <a:t>Twitter/X : intégré à la publication</a:t>
            </a:r>
          </a:p>
          <a:p>
            <a:pPr algn="l">
              <a:lnSpc>
                <a:spcPct val="115000"/>
              </a:lnSpc>
            </a:pPr>
            <a:r>
              <a:rPr sz="1400" lang="fr-FR">
                <a:solidFill>
                  <a:srgbClr val="161616"/>
                </a:solidFill>
                <a:latin typeface="Arial"/>
              </a:rPr>
              <a:t>• </a:t>
            </a:r>
            <a:r>
              <a:rPr sz="1400" b="0" lang="fr-FR">
                <a:solidFill>
                  <a:srgbClr val="161616"/>
                </a:solidFill>
                <a:latin typeface="Arial"/>
              </a:rPr>
              <a:t>Instagram : Paramètres avancés → Alt text</a:t>
            </a:r>
          </a:p>
          <a:p>
            <a:pPr algn="l">
              <a:lnSpc>
                <a:spcPct val="115000"/>
              </a:lnSpc>
            </a:pPr>
            <a:r>
              <a:rPr sz="1400" lang="fr-FR">
                <a:solidFill>
                  <a:srgbClr val="161616"/>
                </a:solidFill>
                <a:latin typeface="Arial"/>
              </a:rPr>
              <a:t>• </a:t>
            </a:r>
            <a:r>
              <a:rPr sz="1400" b="0" lang="fr-FR">
                <a:solidFill>
                  <a:srgbClr val="161616"/>
                </a:solidFill>
                <a:latin typeface="Arial"/>
              </a:rPr>
              <a:t>Canva : Clic droit → Texte alternatif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27248"/>
            <a:ext cx="73152" cy="24981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2724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Comment rédiger un bon texte alternatif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Alt text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120</a:t>
            </a:r>
            <a:endParaRPr lang="fr-FR" dirty="0"/>
          </a:p>
        </p:txBody>
      </p:sp>
      <p:sp>
        <p:nvSpPr>
          <p:cNvPr id="9" name="DSFR-box"/>
          <p:cNvSpPr/>
          <p:nvPr/>
        </p:nvSpPr>
        <p:spPr>
          <a:xfrm>
            <a:off x="548640" y="2011680"/>
            <a:ext cx="5390388" cy="303580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éviter</a:t>
            </a:r>
          </a:p>
        </p:txBody>
      </p:sp>
      <p:sp>
        <p:nvSpPr>
          <p:cNvPr id="11" name="DSFR-alert-error-body"/>
          <p:cNvSpPr txBox="1"/>
          <p:nvPr/>
        </p:nvSpPr>
        <p:spPr>
          <a:xfrm>
            <a:off x="704088" y="2514600"/>
            <a:ext cx="5143500" cy="244144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"image.jpg" - nom de fichier, aucun sens</a:t>
            </a:r>
          </a:p>
          <a:p>
            <a:pPr algn="l">
              <a:lnSpc>
                <a:spcPct val="150000"/>
              </a:lnSpc>
            </a:pPr>
            <a:r>
              <a:rPr sz="1400" lang="fr-FR">
                <a:solidFill>
                  <a:srgbClr val="161616"/>
                </a:solidFill>
                <a:latin typeface="Arial"/>
              </a:rPr>
              <a:t>• </a:t>
            </a:r>
            <a:r>
              <a:rPr sz="1400" b="0" lang="fr-FR">
                <a:solidFill>
                  <a:srgbClr val="161616"/>
                </a:solidFill>
                <a:latin typeface="Arial"/>
              </a:rPr>
              <a:t>"Photo" - trop vague, aucune information</a:t>
            </a:r>
          </a:p>
          <a:p>
            <a:pPr algn="l">
              <a:lnSpc>
                <a:spcPct val="150000"/>
              </a:lnSpc>
            </a:pPr>
            <a:r>
              <a:rPr sz="1400" lang="fr-FR">
                <a:solidFill>
                  <a:srgbClr val="161616"/>
                </a:solidFill>
                <a:latin typeface="Arial"/>
              </a:rPr>
              <a:t>• </a:t>
            </a:r>
            <a:r>
              <a:rPr sz="1400" b="0" lang="fr-FR">
                <a:solidFill>
                  <a:srgbClr val="161616"/>
                </a:solidFill>
                <a:latin typeface="Arial"/>
              </a:rPr>
              <a:t>"Image de la réunion du 12 mars 2026" - date inutile sans contexte</a:t>
            </a:r>
          </a:p>
          <a:p>
            <a:pPr algn="l">
              <a:lnSpc>
                <a:spcPct val="150000"/>
              </a:lnSpc>
            </a:pPr>
            <a:r>
              <a:rPr sz="1400" lang="fr-FR">
                <a:solidFill>
                  <a:srgbClr val="161616"/>
                </a:solidFill>
                <a:latin typeface="Arial"/>
              </a:rPr>
              <a:t>• </a:t>
            </a:r>
            <a:r>
              <a:rPr sz="1400" b="0" lang="fr-FR">
                <a:solidFill>
                  <a:srgbClr val="161616"/>
                </a:solidFill>
                <a:latin typeface="Arial"/>
              </a:rPr>
              <a:t>"Voir l'image ci-dessous" - redondant, ne décrit rien</a:t>
            </a:r>
          </a:p>
        </p:txBody>
      </p:sp>
      <p:sp>
        <p:nvSpPr>
          <p:cNvPr id="13" name="DSFR-box"/>
          <p:cNvSpPr/>
          <p:nvPr/>
        </p:nvSpPr>
        <p:spPr>
          <a:xfrm>
            <a:off x="6313931" y="201168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 fonctionne</a:t>
            </a:r>
          </a:p>
        </p:txBody>
      </p:sp>
      <p:sp>
        <p:nvSpPr>
          <p:cNvPr id="15" name="DSFR-callout-body"/>
          <p:cNvSpPr txBox="1"/>
          <p:nvPr/>
        </p:nvSpPr>
        <p:spPr>
          <a:xfrm>
            <a:off x="6469379" y="2514600"/>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"Trois agents discutent autour d'une table, documents ouverts"</a:t>
            </a:r>
          </a:p>
          <a:p>
            <a:pPr algn="l">
              <a:lnSpc>
                <a:spcPct val="125000"/>
              </a:lnSpc>
            </a:pPr>
            <a:r>
              <a:rPr sz="1400" lang="fr-FR">
                <a:solidFill>
                  <a:srgbClr val="161616"/>
                </a:solidFill>
                <a:latin typeface="Arial"/>
              </a:rPr>
              <a:t>• </a:t>
            </a:r>
            <a:r>
              <a:rPr sz="1400" b="0" lang="fr-FR">
                <a:solidFill>
                  <a:srgbClr val="161616"/>
                </a:solidFill>
                <a:latin typeface="Arial"/>
              </a:rPr>
              <a:t>"Logo DINUM - bleu avec texte blanc"</a:t>
            </a:r>
          </a:p>
          <a:p>
            <a:pPr algn="l">
              <a:lnSpc>
                <a:spcPct val="125000"/>
              </a:lnSpc>
            </a:pPr>
            <a:r>
              <a:rPr sz="1400" lang="fr-FR">
                <a:solidFill>
                  <a:srgbClr val="161616"/>
                </a:solidFill>
                <a:latin typeface="Arial"/>
              </a:rPr>
              <a:t>• </a:t>
            </a:r>
            <a:r>
              <a:rPr sz="1400" b="0" lang="fr-FR">
                <a:solidFill>
                  <a:srgbClr val="161616"/>
                </a:solidFill>
                <a:latin typeface="Arial"/>
              </a:rPr>
              <a:t>"Graphique : le taux d'accessibilité passe de 45 à 78 % entre 2023 et 2025"</a:t>
            </a:r>
          </a:p>
          <a:p>
            <a:pPr algn="l">
              <a:lnSpc>
                <a:spcPct val="125000"/>
              </a:lnSpc>
            </a:pPr>
            <a:r>
              <a:rPr sz="1400" lang="fr-FR">
                <a:solidFill>
                  <a:srgbClr val="161616"/>
                </a:solidFill>
                <a:latin typeface="Arial"/>
              </a:rPr>
              <a:t>• </a:t>
            </a:r>
            <a:r>
              <a:rPr sz="1400" b="0" lang="fr-FR">
                <a:solidFill>
                  <a:srgbClr val="161616"/>
                </a:solidFill>
                <a:latin typeface="Arial"/>
              </a:rPr>
              <a:t>"Infographie : 4 étapes pour publier un post accessible (texte ci-dessous)"</a:t>
            </a:r>
          </a:p>
        </p:txBody>
      </p:sp>
      <p:sp>
        <p:nvSpPr>
          <p:cNvPr id="17" name="DSFR-box"/>
          <p:cNvSpPr/>
          <p:nvPr/>
        </p:nvSpPr>
        <p:spPr>
          <a:xfrm>
            <a:off x="548640" y="5184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27608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Exercice en binôme (7 min) : rédigez l'alt text pour 3 images que vous avez publiées récemment sur vos réseaux professionnels.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011680"/>
            <a:ext cx="73152" cy="30358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01168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184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Alt text : où le trouver sur chaque plateforme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Plateformes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121</a:t>
            </a:r>
            <a:endParaRPr lang="fr-FR" dirty="0"/>
          </a:p>
        </p:txBody>
      </p:sp>
      <p:graphicFrame>
        <p:nvGraphicFramePr>
          <p:cNvPr id="8" name="Table 7"/>
          <p:cNvGraphicFramePr>
            <a:graphicFrameLocks noGrp="1"/>
          </p:cNvGraphicFramePr>
          <p:nvPr/>
        </p:nvGraphicFramePr>
        <p:xfrm>
          <a:off x="475488" y="1965960"/>
          <a:ext cx="11155680" cy="2194560"/>
        </p:xfrm>
        <a:graphic>
          <a:graphicData uri="http://schemas.openxmlformats.org/drawingml/2006/table">
            <a:tbl>
              <a:tblPr firstRow="1" bandRow="1">
                <a:tableStyleId>{5C22544A-7EE6-4342-B048-85BDC9FD1C3A}</a:tableStyleId>
              </a:tblPr>
              <a:tblGrid>
                <a:gridCol w="2011680"/>
                <a:gridCol w="6400800"/>
                <a:gridCol w="2743200"/>
              </a:tblGrid>
              <a:tr h="365760">
                <a:tc>
                  <a:txBody>
                    <a:bodyPr wrap="square" anchor="ctr" lIns="73152" rIns="73152"/>
                    <a:lstStyle/>
                    <a:p>
                      <a:pPr algn="l">
                        <a:lnSpc>
                          <a:spcPct val="125000"/>
                        </a:lnSpc>
                      </a:pPr>
                      <a:r>
                        <a:rPr sz="1400" b="1" i="0" lang="fr-FR">
                          <a:solidFill>
                            <a:srgbClr val="FFFFFF"/>
                          </a:solidFill>
                          <a:latin typeface="Arial"/>
                        </a:rPr>
                        <a:t>Plateforme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Accès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Moment</a:t>
                      </a:r>
                    </a:p>
                  </a:txBody>
                  <a:tcPr marL="91440" marR="91440" marT="45720" marB="45720">
                    <a:solidFill>
                      <a:srgbClr val="000091"/>
                    </a:solidFill>
                  </a:tcPr>
                </a:tc>
              </a:tr>
              <a:tr h="365760">
                <a:tc>
                  <a:txBody>
                    <a:bodyPr wrap="square" anchor="ctr" lIns="73152" rIns="73152"/>
                    <a:lstStyle/>
                    <a:p>
                      <a:pPr algn="l">
                        <a:lnSpc>
                          <a:spcPct val="125000"/>
                        </a:lnSpc>
                      </a:pPr>
                      <a:r>
                        <a:rPr sz="1400" b="0" i="0" lang="fr-FR">
                          <a:solidFill>
                            <a:srgbClr val="161616"/>
                          </a:solidFill>
                          <a:latin typeface="Arial"/>
                        </a:rPr>
                        <a:t>LinkedIn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Modifier la publication &gt; modifier l'image &gt; Ajouter du texte alternatif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À la publication ou après</a:t>
                      </a:r>
                    </a:p>
                  </a:txBody>
                  <a:tcPr marL="91440" marR="91440" marT="45720" marB="45720">
                    <a:solidFill>
                      <a:srgbClr val="FFFFFF"/>
                    </a:solidFill>
                  </a:tcPr>
                </a:tc>
              </a:tr>
              <a:tr h="365760">
                <a:tc>
                  <a:txBody>
                    <a:bodyPr wrap="square" anchor="ctr" lIns="73152" rIns="73152"/>
                    <a:lstStyle/>
                    <a:p>
                      <a:pPr algn="l">
                        <a:lnSpc>
                          <a:spcPct val="125000"/>
                        </a:lnSpc>
                      </a:pPr>
                      <a:r>
                        <a:rPr sz="1400" b="0" i="0" lang="fr-FR">
                          <a:solidFill>
                            <a:srgbClr val="161616"/>
                          </a:solidFill>
                          <a:latin typeface="Arial"/>
                        </a:rPr>
                        <a:t>Facebook</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Modifier la photo &gt; Texte alternatif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À la publication ou après</a:t>
                      </a:r>
                    </a:p>
                  </a:txBody>
                  <a:tcPr marL="91440" marR="91440" marT="45720" marB="45720">
                    <a:solidFill>
                      <a:srgbClr val="F5F5FE"/>
                    </a:solidFill>
                  </a:tcPr>
                </a:tc>
              </a:tr>
              <a:tr h="365760">
                <a:tc>
                  <a:txBody>
                    <a:bodyPr wrap="square" anchor="ctr" lIns="73152" rIns="73152"/>
                    <a:lstStyle/>
                    <a:p>
                      <a:pPr algn="l">
                        <a:lnSpc>
                          <a:spcPct val="125000"/>
                        </a:lnSpc>
                      </a:pPr>
                      <a:r>
                        <a:rPr sz="1400" b="0" i="0" lang="fr-FR">
                          <a:solidFill>
                            <a:srgbClr val="161616"/>
                          </a:solidFill>
                          <a:latin typeface="Arial"/>
                        </a:rPr>
                        <a:t>X (Twitter)</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Ajouter une description (icône Accessibilité sous l'image)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Avant publication uniquement</a:t>
                      </a:r>
                    </a:p>
                  </a:txBody>
                  <a:tcPr marL="91440" marR="91440" marT="45720" marB="45720">
                    <a:solidFill>
                      <a:srgbClr val="FFFFFF"/>
                    </a:solidFill>
                  </a:tcPr>
                </a:tc>
              </a:tr>
              <a:tr h="365760">
                <a:tc>
                  <a:txBody>
                    <a:bodyPr wrap="square" anchor="ctr" lIns="73152" rIns="73152"/>
                    <a:lstStyle/>
                    <a:p>
                      <a:pPr algn="l">
                        <a:lnSpc>
                          <a:spcPct val="125000"/>
                        </a:lnSpc>
                      </a:pPr>
                      <a:r>
                        <a:rPr sz="1400" b="0" i="0" lang="fr-FR">
                          <a:solidFill>
                            <a:srgbClr val="161616"/>
                          </a:solidFill>
                          <a:latin typeface="Arial"/>
                        </a:rPr>
                        <a:t>Instagram</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Paramètres avancés &gt; Accessibilité &gt; Écrire le texte alternatif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Avant publication uniquement</a:t>
                      </a:r>
                    </a:p>
                  </a:txBody>
                  <a:tcPr marL="91440" marR="91440" marT="45720" marB="45720">
                    <a:solidFill>
                      <a:srgbClr val="F5F5FE"/>
                    </a:solidFill>
                  </a:tcPr>
                </a:tc>
              </a:tr>
              <a:tr h="365760">
                <a:tc>
                  <a:txBody>
                    <a:bodyPr wrap="square" anchor="ctr" lIns="73152" rIns="73152"/>
                    <a:lstStyle/>
                    <a:p>
                      <a:pPr algn="l">
                        <a:lnSpc>
                          <a:spcPct val="125000"/>
                        </a:lnSpc>
                      </a:pPr>
                      <a:r>
                        <a:rPr sz="1400" b="0" i="0" lang="fr-FR">
                          <a:solidFill>
                            <a:srgbClr val="161616"/>
                          </a:solidFill>
                          <a:latin typeface="Arial"/>
                        </a:rPr>
                        <a:t>Canva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Clic droit sur l'image &gt; Texte alternatif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Pendant la création</a:t>
                      </a:r>
                    </a:p>
                  </a:txBody>
                  <a:tcPr marL="91440" marR="91440" marT="45720" marB="45720">
                    <a:solidFill>
                      <a:srgbClr val="FFFFFF"/>
                    </a:solidFill>
                  </a:tcPr>
                </a:tc>
              </a:tr>
            </a:tbl>
          </a:graphicData>
        </a:graphic>
      </p:graphicFrame>
      <p:sp>
        <p:nvSpPr>
          <p:cNvPr id="10" name="DSFR-box"/>
          <p:cNvSpPr/>
          <p:nvPr/>
        </p:nvSpPr>
        <p:spPr>
          <a:xfrm>
            <a:off x="548640" y="4489704"/>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success-titre"/>
          <p:cNvSpPr txBox="1"/>
          <p:nvPr/>
        </p:nvSpPr>
        <p:spPr>
          <a:xfrm>
            <a:off x="704088" y="458114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Astuce : activez-le par défaut</a:t>
            </a:r>
          </a:p>
        </p:txBody>
      </p:sp>
      <p:sp>
        <p:nvSpPr>
          <p:cNvPr id="12" name="DSFR-alert-success-body"/>
          <p:cNvSpPr txBox="1"/>
          <p:nvPr/>
        </p:nvSpPr>
        <p:spPr>
          <a:xfrm>
            <a:off x="704088" y="4992624"/>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LinkedIn et Instagram proposent un rappel si vous oubliez l'alt text</a:t>
            </a:r>
          </a:p>
          <a:p>
            <a:pPr algn="l">
              <a:lnSpc>
                <a:spcPct val="150000"/>
              </a:lnSpc>
            </a:pPr>
            <a:r>
              <a:rPr sz="1400" lang="fr-FR">
                <a:solidFill>
                  <a:srgbClr val="161616"/>
                </a:solidFill>
                <a:latin typeface="Arial"/>
              </a:rPr>
              <a:t>• </a:t>
            </a:r>
            <a:r>
              <a:rPr sz="1400" b="0" lang="fr-FR">
                <a:solidFill>
                  <a:srgbClr val="161616"/>
                </a:solidFill>
                <a:latin typeface="Arial"/>
              </a:rPr>
              <a:t>X : paramètre Accessibilité dans les réglages de compte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9" name="DSFR-accent-decoratif" descr=""/>
          <p:cNvSpPr/>
          <p:nvPr/>
        </p:nvSpPr>
        <p:spPr>
          <a:xfrm>
            <a:off x="475488" y="4489704"/>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Émojis : 3 règles simples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Émojis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122</a:t>
            </a:r>
            <a:endParaRPr lang="fr-FR" dirty="0"/>
          </a:p>
        </p:txBody>
      </p:sp>
      <p:sp>
        <p:nvSpPr>
          <p:cNvPr id="9" name="DSFR-box"/>
          <p:cNvSpPr/>
          <p:nvPr/>
        </p:nvSpPr>
        <p:spPr>
          <a:xfrm>
            <a:off x="548640" y="1737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288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Un lecteur d'écran lit le nom officiel de chaque émoji. En série, c'est incompréhensible.</a:t>
            </a:r>
          </a:p>
        </p:txBody>
      </p:sp>
      <p:sp>
        <p:nvSpPr>
          <p:cNvPr id="11" name="DSFR-stepper-pastille-1"/>
          <p:cNvSpPr/>
          <p:nvPr/>
        </p:nvSpPr>
        <p:spPr>
          <a:xfrm>
            <a:off x="1926335"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3" name="DSFR-stepper-texte-1"/>
          <p:cNvSpPr txBox="1"/>
          <p:nvPr/>
        </p:nvSpPr>
        <p:spPr>
          <a:xfrm>
            <a:off x="475488"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1 ou 2 émojis par post maximum - au-delà, le sens se perd à l'écoute</a:t>
            </a:r>
          </a:p>
        </p:txBody>
      </p:sp>
      <p:sp>
        <p:nvSpPr>
          <p:cNvPr id="14" name="DSFR-stepper-pastille-2"/>
          <p:cNvSpPr/>
          <p:nvPr/>
        </p:nvSpPr>
        <p:spPr>
          <a:xfrm>
            <a:off x="5769863"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6" name="DSFR-stepper-texte-2"/>
          <p:cNvSpPr txBox="1"/>
          <p:nvPr/>
        </p:nvSpPr>
        <p:spPr>
          <a:xfrm>
            <a:off x="4319015"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En fin de message - jamais au début ni à la place d'un mot</a:t>
            </a:r>
          </a:p>
        </p:txBody>
      </p:sp>
      <p:sp>
        <p:nvSpPr>
          <p:cNvPr id="17" name="DSFR-stepper-pastille-3"/>
          <p:cNvSpPr/>
          <p:nvPr/>
        </p:nvSpPr>
        <p:spPr>
          <a:xfrm>
            <a:off x="9613391"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8" name="DSFR-stepper-texte-3"/>
          <p:cNvSpPr txBox="1"/>
          <p:nvPr/>
        </p:nvSpPr>
        <p:spPr>
          <a:xfrm>
            <a:off x="8162543"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Vérifier leur sens réel - puis tester le texte sans eux</a:t>
            </a:r>
          </a:p>
        </p:txBody>
      </p:sp>
      <p:sp>
        <p:nvSpPr>
          <p:cNvPr id="20" name="DSFR-box"/>
          <p:cNvSpPr/>
          <p:nvPr/>
        </p:nvSpPr>
        <p:spPr>
          <a:xfrm>
            <a:off x="548640" y="4649724"/>
            <a:ext cx="11155680" cy="142280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74116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Test rapide avant publication</a:t>
            </a:r>
          </a:p>
        </p:txBody>
      </p:sp>
      <p:sp>
        <p:nvSpPr>
          <p:cNvPr id="22" name="DSFR-alert-info-body"/>
          <p:cNvSpPr txBox="1"/>
          <p:nvPr/>
        </p:nvSpPr>
        <p:spPr>
          <a:xfrm>
            <a:off x="704088" y="5152644"/>
            <a:ext cx="10908792" cy="828446"/>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Retirez tous les émojis du texte</a:t>
            </a:r>
          </a:p>
          <a:p>
            <a:pPr algn="l">
              <a:lnSpc>
                <a:spcPct val="120000"/>
              </a:lnSpc>
            </a:pPr>
            <a:r>
              <a:rPr sz="1400" lang="fr-FR">
                <a:solidFill>
                  <a:srgbClr val="161616"/>
                </a:solidFill>
                <a:latin typeface="Arial"/>
              </a:rPr>
              <a:t>• </a:t>
            </a:r>
            <a:r>
              <a:rPr sz="1400" b="0" lang="fr-FR">
                <a:solidFill>
                  <a:srgbClr val="161616"/>
                </a:solidFill>
                <a:latin typeface="Arial"/>
              </a:rPr>
              <a:t>Le message est-il toujours clair et complet ? Si oui : bon signe</a:t>
            </a:r>
          </a:p>
          <a:p>
            <a:pPr algn="l">
              <a:lnSpc>
                <a:spcPct val="120000"/>
              </a:lnSpc>
            </a:pPr>
            <a:r>
              <a:rPr sz="1400" lang="fr-FR">
                <a:solidFill>
                  <a:srgbClr val="161616"/>
                </a:solidFill>
                <a:latin typeface="Arial"/>
              </a:rPr>
              <a:t>• </a:t>
            </a:r>
            <a:r>
              <a:rPr sz="1400" b="0" lang="fr-FR">
                <a:solidFill>
                  <a:srgbClr val="161616"/>
                </a:solidFill>
                <a:latin typeface="Arial"/>
              </a:rPr>
              <a:t>Si non : l'émoji porte du sens - remplacez-le par le mot correspondant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737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566416" y="3003804"/>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6409944" y="3003804"/>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649724"/>
            <a:ext cx="73152" cy="142280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Ce que ça donne avec trop d'émojis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Émojis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123</a:t>
            </a:r>
            <a:endParaRPr lang="fr-FR" dirty="0"/>
          </a:p>
        </p:txBody>
      </p:sp>
      <p:sp>
        <p:nvSpPr>
          <p:cNvPr id="9" name="DSFR-box"/>
          <p:cNvSpPr/>
          <p:nvPr/>
        </p:nvSpPr>
        <p:spPr>
          <a:xfrm>
            <a:off x="548640" y="2011680"/>
            <a:ext cx="5390388"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Post original</a:t>
            </a:r>
          </a:p>
        </p:txBody>
      </p:sp>
      <p:sp>
        <p:nvSpPr>
          <p:cNvPr id="11" name="DSFR-callout-body"/>
          <p:cNvSpPr txBox="1"/>
          <p:nvPr/>
        </p:nvSpPr>
        <p:spPr>
          <a:xfrm>
            <a:off x="704088" y="2514600"/>
            <a:ext cx="5143500"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 Rejoignez-nous 📅 mardi 10 juin 🏢 salle B3 pour notre atelier 💻 sur l'accessibilité 🧠 numérique 👏👏</a:t>
            </a:r>
          </a:p>
        </p:txBody>
      </p:sp>
      <p:sp>
        <p:nvSpPr>
          <p:cNvPr id="13" name="DSFR-box"/>
          <p:cNvSpPr/>
          <p:nvPr/>
        </p:nvSpPr>
        <p:spPr>
          <a:xfrm>
            <a:off x="6313931" y="2011680"/>
            <a:ext cx="5390388" cy="303580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NVDA lit</a:t>
            </a:r>
          </a:p>
        </p:txBody>
      </p:sp>
      <p:sp>
        <p:nvSpPr>
          <p:cNvPr id="15" name="DSFR-alert-warning-body"/>
          <p:cNvSpPr txBox="1"/>
          <p:nvPr/>
        </p:nvSpPr>
        <p:spPr>
          <a:xfrm>
            <a:off x="6469379" y="2514600"/>
            <a:ext cx="5143500" cy="244144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Visage qui fête quelque chose. Visage qui fête quelque chose. Rejoignez-nous. Calendrier spirale. mardi 10 juin. Bâtiment de bureau. salle B3 pour notre atelier. Ordinateur portable. sur l'accessibilité. Cerveau. numérique. Mains qui applaudissent, peau claire. Mains qui applaudissent, peau claire.</a:t>
            </a:r>
          </a:p>
        </p:txBody>
      </p:sp>
      <p:sp>
        <p:nvSpPr>
          <p:cNvPr id="17" name="DSFR-box"/>
          <p:cNvSpPr/>
          <p:nvPr/>
        </p:nvSpPr>
        <p:spPr>
          <a:xfrm>
            <a:off x="548640" y="5184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27608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Version accessible : 'Rejoignez-nous mardi 10 juin, salle B3, pour notre atelier sur l'accessibilité numérique.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01168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011680"/>
            <a:ext cx="73152" cy="30358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184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Hashtags : le CamelCase qui change tout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Hashtags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124</a:t>
            </a:r>
            <a:endParaRPr lang="fr-FR" dirty="0"/>
          </a:p>
        </p:txBody>
      </p:sp>
      <p:sp>
        <p:nvSpPr>
          <p:cNvPr id="9" name="DSFR-box"/>
          <p:cNvSpPr/>
          <p:nvPr/>
        </p:nvSpPr>
        <p:spPr>
          <a:xfrm>
            <a:off x="548640" y="1874519"/>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Pourquoi le CamelCase ?</a:t>
            </a:r>
          </a:p>
        </p:txBody>
      </p:sp>
      <p:sp>
        <p:nvSpPr>
          <p:cNvPr id="11" name="DSFR-callout-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#ServicePublic : les mots sont séparés naturellement</a:t>
            </a:r>
          </a:p>
          <a:p>
            <a:pPr algn="l">
              <a:lnSpc>
                <a:spcPct val="115000"/>
              </a:lnSpc>
            </a:pPr>
            <a:r>
              <a:rPr sz="1400" lang="fr-FR">
                <a:solidFill>
                  <a:srgbClr val="161616"/>
                </a:solidFill>
                <a:latin typeface="Arial"/>
              </a:rPr>
              <a:t>• </a:t>
            </a:r>
            <a:r>
              <a:rPr sz="1400" b="0" lang="fr-FR">
                <a:solidFill>
                  <a:srgbClr val="161616"/>
                </a:solidFill>
                <a:latin typeface="Arial"/>
              </a:rPr>
              <a:t>#servicepublic : un seul bloc, plus difficile à comprendre</a:t>
            </a:r>
          </a:p>
          <a:p>
            <a:pPr algn="l">
              <a:lnSpc>
                <a:spcPct val="115000"/>
              </a:lnSpc>
            </a:pPr>
            <a:r>
              <a:rPr sz="1400" lang="fr-FR">
                <a:solidFill>
                  <a:srgbClr val="161616"/>
                </a:solidFill>
                <a:latin typeface="Arial"/>
              </a:rPr>
              <a:t>• </a:t>
            </a:r>
            <a:r>
              <a:rPr sz="1400" b="0" lang="fr-FR">
                <a:solidFill>
                  <a:srgbClr val="161616"/>
                </a:solidFill>
                <a:latin typeface="Arial"/>
              </a:rPr>
              <a:t>#SERVICEPUBLIC : risque de lecture lettre par lettre</a:t>
            </a:r>
          </a:p>
        </p:txBody>
      </p:sp>
      <p:sp>
        <p:nvSpPr>
          <p:cNvPr id="13" name="DSFR-box"/>
          <p:cNvSpPr/>
          <p:nvPr/>
        </p:nvSpPr>
        <p:spPr>
          <a:xfrm>
            <a:off x="6313931" y="1874519"/>
            <a:ext cx="5390388"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3 règles avant publication</a:t>
            </a:r>
          </a:p>
        </p:txBody>
      </p:sp>
      <p:sp>
        <p:nvSpPr>
          <p:cNvPr id="15" name="DSFR-alert-success-body"/>
          <p:cNvSpPr txBox="1"/>
          <p:nvPr/>
        </p:nvSpPr>
        <p:spPr>
          <a:xfrm>
            <a:off x="6469379" y="2377439"/>
            <a:ext cx="5143500" cy="799642"/>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Majuscule au début de chaque mot</a:t>
            </a:r>
          </a:p>
          <a:p>
            <a:pPr algn="l">
              <a:lnSpc>
                <a:spcPct val="115000"/>
              </a:lnSpc>
            </a:pPr>
            <a:r>
              <a:rPr sz="1400" lang="fr-FR">
                <a:solidFill>
                  <a:srgbClr val="161616"/>
                </a:solidFill>
                <a:latin typeface="Arial"/>
              </a:rPr>
              <a:t>• </a:t>
            </a:r>
            <a:r>
              <a:rPr sz="1400" b="0" lang="fr-FR">
                <a:solidFill>
                  <a:srgbClr val="161616"/>
                </a:solidFill>
                <a:latin typeface="Arial"/>
              </a:rPr>
              <a:t>Hashtags regroupés à la fin du post</a:t>
            </a:r>
          </a:p>
          <a:p>
            <a:pPr algn="l">
              <a:lnSpc>
                <a:spcPct val="115000"/>
              </a:lnSpc>
            </a:pPr>
            <a:r>
              <a:rPr sz="1400" lang="fr-FR">
                <a:solidFill>
                  <a:srgbClr val="161616"/>
                </a:solidFill>
                <a:latin typeface="Arial"/>
              </a:rPr>
              <a:t>• </a:t>
            </a:r>
            <a:r>
              <a:rPr sz="1400" b="0" lang="fr-FR">
                <a:solidFill>
                  <a:srgbClr val="161616"/>
                </a:solidFill>
                <a:latin typeface="Arial"/>
              </a:rPr>
              <a:t>2 à 3 maximum, courts et utiles</a:t>
            </a:r>
          </a:p>
        </p:txBody>
      </p:sp>
      <p:sp>
        <p:nvSpPr>
          <p:cNvPr id="17" name="DSFR-box"/>
          <p:cNvSpPr/>
          <p:nvPr/>
        </p:nvSpPr>
        <p:spPr>
          <a:xfrm>
            <a:off x="548640" y="4041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3308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Mini-test : relisez le hashtag à voix haute. Si vous hésitez sur les mots, raccourcissez-le ou ajoutez les majuscules.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41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Faux gras et caractères Unicode : le piège invisible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Caractères spéciaux</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125</a:t>
            </a:r>
            <a:endParaRPr lang="fr-FR" dirty="0"/>
          </a:p>
        </p:txBody>
      </p:sp>
      <p:sp>
        <p:nvSpPr>
          <p:cNvPr id="9" name="DSFR-box"/>
          <p:cNvSpPr/>
          <p:nvPr/>
        </p:nvSpPr>
        <p:spPr>
          <a:xfrm>
            <a:off x="548640" y="1874519"/>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éviter</a:t>
            </a:r>
          </a:p>
        </p:txBody>
      </p:sp>
      <p:sp>
        <p:nvSpPr>
          <p:cNvPr id="11" name="DSFR-alert-error-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InstaFont, LingoJam ... transforment les lettres en symboles</a:t>
            </a:r>
          </a:p>
          <a:p>
            <a:pPr algn="l">
              <a:lnSpc>
                <a:spcPct val="115000"/>
              </a:lnSpc>
            </a:pPr>
            <a:r>
              <a:rPr sz="1400" lang="fr-FR">
                <a:solidFill>
                  <a:srgbClr val="161616"/>
                </a:solidFill>
                <a:latin typeface="Arial"/>
              </a:rPr>
              <a:t>• </a:t>
            </a:r>
            <a:r>
              <a:rPr sz="1400" b="0" lang="fr-FR">
                <a:solidFill>
                  <a:srgbClr val="161616"/>
                </a:solidFill>
                <a:latin typeface="Arial"/>
              </a:rPr>
              <a:t>Le lecteur d'écran peut épeler, déformer ou ignorer le message</a:t>
            </a:r>
          </a:p>
          <a:p>
            <a:pPr algn="l">
              <a:lnSpc>
                <a:spcPct val="115000"/>
              </a:lnSpc>
            </a:pPr>
            <a:r>
              <a:rPr sz="1400" lang="fr-FR">
                <a:solidFill>
                  <a:srgbClr val="161616"/>
                </a:solidFill>
                <a:latin typeface="Arial"/>
              </a:rPr>
              <a:t>• </a:t>
            </a:r>
            <a:r>
              <a:rPr sz="1400" b="0" lang="fr-FR">
                <a:solidFill>
                  <a:srgbClr val="161616"/>
                </a:solidFill>
                <a:latin typeface="Arial"/>
              </a:rPr>
              <a:t>Le texte devient moins fiable à copier, indexer ou traduire</a:t>
            </a:r>
          </a:p>
        </p:txBody>
      </p:sp>
      <p:sp>
        <p:nvSpPr>
          <p:cNvPr id="13" name="DSFR-box"/>
          <p:cNvSpPr/>
          <p:nvPr/>
        </p:nvSpPr>
        <p:spPr>
          <a:xfrm>
            <a:off x="6313931" y="1874519"/>
            <a:ext cx="5390388"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faire</a:t>
            </a:r>
          </a:p>
        </p:txBody>
      </p:sp>
      <p:sp>
        <p:nvSpPr>
          <p:cNvPr id="15" name="DSFR-callout-body"/>
          <p:cNvSpPr txBox="1"/>
          <p:nvPr/>
        </p:nvSpPr>
        <p:spPr>
          <a:xfrm>
            <a:off x="6469379" y="2377439"/>
            <a:ext cx="5143500" cy="12412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Utiliser le gras natif de la plateforme quand il existe</a:t>
            </a:r>
          </a:p>
          <a:p>
            <a:pPr algn="l">
              <a:lnSpc>
                <a:spcPct val="115000"/>
              </a:lnSpc>
            </a:pPr>
            <a:r>
              <a:rPr sz="1400" lang="fr-FR">
                <a:solidFill>
                  <a:srgbClr val="161616"/>
                </a:solidFill>
                <a:latin typeface="Arial"/>
              </a:rPr>
              <a:t>• </a:t>
            </a:r>
            <a:r>
              <a:rPr sz="1400" b="0" lang="fr-FR">
                <a:solidFill>
                  <a:srgbClr val="161616"/>
                </a:solidFill>
                <a:latin typeface="Arial"/>
              </a:rPr>
              <a:t>Sinon : écrire en texte simple</a:t>
            </a:r>
          </a:p>
          <a:p>
            <a:pPr algn="l">
              <a:lnSpc>
                <a:spcPct val="115000"/>
              </a:lnSpc>
            </a:pPr>
            <a:r>
              <a:rPr sz="1400" lang="fr-FR">
                <a:solidFill>
                  <a:srgbClr val="161616"/>
                </a:solidFill>
                <a:latin typeface="Arial"/>
              </a:rPr>
              <a:t>• </a:t>
            </a:r>
            <a:r>
              <a:rPr sz="1400" b="0" lang="fr-FR">
                <a:solidFill>
                  <a:srgbClr val="161616"/>
                </a:solidFill>
                <a:latin typeface="Arial"/>
              </a:rPr>
              <a:t>Mettre les mots importants au début du post</a:t>
            </a:r>
          </a:p>
        </p:txBody>
      </p:sp>
      <p:sp>
        <p:nvSpPr>
          <p:cNvPr id="17" name="DSFR-box"/>
          <p:cNvSpPr/>
          <p:nvPr/>
        </p:nvSpPr>
        <p:spPr>
          <a:xfrm>
            <a:off x="548640" y="4023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14800"/>
            <a:ext cx="10863072" cy="708660"/>
          </a:xfrm>
          <a:prstGeom prst="rect">
            <a:avLst/>
          </a:prstGeom>
          <a:noFill/>
        </p:spPr>
        <p:txBody>
          <a:bodyPr wrap="square" anchor="ctr" lIns="73152" rIns="73152">
            <a:spAutoFit/>
          </a:bodyPr>
          <a:lstStyle/>
          <a:p>
            <a:pPr algn="l">
              <a:lnSpc>
                <a:spcPct val="125000"/>
              </a:lnSpc>
            </a:pPr>
            <a:r>
              <a:rPr sz="1800" b="0" i="0" u="sng" lang="fr-FR">
                <a:solidFill>
                  <a:srgbClr val="000091"/>
                </a:solidFill>
                <a:latin typeface="Arial"/>
                <a:hlinkClick r:id="rId2"/>
              </a:rPr>
              <a:t>Test express : si le texte vient d'un générateur de style, ne le collez pas. Référence : Opquast règle 14 - caractères détournés.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23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Communication inclusive : les représentations comptent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126</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Une image n'est jamais neutre : elle montre qui est attendu, qui est légitime, qui est concerné.</a:t>
            </a:r>
          </a:p>
        </p:txBody>
      </p:sp>
      <p:sp>
        <p:nvSpPr>
          <p:cNvPr id="12" name="DSFR-box"/>
          <p:cNvSpPr/>
          <p:nvPr/>
        </p:nvSpPr>
        <p:spPr>
          <a:xfrm>
            <a:off x="548640" y="2921508"/>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1294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3 questions avant de choisir un visuel</a:t>
            </a:r>
          </a:p>
        </p:txBody>
      </p:sp>
      <p:sp>
        <p:nvSpPr>
          <p:cNvPr id="14" name="DSFR-callout-body"/>
          <p:cNvSpPr txBox="1"/>
          <p:nvPr/>
        </p:nvSpPr>
        <p:spPr>
          <a:xfrm>
            <a:off x="704088" y="3424427"/>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Qui est visible dans cette communication ?</a:t>
            </a:r>
          </a:p>
          <a:p>
            <a:pPr algn="l">
              <a:lnSpc>
                <a:spcPct val="115000"/>
              </a:lnSpc>
            </a:pPr>
            <a:r>
              <a:rPr sz="1400" lang="fr-FR">
                <a:solidFill>
                  <a:srgbClr val="161616"/>
                </a:solidFill>
                <a:latin typeface="Arial"/>
              </a:rPr>
              <a:t>• </a:t>
            </a:r>
            <a:r>
              <a:rPr sz="1400" b="0" lang="fr-FR">
                <a:solidFill>
                  <a:srgbClr val="161616"/>
                </a:solidFill>
                <a:latin typeface="Arial"/>
              </a:rPr>
              <a:t>Qui est absent ou toujours montré en marge ?</a:t>
            </a:r>
          </a:p>
          <a:p>
            <a:pPr algn="l">
              <a:lnSpc>
                <a:spcPct val="115000"/>
              </a:lnSpc>
            </a:pPr>
            <a:r>
              <a:rPr sz="1400" lang="fr-FR">
                <a:solidFill>
                  <a:srgbClr val="161616"/>
                </a:solidFill>
                <a:latin typeface="Arial"/>
              </a:rPr>
              <a:t>• </a:t>
            </a:r>
            <a:r>
              <a:rPr sz="1400" b="0" lang="fr-FR">
                <a:solidFill>
                  <a:srgbClr val="161616"/>
                </a:solidFill>
                <a:latin typeface="Arial"/>
              </a:rPr>
              <a:t>Quelle norme le visuel installe-t-il sans le dire ?</a:t>
            </a:r>
          </a:p>
        </p:txBody>
      </p:sp>
      <p:sp>
        <p:nvSpPr>
          <p:cNvPr id="16" name="DSFR-box"/>
          <p:cNvSpPr/>
          <p:nvPr/>
        </p:nvSpPr>
        <p:spPr>
          <a:xfrm>
            <a:off x="6313931" y="2921508"/>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1294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Pourquoi c'est important</a:t>
            </a:r>
          </a:p>
        </p:txBody>
      </p:sp>
      <p:sp>
        <p:nvSpPr>
          <p:cNvPr id="18" name="DSFR-alert-info-body"/>
          <p:cNvSpPr txBox="1"/>
          <p:nvPr/>
        </p:nvSpPr>
        <p:spPr>
          <a:xfrm>
            <a:off x="6469379" y="3424427"/>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Les personnes concernées peuvent se sentir attendues</a:t>
            </a:r>
          </a:p>
          <a:p>
            <a:pPr algn="l">
              <a:lnSpc>
                <a:spcPct val="115000"/>
              </a:lnSpc>
            </a:pPr>
            <a:r>
              <a:rPr sz="1400" lang="fr-FR">
                <a:solidFill>
                  <a:srgbClr val="161616"/>
                </a:solidFill>
                <a:latin typeface="Arial"/>
              </a:rPr>
              <a:t>• </a:t>
            </a:r>
            <a:r>
              <a:rPr sz="1400" b="0" lang="fr-FR">
                <a:solidFill>
                  <a:srgbClr val="161616"/>
                </a:solidFill>
                <a:latin typeface="Arial"/>
              </a:rPr>
              <a:t>La communication évite de reconduire une seule norme</a:t>
            </a:r>
          </a:p>
          <a:p>
            <a:pPr algn="l">
              <a:lnSpc>
                <a:spcPct val="115000"/>
              </a:lnSpc>
            </a:pPr>
            <a:r>
              <a:rPr sz="1400" lang="fr-FR">
                <a:solidFill>
                  <a:srgbClr val="161616"/>
                </a:solidFill>
                <a:latin typeface="Arial"/>
              </a:rPr>
              <a:t>• </a:t>
            </a:r>
            <a:r>
              <a:rPr sz="1400" b="0" lang="fr-FR">
                <a:solidFill>
                  <a:srgbClr val="161616"/>
                </a:solidFill>
                <a:latin typeface="Arial"/>
              </a:rPr>
              <a:t>Le public se projette plus facilement dans le message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2150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2150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Représenter sans faire vitrine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127</a:t>
            </a:r>
            <a:endParaRPr lang="fr-FR" dirty="0"/>
          </a:p>
        </p:txBody>
      </p:sp>
      <p:sp>
        <p:nvSpPr>
          <p:cNvPr id="9" name="DSFR-box"/>
          <p:cNvSpPr/>
          <p:nvPr/>
        </p:nvSpPr>
        <p:spPr>
          <a:xfrm>
            <a:off x="548640" y="1874519"/>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Représentation utile</a:t>
            </a:r>
          </a:p>
        </p:txBody>
      </p:sp>
      <p:sp>
        <p:nvSpPr>
          <p:cNvPr id="11" name="DSFR-callout-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Diversité montrée dans des situations ordinaires</a:t>
            </a:r>
          </a:p>
          <a:p>
            <a:pPr algn="l">
              <a:lnSpc>
                <a:spcPct val="115000"/>
              </a:lnSpc>
            </a:pPr>
            <a:r>
              <a:rPr sz="1400" lang="fr-FR">
                <a:solidFill>
                  <a:srgbClr val="161616"/>
                </a:solidFill>
                <a:latin typeface="Arial"/>
              </a:rPr>
              <a:t>• </a:t>
            </a:r>
            <a:r>
              <a:rPr sz="1400" b="0" lang="fr-FR">
                <a:solidFill>
                  <a:srgbClr val="161616"/>
                </a:solidFill>
                <a:latin typeface="Arial"/>
              </a:rPr>
              <a:t>Personnes concernées en rôle actif, pas seulement décoratif</a:t>
            </a:r>
          </a:p>
          <a:p>
            <a:pPr algn="l">
              <a:lnSpc>
                <a:spcPct val="115000"/>
              </a:lnSpc>
            </a:pPr>
            <a:r>
              <a:rPr sz="1400" lang="fr-FR">
                <a:solidFill>
                  <a:srgbClr val="161616"/>
                </a:solidFill>
                <a:latin typeface="Arial"/>
              </a:rPr>
              <a:t>• </a:t>
            </a:r>
            <a:r>
              <a:rPr sz="1400" b="0" lang="fr-FR">
                <a:solidFill>
                  <a:srgbClr val="161616"/>
                </a:solidFill>
                <a:latin typeface="Arial"/>
              </a:rPr>
              <a:t>Visuel cohérent avec le public réel de l'action</a:t>
            </a:r>
          </a:p>
        </p:txBody>
      </p:sp>
      <p:sp>
        <p:nvSpPr>
          <p:cNvPr id="13" name="DSFR-box"/>
          <p:cNvSpPr/>
          <p:nvPr/>
        </p:nvSpPr>
        <p:spPr>
          <a:xfrm>
            <a:off x="6313931" y="1874519"/>
            <a:ext cx="5390388" cy="183565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Piège à éviter</a:t>
            </a:r>
          </a:p>
        </p:txBody>
      </p:sp>
      <p:sp>
        <p:nvSpPr>
          <p:cNvPr id="15" name="DSFR-alert-warning-body"/>
          <p:cNvSpPr txBox="1"/>
          <p:nvPr/>
        </p:nvSpPr>
        <p:spPr>
          <a:xfrm>
            <a:off x="6469379" y="2377439"/>
            <a:ext cx="5143500" cy="12412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Image symbolique sans réalité derrière</a:t>
            </a:r>
          </a:p>
          <a:p>
            <a:pPr algn="l">
              <a:lnSpc>
                <a:spcPct val="115000"/>
              </a:lnSpc>
            </a:pPr>
            <a:r>
              <a:rPr sz="1400" lang="fr-FR">
                <a:solidFill>
                  <a:srgbClr val="161616"/>
                </a:solidFill>
                <a:latin typeface="Arial"/>
              </a:rPr>
              <a:t>• </a:t>
            </a:r>
            <a:r>
              <a:rPr sz="1400" b="0" lang="fr-FR">
                <a:solidFill>
                  <a:srgbClr val="161616"/>
                </a:solidFill>
                <a:latin typeface="Arial"/>
              </a:rPr>
              <a:t>Personne réduite à son handicap ou à son identité</a:t>
            </a:r>
          </a:p>
          <a:p>
            <a:pPr algn="l">
              <a:lnSpc>
                <a:spcPct val="115000"/>
              </a:lnSpc>
            </a:pPr>
            <a:r>
              <a:rPr sz="1400" lang="fr-FR">
                <a:solidFill>
                  <a:srgbClr val="161616"/>
                </a:solidFill>
                <a:latin typeface="Arial"/>
              </a:rPr>
              <a:t>• </a:t>
            </a:r>
            <a:r>
              <a:rPr sz="1400" b="0" lang="fr-FR">
                <a:solidFill>
                  <a:srgbClr val="161616"/>
                </a:solidFill>
                <a:latin typeface="Arial"/>
              </a:rPr>
              <a:t>Événement annoncé inclusif mais non accessible</a:t>
            </a:r>
          </a:p>
        </p:txBody>
      </p:sp>
      <p:sp>
        <p:nvSpPr>
          <p:cNvPr id="17" name="DSFR-box"/>
          <p:cNvSpPr/>
          <p:nvPr/>
        </p:nvSpPr>
        <p:spPr>
          <a:xfrm>
            <a:off x="548640" y="4041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3308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Règle simple : si vos visuels montrent des personnes handicapées, vos espaces, événements et pratiques doivent être accessibles.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41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Langage inclusif : clarté d'abord</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128</a:t>
            </a:r>
            <a:endParaRPr lang="fr-FR" dirty="0"/>
          </a:p>
        </p:txBody>
      </p:sp>
      <p:sp>
        <p:nvSpPr>
          <p:cNvPr id="9" name="DSFR-box"/>
          <p:cNvSpPr/>
          <p:nvPr/>
        </p:nvSpPr>
        <p:spPr>
          <a:xfrm>
            <a:off x="548640" y="1755648"/>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8470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privilégier</a:t>
            </a:r>
          </a:p>
        </p:txBody>
      </p:sp>
      <p:sp>
        <p:nvSpPr>
          <p:cNvPr id="11" name="DSFR-callout-body"/>
          <p:cNvSpPr txBox="1"/>
          <p:nvPr/>
        </p:nvSpPr>
        <p:spPr>
          <a:xfrm>
            <a:off x="704088" y="2258568"/>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Formules épicènes : 'Nous vous convions', 'les personnes concernées'</a:t>
            </a:r>
          </a:p>
          <a:p>
            <a:pPr algn="l">
              <a:lnSpc>
                <a:spcPct val="120000"/>
              </a:lnSpc>
            </a:pPr>
            <a:r>
              <a:rPr sz="1400" lang="fr-FR">
                <a:solidFill>
                  <a:srgbClr val="161616"/>
                </a:solidFill>
                <a:latin typeface="Arial"/>
              </a:rPr>
              <a:t>• </a:t>
            </a:r>
            <a:r>
              <a:rPr sz="1400" b="0" lang="fr-FR">
                <a:solidFill>
                  <a:srgbClr val="161616"/>
                </a:solidFill>
                <a:latin typeface="Arial"/>
              </a:rPr>
              <a:t>Mots collectifs : 'le public', 'l'équipe', 'la clientèle'</a:t>
            </a:r>
          </a:p>
          <a:p>
            <a:pPr algn="l">
              <a:lnSpc>
                <a:spcPct val="120000"/>
              </a:lnSpc>
            </a:pPr>
            <a:r>
              <a:rPr sz="1400" lang="fr-FR">
                <a:solidFill>
                  <a:srgbClr val="161616"/>
                </a:solidFill>
                <a:latin typeface="Arial"/>
              </a:rPr>
              <a:t>• </a:t>
            </a:r>
            <a:r>
              <a:rPr sz="1400" b="0" lang="fr-FR">
                <a:solidFill>
                  <a:srgbClr val="161616"/>
                </a:solidFill>
                <a:latin typeface="Arial"/>
              </a:rPr>
              <a:t>Double flexion si nécessaire : 'les utilisateurs et utilisatrices'</a:t>
            </a:r>
          </a:p>
          <a:p>
            <a:pPr algn="l">
              <a:lnSpc>
                <a:spcPct val="120000"/>
              </a:lnSpc>
            </a:pPr>
            <a:r>
              <a:rPr sz="1400" lang="fr-FR">
                <a:solidFill>
                  <a:srgbClr val="161616"/>
                </a:solidFill>
                <a:latin typeface="Arial"/>
              </a:rPr>
              <a:t>• </a:t>
            </a:r>
            <a:r>
              <a:rPr sz="1400" b="0" lang="fr-FR">
                <a:solidFill>
                  <a:srgbClr val="161616"/>
                </a:solidFill>
                <a:latin typeface="Arial"/>
              </a:rPr>
              <a:t>Mots-valises si le public les comprend : 'iels', 'amateurices'</a:t>
            </a:r>
          </a:p>
        </p:txBody>
      </p:sp>
      <p:sp>
        <p:nvSpPr>
          <p:cNvPr id="13" name="DSFR-box"/>
          <p:cNvSpPr/>
          <p:nvPr/>
        </p:nvSpPr>
        <p:spPr>
          <a:xfrm>
            <a:off x="6313931" y="1755648"/>
            <a:ext cx="5390388" cy="21140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18470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éviter ou tester</a:t>
            </a:r>
          </a:p>
        </p:txBody>
      </p:sp>
      <p:sp>
        <p:nvSpPr>
          <p:cNvPr id="15" name="DSFR-alert-warning-body"/>
          <p:cNvSpPr txBox="1"/>
          <p:nvPr/>
        </p:nvSpPr>
        <p:spPr>
          <a:xfrm>
            <a:off x="6469379" y="2258568"/>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Point médian ou ponctuation répétée quand cela gêne la lecture</a:t>
            </a:r>
          </a:p>
          <a:p>
            <a:pPr algn="l">
              <a:lnSpc>
                <a:spcPct val="120000"/>
              </a:lnSpc>
            </a:pPr>
            <a:r>
              <a:rPr sz="1400" lang="fr-FR">
                <a:solidFill>
                  <a:srgbClr val="161616"/>
                </a:solidFill>
                <a:latin typeface="Arial"/>
              </a:rPr>
              <a:t>• </a:t>
            </a:r>
            <a:r>
              <a:rPr sz="1400" b="0" lang="fr-FR">
                <a:solidFill>
                  <a:srgbClr val="161616"/>
                </a:solidFill>
                <a:latin typeface="Arial"/>
              </a:rPr>
              <a:t>Formes trop compressées : elles ralentissent aussi la lecture visuelle</a:t>
            </a:r>
          </a:p>
          <a:p>
            <a:pPr algn="l">
              <a:lnSpc>
                <a:spcPct val="120000"/>
              </a:lnSpc>
            </a:pPr>
            <a:r>
              <a:rPr sz="1400" lang="fr-FR">
                <a:solidFill>
                  <a:srgbClr val="161616"/>
                </a:solidFill>
                <a:latin typeface="Arial"/>
              </a:rPr>
              <a:t>• </a:t>
            </a:r>
            <a:r>
              <a:rPr sz="1400" b="0" lang="fr-FR">
                <a:solidFill>
                  <a:srgbClr val="161616"/>
                </a:solidFill>
                <a:latin typeface="Arial"/>
              </a:rPr>
              <a:t>Formes ambiguës à l'oral si le message doit être lu à voix haute</a:t>
            </a:r>
          </a:p>
        </p:txBody>
      </p:sp>
      <p:sp>
        <p:nvSpPr>
          <p:cNvPr id="17" name="DSFR-box"/>
          <p:cNvSpPr/>
          <p:nvPr/>
        </p:nvSpPr>
        <p:spPr>
          <a:xfrm>
            <a:off x="548640" y="4425696"/>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517136"/>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Recommandation : choisir la forme la plus inclusive qui reste claire, lisible et prononçable.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755648"/>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755648"/>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425696"/>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Exercice en binôme : passez la checklist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Exercice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129</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Choisissez un post réel ou un exemple fourni. Objectif : trouver 2 améliorations utiles : accès, lisibilité ou représentation.</a:t>
            </a:r>
          </a:p>
        </p:txBody>
      </p:sp>
      <p:sp>
        <p:nvSpPr>
          <p:cNvPr id="11" name="DSFR-stepper-pastille-1"/>
          <p:cNvSpPr/>
          <p:nvPr/>
        </p:nvSpPr>
        <p:spPr>
          <a:xfrm>
            <a:off x="1445894"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3" name="DSFR-stepper-texte-1"/>
          <p:cNvSpPr txBox="1"/>
          <p:nvPr/>
        </p:nvSpPr>
        <p:spPr>
          <a:xfrm>
            <a:off x="475488"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Choisir 1 publication</a:t>
            </a:r>
          </a:p>
        </p:txBody>
      </p:sp>
      <p:sp>
        <p:nvSpPr>
          <p:cNvPr id="14" name="DSFR-stepper-pastille-2"/>
          <p:cNvSpPr/>
          <p:nvPr/>
        </p:nvSpPr>
        <p:spPr>
          <a:xfrm>
            <a:off x="4328541"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6" name="DSFR-stepper-texte-2"/>
          <p:cNvSpPr txBox="1"/>
          <p:nvPr/>
        </p:nvSpPr>
        <p:spPr>
          <a:xfrm>
            <a:off x="3358134"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Cocher Anticiper / Rédiger / Publier</a:t>
            </a:r>
          </a:p>
        </p:txBody>
      </p:sp>
      <p:sp>
        <p:nvSpPr>
          <p:cNvPr id="17" name="DSFR-stepper-pastille-3"/>
          <p:cNvSpPr/>
          <p:nvPr/>
        </p:nvSpPr>
        <p:spPr>
          <a:xfrm>
            <a:off x="7211186"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9" name="DSFR-stepper-texte-3"/>
          <p:cNvSpPr txBox="1"/>
          <p:nvPr/>
        </p:nvSpPr>
        <p:spPr>
          <a:xfrm>
            <a:off x="6240779"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Retenir 2 risques prioritaires</a:t>
            </a:r>
          </a:p>
        </p:txBody>
      </p:sp>
      <p:sp>
        <p:nvSpPr>
          <p:cNvPr id="20" name="DSFR-stepper-pastille-4"/>
          <p:cNvSpPr/>
          <p:nvPr/>
        </p:nvSpPr>
        <p:spPr>
          <a:xfrm>
            <a:off x="10093832"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21" name="DSFR-stepper-texte-4"/>
          <p:cNvSpPr txBox="1"/>
          <p:nvPr/>
        </p:nvSpPr>
        <p:spPr>
          <a:xfrm>
            <a:off x="9123426"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Préparer 1 min de restitution</a:t>
            </a:r>
          </a:p>
        </p:txBody>
      </p:sp>
      <p:sp>
        <p:nvSpPr>
          <p:cNvPr id="23" name="DSFR-box"/>
          <p:cNvSpPr/>
          <p:nvPr/>
        </p:nvSpPr>
        <p:spPr>
          <a:xfrm>
            <a:off x="548640" y="4503420"/>
            <a:ext cx="5390388"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alert-info-titre"/>
          <p:cNvSpPr txBox="1"/>
          <p:nvPr/>
        </p:nvSpPr>
        <p:spPr>
          <a:xfrm>
            <a:off x="704088" y="45948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Déroulé</a:t>
            </a:r>
          </a:p>
        </p:txBody>
      </p:sp>
      <p:sp>
        <p:nvSpPr>
          <p:cNvPr id="25" name="DSFR-alert-info-body"/>
          <p:cNvSpPr txBox="1"/>
          <p:nvPr/>
        </p:nvSpPr>
        <p:spPr>
          <a:xfrm>
            <a:off x="704088" y="5006340"/>
            <a:ext cx="5143500" cy="799642"/>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3 min : choisir le post et le contexte</a:t>
            </a:r>
          </a:p>
          <a:p>
            <a:pPr algn="l">
              <a:lnSpc>
                <a:spcPct val="115000"/>
              </a:lnSpc>
            </a:pPr>
            <a:r>
              <a:rPr sz="1400" lang="fr-FR">
                <a:solidFill>
                  <a:srgbClr val="161616"/>
                </a:solidFill>
                <a:latin typeface="Arial"/>
              </a:rPr>
              <a:t>• </a:t>
            </a:r>
            <a:r>
              <a:rPr sz="1400" b="0" lang="fr-FR">
                <a:solidFill>
                  <a:srgbClr val="161616"/>
                </a:solidFill>
                <a:latin typeface="Arial"/>
              </a:rPr>
              <a:t>8 min : passer les 3 checklists</a:t>
            </a:r>
          </a:p>
          <a:p>
            <a:pPr algn="l">
              <a:lnSpc>
                <a:spcPct val="115000"/>
              </a:lnSpc>
            </a:pPr>
            <a:r>
              <a:rPr sz="1400" lang="fr-FR">
                <a:solidFill>
                  <a:srgbClr val="161616"/>
                </a:solidFill>
                <a:latin typeface="Arial"/>
              </a:rPr>
              <a:t>• </a:t>
            </a:r>
            <a:r>
              <a:rPr sz="1400" b="0" lang="fr-FR">
                <a:solidFill>
                  <a:srgbClr val="161616"/>
                </a:solidFill>
                <a:latin typeface="Arial"/>
              </a:rPr>
              <a:t>4 min : formuler 2 corrections</a:t>
            </a:r>
          </a:p>
        </p:txBody>
      </p:sp>
      <p:sp>
        <p:nvSpPr>
          <p:cNvPr id="27" name="DSFR-box"/>
          <p:cNvSpPr/>
          <p:nvPr/>
        </p:nvSpPr>
        <p:spPr>
          <a:xfrm>
            <a:off x="6313931" y="4503420"/>
            <a:ext cx="5390388" cy="16148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FR-alert-success-titre"/>
          <p:cNvSpPr txBox="1"/>
          <p:nvPr/>
        </p:nvSpPr>
        <p:spPr>
          <a:xfrm>
            <a:off x="6469379" y="45948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restituer</a:t>
            </a:r>
          </a:p>
        </p:txBody>
      </p:sp>
      <p:sp>
        <p:nvSpPr>
          <p:cNvPr id="29" name="DSFR-alert-success-body"/>
          <p:cNvSpPr txBox="1"/>
          <p:nvPr/>
        </p:nvSpPr>
        <p:spPr>
          <a:xfrm>
            <a:off x="6469379" y="5006340"/>
            <a:ext cx="5143500" cy="1020470"/>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Le point le plus bloquant</a:t>
            </a:r>
          </a:p>
          <a:p>
            <a:pPr algn="l">
              <a:lnSpc>
                <a:spcPct val="115000"/>
              </a:lnSpc>
            </a:pPr>
            <a:r>
              <a:rPr sz="1400" lang="fr-FR">
                <a:solidFill>
                  <a:srgbClr val="161616"/>
                </a:solidFill>
                <a:latin typeface="Arial"/>
              </a:rPr>
              <a:t>• </a:t>
            </a:r>
            <a:r>
              <a:rPr sz="1400" b="0" lang="fr-FR">
                <a:solidFill>
                  <a:srgbClr val="161616"/>
                </a:solidFill>
                <a:latin typeface="Arial"/>
              </a:rPr>
              <a:t>La correction proposée</a:t>
            </a:r>
          </a:p>
          <a:p>
            <a:pPr algn="l">
              <a:lnSpc>
                <a:spcPct val="115000"/>
              </a:lnSpc>
            </a:pPr>
            <a:r>
              <a:rPr sz="1400" lang="fr-FR">
                <a:solidFill>
                  <a:srgbClr val="161616"/>
                </a:solidFill>
                <a:latin typeface="Arial"/>
              </a:rPr>
              <a:t>• </a:t>
            </a:r>
            <a:r>
              <a:rPr sz="1400" b="0" lang="fr-FR">
                <a:solidFill>
                  <a:srgbClr val="161616"/>
                </a:solidFill>
                <a:latin typeface="Arial"/>
              </a:rPr>
              <a:t>La règle à garder pour vos prochains posts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085975"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4968621"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3-decoratif" descr=""/>
          <p:cNvSpPr/>
          <p:nvPr/>
        </p:nvSpPr>
        <p:spPr>
          <a:xfrm>
            <a:off x="7851267"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475488" y="450342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6240779" y="450342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réseaux sociaux : anticiper (1/3)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130</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Avant de créer : l'information doit exister en version accessible, pas seulement dans le visuel.</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Arial"/>
              </a:rPr>
              <a:t>☐  </a:t>
            </a:r>
            <a:r>
              <a:rPr sz="1400" lang="fr-FR">
                <a:solidFill>
                  <a:srgbClr val="161616"/>
                </a:solidFill>
                <a:latin typeface="Arial"/>
              </a:rPr>
              <a:t>Média prévu ? image = alt text, audio = transcription, vidéo = sous-titres</a:t>
            </a:r>
          </a:p>
          <a:p>
            <a:pPr algn="l">
              <a:lnSpc>
                <a:spcPct val="150000"/>
              </a:lnSpc>
            </a:pPr>
            <a:r>
              <a:rPr sz="1800" b="1" lang="fr-FR">
                <a:solidFill>
                  <a:srgbClr val="000091"/>
                </a:solidFill>
                <a:latin typeface="Arial"/>
              </a:rPr>
              <a:t>☐  </a:t>
            </a:r>
            <a:r>
              <a:rPr sz="1400" lang="fr-FR">
                <a:solidFill>
                  <a:srgbClr val="161616"/>
                </a:solidFill>
                <a:latin typeface="Arial"/>
              </a:rPr>
              <a:t>Visuels : représentations diverses et cohérentes avec la réalité accessible</a:t>
            </a:r>
          </a:p>
          <a:p>
            <a:pPr algn="l">
              <a:lnSpc>
                <a:spcPct val="150000"/>
              </a:lnSpc>
            </a:pPr>
            <a:r>
              <a:rPr sz="1800" b="1" lang="fr-FR">
                <a:solidFill>
                  <a:srgbClr val="000091"/>
                </a:solidFill>
                <a:latin typeface="Arial"/>
              </a:rPr>
              <a:t>☐  </a:t>
            </a:r>
            <a:r>
              <a:rPr sz="1400" lang="fr-FR">
                <a:solidFill>
                  <a:srgbClr val="161616"/>
                </a:solidFill>
                <a:latin typeface="Arial"/>
              </a:rPr>
              <a:t>Visuel très chargé ? prévoir une version complète en ligne ou dans le post</a:t>
            </a:r>
          </a:p>
          <a:p>
            <a:pPr algn="l">
              <a:lnSpc>
                <a:spcPct val="150000"/>
              </a:lnSpc>
            </a:pPr>
            <a:r>
              <a:rPr sz="1800" b="1" lang="fr-FR">
                <a:solidFill>
                  <a:srgbClr val="000091"/>
                </a:solidFill>
                <a:latin typeface="Arial"/>
              </a:rPr>
              <a:t>☐  </a:t>
            </a:r>
            <a:r>
              <a:rPr sz="1400" lang="fr-FR">
                <a:solidFill>
                  <a:srgbClr val="161616"/>
                </a:solidFill>
                <a:latin typeface="Arial"/>
              </a:rPr>
              <a:t>Police lisible, sans fantaisie, assez épaisse pour un écran mobile</a:t>
            </a:r>
          </a:p>
          <a:p>
            <a:pPr algn="l">
              <a:lnSpc>
                <a:spcPct val="150000"/>
              </a:lnSpc>
            </a:pPr>
            <a:r>
              <a:rPr sz="1800" b="1" lang="fr-FR">
                <a:solidFill>
                  <a:srgbClr val="000091"/>
                </a:solidFill>
                <a:latin typeface="Arial"/>
              </a:rPr>
              <a:t>☐  </a:t>
            </a:r>
            <a:r>
              <a:rPr sz="1400" lang="fr-FR">
                <a:solidFill>
                  <a:srgbClr val="161616"/>
                </a:solidFill>
                <a:latin typeface="Arial"/>
              </a:rPr>
              <a:t>Texte sur image : contraste &gt;= 4,5:1, pas de fond qui gêne la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réseaux sociaux : rédiger (2/3)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131</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post doit rester compréhensible quand on retire l'image, les effets visuels et les émojis.</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Arial"/>
              </a:rPr>
              <a:t>☐  </a:t>
            </a:r>
            <a:r>
              <a:rPr sz="1400" lang="fr-FR">
                <a:solidFill>
                  <a:srgbClr val="161616"/>
                </a:solidFill>
                <a:latin typeface="Arial"/>
              </a:rPr>
              <a:t>Informations essentielles écrites dans le texte du post</a:t>
            </a:r>
          </a:p>
          <a:p>
            <a:pPr algn="l">
              <a:lnSpc>
                <a:spcPct val="150000"/>
              </a:lnSpc>
            </a:pPr>
            <a:r>
              <a:rPr sz="1800" b="1" lang="fr-FR">
                <a:solidFill>
                  <a:srgbClr val="000091"/>
                </a:solidFill>
                <a:latin typeface="Arial"/>
              </a:rPr>
              <a:t>☐  </a:t>
            </a:r>
            <a:r>
              <a:rPr sz="1400" lang="fr-FR">
                <a:solidFill>
                  <a:srgbClr val="161616"/>
                </a:solidFill>
                <a:latin typeface="Arial"/>
              </a:rPr>
              <a:t>Paragraphes courts, texte natif, pas de faux gras Unicode</a:t>
            </a:r>
          </a:p>
          <a:p>
            <a:pPr algn="l">
              <a:lnSpc>
                <a:spcPct val="150000"/>
              </a:lnSpc>
            </a:pPr>
            <a:r>
              <a:rPr sz="1800" b="1" lang="fr-FR">
                <a:solidFill>
                  <a:srgbClr val="000091"/>
                </a:solidFill>
                <a:latin typeface="Arial"/>
              </a:rPr>
              <a:t>☐  </a:t>
            </a:r>
            <a:r>
              <a:rPr sz="1400" lang="fr-FR">
                <a:solidFill>
                  <a:srgbClr val="161616"/>
                </a:solidFill>
                <a:latin typeface="Arial"/>
              </a:rPr>
              <a:t>Émojis : 1 ou 2, en fin de message, sens vérifié</a:t>
            </a:r>
          </a:p>
          <a:p>
            <a:pPr algn="l">
              <a:lnSpc>
                <a:spcPct val="150000"/>
              </a:lnSpc>
            </a:pPr>
            <a:r>
              <a:rPr sz="1800" b="1" lang="fr-FR">
                <a:solidFill>
                  <a:srgbClr val="000091"/>
                </a:solidFill>
                <a:latin typeface="Arial"/>
              </a:rPr>
              <a:t>☐  </a:t>
            </a:r>
            <a:r>
              <a:rPr sz="1400" lang="fr-FR">
                <a:solidFill>
                  <a:srgbClr val="161616"/>
                </a:solidFill>
                <a:latin typeface="Arial"/>
              </a:rPr>
              <a:t>Hashtags : CamelCase, courts, regroupés à la fin, 2 ou 3 maximum</a:t>
            </a:r>
          </a:p>
          <a:p>
            <a:pPr algn="l">
              <a:lnSpc>
                <a:spcPct val="150000"/>
              </a:lnSpc>
            </a:pPr>
            <a:r>
              <a:rPr sz="1800" b="1" lang="fr-FR">
                <a:solidFill>
                  <a:srgbClr val="000091"/>
                </a:solidFill>
                <a:latin typeface="Arial"/>
              </a:rPr>
              <a:t>☐  </a:t>
            </a:r>
            <a:r>
              <a:rPr sz="1400" lang="fr-FR">
                <a:solidFill>
                  <a:srgbClr val="161616"/>
                </a:solidFill>
                <a:latin typeface="Arial"/>
              </a:rPr>
              <a:t>Langage inclusif clair : épicène, double flexion ou mot-valise compris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réseaux sociaux : publier (3/3)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132</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Juste avant de cliquer : chaque accès visuel ou sonore doit avoir une alternative visible.</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Arial"/>
              </a:rPr>
              <a:t>☐  </a:t>
            </a:r>
            <a:r>
              <a:rPr sz="1400" lang="fr-FR">
                <a:solidFill>
                  <a:srgbClr val="161616"/>
                </a:solidFill>
                <a:latin typeface="Arial"/>
              </a:rPr>
              <a:t>Alt text clair et unique pour chaque image informative</a:t>
            </a:r>
          </a:p>
          <a:p>
            <a:pPr algn="l">
              <a:lnSpc>
                <a:spcPct val="150000"/>
              </a:lnSpc>
            </a:pPr>
            <a:r>
              <a:rPr sz="1800" b="1" lang="fr-FR">
                <a:solidFill>
                  <a:srgbClr val="000091"/>
                </a:solidFill>
                <a:latin typeface="Arial"/>
              </a:rPr>
              <a:t>☐  </a:t>
            </a:r>
            <a:r>
              <a:rPr sz="1400" lang="fr-FR">
                <a:solidFill>
                  <a:srgbClr val="161616"/>
                </a:solidFill>
                <a:latin typeface="Arial"/>
              </a:rPr>
              <a:t>Infographie ou carrousel : chiffres et messages clés repris dans le post</a:t>
            </a:r>
          </a:p>
          <a:p>
            <a:pPr algn="l">
              <a:lnSpc>
                <a:spcPct val="150000"/>
              </a:lnSpc>
            </a:pPr>
            <a:r>
              <a:rPr sz="1800" b="1" lang="fr-FR">
                <a:solidFill>
                  <a:srgbClr val="000091"/>
                </a:solidFill>
                <a:latin typeface="Arial"/>
              </a:rPr>
              <a:t>☐  </a:t>
            </a:r>
            <a:r>
              <a:rPr sz="1400" lang="fr-FR">
                <a:solidFill>
                  <a:srgbClr val="161616"/>
                </a:solidFill>
                <a:latin typeface="Arial"/>
              </a:rPr>
              <a:t>Audio : transcription écrite jointe ou lien visible</a:t>
            </a:r>
          </a:p>
          <a:p>
            <a:pPr algn="l">
              <a:lnSpc>
                <a:spcPct val="150000"/>
              </a:lnSpc>
            </a:pPr>
            <a:r>
              <a:rPr sz="1800" b="1" lang="fr-FR">
                <a:solidFill>
                  <a:srgbClr val="000091"/>
                </a:solidFill>
                <a:latin typeface="Arial"/>
              </a:rPr>
              <a:t>☐  </a:t>
            </a:r>
            <a:r>
              <a:rPr sz="1400" lang="fr-FR">
                <a:solidFill>
                  <a:srgbClr val="161616"/>
                </a:solidFill>
                <a:latin typeface="Arial"/>
              </a:rPr>
              <a:t>Vidéo : sous-titres relus, transcription si nécessaire</a:t>
            </a:r>
          </a:p>
          <a:p>
            <a:pPr algn="l">
              <a:lnSpc>
                <a:spcPct val="150000"/>
              </a:lnSpc>
            </a:pPr>
            <a:r>
              <a:rPr sz="1800" b="1" lang="fr-FR">
                <a:solidFill>
                  <a:srgbClr val="000091"/>
                </a:solidFill>
                <a:latin typeface="Arial"/>
              </a:rPr>
              <a:t>☐  </a:t>
            </a:r>
            <a:r>
              <a:rPr sz="1400" lang="fr-FR">
                <a:solidFill>
                  <a:srgbClr val="161616"/>
                </a:solidFill>
                <a:latin typeface="Arial"/>
              </a:rPr>
              <a:t>QR code jamais seul : lien visible + « Scannez-moi ! », taille et contraste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Des questions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Clôture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133</a:t>
            </a:r>
            <a:endParaRPr lang="fr-FR" dirty="0"/>
          </a:p>
        </p:txBody>
      </p:sp>
      <p:sp>
        <p:nvSpPr>
          <p:cNvPr id="9" name="DSFR-box"/>
          <p:cNvSpPr/>
          <p:nvPr/>
        </p:nvSpPr>
        <p:spPr>
          <a:xfrm>
            <a:off x="548640" y="228600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37744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Merci pour votre participation !</a:t>
            </a:r>
          </a:p>
        </p:txBody>
      </p:sp>
      <p:sp>
        <p:nvSpPr>
          <p:cNvPr id="12" name="DSFR-box"/>
          <p:cNvSpPr/>
          <p:nvPr/>
        </p:nvSpPr>
        <p:spPr>
          <a:xfrm>
            <a:off x="548640" y="3474720"/>
            <a:ext cx="11155680" cy="121158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5661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Vos contacts</a:t>
            </a:r>
          </a:p>
        </p:txBody>
      </p:sp>
      <p:sp>
        <p:nvSpPr>
          <p:cNvPr id="14" name="DSFR-callout-body"/>
          <p:cNvSpPr txBox="1"/>
          <p:nvPr/>
        </p:nvSpPr>
        <p:spPr>
          <a:xfrm>
            <a:off x="704088" y="3977639"/>
            <a:ext cx="10908792" cy="61722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Bertrand Matge - bertrand.matge@finances.gouv.fr</a:t>
            </a:r>
          </a:p>
          <a:p>
            <a:pPr algn="l">
              <a:lnSpc>
                <a:spcPct val="125000"/>
              </a:lnSpc>
            </a:pPr>
            <a:r>
              <a:rPr sz="1400" lang="fr-FR">
                <a:solidFill>
                  <a:srgbClr val="161616"/>
                </a:solidFill>
                <a:latin typeface="Arial"/>
              </a:rPr>
              <a:t>• </a:t>
            </a:r>
            <a:r>
              <a:rPr sz="1400" b="0" lang="fr-FR">
                <a:solidFill>
                  <a:srgbClr val="161616"/>
                </a:solidFill>
                <a:latin typeface="Arial"/>
              </a:rPr>
              <a:t>Alexandra Guiderdoni - alexandra.guiderdoni@finances.gouv.fr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a:t>
            </a:r>
          </a:p>
        </p:txBody>
      </p:sp>
      <p:sp>
        <p:nvSpPr>
          <p:cNvPr id="8" name="DSFR-accent-decoratif" descr=""/>
          <p:cNvSpPr/>
          <p:nvPr/>
        </p:nvSpPr>
        <p:spPr>
          <a:xfrm>
            <a:off x="475488" y="228600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474720"/>
            <a:ext cx="73152" cy="12115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GOUVERNEMENT">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pt_gouvernement_marianne" id="{307D1C89-B296-4882-8ECC-2BD1C6821949}" vid="{B53EA17D-A77A-459E-979D-FA962BE9015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ppt_gouvernement_arial</Template>
  <TotalTime>200</TotalTime>
  <Words>1065</Words>
  <Application>Microsoft Office PowerPoint</Application>
  <PresentationFormat>Affichage à l'écran (16:9)</PresentationFormat>
  <Paragraphs>157</Paragraphs>
  <Slides>133</Slides>
  <Notes>133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Verdana</vt:lpstr>
      <vt:lpstr>Wingdings</vt:lpstr>
      <vt:lpstr>GOUVERNEMENT</vt:lpstr>
      <vt:lpstr>XXXXX Libelle de la formation</vt:lpstr>
      <vt:lpstr>Présentation PowerPoint</vt:lpstr>
      <vt:lpstr>Le programme</vt:lpstr>
      <vt:lpstr>Présentation PowerPoint</vt:lpstr>
      <vt:lpstr>Sommaire</vt:lpstr>
      <vt:lpstr>Introduction aux réseaux informatiques</vt:lpstr>
      <vt:lpstr>Introduction </vt:lpstr>
      <vt:lpstr>Présentation PowerPoint</vt:lpstr>
      <vt:lpstr>Présentation PowerPoint</vt:lpstr>
      <vt:lpstr>Sommaire</vt:lpstr>
      <vt:lpstr>Titre de partie</vt:lpstr>
      <vt:lpstr>Lorem ipsum dolor  sit amet consectetur</vt:lpstr>
      <vt:lpstr>Lorem ipsum dolor  sit amet consectetur</vt:lpstr>
      <vt:lpstr>Réduire / Augmenter le niveau de liste</vt:lpstr>
      <vt:lpstr>Titre</vt:lpstr>
      <vt:lpstr>Copier / coller les textes</vt:lpstr>
    </vt:vector>
  </TitlesOfParts>
  <Manager>Client</Manager>
  <Company>Secrétariat Général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102846 - Accessibilité numérique</dc:title>
  <dc:subject>Support de formation IGPDE - DSFR accessible</dc:subject>
  <dc:creator>Alex Guiderdoni</dc:creator>
  <cp:lastModifiedBy>Alex Guiderdoni</cp:lastModifiedBy>
  <cp:revision>15</cp:revision>
  <dcterms:created xsi:type="dcterms:W3CDTF">2020-03-06T09:47:41Z</dcterms:created>
  <dcterms:modified xsi:type="dcterms:W3CDTF">2026-10-02T20:32:11Z</dcterms:modified>
  <dc:language>fr-FR</dc:language>
</cp:coreProperties>
</file>