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Accueil du groupe.</a:t>
            </a:r>
          </a:p>
          <a:p>
            <a:r>
              <a:rPr lang="fr-FR"/>
              <a:t>Préciser que ce support transforme les critères WCAG en langage clair, sans remplacer la norme officielle.</a:t>
            </a:r>
          </a:p>
          <a:p>
            <a:r>
              <a:rPr lang="fr-FR"/>
              <a:t>Source principale : AAArdvark, WCAG in Plain English, licence CC BY-SA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slide fixe le contrat pédagogique.</a:t>
            </a:r>
          </a:p>
          <a:p>
            <a:r>
              <a:rPr lang="fr-FR"/>
              <a:t>Le deck sert à comprendre et à agir.</a:t>
            </a:r>
          </a:p>
          <a:p>
            <a:r>
              <a:rPr lang="fr-FR"/>
              <a:t>Pour un audit formel, renvoyer vers WCAG 2.2 et le RGAA 4.1.2.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Source : https://aaardvarkaccessibility.com/wcag-plain-english/.</a:t>
            </a:r>
          </a:p>
          <a:p>
            <a:r>
              <a:rPr lang="fr-FR"/>
              <a:t>Licence : https://creativecommons.org/licenses/by-sa/4.0/.</a:t>
            </a:r>
          </a:p>
          <a:p>
            <a:r>
              <a:rPr lang="fr-FR"/>
              <a:t>Référence W3C : https://www.w3.org/WAI/standards-guidelines/wcag/.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D’après le W3C, WCAG 2.2 compte 13 lignes directrices organisées sous 4 principes.</a:t>
            </a:r>
          </a:p>
          <a:p>
            <a:r>
              <a:rPr lang="fr-FR"/>
              <a:t>Les critères de succès déterminent la conformité.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reformuler les quatre questions par les participants.</a:t>
            </a:r>
          </a:p>
          <a:p>
            <a:r>
              <a:rPr lang="fr-FR"/>
              <a:t>Insister sur le vocabulaire courant : percevoir, utiliser, comprendre,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1.</a:t>
            </a:r>
          </a:p>
          <a:p>
            <a:r>
              <a:rPr lang="fr-FR"/>
              <a:t>Percevoir l’information.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1.1.1.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1.2.1, 1.2.2, 1.2.3, 1.2.4.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1.2.5, 1.2.6, 1.2.7, 1.2.8.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1.2.9.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1.3.1, 1.3.2, 1.3.3, 1.3.4.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1.3.5, 1.3.6.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1.4.1, 1.4.2, 1.4.3, 1.4.4.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1.4.5, 1.4.6, 1.4.7, 1.4.8.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1.4.9, 1.4.10, 1.4.11, 1.4.12.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1.4.13.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2.</a:t>
            </a:r>
          </a:p>
          <a:p>
            <a:r>
              <a:rPr lang="fr-FR"/>
              <a:t>Utiliser sans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2.1.1, 2.1.2, 2.1.3, 2.1.4.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2.2.1, 2.2.2, 2.2.3, 2.2.4.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2.2.5, 2.2.6.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2.3.1, 2.3.2, 2.3.3.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2.4.1, 2.4.2, 2.4.3, 2.4.4.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2.4.5, 2.4.6, 2.4.7, 2.4.8.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2.4.9, 2.4.10, 2.4.11, 2.4.12.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2.4.13.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2.5.1, 2.5.2, 2.5.3, 2.5.4.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2.5.5, 2.5.6, 2.5.7, 2.5.8.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3.</a:t>
            </a:r>
          </a:p>
          <a:p>
            <a:r>
              <a:rPr lang="fr-FR"/>
              <a:t>Comprendre sans effort inutile.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3.1.1, 3.1.2, 3.1.3, 3.1.4.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3.1.5, 3.1.6.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3.2.1, 3.2.2, 3.2.3, 3.2.4.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3.2.5, 3.2.6.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3.3.1, 3.3.2, 3.3.3, 3.3.4.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3.3.5, 3.3.6, 3.3.7, 3.3.8.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3.3.9.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de section : 4.</a:t>
            </a:r>
          </a:p>
          <a:p>
            <a:r>
              <a:rPr lang="fr-FR"/>
              <a:t>Rester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Adaptation française de la page AAArdvark WCAG in Plain English pour les critères 4.1.1, 4.1.2, 4.1.3.</a:t>
            </a:r>
          </a:p>
          <a:p>
            <a:r>
              <a:rPr lang="fr-FR"/>
              <a:t>Faire lire les cartes comme des questions de vérification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but est d’éviter le renvoi de responsabilité.</a:t>
            </a:r>
          </a:p>
          <a:p>
            <a:r>
              <a:rPr lang="fr-FR"/>
              <a:t>Chaque critère peut avoir un responsable principal, mais la conformité se construit en 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travailler en binômes.</a:t>
            </a:r>
          </a:p>
          <a:p>
            <a:r>
              <a:rPr lang="fr-FR"/>
              <a:t>L’objectif n’est pas de citer le critère, mais de formuler une question qui aide à corriger un vrai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Conclusion pédagogique.</a:t>
            </a:r>
          </a:p>
          <a:p>
            <a:r>
              <a:rPr lang="fr-FR"/>
              <a:t>Demander à chaque participant de choisir le réflexe qu’il appliquera sur sa prochaine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AAArdvark WCAG in Plain English : https://aaardvarkaccessibility.com/wcag-plain-english/.</a:t>
            </a:r>
          </a:p>
          <a:p>
            <a:r>
              <a:rPr lang="fr-FR"/>
              <a:t>Licence : https://creativecommons.org/licenses/by-sa/4.0/.</a:t>
            </a:r>
          </a:p>
          <a:p>
            <a:r>
              <a:rPr lang="fr-FR"/>
              <a:t>W3C WCAG : https://www.w3.org/WAI/standards-guidelines/wcag/.</a:t>
            </a:r>
          </a:p>
          <a:p>
            <a:r>
              <a:rPr lang="fr-FR"/>
              <a:t>RGAA : https://accessibilite.numerique.gouv.fr/methode/introduction/.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8348472" y="6382512"/>
            <a:ext cx="1801368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8" name="Title-DSFR-couverture"/>
          <p:cNvSpPr txBox="1"/>
          <p:nvPr/>
        </p:nvSpPr>
        <p:spPr>
          <a:xfrm>
            <a:off x="5303520" y="4114800"/>
            <a:ext cx="6492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WCAG en langage clair</a:t>
            </a:r>
          </a:p>
        </p:txBody>
      </p:sp>
      <p:sp>
        <p:nvSpPr>
          <p:cNvPr id="9" name="DSFR-texte-libre"/>
          <p:cNvSpPr txBox="1"/>
          <p:nvPr/>
        </p:nvSpPr>
        <p:spPr>
          <a:xfrm>
            <a:off x="5303520" y="4892040"/>
            <a:ext cx="64922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1" i="0" lang="fr-FR">
                <a:solidFill>
                  <a:srgbClr val="E1000F"/>
                </a:solidFill>
                <a:latin typeface="Marianne"/>
              </a:rPr>
              <a:t>Adaptation pédagogique DSFR d’après AAArdvark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0149840" y="6382512"/>
            <a:ext cx="1563624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475488" y="6382512"/>
            <a:ext cx="7872983" cy="475488"/>
          </a:xfrm>
        </p:spPr>
        <p:txBody>
          <a:bodyPr anchor="t" anchorCtr="0" wrap="square" lIns="73152" rIns="73152"/>
          <a:lstStyle>
            <a:lvl1pPr>
              <a:defRPr sz="1150" lang="fr-FR"/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Accueil</a:t>
            </a:r>
          </a:p>
        </p:txBody>
      </p:sp>
      <p:cxnSp>
        <p:nvCxnSpPr>
          <p:cNvPr id="7" name="IGPDE-footer-ligne-decoratif" descr=""/>
          <p:cNvCxnSpPr/>
          <p:nvPr/>
        </p:nvCxnSpPr>
        <p:spPr>
          <a:xfrm>
            <a:off x="475488" y="6373368"/>
            <a:ext cx="11228831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Ce que ce deck fait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450592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542032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Objectif : passer d’une règle WCAG à une question simple que l’on peut poser avant de publier.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46120"/>
            <a:ext cx="5390388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704088" y="3383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Comprendre</a:t>
            </a:r>
          </a:p>
        </p:txBody>
      </p:sp>
      <p:sp>
        <p:nvSpPr>
          <p:cNvPr id="14" name="DSFR-card-contenu"/>
          <p:cNvSpPr txBox="1"/>
          <p:nvPr/>
        </p:nvSpPr>
        <p:spPr>
          <a:xfrm>
            <a:off x="704088" y="3840479"/>
            <a:ext cx="5097779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Voir l’intention de la règle avant le vocabulaire technique.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3246120"/>
            <a:ext cx="5390388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rd-titre"/>
          <p:cNvSpPr txBox="1"/>
          <p:nvPr/>
        </p:nvSpPr>
        <p:spPr>
          <a:xfrm>
            <a:off x="6469379" y="3383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Traduire</a:t>
            </a:r>
          </a:p>
        </p:txBody>
      </p:sp>
      <p:sp>
        <p:nvSpPr>
          <p:cNvPr id="18" name="DSFR-card-contenu"/>
          <p:cNvSpPr txBox="1"/>
          <p:nvPr/>
        </p:nvSpPr>
        <p:spPr>
          <a:xfrm>
            <a:off x="6469379" y="3840479"/>
            <a:ext cx="5097779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Transformer chaque critère en geste concret de publication.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855464"/>
            <a:ext cx="5390388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499262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Vérifier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449824"/>
            <a:ext cx="5097779" cy="640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Repérer rapidement ce qui bloque lecture, action ou correction.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4855464"/>
            <a:ext cx="5390388" cy="13716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rd-titre"/>
          <p:cNvSpPr txBox="1"/>
          <p:nvPr/>
        </p:nvSpPr>
        <p:spPr>
          <a:xfrm>
            <a:off x="6469379" y="499262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Orienter</a:t>
            </a:r>
          </a:p>
        </p:txBody>
      </p:sp>
      <p:sp>
        <p:nvSpPr>
          <p:cNvPr id="26" name="DSFR-card-contenu"/>
          <p:cNvSpPr txBox="1"/>
          <p:nvPr/>
        </p:nvSpPr>
        <p:spPr>
          <a:xfrm>
            <a:off x="6469379" y="5449824"/>
            <a:ext cx="5097779" cy="640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Savoir qui mobiliser : contenu, design ou technique.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Mode d’emploi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450592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4612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324612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855464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4855464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 source : WCAG en langage simple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21408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212848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Corpus principal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24327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AAArdvark, WCAG in Plain English, licence CC BY-SA 4.0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Adaptation française pédagogique, non littérale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Référence normative : WCAG 2.2 du W3C/WAI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21408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info-titre"/>
          <p:cNvSpPr txBox="1"/>
          <p:nvPr/>
        </p:nvSpPr>
        <p:spPr>
          <a:xfrm>
            <a:off x="6469379" y="2212848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Point de prudence</a:t>
            </a:r>
          </a:p>
        </p:txBody>
      </p:sp>
      <p:sp>
        <p:nvSpPr>
          <p:cNvPr id="15" name="DSFR-alert-info-body"/>
          <p:cNvSpPr txBox="1"/>
          <p:nvPr/>
        </p:nvSpPr>
        <p:spPr>
          <a:xfrm>
            <a:off x="6469379" y="2624327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Ce support aide à comprendre les critères.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Il ne remplace ni la norme WCAG officielle, ni la méthode RGAA pour le cadre français.</a:t>
            </a:r>
          </a:p>
        </p:txBody>
      </p:sp>
      <p:sp>
        <p:nvSpPr>
          <p:cNvPr id="16" name="DSFR-texte-libre"/>
          <p:cNvSpPr txBox="1"/>
          <p:nvPr/>
        </p:nvSpPr>
        <p:spPr>
          <a:xfrm>
            <a:off x="475488" y="5074920"/>
            <a:ext cx="11228832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Licence visible en fin de deck : attribution AAArdvark et partage CC BY-SA 4.0 pour les contenus adaptés.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Sources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21408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21408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Comment lire les WCAG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4 principes : percevoir, utiliser, comprendre, rester compatible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13 lignes directrices : les grands sujets à traiter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Critères de succès : les exigences testables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945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926079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Preuves : test, mesure, exemple corrigé ou contenu modifié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2519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43434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bon réflexe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47548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Ne pas apprendre la liste par cœur.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Savoir transformer un critère en question : que doit pouvoir faire la personne ?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Chercher la preuve : exemple, capture, test clavier, mesure ou contenu corrigé.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Carte mentale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9631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2519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Les 4 grandes 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Mode d’emploi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86000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4231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Percevoir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80360"/>
            <a:ext cx="509777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L’information reste disponible si je ne vois pas ou n’entends pas comme prévu.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86000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4231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Utiliser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880360"/>
            <a:ext cx="509777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Je peux naviguer, agir et terminer sans piège ni geste imposé.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352544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704088" y="448970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Comprendre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704088" y="4946904"/>
            <a:ext cx="5097779" cy="10972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mots, formulaires et comportements restent prévisibles.</a:t>
            </a:r>
          </a:p>
        </p:txBody>
      </p:sp>
      <p:sp>
        <p:nvSpPr>
          <p:cNvPr id="21" name="DSFR-box"/>
          <p:cNvSpPr/>
          <p:nvPr/>
        </p:nvSpPr>
        <p:spPr>
          <a:xfrm>
            <a:off x="6313931" y="4352544"/>
            <a:ext cx="5390388" cy="18288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6469379" y="448970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Compatible</a:t>
            </a:r>
          </a:p>
        </p:txBody>
      </p:sp>
      <p:sp>
        <p:nvSpPr>
          <p:cNvPr id="23" name="DSFR-card-contenu"/>
          <p:cNvSpPr txBox="1"/>
          <p:nvPr/>
        </p:nvSpPr>
        <p:spPr>
          <a:xfrm>
            <a:off x="6469379" y="4946904"/>
            <a:ext cx="5097779" cy="10972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aides techniques peuvent comprendre l’interface aujourd’hui et demain.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Questions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860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860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352544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6240779" y="4352544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1. 1. Percevoir l’information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 Percevoir l’information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1.1 - Équivalents 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l’on ne voit pas le contenu, que reste-t-il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1.1.1 Équivalents texte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Images, sons, graphiques et boutons ont une description utile. Le décoratif peut être ignoré.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1.2 - Médias temporels (1/3)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l’on n’entend pas ou ne voit pas la vidéo, peut-on comprendre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1.2.1 Audio ou vidéo seuls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audio a besoin d’une transcription. Une vidéo sans son a besoin d’une description.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1.2.2 Sous-titres vidéo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vidéos avec son ont des sous-titres synchronisés avec paroles et sons utiles.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1.2.3 Visuels décrits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informations visuelles importantes sont décrites dans l’audio ou dans un texte.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1.2.4 Sous-titres en direct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direct vidéo avec son propose des sous-titres en temps réel.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1.2 - Médias temporels (2/3)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l’on n’entend pas ou ne voit pas la vidéo, peut-on comprendre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1.2.5 Audiodescription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visuels importants d’une vidéo enregistrée sont décrits si la piste son ne suffit pas.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1.2.6 Langue des signes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vidéos enregistrées avec son ont une interprétation en langue des signes.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1.2.7 Description étendue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Si l’audio ne laisse pas le temps de décrire, une version avec pauses est prévue.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1.2.8 Alternative complète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Une vidéo enregistrée a une version texte complète : paroles, sons utiles et actions visibles.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1.2 - Médias temporels (3/3)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l’on n’entend pas ou ne voit pas la vidéo, peut-on comprendre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1.2.9 Audio direct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direct audio seul propose une transcription ou des sous-titres en temps réel.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1.3 - Adaptable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la présentation change, le sens reste-t-il intact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1.3.1 Relations visibles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Titres, listes, étiquettes et groupes restent compréhensibles par les aides techniques.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1.3.2 Ordre logique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L’ordre de lecture garde le sens même si la mise en page change.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1.3.3 Pas seulement sensoriel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Ne pas dire seulement « le bouton rouge » ou « à droite ». Ajouter un nom clair.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1.3.4 Orientation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contenu marche en portrait et en paysage, sauf si une orientation est vraiment essentielle.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1.3 - Adaptable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Si la présentation change, le sens reste-t-il intact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1.3.5 Champs connus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champs courants comme nom, mail ou adresse peuvent être reconnus et aidés.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1.3.6 Zones identifiables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grandes zones et éléments courants peuvent être reconnus et simplifiés par les aides.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1.4 - Visible et lisible (1/4)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Est-ce assez visible, lisible et stable pour différents usages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1.4.1 Couleur seule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couleur ne suffit jamais. Ajouter texte, icône, soulignement, forme ou motif.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1.4.2 Son automatique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son automatique de plus de 3 secondes peut être pausé, stoppé ou baissé.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1.4.3 Contraste texte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est assez contrasté : 4,5:1, ou 3:1 pour du grand texte.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1.4.4 Zoom texte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reste lisible et utilisable quand il est agrandi à 200 %.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1.4 - Visible et lisible (2/4)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Est-ce assez visible, lisible et stable pour différents usages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1.4.5 Texte natif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reste du vrai texte, pas une image, sauf besoin visuel indispensable comme un logo.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1.4.6 Contraste renforcé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contraste visé est 7:1 pour texte normal et 4,5:1 pour grand texte.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1.4.7 Fond sonore bas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Dans un audio parlé, le fond sonore est faible ou peut être coupé.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1.4.8 Présentation lisible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Paragraphes aérés, non justifiés, lignes courtes et couleurs ajustables par l’utilisateur.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1.4 - Visible et lisible (3/4)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Est-ce assez visible, lisible et stable pour différents usages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1.4.9 Aucune image de texte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reste du vrai texte, même pour des raisons esthétiques.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1.4.10 Reflow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À 400 % ou sur petit écran, on lit sans défilement dans deux directions.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1.4.11 Contraste non texte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Boutons, champs, focus, icônes et graphiques utiles ont un contraste d’au moins 3:1.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1.4.12 Espacement du texte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reste lisible si l’utilisateur augmente interligne, mots, lettres et paragraphes.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1.4 - Visible et lisible (4/4)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Percevoir l’information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16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Est-ce assez visible, lisible et stable pour différents usages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1.4.13 Survol et focus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contenu qui apparaît au survol ou au focus reste visible et peut être fermé.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1.4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17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2. Utiliser sans obstacle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 Utiliser sans obstacle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2.1 - Clavier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18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Peut-on tout faire sans souris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2.1.1 Tout au clavier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Toute fonction marche au clavier seul, sauf geste libre indispensable comme dessiner.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2.1.2 Pas de piège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On peut entrer et sortir de chaque composant au clavier sans rester bloqué.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2.1.3 Clavier sans exception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Tout marche au clavier, même les actions souvent pensées pour la souris ou le toucher.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2.1.4 Raccourcis simples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raccourcis à une seule touche peuvent être désactivés, modifiés ou limités au bon contexte.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2.2 - Assez de temps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19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a-t-elle le temps de lire et d’agir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2.2.1 Délais réglables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Éviter les limites de temps. Sinon, permettre de les couper, ajuster ou prolonger.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2.2.2 Mettre en pause, arrêter, masquer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Ce qui bouge ou se met à jour plus de 5 secondes peut être pausé, stoppé ou caché.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2.2.3 Pas de limite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Aucune limite de temps pour lire ou agir, sauf événement en direct ou activité minutée.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2.2.4 Interruptions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Notifications et interruptions peuvent être retardées ou coupées, sauf urgence.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2.2 - Assez de temps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20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a-t-elle le temps de lire et d’agir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2.2.5 Reconnexion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Après reconnexion, les données déjà saisies restent disponibles.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2.2.6 Expiration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Avant de perdre des données, la personne est prévenue et peut prolonger la session.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2.3 - Crises et réactions physiques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21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 contenu évite-t-il les effets qui peuvent provoquer une réaction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2.3.1 Trois flashs max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Rien ne clignote plus de trois fois par seconde, sauf si le seuil de sécurité est respecté.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2.3.2 Aucun flash risqué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Rien ne clignote plus de trois fois par seconde, sans exception.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2.3.3 Animations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animations déclenchées par l’action peuvent être réduites ou désactivées.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2.4 - Navigation (1/4)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22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sait-elle où elle est et comment avancer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2.4.1 Éviter les blocs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On peut passer les menus répétés et aller directement au contenu principal.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2.4.2 Titre de page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Chaque page a un titre unique et descriptif.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2.4.3 Ordre du focus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parcours au clavier suit un ordre logique et compréhensible.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2.4.4 Liens en contexte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destination ou l’action d’un lien est claire avec son texte ou son contexte.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2.4 - Navigation (2/4)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23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sait-elle où elle est et comment avancer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2.4.5 Plusieurs chemins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Il existe au moins deux moyens de trouver une page : menu, recherche, plan, liens.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2.4.6 Titres et étiquettes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titres annoncent le contenu. Les boutons et champs disent clairement l’action ou l’attendu.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2.4.7 Focus visible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Au clavier, on voit toujours quel élément est actif.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2.4.8 Localisation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personne comprend où elle se trouve dans l’ensemble de pages.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2.4 - Navigation (3/4)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24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sait-elle où elle est et comment avancer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2.4.9 Lien seul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du lien suffit à comprendre sa destination ou son action.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2.4.10 Sections claires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contenus liés sont regroupés sous des titres utiles.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2.4.11 Focus non masqué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Quand un élément reçoit le focus, il reste au moins partiellement visible.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2.4.12 Focus entièrement visible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focus reste entièrement visible et non recouvert.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2.4 - Navigation (4/4)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25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sait-elle où elle est et comment avancer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2.4.13 Apparence du focus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focus est épais, contrasté et clairement rattaché à l’élément actif.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2.4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2.5 - Modes d’interaction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26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L’action reste-t-elle possible avec un autre geste ou un autre outil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2.5.1 Gestes complexes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geste comme glisser ou pincer a aussi une alternative simple : clic, bouton, appui.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2.5.2 Annulation du clic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L’action ne part pas au toucher initial, mais au relâchement ou avec annulation possible.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2.5.3 Nom visible repris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nom entendu par une aide vocale reprend le texte visible du bouton ou du champ.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2.5.4 Mouvement appareil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Secouer ou incliner l’appareil n’est jamais le seul moyen d’agir.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2.5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2.5 - Modes d’interaction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Utiliser sans obstacle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27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L’action reste-t-elle possible avec un autre geste ou un autre outil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2.5.5 Grande cible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cibles souris ou tactiles font au moins 44 x 44 pixels, sauf cas limites.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2.5.6 Entrées multiples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On peut passer de la souris au clavier, au toucher ou à la voix sans perdre de fonction.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2.5.7 Glisser-déposer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Une action par glisser-déposer a aussi une méthode sans glisser.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2.5.8 Taille minimale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cibles font au moins 24 x 24 pixels ou ont assez d’espace autour.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2.5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28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3. 3. Comprendre sans effort inutile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 Comprendre sans effort inutile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3.1 - Lisible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29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 texte est-il clair pour les personnes et les outils de lecture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3.1.1 Langue de page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langue principale est indiquée pour la bonne prononciation.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3.1.2 Changement de langue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passage dans une autre langue est signalé quand cela change la lecture.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3.1.3 Mots rares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termes inhabituels, images ou jargons sont évités ou expliqués.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3.1.4 Abréviations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sigles et abréviations sont évités ou expliqués à la première occurrence.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3.1 - Lisible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30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 texte est-il clair pour les personnes et les outils de lecture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3.1.5 Lisibilité du texte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Si le texte est difficile, proposer résumé, version simple, visuel ou oral.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3.1.6 Prononciation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Si un mot se prononce de plusieurs façons, le sens voulu est clarifié.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3.2 - Prévisible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31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 site se comporte-t-il comme la personne s’y attend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3.2.1 Au focus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Recevoir le focus ne déclenche pas une action surprise.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3.2.2 À la saisie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Changer une valeur ne valide pas, ne recharge pas et ne déplace pas sans prévenir.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3.2.3 Navigation stable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Menus, recherche et liens récurrents restent au même endroit et dans le même ordre.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3.2.4 Même fonction, même nom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éléments qui font la même chose ont le même nom et le même comportement.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3.2 - Prévisible (2/2)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32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 site se comporte-t-il comme la personne s’y attend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3.2.5 Changement demandé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 changement majeur arrive seulement après une demande explicite.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3.2.6 Aide cohérente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options d’aide restent au même endroit sur les pages concernées.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3.2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3.3 - Aide à la saisie (1/3)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33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peut-elle éviter, comprendre et corriger ses erreurs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3.3.1 Erreur identifiée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erreurs sont décrites en texte, pas seulement en couleur ou surbrillance.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3.3.2 Libellés clairs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Chaque champ a un libellé ou une consigne qui aide à remplir correctement.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3.3.3 Suggestion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message d’erreur explique le problème et propose une correction.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3.3.4 Actions sensibles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Avant paiement, signature ou envoi important, on peut vérifier, corriger ou confirmer.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3.3 - Aide à la saisie (2/3)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34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peut-elle éviter, comprendre et corriger ses erreurs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3.3.5 Aide disponible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Quand le libellé ne suffit pas, une aide supplémentaire est disponible.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3.3.6 Tous formulaires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Avant tout envoi, on peut vérifier, corriger ou confirmer les informations.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3.3.7 Pas de ressaisie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Ne pas redemander une information déjà donnée dans le même parcours.</a:t>
            </a:r>
          </a:p>
        </p:txBody>
      </p:sp>
      <p:sp>
        <p:nvSpPr>
          <p:cNvPr id="22" name="DSFR-box"/>
          <p:cNvSpPr/>
          <p:nvPr/>
        </p:nvSpPr>
        <p:spPr>
          <a:xfrm>
            <a:off x="6313931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card-titre"/>
          <p:cNvSpPr txBox="1"/>
          <p:nvPr/>
        </p:nvSpPr>
        <p:spPr>
          <a:xfrm>
            <a:off x="6469379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3.3.8 Connexion accessible</a:t>
            </a:r>
          </a:p>
        </p:txBody>
      </p:sp>
      <p:sp>
        <p:nvSpPr>
          <p:cNvPr id="24" name="DSFR-card-contenu"/>
          <p:cNvSpPr txBox="1"/>
          <p:nvPr/>
        </p:nvSpPr>
        <p:spPr>
          <a:xfrm>
            <a:off x="6469379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connexion ne repose pas seulement sur la mémoire : copier-coller et gestionnaires marchent.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40779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3.3 - Aide à la saisie (3/3)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Comprendre sans effort inutile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35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La personne peut-elle éviter, comprendre et corriger ses erreurs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9385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3.3.9 Connexion renforcée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20700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 connexion n’impose pas puzzle, image à reconnaître ou test cognitif.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3.3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9385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36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4. 4. Rester compatible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4. Rester compatible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4.1 - Compatible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Rester compatible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37</a:t>
            </a:r>
            <a:endParaRPr lang="fr-FR" dirty="0"/>
          </a:p>
        </p:txBody>
      </p:sp>
      <p:sp>
        <p:nvSpPr>
          <p:cNvPr id="8" name="DSFR-texte-libre"/>
          <p:cNvSpPr txBox="1"/>
          <p:nvPr/>
        </p:nvSpPr>
        <p:spPr>
          <a:xfrm>
            <a:off x="475488" y="1938528"/>
            <a:ext cx="11228832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E1000F"/>
                </a:solidFill>
                <a:latin typeface="Marianne"/>
              </a:rPr>
              <a:t>Les aides techniques peuvent-elles comprendre l’interface ?</a:t>
            </a:r>
          </a:p>
        </p:txBody>
      </p:sp>
      <p:sp>
        <p:nvSpPr>
          <p:cNvPr id="10" name="DSFR-box"/>
          <p:cNvSpPr/>
          <p:nvPr/>
        </p:nvSpPr>
        <p:spPr>
          <a:xfrm>
            <a:off x="548640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4.1.1 Structure propre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Critère obsolète en WCAG 2.2. Une structure propre reste utile pour la compatibilité.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331720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rd-titre"/>
          <p:cNvSpPr txBox="1"/>
          <p:nvPr/>
        </p:nvSpPr>
        <p:spPr>
          <a:xfrm>
            <a:off x="6469379" y="24688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4.1.2 Nom, rôle, valeur</a:t>
            </a:r>
          </a:p>
        </p:txBody>
      </p:sp>
      <p:sp>
        <p:nvSpPr>
          <p:cNvPr id="16" name="DSFR-card-contenu"/>
          <p:cNvSpPr txBox="1"/>
          <p:nvPr/>
        </p:nvSpPr>
        <p:spPr>
          <a:xfrm>
            <a:off x="6469379" y="2926079"/>
            <a:ext cx="5097779" cy="10744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Chaque élément interactif expose son nom, son rôle et son état aux aides techniques.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375404"/>
            <a:ext cx="5390388" cy="18059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704088" y="451256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4.1.3 Messages d’état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704088" y="4969764"/>
            <a:ext cx="5097779" cy="10744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Les messages comme « formulaire envoyé » sont perçus sans déplacer le focus.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4.1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331720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375404"/>
            <a:ext cx="73152" cy="18059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 doit agir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Synthèse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18516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Contenu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5097779" cy="11201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Textes, images, médias, liens, titres, consignes, messages d’erreur.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18516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Design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834640"/>
            <a:ext cx="5097779" cy="11201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Contrastes, taille des cibles, focus visible, organisation et lisibilité.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329684"/>
            <a:ext cx="5390388" cy="18516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704088" y="446684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Technique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704088" y="4924044"/>
            <a:ext cx="5097779" cy="112013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Structure, clavier, formulaires, messages d’état et compatibilité.</a:t>
            </a:r>
          </a:p>
        </p:txBody>
      </p:sp>
      <p:sp>
        <p:nvSpPr>
          <p:cNvPr id="21" name="DSFR-box"/>
          <p:cNvSpPr/>
          <p:nvPr/>
        </p:nvSpPr>
        <p:spPr>
          <a:xfrm>
            <a:off x="6313931" y="4329684"/>
            <a:ext cx="5390388" cy="18516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rd-titre"/>
          <p:cNvSpPr txBox="1"/>
          <p:nvPr/>
        </p:nvSpPr>
        <p:spPr>
          <a:xfrm>
            <a:off x="6469379" y="4466844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Pilotage</a:t>
            </a:r>
          </a:p>
        </p:txBody>
      </p:sp>
      <p:sp>
        <p:nvSpPr>
          <p:cNvPr id="23" name="DSFR-card-contenu"/>
          <p:cNvSpPr txBox="1"/>
          <p:nvPr/>
        </p:nvSpPr>
        <p:spPr>
          <a:xfrm>
            <a:off x="6469379" y="4924044"/>
            <a:ext cx="5097779" cy="112013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Arbitrer l’objectif visé, suivre les corrections, documenter les preuves.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Rôles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18516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18516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329684"/>
            <a:ext cx="73152" cy="18516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6240779" y="4329684"/>
            <a:ext cx="73152" cy="18516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Exercice : traduire une règle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Mise en pratique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39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48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80360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Choisir une carte WCAG du deck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48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880360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Reformuler en question utilisateur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48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880360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Donner un exemple conforme et un contre-exemple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48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880360"/>
            <a:ext cx="2580894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Nommer la preuve à produire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2519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43434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Exemple de sortie attendue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47548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Critère : 1.4.1 Couleur seule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Question : puis-je comprendre le message sans voir la couleur ?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Preuve : capture avec texte ou icône en plus de la couleur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Exercice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50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50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50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2519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Les 3 réflexes à garder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Synthèse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40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240280"/>
            <a:ext cx="3541775" cy="109956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424428"/>
            <a:ext cx="3541775" cy="5074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Toujours demander : qui est bloqué si ce contenu disparaît ?</a:t>
            </a:r>
          </a:p>
        </p:txBody>
      </p:sp>
      <p:sp>
        <p:nvSpPr>
          <p:cNvPr id="10" name="DSFR-kpi-pave"/>
          <p:cNvSpPr/>
          <p:nvPr/>
        </p:nvSpPr>
        <p:spPr>
          <a:xfrm>
            <a:off x="4319015" y="2240280"/>
            <a:ext cx="3541775" cy="109956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1" name="DSFR-kpi-label"/>
          <p:cNvSpPr txBox="1"/>
          <p:nvPr/>
        </p:nvSpPr>
        <p:spPr>
          <a:xfrm>
            <a:off x="4319015" y="3424428"/>
            <a:ext cx="3541775" cy="5074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Tester sans souris, sans son, en zoom, avec erreur de formulaire.</a:t>
            </a:r>
          </a:p>
        </p:txBody>
      </p:sp>
      <p:sp>
        <p:nvSpPr>
          <p:cNvPr id="12" name="DSFR-kpi-pave"/>
          <p:cNvSpPr/>
          <p:nvPr/>
        </p:nvSpPr>
        <p:spPr>
          <a:xfrm>
            <a:off x="8162543" y="2240280"/>
            <a:ext cx="3541775" cy="109956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DSFR-kpi-label"/>
          <p:cNvSpPr txBox="1"/>
          <p:nvPr/>
        </p:nvSpPr>
        <p:spPr>
          <a:xfrm>
            <a:off x="8162543" y="3424428"/>
            <a:ext cx="3541775" cy="5074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Documenter une preuve, pas seulement une intention.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470916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highlight"/>
          <p:cNvSpPr txBox="1"/>
          <p:nvPr/>
        </p:nvSpPr>
        <p:spPr>
          <a:xfrm>
            <a:off x="749808" y="480060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Une WCAG comprise est une règle que l’on peut expliquer à quelqu’un qui publie demain.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Récapitulatif</a:t>
            </a:r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470916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Sources et licence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Sources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41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48840"/>
          <a:ext cx="1122883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839712"/>
              </a:tblGrid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Rôle dans le support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AAArdvark - WCAG in Plain 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Corpus principal adapté en français, licence CC BY-SA 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W3C/WAI - WCAG 2 Overview et WCAG 2.2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Référence normative pour les principes, lignes directrices et critères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RGAA 4.1.2 - accessibilite.numerique.gouv.fr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Cadre français de référence pour les services publics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52628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info-titre"/>
          <p:cNvSpPr txBox="1"/>
          <p:nvPr/>
        </p:nvSpPr>
        <p:spPr>
          <a:xfrm>
            <a:off x="704088" y="461772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Attribution</a:t>
            </a:r>
          </a:p>
        </p:txBody>
      </p:sp>
      <p:sp>
        <p:nvSpPr>
          <p:cNvPr id="12" name="DSFR-alert-info-body"/>
          <p:cNvSpPr txBox="1"/>
          <p:nvPr/>
        </p:nvSpPr>
        <p:spPr>
          <a:xfrm>
            <a:off x="704088" y="5029200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Adaptation française : WCAG en langage clair.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Source AAArdvark : aaardvarkaccessibility.com/wcag-plain-english/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</a:t>
            </a:r>
            <a:r>
              <a:rPr sz="1400" b="0" lang="fr-FR">
                <a:solidFill>
                  <a:srgbClr val="161616"/>
                </a:solidFill>
                <a:latin typeface="Marianne"/>
              </a:rPr>
              <a:t>Licence des contenus dérivés : CC BY-SA 4.0.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WCAG en langage clair / Sources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52628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WCAG en langage clair</dc:title>
  <dc:subject>Support de formation DSFR - adaptation française de WCAG in Plain English par AAArdvark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