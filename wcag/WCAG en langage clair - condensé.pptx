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Lst>
  <p:notesMasterIdLst>
    <p:notesMasterId r:id="rId18"/>
  </p:notesMasterIdLst>
  <p:handoutMasterIdLst>
    <p:handoutMasterId r:id="rId19"/>
  </p:handout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Lst>
  <p:sldSz cx="12191969" cy="68580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mple" id="{1B2C009F-958F-4730-953E-C3BCDF6DEDF4}">
          <p14:sldIdLst>
            <p14:sldId id="342"/>
            <p14:sldId id="335"/>
            <p14:sldId id="336"/>
            <p14:sldId id="337"/>
            <p14:sldId id="348"/>
            <p14:sldId id="344"/>
            <p14:sldId id="347"/>
          </p14:sldIdLst>
        </p14:section>
        <p14:section name="IGPDE" id="{0B896E98-F45E-4768-8620-EDDF394BE181}">
          <p14:sldIdLst>
            <p14:sldId id="332"/>
            <p14:sldId id="331"/>
            <p14:sldId id="327"/>
            <p14:sldId id="340"/>
            <p14:sldId id="329"/>
            <p14:sldId id="330"/>
          </p14:sldIdLst>
        </p14:section>
        <p14:section name="MÉTHODOLOGIE" id="{EB03BDE6-D677-4574-A7BF-9721F91BDEB8}">
          <p14:sldIdLst>
            <p14:sldId id="319"/>
            <p14:sldId id="323"/>
            <p14:sldId id="324"/>
          </p14:sldIdLst>
        </p14:section>
      </p14:sectionLst>
    </p:ext>
    <p:ext uri="{EFAFB233-063F-42B5-8137-9DF3F51BA10A}">
      <p15:sldGuideLst xmlns:p15="http://schemas.microsoft.com/office/powerpoint/2012/main">
        <p15:guide id="1" orient="horz" pos="1620">
          <p15:clr>
            <a:srgbClr val="A4A3A4"/>
          </p15:clr>
        </p15:guide>
        <p15:guide id="2" orient="horz" pos="191">
          <p15:clr>
            <a:srgbClr val="A4A3A4"/>
          </p15:clr>
        </p15:guide>
        <p15:guide id="3" orient="horz" pos="854">
          <p15:clr>
            <a:srgbClr val="A4A3A4"/>
          </p15:clr>
        </p15:guide>
        <p15:guide id="4" orient="horz" pos="821">
          <p15:clr>
            <a:srgbClr val="A4A3A4"/>
          </p15:clr>
        </p15:guide>
        <p15:guide id="5" orient="horz" pos="3049">
          <p15:clr>
            <a:srgbClr val="A4A3A4"/>
          </p15:clr>
        </p15:guide>
        <p15:guide id="6" orient="horz" pos="3151">
          <p15:clr>
            <a:srgbClr val="A4A3A4"/>
          </p15:clr>
        </p15:guide>
        <p15:guide id="7" pos="2880">
          <p15:clr>
            <a:srgbClr val="A4A3A4"/>
          </p15:clr>
        </p15:guide>
        <p15:guide id="8" pos="476">
          <p15:clr>
            <a:srgbClr val="A4A3A4"/>
          </p15:clr>
        </p15:guide>
        <p15:guide id="9" pos="5193">
          <p15:clr>
            <a:srgbClr val="A4A3A4"/>
          </p15:clr>
        </p15:guide>
        <p15:guide id="10"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6224" autoAdjust="0"/>
  </p:normalViewPr>
  <p:slideViewPr>
    <p:cSldViewPr showGuides="1">
      <p:cViewPr varScale="1">
        <p:scale>
          <a:sx n="135" d="100"/>
          <a:sy n="135" d="100"/>
        </p:scale>
        <p:origin x="120" y="114"/>
      </p:cViewPr>
      <p:guideLst>
        <p:guide orient="horz" pos="1620"/>
        <p:guide orient="horz" pos="191"/>
        <p:guide orient="horz" pos="854"/>
        <p:guide orient="horz" pos="821"/>
        <p:guide orient="horz" pos="3049"/>
        <p:guide orient="horz" pos="3151"/>
        <p:guide pos="2880"/>
        <p:guide pos="476"/>
        <p:guide pos="5193"/>
        <p:guide pos="5465"/>
      </p:guideLst>
    </p:cSldViewPr>
  </p:slideViewPr>
  <p:outlineViewPr>
    <p:cViewPr>
      <p:scale>
        <a:sx n="33" d="100"/>
        <a:sy n="33" d="100"/>
      </p:scale>
      <p:origin x="0" y="-2562"/>
    </p:cViewPr>
  </p:outlineViewPr>
  <p:notesTextViewPr>
    <p:cViewPr>
      <p:scale>
        <a:sx n="100" d="100"/>
        <a:sy n="100" d="100"/>
      </p:scale>
      <p:origin x="0" y="0"/>
    </p:cViewPr>
  </p:notesTextViewPr>
  <p:sorterViewPr>
    <p:cViewPr>
      <p:scale>
        <a:sx n="172" d="100"/>
        <a:sy n="172" d="100"/>
      </p:scale>
      <p:origin x="0" y="-3540"/>
    </p:cViewPr>
  </p:sorterViewPr>
  <p:notesViewPr>
    <p:cSldViewPr showGuides="1">
      <p:cViewPr varScale="1">
        <p:scale>
          <a:sx n="83" d="100"/>
          <a:sy n="83" d="100"/>
        </p:scale>
        <p:origin x="3132"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ADB2658-7BE8-4FC5-8F36-ABC54AD38E15}" type="datetimeFigureOut">
              <a:rPr lang="fr-FR" smtClean="0"/>
              <a:t>06/09/2024</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23471C-61B7-441C-A48C-C1E234DDF525}" type="slidenum">
              <a:rPr lang="fr-FR" smtClean="0"/>
              <a:t>‹N°›</a:t>
            </a:fld>
            <a:endParaRPr lang="fr-FR"/>
          </a:p>
        </p:txBody>
      </p:sp>
    </p:spTree>
    <p:extLst>
      <p:ext uri="{BB962C8B-B14F-4D97-AF65-F5344CB8AC3E}">
        <p14:creationId xmlns:p14="http://schemas.microsoft.com/office/powerpoint/2010/main" val="230669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defRPr>
            </a:lvl1pPr>
          </a:lstStyle>
          <a:p>
            <a:endParaRPr lang="fr-FR" dirty="0"/>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defRPr>
            </a:lvl1pPr>
          </a:lstStyle>
          <a:p>
            <a:fld id="{D680E798-53FF-4C51-A981-953463752515}" type="datetimeFigureOut">
              <a:rPr lang="fr-FR" smtClean="0"/>
              <a:pPr/>
              <a:t>06/09/2024</a:t>
            </a:fld>
            <a:endParaRPr lang="fr-FR" dirty="0"/>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defRPr>
            </a:lvl1pPr>
          </a:lstStyle>
          <a:p>
            <a:endParaRPr lang="fr-FR" dirty="0"/>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itchFamily="34" charset="0"/>
              </a:defRPr>
            </a:lvl1pPr>
          </a:lstStyle>
          <a:p>
            <a:fld id="{1B06CD8F-B7ED-4A05-9FB1-A01CC0EF02CC}" type="slidenum">
              <a:rPr lang="fr-FR" smtClean="0"/>
              <a:pPr/>
              <a:t>‹N°›</a:t>
            </a:fld>
            <a:endParaRPr lang="fr-FR" dirty="0"/>
          </a:p>
        </p:txBody>
      </p:sp>
    </p:spTree>
    <p:extLst>
      <p:ext uri="{BB962C8B-B14F-4D97-AF65-F5344CB8AC3E}">
        <p14:creationId xmlns:p14="http://schemas.microsoft.com/office/powerpoint/2010/main" val="41166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D’après le W3C, WCAG 2.2 compte 13 lignes directrices organisées sous 4 principes.</a:t>
            </a:r>
          </a:p>
          <a:p>
            <a:r>
              <a:rPr lang="fr-FR"/>
              <a:t>Les critères de succès déterminent la conformité.</a:t>
            </a:r>
          </a:p>
          <a:p>
            <a:r>
              <a:rPr lang="fr-FR"/>
              <a:t>Sources :</a:t>
            </a:r>
            <a:br/>
            <a:r>
              <a:rPr lang="fr-FR"/>
              <a:t>- AAArdvark, WCAG in Plain English : https://aaardvarkaccessibility.com/wcag-plain-english/</a:t>
            </a:r>
            <a:br/>
            <a:r>
              <a:rPr lang="fr-FR"/>
              <a:t>- WCAG 2.2 Card Deck (Figma), Johannes Lehner, CC BY-SA 4.0 : https://www.figma.com/design/jz3JeECjm0KbH3Z2ztA2bv/WCAG-2.2-Card-Deck--Community-?node-id=191-244960&amp;t=qOThv51tj0Arkga8-0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Faire reformuler les quatre questions par les participants.</a:t>
            </a:r>
          </a:p>
          <a:p>
            <a:r>
              <a:rPr lang="fr-FR"/>
              <a:t>Insister sur le vocabulaire courant : percevoir, utiliser, comprendre, compatible.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Contenu non textuel, Contenus seulement audio et seulement vidéo (pré-enregistré), Sous-titres (pré-enregistré), Audio-description ou version de remplacement (pré-enregistré).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Sous-titres (en direct), Audio-description (pré-enregistré), Langue des signes (pré-enregistré), Audio-description étendue (pré-enregistré).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Texte sous forme d'image, Contraste (amélioré), Texte sous forme d'image (sans exception), Redistribution.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Arrière-plan sonore de faible volume ou absent, Présentation visuelle, Contraste du contenu non textuel, Espacement du texte.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Trois flashs, Animation résultant d'interactions, Parcours du focus, Fonction du lien (selon le contexte).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Contourner des blocs, Titre de page, Accès multiples, En-têtes et étiquettes.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Modalités d'entrées concurrentes, Mouvements de glissement.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Langue de la page, Langue d'un passage, Mots rares, Prononciation.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Au focus, Abréviations, Lisibilité du texte, Prévention des erreurs (toutes).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Saisie redondante, Authentification accessible (minimum), Authentification accessible (améliorée).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fr-FR"/>
              <a:t>Descriptions inspirées du WCAG 2.2 Card Deck français.</a:t>
            </a:r>
          </a:p>
          <a:p>
            <a:r>
              <a:rPr lang="fr-FR"/>
              <a:t>Critères couverts : Analyse syntaxique (obsolète et supprimé), Nom, rôle et valeur, Messages d'état.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uverture">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r>
              <a:rPr lang="fr-FR"/>
              <a:t>XX/XX/XXXX</a:t>
            </a:r>
            <a:endParaRPr lang="fr-FR" dirty="0"/>
          </a:p>
        </p:txBody>
      </p:sp>
      <p:sp>
        <p:nvSpPr>
          <p:cNvPr id="5" name="Espace réservé du pied de page 4"/>
          <p:cNvSpPr>
            <a:spLocks noGrp="1"/>
          </p:cNvSpPr>
          <p:nvPr>
            <p:ph type="ftr" sz="quarter" idx="11"/>
          </p:nvPr>
        </p:nvSpPr>
        <p:spPr bwMode="gray">
          <a:xfrm>
            <a:off x="959997" y="5226516"/>
            <a:ext cx="4319989" cy="1199997"/>
          </a:xfrm>
        </p:spPr>
        <p:txBody>
          <a:bodyPr anchor="b" anchorCtr="0"/>
          <a:lstStyle>
            <a:lvl1pPr>
              <a:defRPr sz="1150"/>
            </a:lvl1pPr>
          </a:lstStyle>
          <a:p>
            <a:r>
              <a:rPr lang="fr-FR" dirty="0"/>
              <a:t>Institut de la Gestion publique </a:t>
            </a:r>
            <a:br>
              <a:rPr lang="fr-FR" dirty="0"/>
            </a:br>
            <a:r>
              <a:rPr lang="fr-FR" dirty="0"/>
              <a:t>et du Développement économique</a:t>
            </a:r>
          </a:p>
        </p:txBody>
      </p:sp>
      <p:sp>
        <p:nvSpPr>
          <p:cNvPr id="6" name="Espace réservé du numéro de diapositive 5"/>
          <p:cNvSpPr>
            <a:spLocks noGrp="1"/>
          </p:cNvSpPr>
          <p:nvPr>
            <p:ph type="sldNum" sz="quarter" idx="12"/>
          </p:nvPr>
        </p:nvSpPr>
        <p:spPr bwMode="gray">
          <a:xfrm>
            <a:off x="0" y="6617983"/>
            <a:ext cx="239999" cy="239999"/>
          </a:xfrm>
          <a:ln>
            <a:solidFill>
              <a:schemeClr val="tx1">
                <a:alpha val="0"/>
              </a:schemeClr>
            </a:solidFill>
          </a:ln>
        </p:spPr>
        <p:txBody>
          <a:bodyPr/>
          <a:lstStyle>
            <a:lvl1pPr>
              <a:defRPr sz="100">
                <a:solidFill>
                  <a:schemeClr val="tx1">
                    <a:alpha val="0"/>
                  </a:schemeClr>
                </a:solidFill>
              </a:defRPr>
            </a:lvl1pPr>
          </a:lstStyle>
          <a:p>
            <a:fld id="{10C140CD-8AED-46FF-A9A2-77308F3F39AE}" type="slidenum">
              <a:rPr lang="fr-FR" smtClean="0"/>
              <a:pPr/>
              <a:t>‹N°›</a:t>
            </a:fld>
            <a:endParaRPr lang="fr-FR" dirty="0"/>
          </a:p>
        </p:txBody>
      </p:sp>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5488" y="320040"/>
            <a:ext cx="2560320" cy="2319695"/>
          </a:xfrm>
          <a:prstGeom prst="rect">
            <a:avLst/>
          </a:prstGeom>
        </p:spPr>
      </p:pic>
      <p:pic>
        <p:nvPicPr>
          <p:cNvPr id="9" name="Imag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75520" y="777240"/>
            <a:ext cx="1828800" cy="1828800"/>
          </a:xfrm>
          <a:prstGeom prst="rect">
            <a:avLst/>
          </a:prstGeom>
        </p:spPr>
      </p:pic>
    </p:spTree>
    <p:extLst>
      <p:ext uri="{BB962C8B-B14F-4D97-AF65-F5344CB8AC3E}">
        <p14:creationId xmlns:p14="http://schemas.microsoft.com/office/powerpoint/2010/main" val="343261095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386" userDrawn="1">
          <p15:clr>
            <a:srgbClr val="FBAE40"/>
          </p15:clr>
        </p15:guide>
        <p15:guide id="4" pos="443" userDrawn="1">
          <p15:clr>
            <a:srgbClr val="FBAE40"/>
          </p15:clr>
        </p15:guide>
        <p15:guide id="5" orient="horz" pos="303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hasCustomPrompt="1"/>
          </p:nvPr>
        </p:nvSpPr>
        <p:spPr bwMode="gray">
          <a:xfrm>
            <a:off x="0" y="0"/>
            <a:ext cx="239999" cy="239999"/>
          </a:xfrm>
          <a:ln>
            <a:solidFill>
              <a:schemeClr val="tx1">
                <a:alpha val="0"/>
              </a:schemeClr>
            </a:solidFill>
          </a:ln>
        </p:spPr>
        <p:txBody>
          <a:bodyPr/>
          <a:lstStyle>
            <a:lvl1pPr>
              <a:defRPr sz="100">
                <a:solidFill>
                  <a:schemeClr val="tx1">
                    <a:alpha val="0"/>
                  </a:schemeClr>
                </a:solidFill>
              </a:defRPr>
            </a:lvl1pPr>
          </a:lstStyle>
          <a:p>
            <a:r>
              <a:rPr lang="fr-FR" dirty="0"/>
              <a:t>Titre</a:t>
            </a:r>
          </a:p>
        </p:txBody>
      </p:sp>
      <p:sp>
        <p:nvSpPr>
          <p:cNvPr id="2" name="Espace réservé de la date 1"/>
          <p:cNvSpPr>
            <a:spLocks noGrp="1"/>
          </p:cNvSpPr>
          <p:nvPr>
            <p:ph type="dt" sz="half" idx="10"/>
          </p:nvPr>
        </p:nvSpPr>
        <p:spPr bwMode="gray"/>
        <p:txBody>
          <a:bodyPr/>
          <a:lstStyle/>
          <a:p>
            <a:pPr algn="r"/>
            <a:r>
              <a:rPr lang="fr-FR" cap="all"/>
              <a:t>XX/XX/XXXX</a:t>
            </a:r>
            <a:endParaRPr lang="fr-FR" cap="all" dirty="0"/>
          </a:p>
        </p:txBody>
      </p:sp>
      <p:sp>
        <p:nvSpPr>
          <p:cNvPr id="8" name="Espace réservé du numéro de diapositive 7"/>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1" name="Espace réservé du texte 10"/>
          <p:cNvSpPr>
            <a:spLocks noGrp="1"/>
          </p:cNvSpPr>
          <p:nvPr>
            <p:ph type="body" sz="quarter" idx="13" hasCustomPrompt="1"/>
          </p:nvPr>
        </p:nvSpPr>
        <p:spPr bwMode="gray">
          <a:xfrm>
            <a:off x="479998" y="3128053"/>
            <a:ext cx="11231971" cy="2769593"/>
          </a:xfrm>
        </p:spPr>
        <p:txBody>
          <a:bodyPr/>
          <a:lstStyle>
            <a:lvl1pPr>
              <a:lnSpc>
                <a:spcPct val="90000"/>
              </a:lnSpc>
              <a:spcAft>
                <a:spcPts val="0"/>
              </a:spcAft>
              <a:defRPr sz="3250" b="1" cap="all" baseline="0"/>
            </a:lvl1pPr>
            <a:lvl2pPr marL="0" indent="0">
              <a:spcBef>
                <a:spcPts val="500"/>
              </a:spcBef>
              <a:spcAft>
                <a:spcPts val="0"/>
              </a:spcAft>
              <a:buNone/>
              <a:defRPr sz="1850"/>
            </a:lvl2pPr>
          </a:lstStyle>
          <a:p>
            <a:pPr lvl="0"/>
            <a:r>
              <a:rPr lang="fr-FR" dirty="0"/>
              <a:t>Titre</a:t>
            </a:r>
          </a:p>
          <a:p>
            <a:pPr lvl="1"/>
            <a:r>
              <a:rPr lang="fr-FR" dirty="0"/>
              <a:t>Sous-titre</a:t>
            </a:r>
          </a:p>
        </p:txBody>
      </p:sp>
      <p:cxnSp>
        <p:nvCxnSpPr>
          <p:cNvPr id="12" name="Connecteur droit 11"/>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2227" y="212775"/>
            <a:ext cx="2143038" cy="1941631"/>
          </a:xfrm>
          <a:prstGeom prst="rect">
            <a:avLst/>
          </a:prstGeom>
        </p:spPr>
      </p:pic>
      <p:pic>
        <p:nvPicPr>
          <p:cNvPr id="10" name="Imag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04467" y="465665"/>
            <a:ext cx="1464915" cy="1464915"/>
          </a:xfrm>
          <a:prstGeom prst="rect">
            <a:avLst/>
          </a:prstGeom>
        </p:spPr>
      </p:pic>
      <p:sp>
        <p:nvSpPr>
          <p:cNvPr id="13" name="Espace réservé du pied de page 4">
            <a:extLst>
              <a:ext uri="{FF2B5EF4-FFF2-40B4-BE49-F238E27FC236}">
                <a16:creationId xmlns:a16="http://schemas.microsoft.com/office/drawing/2014/main" id="{1877CCD8-58D1-4121-82F0-FFD6288F90E5}"/>
              </a:ext>
            </a:extLst>
          </p:cNvPr>
          <p:cNvSpPr>
            <a:spLocks noGrp="1"/>
          </p:cNvSpPr>
          <p:nvPr>
            <p:ph type="ftr" sz="quarter" idx="11"/>
          </p:nvPr>
        </p:nvSpPr>
        <p:spPr>
          <a:xfrm>
            <a:off x="479998" y="6377984"/>
            <a:ext cx="7871980" cy="479998"/>
          </a:xfrm>
        </p:spPr>
        <p:txBody>
          <a:bodyPr/>
          <a:lstStyle/>
          <a:p>
            <a:r>
              <a:rPr lang="fr-FR" dirty="0"/>
              <a:t>Institut de la Gestion publique et du Développement économique</a:t>
            </a:r>
          </a:p>
        </p:txBody>
      </p:sp>
    </p:spTree>
    <p:extLst>
      <p:ext uri="{BB962C8B-B14F-4D97-AF65-F5344CB8AC3E}">
        <p14:creationId xmlns:p14="http://schemas.microsoft.com/office/powerpoint/2010/main" val="3483904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8" name="Espace réservé du texte 7"/>
          <p:cNvSpPr>
            <a:spLocks noGrp="1"/>
          </p:cNvSpPr>
          <p:nvPr>
            <p:ph type="body" sz="quarter" idx="13" hasCustomPrompt="1"/>
          </p:nvPr>
        </p:nvSpPr>
        <p:spPr bwMode="gray">
          <a:xfrm>
            <a:off x="479996" y="2522617"/>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9" name="Espace réservé du texte 7"/>
          <p:cNvSpPr>
            <a:spLocks noGrp="1"/>
          </p:cNvSpPr>
          <p:nvPr>
            <p:ph type="body" sz="quarter" idx="14" hasCustomPrompt="1"/>
          </p:nvPr>
        </p:nvSpPr>
        <p:spPr bwMode="gray">
          <a:xfrm>
            <a:off x="4415988"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
        <p:nvSpPr>
          <p:cNvPr id="10" name="Espace réservé du texte 7"/>
          <p:cNvSpPr>
            <a:spLocks noGrp="1"/>
          </p:cNvSpPr>
          <p:nvPr>
            <p:ph type="body" sz="quarter" idx="15" hasCustomPrompt="1"/>
          </p:nvPr>
        </p:nvSpPr>
        <p:spPr bwMode="gray">
          <a:xfrm>
            <a:off x="8351977" y="2524793"/>
            <a:ext cx="3359991" cy="3374391"/>
          </a:xfrm>
        </p:spPr>
        <p:txBody>
          <a:bodyPr/>
          <a:lstStyle>
            <a:lvl1pPr marL="144000" indent="-144000">
              <a:spcBef>
                <a:spcPts val="400"/>
              </a:spcBef>
              <a:spcAft>
                <a:spcPts val="800"/>
              </a:spcAft>
              <a:buFont typeface="+mj-lt"/>
              <a:buAutoNum type="arabicPeriod"/>
              <a:defRPr b="1"/>
            </a:lvl1pPr>
            <a:lvl2pPr marL="324000" indent="-144000">
              <a:spcBef>
                <a:spcPts val="600"/>
              </a:spcBef>
              <a:spcAft>
                <a:spcPts val="800"/>
              </a:spcAft>
              <a:buFont typeface="+mj-lt"/>
              <a:buAutoNum type="alphaLcPeriod"/>
              <a:defRPr/>
            </a:lvl2pPr>
          </a:lstStyle>
          <a:p>
            <a:pPr lvl="0"/>
            <a:r>
              <a:rPr lang="fr-FR" dirty="0"/>
              <a:t>Titre de la partie</a:t>
            </a:r>
          </a:p>
          <a:p>
            <a:pPr lvl="1"/>
            <a:r>
              <a:rPr lang="fr-FR" dirty="0"/>
              <a:t>Deuxième niveau</a:t>
            </a:r>
          </a:p>
        </p:txBody>
      </p:sp>
    </p:spTree>
    <p:extLst>
      <p:ext uri="{BB962C8B-B14F-4D97-AF65-F5344CB8AC3E}">
        <p14:creationId xmlns:p14="http://schemas.microsoft.com/office/powerpoint/2010/main" val="1641030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itre">
    <p:spTree>
      <p:nvGrpSpPr>
        <p:cNvPr id="1" name=""/>
        <p:cNvGrpSpPr/>
        <p:nvPr/>
      </p:nvGrpSpPr>
      <p:grpSpPr>
        <a:xfrm>
          <a:off x="0" y="0"/>
          <a:ext cx="0" cy="0"/>
          <a:chOff x="0" y="0"/>
          <a:chExt cx="0" cy="0"/>
        </a:xfrm>
      </p:grpSpPr>
      <p:sp>
        <p:nvSpPr>
          <p:cNvPr id="8" name="Espace réservé pour une image  7"/>
          <p:cNvSpPr>
            <a:spLocks noGrp="1"/>
          </p:cNvSpPr>
          <p:nvPr>
            <p:ph type="pic" sz="quarter" idx="13" hasCustomPrompt="1"/>
          </p:nvPr>
        </p:nvSpPr>
        <p:spPr bwMode="gray">
          <a:xfrm>
            <a:off x="0" y="983997"/>
            <a:ext cx="12191969" cy="5875185"/>
          </a:xfrm>
          <a:solidFill>
            <a:schemeClr val="bg1">
              <a:lumMod val="85000"/>
            </a:schemeClr>
          </a:solidFill>
        </p:spPr>
        <p:txBody>
          <a:bodyPr tIns="1080000" anchor="ctr" anchorCtr="0"/>
          <a:lstStyle>
            <a:lvl1pPr algn="ctr">
              <a:defRPr cap="all" baseline="0"/>
            </a:lvl1pPr>
          </a:lstStyle>
          <a:p>
            <a:r>
              <a:rPr lang="fr-FR" dirty="0"/>
              <a:t>Sélectionner l’icône pour insérer une image, </a:t>
            </a:r>
            <a:br>
              <a:rPr lang="fr-FR" dirty="0"/>
            </a:br>
            <a:r>
              <a:rPr lang="fr-FR" dirty="0"/>
              <a:t>puis disposer l’image en arrière plan </a:t>
            </a:r>
            <a:br>
              <a:rPr lang="fr-FR" dirty="0"/>
            </a:br>
            <a:r>
              <a:rPr lang="fr-FR" dirty="0"/>
              <a:t>(Sélectionner l’image avec le bouton droit de la souris / </a:t>
            </a:r>
            <a:br>
              <a:rPr lang="fr-FR" dirty="0"/>
            </a:br>
            <a:r>
              <a:rPr lang="fr-FR" dirty="0"/>
              <a:t>Mettre à l’arrière plan)</a:t>
            </a:r>
          </a:p>
        </p:txBody>
      </p:sp>
      <p:sp>
        <p:nvSpPr>
          <p:cNvPr id="2" name="Titre 1"/>
          <p:cNvSpPr>
            <a:spLocks noGrp="1"/>
          </p:cNvSpPr>
          <p:nvPr>
            <p:ph type="title" hasCustomPrompt="1"/>
          </p:nvPr>
        </p:nvSpPr>
        <p:spPr bwMode="gray">
          <a:xfrm>
            <a:off x="479997" y="983997"/>
            <a:ext cx="11231971" cy="5395186"/>
          </a:xfrm>
          <a:custGeom>
            <a:avLst/>
            <a:gdLst>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 name="connsiteX2" fmla="*/ 8424000 w 8424000"/>
              <a:gd name="connsiteY2" fmla="*/ 0 h 4046400"/>
              <a:gd name="connsiteX0" fmla="*/ 8424000 w 8424000"/>
              <a:gd name="connsiteY0" fmla="*/ 4046400 h 4046400"/>
              <a:gd name="connsiteX1" fmla="*/ 0 w 8424000"/>
              <a:gd name="connsiteY1" fmla="*/ 4046360 h 4046400"/>
              <a:gd name="connsiteX2" fmla="*/ 0 w 8424000"/>
              <a:gd name="connsiteY2" fmla="*/ 40 h 4046400"/>
              <a:gd name="connsiteX3" fmla="*/ 8424000 w 8424000"/>
              <a:gd name="connsiteY3" fmla="*/ 0 h 4046400"/>
              <a:gd name="connsiteX4" fmla="*/ 8424000 w 8424000"/>
              <a:gd name="connsiteY4" fmla="*/ 4046400 h 4046400"/>
              <a:gd name="connsiteX0" fmla="*/ 8424000 w 8424000"/>
              <a:gd name="connsiteY0" fmla="*/ 4046400 h 4046400"/>
              <a:gd name="connsiteX1" fmla="*/ 0 w 8424000"/>
              <a:gd name="connsiteY1" fmla="*/ 4046360 h 4046400"/>
            </a:gdLst>
            <a:ahLst/>
            <a:cxnLst>
              <a:cxn ang="0">
                <a:pos x="connsiteX0" y="connsiteY0"/>
              </a:cxn>
              <a:cxn ang="0">
                <a:pos x="connsiteX1" y="connsiteY1"/>
              </a:cxn>
            </a:cxnLst>
            <a:rect l="l" t="t" r="r" b="b"/>
            <a:pathLst>
              <a:path w="8424000" h="4046400" stroke="0" extrusionOk="0">
                <a:moveTo>
                  <a:pt x="8424000" y="4046400"/>
                </a:moveTo>
                <a:lnTo>
                  <a:pt x="0" y="4046360"/>
                </a:lnTo>
                <a:lnTo>
                  <a:pt x="0" y="40"/>
                </a:lnTo>
                <a:cubicBezTo>
                  <a:pt x="0" y="18"/>
                  <a:pt x="3771553" y="0"/>
                  <a:pt x="8424000" y="0"/>
                </a:cubicBezTo>
                <a:lnTo>
                  <a:pt x="8424000" y="4046400"/>
                </a:lnTo>
                <a:close/>
              </a:path>
              <a:path w="8424000" h="4046400" fill="none">
                <a:moveTo>
                  <a:pt x="8424000" y="4046400"/>
                </a:moveTo>
                <a:lnTo>
                  <a:pt x="0" y="4046360"/>
                </a:lnTo>
              </a:path>
            </a:pathLst>
          </a:custGeom>
          <a:ln w="10160">
            <a:solidFill>
              <a:schemeClr val="tx1"/>
            </a:solidFill>
          </a:ln>
        </p:spPr>
        <p:txBody>
          <a:bodyPr lIns="0" bIns="360000" anchor="ctr" anchorCtr="0"/>
          <a:lstStyle>
            <a:lvl1pPr marL="396000" indent="-396000">
              <a:buFont typeface="+mj-lt"/>
              <a:buAutoNum type="arabicPeriod"/>
              <a:defRPr sz="3250"/>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Tree>
    <p:extLst>
      <p:ext uri="{BB962C8B-B14F-4D97-AF65-F5344CB8AC3E}">
        <p14:creationId xmlns:p14="http://schemas.microsoft.com/office/powerpoint/2010/main" val="1908596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textes 3 colonne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a:xfrm>
            <a:off x="479997" y="1199997"/>
            <a:ext cx="11231971" cy="959997"/>
          </a:xfrm>
        </p:spPr>
        <p:txBody>
          <a:bodyPr/>
          <a:lstStyle>
            <a:lvl1pPr>
              <a:defRPr/>
            </a:lvl1pPr>
          </a:lstStyle>
          <a:p>
            <a:r>
              <a:rPr lang="fr-FR" dirty="0"/>
              <a:t>Titre</a:t>
            </a:r>
          </a:p>
        </p:txBody>
      </p:sp>
      <p:sp>
        <p:nvSpPr>
          <p:cNvPr id="3" name="Espace réservé de la date 2"/>
          <p:cNvSpPr>
            <a:spLocks noGrp="1"/>
          </p:cNvSpPr>
          <p:nvPr>
            <p:ph type="dt" sz="half" idx="10"/>
          </p:nvPr>
        </p:nvSpPr>
        <p:spPr bwMode="gray"/>
        <p:txBody>
          <a:bodyPr/>
          <a:lstStyle/>
          <a:p>
            <a:pPr algn="r"/>
            <a:r>
              <a:rPr lang="fr-FR" cap="all"/>
              <a:t>XX/XX/XXXX</a:t>
            </a:r>
            <a:endParaRPr lang="fr-FR" cap="all" dirty="0"/>
          </a:p>
        </p:txBody>
      </p:sp>
      <p:sp>
        <p:nvSpPr>
          <p:cNvPr id="4" name="Espace réservé du pied de page 3"/>
          <p:cNvSpPr>
            <a:spLocks noGrp="1"/>
          </p:cNvSpPr>
          <p:nvPr>
            <p:ph type="ftr" sz="quarter" idx="11"/>
          </p:nvPr>
        </p:nvSpPr>
        <p:spPr bwMode="gray"/>
        <p:txBody>
          <a:bodyPr/>
          <a:lstStyle/>
          <a:p>
            <a:r>
              <a:rPr lang="fr-FR" dirty="0"/>
              <a:t>Institut de la Gestion publique et du Développement économique / titre du diaporama</a:t>
            </a:r>
          </a:p>
        </p:txBody>
      </p:sp>
      <p:sp>
        <p:nvSpPr>
          <p:cNvPr id="5" name="Espace réservé du numéro de diapositive 4"/>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10"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
        <p:nvSpPr>
          <p:cNvPr id="12" name="Espace réservé du texte 11"/>
          <p:cNvSpPr>
            <a:spLocks noGrp="1"/>
          </p:cNvSpPr>
          <p:nvPr>
            <p:ph type="body" sz="quarter" idx="14" hasCustomPrompt="1"/>
          </p:nvPr>
        </p:nvSpPr>
        <p:spPr bwMode="gray">
          <a:xfrm>
            <a:off x="479997"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3" name="Espace réservé du texte 11"/>
          <p:cNvSpPr>
            <a:spLocks noGrp="1"/>
          </p:cNvSpPr>
          <p:nvPr>
            <p:ph type="body" sz="quarter" idx="15" hasCustomPrompt="1"/>
          </p:nvPr>
        </p:nvSpPr>
        <p:spPr bwMode="gray">
          <a:xfrm>
            <a:off x="4415988"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4" name="Espace réservé du texte 11"/>
          <p:cNvSpPr>
            <a:spLocks noGrp="1"/>
          </p:cNvSpPr>
          <p:nvPr>
            <p:ph type="body" sz="quarter" idx="16" hasCustomPrompt="1"/>
          </p:nvPr>
        </p:nvSpPr>
        <p:spPr bwMode="gray">
          <a:xfrm>
            <a:off x="8351979" y="2447993"/>
            <a:ext cx="3359991" cy="3431991"/>
          </a:xfrm>
        </p:spPr>
        <p:txBody>
          <a:bodyPr/>
          <a:lstStyle>
            <a:lvl1pPr>
              <a:defRPr/>
            </a:lvl1pPr>
            <a:lvl2pPr>
              <a:defRPr/>
            </a:lvl2pPr>
            <a:lvl3pPr>
              <a:defRPr baseline="0"/>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Tree>
    <p:extLst>
      <p:ext uri="{BB962C8B-B14F-4D97-AF65-F5344CB8AC3E}">
        <p14:creationId xmlns:p14="http://schemas.microsoft.com/office/powerpoint/2010/main" val="384045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itre 3"/>
          <p:cNvSpPr>
            <a:spLocks noGrp="1"/>
          </p:cNvSpPr>
          <p:nvPr>
            <p:ph type="title" hasCustomPrompt="1"/>
          </p:nvPr>
        </p:nvSpPr>
        <p:spPr bwMode="gray">
          <a:xfrm>
            <a:off x="479997" y="1199997"/>
            <a:ext cx="11231971" cy="959997"/>
          </a:xfrm>
        </p:spPr>
        <p:txBody>
          <a:bodyPr/>
          <a:lstStyle/>
          <a:p>
            <a:r>
              <a:rPr lang="fr-FR" noProof="0" dirty="0"/>
              <a:t>Titre</a:t>
            </a:r>
            <a:endParaRPr lang="fr-FR" dirty="0"/>
          </a:p>
        </p:txBody>
      </p:sp>
      <p:sp>
        <p:nvSpPr>
          <p:cNvPr id="5" name="Espace réservé de la date 4"/>
          <p:cNvSpPr>
            <a:spLocks noGrp="1"/>
          </p:cNvSpPr>
          <p:nvPr>
            <p:ph type="dt" sz="half" idx="10"/>
          </p:nvPr>
        </p:nvSpPr>
        <p:spPr bwMode="gray"/>
        <p:txBody>
          <a:bodyPr/>
          <a:lstStyle/>
          <a:p>
            <a:pPr algn="r"/>
            <a:r>
              <a:rPr lang="fr-FR" cap="all"/>
              <a:t>XX/XX/XXXX</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a:lstStyle/>
          <a:p>
            <a:r>
              <a:rPr lang="fr-FR" dirty="0"/>
              <a:t>Institut de la Gestion publique et du Développement économique / titre du diaporama</a:t>
            </a:r>
          </a:p>
        </p:txBody>
      </p:sp>
      <p:sp>
        <p:nvSpPr>
          <p:cNvPr id="7" name="Espace réservé du numéro de diapositive 6"/>
          <p:cNvSpPr>
            <a:spLocks noGrp="1"/>
          </p:cNvSpPr>
          <p:nvPr>
            <p:ph type="sldNum" sz="quarter" idx="12"/>
          </p:nvPr>
        </p:nvSpPr>
        <p:spPr bwMode="gray"/>
        <p:txBody>
          <a:bodyPr/>
          <a:lstStyle/>
          <a:p>
            <a:fld id="{733122C9-A0B9-462F-8757-0847AD287B63}" type="slidenum">
              <a:rPr lang="fr-FR" smtClean="0"/>
              <a:pPr/>
              <a:t>‹N°›</a:t>
            </a:fld>
            <a:endParaRPr lang="fr-FR" dirty="0"/>
          </a:p>
        </p:txBody>
      </p:sp>
      <p:sp>
        <p:nvSpPr>
          <p:cNvPr id="9" name="Espace réservé du contenu 8"/>
          <p:cNvSpPr>
            <a:spLocks noGrp="1"/>
          </p:cNvSpPr>
          <p:nvPr>
            <p:ph sz="quarter" idx="14" hasCustomPrompt="1"/>
          </p:nvPr>
        </p:nvSpPr>
        <p:spPr bwMode="gray">
          <a:xfrm>
            <a:off x="479996" y="2447993"/>
            <a:ext cx="11231971" cy="3431991"/>
          </a:xfrm>
        </p:spPr>
        <p:txBody>
          <a:bodyPr/>
          <a:lstStyle>
            <a:lvl1pPr>
              <a:defRPr/>
            </a:lvl1pPr>
            <a:lvl2pPr>
              <a:defRPr/>
            </a:lvl2pPr>
            <a:lvl3pPr>
              <a:defRPr/>
            </a:lvl3pPr>
            <a:lvl4pPr>
              <a:defRPr/>
            </a:lvl4pPr>
            <a:lvl5pPr>
              <a:defRPr/>
            </a:lvl5pPr>
          </a:lstStyle>
          <a:p>
            <a:pPr lvl="0"/>
            <a:r>
              <a:rPr lang="fr-FR" dirty="0"/>
              <a:t>Texte de niveau 1</a:t>
            </a:r>
          </a:p>
          <a:p>
            <a:pPr lvl="1"/>
            <a:r>
              <a:rPr lang="fr-FR" dirty="0"/>
              <a:t>Texte de niveau 2</a:t>
            </a:r>
          </a:p>
          <a:p>
            <a:pPr lvl="2"/>
            <a:r>
              <a:rPr lang="fr-FR" dirty="0"/>
              <a:t>Texte de niveau 3</a:t>
            </a:r>
          </a:p>
          <a:p>
            <a:pPr lvl="3"/>
            <a:r>
              <a:rPr lang="fr-FR" dirty="0"/>
              <a:t>Texte de niveau 4</a:t>
            </a:r>
          </a:p>
          <a:p>
            <a:pPr lvl="4"/>
            <a:r>
              <a:rPr lang="fr-FR" dirty="0"/>
              <a:t>Texte de niveau 5</a:t>
            </a:r>
          </a:p>
        </p:txBody>
      </p:sp>
      <p:sp>
        <p:nvSpPr>
          <p:cNvPr id="15" name="Espace réservé du texte 9"/>
          <p:cNvSpPr>
            <a:spLocks noGrp="1"/>
          </p:cNvSpPr>
          <p:nvPr>
            <p:ph type="body" sz="quarter" idx="13" hasCustomPrompt="1"/>
          </p:nvPr>
        </p:nvSpPr>
        <p:spPr bwMode="gray">
          <a:xfrm>
            <a:off x="4415988" y="239999"/>
            <a:ext cx="7295981" cy="479998"/>
          </a:xfrm>
        </p:spPr>
        <p:txBody>
          <a:bodyPr/>
          <a:lstStyle>
            <a:lvl1pPr marL="108000" indent="-108000" algn="r">
              <a:spcAft>
                <a:spcPts val="0"/>
              </a:spcAft>
              <a:buFont typeface="+mj-lt"/>
              <a:buAutoNum type="arabicPeriod"/>
              <a:defRPr sz="750" b="1"/>
            </a:lvl1pPr>
            <a:lvl2pPr marL="108000" indent="-108000" algn="r">
              <a:spcBef>
                <a:spcPts val="0"/>
              </a:spcBef>
              <a:spcAft>
                <a:spcPts val="0"/>
              </a:spcAft>
              <a:buFont typeface="+mj-lt"/>
              <a:buAutoNum type="alphaLcPeriod"/>
              <a:defRPr sz="750"/>
            </a:lvl2pPr>
          </a:lstStyle>
          <a:p>
            <a:pPr lvl="0"/>
            <a:r>
              <a:rPr lang="fr-FR" dirty="0"/>
              <a:t>Titre</a:t>
            </a:r>
          </a:p>
          <a:p>
            <a:pPr lvl="1"/>
            <a:r>
              <a:rPr lang="fr-FR" dirty="0"/>
              <a:t>Sous-titre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g"/><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bwMode="gray">
          <a:xfrm>
            <a:off x="479997" y="1199997"/>
            <a:ext cx="11231971" cy="959997"/>
          </a:xfrm>
          <a:prstGeom prst="rect">
            <a:avLst/>
          </a:prstGeom>
        </p:spPr>
        <p:txBody>
          <a:bodyPr vert="horz" lIns="0" tIns="0" rIns="0" bIns="0" rtlCol="0" anchor="t" anchorCtr="0">
            <a:noAutofit/>
          </a:bodyPr>
          <a:lstStyle/>
          <a:p>
            <a:r>
              <a:rPr lang="fr-FR" noProof="0" dirty="0"/>
              <a:t>Titre</a:t>
            </a:r>
          </a:p>
        </p:txBody>
      </p:sp>
      <p:sp>
        <p:nvSpPr>
          <p:cNvPr id="3" name="Espace réservé du texte 2"/>
          <p:cNvSpPr>
            <a:spLocks noGrp="1"/>
          </p:cNvSpPr>
          <p:nvPr>
            <p:ph type="body" idx="1"/>
          </p:nvPr>
        </p:nvSpPr>
        <p:spPr bwMode="gray">
          <a:xfrm>
            <a:off x="479997" y="2447993"/>
            <a:ext cx="11231971" cy="3431991"/>
          </a:xfrm>
          <a:prstGeom prst="rect">
            <a:avLst/>
          </a:prstGeom>
        </p:spPr>
        <p:txBody>
          <a:bodyPr vert="horz" lIns="0" tIns="0" rIns="0" bIns="0" rtlCol="0" anchor="t" anchorCtr="0">
            <a:noAutofit/>
          </a:bodyPr>
          <a:lstStyle/>
          <a:p>
            <a:pPr lvl="0"/>
            <a:r>
              <a:rPr lang="fr-FR" noProof="0" dirty="0"/>
              <a:t>Texte de niveau 1</a:t>
            </a:r>
          </a:p>
          <a:p>
            <a:pPr lvl="1"/>
            <a:r>
              <a:rPr lang="fr-FR" noProof="0" dirty="0"/>
              <a:t>Texte de niveau 2</a:t>
            </a:r>
          </a:p>
          <a:p>
            <a:pPr lvl="2"/>
            <a:r>
              <a:rPr lang="fr-FR" noProof="0" dirty="0"/>
              <a:t>Texte de niveau 3</a:t>
            </a:r>
          </a:p>
          <a:p>
            <a:pPr lvl="3"/>
            <a:r>
              <a:rPr lang="fr-FR" noProof="0" dirty="0"/>
              <a:t>Texte de niveau 4</a:t>
            </a:r>
          </a:p>
          <a:p>
            <a:pPr lvl="4"/>
            <a:r>
              <a:rPr lang="fr-FR" noProof="0" dirty="0"/>
              <a:t>Texte de niveau 5</a:t>
            </a:r>
          </a:p>
        </p:txBody>
      </p:sp>
      <p:sp>
        <p:nvSpPr>
          <p:cNvPr id="4" name="Espace réservé de la date 3"/>
          <p:cNvSpPr>
            <a:spLocks noGrp="1"/>
          </p:cNvSpPr>
          <p:nvPr>
            <p:ph type="dt" sz="half" idx="2"/>
          </p:nvPr>
        </p:nvSpPr>
        <p:spPr bwMode="gray">
          <a:xfrm>
            <a:off x="10151974" y="6377984"/>
            <a:ext cx="1559996" cy="479998"/>
          </a:xfrm>
          <a:prstGeom prst="rect">
            <a:avLst/>
          </a:prstGeom>
        </p:spPr>
        <p:txBody>
          <a:bodyPr vert="horz" lIns="0" tIns="0" rIns="0" bIns="0" rtlCol="0" anchor="ctr" anchorCtr="0">
            <a:noAutofit/>
          </a:bodyPr>
          <a:lstStyle>
            <a:lvl1pPr algn="ctr">
              <a:defRPr sz="750" b="1">
                <a:solidFill>
                  <a:schemeClr val="tx1"/>
                </a:solidFill>
              </a:defRPr>
            </a:lvl1pPr>
          </a:lstStyle>
          <a:p>
            <a:pPr algn="r"/>
            <a:r>
              <a:rPr lang="fr-FR" cap="all"/>
              <a:t>XX/XX/XXXX</a:t>
            </a:r>
            <a:endParaRPr lang="fr-FR" cap="all" dirty="0"/>
          </a:p>
        </p:txBody>
      </p:sp>
      <p:sp>
        <p:nvSpPr>
          <p:cNvPr id="5" name="Espace réservé du pied de page 4"/>
          <p:cNvSpPr>
            <a:spLocks noGrp="1"/>
          </p:cNvSpPr>
          <p:nvPr>
            <p:ph type="ftr" sz="quarter" idx="3"/>
          </p:nvPr>
        </p:nvSpPr>
        <p:spPr bwMode="gray">
          <a:xfrm>
            <a:off x="479998" y="6377984"/>
            <a:ext cx="7871980" cy="479998"/>
          </a:xfrm>
          <a:prstGeom prst="rect">
            <a:avLst/>
          </a:prstGeom>
        </p:spPr>
        <p:txBody>
          <a:bodyPr vert="horz" lIns="0" tIns="0" rIns="0" bIns="0" rtlCol="0" anchor="ctr" anchorCtr="0">
            <a:noAutofit/>
          </a:bodyPr>
          <a:lstStyle>
            <a:lvl1pPr algn="l">
              <a:defRPr sz="750" b="1">
                <a:solidFill>
                  <a:schemeClr val="tx1"/>
                </a:solidFill>
              </a:defRPr>
            </a:lvl1pPr>
          </a:lstStyle>
          <a:p>
            <a:r>
              <a:rPr lang="fr-FR" dirty="0"/>
              <a:t>Institut de la Gestion publique et du Développement économique / titre du diaporama</a:t>
            </a:r>
          </a:p>
        </p:txBody>
      </p:sp>
      <p:sp>
        <p:nvSpPr>
          <p:cNvPr id="6" name="Espace réservé du numéro de diapositive 5"/>
          <p:cNvSpPr>
            <a:spLocks noGrp="1"/>
          </p:cNvSpPr>
          <p:nvPr>
            <p:ph type="sldNum" sz="quarter" idx="4"/>
          </p:nvPr>
        </p:nvSpPr>
        <p:spPr bwMode="gray">
          <a:xfrm>
            <a:off x="8351979" y="6377984"/>
            <a:ext cx="1799995" cy="479998"/>
          </a:xfrm>
          <a:prstGeom prst="rect">
            <a:avLst/>
          </a:prstGeom>
        </p:spPr>
        <p:txBody>
          <a:bodyPr vert="horz" lIns="0" tIns="0" rIns="0" bIns="0" rtlCol="0" anchor="ctr" anchorCtr="0">
            <a:noAutofit/>
          </a:bodyPr>
          <a:lstStyle>
            <a:lvl1pPr algn="r">
              <a:defRPr sz="750" b="1">
                <a:solidFill>
                  <a:schemeClr val="tx1"/>
                </a:solidFill>
              </a:defRPr>
            </a:lvl1pPr>
          </a:lstStyle>
          <a:p>
            <a:fld id="{733122C9-A0B9-462F-8757-0847AD287B63}" type="slidenum">
              <a:rPr lang="fr-FR" smtClean="0"/>
              <a:pPr/>
              <a:t>‹N°›</a:t>
            </a:fld>
            <a:endParaRPr lang="fr-FR" dirty="0"/>
          </a:p>
        </p:txBody>
      </p:sp>
      <p:cxnSp>
        <p:nvCxnSpPr>
          <p:cNvPr id="10" name="Connecteur droit 9"/>
          <p:cNvCxnSpPr/>
          <p:nvPr userDrawn="1"/>
        </p:nvCxnSpPr>
        <p:spPr bwMode="gray">
          <a:xfrm>
            <a:off x="479998" y="6379184"/>
            <a:ext cx="11231971"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Imag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85976" y="147038"/>
            <a:ext cx="737074" cy="667800"/>
          </a:xfrm>
          <a:prstGeom prst="rect">
            <a:avLst/>
          </a:prstGeom>
        </p:spPr>
      </p:pic>
      <p:pic>
        <p:nvPicPr>
          <p:cNvPr id="11" name="Image 10"/>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961" y="243271"/>
            <a:ext cx="477928" cy="477928"/>
          </a:xfrm>
          <a:prstGeom prst="rect">
            <a:avLst/>
          </a:prstGeom>
        </p:spPr>
      </p:pic>
    </p:spTree>
  </p:cSld>
  <p:clrMap bg1="lt1" tx1="dk1" bg2="lt2" tx2="dk2" accent1="accent1" accent2="accent2" accent3="accent3" accent4="accent4" accent5="accent5" accent6="accent6" hlink="hlink" folHlink="folHlink"/>
  <p:sldLayoutIdLst>
    <p:sldLayoutId id="2147483808" r:id="rId1"/>
    <p:sldLayoutId id="2147483812" r:id="rId2"/>
    <p:sldLayoutId id="2147483810" r:id="rId3"/>
    <p:sldLayoutId id="2147483811" r:id="rId4"/>
    <p:sldLayoutId id="2147483809" r:id="rId5"/>
    <p:sldLayoutId id="2147483798" r:id="rId6"/>
  </p:sldLayoutIdLst>
  <p:hf hdr="0"/>
  <p:txStyles>
    <p:titleStyle>
      <a:lvl1pPr algn="l" defTabSz="914400" rtl="0" eaLnBrk="1" latinLnBrk="0" hangingPunct="1">
        <a:lnSpc>
          <a:spcPct val="90000"/>
        </a:lnSpc>
        <a:spcBef>
          <a:spcPct val="0"/>
        </a:spcBef>
        <a:buNone/>
        <a:defRPr sz="255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500"/>
        </a:spcAft>
        <a:buFont typeface="Arial" pitchFamily="34" charset="0"/>
        <a:buNone/>
        <a:defRPr sz="1050" b="0" kern="1200">
          <a:solidFill>
            <a:schemeClr val="tx1"/>
          </a:solidFill>
          <a:latin typeface="+mn-lt"/>
          <a:ea typeface="+mn-ea"/>
          <a:cs typeface="+mn-cs"/>
        </a:defRPr>
      </a:lvl1pPr>
      <a:lvl2pPr marL="252000" indent="-72000" algn="l" defTabSz="914400" rtl="0" eaLnBrk="1" latinLnBrk="0" hangingPunct="1">
        <a:lnSpc>
          <a:spcPct val="100000"/>
        </a:lnSpc>
        <a:spcBef>
          <a:spcPts val="600"/>
        </a:spcBef>
        <a:spcAft>
          <a:spcPts val="600"/>
        </a:spcAft>
        <a:buFont typeface="Arial" pitchFamily="34" charset="0"/>
        <a:buChar char="•"/>
        <a:defRPr sz="950" kern="1200">
          <a:solidFill>
            <a:schemeClr val="tx1"/>
          </a:solidFill>
          <a:latin typeface="+mn-lt"/>
          <a:ea typeface="+mn-ea"/>
          <a:cs typeface="+mn-cs"/>
        </a:defRPr>
      </a:lvl2pPr>
      <a:lvl3pPr marL="432000" indent="-72000" algn="l" defTabSz="914400" rtl="0" eaLnBrk="1" latinLnBrk="0" hangingPunct="1">
        <a:lnSpc>
          <a:spcPct val="100000"/>
        </a:lnSpc>
        <a:spcBef>
          <a:spcPts val="100"/>
        </a:spcBef>
        <a:spcAft>
          <a:spcPts val="100"/>
        </a:spcAft>
        <a:buSzPct val="100000"/>
        <a:buFont typeface="Arial" pitchFamily="34" charset="0"/>
        <a:buChar char="•"/>
        <a:defRPr sz="850" kern="1200">
          <a:solidFill>
            <a:schemeClr val="tx1"/>
          </a:solidFill>
          <a:latin typeface="+mn-lt"/>
          <a:ea typeface="+mn-ea"/>
          <a:cs typeface="+mn-cs"/>
        </a:defRPr>
      </a:lvl3pPr>
      <a:lvl4pPr marL="612000" indent="-72000" algn="l" defTabSz="914400" rtl="0" eaLnBrk="1" latinLnBrk="0" hangingPunct="1">
        <a:lnSpc>
          <a:spcPct val="100000"/>
        </a:lnSpc>
        <a:spcBef>
          <a:spcPts val="100"/>
        </a:spcBef>
        <a:spcAft>
          <a:spcPts val="100"/>
        </a:spcAft>
        <a:buSzPct val="100000"/>
        <a:buFont typeface="Arial" pitchFamily="34" charset="0"/>
        <a:buChar char="•"/>
        <a:defRPr sz="750" kern="1200">
          <a:solidFill>
            <a:schemeClr val="tx1"/>
          </a:solidFill>
          <a:latin typeface="+mn-lt"/>
          <a:ea typeface="+mn-ea"/>
          <a:cs typeface="+mn-cs"/>
        </a:defRPr>
      </a:lvl4pPr>
      <a:lvl5pPr marL="828000" indent="-72000" algn="l" defTabSz="914400" rtl="0" eaLnBrk="1" latinLnBrk="0" hangingPunct="1">
        <a:lnSpc>
          <a:spcPct val="100000"/>
        </a:lnSpc>
        <a:spcBef>
          <a:spcPts val="100"/>
        </a:spcBef>
        <a:spcAft>
          <a:spcPts val="100"/>
        </a:spcAft>
        <a:buSzPct val="100000"/>
        <a:buFont typeface="Arial" pitchFamily="34" charset="0"/>
        <a:buChar char="•"/>
        <a:defRPr sz="7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Comment comprendre les principes WCAG</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a:t>
            </a:r>
            <a:endParaRPr lang="fr-FR" dirty="0"/>
          </a:p>
        </p:txBody>
      </p:sp>
      <p:sp>
        <p:nvSpPr>
          <p:cNvPr id="8" name="DSFR-stepper-pastille-1"/>
          <p:cNvSpPr/>
          <p:nvPr/>
        </p:nvSpPr>
        <p:spPr>
          <a:xfrm>
            <a:off x="1445894" y="219456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1</a:t>
            </a:r>
          </a:p>
        </p:txBody>
      </p:sp>
      <p:sp>
        <p:nvSpPr>
          <p:cNvPr id="10" name="DSFR-stepper-texte-1"/>
          <p:cNvSpPr txBox="1"/>
          <p:nvPr/>
        </p:nvSpPr>
        <p:spPr>
          <a:xfrm>
            <a:off x="475488" y="2926079"/>
            <a:ext cx="2580894" cy="8686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4 principes : percevoir, utiliser, comprendre, rester compatible</a:t>
            </a:r>
          </a:p>
        </p:txBody>
      </p:sp>
      <p:sp>
        <p:nvSpPr>
          <p:cNvPr id="11" name="DSFR-stepper-pastille-2"/>
          <p:cNvSpPr/>
          <p:nvPr/>
        </p:nvSpPr>
        <p:spPr>
          <a:xfrm>
            <a:off x="4328541" y="219456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2</a:t>
            </a:r>
          </a:p>
        </p:txBody>
      </p:sp>
      <p:sp>
        <p:nvSpPr>
          <p:cNvPr id="13" name="DSFR-stepper-texte-2"/>
          <p:cNvSpPr txBox="1"/>
          <p:nvPr/>
        </p:nvSpPr>
        <p:spPr>
          <a:xfrm>
            <a:off x="3358134" y="2926079"/>
            <a:ext cx="2580894" cy="8686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13 lignes directrices : les grands sujets à traiter</a:t>
            </a:r>
          </a:p>
        </p:txBody>
      </p:sp>
      <p:sp>
        <p:nvSpPr>
          <p:cNvPr id="14" name="DSFR-stepper-pastille-3"/>
          <p:cNvSpPr/>
          <p:nvPr/>
        </p:nvSpPr>
        <p:spPr>
          <a:xfrm>
            <a:off x="7211186" y="219456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3</a:t>
            </a:r>
          </a:p>
        </p:txBody>
      </p:sp>
      <p:sp>
        <p:nvSpPr>
          <p:cNvPr id="16" name="DSFR-stepper-texte-3"/>
          <p:cNvSpPr txBox="1"/>
          <p:nvPr/>
        </p:nvSpPr>
        <p:spPr>
          <a:xfrm>
            <a:off x="6240779" y="2926079"/>
            <a:ext cx="2580894" cy="8686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Critères de succès : les exigences testables</a:t>
            </a:r>
          </a:p>
        </p:txBody>
      </p:sp>
      <p:sp>
        <p:nvSpPr>
          <p:cNvPr id="17" name="DSFR-stepper-pastille-4"/>
          <p:cNvSpPr/>
          <p:nvPr/>
        </p:nvSpPr>
        <p:spPr>
          <a:xfrm>
            <a:off x="10093832" y="2194560"/>
            <a:ext cx="640080" cy="640080"/>
          </a:xfrm>
          <a:prstGeom prst="ellipse">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pPr>
            <a:r>
              <a:rPr sz="1800" b="1" i="0" lang="fr-FR">
                <a:solidFill>
                  <a:srgbClr val="FFFFFF"/>
                </a:solidFill>
                <a:latin typeface="Arial"/>
              </a:rPr>
              <a:t>4</a:t>
            </a:r>
          </a:p>
        </p:txBody>
      </p:sp>
      <p:sp>
        <p:nvSpPr>
          <p:cNvPr id="18" name="DSFR-stepper-texte-4"/>
          <p:cNvSpPr txBox="1"/>
          <p:nvPr/>
        </p:nvSpPr>
        <p:spPr>
          <a:xfrm>
            <a:off x="9123426" y="2926079"/>
            <a:ext cx="2580894" cy="868680"/>
          </a:xfrm>
          <a:prstGeom prst="rect">
            <a:avLst/>
          </a:prstGeom>
          <a:noFill/>
        </p:spPr>
        <p:txBody>
          <a:bodyPr wrap="square" anchor="t" lIns="73152" rIns="73152">
            <a:spAutoFit/>
          </a:bodyPr>
          <a:lstStyle/>
          <a:p>
            <a:pPr algn="ctr">
              <a:lnSpc>
                <a:spcPct val="125000"/>
              </a:lnSpc>
            </a:pPr>
            <a:r>
              <a:rPr sz="1400" b="0" i="0" lang="fr-FR">
                <a:solidFill>
                  <a:srgbClr val="161616"/>
                </a:solidFill>
                <a:latin typeface="Arial"/>
              </a:rPr>
              <a:t>Preuves : test, mesure, exemple corrigé ou contenu modifié</a:t>
            </a:r>
          </a:p>
        </p:txBody>
      </p:sp>
      <p:sp>
        <p:nvSpPr>
          <p:cNvPr id="20" name="DSFR-box"/>
          <p:cNvSpPr/>
          <p:nvPr/>
        </p:nvSpPr>
        <p:spPr>
          <a:xfrm>
            <a:off x="548640" y="4251960"/>
            <a:ext cx="7604378" cy="1451610"/>
          </a:xfrm>
          <a:prstGeom prst="rect">
            <a:avLst/>
          </a:prstGeom>
          <a:solidFill>
            <a:srgbClr val="F5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callout-titre"/>
          <p:cNvSpPr txBox="1"/>
          <p:nvPr/>
        </p:nvSpPr>
        <p:spPr>
          <a:xfrm>
            <a:off x="704088" y="4343400"/>
            <a:ext cx="7357490" cy="32004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Le bon réflexe</a:t>
            </a:r>
          </a:p>
        </p:txBody>
      </p:sp>
      <p:sp>
        <p:nvSpPr>
          <p:cNvPr id="22" name="DSFR-callout-body"/>
          <p:cNvSpPr txBox="1"/>
          <p:nvPr/>
        </p:nvSpPr>
        <p:spPr>
          <a:xfrm>
            <a:off x="704088" y="4754880"/>
            <a:ext cx="7357490" cy="857250"/>
          </a:xfrm>
          <a:prstGeom prst="rect">
            <a:avLst/>
          </a:prstGeom>
          <a:noFill/>
        </p:spPr>
        <p:txBody>
          <a:bodyPr wrap="square" lIns="73152" rIns="73152">
            <a:spAutoFit/>
          </a:bodyPr>
          <a:lstStyle/>
          <a:p>
            <a:pPr algn="l">
              <a:lnSpc>
                <a:spcPct val="125000"/>
              </a:lnSpc>
            </a:pPr>
            <a:r>
              <a:rPr sz="1400" lang="fr-FR">
                <a:solidFill>
                  <a:srgbClr val="161616"/>
                </a:solidFill>
                <a:latin typeface="Arial"/>
              </a:rPr>
              <a:t>• </a:t>
            </a:r>
            <a:r>
              <a:rPr sz="1400" b="0" lang="fr-FR">
                <a:solidFill>
                  <a:srgbClr val="161616"/>
                </a:solidFill>
                <a:latin typeface="Arial"/>
              </a:rPr>
              <a:t>Ne pas apprendre la liste par cœur.</a:t>
            </a:r>
          </a:p>
          <a:p>
            <a:pPr algn="l">
              <a:lnSpc>
                <a:spcPct val="125000"/>
              </a:lnSpc>
            </a:pPr>
            <a:r>
              <a:rPr sz="1400" lang="fr-FR">
                <a:solidFill>
                  <a:srgbClr val="161616"/>
                </a:solidFill>
                <a:latin typeface="Arial"/>
              </a:rPr>
              <a:t>• </a:t>
            </a:r>
            <a:r>
              <a:rPr sz="1400" b="0" lang="fr-FR">
                <a:solidFill>
                  <a:srgbClr val="161616"/>
                </a:solidFill>
                <a:latin typeface="Arial"/>
              </a:rPr>
              <a:t>Savoir transformer un critère en question : que doit pouvoir faire la personne ?</a:t>
            </a:r>
          </a:p>
        </p:txBody>
      </p:sp>
      <p:pic>
        <p:nvPicPr>
          <p:cNvPr id="23" name="Picture 22" descr="QR code vers WCAG in Plain English par AAArdvark"/>
          <p:cNvPicPr>
            <a:picLocks noChangeAspect="1"/>
          </p:cNvPicPr>
          <p:nvPr/>
        </p:nvPicPr>
        <p:blipFill>
          <a:blip r:embed="rId2"/>
          <a:stretch>
            <a:fillRect/>
          </a:stretch>
        </p:blipFill>
        <p:spPr>
          <a:xfrm>
            <a:off x="9485185" y="4160520"/>
            <a:ext cx="1188720" cy="1188720"/>
          </a:xfrm>
          <a:prstGeom prst="rect">
            <a:avLst/>
          </a:prstGeom>
        </p:spPr>
      </p:pic>
      <p:sp>
        <p:nvSpPr>
          <p:cNvPr id="24" name="DSFR-texte-libre"/>
          <p:cNvSpPr txBox="1"/>
          <p:nvPr/>
        </p:nvSpPr>
        <p:spPr>
          <a:xfrm>
            <a:off x="8454770" y="5376672"/>
            <a:ext cx="3249549" cy="201168"/>
          </a:xfrm>
          <a:prstGeom prst="rect">
            <a:avLst/>
          </a:prstGeom>
          <a:noFill/>
        </p:spPr>
        <p:txBody>
          <a:bodyPr wrap="square" anchor="t" lIns="73152" rIns="73152">
            <a:spAutoFit/>
          </a:bodyPr>
          <a:lstStyle/>
          <a:p>
            <a:pPr algn="ctr">
              <a:lnSpc>
                <a:spcPct val="125000"/>
              </a:lnSpc>
            </a:pPr>
            <a:r>
              <a:rPr sz="1100" b="1" i="0" lang="fr-FR">
                <a:solidFill>
                  <a:srgbClr val="000091"/>
                </a:solidFill>
                <a:latin typeface="Arial"/>
              </a:rPr>
              <a:t>WCAG 2.2 - Mise en FALC</a:t>
            </a:r>
          </a:p>
        </p:txBody>
      </p:sp>
      <p:sp>
        <p:nvSpPr>
          <p:cNvPr id="25" name="DSFR-texte-libre"/>
          <p:cNvSpPr txBox="1"/>
          <p:nvPr/>
        </p:nvSpPr>
        <p:spPr>
          <a:xfrm>
            <a:off x="8454770" y="5577840"/>
            <a:ext cx="3249549" cy="182880"/>
          </a:xfrm>
          <a:prstGeom prst="rect">
            <a:avLst/>
          </a:prstGeom>
          <a:noFill/>
        </p:spPr>
        <p:txBody>
          <a:bodyPr wrap="square" anchor="t" lIns="73152" rIns="73152">
            <a:spAutoFit/>
          </a:bodyPr>
          <a:lstStyle/>
          <a:p>
            <a:pPr algn="ctr">
              <a:lnSpc>
                <a:spcPct val="125000"/>
              </a:lnSpc>
            </a:pPr>
            <a:r>
              <a:rPr sz="1000" b="0" i="0" lang="fr-FR">
                <a:solidFill>
                  <a:srgbClr val="000091"/>
                </a:solidFill>
                <a:latin typeface="Arial"/>
              </a:rPr>
              <a:t>Scannez-moi !</a:t>
            </a:r>
          </a:p>
        </p:txBody>
      </p:sp>
      <p:sp>
        <p:nvSpPr>
          <p:cNvPr id="26" name="DSFR-texte-libre"/>
          <p:cNvSpPr txBox="1"/>
          <p:nvPr/>
        </p:nvSpPr>
        <p:spPr>
          <a:xfrm>
            <a:off x="8454770" y="5760720"/>
            <a:ext cx="3249549" cy="164592"/>
          </a:xfrm>
          <a:prstGeom prst="rect">
            <a:avLst/>
          </a:prstGeom>
          <a:noFill/>
        </p:spPr>
        <p:txBody>
          <a:bodyPr wrap="square" anchor="t" lIns="73152" rIns="73152">
            <a:spAutoFit/>
          </a:bodyPr>
          <a:lstStyle/>
          <a:p>
            <a:pPr algn="ctr">
              <a:lnSpc>
                <a:spcPct val="125000"/>
              </a:lnSpc>
            </a:pPr>
            <a:r>
              <a:rPr sz="800" b="0" i="0" lang="fr-FR">
                <a:solidFill>
                  <a:srgbClr val="000091"/>
                </a:solidFill>
                <a:latin typeface="Arial"/>
              </a:rPr>
              <a:t>aaardvarkaccessibility.com/wcag-plain-english</a:t>
            </a:r>
          </a:p>
        </p:txBody>
      </p:sp>
      <p:sp>
        <p:nvSpPr>
          <p:cNvPr id="27" name="DSFR-texte-libre"/>
          <p:cNvSpPr txBox="1"/>
          <p:nvPr/>
        </p:nvSpPr>
        <p:spPr>
          <a:xfrm>
            <a:off x="8454770" y="5925312"/>
            <a:ext cx="3249549" cy="164592"/>
          </a:xfrm>
          <a:prstGeom prst="rect">
            <a:avLst/>
          </a:prstGeom>
          <a:noFill/>
        </p:spPr>
        <p:txBody>
          <a:bodyPr wrap="square" anchor="t" lIns="73152" rIns="73152">
            <a:spAutoFit/>
          </a:bodyPr>
          <a:lstStyle/>
          <a:p>
            <a:pPr algn="ctr">
              <a:lnSpc>
                <a:spcPct val="125000"/>
              </a:lnSpc>
            </a:pPr>
            <a:r>
              <a:rPr sz="700" b="0" i="0" lang="fr-FR">
                <a:solidFill>
                  <a:srgbClr val="000091"/>
                </a:solidFill>
                <a:latin typeface="Arial"/>
              </a:rPr>
              <a:t>WCAG 2.2 Card Deck - Johannes Lehner - CC BY-SA 4.0</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Carte mentale</a:t>
            </a:r>
          </a:p>
        </p:txBody>
      </p:sp>
      <p:sp>
        <p:nvSpPr>
          <p:cNvPr id="9" name="DSFR-stepper-connecteur-1-decoratif" descr=""/>
          <p:cNvSpPr/>
          <p:nvPr/>
        </p:nvSpPr>
        <p:spPr>
          <a:xfrm>
            <a:off x="2085975" y="249631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stepper-connecteur-2-decoratif" descr=""/>
          <p:cNvSpPr/>
          <p:nvPr/>
        </p:nvSpPr>
        <p:spPr>
          <a:xfrm>
            <a:off x="4968621" y="249631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stepper-connecteur-3-decoratif" descr=""/>
          <p:cNvSpPr/>
          <p:nvPr/>
        </p:nvSpPr>
        <p:spPr>
          <a:xfrm>
            <a:off x="7851267" y="2496312"/>
            <a:ext cx="2242565" cy="36576"/>
          </a:xfrm>
          <a:prstGeom prst="rect">
            <a:avLst/>
          </a:prstGeom>
          <a:solidFill>
            <a:srgbClr val="E3E3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accent-decoratif" descr=""/>
          <p:cNvSpPr/>
          <p:nvPr/>
        </p:nvSpPr>
        <p:spPr>
          <a:xfrm>
            <a:off x="475488" y="4251960"/>
            <a:ext cx="73152" cy="145161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Les 4 grandes questions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2</a:t>
            </a:r>
            <a:endParaRPr lang="fr-FR" dirty="0"/>
          </a:p>
        </p:txBody>
      </p:sp>
      <p:sp>
        <p:nvSpPr>
          <p:cNvPr id="9" name="DSFR-box"/>
          <p:cNvSpPr/>
          <p:nvPr/>
        </p:nvSpPr>
        <p:spPr>
          <a:xfrm>
            <a:off x="548640" y="2286000"/>
            <a:ext cx="5390388" cy="1828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4231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Percevoir</a:t>
            </a:r>
          </a:p>
        </p:txBody>
      </p:sp>
      <p:sp>
        <p:nvSpPr>
          <p:cNvPr id="11" name="DSFR-card-contenu"/>
          <p:cNvSpPr txBox="1"/>
          <p:nvPr/>
        </p:nvSpPr>
        <p:spPr>
          <a:xfrm>
            <a:off x="704088" y="2880360"/>
            <a:ext cx="5097779" cy="11430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L’information reste disponible si je ne vois pas ou n’entends pas comme prévu.</a:t>
            </a:r>
          </a:p>
        </p:txBody>
      </p:sp>
      <p:sp>
        <p:nvSpPr>
          <p:cNvPr id="13" name="DSFR-box"/>
          <p:cNvSpPr/>
          <p:nvPr/>
        </p:nvSpPr>
        <p:spPr>
          <a:xfrm>
            <a:off x="6313931" y="2286000"/>
            <a:ext cx="5390388" cy="1828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423160"/>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Utiliser</a:t>
            </a:r>
          </a:p>
        </p:txBody>
      </p:sp>
      <p:sp>
        <p:nvSpPr>
          <p:cNvPr id="15" name="DSFR-card-contenu"/>
          <p:cNvSpPr txBox="1"/>
          <p:nvPr/>
        </p:nvSpPr>
        <p:spPr>
          <a:xfrm>
            <a:off x="6469379" y="2880360"/>
            <a:ext cx="5097779" cy="1143000"/>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Je peux naviguer, agir et terminer sans piège ni geste imposé.</a:t>
            </a:r>
          </a:p>
        </p:txBody>
      </p:sp>
      <p:sp>
        <p:nvSpPr>
          <p:cNvPr id="17" name="DSFR-box"/>
          <p:cNvSpPr/>
          <p:nvPr/>
        </p:nvSpPr>
        <p:spPr>
          <a:xfrm>
            <a:off x="548640" y="4352544"/>
            <a:ext cx="5390388" cy="1828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48970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Comprendre</a:t>
            </a:r>
          </a:p>
        </p:txBody>
      </p:sp>
      <p:sp>
        <p:nvSpPr>
          <p:cNvPr id="19" name="DSFR-card-contenu"/>
          <p:cNvSpPr txBox="1"/>
          <p:nvPr/>
        </p:nvSpPr>
        <p:spPr>
          <a:xfrm>
            <a:off x="704088" y="4946904"/>
            <a:ext cx="5097779" cy="114299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mots, formulaires et comportements restent prévisibles.</a:t>
            </a:r>
          </a:p>
        </p:txBody>
      </p:sp>
      <p:sp>
        <p:nvSpPr>
          <p:cNvPr id="21" name="DSFR-box"/>
          <p:cNvSpPr/>
          <p:nvPr/>
        </p:nvSpPr>
        <p:spPr>
          <a:xfrm>
            <a:off x="6313931" y="4352544"/>
            <a:ext cx="5390388" cy="18288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489704"/>
            <a:ext cx="5097779" cy="411480"/>
          </a:xfrm>
          <a:prstGeom prst="rect">
            <a:avLst/>
          </a:prstGeom>
          <a:noFill/>
        </p:spPr>
        <p:txBody>
          <a:bodyPr wrap="square" anchor="t" lIns="73152" rIns="73152">
            <a:spAutoFit/>
          </a:bodyPr>
          <a:lstStyle/>
          <a:p>
            <a:pPr algn="l">
              <a:lnSpc>
                <a:spcPct val="125000"/>
              </a:lnSpc>
            </a:pPr>
            <a:r>
              <a:rPr sz="1400" b="1" i="0" lang="fr-FR">
                <a:solidFill>
                  <a:srgbClr val="000091"/>
                </a:solidFill>
                <a:latin typeface="Arial"/>
              </a:rPr>
              <a:t>Compatible</a:t>
            </a:r>
          </a:p>
        </p:txBody>
      </p:sp>
      <p:sp>
        <p:nvSpPr>
          <p:cNvPr id="23" name="DSFR-card-contenu"/>
          <p:cNvSpPr txBox="1"/>
          <p:nvPr/>
        </p:nvSpPr>
        <p:spPr>
          <a:xfrm>
            <a:off x="6469379" y="4946904"/>
            <a:ext cx="5097779" cy="1142999"/>
          </a:xfrm>
          <a:prstGeom prst="rect">
            <a:avLst/>
          </a:prstGeom>
          <a:noFill/>
        </p:spPr>
        <p:txBody>
          <a:bodyPr wrap="square" anchor="t" lIns="73152" rIns="73152">
            <a:spAutoFit/>
          </a:bodyPr>
          <a:lstStyle/>
          <a:p>
            <a:pPr algn="l">
              <a:lnSpc>
                <a:spcPct val="125000"/>
              </a:lnSpc>
            </a:pPr>
            <a:r>
              <a:rPr sz="1400" b="0" i="0" lang="fr-FR">
                <a:solidFill>
                  <a:srgbClr val="161616"/>
                </a:solidFill>
                <a:latin typeface="Arial"/>
              </a:rPr>
              <a:t>Les aides techniques peuvent comprendre l’interface aujourd’hui et demain.</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Questions</a:t>
            </a:r>
          </a:p>
        </p:txBody>
      </p:sp>
      <p:sp>
        <p:nvSpPr>
          <p:cNvPr id="8" name="DSFR-accent-decoratif" descr=""/>
          <p:cNvSpPr/>
          <p:nvPr/>
        </p:nvSpPr>
        <p:spPr>
          <a:xfrm>
            <a:off x="475488" y="2286000"/>
            <a:ext cx="73152" cy="1828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2286000"/>
            <a:ext cx="73152" cy="1828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352544"/>
            <a:ext cx="73152" cy="1828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352544"/>
            <a:ext cx="73152" cy="182880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Percevoir l'information - critères (1/4)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3</a:t>
            </a:r>
            <a:endParaRPr lang="fr-FR" dirty="0"/>
          </a:p>
        </p:txBody>
      </p:sp>
      <p:sp>
        <p:nvSpPr>
          <p:cNvPr id="8" name="DSFR-texte-libre"/>
          <p:cNvSpPr txBox="1"/>
          <p:nvPr/>
        </p:nvSpPr>
        <p:spPr>
          <a:xfrm>
            <a:off x="475488" y="1691640"/>
            <a:ext cx="11228832" cy="256032"/>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Les contenus doivent rester disponibles sous plusieurs formes : texte, audio, image, structure, contraste.</a:t>
            </a:r>
          </a:p>
        </p:txBody>
      </p:sp>
      <p:sp>
        <p:nvSpPr>
          <p:cNvPr id="10" name="DSFR-box"/>
          <p:cNvSpPr/>
          <p:nvPr/>
        </p:nvSpPr>
        <p:spPr>
          <a:xfrm>
            <a:off x="548640"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Contenu non textuel</a:t>
            </a:r>
          </a:p>
        </p:txBody>
      </p:sp>
      <p:sp>
        <p:nvSpPr>
          <p:cNvPr id="12" name="DSFR-card-contenu"/>
          <p:cNvSpPr txBox="1"/>
          <p:nvPr/>
        </p:nvSpPr>
        <p:spPr>
          <a:xfrm>
            <a:off x="704088"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Toutes les images et contenus non textuels (icônes, graphiques, sons, CAPTCHA, commandes) doivent être accompagnés d'une alternative textuelle décrivant leur signification. Le contenu purement esthétique peut être masqué pour les technologies d'assistance (par exemple, en utilisant un attribut alt vide).</a:t>
            </a:r>
          </a:p>
        </p:txBody>
      </p:sp>
      <p:sp>
        <p:nvSpPr>
          <p:cNvPr id="14" name="DSFR-box"/>
          <p:cNvSpPr/>
          <p:nvPr/>
        </p:nvSpPr>
        <p:spPr>
          <a:xfrm>
            <a:off x="6313931"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Contenus seulement audio et seulement vidéo (pré-enregistré)</a:t>
            </a:r>
          </a:p>
        </p:txBody>
      </p:sp>
      <p:sp>
        <p:nvSpPr>
          <p:cNvPr id="16" name="DSFR-card-contenu"/>
          <p:cNvSpPr txBox="1"/>
          <p:nvPr/>
        </p:nvSpPr>
        <p:spPr>
          <a:xfrm>
            <a:off x="6469379"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contenus seulement audio pré-enregistrés doivent disposer d'une transcription.
Les contenus seulement vidéo pré-enregistrés doivent disposer d'une description textuelle ou d'une audiodescription.</a:t>
            </a:r>
          </a:p>
        </p:txBody>
      </p:sp>
      <p:sp>
        <p:nvSpPr>
          <p:cNvPr id="18" name="DSFR-box"/>
          <p:cNvSpPr/>
          <p:nvPr/>
        </p:nvSpPr>
        <p:spPr>
          <a:xfrm>
            <a:off x="548640"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704088"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Sous-titres (pré-enregistré)</a:t>
            </a:r>
          </a:p>
        </p:txBody>
      </p:sp>
      <p:sp>
        <p:nvSpPr>
          <p:cNvPr id="20" name="DSFR-card-contenu"/>
          <p:cNvSpPr txBox="1"/>
          <p:nvPr/>
        </p:nvSpPr>
        <p:spPr>
          <a:xfrm>
            <a:off x="704088"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contenus vidéo pré-enregistrés contenant de l'audio doivent disposer de sous-titres synchronisés comprenant l'intégralité des paroles, et les sons pertinents (la musique, les alarmes ou les rires, entre autres).</a:t>
            </a:r>
          </a:p>
        </p:txBody>
      </p:sp>
      <p:sp>
        <p:nvSpPr>
          <p:cNvPr id="22" name="DSFR-box"/>
          <p:cNvSpPr/>
          <p:nvPr/>
        </p:nvSpPr>
        <p:spPr>
          <a:xfrm>
            <a:off x="6313931"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card-titre"/>
          <p:cNvSpPr txBox="1"/>
          <p:nvPr/>
        </p:nvSpPr>
        <p:spPr>
          <a:xfrm>
            <a:off x="6469379"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Audio-description ou version de remplacement (pré-enregistré)</a:t>
            </a:r>
          </a:p>
        </p:txBody>
      </p:sp>
      <p:sp>
        <p:nvSpPr>
          <p:cNvPr id="24" name="DSFR-card-contenu"/>
          <p:cNvSpPr txBox="1"/>
          <p:nvPr/>
        </p:nvSpPr>
        <p:spPr>
          <a:xfrm>
            <a:off x="6469379"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éléments visuels importants apparaissant dans des contenus vidéo pré-enregistrés doivent être décrits via une audiodescription, ou une alternative textuelle.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Percevoir l'information</a:t>
            </a:r>
          </a:p>
        </p:txBody>
      </p:sp>
      <p:sp>
        <p:nvSpPr>
          <p:cNvPr id="9" name="DSFR-accent-decoratif" descr=""/>
          <p:cNvSpPr/>
          <p:nvPr/>
        </p:nvSpPr>
        <p:spPr>
          <a:xfrm>
            <a:off x="475488"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Percevoir l'information - critères (2/4)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4</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Sous-titres (en direct)</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contenus vidéo diffusés en direct contenant de l'audio doivent disposer d'un sous-titrage en temps réel reprenant les paroles, et les sons importants (la musique, les alarmes ou les rires, entre autres).</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Audio-description (pré-enregistré)</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éléments visuels importants apparaissant dans des contenus vidéo pré-enregistrés contenant de l'audio doivent être décrits via une audio-description, sauf s'ils sont déjà explicités dans la bande sonore principale.</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Langue des signes (pré-enregistré)</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Tous les contenus vidéo pré-enregistrés contenant de l'audio doivent disposer d'une interprétation en langue des signes.</a:t>
            </a:r>
          </a:p>
        </p:txBody>
      </p:sp>
      <p:sp>
        <p:nvSpPr>
          <p:cNvPr id="21" name="DSFR-box"/>
          <p:cNvSpPr/>
          <p:nvPr/>
        </p:nvSpPr>
        <p:spPr>
          <a:xfrm>
            <a:off x="6313931"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Audio-description étendue (pré-enregistré)</a:t>
            </a:r>
          </a:p>
        </p:txBody>
      </p:sp>
      <p:sp>
        <p:nvSpPr>
          <p:cNvPr id="23" name="DSFR-card-contenu"/>
          <p:cNvSpPr txBox="1"/>
          <p:nvPr/>
        </p:nvSpPr>
        <p:spPr>
          <a:xfrm>
            <a:off x="6469379"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contenus vidéo pré-enregistrés doivent disposer d'une audio-description étendue s'ils possèdent des éléments visuels importants tels que des détails visuels essentiels, du texte apparaissant à l'écran sans être prononcé à voix haute, ou des scènes dépourvues de pauses sonores et qui ne peuvent donc pas être décrites durant la lecture.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Percevoir l'information</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Percevoir l'information - critères (3/4)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5</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Texte sous forme d'image</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contenu textuel doit être codé comme du texte, et non comme des images, sauf si une représentation visuelle spécifique est indispensable (par exemple, un logo).</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Contraste (amélioré)</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contraste du texte par rapport à son arrière-plan doit être d'au moins 7:1 pour un texte classique, ou 4,5:1 pour un texte de grande taille (supérieur à 24px, ou en gras et supérieur à 19px).</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Texte sous forme d'image (sans exception)</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contenu textuel doit toujours être codé comme du texte, et non comme des images (sans exception, même pour des raisons esthétiques).</a:t>
            </a:r>
          </a:p>
        </p:txBody>
      </p:sp>
      <p:sp>
        <p:nvSpPr>
          <p:cNvPr id="21" name="DSFR-box"/>
          <p:cNvSpPr/>
          <p:nvPr/>
        </p:nvSpPr>
        <p:spPr>
          <a:xfrm>
            <a:off x="6313931"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Redistribution</a:t>
            </a:r>
          </a:p>
        </p:txBody>
      </p:sp>
      <p:sp>
        <p:nvSpPr>
          <p:cNvPr id="23" name="DSFR-card-contenu"/>
          <p:cNvSpPr txBox="1"/>
          <p:nvPr/>
        </p:nvSpPr>
        <p:spPr>
          <a:xfrm>
            <a:off x="6469379"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contenu doit rester fonctionnel et lisible lorsqu'il est zoomé à 400 %, ou affiché sur une largeur de 320 px, sans recourir à aucun défilement, qu'il soit vertical ou horizontal (sauf pour les tableaux, les cartes et les contenus similaires).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Percevoir l'information</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Percevoir l'information - critères (4/4)</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6</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Arrière-plan sonore de faible volume ou absent</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Pour les contenus audio pré-enregistrés contenant des paroles, tout bruit de fond doit être au minimum 20 dB plus faible que les dialogues, ou pouvoir être désactivé.</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Présentation visuelle</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blocs de textes (tels que les paragraphes) doivent avoir une hauteur de ligne d'au moins 1.5, ne pas être justifiés, rester limités à 80 caractères par ligne (ou 40 pour des scripts CJK), et permettre aux utilisateurs d'ajuster l'espacement et les couleurs du texte à l'aide de styles personnalisés.</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Contraste du contenu non textuel</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éléments interactifs (boutons, champs de saisie, indicateurs de focus, par exemple) et graphiques porteurs de sens (icônes, tableaux, courbes graphiques, par exemple) doivent présenter un rapport de contraste d'au moins 3:1 avec les couleurs adjacentes.</a:t>
            </a:r>
          </a:p>
        </p:txBody>
      </p:sp>
      <p:sp>
        <p:nvSpPr>
          <p:cNvPr id="21" name="DSFR-box"/>
          <p:cNvSpPr/>
          <p:nvPr/>
        </p:nvSpPr>
        <p:spPr>
          <a:xfrm>
            <a:off x="6313931"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Espacement du texte</a:t>
            </a:r>
          </a:p>
        </p:txBody>
      </p:sp>
      <p:sp>
        <p:nvSpPr>
          <p:cNvPr id="23" name="DSFR-card-contenu"/>
          <p:cNvSpPr txBox="1"/>
          <p:nvPr/>
        </p:nvSpPr>
        <p:spPr>
          <a:xfrm>
            <a:off x="6469379"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texte doit rester lisible et fonctionnel lorsque l'espacement est modifié à l'aide de styles personnalisés, pour au moins 1,5x la hauteur de ligne, 2x l'espacement entre les paragraphes, 0,12x l'espacement des lettres, 0,16x l'espacement entre les mots, sans que le contenu ne soit caché ou coupé.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Percevoir l'information</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Utiliser sans obstacle - critères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7</a:t>
            </a:r>
            <a:endParaRPr lang="fr-FR" dirty="0"/>
          </a:p>
        </p:txBody>
      </p:sp>
      <p:sp>
        <p:nvSpPr>
          <p:cNvPr id="8" name="DSFR-texte-libre"/>
          <p:cNvSpPr txBox="1"/>
          <p:nvPr/>
        </p:nvSpPr>
        <p:spPr>
          <a:xfrm>
            <a:off x="475488" y="1691640"/>
            <a:ext cx="11228832" cy="256032"/>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Toutes les actions doivent rester possibles sans piège : clavier, temps suffisant, navigation claire, gestes alternatifs.</a:t>
            </a:r>
          </a:p>
        </p:txBody>
      </p:sp>
      <p:sp>
        <p:nvSpPr>
          <p:cNvPr id="10" name="DSFR-box"/>
          <p:cNvSpPr/>
          <p:nvPr/>
        </p:nvSpPr>
        <p:spPr>
          <a:xfrm>
            <a:off x="548640"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Trois flashs</a:t>
            </a:r>
          </a:p>
        </p:txBody>
      </p:sp>
      <p:sp>
        <p:nvSpPr>
          <p:cNvPr id="12" name="DSFR-card-contenu"/>
          <p:cNvSpPr txBox="1"/>
          <p:nvPr/>
        </p:nvSpPr>
        <p:spPr>
          <a:xfrm>
            <a:off x="704088"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contenu ne doit pas clignoter plus de trois fois par seconde (sans exception, même s'il respecte les seuils de sécurité).</a:t>
            </a:r>
          </a:p>
        </p:txBody>
      </p:sp>
      <p:sp>
        <p:nvSpPr>
          <p:cNvPr id="14" name="DSFR-box"/>
          <p:cNvSpPr/>
          <p:nvPr/>
        </p:nvSpPr>
        <p:spPr>
          <a:xfrm>
            <a:off x="6313931"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Animation résultant d'interactions</a:t>
            </a:r>
          </a:p>
        </p:txBody>
      </p:sp>
      <p:sp>
        <p:nvSpPr>
          <p:cNvPr id="16" name="DSFR-card-contenu"/>
          <p:cNvSpPr txBox="1"/>
          <p:nvPr/>
        </p:nvSpPr>
        <p:spPr>
          <a:xfrm>
            <a:off x="6469379"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animations déclenchées par une interaction (par exemple, un clic, un survol, un tapotement) doivent pouvoir être désactivées via les paramètres système (par exemple, "réduire les mouvements") ou désactivées via une option disponible sur le site.</a:t>
            </a:r>
          </a:p>
        </p:txBody>
      </p:sp>
      <p:sp>
        <p:nvSpPr>
          <p:cNvPr id="18" name="DSFR-box"/>
          <p:cNvSpPr/>
          <p:nvPr/>
        </p:nvSpPr>
        <p:spPr>
          <a:xfrm>
            <a:off x="548640"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704088"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Parcours du focus</a:t>
            </a:r>
          </a:p>
        </p:txBody>
      </p:sp>
      <p:sp>
        <p:nvSpPr>
          <p:cNvPr id="20" name="DSFR-card-contenu"/>
          <p:cNvSpPr txBox="1"/>
          <p:nvPr/>
        </p:nvSpPr>
        <p:spPr>
          <a:xfrm>
            <a:off x="704088"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 focus doit suivre un ordre logique qui préserve les relations et qui correspond à la façon dont la page se lit naturellement, indépendamment de la mise en page ou du sens de lecture.</a:t>
            </a:r>
          </a:p>
        </p:txBody>
      </p:sp>
      <p:sp>
        <p:nvSpPr>
          <p:cNvPr id="22" name="DSFR-box"/>
          <p:cNvSpPr/>
          <p:nvPr/>
        </p:nvSpPr>
        <p:spPr>
          <a:xfrm>
            <a:off x="6313931"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card-titre"/>
          <p:cNvSpPr txBox="1"/>
          <p:nvPr/>
        </p:nvSpPr>
        <p:spPr>
          <a:xfrm>
            <a:off x="6469379"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Fonction du lien (selon le contexte)</a:t>
            </a:r>
          </a:p>
        </p:txBody>
      </p:sp>
      <p:sp>
        <p:nvSpPr>
          <p:cNvPr id="24" name="DSFR-card-contenu"/>
          <p:cNvSpPr txBox="1"/>
          <p:nvPr/>
        </p:nvSpPr>
        <p:spPr>
          <a:xfrm>
            <a:off x="6469379"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La fonction de chaque lien doit être compréhensible à partir du texte du lien, ou du contexte environnant.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Utiliser sans obstacle</a:t>
            </a:r>
          </a:p>
        </p:txBody>
      </p:sp>
      <p:sp>
        <p:nvSpPr>
          <p:cNvPr id="9" name="DSFR-accent-decoratif" descr=""/>
          <p:cNvSpPr/>
          <p:nvPr/>
        </p:nvSpPr>
        <p:spPr>
          <a:xfrm>
            <a:off x="475488"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Utiliser sans obstacle - critères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8</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Contourner des blocs</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blocs de contenu répétés sur plusieurs pages doivent pouvoir être ignorés (par exemple, la navigation, l'en-tête) pour accéder directement à la partie principale de la page.</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Titre de page</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Chaque page doit posséder un attribut &lt;title&gt; unique et explicite qui reflète sa thématique ou son objectif.</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Accès multiples</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Il est essentiel de proposer au moins deux méthodes différentes pour accéder aux pages ou au contenu (par exemple, via des menus de navigation, des liens sur la page ou une recherche sur le site).</a:t>
            </a:r>
          </a:p>
        </p:txBody>
      </p:sp>
      <p:sp>
        <p:nvSpPr>
          <p:cNvPr id="21" name="DSFR-box"/>
          <p:cNvSpPr/>
          <p:nvPr/>
        </p:nvSpPr>
        <p:spPr>
          <a:xfrm>
            <a:off x="6313931"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En-têtes et étiquettes</a:t>
            </a:r>
          </a:p>
        </p:txBody>
      </p:sp>
      <p:sp>
        <p:nvSpPr>
          <p:cNvPr id="23" name="DSFR-card-contenu"/>
          <p:cNvSpPr txBox="1"/>
          <p:nvPr/>
        </p:nvSpPr>
        <p:spPr>
          <a:xfrm>
            <a:off x="6469379"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en-têtes doivent décrire le contenu qui suit.
Les étiquettes et les boutons doivent permettre d'identifier sans ambiguïté l'information à saisir ou l'action déclenchée.</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Utiliser sans obstacle</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Utiliser sans obstacle - critères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9</a:t>
            </a:r>
            <a:endParaRPr lang="fr-FR" dirty="0"/>
          </a:p>
        </p:txBody>
      </p:sp>
      <p:sp>
        <p:nvSpPr>
          <p:cNvPr id="9" name="DSFR-box"/>
          <p:cNvSpPr/>
          <p:nvPr/>
        </p:nvSpPr>
        <p:spPr>
          <a:xfrm>
            <a:off x="548640" y="1965960"/>
            <a:ext cx="5390388" cy="21031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Modalités d'entrées concurrentes</a:t>
            </a:r>
          </a:p>
        </p:txBody>
      </p:sp>
      <p:sp>
        <p:nvSpPr>
          <p:cNvPr id="11" name="DSFR-card-contenu"/>
          <p:cNvSpPr txBox="1"/>
          <p:nvPr/>
        </p:nvSpPr>
        <p:spPr>
          <a:xfrm>
            <a:off x="704088" y="2468879"/>
            <a:ext cx="5097779" cy="1508760"/>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Il doit être possible de passer d'une méthode de saisie à une autre (souris, clavier, écran tactile, commande vocale) tout en conservant l'accès à toutes les fonctionnalités.</a:t>
            </a:r>
          </a:p>
        </p:txBody>
      </p:sp>
      <p:sp>
        <p:nvSpPr>
          <p:cNvPr id="13" name="DSFR-box"/>
          <p:cNvSpPr/>
          <p:nvPr/>
        </p:nvSpPr>
        <p:spPr>
          <a:xfrm>
            <a:off x="6313931" y="1965960"/>
            <a:ext cx="5390388" cy="210312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Mouvements de glissement</a:t>
            </a:r>
          </a:p>
        </p:txBody>
      </p:sp>
      <p:sp>
        <p:nvSpPr>
          <p:cNvPr id="15" name="DSFR-card-contenu"/>
          <p:cNvSpPr txBox="1"/>
          <p:nvPr/>
        </p:nvSpPr>
        <p:spPr>
          <a:xfrm>
            <a:off x="6469379" y="2468879"/>
            <a:ext cx="5097779" cy="1508760"/>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actions nécessitant un glissement (comme le réarrangement d'éléments) doivent également être réalisables à l'aide de boutons ou d'une autre méthode qui ne nécessite pas de glissement.</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Utiliser sans obstacle</a:t>
            </a:r>
          </a:p>
        </p:txBody>
      </p:sp>
      <p:sp>
        <p:nvSpPr>
          <p:cNvPr id="8" name="DSFR-accent-decoratif" descr=""/>
          <p:cNvSpPr/>
          <p:nvPr/>
        </p:nvSpPr>
        <p:spPr>
          <a:xfrm>
            <a:off x="475488" y="1965960"/>
            <a:ext cx="73152" cy="21031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103120"/>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Comprendre sans effort inutile - critères (1/3)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10</a:t>
            </a:r>
            <a:endParaRPr lang="fr-FR" dirty="0"/>
          </a:p>
        </p:txBody>
      </p:sp>
      <p:sp>
        <p:nvSpPr>
          <p:cNvPr id="8" name="DSFR-texte-libre"/>
          <p:cNvSpPr txBox="1"/>
          <p:nvPr/>
        </p:nvSpPr>
        <p:spPr>
          <a:xfrm>
            <a:off x="475488" y="1691640"/>
            <a:ext cx="11228832" cy="256032"/>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Les textes, parcours et formulaires doivent rester prévisibles, explicites et réparables en cas d’erreur.</a:t>
            </a:r>
          </a:p>
        </p:txBody>
      </p:sp>
      <p:sp>
        <p:nvSpPr>
          <p:cNvPr id="10" name="DSFR-box"/>
          <p:cNvSpPr/>
          <p:nvPr/>
        </p:nvSpPr>
        <p:spPr>
          <a:xfrm>
            <a:off x="548640"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Langue de la page</a:t>
            </a:r>
          </a:p>
        </p:txBody>
      </p:sp>
      <p:sp>
        <p:nvSpPr>
          <p:cNvPr id="12" name="DSFR-card-contenu"/>
          <p:cNvSpPr txBox="1"/>
          <p:nvPr/>
        </p:nvSpPr>
        <p:spPr>
          <a:xfrm>
            <a:off x="704088"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Chaque page doit comporter un attribut &lt;html lang=""&gt; correspondant à la langue principale de la page.</a:t>
            </a:r>
          </a:p>
        </p:txBody>
      </p:sp>
      <p:sp>
        <p:nvSpPr>
          <p:cNvPr id="14" name="DSFR-box"/>
          <p:cNvSpPr/>
          <p:nvPr/>
        </p:nvSpPr>
        <p:spPr>
          <a:xfrm>
            <a:off x="6313931"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Langue d'un passage</a:t>
            </a:r>
          </a:p>
        </p:txBody>
      </p:sp>
      <p:sp>
        <p:nvSpPr>
          <p:cNvPr id="16" name="DSFR-card-contenu"/>
          <p:cNvSpPr txBox="1"/>
          <p:nvPr/>
        </p:nvSpPr>
        <p:spPr>
          <a:xfrm>
            <a:off x="6469379"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Chaque passage d'un contenu rédigé dans une autre langue doit être notifié à l'aide de l'attribut lang approprié. Les expressions empruntées à une autre langue (comme "week-end", par exemple) n'ont pas besoin de cet attribut, sauf si la prononciation ou la compréhension est affectée.</a:t>
            </a:r>
          </a:p>
        </p:txBody>
      </p:sp>
      <p:sp>
        <p:nvSpPr>
          <p:cNvPr id="18" name="DSFR-box"/>
          <p:cNvSpPr/>
          <p:nvPr/>
        </p:nvSpPr>
        <p:spPr>
          <a:xfrm>
            <a:off x="548640"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704088"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Mots rares</a:t>
            </a:r>
          </a:p>
        </p:txBody>
      </p:sp>
      <p:sp>
        <p:nvSpPr>
          <p:cNvPr id="20" name="DSFR-card-contenu"/>
          <p:cNvSpPr txBox="1"/>
          <p:nvPr/>
        </p:nvSpPr>
        <p:spPr>
          <a:xfrm>
            <a:off x="704088"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termes utilisés de manière inhabituelle, le jargon et les expressions idiomatiques doivent être évités dans la mesure du possible, ou être expliqués dès leur première occurrence.</a:t>
            </a:r>
          </a:p>
        </p:txBody>
      </p:sp>
      <p:sp>
        <p:nvSpPr>
          <p:cNvPr id="22" name="DSFR-box"/>
          <p:cNvSpPr/>
          <p:nvPr/>
        </p:nvSpPr>
        <p:spPr>
          <a:xfrm>
            <a:off x="6313931"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SFR-card-titre"/>
          <p:cNvSpPr txBox="1"/>
          <p:nvPr/>
        </p:nvSpPr>
        <p:spPr>
          <a:xfrm>
            <a:off x="6469379"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Prononciation</a:t>
            </a:r>
          </a:p>
        </p:txBody>
      </p:sp>
      <p:sp>
        <p:nvSpPr>
          <p:cNvPr id="24" name="DSFR-card-contenu"/>
          <p:cNvSpPr txBox="1"/>
          <p:nvPr/>
        </p:nvSpPr>
        <p:spPr>
          <a:xfrm>
            <a:off x="6469379"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Lorsque la prononciation d'un mot peut varier et changer sa signification, il est nécessaire de clarifier le sens voulu pour éviter toute confusion ou ambiguïté.</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Comprendre sans effort inutile</a:t>
            </a:r>
          </a:p>
        </p:txBody>
      </p:sp>
      <p:sp>
        <p:nvSpPr>
          <p:cNvPr id="9" name="DSFR-accent-decoratif" descr=""/>
          <p:cNvSpPr/>
          <p:nvPr/>
        </p:nvSpPr>
        <p:spPr>
          <a:xfrm>
            <a:off x="475488"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SFR-accent-decoratif" descr=""/>
          <p:cNvSpPr/>
          <p:nvPr/>
        </p:nvSpPr>
        <p:spPr>
          <a:xfrm>
            <a:off x="6240779"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Comprendre sans effort inutile - critères (2/3)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11</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 focus</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Lorsqu'un élément reçoit le focus, aucun changement imprévu ne doit se produire (comme l'ouverture d'une fenêtre contextuelle, le déplacement du focus ou la validation d'un formulaire).</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Abréviations</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abréviations et acronymes doivent être évités dans la mesure du possible, ou être expliqués lors de leur première occurrence.</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Lisibilité du texte</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Si le contenu nécessite une capacité de lecture plus avancée que le premier cycle de l'enseignement secondaire (autrement dit la classe de 3e), il est essentiel de fournir une version simplifiée, un résumé, un support visuel ou une version audio pour faciliter la compréhension.</a:t>
            </a:r>
          </a:p>
        </p:txBody>
      </p:sp>
      <p:sp>
        <p:nvSpPr>
          <p:cNvPr id="21" name="DSFR-box"/>
          <p:cNvSpPr/>
          <p:nvPr/>
        </p:nvSpPr>
        <p:spPr>
          <a:xfrm>
            <a:off x="6313931"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SFR-card-titre"/>
          <p:cNvSpPr txBox="1"/>
          <p:nvPr/>
        </p:nvSpPr>
        <p:spPr>
          <a:xfrm>
            <a:off x="6469379"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Prévention des erreurs (toutes)</a:t>
            </a:r>
          </a:p>
        </p:txBody>
      </p:sp>
      <p:sp>
        <p:nvSpPr>
          <p:cNvPr id="23" name="DSFR-card-contenu"/>
          <p:cNvSpPr txBox="1"/>
          <p:nvPr/>
        </p:nvSpPr>
        <p:spPr>
          <a:xfrm>
            <a:off x="6469379"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Avant de valider l'envoi d'un formulaire, il doit être possible de vérifier les informations saisies et corriger les erreurs.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Comprendre sans effort inutile</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SFR-accent-decoratif" descr=""/>
          <p:cNvSpPr/>
          <p:nvPr/>
        </p:nvSpPr>
        <p:spPr>
          <a:xfrm>
            <a:off x="6240779"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Comprendre sans effort inutile - critères (3/3)</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12</a:t>
            </a:r>
            <a:endParaRPr lang="fr-FR" dirty="0"/>
          </a:p>
        </p:txBody>
      </p:sp>
      <p:sp>
        <p:nvSpPr>
          <p:cNvPr id="9" name="DSFR-box"/>
          <p:cNvSpPr/>
          <p:nvPr/>
        </p:nvSpPr>
        <p:spPr>
          <a:xfrm>
            <a:off x="548640"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SFR-card-titre"/>
          <p:cNvSpPr txBox="1"/>
          <p:nvPr/>
        </p:nvSpPr>
        <p:spPr>
          <a:xfrm>
            <a:off x="704088"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Saisie redondante</a:t>
            </a:r>
          </a:p>
        </p:txBody>
      </p:sp>
      <p:sp>
        <p:nvSpPr>
          <p:cNvPr id="11" name="DSFR-card-contenu"/>
          <p:cNvSpPr txBox="1"/>
          <p:nvPr/>
        </p:nvSpPr>
        <p:spPr>
          <a:xfrm>
            <a:off x="704088"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Ne demandez pas les mêmes informations deux fois au cours d'un même processus. Proposez des champs préremplis ou des options de sélection si les informations ont déjà été fournies au préalable.</a:t>
            </a:r>
          </a:p>
        </p:txBody>
      </p:sp>
      <p:sp>
        <p:nvSpPr>
          <p:cNvPr id="13" name="DSFR-box"/>
          <p:cNvSpPr/>
          <p:nvPr/>
        </p:nvSpPr>
        <p:spPr>
          <a:xfrm>
            <a:off x="6313931" y="1965960"/>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SFR-card-titre"/>
          <p:cNvSpPr txBox="1"/>
          <p:nvPr/>
        </p:nvSpPr>
        <p:spPr>
          <a:xfrm>
            <a:off x="6469379" y="210312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Authentification accessible (minimum)</a:t>
            </a:r>
          </a:p>
        </p:txBody>
      </p:sp>
      <p:sp>
        <p:nvSpPr>
          <p:cNvPr id="15" name="DSFR-card-contenu"/>
          <p:cNvSpPr txBox="1"/>
          <p:nvPr/>
        </p:nvSpPr>
        <p:spPr>
          <a:xfrm>
            <a:off x="6469379" y="2468879"/>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L'authentification ne doit pas reposer uniquement sur la mémoire. Elle doit autoriser le copier-coller, les gestionnaires de mots de passe ou d'autres options (comme la vérification par e-mail).</a:t>
            </a:r>
          </a:p>
        </p:txBody>
      </p:sp>
      <p:sp>
        <p:nvSpPr>
          <p:cNvPr id="17" name="DSFR-box"/>
          <p:cNvSpPr/>
          <p:nvPr/>
        </p:nvSpPr>
        <p:spPr>
          <a:xfrm>
            <a:off x="548640" y="4174235"/>
            <a:ext cx="5390388" cy="2007107"/>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SFR-card-titre"/>
          <p:cNvSpPr txBox="1"/>
          <p:nvPr/>
        </p:nvSpPr>
        <p:spPr>
          <a:xfrm>
            <a:off x="704088" y="431139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Authentification accessible (améliorée)</a:t>
            </a:r>
          </a:p>
        </p:txBody>
      </p:sp>
      <p:sp>
        <p:nvSpPr>
          <p:cNvPr id="19" name="DSFR-card-contenu"/>
          <p:cNvSpPr txBox="1"/>
          <p:nvPr/>
        </p:nvSpPr>
        <p:spPr>
          <a:xfrm>
            <a:off x="704088" y="4677155"/>
            <a:ext cx="5097779" cy="141274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L'authentification ne doit pas reposer sur la mémoire ou la reconnaissance (comme résoudre des énigmes, se souvenir d'images ou utiliser des CAPTCHA).</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Comprendre sans effort inutile</a:t>
            </a:r>
          </a:p>
        </p:txBody>
      </p:sp>
      <p:sp>
        <p:nvSpPr>
          <p:cNvPr id="8" name="DSFR-accent-decoratif" descr=""/>
          <p:cNvSpPr/>
          <p:nvPr/>
        </p:nvSpPr>
        <p:spPr>
          <a:xfrm>
            <a:off x="475488"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SFR-accent-decoratif" descr=""/>
          <p:cNvSpPr/>
          <p:nvPr/>
        </p:nvSpPr>
        <p:spPr>
          <a:xfrm>
            <a:off x="6240779" y="1965960"/>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SFR-accent-decoratif" descr=""/>
          <p:cNvSpPr/>
          <p:nvPr/>
        </p:nvSpPr>
        <p:spPr>
          <a:xfrm>
            <a:off x="475488" y="4174235"/>
            <a:ext cx="73152" cy="2007107"/>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79997" y="1051560"/>
            <a:ext cx="11231971" cy="960120"/>
          </a:xfrm>
        </p:spPr>
        <p:txBody>
          <a:bodyPr wrap="square" anchor="t" lIns="73152" rIns="73152"/>
          <a:lstStyle/>
          <a:p>
            <a:pPr algn="l">
              <a:lnSpc>
                <a:spcPct val="125000"/>
              </a:lnSpc>
            </a:pPr>
            <a:r>
              <a:rPr sz="2800" b="1" i="0" lang="fr-FR">
                <a:solidFill>
                  <a:srgbClr val="000091"/>
                </a:solidFill>
                <a:latin typeface="Arial"/>
              </a:rPr>
              <a:t>Rester compatible - critères</a:t>
            </a:r>
          </a:p>
        </p:txBody>
      </p:sp>
      <p:sp>
        <p:nvSpPr>
          <p:cNvPr id="4" name="Text Placeholder 3"/>
          <p:cNvSpPr>
            <a:spLocks noGrp="1"/>
          </p:cNvSpPr>
          <p:nvPr>
            <p:ph type="body" idx="13" sz="quarter"/>
          </p:nvPr>
        </p:nvSpPr>
        <p:spPr/>
        <p:txBody>
          <a:bodyPr wrap="square" anchor="t" lIns="73152" rIns="73152"/>
          <a:lstStyle/>
          <a:p>
            <a:pPr algn="r">
              <a:lnSpc>
                <a:spcPct val="125000"/>
              </a:lnSpc>
              <a:buNone/>
            </a:pPr>
            <a:r>
              <a:rPr sz="1100" b="0" i="0" lang="fr-FR">
                <a:solidFill>
                  <a:srgbClr val="666666"/>
                </a:solidFill>
                <a:latin typeface="Arial"/>
              </a:rPr>
              <a:t>Principes WCAG et critères condensés</a:t>
            </a:r>
          </a:p>
        </p:txBody>
      </p:sp>
      <p:sp>
        <p:nvSpPr>
          <p:cNvPr id="7" name="Espace réservé du numéro de diapositive 6"/>
          <p:cNvSpPr>
            <a:spLocks noGrp="1"/>
          </p:cNvSpPr>
          <p:nvPr>
            <p:ph type="sldNum" sz="quarter" idx="12"/>
          </p:nvPr>
        </p:nvSpPr>
        <p:spPr bwMode="gray"/>
        <p:txBody>
          <a:bodyPr wrap="square" anchor="t" lIns="73152" rIns="73152"/>
          <a:lstStyle/>
          <a:p>
            <a:pPr algn="l">
              <a:lnSpc>
                <a:spcPct val="125000"/>
              </a:lnSpc>
            </a:pPr>
            <a:r>
              <a:rPr sz="1000" b="0" i="0" lang="fr-FR">
                <a:solidFill>
                  <a:srgbClr val="666666"/>
                </a:solidFill>
                <a:latin typeface="Arial"/>
              </a:rPr>
              <a:t>13</a:t>
            </a:r>
            <a:endParaRPr lang="fr-FR" dirty="0"/>
          </a:p>
        </p:txBody>
      </p:sp>
      <p:sp>
        <p:nvSpPr>
          <p:cNvPr id="8" name="DSFR-texte-libre"/>
          <p:cNvSpPr txBox="1"/>
          <p:nvPr/>
        </p:nvSpPr>
        <p:spPr>
          <a:xfrm>
            <a:off x="475488" y="1691640"/>
            <a:ext cx="11228832" cy="256032"/>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L’interface doit pouvoir être comprise par les aides techniques, les navigateurs et les outils de lecture.</a:t>
            </a:r>
          </a:p>
        </p:txBody>
      </p:sp>
      <p:sp>
        <p:nvSpPr>
          <p:cNvPr id="10" name="DSFR-box"/>
          <p:cNvSpPr/>
          <p:nvPr/>
        </p:nvSpPr>
        <p:spPr>
          <a:xfrm>
            <a:off x="548640"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SFR-card-titre"/>
          <p:cNvSpPr txBox="1"/>
          <p:nvPr/>
        </p:nvSpPr>
        <p:spPr>
          <a:xfrm>
            <a:off x="704088"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Analyse syntaxique (obsolète et supprimé)</a:t>
            </a:r>
          </a:p>
        </p:txBody>
      </p:sp>
      <p:sp>
        <p:nvSpPr>
          <p:cNvPr id="12" name="DSFR-card-contenu"/>
          <p:cNvSpPr txBox="1"/>
          <p:nvPr/>
        </p:nvSpPr>
        <p:spPr>
          <a:xfrm>
            <a:off x="704088"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Ce critère nécessitait un code HTML correctement structuré et sans erreurs critiques (telles que des balises manquantes ou des identifiants en double). Bien que cette exigence ait été supprimée, elle reste utile en termes de compatibilité.</a:t>
            </a:r>
          </a:p>
        </p:txBody>
      </p:sp>
      <p:sp>
        <p:nvSpPr>
          <p:cNvPr id="14" name="DSFR-box"/>
          <p:cNvSpPr/>
          <p:nvPr/>
        </p:nvSpPr>
        <p:spPr>
          <a:xfrm>
            <a:off x="6313931" y="2057400"/>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SFR-card-titre"/>
          <p:cNvSpPr txBox="1"/>
          <p:nvPr/>
        </p:nvSpPr>
        <p:spPr>
          <a:xfrm>
            <a:off x="6469379" y="2194560"/>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Nom, rôle et valeur</a:t>
            </a:r>
          </a:p>
        </p:txBody>
      </p:sp>
      <p:sp>
        <p:nvSpPr>
          <p:cNvPr id="16" name="DSFR-card-contenu"/>
          <p:cNvSpPr txBox="1"/>
          <p:nvPr/>
        </p:nvSpPr>
        <p:spPr>
          <a:xfrm>
            <a:off x="6469379" y="2560320"/>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éléments interactifs doivent disposer d'un nom clair (ce qu'ils sont), d'un rôle approprié (ce qu'ils font), et de toute valeur ou état actuel, afin que les technologies d'assistance puissent les interpréter et interagir correctement avec eux.</a:t>
            </a:r>
          </a:p>
        </p:txBody>
      </p:sp>
      <p:sp>
        <p:nvSpPr>
          <p:cNvPr id="18" name="DSFR-box"/>
          <p:cNvSpPr/>
          <p:nvPr/>
        </p:nvSpPr>
        <p:spPr>
          <a:xfrm>
            <a:off x="548640" y="4219956"/>
            <a:ext cx="5390388" cy="196138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SFR-card-titre"/>
          <p:cNvSpPr txBox="1"/>
          <p:nvPr/>
        </p:nvSpPr>
        <p:spPr>
          <a:xfrm>
            <a:off x="704088" y="4357116"/>
            <a:ext cx="5097779" cy="320040"/>
          </a:xfrm>
          <a:prstGeom prst="rect">
            <a:avLst/>
          </a:prstGeom>
          <a:noFill/>
        </p:spPr>
        <p:txBody>
          <a:bodyPr wrap="square" anchor="t" lIns="73152" rIns="73152">
            <a:spAutoFit/>
          </a:bodyPr>
          <a:lstStyle/>
          <a:p>
            <a:pPr algn="l">
              <a:lnSpc>
                <a:spcPct val="125000"/>
              </a:lnSpc>
            </a:pPr>
            <a:r>
              <a:rPr sz="1200" b="1" i="0" lang="fr-FR">
                <a:solidFill>
                  <a:srgbClr val="000091"/>
                </a:solidFill>
                <a:latin typeface="Arial"/>
              </a:rPr>
              <a:t>Messages d'état</a:t>
            </a:r>
          </a:p>
        </p:txBody>
      </p:sp>
      <p:sp>
        <p:nvSpPr>
          <p:cNvPr id="20" name="DSFR-card-contenu"/>
          <p:cNvSpPr txBox="1"/>
          <p:nvPr/>
        </p:nvSpPr>
        <p:spPr>
          <a:xfrm>
            <a:off x="704088" y="4722876"/>
            <a:ext cx="5097779" cy="1367028"/>
          </a:xfrm>
          <a:prstGeom prst="rect">
            <a:avLst/>
          </a:prstGeom>
          <a:noFill/>
        </p:spPr>
        <p:txBody>
          <a:bodyPr wrap="square" anchor="t" lIns="73152" rIns="73152">
            <a:spAutoFit/>
          </a:bodyPr>
          <a:lstStyle/>
          <a:p>
            <a:pPr algn="l">
              <a:lnSpc>
                <a:spcPct val="125000"/>
              </a:lnSpc>
            </a:pPr>
            <a:r>
              <a:rPr sz="1200" b="0" i="0" lang="fr-FR">
                <a:solidFill>
                  <a:srgbClr val="161616"/>
                </a:solidFill>
                <a:latin typeface="Arial"/>
              </a:rPr>
              <a:t>Les mises à jour d'état (telles que "formulaire envoyé" ou "5 articles dans le panier") doivent être codées avec des rôles appropriés (tels que role="status" ou role="alert"), être détectables par les technologies d'assistance, et ne pas nécessiter de déplacement du focus.</a:t>
            </a:r>
          </a:p>
        </p:txBody>
      </p:sp>
      <p:sp>
        <p:nvSpPr>
          <p:cNvPr id="5" name="Espace réservé de la date 4"/>
          <p:cNvSpPr>
            <a:spLocks noGrp="1"/>
          </p:cNvSpPr>
          <p:nvPr>
            <p:ph type="dt" sz="half" idx="10"/>
          </p:nvPr>
        </p:nvSpPr>
        <p:spPr bwMode="gray"/>
        <p:txBody>
          <a:bodyPr wrap="square" anchor="t" lIns="73152" rIns="73152"/>
          <a:lstStyle/>
          <a:p>
            <a:pPr algn="l">
              <a:lnSpc>
                <a:spcPct val="125000"/>
              </a:lnSpc>
            </a:pPr>
            <a:r>
              <a:rPr sz="1000" b="0" i="0" lang="fr-FR">
                <a:solidFill>
                  <a:srgbClr val="666666"/>
                </a:solidFill>
                <a:latin typeface="Arial"/>
              </a:rPr>
              <a:t>9 octobre 2026</a:t>
            </a:r>
            <a:endParaRPr lang="fr-FR" cap="all" dirty="0"/>
          </a:p>
        </p:txBody>
      </p:sp>
      <p:sp>
        <p:nvSpPr>
          <p:cNvPr id="6" name="Espace réservé du pied de page 5"/>
          <p:cNvSpPr>
            <a:spLocks noGrp="1"/>
          </p:cNvSpPr>
          <p:nvPr>
            <p:ph type="ftr" sz="quarter" idx="11"/>
          </p:nvPr>
        </p:nvSpPr>
        <p:spPr bwMode="gray">
          <a:xfrm>
            <a:off x="479998" y="6377984"/>
            <a:ext cx="7871980" cy="479998"/>
          </a:xfrm>
        </p:spPr>
        <p:txBody>
          <a:bodyPr wrap="square" anchor="t" lIns="73152" rIns="73152"/>
          <a:lstStyle/>
          <a:p>
            <a:pPr algn="l">
              <a:lnSpc>
                <a:spcPct val="125000"/>
              </a:lnSpc>
            </a:pPr>
            <a:r>
              <a:rPr sz="1000" b="0" i="0" lang="fr-FR">
                <a:solidFill>
                  <a:srgbClr val="666666"/>
                </a:solidFill>
                <a:latin typeface="Arial"/>
              </a:rPr>
              <a:t>WCAG en langage clair / Rester compatible</a:t>
            </a:r>
          </a:p>
        </p:txBody>
      </p:sp>
      <p:sp>
        <p:nvSpPr>
          <p:cNvPr id="9" name="DSFR-accent-decoratif" descr=""/>
          <p:cNvSpPr/>
          <p:nvPr/>
        </p:nvSpPr>
        <p:spPr>
          <a:xfrm>
            <a:off x="475488"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SFR-accent-decoratif" descr=""/>
          <p:cNvSpPr/>
          <p:nvPr/>
        </p:nvSpPr>
        <p:spPr>
          <a:xfrm>
            <a:off x="6240779" y="2057400"/>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SFR-accent-decoratif" descr=""/>
          <p:cNvSpPr/>
          <p:nvPr/>
        </p:nvSpPr>
        <p:spPr>
          <a:xfrm>
            <a:off x="475488" y="4219956"/>
            <a:ext cx="73152" cy="1961388"/>
          </a:xfrm>
          <a:prstGeom prst="rect">
            <a:avLst/>
          </a:prstGeom>
          <a:solidFill>
            <a:srgbClr val="0000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GOUVERNEMENT">
  <a:themeElements>
    <a:clrScheme name="GOUVERNEMENT PPT">
      <a:dk1>
        <a:srgbClr val="000000"/>
      </a:dk1>
      <a:lt1>
        <a:srgbClr val="FFFFFF"/>
      </a:lt1>
      <a:dk2>
        <a:srgbClr val="000091"/>
      </a:dk2>
      <a:lt2>
        <a:srgbClr val="E1000F"/>
      </a:lt2>
      <a:accent1>
        <a:srgbClr val="005841"/>
      </a:accent1>
      <a:accent2>
        <a:srgbClr val="21215A"/>
      </a:accent2>
      <a:accent3>
        <a:srgbClr val="FFD500"/>
      </a:accent3>
      <a:accent4>
        <a:srgbClr val="EA5433"/>
      </a:accent4>
      <a:accent5>
        <a:srgbClr val="8C2237"/>
      </a:accent5>
      <a:accent6>
        <a:srgbClr val="49311F"/>
      </a:accent6>
      <a:hlink>
        <a:srgbClr val="000000"/>
      </a:hlink>
      <a:folHlink>
        <a:srgbClr val="000000"/>
      </a:folHlink>
    </a:clrScheme>
    <a:fontScheme name="Personnalisé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pt_gouvernement_marianne" id="{307D1C89-B296-4882-8ECC-2BD1C6821949}" vid="{B53EA17D-A77A-459E-979D-FA962BE9015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ppt_gouvernement_arial</Template>
  <TotalTime>200</TotalTime>
  <Words>1065</Words>
  <Application>Microsoft Office PowerPoint</Application>
  <PresentationFormat>Affichage à l'écran (16:9)</PresentationFormat>
  <Paragraphs>157</Paragraphs>
  <Slides>16</Slides>
  <Notes>1</Notes>
  <HiddenSlides>3</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Calibri</vt:lpstr>
      <vt:lpstr>Verdana</vt:lpstr>
      <vt:lpstr>Wingdings</vt:lpstr>
      <vt:lpstr>GOUVERNEMENT</vt:lpstr>
      <vt:lpstr>XXXXX Libelle de la formation</vt:lpstr>
      <vt:lpstr>Présentation PowerPoint</vt:lpstr>
      <vt:lpstr>Le programme</vt:lpstr>
      <vt:lpstr>Présentation PowerPoint</vt:lpstr>
      <vt:lpstr>Sommaire</vt:lpstr>
      <vt:lpstr>Introduction aux réseaux informatiques</vt:lpstr>
      <vt:lpstr>Introduction </vt:lpstr>
      <vt:lpstr>Présentation PowerPoint</vt:lpstr>
      <vt:lpstr>Présentation PowerPoint</vt:lpstr>
      <vt:lpstr>Sommaire</vt:lpstr>
      <vt:lpstr>Titre de partie</vt:lpstr>
      <vt:lpstr>Lorem ipsum dolor  sit amet consectetur</vt:lpstr>
      <vt:lpstr>Lorem ipsum dolor  sit amet consectetur</vt:lpstr>
      <vt:lpstr>Réduire / Augmenter le niveau de liste</vt:lpstr>
      <vt:lpstr>Titre</vt:lpstr>
      <vt:lpstr>Copier / coller les textes</vt:lpstr>
    </vt:vector>
  </TitlesOfParts>
  <Manager>Client</Manager>
  <Company>Secrétariat Général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WCAG en langage clair - condensé</dc:title>
  <dc:subject>Support de formation DSFR condensé - adaptation française de WCAG in Plain English par AAArdvark</dc:subject>
  <dc:creator>Alex Guiderdoni</dc:creator>
  <cp:lastModifiedBy>COUPLAN Carine</cp:lastModifiedBy>
  <cp:revision>15</cp:revision>
  <dcterms:created xsi:type="dcterms:W3CDTF">2020-03-06T09:47:41Z</dcterms:created>
  <dcterms:modified xsi:type="dcterms:W3CDTF">2024-09-06T15:21:48Z</dcterms:modified>
  <dc:language>fr-FR</dc:language>
</cp:coreProperties>
</file>