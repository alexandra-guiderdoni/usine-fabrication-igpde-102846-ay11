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Mnemonique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a ce moment-la.</a:t>
            </a:r>
          </a:p>
          <a:p>
            <a:r>
              <a:rPr lang="fr-FR"/>
              <a:t>Dire : « Vous n'avez pas besoin de retenir tout WCAG.</a:t>
            </a:r>
          </a:p>
          <a:p>
            <a:r>
              <a:rPr lang="fr-FR"/>
              <a:t>Gardez les 4 questions sous la main.</a:t>
            </a:r>
          </a:p>
          <a:p>
            <a:r>
              <a:rPr lang="fr-FR"/>
              <a:t>A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 TargetMode="Externa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jpg"/><Relationship Id="rId3" Type="http://schemas.openxmlformats.org/officeDocument/2006/relationships/image" Target="../media/image3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50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50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458968"/>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4981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2637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15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15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15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690872"/>
            <a:ext cx="868680" cy="868680"/>
          </a:xfrm>
          <a:prstGeom prst="rect">
            <a:avLst/>
          </a:prstGeom>
        </p:spPr>
      </p:pic>
      <p:sp>
        <p:nvSpPr>
          <p:cNvPr id="18" name="DSFR-qrcode-cta"/>
          <p:cNvSpPr txBox="1"/>
          <p:nvPr/>
        </p:nvSpPr>
        <p:spPr>
          <a:xfrm>
            <a:off x="7237475" y="47640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0566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15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15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15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15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15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15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15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15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15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15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15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15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15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15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15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20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20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20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73497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20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20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20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7349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WCAG reposent sur 4 principes. Chacun se résume en une question à poser devant tout contenu.</a:t>
            </a:r>
          </a:p>
        </p:txBody>
      </p:sp>
      <p:sp>
        <p:nvSpPr>
          <p:cNvPr id="12" name="DSFR-box"/>
          <p:cNvSpPr/>
          <p:nvPr/>
        </p:nvSpPr>
        <p:spPr>
          <a:xfrm>
            <a:off x="548640"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Percevoir</a:t>
            </a:r>
          </a:p>
        </p:txBody>
      </p:sp>
      <p:sp>
        <p:nvSpPr>
          <p:cNvPr id="15" name="DSFR-card-contenu"/>
          <p:cNvSpPr txBox="1"/>
          <p:nvPr/>
        </p:nvSpPr>
        <p:spPr>
          <a:xfrm>
            <a:off x="704088"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L'information reste-t-elle disponible si je ne vois pas ou n'entends pas ?</a:t>
            </a:r>
          </a:p>
        </p:txBody>
      </p:sp>
      <p:sp>
        <p:nvSpPr>
          <p:cNvPr id="17" name="DSFR-box"/>
          <p:cNvSpPr/>
          <p:nvPr/>
        </p:nvSpPr>
        <p:spPr>
          <a:xfrm>
            <a:off x="3431286"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Utiliser</a:t>
            </a:r>
          </a:p>
        </p:txBody>
      </p:sp>
      <p:sp>
        <p:nvSpPr>
          <p:cNvPr id="20" name="DSFR-card-contenu"/>
          <p:cNvSpPr txBox="1"/>
          <p:nvPr/>
        </p:nvSpPr>
        <p:spPr>
          <a:xfrm>
            <a:off x="3586734"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Puis-je naviguer et agir sans souris, sans geste impose ?</a:t>
            </a:r>
          </a:p>
        </p:txBody>
      </p:sp>
      <p:sp>
        <p:nvSpPr>
          <p:cNvPr id="22" name="DSFR-box"/>
          <p:cNvSpPr/>
          <p:nvPr/>
        </p:nvSpPr>
        <p:spPr>
          <a:xfrm>
            <a:off x="6313931"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Comprendre</a:t>
            </a:r>
          </a:p>
        </p:txBody>
      </p:sp>
      <p:sp>
        <p:nvSpPr>
          <p:cNvPr id="25" name="DSFR-card-contenu"/>
          <p:cNvSpPr txBox="1"/>
          <p:nvPr/>
        </p:nvSpPr>
        <p:spPr>
          <a:xfrm>
            <a:off x="6469379"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Les mots, formulaires et comportements sont-ils previsibles ?</a:t>
            </a:r>
          </a:p>
        </p:txBody>
      </p:sp>
      <p:sp>
        <p:nvSpPr>
          <p:cNvPr id="27" name="DSFR-box"/>
          <p:cNvSpPr/>
          <p:nvPr/>
        </p:nvSpPr>
        <p:spPr>
          <a:xfrm>
            <a:off x="9196578"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Compatible</a:t>
            </a:r>
          </a:p>
        </p:txBody>
      </p:sp>
      <p:sp>
        <p:nvSpPr>
          <p:cNvPr id="30" name="DSFR-card-contenu"/>
          <p:cNvSpPr txBox="1"/>
          <p:nvPr/>
        </p:nvSpPr>
        <p:spPr>
          <a:xfrm>
            <a:off x="9352026"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Les aides techniques peuvent-elles interpreter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Testez les simulations suivantes</a:t>
            </a:r>
          </a:p>
        </p:txBody>
      </p:sp>
      <p:sp>
        <p:nvSpPr>
          <p:cNvPr id="14" name="DSFR-callout-body"/>
          <p:cNvSpPr txBox="1"/>
          <p:nvPr/>
        </p:nvSpPr>
        <p:spPr>
          <a:xfrm>
            <a:off x="704088" y="4651552"/>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Daltonisme</a:t>
            </a:r>
          </a:p>
          <a:p>
            <a:pPr algn="l">
              <a:lnSpc>
                <a:spcPct val="125000"/>
              </a:lnSpc>
            </a:pPr>
            <a:r>
              <a:rPr sz="1400" lang="fr-FR">
                <a:solidFill>
                  <a:srgbClr val="161616"/>
                </a:solidFill>
                <a:latin typeface="Marianne"/>
              </a:rPr>
              <a:t>• </a:t>
            </a:r>
            <a:r>
              <a:rPr sz="1400" b="0" lang="fr-FR">
                <a:solidFill>
                  <a:srgbClr val="161616"/>
                </a:solidFill>
                <a:latin typeface="Marianne"/>
              </a:rPr>
              <a:t>Malvoyance</a:t>
            </a:r>
          </a:p>
          <a:p>
            <a:pPr algn="l">
              <a:lnSpc>
                <a:spcPct val="125000"/>
              </a:lnSpc>
            </a:pPr>
            <a:r>
              <a:rPr sz="1400" lang="fr-FR">
                <a:solidFill>
                  <a:srgbClr val="161616"/>
                </a:solidFill>
                <a:latin typeface="Marianne"/>
              </a:rPr>
              <a:t>• </a:t>
            </a:r>
            <a:r>
              <a:rPr sz="1400" b="0" lang="fr-FR">
                <a:solidFill>
                  <a:srgbClr val="161616"/>
                </a:solidFill>
                <a:latin typeface="Marianne"/>
              </a:rPr>
              <a:t>Cécité</a:t>
            </a:r>
          </a:p>
          <a:p>
            <a:pPr algn="l">
              <a:lnSpc>
                <a:spcPct val="125000"/>
              </a:lnSpc>
            </a:pPr>
            <a:r>
              <a:rPr sz="1400" lang="fr-FR">
                <a:solidFill>
                  <a:srgbClr val="161616"/>
                </a:solidFill>
                <a:latin typeface="Marianne"/>
              </a:rPr>
              <a:t>• </a:t>
            </a:r>
            <a:r>
              <a:rPr sz="1400" b="0" lang="fr-FR">
                <a:solidFill>
                  <a:srgbClr val="161616"/>
                </a:solidFill>
                <a:latin typeface="Marianne"/>
              </a:rPr>
              <a:t>Surdité</a:t>
            </a:r>
          </a:p>
          <a:p>
            <a:pPr algn="l">
              <a:lnSpc>
                <a:spcPct val="125000"/>
              </a:lnSpc>
            </a:pPr>
            <a:r>
              <a:rPr sz="1400" lang="fr-FR">
                <a:solidFill>
                  <a:srgbClr val="161616"/>
                </a:solidFill>
                <a:latin typeface="Marianne"/>
              </a:rPr>
              <a:t>• </a:t>
            </a:r>
            <a:r>
              <a:rPr sz="1400" b="0" lang="fr-FR">
                <a:solidFill>
                  <a:srgbClr val="161616"/>
                </a:solidFill>
                <a:latin typeface="Marianne"/>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Amir, charge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Alternative textuelle sur chaque image (attribut alt)</a:t>
            </a:r>
          </a:p>
          <a:p>
            <a:pPr algn="l">
              <a:lnSpc>
                <a:spcPct val="130000"/>
              </a:lnSpc>
            </a:pPr>
            <a:r>
              <a:rPr sz="1400" lang="fr-FR">
                <a:solidFill>
                  <a:srgbClr val="161616"/>
                </a:solidFill>
                <a:latin typeface="Marianne"/>
              </a:rPr>
              <a:t>• </a:t>
            </a:r>
            <a:r>
              <a:rPr sz="1400" b="0" lang="fr-FR">
                <a:solidFill>
                  <a:srgbClr val="161616"/>
                </a:solidFill>
                <a:latin typeface="Marianne"/>
              </a:rPr>
              <a:t>Structure logique du document (titres, listes, tableaux)</a:t>
            </a:r>
          </a:p>
          <a:p>
            <a:pPr algn="l">
              <a:lnSpc>
                <a:spcPct val="130000"/>
              </a:lnSpc>
            </a:pPr>
            <a:r>
              <a:rPr sz="1400" lang="fr-FR">
                <a:solidFill>
                  <a:srgbClr val="161616"/>
                </a:solidFill>
                <a:latin typeface="Marianne"/>
              </a:rPr>
              <a:t>• </a:t>
            </a:r>
            <a:r>
              <a:rPr sz="1400" b="0" lang="fr-FR">
                <a:solidFill>
                  <a:srgbClr val="161616"/>
                </a:solidFill>
                <a:latin typeface="Marianne"/>
              </a:rPr>
              <a:t>Liens explicites (pas de « cliquez ici »)</a:t>
            </a:r>
          </a:p>
          <a:p>
            <a:pPr algn="l">
              <a:lnSpc>
                <a:spcPct val="130000"/>
              </a:lnSpc>
            </a:pPr>
            <a:r>
              <a:rPr sz="1400" lang="fr-FR">
                <a:solidFill>
                  <a:srgbClr val="161616"/>
                </a:solidFill>
                <a:latin typeface="Marianne"/>
              </a:rPr>
              <a:t>• </a:t>
            </a:r>
            <a:r>
              <a:rPr sz="1400" b="0" lang="fr-FR">
                <a:solidFill>
                  <a:srgbClr val="161616"/>
                </a:solidFill>
                <a:latin typeface="Marianne"/>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Agrandir la taille des textes et des interfaces</a:t>
            </a:r>
          </a:p>
          <a:p>
            <a:pPr algn="l">
              <a:lnSpc>
                <a:spcPct val="130000"/>
              </a:lnSpc>
            </a:pPr>
            <a:r>
              <a:rPr sz="1400" lang="fr-FR">
                <a:solidFill>
                  <a:srgbClr val="161616"/>
                </a:solidFill>
                <a:latin typeface="Marianne"/>
              </a:rPr>
              <a:t>• </a:t>
            </a:r>
            <a:r>
              <a:rPr sz="1400" b="0" lang="fr-FR">
                <a:solidFill>
                  <a:srgbClr val="161616"/>
                </a:solidFill>
                <a:latin typeface="Marianne"/>
              </a:rPr>
              <a:t>Contraste suffisant entre texte et fond (ratio 4.5:1 minimum)</a:t>
            </a:r>
          </a:p>
          <a:p>
            <a:pPr algn="l">
              <a:lnSpc>
                <a:spcPct val="130000"/>
              </a:lnSpc>
            </a:pPr>
            <a:r>
              <a:rPr sz="1400" lang="fr-FR">
                <a:solidFill>
                  <a:srgbClr val="161616"/>
                </a:solidFill>
                <a:latin typeface="Marianne"/>
              </a:rPr>
              <a:t>• </a:t>
            </a:r>
            <a:r>
              <a:rPr sz="1400" b="0" lang="fr-FR">
                <a:solidFill>
                  <a:srgbClr val="161616"/>
                </a:solidFill>
                <a:latin typeface="Marianne"/>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Sous-titres sur toutes les vidéos et contenus audio</a:t>
            </a:r>
          </a:p>
          <a:p>
            <a:pPr algn="l">
              <a:lnSpc>
                <a:spcPct val="130000"/>
              </a:lnSpc>
            </a:pPr>
            <a:r>
              <a:rPr sz="1400" lang="fr-FR">
                <a:solidFill>
                  <a:srgbClr val="161616"/>
                </a:solidFill>
                <a:latin typeface="Marianne"/>
              </a:rPr>
              <a:t>• </a:t>
            </a:r>
            <a:r>
              <a:rPr sz="1400" b="0" lang="fr-FR">
                <a:solidFill>
                  <a:srgbClr val="161616"/>
                </a:solidFill>
                <a:latin typeface="Marianne"/>
              </a:rPr>
              <a:t>Transcription textuelle des podcasts et webinaires</a:t>
            </a:r>
          </a:p>
          <a:p>
            <a:pPr algn="l">
              <a:lnSpc>
                <a:spcPct val="130000"/>
              </a:lnSpc>
            </a:pPr>
            <a:r>
              <a:rPr sz="1400" lang="fr-FR">
                <a:solidFill>
                  <a:srgbClr val="161616"/>
                </a:solidFill>
                <a:latin typeface="Marianne"/>
              </a:rPr>
              <a:t>• </a:t>
            </a:r>
            <a:r>
              <a:rPr sz="1400" b="0" lang="fr-FR">
                <a:solidFill>
                  <a:srgbClr val="161616"/>
                </a:solidFill>
                <a:latin typeface="Marianne"/>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Naviguer sans souris, avec des contacteurs adaptés</a:t>
            </a:r>
          </a:p>
          <a:p>
            <a:pPr algn="l">
              <a:lnSpc>
                <a:spcPct val="130000"/>
              </a:lnSpc>
            </a:pPr>
            <a:r>
              <a:rPr sz="1400" lang="fr-FR">
                <a:solidFill>
                  <a:srgbClr val="161616"/>
                </a:solidFill>
                <a:latin typeface="Marianne"/>
              </a:rPr>
              <a:t>• </a:t>
            </a:r>
            <a:r>
              <a:rPr sz="1400" b="0" lang="fr-FR">
                <a:solidFill>
                  <a:srgbClr val="161616"/>
                </a:solidFill>
                <a:latin typeface="Marianne"/>
              </a:rPr>
              <a:t>Cibles cliquables suffisamment larges (44 x 44 px minimum)</a:t>
            </a:r>
          </a:p>
          <a:p>
            <a:pPr algn="l">
              <a:lnSpc>
                <a:spcPct val="130000"/>
              </a:lnSpc>
            </a:pPr>
            <a:r>
              <a:rPr sz="1400" lang="fr-FR">
                <a:solidFill>
                  <a:srgbClr val="161616"/>
                </a:solidFill>
                <a:latin typeface="Marianne"/>
              </a:rPr>
              <a:t>• </a:t>
            </a:r>
            <a:r>
              <a:rPr sz="1400" b="0" lang="fr-FR">
                <a:solidFill>
                  <a:srgbClr val="161616"/>
                </a:solidFill>
                <a:latin typeface="Marianne"/>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Phrases courtes et simples, sans double négation</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une idee par paragraphe</a:t>
            </a:r>
          </a:p>
          <a:p>
            <a:pPr algn="l">
              <a:lnSpc>
                <a:spcPct val="130000"/>
              </a:lnSpc>
            </a:pPr>
            <a:r>
              <a:rPr sz="1400" lang="fr-FR">
                <a:solidFill>
                  <a:srgbClr val="161616"/>
                </a:solidFill>
                <a:latin typeface="Marianne"/>
              </a:rPr>
              <a:t>• </a:t>
            </a:r>
            <a:r>
              <a:rPr sz="1400" b="0" lang="fr-FR">
                <a:solidFill>
                  <a:srgbClr val="161616"/>
                </a:solidFill>
                <a:latin typeface="Marianne"/>
              </a:rPr>
              <a:t>Pictogrammes pour accompagner le texte</a:t>
            </a:r>
          </a:p>
          <a:p>
            <a:pPr algn="l">
              <a:lnSpc>
                <a:spcPct val="130000"/>
              </a:lnSpc>
            </a:pPr>
            <a:r>
              <a:rPr sz="1400" lang="fr-FR">
                <a:solidFill>
                  <a:srgbClr val="161616"/>
                </a:solidFill>
                <a:latin typeface="Marianne"/>
              </a:rPr>
              <a:t>• </a:t>
            </a:r>
            <a:r>
              <a:rPr sz="1400" b="0" lang="fr-FR">
                <a:solidFill>
                  <a:srgbClr val="161616"/>
                </a:solidFill>
                <a:latin typeface="Marianne"/>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a:t>
            </a:r>
          </a:p>
        </p:txBody>
      </p:sp>
      <p:sp>
        <p:nvSpPr>
          <p:cNvPr id="17" name="DSFR-box"/>
          <p:cNvSpPr/>
          <p:nvPr/>
        </p:nvSpPr>
        <p:spPr>
          <a:xfrm>
            <a:off x="548640" y="4498848"/>
            <a:ext cx="11155680"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01768"/>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Porteur de trisomie 21</a:t>
            </a:r>
          </a:p>
          <a:p>
            <a:pPr algn="l">
              <a:lnSpc>
                <a:spcPct val="120000"/>
              </a:lnSpc>
            </a:pPr>
            <a:r>
              <a:rPr sz="1400" lang="fr-FR">
                <a:solidFill>
                  <a:srgbClr val="161616"/>
                </a:solidFill>
                <a:latin typeface="Marianne"/>
              </a:rPr>
              <a:t>• </a:t>
            </a:r>
            <a:r>
              <a:rPr sz="1400" b="0" lang="fr-FR">
                <a:solidFill>
                  <a:srgbClr val="161616"/>
                </a:solidFill>
                <a:latin typeface="Marianne"/>
              </a:rPr>
              <a:t>Lire lui demande du temps et de la concentration</a:t>
            </a:r>
          </a:p>
          <a:p>
            <a:pPr algn="l">
              <a:lnSpc>
                <a:spcPct val="120000"/>
              </a:lnSpc>
            </a:pPr>
            <a:r>
              <a:rPr sz="1400" lang="fr-FR">
                <a:solidFill>
                  <a:srgbClr val="161616"/>
                </a:solidFill>
                <a:latin typeface="Marianne"/>
              </a:rPr>
              <a:t>• </a:t>
            </a:r>
            <a:r>
              <a:rPr sz="1400" b="0" lang="fr-FR">
                <a:solidFill>
                  <a:srgbClr val="161616"/>
                </a:solidFill>
                <a:latin typeface="Marianne"/>
              </a:rPr>
              <a:t>Il comprend mieux les phrases simples et courtes</a:t>
            </a:r>
          </a:p>
          <a:p>
            <a:pPr algn="l">
              <a:lnSpc>
                <a:spcPct val="120000"/>
              </a:lnSpc>
            </a:pPr>
            <a:r>
              <a:rPr sz="1400" lang="fr-FR">
                <a:solidFill>
                  <a:srgbClr val="161616"/>
                </a:solidFill>
                <a:latin typeface="Marianne"/>
              </a:rPr>
              <a:t>• </a:t>
            </a:r>
            <a:r>
              <a:rPr sz="1400" b="0" lang="fr-FR">
                <a:solidFill>
                  <a:srgbClr val="161616"/>
                </a:solidFill>
                <a:latin typeface="Marianne"/>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Mettre en pause les animations (carrousels, vidéo autoplay)</a:t>
            </a:r>
          </a:p>
          <a:p>
            <a:pPr algn="l">
              <a:lnSpc>
                <a:spcPct val="130000"/>
              </a:lnSpc>
            </a:pPr>
            <a:r>
              <a:rPr sz="1400" lang="fr-FR">
                <a:solidFill>
                  <a:srgbClr val="161616"/>
                </a:solidFill>
                <a:latin typeface="Marianne"/>
              </a:rPr>
              <a:t>• </a:t>
            </a:r>
            <a:r>
              <a:rPr sz="1400" b="0" lang="fr-FR">
                <a:solidFill>
                  <a:srgbClr val="161616"/>
                </a:solidFill>
                <a:latin typeface="Marianne"/>
              </a:rPr>
              <a:t>Textes non justifies, avec un espacement suffisant</a:t>
            </a:r>
          </a:p>
          <a:p>
            <a:pPr algn="l">
              <a:lnSpc>
                <a:spcPct val="130000"/>
              </a:lnSpc>
            </a:pPr>
            <a:r>
              <a:rPr sz="1400" lang="fr-FR">
                <a:solidFill>
                  <a:srgbClr val="161616"/>
                </a:solidFill>
                <a:latin typeface="Marianne"/>
              </a:rPr>
              <a:t>• </a:t>
            </a:r>
            <a:r>
              <a:rPr sz="1400" b="0" lang="fr-FR">
                <a:solidFill>
                  <a:srgbClr val="161616"/>
                </a:solidFill>
                <a:latin typeface="Marianne"/>
              </a:rPr>
              <a:t>Polices lisibles, sans empattement (sans serif)</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 + Percevoir</a:t>
            </a:r>
          </a:p>
        </p:txBody>
      </p:sp>
      <p:sp>
        <p:nvSpPr>
          <p:cNvPr id="17" name="DSFR-box"/>
          <p:cNvSpPr/>
          <p:nvPr/>
        </p:nvSpPr>
        <p:spPr>
          <a:xfrm>
            <a:off x="548640" y="457200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7492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Consulte quotidiennement des sites d'info pour ses revues de presse</a:t>
            </a:r>
          </a:p>
          <a:p>
            <a:pPr algn="l">
              <a:lnSpc>
                <a:spcPct val="120000"/>
              </a:lnSpc>
            </a:pPr>
            <a:r>
              <a:rPr sz="1400" lang="fr-FR">
                <a:solidFill>
                  <a:srgbClr val="161616"/>
                </a:solidFill>
                <a:latin typeface="Marianne"/>
              </a:rPr>
              <a:t>• </a:t>
            </a:r>
            <a:r>
              <a:rPr sz="1400" b="0" lang="fr-FR">
                <a:solidFill>
                  <a:srgbClr val="161616"/>
                </a:solidFill>
                <a:latin typeface="Marianne"/>
              </a:rPr>
              <a:t>Trouble de l'attention : les animations non contrôlables le déconcentrent</a:t>
            </a:r>
          </a:p>
          <a:p>
            <a:pPr algn="l">
              <a:lnSpc>
                <a:spcPct val="120000"/>
              </a:lnSpc>
            </a:pPr>
            <a:r>
              <a:rPr sz="1400" lang="fr-FR">
                <a:solidFill>
                  <a:srgbClr val="161616"/>
                </a:solidFill>
                <a:latin typeface="Marianne"/>
              </a:rPr>
              <a:t>• </a:t>
            </a:r>
            <a:r>
              <a:rPr sz="1400" b="0" lang="fr-FR">
                <a:solidFill>
                  <a:srgbClr val="161616"/>
                </a:solidFill>
                <a:latin typeface="Marianne"/>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Marianne"/>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6606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631436"/>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a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 a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Appareil auditif, boucle magnetique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6606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631436"/>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20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20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ça change pour vous</a:t>
            </a:r>
          </a:p>
        </p:txBody>
      </p:sp>
      <p:sp>
        <p:nvSpPr>
          <p:cNvPr id="15" name="DSFR-callout-body"/>
          <p:cNvSpPr txBox="1"/>
          <p:nvPr/>
        </p:nvSpPr>
        <p:spPr>
          <a:xfrm>
            <a:off x="6053328" y="3497579"/>
            <a:ext cx="55595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C'est l'environnement qui crée le handicap, pas la personne</a:t>
            </a:r>
          </a:p>
          <a:p>
            <a:pPr algn="l">
              <a:lnSpc>
                <a:spcPct val="130000"/>
              </a:lnSpc>
            </a:pPr>
            <a:r>
              <a:rPr sz="1400" lang="fr-FR">
                <a:solidFill>
                  <a:srgbClr val="161616"/>
                </a:solidFill>
                <a:latin typeface="Marianne"/>
              </a:rPr>
              <a:t>• </a:t>
            </a:r>
            <a:r>
              <a:rPr sz="1400" b="0" lang="fr-FR">
                <a:solidFill>
                  <a:srgbClr val="161616"/>
                </a:solidFill>
                <a:latin typeface="Marianne"/>
              </a:rPr>
              <a:t>Un document inaccessible = une barrière que vous pouvez lever</a:t>
            </a:r>
          </a:p>
          <a:p>
            <a:pPr algn="l">
              <a:lnSpc>
                <a:spcPct val="130000"/>
              </a:lnSpc>
            </a:pPr>
            <a:r>
              <a:rPr sz="1400" lang="fr-FR">
                <a:solidFill>
                  <a:srgbClr val="161616"/>
                </a:solidFill>
                <a:latin typeface="Marianne"/>
              </a:rPr>
              <a:t>• </a:t>
            </a:r>
            <a:r>
              <a:rPr sz="1400" b="0" lang="fr-FR">
                <a:solidFill>
                  <a:srgbClr val="161616"/>
                </a:solidFill>
                <a:latin typeface="Marianne"/>
              </a:rPr>
              <a:t>Accessibiliser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32504" y="3040380"/>
            <a:ext cx="4114800" cy="322612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20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20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20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20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20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20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97680"/>
            <a:ext cx="11155680" cy="165323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3891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800600"/>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20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20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20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297680"/>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connaissez le cadre. Mais concrètement, quelles obligations s'appliquent à votre poste et à votre structure ?</a:t>
            </a:r>
          </a:p>
        </p:txBody>
      </p:sp>
      <p:sp>
        <p:nvSpPr>
          <p:cNvPr id="12" name="DSFR-box"/>
          <p:cNvSpPr/>
          <p:nvPr/>
        </p:nvSpPr>
        <p:spPr>
          <a:xfrm>
            <a:off x="548640" y="3314700"/>
            <a:ext cx="9326880"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simulateur Obligally (10 min)</a:t>
            </a:r>
          </a:p>
        </p:txBody>
      </p:sp>
      <p:sp>
        <p:nvSpPr>
          <p:cNvPr id="14" name="DSFR-alert-info-body"/>
          <p:cNvSpPr txBox="1"/>
          <p:nvPr/>
        </p:nvSpPr>
        <p:spPr>
          <a:xfrm>
            <a:off x="704088" y="3817620"/>
            <a:ext cx="9079992"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Cliquez sur Simuler et répondez aux questions</a:t>
            </a:r>
          </a:p>
          <a:p>
            <a:pPr algn="l">
              <a:lnSpc>
                <a:spcPct val="150000"/>
              </a:lnSpc>
            </a:pPr>
            <a:r>
              <a:rPr sz="1400" lang="fr-FR">
                <a:solidFill>
                  <a:srgbClr val="161616"/>
                </a:solidFill>
                <a:latin typeface="Marianne"/>
              </a:rPr>
              <a:t>• </a:t>
            </a:r>
            <a:r>
              <a:rPr sz="1400" b="0" lang="fr-FR">
                <a:solidFill>
                  <a:srgbClr val="161616"/>
                </a:solidFill>
                <a:latin typeface="Marianne"/>
              </a:rPr>
              <a:t>Notez le résultat : quelles normes s'appliquent à vous ?</a:t>
            </a:r>
          </a:p>
          <a:p>
            <a:pPr algn="l">
              <a:lnSpc>
                <a:spcPct val="150000"/>
              </a:lnSpc>
            </a:pPr>
            <a:r>
              <a:rPr sz="1400" lang="fr-FR">
                <a:solidFill>
                  <a:srgbClr val="161616"/>
                </a:solidFill>
                <a:latin typeface="Marianne"/>
              </a:rPr>
              <a:t>• </a:t>
            </a:r>
            <a:r>
              <a:rPr sz="1400" b="0" lang="fr-FR">
                <a:solidFill>
                  <a:srgbClr val="161616"/>
                </a:solidFill>
                <a:latin typeface="Marianne"/>
              </a:rPr>
              <a:t>Visualiser (infographie) : .../fr/visualisation/</a:t>
            </a:r>
          </a:p>
          <a:p>
            <a:pPr algn="l">
              <a:lnSpc>
                <a:spcPct val="150000"/>
              </a:lnSpc>
            </a:pPr>
            <a:r>
              <a:rPr sz="1400" lang="fr-FR">
                <a:solidFill>
                  <a:srgbClr val="161616"/>
                </a:solidFill>
                <a:latin typeface="Marianne"/>
              </a:rPr>
              <a:t>• </a:t>
            </a:r>
            <a:r>
              <a:rPr sz="1400" b="0" lang="fr-FR">
                <a:solidFill>
                  <a:srgbClr val="161616"/>
                </a:solidFill>
                <a:latin typeface="Marianne"/>
              </a:rPr>
              <a:t>Approfondir (article détaillé) : .../fr/comprendre/</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27432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Scannez-moi !</a:t>
            </a:r>
          </a:p>
        </p:txBody>
      </p:sp>
      <p:sp>
        <p:nvSpPr>
          <p:cNvPr id="17" name="TextBox 16"/>
          <p:cNvSpPr txBox="1"/>
          <p:nvPr/>
        </p:nvSpPr>
        <p:spPr>
          <a:xfrm>
            <a:off x="475488" y="5295290"/>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661050"/>
            <a:ext cx="11228832" cy="219456"/>
          </a:xfrm>
          <a:prstGeom prst="rect">
            <a:avLst/>
          </a:prstGeom>
          <a:noFill/>
        </p:spPr>
        <p:txBody>
          <a:bodyPr wrap="none">
            <a:spAutoFit/>
          </a:bodyPr>
          <a:lstStyle/>
          <a:p>
            <a:r>
              <a:rPr sz="900" b="1" lang="fr-FR">
                <a:solidFill>
                  <a:srgbClr val="161616"/>
                </a:solidFill>
              </a:rPr>
              <a:t>Simuler : </a:t>
            </a:r>
            <a:r>
              <a:rPr sz="900" u="sng" lang="fr-FR">
                <a:solidFill>
                  <a:srgbClr val="000091"/>
                </a:solidFill>
                <a:hlinkClick r:id="rId4"/>
              </a:rPr>
              <a:t>https://obligations-legales-accessibilite-numerique.fr/fr/simulation/</a:t>
            </a:r>
          </a:p>
        </p:txBody>
      </p:sp>
      <p:sp>
        <p:nvSpPr>
          <p:cNvPr id="19" name="TextBox 18"/>
          <p:cNvSpPr txBox="1"/>
          <p:nvPr/>
        </p:nvSpPr>
        <p:spPr>
          <a:xfrm>
            <a:off x="475488" y="5907938"/>
            <a:ext cx="11228832" cy="219456"/>
          </a:xfrm>
          <a:prstGeom prst="rect">
            <a:avLst/>
          </a:prstGeom>
          <a:noFill/>
        </p:spPr>
        <p:txBody>
          <a:bodyPr wrap="none">
            <a:spAutoFit/>
          </a:bodyPr>
          <a:lstStyle/>
          <a:p>
            <a:r>
              <a:rPr sz="900" b="1" lang="fr-FR">
                <a:solidFill>
                  <a:srgbClr val="161616"/>
                </a:solidFill>
              </a:rPr>
              <a:t>Comprendre : </a:t>
            </a:r>
            <a:r>
              <a:rPr sz="9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/déclaration-accessibilité</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2011680"/>
            <a:ext cx="9509759"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514600"/>
            <a:ext cx="926287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Droit fondamental d'acces a l'information</a:t>
            </a:r>
          </a:p>
          <a:p>
            <a:pPr algn="l">
              <a:lnSpc>
                <a:spcPct val="120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20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63086"/>
          <a:ext cx="10972800" cy="2057400"/>
        </p:xfrm>
        <a:graphic>
          <a:graphicData uri="http://schemas.openxmlformats.org/drawingml/2006/table">
            <a:tbl>
              <a:tblPr firstRow="1" bandRow="1">
                <a:tableStyleId>{5C22544A-7EE6-4342-B048-85BDC9FD1C3A}</a:tableStyleId>
              </a:tblPr>
              <a:tblGrid>
                <a:gridCol w="5486400"/>
                <a:gridCol w="5486400"/>
              </a:tblGrid>
              <a:tr h="411480">
                <a:tc>
                  <a:txBody>
                    <a:bodyPr wrap="square" anchor="ctr" lIns="73152" rIns="73152"/>
                    <a:lstStyle/>
                    <a:p>
                      <a:pPr algn="l">
                        <a:lnSpc>
                          <a:spcPct val="125000"/>
                        </a:lnSpc>
                      </a:pPr>
                      <a:r>
                        <a:rPr sz="1400" b="1" i="0" lang="fr-FR">
                          <a:solidFill>
                            <a:srgbClr val="FFFFFF"/>
                          </a:solidFill>
                          <a:latin typeface="Marianne"/>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01168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systèmes d'exploitation et les suites bureautiques intègrent déjà des fonctions d'accessibilité. Pas besoin de tout réinventer.</a:t>
            </a:r>
          </a:p>
        </p:txBody>
      </p:sp>
      <p:sp>
        <p:nvSpPr>
          <p:cNvPr id="12" name="DSFR-box"/>
          <p:cNvSpPr/>
          <p:nvPr/>
        </p:nvSpPr>
        <p:spPr>
          <a:xfrm>
            <a:off x="548640" y="3302812"/>
            <a:ext cx="5390388"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Vision</a:t>
            </a:r>
          </a:p>
        </p:txBody>
      </p:sp>
      <p:sp>
        <p:nvSpPr>
          <p:cNvPr id="14" name="DSFR-callout-body"/>
          <p:cNvSpPr txBox="1"/>
          <p:nvPr/>
        </p:nvSpPr>
        <p:spPr>
          <a:xfrm>
            <a:off x="704088" y="3805732"/>
            <a:ext cx="5143500"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Loupe et zoom intégrés</a:t>
            </a:r>
          </a:p>
          <a:p>
            <a:pPr algn="l">
              <a:lnSpc>
                <a:spcPct val="120000"/>
              </a:lnSpc>
            </a:pPr>
            <a:r>
              <a:rPr sz="1400" lang="fr-FR">
                <a:solidFill>
                  <a:srgbClr val="161616"/>
                </a:solidFill>
                <a:latin typeface="Marianne"/>
              </a:rPr>
              <a:t>• </a:t>
            </a:r>
            <a:r>
              <a:rPr sz="1400" b="0" lang="fr-FR">
                <a:solidFill>
                  <a:srgbClr val="161616"/>
                </a:solidFill>
                <a:latin typeface="Marianne"/>
              </a:rPr>
              <a:t>Filtres de couleur et mode sombre</a:t>
            </a:r>
          </a:p>
          <a:p>
            <a:pPr algn="l">
              <a:lnSpc>
                <a:spcPct val="120000"/>
              </a:lnSpc>
            </a:pPr>
            <a:r>
              <a:rPr sz="1400" lang="fr-FR">
                <a:solidFill>
                  <a:srgbClr val="161616"/>
                </a:solidFill>
                <a:latin typeface="Marianne"/>
              </a:rPr>
              <a:t>• </a:t>
            </a:r>
            <a:r>
              <a:rPr sz="1400" b="0" lang="fr-FR">
                <a:solidFill>
                  <a:srgbClr val="161616"/>
                </a:solidFill>
                <a:latin typeface="Marianne"/>
              </a:rPr>
              <a:t>Narrateur / NVDA (lecteur d'écran)</a:t>
            </a:r>
          </a:p>
          <a:p>
            <a:pPr algn="l">
              <a:lnSpc>
                <a:spcPct val="120000"/>
              </a:lnSpc>
            </a:pPr>
            <a:r>
              <a:rPr sz="1400" lang="fr-FR">
                <a:solidFill>
                  <a:srgbClr val="161616"/>
                </a:solidFill>
                <a:latin typeface="Marianne"/>
              </a:rPr>
              <a:t>• </a:t>
            </a:r>
            <a:r>
              <a:rPr sz="1400" b="0" lang="fr-FR">
                <a:solidFill>
                  <a:srgbClr val="161616"/>
                </a:solidFill>
                <a:latin typeface="Marianne"/>
              </a:rPr>
              <a:t>Réglage de la taille du texte</a:t>
            </a:r>
          </a:p>
        </p:txBody>
      </p:sp>
      <p:sp>
        <p:nvSpPr>
          <p:cNvPr id="16" name="DSFR-box"/>
          <p:cNvSpPr/>
          <p:nvPr/>
        </p:nvSpPr>
        <p:spPr>
          <a:xfrm>
            <a:off x="6313931" y="3302812"/>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Audition et interaction</a:t>
            </a:r>
          </a:p>
        </p:txBody>
      </p:sp>
      <p:sp>
        <p:nvSpPr>
          <p:cNvPr id="18" name="DSFR-callout-body"/>
          <p:cNvSpPr txBox="1"/>
          <p:nvPr/>
        </p:nvSpPr>
        <p:spPr>
          <a:xfrm>
            <a:off x="6469379" y="3805732"/>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en temps réel</a:t>
            </a:r>
          </a:p>
          <a:p>
            <a:pPr algn="l">
              <a:lnSpc>
                <a:spcPct val="120000"/>
              </a:lnSpc>
            </a:pPr>
            <a:r>
              <a:rPr sz="1400" lang="fr-FR">
                <a:solidFill>
                  <a:srgbClr val="161616"/>
                </a:solidFill>
                <a:latin typeface="Marianne"/>
              </a:rPr>
              <a:t>• </a:t>
            </a:r>
            <a:r>
              <a:rPr sz="1400" b="0" lang="fr-FR">
                <a:solidFill>
                  <a:srgbClr val="161616"/>
                </a:solidFill>
                <a:latin typeface="Marianne"/>
              </a:rPr>
              <a:t>Commandes vocales</a:t>
            </a:r>
          </a:p>
          <a:p>
            <a:pPr algn="l">
              <a:lnSpc>
                <a:spcPct val="120000"/>
              </a:lnSpc>
            </a:pPr>
            <a:r>
              <a:rPr sz="1400" lang="fr-FR">
                <a:solidFill>
                  <a:srgbClr val="161616"/>
                </a:solidFill>
                <a:latin typeface="Marianne"/>
              </a:rPr>
              <a:t>• </a:t>
            </a:r>
            <a:r>
              <a:rPr sz="1400" b="0" lang="fr-FR">
                <a:solidFill>
                  <a:srgbClr val="161616"/>
                </a:solidFill>
                <a:latin typeface="Marianne"/>
              </a:rPr>
              <a:t>Navigation au clavier</a:t>
            </a:r>
          </a:p>
          <a:p>
            <a:pPr algn="l">
              <a:lnSpc>
                <a:spcPct val="120000"/>
              </a:lnSpc>
            </a:pPr>
            <a:r>
              <a:rPr sz="1400" lang="fr-FR">
                <a:solidFill>
                  <a:srgbClr val="161616"/>
                </a:solidFill>
                <a:latin typeface="Marianne"/>
              </a:rPr>
              <a:t>• </a:t>
            </a:r>
            <a:r>
              <a:rPr sz="1400" b="0" lang="fr-FR">
                <a:solidFill>
                  <a:srgbClr val="161616"/>
                </a:solidFill>
                <a:latin typeface="Marianne"/>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323636"/>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20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20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20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20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20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20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541264" y="5706770"/>
            <a:ext cx="1097280" cy="996075"/>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Des règles et bonnes pratiques simples permettent de garantir l'accessibilité à toutes et tous.</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étapes pour avancer</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Être sensibilisé - c'est ce qu'on fait aujourd'hui</a:t>
            </a:r>
          </a:p>
          <a:p>
            <a:pPr algn="l">
              <a:lnSpc>
                <a:spcPct val="120000"/>
              </a:lnSpc>
            </a:pPr>
            <a:r>
              <a:rPr sz="1400" lang="fr-FR">
                <a:solidFill>
                  <a:srgbClr val="161616"/>
                </a:solidFill>
                <a:latin typeface="Marianne"/>
              </a:rPr>
              <a:t>• </a:t>
            </a:r>
            <a:r>
              <a:rPr sz="1400" b="0" lang="fr-FR">
                <a:solidFill>
                  <a:srgbClr val="161616"/>
                </a:solidFill>
                <a:latin typeface="Marianne"/>
              </a:rPr>
              <a:t>Être à l'écoute des besoins spécifiques</a:t>
            </a:r>
          </a:p>
          <a:p>
            <a:pPr algn="l">
              <a:lnSpc>
                <a:spcPct val="120000"/>
              </a:lnSpc>
            </a:pPr>
            <a:r>
              <a:rPr sz="1400" lang="fr-FR">
                <a:solidFill>
                  <a:srgbClr val="161616"/>
                </a:solidFill>
                <a:latin typeface="Marianne"/>
              </a:rPr>
              <a:t>• </a:t>
            </a:r>
            <a:r>
              <a:rPr sz="1400" b="0" lang="fr-FR">
                <a:solidFill>
                  <a:srgbClr val="161616"/>
                </a:solidFill>
                <a:latin typeface="Marianne"/>
              </a:rPr>
              <a:t>Connaître les matériels et logiciels adaptés</a:t>
            </a:r>
          </a:p>
          <a:p>
            <a:pPr algn="l">
              <a:lnSpc>
                <a:spcPct val="120000"/>
              </a:lnSpc>
            </a:pPr>
            <a:r>
              <a:rPr sz="1400" lang="fr-FR">
                <a:solidFill>
                  <a:srgbClr val="161616"/>
                </a:solidFill>
                <a:latin typeface="Marianne"/>
              </a:rPr>
              <a:t>• </a:t>
            </a:r>
            <a:r>
              <a:rPr sz="1400" b="0" lang="fr-FR">
                <a:solidFill>
                  <a:srgbClr val="161616"/>
                </a:solidFill>
                <a:latin typeface="Marianne"/>
              </a:rPr>
              <a:t>Se former pour découvrir un nouvel univers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Offre de formation</a:t>
            </a:r>
          </a:p>
        </p:txBody>
      </p:sp>
      <p:sp>
        <p:nvSpPr>
          <p:cNvPr id="18" name="DSFR-alert-success-body"/>
          <p:cNvSpPr txBox="1"/>
          <p:nvPr/>
        </p:nvSpPr>
        <p:spPr>
          <a:xfrm>
            <a:off x="6469379"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Mentor (en ligne) : l'accessibilité numérique selon votre métier</a:t>
            </a:r>
          </a:p>
          <a:p>
            <a:pPr algn="l">
              <a:lnSpc>
                <a:spcPct val="120000"/>
              </a:lnSpc>
            </a:pPr>
            <a:r>
              <a:rPr sz="1400" lang="fr-FR">
                <a:solidFill>
                  <a:srgbClr val="161616"/>
                </a:solidFill>
                <a:latin typeface="Marianne"/>
              </a:rPr>
              <a:t>• </a:t>
            </a:r>
            <a:r>
              <a:rPr sz="1400" b="0" lang="fr-FR">
                <a:solidFill>
                  <a:srgbClr val="161616"/>
                </a:solidFill>
                <a:latin typeface="Marianne"/>
              </a:rPr>
              <a:t>IGPDE : l'accessibilité numérique pour la bureautique et le web (réf. 102846)</a:t>
            </a:r>
          </a:p>
          <a:p>
            <a:pPr algn="l">
              <a:lnSpc>
                <a:spcPct val="120000"/>
              </a:lnSpc>
            </a:pPr>
            <a:r>
              <a:rPr sz="1400" lang="fr-FR">
                <a:solidFill>
                  <a:srgbClr val="161616"/>
                </a:solidFill>
                <a:latin typeface="Marianne"/>
              </a:rPr>
              <a:t>• </a:t>
            </a:r>
            <a:r>
              <a:rPr sz="1400" b="0" lang="fr-FR">
                <a:solidFill>
                  <a:srgbClr val="161616"/>
                </a:solidFill>
                <a:latin typeface="Marianne"/>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est tres difficile de faire simple ! Le FALC suit un processus rigoureux.</a:t>
            </a:r>
          </a:p>
        </p:txBody>
      </p:sp>
      <p:sp>
        <p:nvSpPr>
          <p:cNvPr id="12" name="DSFR-box"/>
          <p:cNvSpPr/>
          <p:nvPr/>
        </p:nvSpPr>
        <p:spPr>
          <a:xfrm>
            <a:off x="548640" y="294894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5 étapes</a:t>
            </a:r>
          </a:p>
        </p:txBody>
      </p:sp>
      <p:sp>
        <p:nvSpPr>
          <p:cNvPr id="14" name="DSFR-callout-body"/>
          <p:cNvSpPr txBox="1"/>
          <p:nvPr/>
        </p:nvSpPr>
        <p:spPr>
          <a:xfrm>
            <a:off x="704088" y="3451860"/>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Préparatoire : recherches, résumé simplifié, contrôle des contre-sens</a:t>
            </a:r>
          </a:p>
          <a:p>
            <a:pPr algn="l">
              <a:lnSpc>
                <a:spcPct val="115000"/>
              </a:lnSpc>
            </a:pPr>
            <a:r>
              <a:rPr sz="1400" lang="fr-FR">
                <a:solidFill>
                  <a:srgbClr val="161616"/>
                </a:solidFill>
                <a:latin typeface="Marianne"/>
              </a:rPr>
              <a:t>• </a:t>
            </a:r>
            <a:r>
              <a:rPr sz="1400" b="0" lang="fr-FR">
                <a:solidFill>
                  <a:srgbClr val="161616"/>
                </a:solidFill>
                <a:latin typeface="Marianne"/>
              </a:rPr>
              <a:t>2. Transcription en duo : simplification, illustrations, mise en page</a:t>
            </a:r>
          </a:p>
          <a:p>
            <a:pPr algn="l">
              <a:lnSpc>
                <a:spcPct val="115000"/>
              </a:lnSpc>
            </a:pPr>
            <a:r>
              <a:rPr sz="1400" lang="fr-FR">
                <a:solidFill>
                  <a:srgbClr val="161616"/>
                </a:solidFill>
                <a:latin typeface="Marianne"/>
              </a:rPr>
              <a:t>• </a:t>
            </a:r>
            <a:r>
              <a:rPr sz="1400" b="0" lang="fr-FR">
                <a:solidFill>
                  <a:srgbClr val="161616"/>
                </a:solidFill>
                <a:latin typeface="Marianne"/>
              </a:rPr>
              <a:t>3. Validation : relecture par des personnes handicapees intellectuelles</a:t>
            </a:r>
          </a:p>
          <a:p>
            <a:pPr algn="l">
              <a:lnSpc>
                <a:spcPct val="115000"/>
              </a:lnSpc>
            </a:pPr>
            <a:r>
              <a:rPr sz="1400" lang="fr-FR">
                <a:solidFill>
                  <a:srgbClr val="161616"/>
                </a:solidFill>
                <a:latin typeface="Marianne"/>
              </a:rPr>
              <a:t>• </a:t>
            </a:r>
            <a:r>
              <a:rPr sz="1400" b="0" lang="fr-FR">
                <a:solidFill>
                  <a:srgbClr val="161616"/>
                </a:solidFill>
                <a:latin typeface="Marianne"/>
              </a:rPr>
              <a:t>4. Publication : logo FALC, credit des personnes impliquees</a:t>
            </a:r>
          </a:p>
          <a:p>
            <a:pPr algn="l">
              <a:lnSpc>
                <a:spcPct val="115000"/>
              </a:lnSpc>
            </a:pPr>
            <a:r>
              <a:rPr sz="1400" lang="fr-FR">
                <a:solidFill>
                  <a:srgbClr val="161616"/>
                </a:solidFill>
                <a:latin typeface="Marianne"/>
              </a:rPr>
              <a:t>• </a:t>
            </a:r>
            <a:r>
              <a:rPr sz="1400" b="0" lang="fr-FR">
                <a:solidFill>
                  <a:srgbClr val="161616"/>
                </a:solidFill>
                <a:latin typeface="Marianne"/>
              </a:rPr>
              <a:t>5. Iteration : savoir dire stop - un texte ne sera jamais compris a 100 %</a:t>
            </a:r>
          </a:p>
        </p:txBody>
      </p:sp>
      <p:sp>
        <p:nvSpPr>
          <p:cNvPr id="16" name="DSFR-box"/>
          <p:cNvSpPr/>
          <p:nvPr/>
        </p:nvSpPr>
        <p:spPr>
          <a:xfrm>
            <a:off x="6313931" y="2948940"/>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Conditions obligatoires</a:t>
            </a:r>
          </a:p>
        </p:txBody>
      </p:sp>
      <p:sp>
        <p:nvSpPr>
          <p:cNvPr id="18" name="DSFR-alert-warning-body"/>
          <p:cNvSpPr txBox="1"/>
          <p:nvPr/>
        </p:nvSpPr>
        <p:spPr>
          <a:xfrm>
            <a:off x="6469379" y="3451860"/>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Validation par des personnes concernées (obligatoire)</a:t>
            </a:r>
          </a:p>
          <a:p>
            <a:pPr algn="l">
              <a:lnSpc>
                <a:spcPct val="115000"/>
              </a:lnSpc>
            </a:pPr>
            <a:r>
              <a:rPr sz="1400" lang="fr-FR">
                <a:solidFill>
                  <a:srgbClr val="161616"/>
                </a:solidFill>
                <a:latin typeface="Marianne"/>
              </a:rPr>
              <a:t>• </a:t>
            </a:r>
            <a:r>
              <a:rPr sz="1400" b="0" lang="fr-FR">
                <a:solidFill>
                  <a:srgbClr val="161616"/>
                </a:solidFill>
                <a:latin typeface="Marianne"/>
              </a:rPr>
              <a:t>80 % des critères FALC respectes (Unapei)</a:t>
            </a:r>
          </a:p>
          <a:p>
            <a:pPr algn="l">
              <a:lnSpc>
                <a:spcPct val="115000"/>
              </a:lnSpc>
            </a:pPr>
            <a:r>
              <a:rPr sz="1400" lang="fr-FR">
                <a:solidFill>
                  <a:srgbClr val="161616"/>
                </a:solidFill>
                <a:latin typeface="Marianne"/>
              </a:rPr>
              <a:t>• </a:t>
            </a:r>
            <a:r>
              <a:rPr sz="1400" b="0" lang="fr-FR">
                <a:solidFill>
                  <a:srgbClr val="161616"/>
                </a:solidFill>
                <a:latin typeface="Marianne"/>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515350" y="5614416"/>
            <a:ext cx="914400" cy="190702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PDF accessible</a:t>
            </a:r>
          </a:p>
        </p:txBody>
      </p:sp>
      <p:sp>
        <p:nvSpPr>
          <p:cNvPr id="16" name="DSFR-callout-body"/>
          <p:cNvSpPr txBox="1"/>
          <p:nvPr/>
        </p:nvSpPr>
        <p:spPr>
          <a:xfrm>
            <a:off x="704088" y="4549140"/>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Structure balisée (titres, listes, tableaux)</a:t>
            </a:r>
          </a:p>
          <a:p>
            <a:pPr algn="l">
              <a:lnSpc>
                <a:spcPct val="115000"/>
              </a:lnSpc>
            </a:pPr>
            <a:r>
              <a:rPr sz="1400" lang="fr-FR">
                <a:solidFill>
                  <a:srgbClr val="161616"/>
                </a:solidFill>
                <a:latin typeface="Marianne"/>
              </a:rPr>
              <a:t>• </a:t>
            </a:r>
            <a:r>
              <a:rPr sz="1400" b="0" lang="fr-FR">
                <a:solidFill>
                  <a:srgbClr val="161616"/>
                </a:solidFill>
                <a:latin typeface="Marianne"/>
              </a:rPr>
              <a:t>Alt text sur les images, ordre de lecture logique</a:t>
            </a:r>
          </a:p>
          <a:p>
            <a:pPr algn="l">
              <a:lnSpc>
                <a:spcPct val="115000"/>
              </a:lnSpc>
            </a:pPr>
            <a:r>
              <a:rPr sz="1400" lang="fr-FR">
                <a:solidFill>
                  <a:srgbClr val="161616"/>
                </a:solidFill>
                <a:latin typeface="Marianne"/>
              </a:rPr>
              <a:t>• </a:t>
            </a:r>
            <a:r>
              <a:rPr sz="1400" b="0" u="sng" lang="fr-FR">
                <a:solidFill>
                  <a:srgbClr val="000091"/>
                </a:solidFill>
                <a:latin typeface="Marianne"/>
                <a:hlinkClick r:id="rId4"/>
              </a:rPr>
              <a:t>Télécharger (handicap.gouv.fr)</a:t>
            </a:r>
          </a:p>
        </p:txBody>
      </p:sp>
      <p:sp>
        <p:nvSpPr>
          <p:cNvPr id="18" name="DSFR-box"/>
          <p:cNvSpPr/>
          <p:nvPr/>
        </p:nvSpPr>
        <p:spPr>
          <a:xfrm>
            <a:off x="6313931" y="404622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FALC</a:t>
            </a:r>
          </a:p>
        </p:txBody>
      </p:sp>
      <p:sp>
        <p:nvSpPr>
          <p:cNvPr id="20" name="DSFR-callout-body"/>
          <p:cNvSpPr txBox="1"/>
          <p:nvPr/>
        </p:nvSpPr>
        <p:spPr>
          <a:xfrm>
            <a:off x="6469379" y="45491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Phrases courtes, vocabulaire simple, pictogrammes</a:t>
            </a:r>
          </a:p>
          <a:p>
            <a:pPr algn="l">
              <a:lnSpc>
                <a:spcPct val="115000"/>
              </a:lnSpc>
            </a:pPr>
            <a:r>
              <a:rPr sz="1400" lang="fr-FR">
                <a:solidFill>
                  <a:srgbClr val="161616"/>
                </a:solidFill>
                <a:latin typeface="Marianne"/>
              </a:rPr>
              <a:t>• </a:t>
            </a:r>
            <a:r>
              <a:rPr sz="1400" b="0" lang="fr-FR">
                <a:solidFill>
                  <a:srgbClr val="161616"/>
                </a:solidFill>
                <a:latin typeface="Marianne"/>
              </a:rPr>
              <a:t>Validé par des personnes concernées</a:t>
            </a:r>
          </a:p>
          <a:p>
            <a:pPr algn="l">
              <a:lnSpc>
                <a:spcPct val="115000"/>
              </a:lnSpc>
            </a:pPr>
            <a:r>
              <a:rPr sz="1400" lang="fr-FR">
                <a:solidFill>
                  <a:srgbClr val="161616"/>
                </a:solidFill>
                <a:latin typeface="Marianne"/>
              </a:rPr>
              <a:t>• </a:t>
            </a:r>
            <a:r>
              <a:rPr sz="1400" b="0" u="sng" lang="fr-FR">
                <a:solidFill>
                  <a:srgbClr val="000091"/>
                </a:solidFill>
                <a:latin typeface="Marianne"/>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Concevoir accessible, pas adapter après</a:t>
            </a:r>
          </a:p>
        </p:txBody>
      </p:sp>
      <p:sp>
        <p:nvSpPr>
          <p:cNvPr id="15" name="DSFR-callout-body"/>
          <p:cNvSpPr txBox="1"/>
          <p:nvPr/>
        </p:nvSpPr>
        <p:spPr>
          <a:xfrm>
            <a:off x="6510528" y="3497579"/>
            <a:ext cx="51023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Intégrer l'accessibilité dès le début, pas en rattrapage</a:t>
            </a:r>
          </a:p>
          <a:p>
            <a:pPr algn="l">
              <a:lnSpc>
                <a:spcPct val="130000"/>
              </a:lnSpc>
            </a:pPr>
            <a:r>
              <a:rPr sz="1400" lang="fr-FR">
                <a:solidFill>
                  <a:srgbClr val="161616"/>
                </a:solidFill>
                <a:latin typeface="Marianne"/>
              </a:rPr>
              <a:t>• </a:t>
            </a:r>
            <a:r>
              <a:rPr sz="1400" b="0" lang="fr-FR">
                <a:solidFill>
                  <a:srgbClr val="161616"/>
                </a:solidFill>
                <a:latin typeface="Marianne"/>
              </a:rPr>
              <a:t>Un document bien structuré profite à tous les lecteurs</a:t>
            </a:r>
          </a:p>
          <a:p>
            <a:pPr algn="l">
              <a:lnSpc>
                <a:spcPct val="130000"/>
              </a:lnSpc>
            </a:pPr>
            <a:r>
              <a:rPr sz="1400" lang="fr-FR">
                <a:solidFill>
                  <a:srgbClr val="161616"/>
                </a:solidFill>
                <a:latin typeface="Marianne"/>
              </a:rPr>
              <a:t>• </a:t>
            </a:r>
            <a:r>
              <a:rPr sz="1400" b="0" lang="fr-FR">
                <a:solidFill>
                  <a:srgbClr val="161616"/>
                </a:solidFill>
                <a:latin typeface="Marianne"/>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4489704" y="5692140"/>
            <a:ext cx="3200400" cy="122973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7" name="DSFR-box"/>
          <p:cNvSpPr/>
          <p:nvPr/>
        </p:nvSpPr>
        <p:spPr>
          <a:xfrm>
            <a:off x="621792" y="2743200"/>
            <a:ext cx="1108252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68980"/>
            <a:ext cx="10680192" cy="1143000"/>
          </a:xfrm>
          <a:prstGeom prst="rect">
            <a:avLst/>
          </a:prstGeom>
          <a:noFill/>
        </p:spPr>
        <p:txBody>
          <a:bodyPr wrap="square"/>
          <a:lstStyle/>
          <a:p>
            <a:pPr algn="l">
              <a:spcBef>
                <a:spcPts val="0"/>
              </a:spcBef>
            </a:pPr>
            <a:r>
              <a:rPr sz="3200" b="1" lang="fr-FR">
                <a:solidFill>
                  <a:srgbClr val="000091"/>
                </a:solidFill>
                <a:latin typeface="Marianne"/>
              </a:rPr>
              <a:t>2. Documents bureautiques accessibles</a:t>
            </a:r>
          </a:p>
          <a:p>
            <a:pPr algn="l">
              <a:spcBef>
                <a:spcPts val="800"/>
              </a:spcBef>
            </a:pPr>
            <a:r>
              <a:rPr sz="2200" b="0" lang="fr-FR">
                <a:solidFill>
                  <a:srgbClr val="000091"/>
                </a:solidFill>
                <a:latin typeface="Marianne"/>
              </a:rPr>
              <a:t>Mise en pratique</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Documents bureautiques accessibles</a:t>
            </a:r>
          </a:p>
        </p:txBody>
      </p:sp>
      <p:sp>
        <p:nvSpPr>
          <p:cNvPr id="6" name="DSFR-accent-decoratif" descr=""/>
          <p:cNvSpPr/>
          <p:nvPr/>
        </p:nvSpPr>
        <p:spPr>
          <a:xfrm>
            <a:off x="475488" y="2743200"/>
            <a:ext cx="146304"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0060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15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15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15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15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01414"/>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92854"/>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6435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15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15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15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accent-decoratif" descr=""/>
          <p:cNvSpPr/>
          <p:nvPr/>
        </p:nvSpPr>
        <p:spPr>
          <a:xfrm>
            <a:off x="475488" y="4001414"/>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20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20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20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15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15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15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1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1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15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15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15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15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15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510418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24134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92714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10418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20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20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20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20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15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15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15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15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15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15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20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20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20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20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20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20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114</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115</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116</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117</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118</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119</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15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15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15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15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15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15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15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15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121</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122</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123</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124</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125</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126</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127</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128</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129</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20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20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20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20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20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15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15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15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15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134</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135</a:t>
            </a:r>
            <a:endParaRPr lang="fr-FR" dirty="0"/>
          </a:p>
        </p:txBody>
      </p:sp>
      <p:sp>
        <p:nvSpPr>
          <p:cNvPr id="8" name="DSFR-stepper-pastille-1"/>
          <p:cNvSpPr/>
          <p:nvPr/>
        </p:nvSpPr>
        <p:spPr>
          <a:xfrm>
            <a:off x="1926335"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385876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395020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36168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15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15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3968496"/>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05993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471416"/>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15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15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566416"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385876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3968496"/>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