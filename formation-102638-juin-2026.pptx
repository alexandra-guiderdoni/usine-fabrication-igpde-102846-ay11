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tour de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102638.</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d'ecran (NVDA ou JAWS) pour tout son travail.</a:t>
            </a:r>
          </a:p>
          <a:p>
            <a:r>
              <a:rPr lang="fr-FR"/>
              <a:t>Ce profil est central pour les communicants : chaque image sans alt, chaque tableau sans structure, chaque lien « cliquez ici » est un mur pour lui.</a:t>
            </a:r>
          </a:p>
          <a:p>
            <a:r>
              <a:rPr lang="fr-FR"/>
              <a:t>Faire la demo du lecteur d'ecran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deficience cognitive.</a:t>
            </a:r>
          </a:p>
          <a:p>
            <a:r>
              <a:rPr lang="fr-FR"/>
              <a:t>Pour les communicants : les regles du FALC et du langage clair ne profitent pas qu'aux personnes handicapees mentales - elles aident aussi les personnes agees, fatiguees, en situation de stress ou dont le francais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eviter les carrousels en lecture automatique sans bouton pause, et garder des paragraphes courts.</a:t>
            </a:r>
          </a:p>
          <a:p>
            <a:r>
              <a:rPr lang="fr-FR"/>
              <a:t>Ces regles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synthese qui fait le lien entre les personas et les 4 principes WCAG.</a:t>
            </a:r>
          </a:p>
          <a:p>
            <a:r>
              <a:rPr lang="fr-FR"/>
              <a:t>Distribuer la fiche stagiaire a ce moment-la.</a:t>
            </a:r>
          </a:p>
          <a:p>
            <a:r>
              <a:rPr lang="fr-FR"/>
              <a:t>Dire : « Vous n'avez pas besoin de retenir tout WCAG.</a:t>
            </a:r>
          </a:p>
          <a:p>
            <a:r>
              <a:rPr lang="fr-FR"/>
              <a:t>Gardez les 4 questions sous la main.</a:t>
            </a:r>
          </a:p>
          <a:p>
            <a:r>
              <a:rPr lang="fr-FR"/>
              <a:t>A chaque anomalie Word ou web, demandez-vous : est-ce un probleme pour percevoir, utiliser, comprendre ou etre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_source/references/).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rester sur le registre moral : montrer le bénéfice concret.</a:t>
            </a:r>
          </a:p>
          <a:p>
            <a:r>
              <a:rPr lang="fr-FR"/>
              <a:t>La charte de communication de l'État impose des engagements mesurables.</a:t>
            </a:r>
          </a:p>
          <a:p>
            <a:r>
              <a:rPr lang="fr-FR"/>
              <a:t>Pour la personne qui publie : une communication accessible est une communication qui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Récupération active : demander à 2-3 stagiaires de citer un point retenu.</a:t>
            </a:r>
          </a:p>
          <a:p>
            <a:r>
              <a:rPr lang="fr-FR"/>
              <a:t>Faire le lien avec la suite : on part de ce cadrage général, puis on descend dans les gestes concrets sur les documents bureautiques, le web et les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sami-doc-inaccessible.docx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sami-doc-aide-correction.docx.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sami-doc-inaccessible.docx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31369" y="260647"/>
            <a:ext cx="4579487" cy="4149096"/>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178299" y="776635"/>
            <a:ext cx="3132658" cy="3132658"/>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jpg"/><Relationship Id="rId4" Type="http://schemas.openxmlformats.org/officeDocument/2006/relationships/image" Target="../media/image23.png"/><Relationship Id="rId5" Type="http://schemas.openxmlformats.org/officeDocument/2006/relationships/image" Target="../media/image13.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jpg"/><Relationship Id="rId3" Type="http://schemas.openxmlformats.org/officeDocument/2006/relationships/image" Target="../media/image31.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hyperlink" Target="https://vispero.com/lp/color-contrast-checker/"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1</a:t>
            </a:r>
            <a:endParaRPr lang="fr-FR" dirty="0"/>
          </a:p>
        </p:txBody>
      </p:sp>
      <p:sp>
        <p:nvSpPr>
          <p:cNvPr id="8" name="Title-DSFR-couverture"/>
          <p:cNvSpPr txBox="1"/>
          <p:nvPr/>
        </p:nvSpPr>
        <p:spPr>
          <a:xfrm>
            <a:off x="5303520" y="4114800"/>
            <a:ext cx="6492240" cy="1188720"/>
          </a:xfrm>
          <a:prstGeom prst="rect">
            <a:avLst/>
          </a:prstGeom>
          <a:noFill/>
        </p:spPr>
        <p:txBody>
          <a:bodyPr wrap="square" anchor="t" lIns="73152" rIns="73152">
            <a:spAutoFit/>
          </a:bodyPr>
          <a:lstStyle/>
          <a:p>
            <a:pPr algn="r">
              <a:lnSpc>
                <a:spcPct val="125000"/>
              </a:lnSpc>
            </a:pPr>
            <a:r>
              <a:rPr sz="3200" b="1" i="0" lang="fr-FR">
                <a:solidFill>
                  <a:srgbClr val="000091"/>
                </a:solidFill>
                <a:latin typeface="Marianne"/>
              </a:rPr>
              <a:t>Accessibilité numérique</a:t>
            </a:r>
          </a:p>
        </p:txBody>
      </p:sp>
      <p:sp>
        <p:nvSpPr>
          <p:cNvPr id="9" name="DSFR-couverture-soustitre"/>
          <p:cNvSpPr txBox="1"/>
          <p:nvPr/>
        </p:nvSpPr>
        <p:spPr>
          <a:xfrm>
            <a:off x="5303520" y="484632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Marianne"/>
              </a:rPr>
              <a:t>Formation 102638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4 juin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Marianne"/>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14" name="Title-DSFR-soustitre"/>
          <p:cNvSpPr txBox="1"/>
          <p:nvPr/>
        </p:nvSpPr>
        <p:spPr>
          <a:xfrm>
            <a:off x="475488" y="2286000"/>
            <a:ext cx="11228832" cy="1005840"/>
          </a:xfrm>
          <a:prstGeom prst="rect">
            <a:avLst/>
          </a:prstGeom>
          <a:noFill/>
        </p:spPr>
        <p:txBody>
          <a:bodyPr wrap="square" anchor="t" lIns="73152" rIns="73152">
            <a:spAutoFit/>
          </a:bodyPr>
          <a:lstStyle/>
          <a:p>
            <a:pPr algn="l">
              <a:lnSpc>
                <a:spcPct val="125000"/>
              </a:lnSpc>
            </a:pPr>
            <a:r>
              <a:rPr sz="3600" b="1" i="0" lang="fr-FR">
                <a:solidFill>
                  <a:srgbClr val="000091"/>
                </a:solidFill>
                <a:latin typeface="Marianne"/>
              </a:rPr>
              <a:t>Objectifs pédagogiques</a:t>
            </a:r>
          </a:p>
        </p:txBody>
      </p:sp>
      <p:sp>
        <p:nvSpPr>
          <p:cNvPr id="16" name="DSFR-box"/>
          <p:cNvSpPr/>
          <p:nvPr/>
        </p:nvSpPr>
        <p:spPr>
          <a:xfrm>
            <a:off x="548640" y="2103120"/>
            <a:ext cx="5390388" cy="274777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formation vous permettra de :</a:t>
            </a:r>
          </a:p>
        </p:txBody>
      </p:sp>
      <p:sp>
        <p:nvSpPr>
          <p:cNvPr id="18" name="DSFR-callout-body"/>
          <p:cNvSpPr txBox="1"/>
          <p:nvPr/>
        </p:nvSpPr>
        <p:spPr>
          <a:xfrm>
            <a:off x="704088" y="260603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Expliquer les enjeux de l'accessibilité numérique et son cadre légal dans le contexte de la communication</a:t>
            </a:r>
          </a:p>
          <a:p>
            <a:pPr algn="l">
              <a:lnSpc>
                <a:spcPct val="150000"/>
              </a:lnSpc>
            </a:pPr>
            <a:r>
              <a:rPr sz="1400" lang="fr-FR">
                <a:solidFill>
                  <a:srgbClr val="161616"/>
                </a:solidFill>
                <a:latin typeface="Marianne"/>
              </a:rPr>
              <a:t>• </a:t>
            </a:r>
            <a:r>
              <a:rPr sz="1400" b="0" lang="fr-FR">
                <a:solidFill>
                  <a:srgbClr val="161616"/>
                </a:solidFill>
                <a:latin typeface="Marianne"/>
              </a:rPr>
              <a:t>Identifier et évaluer les principales erreurs d'accessibilité</a:t>
            </a:r>
          </a:p>
          <a:p>
            <a:pPr algn="l">
              <a:lnSpc>
                <a:spcPct val="150000"/>
              </a:lnSpc>
            </a:pPr>
            <a:r>
              <a:rPr sz="1400" lang="fr-FR">
                <a:solidFill>
                  <a:srgbClr val="161616"/>
                </a:solidFill>
                <a:latin typeface="Marianne"/>
              </a:rPr>
              <a:t>• </a:t>
            </a:r>
            <a:r>
              <a:rPr sz="1400" b="0" lang="fr-FR">
                <a:solidFill>
                  <a:srgbClr val="161616"/>
                </a:solidFill>
                <a:latin typeface="Marianne"/>
              </a:rPr>
              <a:t>Rendre des contenus numériques accessibles</a:t>
            </a:r>
          </a:p>
        </p:txBody>
      </p:sp>
      <p:pic>
        <p:nvPicPr>
          <p:cNvPr id="19" name="Picture 18" descr="Affiche du SIG pour les 20 ans de la loi handicap. Imaginez un quotidien où rien n'est vraiment pensé pour vous. Ordinateur avec un écran inversé."/>
          <p:cNvPicPr>
            <a:picLocks noChangeAspect="1"/>
          </p:cNvPicPr>
          <p:nvPr/>
        </p:nvPicPr>
        <p:blipFill>
          <a:blip r:embed="rId2"/>
          <a:stretch>
            <a:fillRect/>
          </a:stretch>
        </p:blipFill>
        <p:spPr>
          <a:xfrm>
            <a:off x="6885432" y="1920240"/>
            <a:ext cx="3493008" cy="4167097"/>
          </a:xfrm>
          <a:prstGeom prst="rect">
            <a:avLst/>
          </a:prstGeom>
        </p:spPr>
      </p:pic>
      <p:pic>
        <p:nvPicPr>
          <p:cNvPr id="20" name="DSFR-qrcode" descr="QR code : https://www.info.gouv.fr/accessibilite"/>
          <p:cNvPicPr>
            <a:picLocks noChangeAspect="1"/>
          </p:cNvPicPr>
          <p:nvPr/>
        </p:nvPicPr>
        <p:blipFill>
          <a:blip r:embed="rId3"/>
          <a:stretch>
            <a:fillRect/>
          </a:stretch>
        </p:blipFill>
        <p:spPr>
          <a:xfrm>
            <a:off x="475488" y="4736592"/>
            <a:ext cx="1024128" cy="1024128"/>
          </a:xfrm>
          <a:prstGeom prst="rect">
            <a:avLst/>
          </a:prstGeom>
        </p:spPr>
      </p:pic>
      <p:sp>
        <p:nvSpPr>
          <p:cNvPr id="21" name="DSFR-qrcode-cta"/>
          <p:cNvSpPr txBox="1"/>
          <p:nvPr/>
        </p:nvSpPr>
        <p:spPr>
          <a:xfrm>
            <a:off x="1627632" y="4809744"/>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1627632" y="5102352"/>
            <a:ext cx="4311396" cy="749808"/>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Objectifs</a:t>
            </a:r>
          </a:p>
        </p:txBody>
      </p:sp>
      <p:sp>
        <p:nvSpPr>
          <p:cNvPr id="15" name="DSFR-accent-decoratif" descr=""/>
          <p:cNvSpPr/>
          <p:nvPr/>
        </p:nvSpPr>
        <p:spPr>
          <a:xfrm>
            <a:off x="475488" y="2103120"/>
            <a:ext cx="73152" cy="274777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9" name="DSFR-box"/>
          <p:cNvSpPr/>
          <p:nvPr/>
        </p:nvSpPr>
        <p:spPr>
          <a:xfrm>
            <a:off x="548640"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Accessibilité et cadre légal</a:t>
            </a:r>
          </a:p>
        </p:txBody>
      </p:sp>
      <p:sp>
        <p:nvSpPr>
          <p:cNvPr id="12" name="DSFR-card-contenu"/>
          <p:cNvSpPr txBox="1"/>
          <p:nvPr/>
        </p:nvSpPr>
        <p:spPr>
          <a:xfrm>
            <a:off x="704088"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 des acteurs publics</a:t>
            </a:r>
          </a:p>
          <a:p>
            <a:pPr algn="l">
              <a:lnSpc>
                <a:spcPct val="150000"/>
              </a:lnSpc>
            </a:pPr>
            <a:r>
              <a:rPr sz="1400" lang="fr-FR">
                <a:solidFill>
                  <a:srgbClr val="161616"/>
                </a:solidFill>
                <a:latin typeface="Marianne"/>
              </a:rPr>
              <a:t>• </a:t>
            </a:r>
            <a:r>
              <a:rPr sz="1400" b="0" lang="fr-FR">
                <a:solidFill>
                  <a:srgbClr val="161616"/>
                </a:solidFill>
                <a:latin typeface="Marianne"/>
              </a:rPr>
              <a:t>Déclaration d'accessibilité</a:t>
            </a:r>
          </a:p>
        </p:txBody>
      </p:sp>
      <p:sp>
        <p:nvSpPr>
          <p:cNvPr id="14" name="DSFR-box"/>
          <p:cNvSpPr/>
          <p:nvPr/>
        </p:nvSpPr>
        <p:spPr>
          <a:xfrm>
            <a:off x="6313931"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Bureautique accessible</a:t>
            </a:r>
          </a:p>
        </p:txBody>
      </p:sp>
      <p:sp>
        <p:nvSpPr>
          <p:cNvPr id="17" name="DSFR-card-contenu"/>
          <p:cNvSpPr txBox="1"/>
          <p:nvPr/>
        </p:nvSpPr>
        <p:spPr>
          <a:xfrm>
            <a:off x="6469379"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Documents Word et LibreOffice</a:t>
            </a:r>
          </a:p>
          <a:p>
            <a:pPr algn="l">
              <a:lnSpc>
                <a:spcPct val="150000"/>
              </a:lnSpc>
            </a:pPr>
            <a:r>
              <a:rPr sz="1400" lang="fr-FR">
                <a:solidFill>
                  <a:srgbClr val="161616"/>
                </a:solidFill>
                <a:latin typeface="Marianne"/>
              </a:rPr>
              <a:t>• </a:t>
            </a:r>
            <a:r>
              <a:rPr sz="1400" b="0" lang="fr-FR">
                <a:solidFill>
                  <a:srgbClr val="161616"/>
                </a:solidFill>
                <a:latin typeface="Marianne"/>
              </a:rPr>
              <a:t>Export PDF accessible</a:t>
            </a:r>
          </a:p>
        </p:txBody>
      </p:sp>
      <p:sp>
        <p:nvSpPr>
          <p:cNvPr id="19" name="DSFR-box"/>
          <p:cNvSpPr/>
          <p:nvPr/>
        </p:nvSpPr>
        <p:spPr>
          <a:xfrm>
            <a:off x="548640"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points de contrôle rapides W3C</a:t>
            </a:r>
          </a:p>
        </p:txBody>
      </p:sp>
      <p:sp>
        <p:nvSpPr>
          <p:cNvPr id="22" name="DSFR-card-contenu"/>
          <p:cNvSpPr txBox="1"/>
          <p:nvPr/>
        </p:nvSpPr>
        <p:spPr>
          <a:xfrm>
            <a:off x="704088"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13 vérifications rapides W3C WAI</a:t>
            </a:r>
          </a:p>
          <a:p>
            <a:pPr algn="l">
              <a:lnSpc>
                <a:spcPct val="150000"/>
              </a:lnSpc>
            </a:pPr>
            <a:r>
              <a:rPr sz="1400" lang="fr-FR">
                <a:solidFill>
                  <a:srgbClr val="161616"/>
                </a:solidFill>
                <a:latin typeface="Marianne"/>
              </a:rPr>
              <a:t>• </a:t>
            </a:r>
            <a:r>
              <a:rPr sz="1400" b="0" lang="fr-FR">
                <a:solidFill>
                  <a:srgbClr val="161616"/>
                </a:solidFill>
                <a:latin typeface="Marianne"/>
              </a:rPr>
              <a:t>Démonstration et exercice pratique</a:t>
            </a:r>
          </a:p>
        </p:txBody>
      </p:sp>
      <p:sp>
        <p:nvSpPr>
          <p:cNvPr id="24" name="DSFR-box"/>
          <p:cNvSpPr/>
          <p:nvPr/>
        </p:nvSpPr>
        <p:spPr>
          <a:xfrm>
            <a:off x="6313931"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Réseaux sociaux</a:t>
            </a:r>
          </a:p>
        </p:txBody>
      </p:sp>
      <p:sp>
        <p:nvSpPr>
          <p:cNvPr id="27" name="DSFR-card-contenu"/>
          <p:cNvSpPr txBox="1"/>
          <p:nvPr/>
        </p:nvSpPr>
        <p:spPr>
          <a:xfrm>
            <a:off x="6469379"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a:t>
            </a:r>
          </a:p>
          <a:p>
            <a:pPr algn="l">
              <a:lnSpc>
                <a:spcPct val="150000"/>
              </a:lnSpc>
            </a:pPr>
            <a:r>
              <a:rPr sz="1400" lang="fr-FR">
                <a:solidFill>
                  <a:srgbClr val="161616"/>
                </a:solidFill>
                <a:latin typeface="Marianne"/>
              </a:rPr>
              <a:t>• </a:t>
            </a:r>
            <a:r>
              <a:rPr sz="1400" b="0" lang="fr-FR">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Programme</a:t>
            </a:r>
          </a:p>
        </p:txBody>
      </p:sp>
      <p:sp>
        <p:nvSpPr>
          <p:cNvPr id="10" name="DSFR-card-numero"/>
          <p:cNvSpPr/>
          <p:nvPr/>
        </p:nvSpPr>
        <p:spPr>
          <a:xfrm>
            <a:off x="704088"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Formateur Opquast certifié, référent Assurance Qualité Web</a:t>
            </a:r>
          </a:p>
          <a:p>
            <a:pPr algn="l">
              <a:lnSpc>
                <a:spcPct val="150000"/>
              </a:lnSpc>
            </a:pPr>
            <a:r>
              <a:rPr sz="1400" lang="fr-FR">
                <a:solidFill>
                  <a:srgbClr val="161616"/>
                </a:solidFill>
                <a:latin typeface="Marianne"/>
              </a:rPr>
              <a:t>• </a:t>
            </a:r>
            <a:r>
              <a:rPr sz="1400" b="0" lang="fr-FR">
                <a:solidFill>
                  <a:srgbClr val="161616"/>
                </a:solidFill>
                <a:latin typeface="Marianne"/>
              </a:rPr>
              <a:t>Forme et sensibilise à l'accessibilité depuis plusieurs années</a:t>
            </a:r>
          </a:p>
          <a:p>
            <a:pPr algn="l">
              <a:lnSpc>
                <a:spcPct val="150000"/>
              </a:lnSpc>
            </a:pPr>
            <a:r>
              <a:rPr sz="1400" lang="fr-FR">
                <a:solidFill>
                  <a:srgbClr val="161616"/>
                </a:solidFill>
                <a:latin typeface="Marianne"/>
              </a:rPr>
              <a:t>• </a:t>
            </a:r>
            <a:r>
              <a:rPr sz="1400" b="0" lang="fr-FR">
                <a:solidFill>
                  <a:srgbClr val="161616"/>
                </a:solidFill>
                <a:latin typeface="Marianne"/>
              </a:rPr>
              <a:t>Passionné par la conception inclusive et l'expérience utilisateur</a:t>
            </a:r>
          </a:p>
          <a:p>
            <a:pPr algn="l">
              <a:lnSpc>
                <a:spcPct val="150000"/>
              </a:lnSpc>
            </a:pPr>
            <a:r>
              <a:rPr sz="1400" lang="fr-FR">
                <a:solidFill>
                  <a:srgbClr val="161616"/>
                </a:solidFill>
                <a:latin typeface="Marianne"/>
              </a:rPr>
              <a:t>• </a:t>
            </a:r>
            <a:r>
              <a:rPr sz="1400" b="0" lang="fr-FR">
                <a:solidFill>
                  <a:srgbClr val="161616"/>
                </a:solidFill>
                <a:latin typeface="Marianne"/>
              </a:rPr>
              <a:t>Formé à l'audit d'accessibilité numérique</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Spécialisée dans les technologies web et l'accessibilité numérique</a:t>
            </a:r>
          </a:p>
          <a:p>
            <a:pPr algn="l">
              <a:lnSpc>
                <a:spcPct val="150000"/>
              </a:lnSpc>
            </a:pPr>
            <a:r>
              <a:rPr sz="1400" lang="fr-FR">
                <a:solidFill>
                  <a:srgbClr val="161616"/>
                </a:solidFill>
                <a:latin typeface="Marianne"/>
              </a:rPr>
              <a:t>• </a:t>
            </a:r>
            <a:r>
              <a:rPr sz="1400" b="0" lang="fr-FR">
                <a:solidFill>
                  <a:srgbClr val="161616"/>
                </a:solidFill>
                <a:latin typeface="Marianne"/>
              </a:rPr>
              <a:t>Expérience : Ministère des affaires étrangères, ESN</a:t>
            </a:r>
          </a:p>
          <a:p>
            <a:pPr algn="l">
              <a:lnSpc>
                <a:spcPct val="150000"/>
              </a:lnSpc>
            </a:pPr>
            <a:r>
              <a:rPr sz="1400" lang="fr-FR">
                <a:solidFill>
                  <a:srgbClr val="161616"/>
                </a:solidFill>
                <a:latin typeface="Marianne"/>
              </a:rPr>
              <a:t>• </a:t>
            </a:r>
            <a:r>
              <a:rPr sz="1400" b="0" lang="fr-FR">
                <a:solidFill>
                  <a:srgbClr val="161616"/>
                </a:solidFill>
                <a:latin typeface="Marianne"/>
              </a:rPr>
              <a:t>DU-RAN (diplôme universitaire référent accessibilité numérique), 1re session 2024</a:t>
            </a:r>
          </a:p>
          <a:p>
            <a:pPr algn="l">
              <a:lnSpc>
                <a:spcPct val="150000"/>
              </a:lnSpc>
            </a:pPr>
            <a:r>
              <a:rPr sz="1400" lang="fr-FR">
                <a:solidFill>
                  <a:srgbClr val="161616"/>
                </a:solidFill>
                <a:latin typeface="Marianne"/>
              </a:rPr>
              <a:t>• </a:t>
            </a:r>
            <a:r>
              <a:rPr sz="1400" b="0" lang="fr-FR">
                <a:solidFill>
                  <a:srgbClr val="161616"/>
                </a:solidFill>
                <a:latin typeface="Marianne"/>
              </a:rPr>
              <a:t>Formée à l'audit d'accessibilité numérique RGAA</a:t>
            </a:r>
          </a:p>
          <a:p>
            <a:pPr algn="l">
              <a:lnSpc>
                <a:spcPct val="150000"/>
              </a:lnSpc>
            </a:pPr>
            <a:r>
              <a:rPr sz="1400" lang="fr-FR">
                <a:solidFill>
                  <a:srgbClr val="161616"/>
                </a:solidFill>
                <a:latin typeface="Marianne"/>
              </a:rPr>
              <a:t>• </a:t>
            </a:r>
            <a:r>
              <a:rPr sz="1400" b="0" lang="fr-FR">
                <a:solidFill>
                  <a:srgbClr val="161616"/>
                </a:solidFill>
                <a:latin typeface="Marianne"/>
              </a:rPr>
              <a:t>Formatrice et Référente en Assurance Qualité pour le Web - Opquast</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êtes-vous ?</a:t>
            </a:r>
          </a:p>
        </p:txBody>
      </p:sp>
      <p:sp>
        <p:nvSpPr>
          <p:cNvPr id="11" name="DSFR-card-contenu"/>
          <p:cNvSpPr txBox="1"/>
          <p:nvPr/>
        </p:nvSpPr>
        <p:spPr>
          <a:xfrm>
            <a:off x="704088"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Mon rapport à l'accessibilité</a:t>
            </a:r>
          </a:p>
        </p:txBody>
      </p:sp>
      <p:sp>
        <p:nvSpPr>
          <p:cNvPr id="15" name="DSFR-card-contenu"/>
          <p:cNvSpPr txBox="1"/>
          <p:nvPr/>
        </p:nvSpPr>
        <p:spPr>
          <a:xfrm>
            <a:off x="4547615"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j'attends</a:t>
            </a:r>
          </a:p>
        </p:txBody>
      </p:sp>
      <p:sp>
        <p:nvSpPr>
          <p:cNvPr id="19" name="DSFR-card-contenu"/>
          <p:cNvSpPr txBox="1"/>
          <p:nvPr/>
        </p:nvSpPr>
        <p:spPr>
          <a:xfrm>
            <a:off x="8391144"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9" name="DSFR-box"/>
          <p:cNvSpPr/>
          <p:nvPr/>
        </p:nvSpPr>
        <p:spPr>
          <a:xfrm>
            <a:off x="548640"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idées reçues</a:t>
            </a:r>
          </a:p>
        </p:txBody>
      </p:sp>
      <p:sp>
        <p:nvSpPr>
          <p:cNvPr id="11" name="DSFR-callout-body"/>
          <p:cNvSpPr txBox="1"/>
          <p:nvPr/>
        </p:nvSpPr>
        <p:spPr>
          <a:xfrm>
            <a:off x="704088" y="2606039"/>
            <a:ext cx="5143500" cy="205740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Mettez-vous par deux et piochez une carte idée reçue</a:t>
            </a:r>
          </a:p>
          <a:p>
            <a:pPr algn="l">
              <a:lnSpc>
                <a:spcPct val="125000"/>
              </a:lnSpc>
            </a:pPr>
            <a:r>
              <a:rPr sz="1400" lang="fr-FR">
                <a:solidFill>
                  <a:srgbClr val="161616"/>
                </a:solidFill>
                <a:latin typeface="Marianne"/>
              </a:rPr>
              <a:t>• </a:t>
            </a:r>
            <a:r>
              <a:rPr sz="1400" b="0" lang="fr-FR">
                <a:solidFill>
                  <a:srgbClr val="161616"/>
                </a:solidFill>
                <a:latin typeface="Marianne"/>
              </a:rPr>
              <a:t>Présentez-vous et échangez sur votre quotidien</a:t>
            </a:r>
          </a:p>
          <a:p>
            <a:pPr algn="l">
              <a:lnSpc>
                <a:spcPct val="125000"/>
              </a:lnSpc>
            </a:pPr>
            <a:r>
              <a:rPr sz="1400" lang="fr-FR">
                <a:solidFill>
                  <a:srgbClr val="161616"/>
                </a:solidFill>
                <a:latin typeface="Marianne"/>
              </a:rPr>
              <a:t>• </a:t>
            </a:r>
            <a:r>
              <a:rPr sz="1400" b="0" lang="fr-FR">
                <a:solidFill>
                  <a:srgbClr val="161616"/>
                </a:solidFill>
                <a:latin typeface="Marianne"/>
              </a:rPr>
              <a:t>Confrontez vos cartes : qu'en pensez-vous ?</a:t>
            </a:r>
          </a:p>
          <a:p>
            <a:pPr algn="l">
              <a:lnSpc>
                <a:spcPct val="125000"/>
              </a:lnSpc>
            </a:pPr>
            <a:r>
              <a:rPr sz="1400" lang="fr-FR">
                <a:solidFill>
                  <a:srgbClr val="161616"/>
                </a:solidFill>
                <a:latin typeface="Marianne"/>
              </a:rPr>
              <a:t>• </a:t>
            </a:r>
            <a:r>
              <a:rPr sz="1400" b="0" lang="fr-FR">
                <a:solidFill>
                  <a:srgbClr val="161616"/>
                </a:solidFill>
                <a:latin typeface="Marianne"/>
              </a:rPr>
              <a:t>Présentez vos réflexions au groupe - débat ouvert</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ateliers Word et Web</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N'hésitez pas à travailler en binôme</a:t>
            </a:r>
          </a:p>
          <a:p>
            <a:pPr algn="l">
              <a:lnSpc>
                <a:spcPct val="150000"/>
              </a:lnSpc>
            </a:pPr>
            <a:r>
              <a:rPr sz="1400" lang="fr-FR">
                <a:solidFill>
                  <a:srgbClr val="161616"/>
                </a:solidFill>
                <a:latin typeface="Marianne"/>
              </a:rPr>
              <a:t>• </a:t>
            </a:r>
            <a:r>
              <a:rPr sz="1400" b="0" lang="fr-FR">
                <a:solidFill>
                  <a:srgbClr val="161616"/>
                </a:solidFill>
                <a:latin typeface="Marianne"/>
              </a:rPr>
              <a:t>Deux regards repèrent ce qu'un seul ne voit pas</a:t>
            </a:r>
          </a:p>
          <a:p>
            <a:pPr algn="l">
              <a:lnSpc>
                <a:spcPct val="150000"/>
              </a:lnSpc>
            </a:pPr>
            <a:r>
              <a:rPr sz="1400" lang="fr-FR">
                <a:solidFill>
                  <a:srgbClr val="161616"/>
                </a:solidFill>
                <a:latin typeface="Marianne"/>
              </a:rPr>
              <a:t>• </a:t>
            </a:r>
            <a:r>
              <a:rPr sz="1400" b="0" lang="fr-FR">
                <a:solidFill>
                  <a:srgbClr val="161616"/>
                </a:solidFill>
                <a:latin typeface="Marianne"/>
              </a:rPr>
              <a:t>Expliquer à quelqu'un consolide l'apprentissage</a:t>
            </a:r>
          </a:p>
        </p:txBody>
      </p:sp>
      <p:sp>
        <p:nvSpPr>
          <p:cNvPr id="17" name="DSFR-box"/>
          <p:cNvSpPr/>
          <p:nvPr/>
        </p:nvSpPr>
        <p:spPr>
          <a:xfrm>
            <a:off x="548640" y="5367528"/>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458968"/>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367528"/>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 binôme, confrontez vos cartes : vrai ou faux ?</a:t>
            </a:r>
          </a:p>
          <a:p>
            <a:pPr algn="l">
              <a:lnSpc>
                <a:spcPct val="150000"/>
              </a:lnSpc>
            </a:pPr>
            <a:r>
              <a:rPr sz="1400" lang="fr-FR">
                <a:solidFill>
                  <a:srgbClr val="161616"/>
                </a:solidFill>
                <a:latin typeface="Marianne"/>
              </a:rPr>
              <a:t>• </a:t>
            </a:r>
            <a:r>
              <a:rPr sz="1400" b="0" lang="fr-FR">
                <a:solidFill>
                  <a:srgbClr val="161616"/>
                </a:solidFill>
                <a:latin typeface="Marianne"/>
              </a:rPr>
              <a:t>Échangez vos arguments, préparez votre position</a:t>
            </a:r>
          </a:p>
          <a:p>
            <a:pPr algn="l">
              <a:lnSpc>
                <a:spcPct val="150000"/>
              </a:lnSpc>
            </a:pPr>
            <a:r>
              <a:rPr sz="1400" lang="fr-FR">
                <a:solidFill>
                  <a:srgbClr val="161616"/>
                </a:solidFill>
                <a:latin typeface="Marianne"/>
              </a:rPr>
              <a:t>• </a:t>
            </a:r>
            <a:r>
              <a:rPr sz="1400" b="0" lang="fr-FR">
                <a:solidFill>
                  <a:srgbClr val="161616"/>
                </a:solidFill>
                <a:latin typeface="Marianne"/>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2103120"/>
            <a:ext cx="5390388" cy="24981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2637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ne concerne qu'une minorité de personnes »</a:t>
            </a:r>
          </a:p>
        </p:txBody>
      </p:sp>
      <p:sp>
        <p:nvSpPr>
          <p:cNvPr id="14" name="DSFR-box"/>
          <p:cNvSpPr/>
          <p:nvPr/>
        </p:nvSpPr>
        <p:spPr>
          <a:xfrm>
            <a:off x="6313931" y="2103120"/>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1 milliard+ de personnes dans le monde vivent avec un handicap (OMS)</a:t>
            </a:r>
          </a:p>
          <a:p>
            <a:pPr algn="l">
              <a:lnSpc>
                <a:spcPct val="115000"/>
              </a:lnSpc>
            </a:pPr>
            <a:r>
              <a:rPr sz="1400" lang="fr-FR">
                <a:solidFill>
                  <a:srgbClr val="161616"/>
                </a:solidFill>
                <a:latin typeface="Marianne"/>
              </a:rPr>
              <a:t>• </a:t>
            </a:r>
            <a:r>
              <a:rPr sz="1400" b="0" lang="fr-FR">
                <a:solidFill>
                  <a:srgbClr val="161616"/>
                </a:solidFill>
                <a:latin typeface="Marianne"/>
              </a:rPr>
              <a:t>Soit 15 % de la population mondiale - 1 personne sur 6</a:t>
            </a:r>
          </a:p>
          <a:p>
            <a:pPr algn="l">
              <a:lnSpc>
                <a:spcPct val="115000"/>
              </a:lnSpc>
            </a:pPr>
            <a:r>
              <a:rPr sz="1400" lang="fr-FR">
                <a:solidFill>
                  <a:srgbClr val="161616"/>
                </a:solidFill>
                <a:latin typeface="Marianne"/>
              </a:rPr>
              <a:t>• </a:t>
            </a:r>
            <a:r>
              <a:rPr sz="1400" b="0" lang="fr-FR">
                <a:solidFill>
                  <a:srgbClr val="161616"/>
                </a:solidFill>
                <a:latin typeface="Marianne"/>
              </a:rPr>
              <a:t>En France : 12 millions de personnes en situation de handicap</a:t>
            </a:r>
          </a:p>
          <a:p>
            <a:pPr algn="l">
              <a:lnSpc>
                <a:spcPct val="115000"/>
              </a:lnSpc>
            </a:pPr>
            <a:r>
              <a:rPr sz="1400" lang="fr-FR">
                <a:solidFill>
                  <a:srgbClr val="161616"/>
                </a:solidFill>
                <a:latin typeface="Marianne"/>
              </a:rPr>
              <a:t>• </a:t>
            </a:r>
            <a:r>
              <a:rPr sz="1400" b="0" lang="fr-FR">
                <a:solidFill>
                  <a:srgbClr val="161616"/>
                </a:solidFill>
                <a:latin typeface="Marianne"/>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690872"/>
            <a:ext cx="868680" cy="868680"/>
          </a:xfrm>
          <a:prstGeom prst="rect">
            <a:avLst/>
          </a:prstGeom>
        </p:spPr>
      </p:pic>
      <p:sp>
        <p:nvSpPr>
          <p:cNvPr id="18" name="DSFR-qrcode-cta"/>
          <p:cNvSpPr txBox="1"/>
          <p:nvPr/>
        </p:nvSpPr>
        <p:spPr>
          <a:xfrm>
            <a:off x="7237475" y="47640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0566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8" name="DSFR-accent-decoratif" descr=""/>
          <p:cNvSpPr/>
          <p:nvPr/>
        </p:nvSpPr>
        <p:spPr>
          <a:xfrm>
            <a:off x="475488"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La créativité et l'UX seront dégradées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n'impose pas un design archaïque, austère ou sans inspiration</a:t>
            </a:r>
          </a:p>
          <a:p>
            <a:pPr algn="l">
              <a:lnSpc>
                <a:spcPct val="115000"/>
              </a:lnSpc>
            </a:pPr>
            <a:r>
              <a:rPr sz="1400" lang="fr-FR">
                <a:solidFill>
                  <a:srgbClr val="161616"/>
                </a:solidFill>
                <a:latin typeface="Marianne"/>
              </a:rPr>
              <a:t>• </a:t>
            </a:r>
            <a:r>
              <a:rPr sz="1400" b="0" lang="fr-FR">
                <a:solidFill>
                  <a:srgbClr val="161616"/>
                </a:solidFill>
                <a:latin typeface="Marianne"/>
              </a:rPr>
              <a:t>Les contraintes sont des leviers de créativité, pas des freins</a:t>
            </a:r>
          </a:p>
          <a:p>
            <a:pPr algn="l">
              <a:lnSpc>
                <a:spcPct val="115000"/>
              </a:lnSpc>
            </a:pPr>
            <a:r>
              <a:rPr sz="1400" lang="fr-FR">
                <a:solidFill>
                  <a:srgbClr val="161616"/>
                </a:solidFill>
                <a:latin typeface="Marianne"/>
              </a:rPr>
              <a:t>• </a:t>
            </a:r>
            <a:r>
              <a:rPr sz="1400" b="0" lang="fr-FR">
                <a:solidFill>
                  <a:srgbClr val="161616"/>
                </a:solidFill>
                <a:latin typeface="Marianne"/>
              </a:rPr>
              <a:t>Les interfaces les plus accessibles sont souvent les plus claires et élégantes</a:t>
            </a:r>
          </a:p>
          <a:p>
            <a:pPr algn="l">
              <a:lnSpc>
                <a:spcPct val="115000"/>
              </a:lnSpc>
            </a:pPr>
            <a:r>
              <a:rPr sz="1400" lang="fr-FR">
                <a:solidFill>
                  <a:srgbClr val="161616"/>
                </a:solidFill>
                <a:latin typeface="Marianne"/>
              </a:rPr>
              <a:t>• </a:t>
            </a:r>
            <a:r>
              <a:rPr sz="1400" b="0" lang="fr-FR">
                <a:solidFill>
                  <a:srgbClr val="161616"/>
                </a:solidFill>
                <a:latin typeface="Marianne"/>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C'est juste du contraste et des images décrites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contraste et les textes alternatifs ne sont que 2 exigences sur des centaines</a:t>
            </a:r>
          </a:p>
          <a:p>
            <a:pPr algn="l">
              <a:lnSpc>
                <a:spcPct val="115000"/>
              </a:lnSpc>
            </a:pPr>
            <a:r>
              <a:rPr sz="1400" lang="fr-FR">
                <a:solidFill>
                  <a:srgbClr val="161616"/>
                </a:solidFill>
                <a:latin typeface="Marianne"/>
              </a:rPr>
              <a:t>• </a:t>
            </a:r>
            <a:r>
              <a:rPr sz="1400" b="0" lang="fr-FR">
                <a:solidFill>
                  <a:srgbClr val="161616"/>
                </a:solidFill>
                <a:latin typeface="Marianne"/>
              </a:rPr>
              <a:t>Le RGAA compte 106 critères, les WCAG 2.1 en comptent 78</a:t>
            </a:r>
          </a:p>
          <a:p>
            <a:pPr algn="l">
              <a:lnSpc>
                <a:spcPct val="115000"/>
              </a:lnSpc>
            </a:pPr>
            <a:r>
              <a:rPr sz="1400" lang="fr-FR">
                <a:solidFill>
                  <a:srgbClr val="161616"/>
                </a:solidFill>
                <a:latin typeface="Marianne"/>
              </a:rPr>
              <a:t>• </a:t>
            </a:r>
            <a:r>
              <a:rPr sz="1400" b="0" lang="fr-FR">
                <a:solidFill>
                  <a:srgbClr val="161616"/>
                </a:solidFill>
                <a:latin typeface="Marianne"/>
              </a:rPr>
              <a:t>Titres, liens, tableaux, formulaires, langue, ordre de lecture ... autant de dimensions</a:t>
            </a:r>
          </a:p>
          <a:p>
            <a:pPr algn="l">
              <a:lnSpc>
                <a:spcPct val="115000"/>
              </a:lnSpc>
            </a:pPr>
            <a:r>
              <a:rPr sz="1400" lang="fr-FR">
                <a:solidFill>
                  <a:srgbClr val="161616"/>
                </a:solidFill>
                <a:latin typeface="Marianne"/>
              </a:rPr>
              <a:t>• </a:t>
            </a:r>
            <a:r>
              <a:rPr sz="1400" b="0" lang="fr-FR">
                <a:solidFill>
                  <a:srgbClr val="161616"/>
                </a:solidFill>
                <a:latin typeface="Marianne"/>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 n'est pas de mon ressort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ne peut pas être portée par une seule équipe ou une seule personne</a:t>
            </a:r>
          </a:p>
          <a:p>
            <a:pPr algn="l">
              <a:lnSpc>
                <a:spcPct val="115000"/>
              </a:lnSpc>
            </a:pPr>
            <a:r>
              <a:rPr sz="1400" lang="fr-FR">
                <a:solidFill>
                  <a:srgbClr val="161616"/>
                </a:solidFill>
                <a:latin typeface="Marianne"/>
              </a:rPr>
              <a:t>• </a:t>
            </a:r>
            <a:r>
              <a:rPr sz="1400" b="0" lang="fr-FR">
                <a:solidFill>
                  <a:srgbClr val="161616"/>
                </a:solidFill>
                <a:latin typeface="Marianne"/>
              </a:rPr>
              <a:t>Elle implique tous les producteurs de contenu : rédacteurs, communicants, designers ...</a:t>
            </a:r>
          </a:p>
          <a:p>
            <a:pPr algn="l">
              <a:lnSpc>
                <a:spcPct val="115000"/>
              </a:lnSpc>
            </a:pPr>
            <a:r>
              <a:rPr sz="1400" lang="fr-FR">
                <a:solidFill>
                  <a:srgbClr val="161616"/>
                </a:solidFill>
                <a:latin typeface="Marianne"/>
              </a:rPr>
              <a:t>• </a:t>
            </a:r>
            <a:r>
              <a:rPr sz="1400" b="0" lang="fr-FR">
                <a:solidFill>
                  <a:srgbClr val="161616"/>
                </a:solidFill>
                <a:latin typeface="Marianne"/>
              </a:rPr>
              <a:t>Chaque document Word, chaque image publiée engage une responsabilité</a:t>
            </a:r>
          </a:p>
          <a:p>
            <a:pPr algn="l">
              <a:lnSpc>
                <a:spcPct val="115000"/>
              </a:lnSpc>
            </a:pPr>
            <a:r>
              <a:rPr sz="1400" lang="fr-FR">
                <a:solidFill>
                  <a:srgbClr val="161616"/>
                </a:solidFill>
                <a:latin typeface="Marianne"/>
              </a:rPr>
              <a:t>• </a:t>
            </a:r>
            <a:r>
              <a:rPr sz="1400" b="0" lang="fr-FR">
                <a:solidFill>
                  <a:srgbClr val="161616"/>
                </a:solidFill>
                <a:latin typeface="Marianne"/>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coûte trop cher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Oui - si l'accessibilité est traitée comme un ajustement en fin de projet</a:t>
            </a:r>
          </a:p>
          <a:p>
            <a:pPr algn="l">
              <a:lnSpc>
                <a:spcPct val="115000"/>
              </a:lnSpc>
            </a:pPr>
            <a:r>
              <a:rPr sz="1400" lang="fr-FR">
                <a:solidFill>
                  <a:srgbClr val="161616"/>
                </a:solidFill>
                <a:latin typeface="Marianne"/>
              </a:rPr>
              <a:t>• </a:t>
            </a:r>
            <a:r>
              <a:rPr sz="1400" b="0" lang="fr-FR">
                <a:solidFill>
                  <a:srgbClr val="161616"/>
                </a:solidFill>
                <a:latin typeface="Marianne"/>
              </a:rPr>
              <a:t>Non - si elle est intégrée dès la conception (approche « shift left »)</a:t>
            </a:r>
          </a:p>
          <a:p>
            <a:pPr algn="l">
              <a:lnSpc>
                <a:spcPct val="115000"/>
              </a:lnSpc>
            </a:pPr>
            <a:r>
              <a:rPr sz="1400" lang="fr-FR">
                <a:solidFill>
                  <a:srgbClr val="161616"/>
                </a:solidFill>
                <a:latin typeface="Marianne"/>
              </a:rPr>
              <a:t>• </a:t>
            </a:r>
            <a:r>
              <a:rPr sz="1400" b="0" lang="fr-FR">
                <a:solidFill>
                  <a:srgbClr val="161616"/>
                </a:solidFill>
                <a:latin typeface="Marianne"/>
              </a:rPr>
              <a:t>Corriger un document Word après publication : 10 fois plus cher que le faire d'emblée</a:t>
            </a:r>
          </a:p>
          <a:p>
            <a:pPr algn="l">
              <a:lnSpc>
                <a:spcPct val="115000"/>
              </a:lnSpc>
            </a:pPr>
            <a:r>
              <a:rPr sz="1400" lang="fr-FR">
                <a:solidFill>
                  <a:srgbClr val="161616"/>
                </a:solidFill>
                <a:latin typeface="Marianne"/>
              </a:rPr>
              <a:t>• </a:t>
            </a:r>
            <a:r>
              <a:rPr sz="1400" b="0" lang="fr-FR">
                <a:solidFill>
                  <a:srgbClr val="161616"/>
                </a:solidFill>
                <a:latin typeface="Marianne"/>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5</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14</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On s'en occupe à la fin !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Prise en compte tardive = grosses corrections après coup</a:t>
            </a:r>
          </a:p>
          <a:p>
            <a:pPr algn="l">
              <a:lnSpc>
                <a:spcPct val="115000"/>
              </a:lnSpc>
            </a:pPr>
            <a:r>
              <a:rPr sz="1400" lang="fr-FR">
                <a:solidFill>
                  <a:srgbClr val="161616"/>
                </a:solidFill>
                <a:latin typeface="Marianne"/>
              </a:rPr>
              <a:t>• </a:t>
            </a:r>
            <a:r>
              <a:rPr sz="1400" b="0" lang="fr-FR">
                <a:solidFill>
                  <a:srgbClr val="161616"/>
                </a:solidFill>
                <a:latin typeface="Marianne"/>
              </a:rPr>
              <a:t>Cela pèse sur l'efficacité des projets et génère de la frustration pour les équipes</a:t>
            </a:r>
          </a:p>
          <a:p>
            <a:pPr algn="l">
              <a:lnSpc>
                <a:spcPct val="115000"/>
              </a:lnSpc>
            </a:pPr>
            <a:r>
              <a:rPr sz="1400" lang="fr-FR">
                <a:solidFill>
                  <a:srgbClr val="161616"/>
                </a:solidFill>
                <a:latin typeface="Marianne"/>
              </a:rPr>
              <a:t>• </a:t>
            </a:r>
            <a:r>
              <a:rPr sz="1400" b="0" lang="fr-FR">
                <a:solidFill>
                  <a:srgbClr val="161616"/>
                </a:solidFill>
                <a:latin typeface="Marianne"/>
              </a:rPr>
              <a:t>L'accessibilité « à la fin » est souvent l'accessibilité jamais faite</a:t>
            </a:r>
          </a:p>
          <a:p>
            <a:pPr algn="l">
              <a:lnSpc>
                <a:spcPct val="115000"/>
              </a:lnSpc>
            </a:pPr>
            <a:r>
              <a:rPr sz="1400" lang="fr-FR">
                <a:solidFill>
                  <a:srgbClr val="161616"/>
                </a:solidFill>
                <a:latin typeface="Marianne"/>
              </a:rPr>
              <a:t>• </a:t>
            </a:r>
            <a:r>
              <a:rPr sz="1400" b="0" lang="fr-FR">
                <a:solidFill>
                  <a:srgbClr val="161616"/>
                </a:solidFill>
                <a:latin typeface="Marianne"/>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6</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Tous les contenus sont concernés</a:t>
            </a:r>
          </a:p>
        </p:txBody>
      </p:sp>
      <p:sp>
        <p:nvSpPr>
          <p:cNvPr id="14" name="DSFR-callout-body"/>
          <p:cNvSpPr txBox="1"/>
          <p:nvPr/>
        </p:nvSpPr>
        <p:spPr>
          <a:xfrm>
            <a:off x="704088" y="380573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applications, newsletters, courriels</a:t>
            </a:r>
          </a:p>
          <a:p>
            <a:pPr algn="l">
              <a:lnSpc>
                <a:spcPct val="120000"/>
              </a:lnSpc>
            </a:pPr>
            <a:r>
              <a:rPr sz="1400" lang="fr-FR">
                <a:solidFill>
                  <a:srgbClr val="161616"/>
                </a:solidFill>
                <a:latin typeface="Marianne"/>
              </a:rPr>
              <a:t>• </a:t>
            </a:r>
            <a:r>
              <a:rPr sz="1400" b="0" lang="fr-FR">
                <a:solidFill>
                  <a:srgbClr val="161616"/>
                </a:solidFill>
                <a:latin typeface="Marianne"/>
              </a:rPr>
              <a:t>Vidéos, podcasts, visuels animés</a:t>
            </a:r>
          </a:p>
          <a:p>
            <a:pPr algn="l">
              <a:lnSpc>
                <a:spcPct val="120000"/>
              </a:lnSpc>
            </a:pPr>
            <a:r>
              <a:rPr sz="1400" lang="fr-FR">
                <a:solidFill>
                  <a:srgbClr val="161616"/>
                </a:solidFill>
                <a:latin typeface="Marianne"/>
              </a:rPr>
              <a:t>• </a:t>
            </a:r>
            <a:r>
              <a:rPr sz="1400" b="0" lang="fr-FR">
                <a:solidFill>
                  <a:srgbClr val="161616"/>
                </a:solidFill>
                <a:latin typeface="Marianne"/>
              </a:rPr>
              <a:t>Documents bureautiques, PDF, formulaires</a:t>
            </a:r>
          </a:p>
          <a:p>
            <a:pPr algn="l">
              <a:lnSpc>
                <a:spcPct val="120000"/>
              </a:lnSpc>
            </a:pPr>
            <a:r>
              <a:rPr sz="1400" lang="fr-FR">
                <a:solidFill>
                  <a:srgbClr val="161616"/>
                </a:solidFill>
                <a:latin typeface="Marianne"/>
              </a:rPr>
              <a:t>• </a:t>
            </a:r>
            <a:r>
              <a:rPr sz="1400" b="0" lang="fr-FR">
                <a:solidFill>
                  <a:srgbClr val="161616"/>
                </a:solidFill>
                <a:latin typeface="Marianne"/>
              </a:rPr>
              <a:t>Affiches, flyers, plans, QR codes</a:t>
            </a:r>
          </a:p>
        </p:txBody>
      </p:sp>
      <p:sp>
        <p:nvSpPr>
          <p:cNvPr id="16" name="DSFR-box"/>
          <p:cNvSpPr/>
          <p:nvPr/>
        </p:nvSpPr>
        <p:spPr>
          <a:xfrm>
            <a:off x="6313931" y="3302812"/>
            <a:ext cx="5390388" cy="273497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Utile pour tous, indispensable pour certains</a:t>
            </a:r>
          </a:p>
        </p:txBody>
      </p:sp>
      <p:sp>
        <p:nvSpPr>
          <p:cNvPr id="18" name="DSFR-callout-body"/>
          <p:cNvSpPr txBox="1"/>
          <p:nvPr/>
        </p:nvSpPr>
        <p:spPr>
          <a:xfrm>
            <a:off x="6469379" y="3965752"/>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Handicap permanent, temporaire ou situationnel</a:t>
            </a:r>
          </a:p>
          <a:p>
            <a:pPr algn="l">
              <a:lnSpc>
                <a:spcPct val="120000"/>
              </a:lnSpc>
            </a:pPr>
            <a:r>
              <a:rPr sz="1400" lang="fr-FR">
                <a:solidFill>
                  <a:srgbClr val="161616"/>
                </a:solidFill>
                <a:latin typeface="Marianne"/>
              </a:rPr>
              <a:t>• </a:t>
            </a:r>
            <a:r>
              <a:rPr sz="1400" b="0" lang="fr-FR">
                <a:solidFill>
                  <a:srgbClr val="161616"/>
                </a:solidFill>
                <a:latin typeface="Marianne"/>
              </a:rPr>
              <a:t>Matériel ancien, connexion lente, écran petit</a:t>
            </a:r>
          </a:p>
          <a:p>
            <a:pPr algn="l">
              <a:lnSpc>
                <a:spcPct val="120000"/>
              </a:lnSpc>
            </a:pPr>
            <a:r>
              <a:rPr sz="1400" lang="fr-FR">
                <a:solidFill>
                  <a:srgbClr val="161616"/>
                </a:solidFill>
                <a:latin typeface="Marianne"/>
              </a:rPr>
              <a:t>• </a:t>
            </a:r>
            <a:r>
              <a:rPr sz="1400" b="0" lang="fr-FR">
                <a:solidFill>
                  <a:srgbClr val="161616"/>
                </a:solidFill>
                <a:latin typeface="Marianne"/>
              </a:rPr>
              <a:t>Environnement bruyant, lumineux ou contraint</a:t>
            </a:r>
          </a:p>
          <a:p>
            <a:pPr algn="l">
              <a:lnSpc>
                <a:spcPct val="120000"/>
              </a:lnSpc>
            </a:pPr>
            <a:r>
              <a:rPr sz="1400" lang="fr-FR">
                <a:solidFill>
                  <a:srgbClr val="161616"/>
                </a:solidFill>
                <a:latin typeface="Marianne"/>
              </a:rPr>
              <a:t>• </a:t>
            </a:r>
            <a:r>
              <a:rPr sz="1400" b="0" lang="fr-FR">
                <a:solidFill>
                  <a:srgbClr val="161616"/>
                </a:solidFill>
                <a:latin typeface="Marianne"/>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27349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17</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référence internationale
du W3C.</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référentiel français
publié par la DINUM.</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106</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18</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type de handicap implique des besoins concrets que vos contenus doivent prendre en compte.</a:t>
            </a:r>
          </a:p>
        </p:txBody>
      </p:sp>
      <p:sp>
        <p:nvSpPr>
          <p:cNvPr id="12" name="DSFR-box"/>
          <p:cNvSpPr/>
          <p:nvPr/>
        </p:nvSpPr>
        <p:spPr>
          <a:xfrm>
            <a:off x="548640"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Visuelle</a:t>
            </a:r>
          </a:p>
        </p:txBody>
      </p:sp>
      <p:sp>
        <p:nvSpPr>
          <p:cNvPr id="14" name="DSFR-card-contenu"/>
          <p:cNvSpPr txBox="1"/>
          <p:nvPr/>
        </p:nvSpPr>
        <p:spPr>
          <a:xfrm>
            <a:off x="704088"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Lecteur d'écran, loupe, contraste</a:t>
            </a:r>
          </a:p>
          <a:p>
            <a:pPr algn="l">
              <a:lnSpc>
                <a:spcPct val="150000"/>
              </a:lnSpc>
            </a:pPr>
            <a:r>
              <a:rPr sz="1400" lang="fr-FR">
                <a:solidFill>
                  <a:srgbClr val="161616"/>
                </a:solidFill>
                <a:latin typeface="Marianne"/>
              </a:rPr>
              <a:t>• </a:t>
            </a:r>
            <a:r>
              <a:rPr sz="1400" b="0" lang="fr-FR">
                <a:solidFill>
                  <a:srgbClr val="161616"/>
                </a:solidFill>
                <a:latin typeface="Marianne"/>
              </a:rPr>
              <a:t>Alt text, structure, couleurs</a:t>
            </a:r>
          </a:p>
        </p:txBody>
      </p:sp>
      <p:sp>
        <p:nvSpPr>
          <p:cNvPr id="16" name="DSFR-box"/>
          <p:cNvSpPr/>
          <p:nvPr/>
        </p:nvSpPr>
        <p:spPr>
          <a:xfrm>
            <a:off x="3431286"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Auditive</a:t>
            </a:r>
          </a:p>
        </p:txBody>
      </p:sp>
      <p:sp>
        <p:nvSpPr>
          <p:cNvPr id="18" name="DSFR-card-contenu"/>
          <p:cNvSpPr txBox="1"/>
          <p:nvPr/>
        </p:nvSpPr>
        <p:spPr>
          <a:xfrm>
            <a:off x="3586734"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Sous-titres, transcription, LSF</a:t>
            </a:r>
          </a:p>
          <a:p>
            <a:pPr algn="l">
              <a:lnSpc>
                <a:spcPct val="150000"/>
              </a:lnSpc>
            </a:pPr>
            <a:r>
              <a:rPr sz="1400" lang="fr-FR">
                <a:solidFill>
                  <a:srgbClr val="161616"/>
                </a:solidFill>
                <a:latin typeface="Marianne"/>
              </a:rPr>
              <a:t>• </a:t>
            </a:r>
            <a:r>
              <a:rPr sz="1400" b="0" lang="fr-FR">
                <a:solidFill>
                  <a:srgbClr val="161616"/>
                </a:solidFill>
                <a:latin typeface="Marianne"/>
              </a:rPr>
              <a:t>Alertes visuelles, pas que sonores</a:t>
            </a:r>
          </a:p>
        </p:txBody>
      </p:sp>
      <p:sp>
        <p:nvSpPr>
          <p:cNvPr id="20" name="DSFR-box"/>
          <p:cNvSpPr/>
          <p:nvPr/>
        </p:nvSpPr>
        <p:spPr>
          <a:xfrm>
            <a:off x="6313931"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Motrice</a:t>
            </a:r>
          </a:p>
        </p:txBody>
      </p:sp>
      <p:sp>
        <p:nvSpPr>
          <p:cNvPr id="22" name="DSFR-card-contenu"/>
          <p:cNvSpPr txBox="1"/>
          <p:nvPr/>
        </p:nvSpPr>
        <p:spPr>
          <a:xfrm>
            <a:off x="6469379"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Clavier seul, contacteur, voix</a:t>
            </a:r>
          </a:p>
          <a:p>
            <a:pPr algn="l">
              <a:lnSpc>
                <a:spcPct val="150000"/>
              </a:lnSpc>
            </a:pPr>
            <a:r>
              <a:rPr sz="1400" lang="fr-FR">
                <a:solidFill>
                  <a:srgbClr val="161616"/>
                </a:solidFill>
                <a:latin typeface="Marianne"/>
              </a:rPr>
              <a:t>• </a:t>
            </a:r>
            <a:r>
              <a:rPr sz="1400" b="0" lang="fr-FR">
                <a:solidFill>
                  <a:srgbClr val="161616"/>
                </a:solidFill>
                <a:latin typeface="Marianne"/>
              </a:rPr>
              <a:t>Cibles larges, pas de geste imposé</a:t>
            </a:r>
          </a:p>
        </p:txBody>
      </p:sp>
      <p:sp>
        <p:nvSpPr>
          <p:cNvPr id="24" name="DSFR-box"/>
          <p:cNvSpPr/>
          <p:nvPr/>
        </p:nvSpPr>
        <p:spPr>
          <a:xfrm>
            <a:off x="9196578"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Cognitive</a:t>
            </a:r>
          </a:p>
        </p:txBody>
      </p:sp>
      <p:sp>
        <p:nvSpPr>
          <p:cNvPr id="26" name="DSFR-card-contenu"/>
          <p:cNvSpPr txBox="1"/>
          <p:nvPr/>
        </p:nvSpPr>
        <p:spPr>
          <a:xfrm>
            <a:off x="9352026"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Langage clair, mise en page aérée</a:t>
            </a:r>
          </a:p>
          <a:p>
            <a:pPr algn="l">
              <a:lnSpc>
                <a:spcPct val="150000"/>
              </a:lnSpc>
            </a:pPr>
            <a:r>
              <a:rPr sz="1400" lang="fr-FR">
                <a:solidFill>
                  <a:srgbClr val="161616"/>
                </a:solidFill>
                <a:latin typeface="Marianne"/>
              </a:rPr>
              <a:t>• </a:t>
            </a:r>
            <a:r>
              <a:rPr sz="1400" b="0" lang="fr-FR">
                <a:solidFill>
                  <a:srgbClr val="161616"/>
                </a:solidFill>
                <a:latin typeface="Marianne"/>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20</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Testez les simulations suivantes</a:t>
            </a:r>
          </a:p>
        </p:txBody>
      </p:sp>
      <p:sp>
        <p:nvSpPr>
          <p:cNvPr id="14" name="DSFR-callout-body"/>
          <p:cNvSpPr txBox="1"/>
          <p:nvPr/>
        </p:nvSpPr>
        <p:spPr>
          <a:xfrm>
            <a:off x="704088" y="4651552"/>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Daltonisme</a:t>
            </a:r>
          </a:p>
          <a:p>
            <a:pPr algn="l">
              <a:lnSpc>
                <a:spcPct val="125000"/>
              </a:lnSpc>
            </a:pPr>
            <a:r>
              <a:rPr sz="1400" lang="fr-FR">
                <a:solidFill>
                  <a:srgbClr val="161616"/>
                </a:solidFill>
                <a:latin typeface="Marianne"/>
              </a:rPr>
              <a:t>• </a:t>
            </a:r>
            <a:r>
              <a:rPr sz="1400" b="0" lang="fr-FR">
                <a:solidFill>
                  <a:srgbClr val="161616"/>
                </a:solidFill>
                <a:latin typeface="Marianne"/>
              </a:rPr>
              <a:t>Malvoyance</a:t>
            </a:r>
          </a:p>
          <a:p>
            <a:pPr algn="l">
              <a:lnSpc>
                <a:spcPct val="125000"/>
              </a:lnSpc>
            </a:pPr>
            <a:r>
              <a:rPr sz="1400" lang="fr-FR">
                <a:solidFill>
                  <a:srgbClr val="161616"/>
                </a:solidFill>
                <a:latin typeface="Marianne"/>
              </a:rPr>
              <a:t>• </a:t>
            </a:r>
            <a:r>
              <a:rPr sz="1400" b="0" lang="fr-FR">
                <a:solidFill>
                  <a:srgbClr val="161616"/>
                </a:solidFill>
                <a:latin typeface="Marianne"/>
              </a:rPr>
              <a:t>Cécité</a:t>
            </a:r>
          </a:p>
          <a:p>
            <a:pPr algn="l">
              <a:lnSpc>
                <a:spcPct val="125000"/>
              </a:lnSpc>
            </a:pPr>
            <a:r>
              <a:rPr sz="1400" lang="fr-FR">
                <a:solidFill>
                  <a:srgbClr val="161616"/>
                </a:solidFill>
                <a:latin typeface="Marianne"/>
              </a:rPr>
              <a:t>• </a:t>
            </a:r>
            <a:r>
              <a:rPr sz="1400" b="0" lang="fr-FR">
                <a:solidFill>
                  <a:srgbClr val="161616"/>
                </a:solidFill>
                <a:latin typeface="Marianne"/>
              </a:rPr>
              <a:t>Surdité</a:t>
            </a:r>
          </a:p>
          <a:p>
            <a:pPr algn="l">
              <a:lnSpc>
                <a:spcPct val="125000"/>
              </a:lnSpc>
            </a:pPr>
            <a:r>
              <a:rPr sz="1400" lang="fr-FR">
                <a:solidFill>
                  <a:srgbClr val="161616"/>
                </a:solidFill>
                <a:latin typeface="Marianne"/>
              </a:rPr>
              <a:t>• </a:t>
            </a:r>
            <a:r>
              <a:rPr sz="1400" b="0" lang="fr-FR">
                <a:solidFill>
                  <a:srgbClr val="161616"/>
                </a:solidFill>
                <a:latin typeface="Marianne"/>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Amir, charge d'etudes - cecite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21</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Alternative textuelle sur chaque image (attribut alt)</a:t>
            </a:r>
          </a:p>
          <a:p>
            <a:pPr algn="l">
              <a:lnSpc>
                <a:spcPct val="130000"/>
              </a:lnSpc>
            </a:pPr>
            <a:r>
              <a:rPr sz="1400" lang="fr-FR">
                <a:solidFill>
                  <a:srgbClr val="161616"/>
                </a:solidFill>
                <a:latin typeface="Marianne"/>
              </a:rPr>
              <a:t>• </a:t>
            </a:r>
            <a:r>
              <a:rPr sz="1400" b="0" lang="fr-FR">
                <a:solidFill>
                  <a:srgbClr val="161616"/>
                </a:solidFill>
                <a:latin typeface="Marianne"/>
              </a:rPr>
              <a:t>Structure logique du document (titres, listes, tableaux)</a:t>
            </a:r>
          </a:p>
          <a:p>
            <a:pPr algn="l">
              <a:lnSpc>
                <a:spcPct val="130000"/>
              </a:lnSpc>
            </a:pPr>
            <a:r>
              <a:rPr sz="1400" lang="fr-FR">
                <a:solidFill>
                  <a:srgbClr val="161616"/>
                </a:solidFill>
                <a:latin typeface="Marianne"/>
              </a:rPr>
              <a:t>• </a:t>
            </a:r>
            <a:r>
              <a:rPr sz="1400" b="0" lang="fr-FR">
                <a:solidFill>
                  <a:srgbClr val="161616"/>
                </a:solidFill>
                <a:latin typeface="Marianne"/>
              </a:rPr>
              <a:t>Liens explicites (pas de « cliquez ici »)</a:t>
            </a:r>
          </a:p>
          <a:p>
            <a:pPr algn="l">
              <a:lnSpc>
                <a:spcPct val="130000"/>
              </a:lnSpc>
            </a:pPr>
            <a:r>
              <a:rPr sz="1400" lang="fr-FR">
                <a:solidFill>
                  <a:srgbClr val="161616"/>
                </a:solidFill>
                <a:latin typeface="Marianne"/>
              </a:rPr>
              <a:t>• </a:t>
            </a:r>
            <a:r>
              <a:rPr sz="1400" b="0" lang="fr-FR">
                <a:solidFill>
                  <a:srgbClr val="161616"/>
                </a:solidFill>
                <a:latin typeface="Marianne"/>
              </a:rPr>
              <a:t>Formulaires avec des etiquettes associees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 + Compatible</a:t>
            </a:r>
          </a:p>
        </p:txBody>
      </p:sp>
      <p:pic>
        <p:nvPicPr>
          <p:cNvPr id="16" name="Picture 15" descr="Lecteurs d'e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Lecteurs d'ecran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Plage braille</a:t>
            </a:r>
          </a:p>
        </p:txBody>
      </p:sp>
      <p:pic>
        <p:nvPicPr>
          <p:cNvPr id="20" name="Picture 19" descr="Synthe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Synthese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22</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Agrandir la taille des textes et des interfaces</a:t>
            </a:r>
          </a:p>
          <a:p>
            <a:pPr algn="l">
              <a:lnSpc>
                <a:spcPct val="130000"/>
              </a:lnSpc>
            </a:pPr>
            <a:r>
              <a:rPr sz="1400" lang="fr-FR">
                <a:solidFill>
                  <a:srgbClr val="161616"/>
                </a:solidFill>
                <a:latin typeface="Marianne"/>
              </a:rPr>
              <a:t>• </a:t>
            </a:r>
            <a:r>
              <a:rPr sz="1400" b="0" lang="fr-FR">
                <a:solidFill>
                  <a:srgbClr val="161616"/>
                </a:solidFill>
                <a:latin typeface="Marianne"/>
              </a:rPr>
              <a:t>Contraste suffisant entre texte et fond (ratio 4.5:1 minimum)</a:t>
            </a:r>
          </a:p>
          <a:p>
            <a:pPr algn="l">
              <a:lnSpc>
                <a:spcPct val="130000"/>
              </a:lnSpc>
            </a:pPr>
            <a:r>
              <a:rPr sz="1400" lang="fr-FR">
                <a:solidFill>
                  <a:srgbClr val="161616"/>
                </a:solidFill>
                <a:latin typeface="Marianne"/>
              </a:rPr>
              <a:t>• </a:t>
            </a:r>
            <a:r>
              <a:rPr sz="1400" b="0" lang="fr-FR">
                <a:solidFill>
                  <a:srgbClr val="161616"/>
                </a:solidFill>
                <a:latin typeface="Marianne"/>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pic>
        <p:nvPicPr>
          <p:cNvPr id="16" name="Picture 15" descr="Clavier adapté"/>
          <p:cNvPicPr>
            <a:picLocks noChangeAspect="1"/>
          </p:cNvPicPr>
          <p:nvPr/>
        </p:nvPicPr>
        <p:blipFill>
          <a:blip r:embed="rId3"/>
          <a:stretch>
            <a:fillRect/>
          </a:stretch>
        </p:blipFill>
        <p:spPr>
          <a:xfrm>
            <a:off x="1453895" y="4617720"/>
            <a:ext cx="1584960" cy="1187938"/>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Clavier adapté</a:t>
            </a:r>
          </a:p>
        </p:txBody>
      </p:sp>
      <p:pic>
        <p:nvPicPr>
          <p:cNvPr id="18" name="Picture 17" descr="Clavier guide-doigts"/>
          <p:cNvPicPr>
            <a:picLocks noChangeAspect="1"/>
          </p:cNvPicPr>
          <p:nvPr/>
        </p:nvPicPr>
        <p:blipFill>
          <a:blip r:embed="rId4"/>
          <a:stretch>
            <a:fillRect/>
          </a:stretch>
        </p:blipFill>
        <p:spPr>
          <a:xfrm>
            <a:off x="4410455" y="4617720"/>
            <a:ext cx="3358895" cy="1057920"/>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Clavier guide-doigts</a:t>
            </a:r>
          </a:p>
        </p:txBody>
      </p:sp>
      <p:pic>
        <p:nvPicPr>
          <p:cNvPr id="20" name="Picture 19" descr="Paramètres accessibilité"/>
          <p:cNvPicPr>
            <a:picLocks noChangeAspect="1"/>
          </p:cNvPicPr>
          <p:nvPr/>
        </p:nvPicPr>
        <p:blipFill>
          <a:blip r:embed="rId5"/>
          <a:stretch>
            <a:fillRect/>
          </a:stretch>
        </p:blipFill>
        <p:spPr>
          <a:xfrm>
            <a:off x="8668836" y="4617720"/>
            <a:ext cx="2529191" cy="748185"/>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Paramètres accessibilité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23</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Sous-titres sur toutes les vidéos et contenus audio</a:t>
            </a:r>
          </a:p>
          <a:p>
            <a:pPr algn="l">
              <a:lnSpc>
                <a:spcPct val="130000"/>
              </a:lnSpc>
            </a:pPr>
            <a:r>
              <a:rPr sz="1400" lang="fr-FR">
                <a:solidFill>
                  <a:srgbClr val="161616"/>
                </a:solidFill>
                <a:latin typeface="Marianne"/>
              </a:rPr>
              <a:t>• </a:t>
            </a:r>
            <a:r>
              <a:rPr sz="1400" b="0" lang="fr-FR">
                <a:solidFill>
                  <a:srgbClr val="161616"/>
                </a:solidFill>
                <a:latin typeface="Marianne"/>
              </a:rPr>
              <a:t>Transcription textuelle des podcasts et webinaires</a:t>
            </a:r>
          </a:p>
          <a:p>
            <a:pPr algn="l">
              <a:lnSpc>
                <a:spcPct val="130000"/>
              </a:lnSpc>
            </a:pPr>
            <a:r>
              <a:rPr sz="1400" lang="fr-FR">
                <a:solidFill>
                  <a:srgbClr val="161616"/>
                </a:solidFill>
                <a:latin typeface="Marianne"/>
              </a:rPr>
              <a:t>• </a:t>
            </a:r>
            <a:r>
              <a:rPr sz="1400" b="0" lang="fr-FR">
                <a:solidFill>
                  <a:srgbClr val="161616"/>
                </a:solidFill>
                <a:latin typeface="Marianne"/>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pic>
        <p:nvPicPr>
          <p:cNvPr id="16" name="Picture 15" descr="Transcription"/>
          <p:cNvPicPr>
            <a:picLocks noChangeAspect="1"/>
          </p:cNvPicPr>
          <p:nvPr/>
        </p:nvPicPr>
        <p:blipFill>
          <a:blip r:embed="rId3"/>
          <a:stretch>
            <a:fillRect/>
          </a:stretch>
        </p:blipFill>
        <p:spPr>
          <a:xfrm>
            <a:off x="1652016" y="4617720"/>
            <a:ext cx="1188720" cy="1188720"/>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Transcription</a:t>
            </a:r>
          </a:p>
        </p:txBody>
      </p:sp>
      <p:pic>
        <p:nvPicPr>
          <p:cNvPr id="18" name="Picture 17" descr="Vérificateur accessibilité"/>
          <p:cNvPicPr>
            <a:picLocks noChangeAspect="1"/>
          </p:cNvPicPr>
          <p:nvPr/>
        </p:nvPicPr>
        <p:blipFill>
          <a:blip r:embed="rId4"/>
          <a:stretch>
            <a:fillRect/>
          </a:stretch>
        </p:blipFill>
        <p:spPr>
          <a:xfrm>
            <a:off x="4825308" y="4617720"/>
            <a:ext cx="2529191" cy="428442"/>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Vérificateur accessibilité</a:t>
            </a:r>
          </a:p>
        </p:txBody>
      </p:sp>
      <p:pic>
        <p:nvPicPr>
          <p:cNvPr id="20" name="Picture 19" descr="NVDA - lecteur d'écran"/>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NVDA - lecteur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24</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Naviguer sans souris, avec des contacteurs adaptés</a:t>
            </a:r>
          </a:p>
          <a:p>
            <a:pPr algn="l">
              <a:lnSpc>
                <a:spcPct val="130000"/>
              </a:lnSpc>
            </a:pPr>
            <a:r>
              <a:rPr sz="1400" lang="fr-FR">
                <a:solidFill>
                  <a:srgbClr val="161616"/>
                </a:solidFill>
                <a:latin typeface="Marianne"/>
              </a:rPr>
              <a:t>• </a:t>
            </a:r>
            <a:r>
              <a:rPr sz="1400" b="0" lang="fr-FR">
                <a:solidFill>
                  <a:srgbClr val="161616"/>
                </a:solidFill>
                <a:latin typeface="Marianne"/>
              </a:rPr>
              <a:t>Cibles cliquables suffisamment larges (44 x 44 px minimum)</a:t>
            </a:r>
          </a:p>
          <a:p>
            <a:pPr algn="l">
              <a:lnSpc>
                <a:spcPct val="130000"/>
              </a:lnSpc>
            </a:pPr>
            <a:r>
              <a:rPr sz="1400" lang="fr-FR">
                <a:solidFill>
                  <a:srgbClr val="161616"/>
                </a:solidFill>
                <a:latin typeface="Marianne"/>
              </a:rPr>
              <a:t>• </a:t>
            </a:r>
            <a:r>
              <a:rPr sz="1400" b="0" lang="fr-FR">
                <a:solidFill>
                  <a:srgbClr val="161616"/>
                </a:solidFill>
                <a:latin typeface="Marianne"/>
              </a:rPr>
              <a:t>Convertisseur texte-parole pour communiquer plus facilement</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Marianne"/>
              </a:rPr>
              <a:t>Utiliser</a:t>
            </a:r>
          </a:p>
        </p:txBody>
      </p:sp>
      <p:pic>
        <p:nvPicPr>
          <p:cNvPr id="16" name="Picture 15" descr="Souris trackball"/>
          <p:cNvPicPr>
            <a:picLocks noChangeAspect="1"/>
          </p:cNvPicPr>
          <p:nvPr/>
        </p:nvPicPr>
        <p:blipFill>
          <a:blip r:embed="rId3"/>
          <a:stretch>
            <a:fillRect/>
          </a:stretch>
        </p:blipFill>
        <p:spPr>
          <a:xfrm>
            <a:off x="1453895" y="4617720"/>
            <a:ext cx="1584960" cy="1186806"/>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Souris trackball</a:t>
            </a:r>
          </a:p>
        </p:txBody>
      </p:sp>
      <p:pic>
        <p:nvPicPr>
          <p:cNvPr id="18" name="Picture 17" descr="Plage braille / contacteurs"/>
          <p:cNvPicPr>
            <a:picLocks noChangeAspect="1"/>
          </p:cNvPicPr>
          <p:nvPr/>
        </p:nvPicPr>
        <p:blipFill>
          <a:blip r:embed="rId4"/>
          <a:stretch>
            <a:fillRect/>
          </a:stretch>
        </p:blipFill>
        <p:spPr>
          <a:xfrm>
            <a:off x="4989237" y="4617720"/>
            <a:ext cx="2201333" cy="1189311"/>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Plage braille / contacteurs</a:t>
            </a:r>
          </a:p>
        </p:txBody>
      </p:sp>
      <p:pic>
        <p:nvPicPr>
          <p:cNvPr id="20" name="Picture 19" descr="Contrôle vocal"/>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Contrôle vocal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Anatole, lyceen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25</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Phrases courtes et simples, sans double negation</a:t>
            </a:r>
          </a:p>
          <a:p>
            <a:pPr algn="l">
              <a:lnSpc>
                <a:spcPct val="130000"/>
              </a:lnSpc>
            </a:pPr>
            <a:r>
              <a:rPr sz="1400" lang="fr-FR">
                <a:solidFill>
                  <a:srgbClr val="161616"/>
                </a:solidFill>
                <a:latin typeface="Marianne"/>
              </a:rPr>
              <a:t>• </a:t>
            </a:r>
            <a:r>
              <a:rPr sz="1400" b="0" lang="fr-FR">
                <a:solidFill>
                  <a:srgbClr val="161616"/>
                </a:solidFill>
                <a:latin typeface="Marianne"/>
              </a:rPr>
              <a:t>Mise en page aeree, une idee par paragraphe</a:t>
            </a:r>
          </a:p>
          <a:p>
            <a:pPr algn="l">
              <a:lnSpc>
                <a:spcPct val="130000"/>
              </a:lnSpc>
            </a:pPr>
            <a:r>
              <a:rPr sz="1400" lang="fr-FR">
                <a:solidFill>
                  <a:srgbClr val="161616"/>
                </a:solidFill>
                <a:latin typeface="Marianne"/>
              </a:rPr>
              <a:t>• </a:t>
            </a:r>
            <a:r>
              <a:rPr sz="1400" b="0" lang="fr-FR">
                <a:solidFill>
                  <a:srgbClr val="161616"/>
                </a:solidFill>
                <a:latin typeface="Marianne"/>
              </a:rPr>
              <a:t>Pictogrammes pour accompagner le texte</a:t>
            </a:r>
          </a:p>
          <a:p>
            <a:pPr algn="l">
              <a:lnSpc>
                <a:spcPct val="130000"/>
              </a:lnSpc>
            </a:pPr>
            <a:r>
              <a:rPr sz="1400" lang="fr-FR">
                <a:solidFill>
                  <a:srgbClr val="161616"/>
                </a:solidFill>
                <a:latin typeface="Marianne"/>
              </a:rPr>
              <a:t>• </a:t>
            </a:r>
            <a:r>
              <a:rPr sz="1400" b="0" lang="fr-FR">
                <a:solidFill>
                  <a:srgbClr val="161616"/>
                </a:solidFill>
                <a:latin typeface="Marianne"/>
              </a:rPr>
              <a:t>Navigation previsible,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a:t>
            </a:r>
          </a:p>
        </p:txBody>
      </p:sp>
      <p:sp>
        <p:nvSpPr>
          <p:cNvPr id="17" name="DSFR-box"/>
          <p:cNvSpPr/>
          <p:nvPr/>
        </p:nvSpPr>
        <p:spPr>
          <a:xfrm>
            <a:off x="548640" y="4487875"/>
            <a:ext cx="11155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79315"/>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4990795"/>
            <a:ext cx="10908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Porteur de trisomie 21</a:t>
            </a:r>
          </a:p>
          <a:p>
            <a:pPr algn="l">
              <a:lnSpc>
                <a:spcPct val="130000"/>
              </a:lnSpc>
            </a:pPr>
            <a:r>
              <a:rPr sz="1400" lang="fr-FR">
                <a:solidFill>
                  <a:srgbClr val="161616"/>
                </a:solidFill>
                <a:latin typeface="Marianne"/>
              </a:rPr>
              <a:t>• </a:t>
            </a:r>
            <a:r>
              <a:rPr sz="1400" b="0" lang="fr-FR">
                <a:solidFill>
                  <a:srgbClr val="161616"/>
                </a:solidFill>
                <a:latin typeface="Marianne"/>
              </a:rPr>
              <a:t>Lire lui demande du temps et de la concentration</a:t>
            </a:r>
          </a:p>
          <a:p>
            <a:pPr algn="l">
              <a:lnSpc>
                <a:spcPct val="130000"/>
              </a:lnSpc>
            </a:pPr>
            <a:r>
              <a:rPr sz="1400" lang="fr-FR">
                <a:solidFill>
                  <a:srgbClr val="161616"/>
                </a:solidFill>
                <a:latin typeface="Marianne"/>
              </a:rPr>
              <a:t>• </a:t>
            </a:r>
            <a:r>
              <a:rPr sz="1400" b="0" lang="fr-FR">
                <a:solidFill>
                  <a:srgbClr val="161616"/>
                </a:solidFill>
                <a:latin typeface="Marianne"/>
              </a:rPr>
              <a:t>Il comprend mieux les phrases simples et courtes</a:t>
            </a:r>
          </a:p>
          <a:p>
            <a:pPr algn="l">
              <a:lnSpc>
                <a:spcPct val="130000"/>
              </a:lnSpc>
            </a:pPr>
            <a:r>
              <a:rPr sz="1400" lang="fr-FR">
                <a:solidFill>
                  <a:srgbClr val="161616"/>
                </a:solidFill>
                <a:latin typeface="Marianne"/>
              </a:rPr>
              <a:t>• </a:t>
            </a:r>
            <a:r>
              <a:rPr sz="1400" b="0" lang="fr-FR">
                <a:solidFill>
                  <a:srgbClr val="161616"/>
                </a:solidFill>
                <a:latin typeface="Marianne"/>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87875"/>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Paul, attache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26</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Mettre en pause les animations (carrousels, video autoplay)</a:t>
            </a:r>
          </a:p>
          <a:p>
            <a:pPr algn="l">
              <a:lnSpc>
                <a:spcPct val="130000"/>
              </a:lnSpc>
            </a:pPr>
            <a:r>
              <a:rPr sz="1400" lang="fr-FR">
                <a:solidFill>
                  <a:srgbClr val="161616"/>
                </a:solidFill>
                <a:latin typeface="Marianne"/>
              </a:rPr>
              <a:t>• </a:t>
            </a:r>
            <a:r>
              <a:rPr sz="1400" b="0" lang="fr-FR">
                <a:solidFill>
                  <a:srgbClr val="161616"/>
                </a:solidFill>
                <a:latin typeface="Marianne"/>
              </a:rPr>
              <a:t>Textes non justifies, avec un espacement suffisant</a:t>
            </a:r>
          </a:p>
          <a:p>
            <a:pPr algn="l">
              <a:lnSpc>
                <a:spcPct val="130000"/>
              </a:lnSpc>
            </a:pPr>
            <a:r>
              <a:rPr sz="1400" lang="fr-FR">
                <a:solidFill>
                  <a:srgbClr val="161616"/>
                </a:solidFill>
                <a:latin typeface="Marianne"/>
              </a:rPr>
              <a:t>• </a:t>
            </a:r>
            <a:r>
              <a:rPr sz="1400" b="0" lang="fr-FR">
                <a:solidFill>
                  <a:srgbClr val="161616"/>
                </a:solidFill>
                <a:latin typeface="Marianne"/>
              </a:rPr>
              <a:t>Polices lisibles, sans empattement (sans serif)</a:t>
            </a:r>
          </a:p>
          <a:p>
            <a:pPr algn="l">
              <a:lnSpc>
                <a:spcPct val="130000"/>
              </a:lnSpc>
            </a:pPr>
            <a:r>
              <a:rPr sz="1400" lang="fr-FR">
                <a:solidFill>
                  <a:srgbClr val="161616"/>
                </a:solidFill>
                <a:latin typeface="Marianne"/>
              </a:rPr>
              <a:t>• </a:t>
            </a:r>
            <a:r>
              <a:rPr sz="1400" b="0" lang="fr-FR">
                <a:solidFill>
                  <a:srgbClr val="161616"/>
                </a:solidFill>
                <a:latin typeface="Marianne"/>
              </a:rPr>
              <a:t>Mise en page aeree,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 + Percevoir</a:t>
            </a:r>
          </a:p>
        </p:txBody>
      </p:sp>
      <p:sp>
        <p:nvSpPr>
          <p:cNvPr id="17" name="DSFR-box"/>
          <p:cNvSpPr/>
          <p:nvPr/>
        </p:nvSpPr>
        <p:spPr>
          <a:xfrm>
            <a:off x="548640" y="4737506"/>
            <a:ext cx="11155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828946"/>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5240426"/>
            <a:ext cx="10908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Consulte quotidiennement des sites d'info pour ses revues de presse</a:t>
            </a:r>
          </a:p>
          <a:p>
            <a:pPr algn="l">
              <a:lnSpc>
                <a:spcPct val="130000"/>
              </a:lnSpc>
            </a:pPr>
            <a:r>
              <a:rPr sz="1400" lang="fr-FR">
                <a:solidFill>
                  <a:srgbClr val="161616"/>
                </a:solidFill>
                <a:latin typeface="Marianne"/>
              </a:rPr>
              <a:t>• </a:t>
            </a:r>
            <a:r>
              <a:rPr sz="1400" b="0" lang="fr-FR">
                <a:solidFill>
                  <a:srgbClr val="161616"/>
                </a:solidFill>
                <a:latin typeface="Marianne"/>
              </a:rPr>
              <a:t>Trouble de l'attention : les animations non controlables le deconcentrent</a:t>
            </a:r>
          </a:p>
          <a:p>
            <a:pPr algn="l">
              <a:lnSpc>
                <a:spcPct val="130000"/>
              </a:lnSpc>
            </a:pPr>
            <a:r>
              <a:rPr sz="1400" lang="fr-FR">
                <a:solidFill>
                  <a:srgbClr val="161616"/>
                </a:solidFill>
                <a:latin typeface="Marianne"/>
              </a:rPr>
              <a:t>• </a:t>
            </a:r>
            <a:r>
              <a:rPr sz="1400" b="0" lang="fr-FR">
                <a:solidFill>
                  <a:srgbClr val="161616"/>
                </a:solidFill>
                <a:latin typeface="Marianne"/>
              </a:rPr>
              <a:t>Dyslexie : le texte justifie et les polices a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37506"/>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Synthese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27</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Marianne"/>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Lecteur d'ecran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Anais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28</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n'est pas une faveur : c'est une condition d'accès équitable à l'information.</a:t>
            </a:r>
          </a:p>
        </p:txBody>
      </p:sp>
      <p:sp>
        <p:nvSpPr>
          <p:cNvPr id="11" name="DSFR-kpi-pave"/>
          <p:cNvSpPr/>
          <p:nvPr/>
        </p:nvSpPr>
        <p:spPr>
          <a:xfrm>
            <a:off x="475488"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sur 5</a:t>
            </a:r>
          </a:p>
        </p:txBody>
      </p:sp>
      <p:sp>
        <p:nvSpPr>
          <p:cNvPr id="12" name="DSFR-kpi-label"/>
          <p:cNvSpPr txBox="1"/>
          <p:nvPr/>
        </p:nvSpPr>
        <p:spPr>
          <a:xfrm>
            <a:off x="475488"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personne en situation
de handicap ou trouble invalidant.</a:t>
            </a:r>
          </a:p>
        </p:txBody>
      </p:sp>
      <p:sp>
        <p:nvSpPr>
          <p:cNvPr id="13" name="DSFR-kpi-pave"/>
          <p:cNvSpPr/>
          <p:nvPr/>
        </p:nvSpPr>
        <p:spPr>
          <a:xfrm>
            <a:off x="4319015"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85 %</a:t>
            </a:r>
          </a:p>
        </p:txBody>
      </p:sp>
      <p:sp>
        <p:nvSpPr>
          <p:cNvPr id="14" name="DSFR-kpi-label"/>
          <p:cNvSpPr txBox="1"/>
          <p:nvPr/>
        </p:nvSpPr>
        <p:spPr>
          <a:xfrm>
            <a:off x="4319015"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handicaps sont acquis
au cours de la vie.</a:t>
            </a:r>
          </a:p>
        </p:txBody>
      </p:sp>
      <p:sp>
        <p:nvSpPr>
          <p:cNvPr id="15" name="DSFR-kpi-pave"/>
          <p:cNvSpPr/>
          <p:nvPr/>
        </p:nvSpPr>
        <p:spPr>
          <a:xfrm>
            <a:off x="8162543"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1er</a:t>
            </a:r>
          </a:p>
        </p:txBody>
      </p:sp>
      <p:sp>
        <p:nvSpPr>
          <p:cNvPr id="16" name="DSFR-kpi-label"/>
          <p:cNvSpPr txBox="1"/>
          <p:nvPr/>
        </p:nvSpPr>
        <p:spPr>
          <a:xfrm>
            <a:off x="8162543"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facteur de discrimination
selon le Défenseur des droits.</a:t>
            </a:r>
          </a:p>
        </p:txBody>
      </p:sp>
      <p:sp>
        <p:nvSpPr>
          <p:cNvPr id="18" name="DSFR-box"/>
          <p:cNvSpPr/>
          <p:nvPr/>
        </p:nvSpPr>
        <p:spPr>
          <a:xfrm>
            <a:off x="548640" y="459486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Validisme : le piège à déconstruire</a:t>
            </a:r>
          </a:p>
        </p:txBody>
      </p:sp>
      <p:sp>
        <p:nvSpPr>
          <p:cNvPr id="20" name="DSFR-callout-body"/>
          <p:cNvSpPr txBox="1"/>
          <p:nvPr/>
        </p:nvSpPr>
        <p:spPr>
          <a:xfrm>
            <a:off x="704088" y="5097780"/>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Penser le public comme valide par défaut</a:t>
            </a:r>
          </a:p>
          <a:p>
            <a:pPr algn="l">
              <a:lnSpc>
                <a:spcPct val="120000"/>
              </a:lnSpc>
            </a:pPr>
            <a:r>
              <a:rPr sz="1400" lang="fr-FR">
                <a:solidFill>
                  <a:srgbClr val="161616"/>
                </a:solidFill>
                <a:latin typeface="Marianne"/>
              </a:rPr>
              <a:t>• </a:t>
            </a:r>
            <a:r>
              <a:rPr sz="1400" b="0" lang="fr-FR">
                <a:solidFill>
                  <a:srgbClr val="161616"/>
                </a:solidFill>
                <a:latin typeface="Marianne"/>
              </a:rPr>
              <a:t>Confondre bonne intention et accès réel</a:t>
            </a:r>
          </a:p>
          <a:p>
            <a:pPr algn="l">
              <a:lnSpc>
                <a:spcPct val="120000"/>
              </a:lnSpc>
            </a:pPr>
            <a:r>
              <a:rPr sz="1400" lang="fr-FR">
                <a:solidFill>
                  <a:srgbClr val="161616"/>
                </a:solidFill>
                <a:latin typeface="Marianne"/>
              </a:rPr>
              <a:t>• </a:t>
            </a:r>
            <a:r>
              <a:rPr sz="1400" b="0" lang="fr-FR">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59486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ça change pour vous</a:t>
            </a:r>
          </a:p>
        </p:txBody>
      </p:sp>
      <p:sp>
        <p:nvSpPr>
          <p:cNvPr id="15" name="DSFR-callout-body"/>
          <p:cNvSpPr txBox="1"/>
          <p:nvPr/>
        </p:nvSpPr>
        <p:spPr>
          <a:xfrm>
            <a:off x="6053328" y="3497579"/>
            <a:ext cx="55595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C'est l'environnement qui crée le handicap, pas la personne</a:t>
            </a:r>
          </a:p>
          <a:p>
            <a:pPr algn="l">
              <a:lnSpc>
                <a:spcPct val="130000"/>
              </a:lnSpc>
            </a:pPr>
            <a:r>
              <a:rPr sz="1400" lang="fr-FR">
                <a:solidFill>
                  <a:srgbClr val="161616"/>
                </a:solidFill>
                <a:latin typeface="Marianne"/>
              </a:rPr>
              <a:t>• </a:t>
            </a:r>
            <a:r>
              <a:rPr sz="1400" b="0" lang="fr-FR">
                <a:solidFill>
                  <a:srgbClr val="161616"/>
                </a:solidFill>
                <a:latin typeface="Marianne"/>
              </a:rPr>
              <a:t>Un document inaccessible = une barrière que vous pouvez lever</a:t>
            </a:r>
          </a:p>
          <a:p>
            <a:pPr algn="l">
              <a:lnSpc>
                <a:spcPct val="130000"/>
              </a:lnSpc>
            </a:pPr>
            <a:r>
              <a:rPr sz="1400" lang="fr-FR">
                <a:solidFill>
                  <a:srgbClr val="161616"/>
                </a:solidFill>
                <a:latin typeface="Marianne"/>
              </a:rPr>
              <a:t>• </a:t>
            </a:r>
            <a:r>
              <a:rPr sz="1400" b="0" lang="fr-FR">
                <a:solidFill>
                  <a:srgbClr val="161616"/>
                </a:solidFill>
                <a:latin typeface="Marianne"/>
              </a:rPr>
              <a:t>Accessibiliser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32504" y="3040380"/>
            <a:ext cx="4114800" cy="322612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31</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32</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Contrôle Arcom effectif - contrôle DINUM en cours de mise en place</a:t>
            </a:r>
          </a:p>
        </p:txBody>
      </p:sp>
      <p:sp>
        <p:nvSpPr>
          <p:cNvPr id="20" name="DSFR-box"/>
          <p:cNvSpPr/>
          <p:nvPr/>
        </p:nvSpPr>
        <p:spPr>
          <a:xfrm>
            <a:off x="548640" y="41148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est concerné ?</a:t>
            </a:r>
          </a:p>
        </p:txBody>
      </p:sp>
      <p:sp>
        <p:nvSpPr>
          <p:cNvPr id="22" name="DSFR-alert-info-body"/>
          <p:cNvSpPr txBox="1"/>
          <p:nvPr/>
        </p:nvSpPr>
        <p:spPr>
          <a:xfrm>
            <a:off x="704088" y="46177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État, collectivités, établissements publics</a:t>
            </a:r>
          </a:p>
          <a:p>
            <a:pPr algn="l">
              <a:lnSpc>
                <a:spcPct val="150000"/>
              </a:lnSpc>
            </a:pPr>
            <a:r>
              <a:rPr sz="1400" lang="fr-FR">
                <a:solidFill>
                  <a:srgbClr val="161616"/>
                </a:solidFill>
                <a:latin typeface="Marianne"/>
              </a:rPr>
              <a:t>• </a:t>
            </a:r>
            <a:r>
              <a:rPr sz="1400" b="0" lang="fr-FR">
                <a:solidFill>
                  <a:srgbClr val="161616"/>
                </a:solidFill>
                <a:latin typeface="Marianne"/>
              </a:rPr>
              <a:t>Entreprises privées gérant un service public ou CA &gt; 250 M EUR</a:t>
            </a:r>
          </a:p>
          <a:p>
            <a:pPr algn="l">
              <a:lnSpc>
                <a:spcPct val="150000"/>
              </a:lnSpc>
            </a:pPr>
            <a:r>
              <a:rPr sz="1400" lang="fr-FR">
                <a:solidFill>
                  <a:srgbClr val="161616"/>
                </a:solidFill>
                <a:latin typeface="Marianne"/>
              </a:rPr>
              <a:t>• </a:t>
            </a:r>
            <a:r>
              <a:rPr sz="1400" b="0" lang="fr-FR">
                <a:solidFill>
                  <a:srgbClr val="161616"/>
                </a:solidFill>
                <a:latin typeface="Marianne"/>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Deux directives européennes structurent l'obligation d'accessibilité numérique en France.</a:t>
            </a:r>
          </a:p>
        </p:txBody>
      </p:sp>
      <p:sp>
        <p:nvSpPr>
          <p:cNvPr id="12" name="DSFR-box"/>
          <p:cNvSpPr/>
          <p:nvPr/>
        </p:nvSpPr>
        <p:spPr>
          <a:xfrm>
            <a:off x="548640" y="299466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2016/2102 - secteur public</a:t>
            </a:r>
          </a:p>
        </p:txBody>
      </p:sp>
      <p:sp>
        <p:nvSpPr>
          <p:cNvPr id="14" name="DSFR-callout-body"/>
          <p:cNvSpPr txBox="1"/>
          <p:nvPr/>
        </p:nvSpPr>
        <p:spPr>
          <a:xfrm>
            <a:off x="704088"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et applications mobiles du secteur public</a:t>
            </a:r>
          </a:p>
          <a:p>
            <a:pPr algn="l">
              <a:lnSpc>
                <a:spcPct val="120000"/>
              </a:lnSpc>
            </a:pPr>
            <a:r>
              <a:rPr sz="1400" lang="fr-FR">
                <a:solidFill>
                  <a:srgbClr val="161616"/>
                </a:solidFill>
                <a:latin typeface="Marianne"/>
              </a:rPr>
              <a:t>• </a:t>
            </a:r>
            <a:r>
              <a:rPr sz="1400" b="0" lang="fr-FR">
                <a:solidFill>
                  <a:srgbClr val="161616"/>
                </a:solidFill>
                <a:latin typeface="Marianne"/>
              </a:rPr>
              <a:t>Transposée en droit français par le décret 2019-768</a:t>
            </a:r>
          </a:p>
          <a:p>
            <a:pPr algn="l">
              <a:lnSpc>
                <a:spcPct val="120000"/>
              </a:lnSpc>
            </a:pPr>
            <a:r>
              <a:rPr sz="1400" lang="fr-FR">
                <a:solidFill>
                  <a:srgbClr val="161616"/>
                </a:solidFill>
                <a:latin typeface="Marianne"/>
              </a:rPr>
              <a:t>• </a:t>
            </a:r>
            <a:r>
              <a:rPr sz="1400" b="0" lang="fr-FR">
                <a:solidFill>
                  <a:srgbClr val="161616"/>
                </a:solidFill>
                <a:latin typeface="Marianne"/>
              </a:rPr>
              <a:t>Obligation de déclaration d'accessibilité</a:t>
            </a:r>
          </a:p>
          <a:p>
            <a:pPr algn="l">
              <a:lnSpc>
                <a:spcPct val="120000"/>
              </a:lnSpc>
            </a:pPr>
            <a:r>
              <a:rPr sz="1400" lang="fr-FR">
                <a:solidFill>
                  <a:srgbClr val="161616"/>
                </a:solidFill>
                <a:latin typeface="Marianne"/>
              </a:rPr>
              <a:t>• </a:t>
            </a:r>
            <a:r>
              <a:rPr sz="1400" b="0" lang="fr-FR">
                <a:solidFill>
                  <a:srgbClr val="161616"/>
                </a:solidFill>
                <a:latin typeface="Marianne"/>
              </a:rPr>
              <a:t>Base du RGAA actuel</a:t>
            </a:r>
          </a:p>
        </p:txBody>
      </p:sp>
      <p:sp>
        <p:nvSpPr>
          <p:cNvPr id="16" name="DSFR-box"/>
          <p:cNvSpPr/>
          <p:nvPr/>
        </p:nvSpPr>
        <p:spPr>
          <a:xfrm>
            <a:off x="6313931" y="2994660"/>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2019/882 - secteur privé</a:t>
            </a:r>
          </a:p>
        </p:txBody>
      </p:sp>
      <p:sp>
        <p:nvSpPr>
          <p:cNvPr id="18" name="DSFR-alert-warning-body"/>
          <p:cNvSpPr txBox="1"/>
          <p:nvPr/>
        </p:nvSpPr>
        <p:spPr>
          <a:xfrm>
            <a:off x="6469379" y="3497579"/>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Acte européen d'accessibilité (EAA)</a:t>
            </a:r>
          </a:p>
          <a:p>
            <a:pPr algn="l">
              <a:lnSpc>
                <a:spcPct val="120000"/>
              </a:lnSpc>
            </a:pPr>
            <a:r>
              <a:rPr sz="1400" lang="fr-FR">
                <a:solidFill>
                  <a:srgbClr val="161616"/>
                </a:solidFill>
                <a:latin typeface="Marianne"/>
              </a:rPr>
              <a:t>• </a:t>
            </a:r>
            <a:r>
              <a:rPr sz="1400" b="0" lang="fr-FR">
                <a:solidFill>
                  <a:srgbClr val="161616"/>
                </a:solidFill>
                <a:latin typeface="Marianne"/>
              </a:rPr>
              <a:t>Applicable à partir du 28 juin 2025</a:t>
            </a:r>
          </a:p>
          <a:p>
            <a:pPr algn="l">
              <a:lnSpc>
                <a:spcPct val="120000"/>
              </a:lnSpc>
            </a:pPr>
            <a:r>
              <a:rPr sz="1400" lang="fr-FR">
                <a:solidFill>
                  <a:srgbClr val="161616"/>
                </a:solidFill>
                <a:latin typeface="Marianne"/>
              </a:rPr>
              <a:t>• </a:t>
            </a:r>
            <a:r>
              <a:rPr sz="1400" b="0" lang="fr-FR">
                <a:solidFill>
                  <a:srgbClr val="161616"/>
                </a:solidFill>
                <a:latin typeface="Marianne"/>
              </a:rPr>
              <a:t>Commerce en ligne, banque, transport, télécom</a:t>
            </a:r>
          </a:p>
          <a:p>
            <a:pPr algn="l">
              <a:lnSpc>
                <a:spcPct val="120000"/>
              </a:lnSpc>
            </a:pPr>
            <a:r>
              <a:rPr sz="1400" lang="fr-FR">
                <a:solidFill>
                  <a:srgbClr val="161616"/>
                </a:solidFill>
                <a:latin typeface="Marianne"/>
              </a:rPr>
              <a:t>• </a:t>
            </a:r>
            <a:r>
              <a:rPr sz="1400" b="0" lang="fr-FR">
                <a:solidFill>
                  <a:srgbClr val="161616"/>
                </a:solidFill>
                <a:latin typeface="Marianne"/>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34</a:t>
            </a:r>
            <a:endParaRPr lang="fr-FR" dirty="0"/>
          </a:p>
        </p:txBody>
      </p:sp>
      <p:graphicFrame>
        <p:nvGraphicFramePr>
          <p:cNvPr id="8" name="Table 7"/>
          <p:cNvGraphicFramePr>
            <a:graphicFrameLocks noGrp="1"/>
          </p:cNvGraphicFramePr>
          <p:nvPr/>
        </p:nvGraphicFramePr>
        <p:xfrm>
          <a:off x="475488" y="182880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Marianne"/>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Marianne"/>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bl>
          </a:graphicData>
        </a:graphic>
      </p:graphicFrame>
      <p:sp>
        <p:nvSpPr>
          <p:cNvPr id="10" name="DSFR-box"/>
          <p:cNvSpPr/>
          <p:nvPr/>
        </p:nvSpPr>
        <p:spPr>
          <a:xfrm>
            <a:off x="548640" y="4297680"/>
            <a:ext cx="11155680" cy="165323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3891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Obligations de publication</a:t>
            </a:r>
          </a:p>
        </p:txBody>
      </p:sp>
      <p:sp>
        <p:nvSpPr>
          <p:cNvPr id="12" name="DSFR-alert-warning-body"/>
          <p:cNvSpPr txBox="1"/>
          <p:nvPr/>
        </p:nvSpPr>
        <p:spPr>
          <a:xfrm>
            <a:off x="704088" y="4800600"/>
            <a:ext cx="10908792"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Schéma pluriannuel d'accessibilité (SPAN) sur 3 ans</a:t>
            </a:r>
          </a:p>
          <a:p>
            <a:pPr algn="l">
              <a:lnSpc>
                <a:spcPct val="120000"/>
              </a:lnSpc>
            </a:pPr>
            <a:r>
              <a:rPr sz="1400" lang="fr-FR">
                <a:solidFill>
                  <a:srgbClr val="161616"/>
                </a:solidFill>
                <a:latin typeface="Marianne"/>
              </a:rPr>
              <a:t>• </a:t>
            </a:r>
            <a:r>
              <a:rPr sz="1400" b="0" lang="fr-FR">
                <a:solidFill>
                  <a:srgbClr val="161616"/>
                </a:solidFill>
                <a:latin typeface="Marianne"/>
              </a:rPr>
              <a:t>Non conforme : moins de 50 % des critères</a:t>
            </a:r>
          </a:p>
          <a:p>
            <a:pPr algn="l">
              <a:lnSpc>
                <a:spcPct val="120000"/>
              </a:lnSpc>
            </a:pPr>
            <a:r>
              <a:rPr sz="1400" lang="fr-FR">
                <a:solidFill>
                  <a:srgbClr val="161616"/>
                </a:solidFill>
                <a:latin typeface="Marianne"/>
              </a:rPr>
              <a:t>• </a:t>
            </a:r>
            <a:r>
              <a:rPr sz="1400" b="0" lang="fr-FR">
                <a:solidFill>
                  <a:srgbClr val="161616"/>
                </a:solidFill>
                <a:latin typeface="Marianne"/>
              </a:rPr>
              <a:t>Partiellement conforme : de 50 % à 99 %</a:t>
            </a:r>
          </a:p>
          <a:p>
            <a:pPr algn="l">
              <a:lnSpc>
                <a:spcPct val="120000"/>
              </a:lnSpc>
            </a:pPr>
            <a:r>
              <a:rPr sz="1400" lang="fr-FR">
                <a:solidFill>
                  <a:srgbClr val="161616"/>
                </a:solidFill>
                <a:latin typeface="Marianne"/>
              </a:rPr>
              <a:t>• </a:t>
            </a:r>
            <a:r>
              <a:rPr sz="1400" b="0" lang="fr-FR">
                <a:solidFill>
                  <a:srgbClr val="161616"/>
                </a:solidFill>
                <a:latin typeface="Marianne"/>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297680"/>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connaissez le cadre. Mais concrètement, quelles obligations s'appliquent à votre poste et à votre structure ?</a:t>
            </a:r>
          </a:p>
        </p:txBody>
      </p:sp>
      <p:sp>
        <p:nvSpPr>
          <p:cNvPr id="12" name="DSFR-box"/>
          <p:cNvSpPr/>
          <p:nvPr/>
        </p:nvSpPr>
        <p:spPr>
          <a:xfrm>
            <a:off x="548640" y="3314700"/>
            <a:ext cx="9326880"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simulateur Obligally (10 min)</a:t>
            </a:r>
          </a:p>
        </p:txBody>
      </p:sp>
      <p:sp>
        <p:nvSpPr>
          <p:cNvPr id="14" name="DSFR-alert-info-body"/>
          <p:cNvSpPr txBox="1"/>
          <p:nvPr/>
        </p:nvSpPr>
        <p:spPr>
          <a:xfrm>
            <a:off x="704088" y="3817620"/>
            <a:ext cx="9079992" cy="128930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Cliquez sur Simuler et répondez aux questions</a:t>
            </a:r>
          </a:p>
          <a:p>
            <a:pPr algn="l">
              <a:lnSpc>
                <a:spcPct val="150000"/>
              </a:lnSpc>
            </a:pPr>
            <a:r>
              <a:rPr sz="1400" lang="fr-FR">
                <a:solidFill>
                  <a:srgbClr val="161616"/>
                </a:solidFill>
                <a:latin typeface="Marianne"/>
              </a:rPr>
              <a:t>• </a:t>
            </a:r>
            <a:r>
              <a:rPr sz="1400" b="0" lang="fr-FR">
                <a:solidFill>
                  <a:srgbClr val="161616"/>
                </a:solidFill>
                <a:latin typeface="Marianne"/>
              </a:rPr>
              <a:t>Notez le résultat : quelles normes s'appliquent à vous ?</a:t>
            </a:r>
          </a:p>
          <a:p>
            <a:pPr algn="l">
              <a:lnSpc>
                <a:spcPct val="150000"/>
              </a:lnSpc>
            </a:pPr>
            <a:r>
              <a:rPr sz="1400" lang="fr-FR">
                <a:solidFill>
                  <a:srgbClr val="161616"/>
                </a:solidFill>
                <a:latin typeface="Marianne"/>
              </a:rPr>
              <a:t>• </a:t>
            </a:r>
            <a:r>
              <a:rPr sz="1400" b="0" lang="fr-FR">
                <a:solidFill>
                  <a:srgbClr val="161616"/>
                </a:solidFill>
                <a:latin typeface="Marianne"/>
              </a:rPr>
              <a:t>Visualiser (infographie) : .../fr/visualisation/</a:t>
            </a:r>
          </a:p>
          <a:p>
            <a:pPr algn="l">
              <a:lnSpc>
                <a:spcPct val="150000"/>
              </a:lnSpc>
            </a:pPr>
            <a:r>
              <a:rPr sz="1400" lang="fr-FR">
                <a:solidFill>
                  <a:srgbClr val="161616"/>
                </a:solidFill>
                <a:latin typeface="Marianne"/>
              </a:rPr>
              <a:t>• </a:t>
            </a:r>
            <a:r>
              <a:rPr sz="1400" b="0" lang="fr-FR">
                <a:solidFill>
                  <a:srgbClr val="161616"/>
                </a:solidFill>
                <a:latin typeface="Marianne"/>
              </a:rPr>
              <a:t>Approfondir (article détaillé) : .../fr/comprendre/</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27432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Scannez-moi !</a:t>
            </a:r>
          </a:p>
        </p:txBody>
      </p:sp>
      <p:sp>
        <p:nvSpPr>
          <p:cNvPr id="17" name="TextBox 16"/>
          <p:cNvSpPr txBox="1"/>
          <p:nvPr/>
        </p:nvSpPr>
        <p:spPr>
          <a:xfrm>
            <a:off x="475488" y="5295290"/>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661050"/>
            <a:ext cx="11228832" cy="219456"/>
          </a:xfrm>
          <a:prstGeom prst="rect">
            <a:avLst/>
          </a:prstGeom>
          <a:noFill/>
        </p:spPr>
        <p:txBody>
          <a:bodyPr wrap="none">
            <a:spAutoFit/>
          </a:bodyPr>
          <a:lstStyle/>
          <a:p>
            <a:r>
              <a:rPr sz="900" b="1" lang="fr-FR">
                <a:solidFill>
                  <a:srgbClr val="161616"/>
                </a:solidFill>
              </a:rPr>
              <a:t>Simuler : </a:t>
            </a:r>
            <a:r>
              <a:rPr sz="900" u="sng" lang="fr-FR">
                <a:solidFill>
                  <a:srgbClr val="000091"/>
                </a:solidFill>
                <a:hlinkClick r:id="rId4"/>
              </a:rPr>
              <a:t>https://obligations-legales-accessibilite-numerique.fr/fr/simulation/</a:t>
            </a:r>
          </a:p>
        </p:txBody>
      </p:sp>
      <p:sp>
        <p:nvSpPr>
          <p:cNvPr id="19" name="TextBox 18"/>
          <p:cNvSpPr txBox="1"/>
          <p:nvPr/>
        </p:nvSpPr>
        <p:spPr>
          <a:xfrm>
            <a:off x="475488" y="5907938"/>
            <a:ext cx="11228832" cy="219456"/>
          </a:xfrm>
          <a:prstGeom prst="rect">
            <a:avLst/>
          </a:prstGeom>
          <a:noFill/>
        </p:spPr>
        <p:txBody>
          <a:bodyPr wrap="none">
            <a:spAutoFit/>
          </a:bodyPr>
          <a:lstStyle/>
          <a:p>
            <a:r>
              <a:rPr sz="900" b="1" lang="fr-FR">
                <a:solidFill>
                  <a:srgbClr val="161616"/>
                </a:solidFill>
              </a:rPr>
              <a:t>Comprendre : </a:t>
            </a:r>
            <a:r>
              <a:rPr sz="9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36</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Exercice pratique</a:t>
            </a:r>
          </a:p>
        </p:txBody>
      </p:sp>
      <p:sp>
        <p:nvSpPr>
          <p:cNvPr id="12" name="DSFR-alert-success-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Cherchez la déclaration d'accessibilité de votre site</a:t>
            </a:r>
          </a:p>
          <a:p>
            <a:pPr algn="l">
              <a:lnSpc>
                <a:spcPct val="150000"/>
              </a:lnSpc>
            </a:pPr>
            <a:r>
              <a:rPr sz="1400" lang="fr-FR">
                <a:solidFill>
                  <a:srgbClr val="161616"/>
                </a:solidFill>
                <a:latin typeface="Marianne"/>
              </a:rPr>
              <a:t>• </a:t>
            </a:r>
            <a:r>
              <a:rPr sz="1400" b="0" lang="fr-FR">
                <a:solidFill>
                  <a:srgbClr val="161616"/>
                </a:solidFill>
                <a:latin typeface="Marianne"/>
              </a:rPr>
              <a:t>URL type : /declaration-accessibilite</a:t>
            </a:r>
          </a:p>
          <a:p>
            <a:pPr algn="l">
              <a:lnSpc>
                <a:spcPct val="150000"/>
              </a:lnSpc>
            </a:pPr>
            <a:r>
              <a:rPr sz="1400" lang="fr-FR">
                <a:solidFill>
                  <a:srgbClr val="161616"/>
                </a:solidFill>
                <a:latin typeface="Marianne"/>
              </a:rPr>
              <a:t>• </a:t>
            </a:r>
            <a:r>
              <a:rPr sz="1400" b="0" lang="fr-FR">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37</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38</a:t>
            </a:r>
            <a:endParaRPr lang="fr-FR" dirty="0"/>
          </a:p>
        </p:txBody>
      </p:sp>
      <p:sp>
        <p:nvSpPr>
          <p:cNvPr id="9" name="DSFR-box"/>
          <p:cNvSpPr/>
          <p:nvPr/>
        </p:nvSpPr>
        <p:spPr>
          <a:xfrm>
            <a:off x="548640" y="2103120"/>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droit, pas une faveur</a:t>
            </a:r>
          </a:p>
        </p:txBody>
      </p:sp>
      <p:sp>
        <p:nvSpPr>
          <p:cNvPr id="11" name="DSFR-callout-body"/>
          <p:cNvSpPr txBox="1"/>
          <p:nvPr/>
        </p:nvSpPr>
        <p:spPr>
          <a:xfrm>
            <a:off x="704088" y="2606039"/>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Droit fondamental d'accès à l'information</a:t>
            </a:r>
          </a:p>
          <a:p>
            <a:pPr algn="l">
              <a:lnSpc>
                <a:spcPct val="120000"/>
              </a:lnSpc>
            </a:pPr>
            <a:r>
              <a:rPr sz="1400" lang="fr-FR">
                <a:solidFill>
                  <a:srgbClr val="161616"/>
                </a:solidFill>
                <a:latin typeface="Marianne"/>
              </a:rPr>
              <a:t>• </a:t>
            </a:r>
            <a:r>
              <a:rPr sz="1400" b="0" lang="fr-FR">
                <a:solidFill>
                  <a:srgbClr val="161616"/>
                </a:solidFill>
                <a:latin typeface="Marianne"/>
              </a:rPr>
              <a:t>Lutte contre la discrimination numérique</a:t>
            </a:r>
          </a:p>
          <a:p>
            <a:pPr algn="l">
              <a:lnSpc>
                <a:spcPct val="120000"/>
              </a:lnSpc>
            </a:pPr>
            <a:r>
              <a:rPr sz="1400" lang="fr-FR">
                <a:solidFill>
                  <a:srgbClr val="161616"/>
                </a:solidFill>
                <a:latin typeface="Marianne"/>
              </a:rPr>
              <a:t>• </a:t>
            </a:r>
            <a:r>
              <a:rPr sz="1400" b="0" lang="fr-FR">
                <a:solidFill>
                  <a:srgbClr val="161616"/>
                </a:solidFill>
                <a:latin typeface="Marianne"/>
              </a:rPr>
              <a:t>Inclusion dans la vie professionnelle et citoyenne</a:t>
            </a:r>
          </a:p>
        </p:txBody>
      </p:sp>
      <p:sp>
        <p:nvSpPr>
          <p:cNvPr id="13" name="DSFR-box"/>
          <p:cNvSpPr/>
          <p:nvPr/>
        </p:nvSpPr>
        <p:spPr>
          <a:xfrm>
            <a:off x="6313931" y="210312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Charte de communication de l'État</a:t>
            </a:r>
          </a:p>
        </p:txBody>
      </p:sp>
      <p:sp>
        <p:nvSpPr>
          <p:cNvPr id="15" name="DSFR-alert-success-body"/>
          <p:cNvSpPr txBox="1"/>
          <p:nvPr/>
        </p:nvSpPr>
        <p:spPr>
          <a:xfrm>
            <a:off x="6469379" y="2606039"/>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Confiance : l'usager comprend et agit seul</a:t>
            </a:r>
          </a:p>
          <a:p>
            <a:pPr algn="l">
              <a:lnSpc>
                <a:spcPct val="120000"/>
              </a:lnSpc>
            </a:pPr>
            <a:r>
              <a:rPr sz="1400" lang="fr-FR">
                <a:solidFill>
                  <a:srgbClr val="161616"/>
                </a:solidFill>
                <a:latin typeface="Marianne"/>
              </a:rPr>
              <a:t>• </a:t>
            </a:r>
            <a:r>
              <a:rPr sz="1400" b="0" lang="fr-FR">
                <a:solidFill>
                  <a:srgbClr val="161616"/>
                </a:solidFill>
                <a:latin typeface="Marianne"/>
              </a:rPr>
              <a:t>Autonomie : pas besoin d'aide tierce</a:t>
            </a:r>
          </a:p>
          <a:p>
            <a:pPr algn="l">
              <a:lnSpc>
                <a:spcPct val="120000"/>
              </a:lnSpc>
            </a:pPr>
            <a:r>
              <a:rPr sz="1400" lang="fr-FR">
                <a:solidFill>
                  <a:srgbClr val="161616"/>
                </a:solidFill>
                <a:latin typeface="Marianne"/>
              </a:rPr>
              <a:t>• </a:t>
            </a:r>
            <a:r>
              <a:rPr sz="1400" b="0" lang="fr-FR">
                <a:solidFill>
                  <a:srgbClr val="161616"/>
                </a:solidFill>
                <a:latin typeface="Marianne"/>
              </a:rPr>
              <a:t>Inclusion : chaque canal atteint son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Accessibiliser sa communication :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Transformer une intention d'inclusion en contenus que les publics peuvent lire, comprendre et utiliser.</a:t>
            </a:r>
          </a:p>
        </p:txBody>
      </p:sp>
      <p:sp>
        <p:nvSpPr>
          <p:cNvPr id="12" name="DSFR-box"/>
          <p:cNvSpPr/>
          <p:nvPr/>
        </p:nvSpPr>
        <p:spPr>
          <a:xfrm>
            <a:off x="548640" y="2930652"/>
            <a:ext cx="5390388"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à garder en tête</a:t>
            </a:r>
          </a:p>
        </p:txBody>
      </p:sp>
      <p:sp>
        <p:nvSpPr>
          <p:cNvPr id="14" name="DSFR-callout-body"/>
          <p:cNvSpPr txBox="1"/>
          <p:nvPr/>
        </p:nvSpPr>
        <p:spPr>
          <a:xfrm>
            <a:off x="704088" y="3433572"/>
            <a:ext cx="5143500"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Qui risque d'être empêché par ce support ?</a:t>
            </a:r>
          </a:p>
          <a:p>
            <a:pPr algn="l">
              <a:lnSpc>
                <a:spcPct val="125000"/>
              </a:lnSpc>
            </a:pPr>
            <a:r>
              <a:rPr sz="1400" lang="fr-FR">
                <a:solidFill>
                  <a:srgbClr val="161616"/>
                </a:solidFill>
                <a:latin typeface="Marianne"/>
              </a:rPr>
              <a:t>• </a:t>
            </a:r>
            <a:r>
              <a:rPr sz="1400" b="0" lang="fr-FR">
                <a:solidFill>
                  <a:srgbClr val="161616"/>
                </a:solidFill>
                <a:latin typeface="Marianne"/>
              </a:rPr>
              <a:t>Quel autre chemin donne accès à la même information ?</a:t>
            </a:r>
          </a:p>
          <a:p>
            <a:pPr algn="l">
              <a:lnSpc>
                <a:spcPct val="125000"/>
              </a:lnSpc>
            </a:pPr>
            <a:r>
              <a:rPr sz="1400" lang="fr-FR">
                <a:solidFill>
                  <a:srgbClr val="161616"/>
                </a:solidFill>
                <a:latin typeface="Marianne"/>
              </a:rPr>
              <a:t>• </a:t>
            </a:r>
            <a:r>
              <a:rPr sz="1400" b="0" lang="fr-FR">
                <a:solidFill>
                  <a:srgbClr val="161616"/>
                </a:solidFill>
                <a:latin typeface="Marianne"/>
              </a:rPr>
              <a:t>Quelle règle simple peut être appliquée dès maintenant ?</a:t>
            </a:r>
          </a:p>
        </p:txBody>
      </p:sp>
      <p:sp>
        <p:nvSpPr>
          <p:cNvPr id="16" name="DSFR-box"/>
          <p:cNvSpPr/>
          <p:nvPr/>
        </p:nvSpPr>
        <p:spPr>
          <a:xfrm>
            <a:off x="6313931" y="2930652"/>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supports concernés</a:t>
            </a:r>
          </a:p>
        </p:txBody>
      </p:sp>
      <p:sp>
        <p:nvSpPr>
          <p:cNvPr id="18" name="DSFR-alert-info-body"/>
          <p:cNvSpPr txBox="1"/>
          <p:nvPr/>
        </p:nvSpPr>
        <p:spPr>
          <a:xfrm>
            <a:off x="6469379" y="3433572"/>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Web : site, application, newsletter, mails</a:t>
            </a:r>
          </a:p>
          <a:p>
            <a:pPr algn="l">
              <a:lnSpc>
                <a:spcPct val="125000"/>
              </a:lnSpc>
            </a:pPr>
            <a:r>
              <a:rPr sz="1400" lang="fr-FR">
                <a:solidFill>
                  <a:srgbClr val="161616"/>
                </a:solidFill>
                <a:latin typeface="Marianne"/>
              </a:rPr>
              <a:t>• </a:t>
            </a:r>
            <a:r>
              <a:rPr sz="1400" b="0" lang="fr-FR">
                <a:solidFill>
                  <a:srgbClr val="161616"/>
                </a:solidFill>
                <a:latin typeface="Marianne"/>
              </a:rPr>
              <a:t>Médias : vidéo, podcast, visuel animé</a:t>
            </a:r>
          </a:p>
          <a:p>
            <a:pPr algn="l">
              <a:lnSpc>
                <a:spcPct val="125000"/>
              </a:lnSpc>
            </a:pPr>
            <a:r>
              <a:rPr sz="1400" lang="fr-FR">
                <a:solidFill>
                  <a:srgbClr val="161616"/>
                </a:solidFill>
                <a:latin typeface="Marianne"/>
              </a:rPr>
              <a:t>• </a:t>
            </a:r>
            <a:r>
              <a:rPr sz="1400" b="0" lang="fr-FR">
                <a:solidFill>
                  <a:srgbClr val="161616"/>
                </a:solidFill>
                <a:latin typeface="Marianne"/>
              </a:rPr>
              <a:t>Documents : PDF, bureautique, formulaires</a:t>
            </a:r>
          </a:p>
          <a:p>
            <a:pPr algn="l">
              <a:lnSpc>
                <a:spcPct val="125000"/>
              </a:lnSpc>
            </a:pPr>
            <a:r>
              <a:rPr sz="1400" lang="fr-FR">
                <a:solidFill>
                  <a:srgbClr val="161616"/>
                </a:solidFill>
                <a:latin typeface="Marianne"/>
              </a:rPr>
              <a:t>• </a:t>
            </a:r>
            <a:r>
              <a:rPr sz="1400" b="0" lang="fr-FR">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41</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systèmes d'exploitation et les suites bureautiques intègrent déjà des fonctions d'accessibilité. Pas besoin de tout réinventer.</a:t>
            </a:r>
          </a:p>
        </p:txBody>
      </p:sp>
      <p:sp>
        <p:nvSpPr>
          <p:cNvPr id="12" name="DSFR-box"/>
          <p:cNvSpPr/>
          <p:nvPr/>
        </p:nvSpPr>
        <p:spPr>
          <a:xfrm>
            <a:off x="548640" y="3302812"/>
            <a:ext cx="5390388" cy="165323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Vision</a:t>
            </a:r>
          </a:p>
        </p:txBody>
      </p:sp>
      <p:sp>
        <p:nvSpPr>
          <p:cNvPr id="14" name="DSFR-callout-body"/>
          <p:cNvSpPr txBox="1"/>
          <p:nvPr/>
        </p:nvSpPr>
        <p:spPr>
          <a:xfrm>
            <a:off x="704088" y="3805732"/>
            <a:ext cx="5143500"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Loupe et zoom intégrés</a:t>
            </a:r>
          </a:p>
          <a:p>
            <a:pPr algn="l">
              <a:lnSpc>
                <a:spcPct val="120000"/>
              </a:lnSpc>
            </a:pPr>
            <a:r>
              <a:rPr sz="1400" lang="fr-FR">
                <a:solidFill>
                  <a:srgbClr val="161616"/>
                </a:solidFill>
                <a:latin typeface="Marianne"/>
              </a:rPr>
              <a:t>• </a:t>
            </a:r>
            <a:r>
              <a:rPr sz="1400" b="0" lang="fr-FR">
                <a:solidFill>
                  <a:srgbClr val="161616"/>
                </a:solidFill>
                <a:latin typeface="Marianne"/>
              </a:rPr>
              <a:t>Filtres de couleur et mode sombre</a:t>
            </a:r>
          </a:p>
          <a:p>
            <a:pPr algn="l">
              <a:lnSpc>
                <a:spcPct val="120000"/>
              </a:lnSpc>
            </a:pPr>
            <a:r>
              <a:rPr sz="1400" lang="fr-FR">
                <a:solidFill>
                  <a:srgbClr val="161616"/>
                </a:solidFill>
                <a:latin typeface="Marianne"/>
              </a:rPr>
              <a:t>• </a:t>
            </a:r>
            <a:r>
              <a:rPr sz="1400" b="0" lang="fr-FR">
                <a:solidFill>
                  <a:srgbClr val="161616"/>
                </a:solidFill>
                <a:latin typeface="Marianne"/>
              </a:rPr>
              <a:t>Narrateur / NVDA (lecteur d'écran)</a:t>
            </a:r>
          </a:p>
          <a:p>
            <a:pPr algn="l">
              <a:lnSpc>
                <a:spcPct val="120000"/>
              </a:lnSpc>
            </a:pPr>
            <a:r>
              <a:rPr sz="1400" lang="fr-FR">
                <a:solidFill>
                  <a:srgbClr val="161616"/>
                </a:solidFill>
                <a:latin typeface="Marianne"/>
              </a:rPr>
              <a:t>• </a:t>
            </a:r>
            <a:r>
              <a:rPr sz="1400" b="0" lang="fr-FR">
                <a:solidFill>
                  <a:srgbClr val="161616"/>
                </a:solidFill>
                <a:latin typeface="Marianne"/>
              </a:rPr>
              <a:t>Réglage de la taille du texte</a:t>
            </a:r>
          </a:p>
        </p:txBody>
      </p:sp>
      <p:sp>
        <p:nvSpPr>
          <p:cNvPr id="16" name="DSFR-box"/>
          <p:cNvSpPr/>
          <p:nvPr/>
        </p:nvSpPr>
        <p:spPr>
          <a:xfrm>
            <a:off x="6313931" y="3302812"/>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Audition et interaction</a:t>
            </a:r>
          </a:p>
        </p:txBody>
      </p:sp>
      <p:sp>
        <p:nvSpPr>
          <p:cNvPr id="18" name="DSFR-callout-body"/>
          <p:cNvSpPr txBox="1"/>
          <p:nvPr/>
        </p:nvSpPr>
        <p:spPr>
          <a:xfrm>
            <a:off x="6469379" y="3805732"/>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en temps réel</a:t>
            </a:r>
          </a:p>
          <a:p>
            <a:pPr algn="l">
              <a:lnSpc>
                <a:spcPct val="120000"/>
              </a:lnSpc>
            </a:pPr>
            <a:r>
              <a:rPr sz="1400" lang="fr-FR">
                <a:solidFill>
                  <a:srgbClr val="161616"/>
                </a:solidFill>
                <a:latin typeface="Marianne"/>
              </a:rPr>
              <a:t>• </a:t>
            </a:r>
            <a:r>
              <a:rPr sz="1400" b="0" lang="fr-FR">
                <a:solidFill>
                  <a:srgbClr val="161616"/>
                </a:solidFill>
                <a:latin typeface="Marianne"/>
              </a:rPr>
              <a:t>Commandes vocales</a:t>
            </a:r>
          </a:p>
          <a:p>
            <a:pPr algn="l">
              <a:lnSpc>
                <a:spcPct val="120000"/>
              </a:lnSpc>
            </a:pPr>
            <a:r>
              <a:rPr sz="1400" lang="fr-FR">
                <a:solidFill>
                  <a:srgbClr val="161616"/>
                </a:solidFill>
                <a:latin typeface="Marianne"/>
              </a:rPr>
              <a:t>• </a:t>
            </a:r>
            <a:r>
              <a:rPr sz="1400" b="0" lang="fr-FR">
                <a:solidFill>
                  <a:srgbClr val="161616"/>
                </a:solidFill>
                <a:latin typeface="Marianne"/>
              </a:rPr>
              <a:t>Navigation au clavier</a:t>
            </a:r>
          </a:p>
          <a:p>
            <a:pPr algn="l">
              <a:lnSpc>
                <a:spcPct val="120000"/>
              </a:lnSpc>
            </a:pPr>
            <a:r>
              <a:rPr sz="1400" lang="fr-FR">
                <a:solidFill>
                  <a:srgbClr val="161616"/>
                </a:solidFill>
                <a:latin typeface="Marianne"/>
              </a:rPr>
              <a:t>• </a:t>
            </a:r>
            <a:r>
              <a:rPr sz="1400" b="0" lang="fr-FR">
                <a:solidFill>
                  <a:srgbClr val="161616"/>
                </a:solidFill>
                <a:latin typeface="Marianne"/>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323636"/>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42</a:t>
            </a:r>
            <a:endParaRPr lang="fr-FR" dirty="0"/>
          </a:p>
        </p:txBody>
      </p:sp>
      <p:sp>
        <p:nvSpPr>
          <p:cNvPr id="9" name="DSFR-box"/>
          <p:cNvSpPr/>
          <p:nvPr/>
        </p:nvSpPr>
        <p:spPr>
          <a:xfrm>
            <a:off x="548640"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Textes lisibles</a:t>
            </a:r>
          </a:p>
        </p:txBody>
      </p:sp>
      <p:sp>
        <p:nvSpPr>
          <p:cNvPr id="12" name="DSFR-card-contenu"/>
          <p:cNvSpPr txBox="1"/>
          <p:nvPr/>
        </p:nvSpPr>
        <p:spPr>
          <a:xfrm>
            <a:off x="704088"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Police simple, sans empattement</a:t>
            </a:r>
          </a:p>
          <a:p>
            <a:pPr algn="l">
              <a:lnSpc>
                <a:spcPct val="150000"/>
              </a:lnSpc>
            </a:pPr>
            <a:r>
              <a:rPr sz="1400" lang="fr-FR">
                <a:solidFill>
                  <a:srgbClr val="161616"/>
                </a:solidFill>
                <a:latin typeface="Marianne"/>
              </a:rPr>
              <a:t>• </a:t>
            </a:r>
            <a:r>
              <a:rPr sz="1400" b="0" lang="fr-FR">
                <a:solidFill>
                  <a:srgbClr val="161616"/>
                </a:solidFill>
                <a:latin typeface="Marianne"/>
              </a:rPr>
              <a:t>Alignement à gauche</a:t>
            </a:r>
          </a:p>
          <a:p>
            <a:pPr algn="l">
              <a:lnSpc>
                <a:spcPct val="150000"/>
              </a:lnSpc>
            </a:pPr>
            <a:r>
              <a:rPr sz="1400" lang="fr-FR">
                <a:solidFill>
                  <a:srgbClr val="161616"/>
                </a:solidFill>
                <a:latin typeface="Marianne"/>
              </a:rPr>
              <a:t>• </a:t>
            </a:r>
            <a:r>
              <a:rPr sz="1400" b="0" lang="fr-FR">
                <a:solidFill>
                  <a:srgbClr val="161616"/>
                </a:solidFill>
                <a:latin typeface="Marianne"/>
              </a:rPr>
              <a:t>Paragraphes courts et aérés</a:t>
            </a:r>
          </a:p>
          <a:p>
            <a:pPr algn="l">
              <a:lnSpc>
                <a:spcPct val="150000"/>
              </a:lnSpc>
            </a:pPr>
            <a:r>
              <a:rPr sz="1400" lang="fr-FR">
                <a:solidFill>
                  <a:srgbClr val="161616"/>
                </a:solidFill>
                <a:latin typeface="Marianne"/>
              </a:rPr>
              <a:t>• </a:t>
            </a:r>
            <a:r>
              <a:rPr sz="1400" b="0" lang="fr-FR">
                <a:solidFill>
                  <a:srgbClr val="161616"/>
                </a:solidFill>
                <a:latin typeface="Marianne"/>
              </a:rPr>
              <a:t>Taille adaptée au support final</a:t>
            </a:r>
          </a:p>
        </p:txBody>
      </p:sp>
      <p:sp>
        <p:nvSpPr>
          <p:cNvPr id="14" name="DSFR-box"/>
          <p:cNvSpPr/>
          <p:nvPr/>
        </p:nvSpPr>
        <p:spPr>
          <a:xfrm>
            <a:off x="4392167"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Contrastes testés</a:t>
            </a:r>
          </a:p>
        </p:txBody>
      </p:sp>
      <p:sp>
        <p:nvSpPr>
          <p:cNvPr id="17" name="DSFR-card-contenu"/>
          <p:cNvSpPr txBox="1"/>
          <p:nvPr/>
        </p:nvSpPr>
        <p:spPr>
          <a:xfrm>
            <a:off x="4547615"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Ratio 4,5:1 minimum</a:t>
            </a:r>
          </a:p>
          <a:p>
            <a:pPr algn="l">
              <a:lnSpc>
                <a:spcPct val="150000"/>
              </a:lnSpc>
            </a:pPr>
            <a:r>
              <a:rPr sz="1400" lang="fr-FR">
                <a:solidFill>
                  <a:srgbClr val="161616"/>
                </a:solidFill>
                <a:latin typeface="Marianne"/>
              </a:rPr>
              <a:t>• </a:t>
            </a:r>
            <a:r>
              <a:rPr sz="1400" b="0" lang="fr-FR">
                <a:solidFill>
                  <a:srgbClr val="161616"/>
                </a:solidFill>
                <a:latin typeface="Marianne"/>
              </a:rPr>
              <a:t>Idéal : viser 7:1</a:t>
            </a:r>
          </a:p>
          <a:p>
            <a:pPr algn="l">
              <a:lnSpc>
                <a:spcPct val="150000"/>
              </a:lnSpc>
            </a:pPr>
            <a:r>
              <a:rPr sz="1400" lang="fr-FR">
                <a:solidFill>
                  <a:srgbClr val="161616"/>
                </a:solidFill>
                <a:latin typeface="Marianne"/>
              </a:rPr>
              <a:t>• </a:t>
            </a:r>
            <a:r>
              <a:rPr sz="1400" b="0" lang="fr-FR">
                <a:solidFill>
                  <a:srgbClr val="161616"/>
                </a:solidFill>
                <a:latin typeface="Marianne"/>
              </a:rPr>
              <a:t>Éviter les dégradés sous le texte</a:t>
            </a:r>
          </a:p>
          <a:p>
            <a:pPr algn="l">
              <a:lnSpc>
                <a:spcPct val="150000"/>
              </a:lnSpc>
            </a:pPr>
            <a:r>
              <a:rPr sz="1400" lang="fr-FR">
                <a:solidFill>
                  <a:srgbClr val="161616"/>
                </a:solidFill>
                <a:latin typeface="Marianne"/>
              </a:rPr>
              <a:t>• </a:t>
            </a:r>
            <a:r>
              <a:rPr sz="1400" b="0" lang="fr-FR">
                <a:solidFill>
                  <a:srgbClr val="161616"/>
                </a:solidFill>
                <a:latin typeface="Marianne"/>
              </a:rPr>
              <a:t>Tester avec un outil, pas à l'œil</a:t>
            </a:r>
          </a:p>
        </p:txBody>
      </p:sp>
      <p:sp>
        <p:nvSpPr>
          <p:cNvPr id="19" name="DSFR-box"/>
          <p:cNvSpPr/>
          <p:nvPr/>
        </p:nvSpPr>
        <p:spPr>
          <a:xfrm>
            <a:off x="8235695"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QR codes utiles</a:t>
            </a:r>
          </a:p>
        </p:txBody>
      </p:sp>
      <p:sp>
        <p:nvSpPr>
          <p:cNvPr id="22" name="DSFR-card-contenu"/>
          <p:cNvSpPr txBox="1"/>
          <p:nvPr/>
        </p:nvSpPr>
        <p:spPr>
          <a:xfrm>
            <a:off x="8391144"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le seul accès</a:t>
            </a:r>
          </a:p>
          <a:p>
            <a:pPr algn="l">
              <a:lnSpc>
                <a:spcPct val="150000"/>
              </a:lnSpc>
            </a:pPr>
            <a:r>
              <a:rPr sz="1400" lang="fr-FR">
                <a:solidFill>
                  <a:srgbClr val="161616"/>
                </a:solidFill>
                <a:latin typeface="Marianne"/>
              </a:rPr>
              <a:t>• </a:t>
            </a:r>
            <a:r>
              <a:rPr sz="1400" b="0" lang="fr-FR">
                <a:solidFill>
                  <a:srgbClr val="161616"/>
                </a:solidFill>
                <a:latin typeface="Marianne"/>
              </a:rPr>
              <a:t>Lien visible à côté</a:t>
            </a:r>
          </a:p>
          <a:p>
            <a:pPr algn="l">
              <a:lnSpc>
                <a:spcPct val="150000"/>
              </a:lnSpc>
            </a:pPr>
            <a:r>
              <a:rPr sz="1400" lang="fr-FR">
                <a:solidFill>
                  <a:srgbClr val="161616"/>
                </a:solidFill>
                <a:latin typeface="Marianne"/>
              </a:rPr>
              <a:t>• </a:t>
            </a:r>
            <a:r>
              <a:rPr sz="1400" b="0" lang="fr-FR">
                <a:solidFill>
                  <a:srgbClr val="161616"/>
                </a:solidFill>
                <a:latin typeface="Marianne"/>
              </a:rPr>
              <a:t>Mention « Scannez-moi ! »</a:t>
            </a:r>
          </a:p>
          <a:p>
            <a:pPr algn="l">
              <a:lnSpc>
                <a:spcPct val="150000"/>
              </a:lnSpc>
            </a:pPr>
            <a:r>
              <a:rPr sz="1400" lang="fr-FR">
                <a:solidFill>
                  <a:srgbClr val="161616"/>
                </a:solidFill>
                <a:latin typeface="Marianne"/>
              </a:rPr>
              <a:t>• </a:t>
            </a:r>
            <a:r>
              <a:rPr sz="1400" b="0" lang="fr-FR">
                <a:solidFill>
                  <a:srgbClr val="161616"/>
                </a:solidFill>
                <a:latin typeface="Marianne"/>
              </a:rPr>
              <a:t>Taille et contraste suffisants</a:t>
            </a:r>
          </a:p>
        </p:txBody>
      </p:sp>
      <p:sp>
        <p:nvSpPr>
          <p:cNvPr id="24" name="DSFR-box"/>
          <p:cNvSpPr/>
          <p:nvPr/>
        </p:nvSpPr>
        <p:spPr>
          <a:xfrm>
            <a:off x="548640" y="556640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565784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556640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Simplifier ne veut pas dire appauvrir : c'est rendre le message accessible au plus grand nombre.</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FALC - Facile à lire et à comprendre</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Règles européennes d'accessibilité cognitive</a:t>
            </a:r>
          </a:p>
          <a:p>
            <a:pPr algn="l">
              <a:lnSpc>
                <a:spcPct val="120000"/>
              </a:lnSpc>
            </a:pPr>
            <a:r>
              <a:rPr sz="1400" lang="fr-FR">
                <a:solidFill>
                  <a:srgbClr val="161616"/>
                </a:solidFill>
                <a:latin typeface="Marianne"/>
              </a:rPr>
              <a:t>• </a:t>
            </a:r>
            <a:r>
              <a:rPr sz="1400" b="0" lang="fr-FR">
                <a:solidFill>
                  <a:srgbClr val="161616"/>
                </a:solidFill>
                <a:latin typeface="Marianne"/>
              </a:rPr>
              <a:t>Phrases courtes, mots simples, une idée par phrase</a:t>
            </a:r>
          </a:p>
          <a:p>
            <a:pPr algn="l">
              <a:lnSpc>
                <a:spcPct val="120000"/>
              </a:lnSpc>
            </a:pPr>
            <a:r>
              <a:rPr sz="1400" lang="fr-FR">
                <a:solidFill>
                  <a:srgbClr val="161616"/>
                </a:solidFill>
                <a:latin typeface="Marianne"/>
              </a:rPr>
              <a:t>• </a:t>
            </a:r>
            <a:r>
              <a:rPr sz="1400" b="0" lang="fr-FR">
                <a:solidFill>
                  <a:srgbClr val="161616"/>
                </a:solidFill>
                <a:latin typeface="Marianne"/>
              </a:rPr>
              <a:t>Images explicatives, mise en page aérée</a:t>
            </a:r>
          </a:p>
          <a:p>
            <a:pPr algn="l">
              <a:lnSpc>
                <a:spcPct val="120000"/>
              </a:lnSpc>
            </a:pPr>
            <a:r>
              <a:rPr sz="1400" lang="fr-FR">
                <a:solidFill>
                  <a:srgbClr val="161616"/>
                </a:solidFill>
                <a:latin typeface="Marianne"/>
              </a:rPr>
              <a:t>• </a:t>
            </a:r>
            <a:r>
              <a:rPr sz="1400" b="0" lang="fr-FR">
                <a:solidFill>
                  <a:srgbClr val="161616"/>
                </a:solidFill>
                <a:latin typeface="Marianne"/>
              </a:rPr>
              <a:t>Validation par des personnes concernées</a:t>
            </a:r>
          </a:p>
        </p:txBody>
      </p:sp>
      <p:sp>
        <p:nvSpPr>
          <p:cNvPr id="16" name="DSFR-box"/>
          <p:cNvSpPr/>
          <p:nvPr/>
        </p:nvSpPr>
        <p:spPr>
          <a:xfrm>
            <a:off x="6313931" y="2994660"/>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Langage clair</a:t>
            </a:r>
          </a:p>
        </p:txBody>
      </p:sp>
      <p:sp>
        <p:nvSpPr>
          <p:cNvPr id="18" name="DSFR-alert-info-body"/>
          <p:cNvSpPr txBox="1"/>
          <p:nvPr/>
        </p:nvSpPr>
        <p:spPr>
          <a:xfrm>
            <a:off x="6469379"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Structurer : titres, listes, paragraphes courts</a:t>
            </a:r>
          </a:p>
          <a:p>
            <a:pPr algn="l">
              <a:lnSpc>
                <a:spcPct val="120000"/>
              </a:lnSpc>
            </a:pPr>
            <a:r>
              <a:rPr sz="1400" lang="fr-FR">
                <a:solidFill>
                  <a:srgbClr val="161616"/>
                </a:solidFill>
                <a:latin typeface="Marianne"/>
              </a:rPr>
              <a:t>• </a:t>
            </a:r>
            <a:r>
              <a:rPr sz="1400" b="0" lang="fr-FR">
                <a:solidFill>
                  <a:srgbClr val="161616"/>
                </a:solidFill>
                <a:latin typeface="Marianne"/>
              </a:rPr>
              <a:t>Expliquer : sigles, jargon, termes techniques</a:t>
            </a:r>
          </a:p>
          <a:p>
            <a:pPr algn="l">
              <a:lnSpc>
                <a:spcPct val="120000"/>
              </a:lnSpc>
            </a:pPr>
            <a:r>
              <a:rPr sz="1400" lang="fr-FR">
                <a:solidFill>
                  <a:srgbClr val="161616"/>
                </a:solidFill>
                <a:latin typeface="Marianne"/>
              </a:rPr>
              <a:t>• </a:t>
            </a:r>
            <a:r>
              <a:rPr sz="1400" b="0" lang="fr-FR">
                <a:solidFill>
                  <a:srgbClr val="161616"/>
                </a:solidFill>
                <a:latin typeface="Marianne"/>
              </a:rPr>
              <a:t>Guider : verbes d'action, consignes explicites</a:t>
            </a:r>
          </a:p>
          <a:p>
            <a:pPr algn="l">
              <a:lnSpc>
                <a:spcPct val="120000"/>
              </a:lnSpc>
            </a:pPr>
            <a:r>
              <a:rPr sz="1400" lang="fr-FR">
                <a:solidFill>
                  <a:srgbClr val="161616"/>
                </a:solidFill>
                <a:latin typeface="Marianne"/>
              </a:rPr>
              <a:t>• </a:t>
            </a:r>
            <a:r>
              <a:rPr sz="1400" b="0" lang="fr-FR">
                <a:solidFill>
                  <a:srgbClr val="161616"/>
                </a:solidFill>
                <a:latin typeface="Marianne"/>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541264" y="5706770"/>
            <a:ext cx="1097280" cy="996075"/>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Des règles et bonnes pratiques simples permettent de garantir l'accessibilité à toutes et tous.</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étapes pour avancer</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Être sensibilisé - c'est ce qu'on fait aujourd'hui</a:t>
            </a:r>
          </a:p>
          <a:p>
            <a:pPr algn="l">
              <a:lnSpc>
                <a:spcPct val="120000"/>
              </a:lnSpc>
            </a:pPr>
            <a:r>
              <a:rPr sz="1400" lang="fr-FR">
                <a:solidFill>
                  <a:srgbClr val="161616"/>
                </a:solidFill>
                <a:latin typeface="Marianne"/>
              </a:rPr>
              <a:t>• </a:t>
            </a:r>
            <a:r>
              <a:rPr sz="1400" b="0" lang="fr-FR">
                <a:solidFill>
                  <a:srgbClr val="161616"/>
                </a:solidFill>
                <a:latin typeface="Marianne"/>
              </a:rPr>
              <a:t>Être à l'écoute des besoins spécifiques</a:t>
            </a:r>
          </a:p>
          <a:p>
            <a:pPr algn="l">
              <a:lnSpc>
                <a:spcPct val="120000"/>
              </a:lnSpc>
            </a:pPr>
            <a:r>
              <a:rPr sz="1400" lang="fr-FR">
                <a:solidFill>
                  <a:srgbClr val="161616"/>
                </a:solidFill>
                <a:latin typeface="Marianne"/>
              </a:rPr>
              <a:t>• </a:t>
            </a:r>
            <a:r>
              <a:rPr sz="1400" b="0" lang="fr-FR">
                <a:solidFill>
                  <a:srgbClr val="161616"/>
                </a:solidFill>
                <a:latin typeface="Marianne"/>
              </a:rPr>
              <a:t>Connaître les matériels et logiciels adaptés</a:t>
            </a:r>
          </a:p>
          <a:p>
            <a:pPr algn="l">
              <a:lnSpc>
                <a:spcPct val="120000"/>
              </a:lnSpc>
            </a:pPr>
            <a:r>
              <a:rPr sz="1400" lang="fr-FR">
                <a:solidFill>
                  <a:srgbClr val="161616"/>
                </a:solidFill>
                <a:latin typeface="Marianne"/>
              </a:rPr>
              <a:t>• </a:t>
            </a:r>
            <a:r>
              <a:rPr sz="1400" b="0" lang="fr-FR">
                <a:solidFill>
                  <a:srgbClr val="161616"/>
                </a:solidFill>
                <a:latin typeface="Marianne"/>
              </a:rPr>
              <a:t>Se former pour découvrir un nouvel univers</a:t>
            </a:r>
          </a:p>
        </p:txBody>
      </p:sp>
      <p:sp>
        <p:nvSpPr>
          <p:cNvPr id="16" name="DSFR-box"/>
          <p:cNvSpPr/>
          <p:nvPr/>
        </p:nvSpPr>
        <p:spPr>
          <a:xfrm>
            <a:off x="6313931" y="299466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Offre de formation</a:t>
            </a:r>
          </a:p>
        </p:txBody>
      </p:sp>
      <p:sp>
        <p:nvSpPr>
          <p:cNvPr id="18" name="DSFR-alert-success-body"/>
          <p:cNvSpPr txBox="1"/>
          <p:nvPr/>
        </p:nvSpPr>
        <p:spPr>
          <a:xfrm>
            <a:off x="6469379"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Mentor (en ligne) : l'accessibilité numérique selon votre métier</a:t>
            </a:r>
          </a:p>
          <a:p>
            <a:pPr algn="l">
              <a:lnSpc>
                <a:spcPct val="120000"/>
              </a:lnSpc>
            </a:pPr>
            <a:r>
              <a:rPr sz="1400" lang="fr-FR">
                <a:solidFill>
                  <a:srgbClr val="161616"/>
                </a:solidFill>
                <a:latin typeface="Marianne"/>
              </a:rPr>
              <a:t>• </a:t>
            </a:r>
            <a:r>
              <a:rPr sz="1400" b="0" lang="fr-FR">
                <a:solidFill>
                  <a:srgbClr val="161616"/>
                </a:solidFill>
                <a:latin typeface="Marianne"/>
              </a:rPr>
              <a:t>IGPDE : l'accessibilité numérique pour la bureautique et le web (réf. 102846)</a:t>
            </a:r>
          </a:p>
          <a:p>
            <a:pPr algn="l">
              <a:lnSpc>
                <a:spcPct val="120000"/>
              </a:lnSpc>
            </a:pPr>
            <a:r>
              <a:rPr sz="1400" lang="fr-FR">
                <a:solidFill>
                  <a:srgbClr val="161616"/>
                </a:solidFill>
                <a:latin typeface="Marianne"/>
              </a:rPr>
              <a:t>• </a:t>
            </a:r>
            <a:r>
              <a:rPr sz="1400" b="0" lang="fr-FR">
                <a:solidFill>
                  <a:srgbClr val="161616"/>
                </a:solidFill>
                <a:latin typeface="Marianne"/>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Concevoir accessible, pas adapter après</a:t>
            </a:r>
          </a:p>
        </p:txBody>
      </p:sp>
      <p:sp>
        <p:nvSpPr>
          <p:cNvPr id="15" name="DSFR-callout-body"/>
          <p:cNvSpPr txBox="1"/>
          <p:nvPr/>
        </p:nvSpPr>
        <p:spPr>
          <a:xfrm>
            <a:off x="6510528" y="3497579"/>
            <a:ext cx="51023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Intégrer l'accessibilité dès le début, pas en rattrapage</a:t>
            </a:r>
          </a:p>
          <a:p>
            <a:pPr algn="l">
              <a:lnSpc>
                <a:spcPct val="130000"/>
              </a:lnSpc>
            </a:pPr>
            <a:r>
              <a:rPr sz="1400" lang="fr-FR">
                <a:solidFill>
                  <a:srgbClr val="161616"/>
                </a:solidFill>
                <a:latin typeface="Marianne"/>
              </a:rPr>
              <a:t>• </a:t>
            </a:r>
            <a:r>
              <a:rPr sz="1400" b="0" lang="fr-FR">
                <a:solidFill>
                  <a:srgbClr val="161616"/>
                </a:solidFill>
                <a:latin typeface="Marianne"/>
              </a:rPr>
              <a:t>Un document bien structuré profite à tous les lecteurs</a:t>
            </a:r>
          </a:p>
          <a:p>
            <a:pPr algn="l">
              <a:lnSpc>
                <a:spcPct val="130000"/>
              </a:lnSpc>
            </a:pPr>
            <a:r>
              <a:rPr sz="1400" lang="fr-FR">
                <a:solidFill>
                  <a:srgbClr val="161616"/>
                </a:solidFill>
                <a:latin typeface="Marianne"/>
              </a:rPr>
              <a:t>• </a:t>
            </a:r>
            <a:r>
              <a:rPr sz="1400" b="0" lang="fr-FR">
                <a:solidFill>
                  <a:srgbClr val="161616"/>
                </a:solidFill>
                <a:latin typeface="Marianne"/>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4489704" y="5692140"/>
            <a:ext cx="3200400" cy="122973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Module 1 - ce que vous retenez</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Points clés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46</a:t>
            </a:r>
            <a:endParaRPr lang="fr-FR" dirty="0"/>
          </a:p>
        </p:txBody>
      </p:sp>
      <p:sp>
        <p:nvSpPr>
          <p:cNvPr id="9" name="DSFR-box"/>
          <p:cNvSpPr/>
          <p:nvPr/>
        </p:nvSpPr>
        <p:spPr>
          <a:xfrm>
            <a:off x="548640" y="21031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info-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points à retenir</a:t>
            </a:r>
          </a:p>
        </p:txBody>
      </p:sp>
      <p:sp>
        <p:nvSpPr>
          <p:cNvPr id="11" name="DSFR-alert-info-body"/>
          <p:cNvSpPr txBox="1"/>
          <p:nvPr/>
        </p:nvSpPr>
        <p:spPr>
          <a:xfrm>
            <a:off x="704088" y="2606039"/>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L'accessibilité relève de l'</a:t>
            </a:r>
            <a:r>
              <a:rPr sz="1400" b="1" lang="fr-FR">
                <a:solidFill>
                  <a:srgbClr val="161616"/>
                </a:solidFill>
                <a:latin typeface="Marianne"/>
              </a:rPr>
              <a:t>équité</a:t>
            </a:r>
            <a:r>
              <a:rPr sz="1400" b="0" lang="fr-FR">
                <a:solidFill>
                  <a:srgbClr val="161616"/>
                </a:solidFill>
                <a:latin typeface="Marianne"/>
              </a:rPr>
              <a:t> et du droit, pas de la bonne volonté</a:t>
            </a:r>
          </a:p>
          <a:p>
            <a:pPr algn="l">
              <a:lnSpc>
                <a:spcPct val="150000"/>
              </a:lnSpc>
            </a:pPr>
            <a:r>
              <a:rPr sz="1400" lang="fr-FR">
                <a:solidFill>
                  <a:srgbClr val="161616"/>
                </a:solidFill>
                <a:latin typeface="Marianne"/>
              </a:rPr>
              <a:t>• </a:t>
            </a:r>
            <a:r>
              <a:rPr sz="1400" b="0" lang="fr-FR">
                <a:solidFill>
                  <a:srgbClr val="161616"/>
                </a:solidFill>
                <a:latin typeface="Marianne"/>
              </a:rPr>
              <a:t>Les WCAG et le RGAA donnent un cadre pour vérifier ce qui est conforme</a:t>
            </a:r>
          </a:p>
          <a:p>
            <a:pPr algn="l">
              <a:lnSpc>
                <a:spcPct val="150000"/>
              </a:lnSpc>
            </a:pPr>
            <a:r>
              <a:rPr sz="1400" lang="fr-FR">
                <a:solidFill>
                  <a:srgbClr val="161616"/>
                </a:solidFill>
                <a:latin typeface="Marianne"/>
              </a:rPr>
              <a:t>• </a:t>
            </a:r>
            <a:r>
              <a:rPr sz="1400" b="0" lang="fr-FR">
                <a:solidFill>
                  <a:srgbClr val="161616"/>
                </a:solidFill>
                <a:latin typeface="Marianne"/>
              </a:rPr>
              <a:t>Les premiers réflexes : texte lisible, contraste testé, alternative disponible</a:t>
            </a:r>
          </a:p>
        </p:txBody>
      </p:sp>
      <p:sp>
        <p:nvSpPr>
          <p:cNvPr id="13" name="DSFR-box"/>
          <p:cNvSpPr/>
          <p:nvPr/>
        </p:nvSpPr>
        <p:spPr>
          <a:xfrm>
            <a:off x="548640"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encadre-titre"/>
          <p:cNvSpPr txBox="1"/>
          <p:nvPr/>
        </p:nvSpPr>
        <p:spPr>
          <a:xfrm>
            <a:off x="704088"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Dès demain matin</a:t>
            </a:r>
          </a:p>
        </p:txBody>
      </p:sp>
      <p:sp>
        <p:nvSpPr>
          <p:cNvPr id="15" name="DSFR-encadre-bullets"/>
          <p:cNvSpPr txBox="1"/>
          <p:nvPr/>
        </p:nvSpPr>
        <p:spPr>
          <a:xfrm>
            <a:off x="704088"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Relire une communication récente</a:t>
            </a:r>
          </a:p>
          <a:p>
            <a:pPr algn="l">
              <a:lnSpc>
                <a:spcPct val="150000"/>
              </a:lnSpc>
            </a:pPr>
            <a:r>
              <a:rPr sz="1400" lang="fr-FR">
                <a:solidFill>
                  <a:srgbClr val="161616"/>
                </a:solidFill>
                <a:latin typeface="Marianne"/>
              </a:rPr>
              <a:t>• </a:t>
            </a:r>
            <a:r>
              <a:rPr sz="1400" b="0" lang="fr-FR">
                <a:solidFill>
                  <a:srgbClr val="161616"/>
                </a:solidFill>
                <a:latin typeface="Marianne"/>
              </a:rPr>
              <a:t>Vérifier texte et contraste</a:t>
            </a:r>
          </a:p>
          <a:p>
            <a:pPr algn="l">
              <a:lnSpc>
                <a:spcPct val="150000"/>
              </a:lnSpc>
            </a:pPr>
            <a:r>
              <a:rPr sz="1400" lang="fr-FR">
                <a:solidFill>
                  <a:srgbClr val="161616"/>
                </a:solidFill>
                <a:latin typeface="Marianne"/>
              </a:rPr>
              <a:t>• </a:t>
            </a:r>
            <a:r>
              <a:rPr sz="1400" b="0" lang="fr-FR">
                <a:solidFill>
                  <a:srgbClr val="161616"/>
                </a:solidFill>
                <a:latin typeface="Marianne"/>
              </a:rPr>
              <a:t>Chercher la déclaration d'accessibilité du site</a:t>
            </a:r>
          </a:p>
        </p:txBody>
      </p:sp>
      <p:sp>
        <p:nvSpPr>
          <p:cNvPr id="17" name="DSFR-box"/>
          <p:cNvSpPr/>
          <p:nvPr/>
        </p:nvSpPr>
        <p:spPr>
          <a:xfrm>
            <a:off x="6313931"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6469379"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semaine</a:t>
            </a:r>
          </a:p>
        </p:txBody>
      </p:sp>
      <p:sp>
        <p:nvSpPr>
          <p:cNvPr id="19" name="DSFR-encadre-bullets"/>
          <p:cNvSpPr txBox="1"/>
          <p:nvPr/>
        </p:nvSpPr>
        <p:spPr>
          <a:xfrm>
            <a:off x="6469379"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Partager les constats avec l'équipe</a:t>
            </a:r>
          </a:p>
          <a:p>
            <a:pPr algn="l">
              <a:lnSpc>
                <a:spcPct val="150000"/>
              </a:lnSpc>
            </a:pPr>
            <a:r>
              <a:rPr sz="1400" lang="fr-FR">
                <a:solidFill>
                  <a:srgbClr val="161616"/>
                </a:solidFill>
                <a:latin typeface="Marianne"/>
              </a:rPr>
              <a:t>• </a:t>
            </a:r>
            <a:r>
              <a:rPr sz="1400" b="0" lang="fr-FR">
                <a:solidFill>
                  <a:srgbClr val="161616"/>
                </a:solidFill>
                <a:latin typeface="Marianne"/>
              </a:rPr>
              <a:t>Choisir 3 règles transversales à appliquer à chaque publication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47</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2. Documents bureautiques accessibles</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Documents bureautiques accessibles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48</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quote-texte"/>
          <p:cNvSpPr txBox="1"/>
          <p:nvPr/>
        </p:nvSpPr>
        <p:spPr>
          <a:xfrm>
            <a:off x="749808" y="2240279"/>
            <a:ext cx="10863072" cy="228600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Texte, texte, texte, texte, texte, texte ...</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Pendant 4 minutes. Sans titre. Sans repère.</a:t>
            </a:r>
          </a:p>
          <a:p>
            <a:pPr algn="l">
              <a:lnSpc>
                <a:spcPct val="125000"/>
              </a:lnSpc>
            </a:pPr>
            <a:r>
              <a:rPr sz="1600" i="1" lang="fr-FR">
                <a:solidFill>
                  <a:srgbClr val="161616"/>
                </a:solidFill>
                <a:latin typeface="Marianne"/>
              </a:rPr>
              <a:t>Sans pouvoir naviguer vers la section qui le concerne.</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-&gt; C'est ce qu'entend une personne malvoyante face à votre document Word.</a:t>
            </a:r>
          </a:p>
        </p:txBody>
      </p:sp>
      <p:sp>
        <p:nvSpPr>
          <p:cNvPr id="12" name="DSFR-box"/>
          <p:cNvSpPr/>
          <p:nvPr/>
        </p:nvSpPr>
        <p:spPr>
          <a:xfrm>
            <a:off x="548640" y="482437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warning-titre"/>
          <p:cNvSpPr txBox="1"/>
          <p:nvPr/>
        </p:nvSpPr>
        <p:spPr>
          <a:xfrm>
            <a:off x="704088" y="491581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15 % de vos destinataires sont concernés</a:t>
            </a:r>
          </a:p>
        </p:txBody>
      </p:sp>
      <p:sp>
        <p:nvSpPr>
          <p:cNvPr id="14" name="DSFR-alert-warning-body"/>
          <p:cNvSpPr txBox="1"/>
          <p:nvPr/>
        </p:nvSpPr>
        <p:spPr>
          <a:xfrm>
            <a:off x="704088" y="532729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80 % de ces handicaps sont invisibles</a:t>
            </a:r>
          </a:p>
          <a:p>
            <a:pPr algn="l">
              <a:lnSpc>
                <a:spcPct val="115000"/>
              </a:lnSpc>
            </a:pPr>
            <a:r>
              <a:rPr sz="1400" lang="fr-FR">
                <a:solidFill>
                  <a:srgbClr val="161616"/>
                </a:solidFill>
                <a:latin typeface="Marianne"/>
              </a:rPr>
              <a:t>• </a:t>
            </a:r>
            <a:r>
              <a:rPr sz="1400" b="0" lang="fr-FR">
                <a:solidFill>
                  <a:srgbClr val="161616"/>
                </a:solidFill>
                <a:latin typeface="Marianne"/>
              </a:rPr>
              <a:t>Dans une réunion de 12 personnes : au moins 1 daltonien</a:t>
            </a:r>
          </a:p>
          <a:p>
            <a:pPr algn="l">
              <a:lnSpc>
                <a:spcPct val="115000"/>
              </a:lnSpc>
            </a:pPr>
            <a:r>
              <a:rPr sz="1400" lang="fr-FR">
                <a:solidFill>
                  <a:srgbClr val="161616"/>
                </a:solidFill>
                <a:latin typeface="Marianne"/>
              </a:rPr>
              <a:t>• </a:t>
            </a:r>
            <a:r>
              <a:rPr sz="1400" b="0" lang="fr-FR">
                <a:solidFill>
                  <a:srgbClr val="161616"/>
                </a:solidFill>
                <a:latin typeface="Marianne"/>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Contexte</a:t>
            </a:r>
          </a:p>
        </p:txBody>
      </p:sp>
      <p:sp>
        <p:nvSpPr>
          <p:cNvPr id="8" name="DSFR-accent-decoratif" descr=""/>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82437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A</a:t>
            </a:r>
          </a:p>
        </p:txBody>
      </p:sp>
      <p:sp>
        <p:nvSpPr>
          <p:cNvPr id="14" name="DSFR-card-contenu"/>
          <p:cNvSpPr txBox="1"/>
          <p:nvPr/>
        </p:nvSpPr>
        <p:spPr>
          <a:xfrm>
            <a:off x="704088"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mis en gras, police Arial 16</a:t>
            </a:r>
          </a:p>
          <a:p>
            <a:pPr algn="l">
              <a:lnSpc>
                <a:spcPct val="150000"/>
              </a:lnSpc>
            </a:pPr>
            <a:r>
              <a:rPr sz="1400" lang="fr-FR">
                <a:solidFill>
                  <a:srgbClr val="161616"/>
                </a:solidFill>
                <a:latin typeface="Marianne"/>
              </a:rPr>
              <a:t>• </a:t>
            </a:r>
            <a:r>
              <a:rPr sz="1400" b="0" lang="fr-FR">
                <a:solidFill>
                  <a:srgbClr val="161616"/>
                </a:solidFill>
                <a:latin typeface="Marianne"/>
              </a:rPr>
              <a:t>Image sans description</a:t>
            </a:r>
          </a:p>
          <a:p>
            <a:pPr algn="l">
              <a:lnSpc>
                <a:spcPct val="150000"/>
              </a:lnSpc>
            </a:pPr>
            <a:r>
              <a:rPr sz="1400" lang="fr-FR">
                <a:solidFill>
                  <a:srgbClr val="161616"/>
                </a:solidFill>
                <a:latin typeface="Marianne"/>
              </a:rPr>
              <a:t>• </a:t>
            </a:r>
            <a:r>
              <a:rPr sz="1400" b="0" lang="fr-FR">
                <a:solidFill>
                  <a:srgbClr val="161616"/>
                </a:solidFill>
                <a:latin typeface="Marianne"/>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B</a:t>
            </a:r>
          </a:p>
        </p:txBody>
      </p:sp>
      <p:sp>
        <p:nvSpPr>
          <p:cNvPr id="18" name="DSFR-card-contenu"/>
          <p:cNvSpPr txBox="1"/>
          <p:nvPr/>
        </p:nvSpPr>
        <p:spPr>
          <a:xfrm>
            <a:off x="6469379"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avec le style « Titre 1 »</a:t>
            </a:r>
          </a:p>
          <a:p>
            <a:pPr algn="l">
              <a:lnSpc>
                <a:spcPct val="150000"/>
              </a:lnSpc>
            </a:pPr>
            <a:r>
              <a:rPr sz="1400" lang="fr-FR">
                <a:solidFill>
                  <a:srgbClr val="161616"/>
                </a:solidFill>
                <a:latin typeface="Marianne"/>
              </a:rPr>
              <a:t>• </a:t>
            </a:r>
            <a:r>
              <a:rPr sz="1400" b="0" lang="fr-FR">
                <a:solidFill>
                  <a:srgbClr val="161616"/>
                </a:solidFill>
                <a:latin typeface="Marianne"/>
              </a:rPr>
              <a:t>Image avec texte alternatif</a:t>
            </a:r>
          </a:p>
          <a:p>
            <a:pPr algn="l">
              <a:lnSpc>
                <a:spcPct val="150000"/>
              </a:lnSpc>
            </a:pPr>
            <a:r>
              <a:rPr sz="1400" lang="fr-FR">
                <a:solidFill>
                  <a:srgbClr val="161616"/>
                </a:solidFill>
                <a:latin typeface="Marianne"/>
              </a:rPr>
              <a:t>• </a:t>
            </a:r>
            <a:r>
              <a:rPr sz="1400" b="0" lang="fr-FR">
                <a:solidFill>
                  <a:srgbClr val="161616"/>
                </a:solidFill>
                <a:latin typeface="Marianne"/>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63499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Votre réponse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ça vous concerne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50</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style Titre 1 crée une structure de navigation</a:t>
            </a:r>
          </a:p>
          <a:p>
            <a:pPr algn="l">
              <a:lnSpc>
                <a:spcPct val="125000"/>
              </a:lnSpc>
            </a:pPr>
            <a:r>
              <a:rPr sz="1400" lang="fr-FR">
                <a:solidFill>
                  <a:srgbClr val="161616"/>
                </a:solidFill>
                <a:latin typeface="Marianne"/>
              </a:rPr>
              <a:t>• </a:t>
            </a:r>
            <a:r>
              <a:rPr sz="1400" b="0" lang="fr-FR">
                <a:solidFill>
                  <a:srgbClr val="161616"/>
                </a:solidFill>
                <a:latin typeface="Marianne"/>
              </a:rPr>
              <a:t>Le texte de remplacement décrit la fonction de l'image</a:t>
            </a:r>
          </a:p>
          <a:p>
            <a:pPr algn="l">
              <a:lnSpc>
                <a:spcPct val="125000"/>
              </a:lnSpc>
            </a:pPr>
            <a:r>
              <a:rPr sz="1400" lang="fr-FR">
                <a:solidFill>
                  <a:srgbClr val="161616"/>
                </a:solidFill>
                <a:latin typeface="Marianne"/>
              </a:rPr>
              <a:t>• </a:t>
            </a:r>
            <a:r>
              <a:rPr sz="1400" b="0" lang="fr-FR">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Marianne"/>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52</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bloc plat, sans repère de navigation</a:t>
            </a:r>
          </a:p>
          <a:p>
            <a:pPr algn="l">
              <a:lnSpc>
                <a:spcPct val="150000"/>
              </a:lnSpc>
            </a:pPr>
            <a:r>
              <a:rPr sz="1400" lang="fr-FR">
                <a:solidFill>
                  <a:srgbClr val="161616"/>
                </a:solidFill>
                <a:latin typeface="Marianne"/>
              </a:rPr>
              <a:t>• </a:t>
            </a:r>
            <a:r>
              <a:rPr sz="1400" b="0" lang="fr-FR">
                <a:solidFill>
                  <a:srgbClr val="161616"/>
                </a:solidFill>
                <a:latin typeface="Marianne"/>
              </a:rPr>
              <a:t>Le lecteur d'écran ne peut pas aller de titre en titre</a:t>
            </a:r>
          </a:p>
          <a:p>
            <a:pPr algn="l">
              <a:lnSpc>
                <a:spcPct val="150000"/>
              </a:lnSpc>
            </a:pPr>
            <a:r>
              <a:rPr sz="1400" lang="fr-FR">
                <a:solidFill>
                  <a:srgbClr val="161616"/>
                </a:solidFill>
                <a:latin typeface="Marianne"/>
              </a:rPr>
              <a:t>• </a:t>
            </a:r>
            <a:r>
              <a:rPr sz="1400" b="0" lang="fr-FR">
                <a:solidFill>
                  <a:srgbClr val="161616"/>
                </a:solidFill>
                <a:latin typeface="Marianne"/>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 1 : Rapport annuel</a:t>
            </a:r>
          </a:p>
          <a:p>
            <a:pPr algn="l">
              <a:lnSpc>
                <a:spcPct val="150000"/>
              </a:lnSpc>
            </a:pPr>
            <a:r>
              <a:rPr sz="1400" lang="fr-FR">
                <a:solidFill>
                  <a:srgbClr val="161616"/>
                </a:solidFill>
                <a:latin typeface="Marianne"/>
              </a:rPr>
              <a:t>• </a:t>
            </a:r>
            <a:r>
              <a:rPr sz="1400" b="0" lang="fr-FR">
                <a:solidFill>
                  <a:srgbClr val="161616"/>
                </a:solidFill>
                <a:latin typeface="Marianne"/>
              </a:rPr>
              <a:t>Titre 2 : Budget / Titre 3 : Prévisions</a:t>
            </a:r>
          </a:p>
          <a:p>
            <a:pPr algn="l">
              <a:lnSpc>
                <a:spcPct val="150000"/>
              </a:lnSpc>
            </a:pPr>
            <a:r>
              <a:rPr sz="1400" lang="fr-FR">
                <a:solidFill>
                  <a:srgbClr val="161616"/>
                </a:solidFill>
                <a:latin typeface="Marianne"/>
              </a:rPr>
              <a:t>• </a:t>
            </a:r>
            <a:r>
              <a:rPr sz="1400" b="0" lang="fr-FR">
                <a:solidFill>
                  <a:srgbClr val="161616"/>
                </a:solidFill>
                <a:latin typeface="Marianne"/>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Appliquer : Accueil &gt; Styles &gt; Titre 1, Titre 2 ou Titre 3</a:t>
            </a:r>
          </a:p>
          <a:p>
            <a:pPr algn="l">
              <a:lnSpc>
                <a:spcPct val="150000"/>
              </a:lnSpc>
            </a:pPr>
            <a:r>
              <a:rPr sz="1400" lang="fr-FR">
                <a:solidFill>
                  <a:srgbClr val="161616"/>
                </a:solidFill>
                <a:latin typeface="Marianne"/>
              </a:rPr>
              <a:t>• </a:t>
            </a:r>
            <a:r>
              <a:rPr sz="1400" b="0" lang="fr-FR">
                <a:solidFill>
                  <a:srgbClr val="161616"/>
                </a:solidFill>
                <a:latin typeface="Marianne"/>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53</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 lecteur annonce : liste de 3 éléments, élément 1 sur 3</a:t>
            </a:r>
          </a:p>
          <a:p>
            <a:pPr algn="l">
              <a:lnSpc>
                <a:spcPct val="150000"/>
              </a:lnSpc>
            </a:pPr>
            <a:r>
              <a:rPr sz="1400" lang="fr-FR">
                <a:solidFill>
                  <a:srgbClr val="161616"/>
                </a:solidFill>
                <a:latin typeface="Marianne"/>
              </a:rPr>
              <a:t>• </a:t>
            </a:r>
            <a:r>
              <a:rPr sz="1400" b="0" lang="fr-FR">
                <a:solidFill>
                  <a:srgbClr val="161616"/>
                </a:solidFill>
                <a:latin typeface="Marianne"/>
              </a:rPr>
              <a:t>Navigation par élément avec les touches flèches</a:t>
            </a:r>
          </a:p>
          <a:p>
            <a:pPr algn="l">
              <a:lnSpc>
                <a:spcPct val="150000"/>
              </a:lnSpc>
            </a:pPr>
            <a:r>
              <a:rPr sz="1400" lang="fr-FR">
                <a:solidFill>
                  <a:srgbClr val="161616"/>
                </a:solidFill>
                <a:latin typeface="Marianne"/>
              </a:rPr>
              <a:t>• </a:t>
            </a:r>
            <a:r>
              <a:rPr sz="1400" b="0" lang="fr-FR">
                <a:solidFill>
                  <a:srgbClr val="161616"/>
                </a:solidFill>
                <a:latin typeface="Marianne"/>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Tirets manuels : le lecteur lit tiret Premier élément</a:t>
            </a:r>
          </a:p>
          <a:p>
            <a:pPr algn="l">
              <a:lnSpc>
                <a:spcPct val="150000"/>
              </a:lnSpc>
            </a:pPr>
            <a:r>
              <a:rPr sz="1400" lang="fr-FR">
                <a:solidFill>
                  <a:srgbClr val="161616"/>
                </a:solidFill>
                <a:latin typeface="Marianne"/>
              </a:rPr>
              <a:t>• </a:t>
            </a:r>
            <a:r>
              <a:rPr sz="1400" b="0" lang="fr-FR">
                <a:solidFill>
                  <a:srgbClr val="161616"/>
                </a:solidFill>
                <a:latin typeface="Marianne"/>
              </a:rPr>
              <a:t>Tabulations pour simuler une numérotation</a:t>
            </a:r>
          </a:p>
          <a:p>
            <a:pPr algn="l">
              <a:lnSpc>
                <a:spcPct val="150000"/>
              </a:lnSpc>
            </a:pPr>
            <a:r>
              <a:rPr sz="1400" lang="fr-FR">
                <a:solidFill>
                  <a:srgbClr val="161616"/>
                </a:solidFill>
                <a:latin typeface="Marianne"/>
              </a:rPr>
              <a:t>• </a:t>
            </a:r>
            <a:r>
              <a:rPr sz="1400" b="0" lang="fr-FR">
                <a:solidFill>
                  <a:srgbClr val="161616"/>
                </a:solidFill>
                <a:latin typeface="Marianne"/>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54</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ne jamais utiliser Tab, Espace ou Entrée pour simuler une mise en page.</a:t>
            </a:r>
          </a:p>
          <a:p>
            <a:r>
              <a:rPr sz="1800" b="1" lang="fr-FR">
                <a:solidFill>
                  <a:srgbClr val="000091"/>
                </a:solidFill>
                <a:latin typeface="Marianne"/>
              </a:rPr>
              <a:t>Vous créez un obstacle de structure pour les technologies d'assistance.</a:t>
            </a:r>
          </a:p>
        </p:txBody>
      </p:sp>
      <p:sp>
        <p:nvSpPr>
          <p:cNvPr id="12" name="DSFR-box"/>
          <p:cNvSpPr/>
          <p:nvPr/>
        </p:nvSpPr>
        <p:spPr>
          <a:xfrm>
            <a:off x="548640" y="379476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Tableaux de mise en page</a:t>
            </a:r>
          </a:p>
        </p:txBody>
      </p:sp>
      <p:sp>
        <p:nvSpPr>
          <p:cNvPr id="14" name="DSFR-callout-body"/>
          <p:cNvSpPr txBox="1"/>
          <p:nvPr/>
        </p:nvSpPr>
        <p:spPr>
          <a:xfrm>
            <a:off x="704088" y="42976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Insertion &gt; Tableau &gt; colonnes et lignes</a:t>
            </a:r>
          </a:p>
          <a:p>
            <a:pPr algn="l">
              <a:lnSpc>
                <a:spcPct val="115000"/>
              </a:lnSpc>
            </a:pPr>
            <a:r>
              <a:rPr sz="1400" lang="fr-FR">
                <a:solidFill>
                  <a:srgbClr val="161616"/>
                </a:solidFill>
                <a:latin typeface="Marianne"/>
              </a:rPr>
              <a:t>• </a:t>
            </a:r>
            <a:r>
              <a:rPr sz="1400" b="0" lang="fr-FR">
                <a:solidFill>
                  <a:srgbClr val="161616"/>
                </a:solidFill>
                <a:latin typeface="Marianne"/>
              </a:rPr>
              <a:t>Habillage : Propriétés &gt; Aucun</a:t>
            </a:r>
          </a:p>
          <a:p>
            <a:pPr algn="l">
              <a:lnSpc>
                <a:spcPct val="115000"/>
              </a:lnSpc>
            </a:pPr>
            <a:r>
              <a:rPr sz="1400" lang="fr-FR">
                <a:solidFill>
                  <a:srgbClr val="161616"/>
                </a:solidFill>
                <a:latin typeface="Marianne"/>
              </a:rPr>
              <a:t>• </a:t>
            </a:r>
            <a:r>
              <a:rPr sz="1400" b="0" lang="fr-FR">
                <a:solidFill>
                  <a:srgbClr val="161616"/>
                </a:solidFill>
                <a:latin typeface="Marianne"/>
              </a:rPr>
              <a:t>Un tableau flottant (Autour) est lu au mauvais moment</a:t>
            </a:r>
          </a:p>
        </p:txBody>
      </p:sp>
      <p:sp>
        <p:nvSpPr>
          <p:cNvPr id="16" name="DSFR-box"/>
          <p:cNvSpPr/>
          <p:nvPr/>
        </p:nvSpPr>
        <p:spPr>
          <a:xfrm>
            <a:off x="548640" y="5257800"/>
            <a:ext cx="11155680" cy="95234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flottants : zones de texte et images</a:t>
            </a:r>
          </a:p>
        </p:txBody>
      </p:sp>
      <p:sp>
        <p:nvSpPr>
          <p:cNvPr id="18" name="DSFR-alert-warning-body"/>
          <p:cNvSpPr txBox="1"/>
          <p:nvPr/>
        </p:nvSpPr>
        <p:spPr>
          <a:xfrm>
            <a:off x="704088" y="5760720"/>
            <a:ext cx="10908792" cy="357987"/>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5234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55</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56</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Doublez toujours la couleur avec une légende textuelle</a:t>
            </a:r>
          </a:p>
          <a:p>
            <a:r>
              <a:rPr sz="1800" b="1" lang="fr-FR">
                <a:solidFill>
                  <a:srgbClr val="000091"/>
                </a:solidFill>
                <a:latin typeface="Marianne"/>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57</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58</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4001414"/>
            <a:ext cx="5390388" cy="221650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092854"/>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Informations essentielles dans les zones non lues</a:t>
            </a:r>
          </a:p>
        </p:txBody>
      </p:sp>
      <p:sp>
        <p:nvSpPr>
          <p:cNvPr id="12" name="DSFR-alert-warning-body"/>
          <p:cNvSpPr txBox="1"/>
          <p:nvPr/>
        </p:nvSpPr>
        <p:spPr>
          <a:xfrm>
            <a:off x="704088" y="466435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En-têtes et pieds de page : non lus automatiquement</a:t>
            </a:r>
          </a:p>
          <a:p>
            <a:pPr algn="l">
              <a:lnSpc>
                <a:spcPct val="115000"/>
              </a:lnSpc>
            </a:pPr>
            <a:r>
              <a:rPr sz="1400" lang="fr-FR">
                <a:solidFill>
                  <a:srgbClr val="161616"/>
                </a:solidFill>
                <a:latin typeface="Marianne"/>
              </a:rPr>
              <a:t>• </a:t>
            </a:r>
            <a:r>
              <a:rPr sz="1400" b="0" lang="fr-FR">
                <a:solidFill>
                  <a:srgbClr val="161616"/>
                </a:solidFill>
                <a:latin typeface="Marianne"/>
              </a:rPr>
              <a:t>Filigranes (Confidentiel, Brouillon) : invisibles</a:t>
            </a:r>
          </a:p>
          <a:p>
            <a:pPr algn="l">
              <a:lnSpc>
                <a:spcPct val="115000"/>
              </a:lnSpc>
            </a:pPr>
            <a:r>
              <a:rPr sz="1400" lang="fr-FR">
                <a:solidFill>
                  <a:srgbClr val="161616"/>
                </a:solidFill>
                <a:latin typeface="Marianne"/>
              </a:rPr>
              <a:t>• </a:t>
            </a:r>
            <a:r>
              <a:rPr sz="1400" b="0" lang="fr-FR">
                <a:solidFill>
                  <a:srgbClr val="161616"/>
                </a:solidFill>
                <a:latin typeface="Marianne"/>
              </a:rPr>
              <a:t>Solution : reproduire l'info dans le corps du document</a:t>
            </a:r>
          </a:p>
        </p:txBody>
      </p:sp>
      <p:sp>
        <p:nvSpPr>
          <p:cNvPr id="14" name="DSFR-box"/>
          <p:cNvSpPr/>
          <p:nvPr/>
        </p:nvSpPr>
        <p:spPr>
          <a:xfrm>
            <a:off x="6313931" y="4023360"/>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1148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 de téléchargement</a:t>
            </a:r>
          </a:p>
        </p:txBody>
      </p:sp>
      <p:sp>
        <p:nvSpPr>
          <p:cNvPr id="16" name="DSFR-callout-body"/>
          <p:cNvSpPr txBox="1"/>
          <p:nvPr/>
        </p:nvSpPr>
        <p:spPr>
          <a:xfrm>
            <a:off x="6469379" y="452628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Titre + format + poids + langue si différente</a:t>
            </a:r>
          </a:p>
          <a:p>
            <a:pPr algn="l">
              <a:lnSpc>
                <a:spcPct val="115000"/>
              </a:lnSpc>
            </a:pPr>
            <a:r>
              <a:rPr sz="1400" lang="fr-FR">
                <a:solidFill>
                  <a:srgbClr val="161616"/>
                </a:solidFill>
                <a:latin typeface="Marianne"/>
              </a:rPr>
              <a:t>• </a:t>
            </a:r>
            <a:r>
              <a:rPr sz="1400" b="0" lang="fr-FR">
                <a:solidFill>
                  <a:srgbClr val="161616"/>
                </a:solidFill>
                <a:latin typeface="Marianne"/>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accent-decoratif" descr=""/>
          <p:cNvSpPr/>
          <p:nvPr/>
        </p:nvSpPr>
        <p:spPr>
          <a:xfrm>
            <a:off x="475488" y="4001414"/>
            <a:ext cx="73152" cy="221650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02336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59</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en gras, fausses listes, faux sommaire, tableaux sans en-tête</a:t>
            </a:r>
          </a:p>
          <a:p>
            <a:pPr algn="l">
              <a:lnSpc>
                <a:spcPct val="150000"/>
              </a:lnSpc>
            </a:pPr>
            <a:r>
              <a:rPr sz="1400" lang="fr-FR">
                <a:solidFill>
                  <a:srgbClr val="161616"/>
                </a:solidFill>
                <a:latin typeface="Marianne"/>
              </a:rPr>
              <a:t>• </a:t>
            </a:r>
            <a:r>
              <a:rPr sz="1400" b="0" lang="fr-FR">
                <a:solidFill>
                  <a:srgbClr val="161616"/>
                </a:solidFill>
                <a:latin typeface="Marianne"/>
              </a:rPr>
              <a:t>Mention Urgent en rouge, note en gris insuffisant</a:t>
            </a:r>
          </a:p>
          <a:p>
            <a:pPr algn="l">
              <a:lnSpc>
                <a:spcPct val="150000"/>
              </a:lnSpc>
            </a:pPr>
            <a:r>
              <a:rPr sz="1400" lang="fr-FR">
                <a:solidFill>
                  <a:srgbClr val="161616"/>
                </a:solidFill>
                <a:latin typeface="Marianne"/>
              </a:rPr>
              <a:t>• </a:t>
            </a:r>
            <a:r>
              <a:rPr sz="1400" b="0" lang="fr-FR">
                <a:solidFill>
                  <a:srgbClr val="161616"/>
                </a:solidFill>
                <a:latin typeface="Marianne"/>
              </a:rPr>
              <a:t>Graphique et organigramme sans alt, icône redondante</a:t>
            </a:r>
          </a:p>
          <a:p>
            <a:pPr algn="l">
              <a:lnSpc>
                <a:spcPct val="150000"/>
              </a:lnSpc>
            </a:pPr>
            <a:r>
              <a:rPr sz="1400" lang="fr-FR">
                <a:solidFill>
                  <a:srgbClr val="161616"/>
                </a:solidFill>
                <a:latin typeface="Marianne"/>
              </a:rPr>
              <a:t>• </a:t>
            </a:r>
            <a:r>
              <a:rPr sz="1400" b="0" lang="fr-FR">
                <a:solidFill>
                  <a:srgbClr val="161616"/>
                </a:solidFill>
                <a:latin typeface="Marianne"/>
              </a:rPr>
              <a:t>Texte en image, lien cliquez ici, filigrane invisible</a:t>
            </a:r>
          </a:p>
          <a:p>
            <a:pPr algn="l">
              <a:lnSpc>
                <a:spcPct val="150000"/>
              </a:lnSpc>
            </a:pPr>
            <a:r>
              <a:rPr sz="1400" lang="fr-FR">
                <a:solidFill>
                  <a:srgbClr val="161616"/>
                </a:solidFill>
                <a:latin typeface="Marianne"/>
              </a:rPr>
              <a:t>• </a:t>
            </a:r>
            <a:r>
              <a:rPr sz="1400" b="0" lang="fr-FR">
                <a:solidFill>
                  <a:srgbClr val="161616"/>
                </a:solidFill>
                <a:latin typeface="Marianne"/>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30 minutes en binôme :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60</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principale : Fichier &gt; Options &gt; Langue</a:t>
            </a:r>
          </a:p>
          <a:p>
            <a:pPr algn="l">
              <a:lnSpc>
                <a:spcPct val="125000"/>
              </a:lnSpc>
            </a:pPr>
            <a:r>
              <a:rPr sz="1400" lang="fr-FR">
                <a:solidFill>
                  <a:srgbClr val="161616"/>
                </a:solidFill>
                <a:latin typeface="Marianne"/>
              </a:rPr>
              <a:t>• </a:t>
            </a:r>
            <a:r>
              <a:rPr sz="1400" b="0" lang="fr-FR">
                <a:solidFill>
                  <a:srgbClr val="161616"/>
                </a:solidFill>
                <a:latin typeface="Marianne"/>
              </a:rPr>
              <a:t>Passage en langue étrangère : sélectionner le texte &gt; Révision &gt; Langue &gt; Définir la langue</a:t>
            </a:r>
          </a:p>
          <a:p>
            <a:pPr algn="l">
              <a:lnSpc>
                <a:spcPct val="125000"/>
              </a:lnSpc>
            </a:pPr>
            <a:r>
              <a:rPr sz="1400" lang="fr-FR">
                <a:solidFill>
                  <a:srgbClr val="161616"/>
                </a:solidFill>
                <a:latin typeface="Marianne"/>
              </a:rPr>
              <a:t>• </a:t>
            </a:r>
            <a:r>
              <a:rPr sz="1400" b="0" lang="fr-FR">
                <a:solidFill>
                  <a:srgbClr val="161616"/>
                </a:solidFill>
                <a:latin typeface="Marianne"/>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Difficiles à lire pour les dyslexiques</a:t>
            </a:r>
          </a:p>
          <a:p>
            <a:pPr algn="l">
              <a:lnSpc>
                <a:spcPct val="125000"/>
              </a:lnSpc>
            </a:pPr>
            <a:r>
              <a:rPr sz="1400" lang="fr-FR">
                <a:solidFill>
                  <a:srgbClr val="161616"/>
                </a:solidFill>
                <a:latin typeface="Marianne"/>
              </a:rPr>
              <a:t>• </a:t>
            </a:r>
            <a:r>
              <a:rPr sz="1400" b="0" lang="fr-FR">
                <a:solidFill>
                  <a:srgbClr val="161616"/>
                </a:solidFill>
                <a:latin typeface="Marianne"/>
              </a:rPr>
              <a:t>Prononciation ambiguë par les lecteurs d'écran</a:t>
            </a:r>
          </a:p>
          <a:p>
            <a:pPr algn="l">
              <a:lnSpc>
                <a:spcPct val="125000"/>
              </a:lnSpc>
            </a:pPr>
            <a:r>
              <a:rPr sz="1400" lang="fr-FR">
                <a:solidFill>
                  <a:srgbClr val="161616"/>
                </a:solidFill>
                <a:latin typeface="Marianne"/>
              </a:rPr>
              <a:t>• </a:t>
            </a:r>
            <a:r>
              <a:rPr sz="1400" b="0" lang="fr-FR">
                <a:solidFill>
                  <a:srgbClr val="161616"/>
                </a:solidFill>
                <a:latin typeface="Marianne"/>
              </a:rPr>
              <a:t>Solution : minuscules d'abord, puis Police &gt; Modifier la casse</a:t>
            </a:r>
          </a:p>
        </p:txBody>
      </p:sp>
      <p:sp>
        <p:nvSpPr>
          <p:cNvPr id="17" name="DSFR-box"/>
          <p:cNvSpPr/>
          <p:nvPr/>
        </p:nvSpPr>
        <p:spPr>
          <a:xfrm>
            <a:off x="6313931" y="4160520"/>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Lisibilité</a:t>
            </a:r>
          </a:p>
        </p:txBody>
      </p:sp>
      <p:sp>
        <p:nvSpPr>
          <p:cNvPr id="19" name="DSFR-callout-body"/>
          <p:cNvSpPr txBox="1"/>
          <p:nvPr/>
        </p:nvSpPr>
        <p:spPr>
          <a:xfrm>
            <a:off x="6469379" y="4663440"/>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Police sans serif, 12 pt minimum</a:t>
            </a:r>
          </a:p>
          <a:p>
            <a:pPr algn="l">
              <a:lnSpc>
                <a:spcPct val="120000"/>
              </a:lnSpc>
            </a:pPr>
            <a:r>
              <a:rPr sz="1400" lang="fr-FR">
                <a:solidFill>
                  <a:srgbClr val="161616"/>
                </a:solidFill>
                <a:latin typeface="Marianne"/>
              </a:rPr>
              <a:t>• </a:t>
            </a:r>
            <a:r>
              <a:rPr sz="1400" b="0" lang="fr-FR">
                <a:solidFill>
                  <a:srgbClr val="161616"/>
                </a:solidFill>
                <a:latin typeface="Marianne"/>
              </a:rPr>
              <a:t>Interligne 1,15, paragraphes aérés</a:t>
            </a:r>
          </a:p>
          <a:p>
            <a:pPr algn="l">
              <a:lnSpc>
                <a:spcPct val="120000"/>
              </a:lnSpc>
            </a:pPr>
            <a:r>
              <a:rPr sz="1400" lang="fr-FR">
                <a:solidFill>
                  <a:srgbClr val="161616"/>
                </a:solidFill>
                <a:latin typeface="Marianne"/>
              </a:rPr>
              <a:t>• </a:t>
            </a:r>
            <a:r>
              <a:rPr sz="1400" b="0" lang="fr-FR">
                <a:solidFill>
                  <a:srgbClr val="161616"/>
                </a:solidFill>
                <a:latin typeface="Marianne"/>
              </a:rPr>
              <a:t>Alignement à gauche, pas de justification</a:t>
            </a:r>
          </a:p>
          <a:p>
            <a:pPr algn="l">
              <a:lnSpc>
                <a:spcPct val="120000"/>
              </a:lnSpc>
            </a:pPr>
            <a:r>
              <a:rPr sz="1400" lang="fr-FR">
                <a:solidFill>
                  <a:srgbClr val="161616"/>
                </a:solidFill>
                <a:latin typeface="Marianne"/>
              </a:rPr>
              <a:t>• </a:t>
            </a:r>
            <a:r>
              <a:rPr sz="1400" b="0" lang="fr-FR">
                <a:solidFill>
                  <a:srgbClr val="161616"/>
                </a:solidFill>
                <a:latin typeface="Marianne"/>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61</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Points = espaces successifs &gt; supprimer et ne garder qu'un seul espace</a:t>
            </a:r>
          </a:p>
          <a:p>
            <a:pPr algn="l">
              <a:lnSpc>
                <a:spcPct val="125000"/>
              </a:lnSpc>
            </a:pPr>
            <a:r>
              <a:rPr sz="1400" lang="fr-FR">
                <a:solidFill>
                  <a:srgbClr val="161616"/>
                </a:solidFill>
                <a:latin typeface="Marianne"/>
              </a:rPr>
              <a:t>• </a:t>
            </a:r>
            <a:r>
              <a:rPr sz="1400" b="0" lang="fr-FR">
                <a:solidFill>
                  <a:srgbClr val="161616"/>
                </a:solidFill>
                <a:latin typeface="Marianne"/>
              </a:rPr>
              <a:t>Flèches = tabulations utilisées pour simuler une mise en page</a:t>
            </a:r>
          </a:p>
          <a:p>
            <a:pPr algn="l">
              <a:lnSpc>
                <a:spcPct val="125000"/>
              </a:lnSpc>
            </a:pPr>
            <a:r>
              <a:rPr sz="1400" lang="fr-FR">
                <a:solidFill>
                  <a:srgbClr val="161616"/>
                </a:solidFill>
                <a:latin typeface="Marianne"/>
              </a:rPr>
              <a:t>• </a:t>
            </a:r>
            <a:r>
              <a:rPr sz="1400" b="0" lang="fr-FR">
                <a:solidFill>
                  <a:srgbClr val="161616"/>
                </a:solidFill>
                <a:latin typeface="Marianne"/>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Animations, GIF avec flashs, vidéos à plus de 3 Hz : interdits sans exception</a:t>
            </a:r>
          </a:p>
          <a:p>
            <a:pPr algn="l">
              <a:lnSpc>
                <a:spcPct val="150000"/>
              </a:lnSpc>
            </a:pPr>
            <a:r>
              <a:rPr sz="1400" lang="fr-FR">
                <a:solidFill>
                  <a:srgbClr val="161616"/>
                </a:solidFill>
                <a:latin typeface="Marianne"/>
              </a:rPr>
              <a:t>• </a:t>
            </a:r>
            <a:r>
              <a:rPr sz="1400" b="0" lang="fr-FR">
                <a:solidFill>
                  <a:srgbClr val="161616"/>
                </a:solidFill>
                <a:latin typeface="Marianne"/>
              </a:rPr>
              <a:t>Risque de crise d'épilepsie photosensible</a:t>
            </a:r>
          </a:p>
          <a:p>
            <a:pPr algn="l">
              <a:lnSpc>
                <a:spcPct val="150000"/>
              </a:lnSpc>
            </a:pPr>
            <a:r>
              <a:rPr sz="1400" lang="fr-FR">
                <a:solidFill>
                  <a:srgbClr val="161616"/>
                </a:solidFill>
                <a:latin typeface="Marianne"/>
              </a:rPr>
              <a:t>• </a:t>
            </a:r>
            <a:r>
              <a:rPr sz="1400" b="0" lang="fr-FR">
                <a:solidFill>
                  <a:srgbClr val="161616"/>
                </a:solidFill>
                <a:latin typeface="Marianne"/>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62</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63</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Il signale ce qu'il peut détecter automatiquement - pas ce qui est vraiment accessible</a:t>
            </a:r>
          </a:p>
          <a:p>
            <a:pPr algn="l">
              <a:lnSpc>
                <a:spcPct val="150000"/>
              </a:lnSpc>
            </a:pPr>
            <a:r>
              <a:rPr sz="1400" lang="fr-FR">
                <a:solidFill>
                  <a:srgbClr val="161616"/>
                </a:solidFill>
                <a:latin typeface="Marianne"/>
              </a:rPr>
              <a:t>• </a:t>
            </a:r>
            <a:r>
              <a:rPr sz="1400" b="0" lang="fr-FR">
                <a:solidFill>
                  <a:srgbClr val="161616"/>
                </a:solidFill>
                <a:latin typeface="Marianne"/>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Propriétés du document</a:t>
            </a:r>
          </a:p>
          <a:p>
            <a:pPr algn="l">
              <a:lnSpc>
                <a:spcPct val="115000"/>
              </a:lnSpc>
            </a:pPr>
            <a:r>
              <a:rPr sz="1400" lang="fr-FR">
                <a:solidFill>
                  <a:srgbClr val="161616"/>
                </a:solidFill>
                <a:latin typeface="Marianne"/>
              </a:rPr>
              <a:t>• </a:t>
            </a:r>
            <a:r>
              <a:rPr sz="1400" b="0" lang="fr-FR">
                <a:solidFill>
                  <a:srgbClr val="161616"/>
                </a:solidFill>
                <a:latin typeface="Marianne"/>
              </a:rPr>
              <a:t>Balises de structure pour l'accessibilité</a:t>
            </a:r>
          </a:p>
          <a:p>
            <a:pPr algn="l">
              <a:lnSpc>
                <a:spcPct val="115000"/>
              </a:lnSpc>
            </a:pPr>
            <a:r>
              <a:rPr sz="1400" lang="fr-FR">
                <a:solidFill>
                  <a:srgbClr val="161616"/>
                </a:solidFill>
                <a:latin typeface="Marianne"/>
              </a:rPr>
              <a:t>• </a:t>
            </a:r>
            <a:r>
              <a:rPr sz="1400" b="0" lang="fr-FR">
                <a:solidFill>
                  <a:srgbClr val="161616"/>
                </a:solidFill>
                <a:latin typeface="Marianne"/>
              </a:rPr>
              <a:t>Créer des signets à l'aide des titres ou en-têtes</a:t>
            </a:r>
          </a:p>
          <a:p>
            <a:pPr algn="l">
              <a:lnSpc>
                <a:spcPct val="115000"/>
              </a:lnSpc>
            </a:pPr>
            <a:r>
              <a:rPr sz="1400" lang="fr-FR">
                <a:solidFill>
                  <a:srgbClr val="161616"/>
                </a:solidFill>
                <a:latin typeface="Marianne"/>
              </a:rPr>
              <a:t>• </a:t>
            </a:r>
            <a:r>
              <a:rPr sz="1400" b="0" lang="fr-FR">
                <a:solidFill>
                  <a:srgbClr val="161616"/>
                </a:solidFill>
                <a:latin typeface="Marianne"/>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65</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Langue : un passage en anglais sans balisage de langue</a:t>
            </a:r>
          </a:p>
          <a:p>
            <a:pPr algn="l">
              <a:lnSpc>
                <a:spcPct val="150000"/>
              </a:lnSpc>
            </a:pPr>
            <a:r>
              <a:rPr sz="1400" lang="fr-FR">
                <a:solidFill>
                  <a:srgbClr val="161616"/>
                </a:solidFill>
                <a:latin typeface="Marianne"/>
              </a:rPr>
              <a:t>• </a:t>
            </a:r>
            <a:r>
              <a:rPr sz="1400" b="0" lang="fr-FR">
                <a:solidFill>
                  <a:srgbClr val="161616"/>
                </a:solidFill>
                <a:latin typeface="Marianne"/>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 sélectionner le passage anglais &gt; Révision &gt; Langue &gt; Définir en anglais</a:t>
            </a:r>
          </a:p>
          <a:p>
            <a:pPr algn="l">
              <a:lnSpc>
                <a:spcPct val="125000"/>
              </a:lnSpc>
            </a:pPr>
            <a:r>
              <a:rPr sz="1400" lang="fr-FR">
                <a:solidFill>
                  <a:srgbClr val="161616"/>
                </a:solidFill>
                <a:latin typeface="Marianne"/>
              </a:rPr>
              <a:t>• </a:t>
            </a:r>
            <a:r>
              <a:rPr sz="1400" b="0" lang="fr-FR">
                <a:solidFill>
                  <a:srgbClr val="161616"/>
                </a:solidFill>
                <a:latin typeface="Marianne"/>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final : saurez-vous trouver les 5 erreurs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collègue vous partage un document Word pour relecture.</a:t>
            </a:r>
          </a:p>
          <a:p>
            <a:r>
              <a:rPr sz="1800" b="1" lang="fr-FR">
                <a:solidFill>
                  <a:srgbClr val="000091"/>
                </a:solidFill>
                <a:latin typeface="Marianne"/>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147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Le titre Introduction est en gras Arial 16 au lieu d'un style de titre</a:t>
            </a:r>
          </a:p>
          <a:p>
            <a:pPr algn="l">
              <a:lnSpc>
                <a:spcPct val="125000"/>
              </a:lnSpc>
            </a:pPr>
            <a:r>
              <a:rPr sz="1400" b="0" lang="fr-FR">
                <a:solidFill>
                  <a:srgbClr val="161616"/>
                </a:solidFill>
                <a:latin typeface="Marianne"/>
              </a:rPr>
              <a:t>2. Un tableau de suivi utilise uniquement des lignes rouges et vertes</a:t>
            </a:r>
          </a:p>
          <a:p>
            <a:pPr algn="l">
              <a:lnSpc>
                <a:spcPct val="125000"/>
              </a:lnSpc>
            </a:pPr>
            <a:r>
              <a:rPr sz="1400" b="0" lang="fr-FR">
                <a:solidFill>
                  <a:srgbClr val="161616"/>
                </a:solidFill>
                <a:latin typeface="Marianne"/>
              </a:rPr>
              <a:t>3. Un lien est rédigé : cliquez ici pour le formulaire</a:t>
            </a:r>
          </a:p>
          <a:p>
            <a:pPr algn="l">
              <a:lnSpc>
                <a:spcPct val="125000"/>
              </a:lnSpc>
            </a:pPr>
            <a:r>
              <a:rPr sz="1400" b="0" lang="fr-FR">
                <a:solidFill>
                  <a:srgbClr val="161616"/>
                </a:solidFill>
                <a:latin typeface="Marianne"/>
              </a:rPr>
              <a:t>4. La langue principale du document n'est pas définie</a:t>
            </a:r>
          </a:p>
          <a:p>
            <a:pPr algn="l">
              <a:lnSpc>
                <a:spcPct val="125000"/>
              </a:lnSpc>
            </a:pPr>
            <a:r>
              <a:rPr sz="1400" b="0" lang="fr-FR">
                <a:solidFill>
                  <a:srgbClr val="161616"/>
                </a:solidFill>
                <a:latin typeface="Marianne"/>
              </a:rPr>
              <a:t>5. Les propriétés du fichier (Titre et Auteur) sont vides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68</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Marianne"/>
              </a:rPr>
              <a:t>• </a:t>
            </a:r>
            <a:r>
              <a:rPr sz="1400" b="1" lang="fr-FR">
                <a:solidFill>
                  <a:srgbClr val="161616"/>
                </a:solidFill>
                <a:latin typeface="Marianne"/>
              </a:rPr>
              <a:t>Structure</a:t>
            </a:r>
            <a:r>
              <a:rPr sz="1400" b="0" lang="fr-FR">
                <a:solidFill>
                  <a:srgbClr val="161616"/>
                </a:solidFill>
                <a:latin typeface="Marianne"/>
              </a:rPr>
              <a:t> : le gras n'est pas reconnu par les lecteurs d'écran - appliquer le style Titre 1</a:t>
            </a:r>
          </a:p>
          <a:p>
            <a:pPr algn="l">
              <a:lnSpc>
                <a:spcPct val="172000"/>
              </a:lnSpc>
            </a:pPr>
            <a:r>
              <a:rPr sz="1400" lang="fr-FR">
                <a:solidFill>
                  <a:srgbClr val="161616"/>
                </a:solidFill>
                <a:latin typeface="Marianne"/>
              </a:rPr>
              <a:t>• </a:t>
            </a:r>
            <a:r>
              <a:rPr sz="1400" b="1" lang="fr-FR">
                <a:solidFill>
                  <a:srgbClr val="161616"/>
                </a:solidFill>
                <a:latin typeface="Marianne"/>
              </a:rPr>
              <a:t>Couleurs</a:t>
            </a:r>
            <a:r>
              <a:rPr sz="1400" b="0" lang="fr-FR">
                <a:solidFill>
                  <a:srgbClr val="161616"/>
                </a:solidFill>
                <a:latin typeface="Marianne"/>
              </a:rPr>
              <a:t> : l'information ne doit pas reposer sur la couleur seule - ajouter les étiquettes Conforme / Non conforme</a:t>
            </a:r>
          </a:p>
          <a:p>
            <a:pPr algn="l">
              <a:lnSpc>
                <a:spcPct val="172000"/>
              </a:lnSpc>
            </a:pPr>
            <a:r>
              <a:rPr sz="1400" lang="fr-FR">
                <a:solidFill>
                  <a:srgbClr val="161616"/>
                </a:solidFill>
                <a:latin typeface="Marianne"/>
              </a:rPr>
              <a:t>• </a:t>
            </a:r>
            <a:r>
              <a:rPr sz="1400" b="1" lang="fr-FR">
                <a:solidFill>
                  <a:srgbClr val="161616"/>
                </a:solidFill>
                <a:latin typeface="Marianne"/>
              </a:rPr>
              <a:t>Contenus</a:t>
            </a:r>
            <a:r>
              <a:rPr sz="1400" b="0" lang="fr-FR">
                <a:solidFill>
                  <a:srgbClr val="161616"/>
                </a:solidFill>
                <a:latin typeface="Marianne"/>
              </a:rPr>
              <a:t> : un lien doit être compréhensible hors contexte - renommer en Accéder au formulaire de demande RH</a:t>
            </a:r>
          </a:p>
          <a:p>
            <a:pPr algn="l">
              <a:lnSpc>
                <a:spcPct val="172000"/>
              </a:lnSpc>
            </a:pPr>
            <a:r>
              <a:rPr sz="1400" lang="fr-FR">
                <a:solidFill>
                  <a:srgbClr val="161616"/>
                </a:solidFill>
                <a:latin typeface="Marianne"/>
              </a:rPr>
              <a:t>• </a:t>
            </a:r>
            <a:r>
              <a:rPr sz="1400" b="1" lang="fr-FR">
                <a:solidFill>
                  <a:srgbClr val="161616"/>
                </a:solidFill>
                <a:latin typeface="Marianne"/>
              </a:rPr>
              <a:t>Langue</a:t>
            </a:r>
            <a:r>
              <a:rPr sz="1400" b="0" lang="fr-FR">
                <a:solidFill>
                  <a:srgbClr val="161616"/>
                </a:solidFill>
                <a:latin typeface="Marianne"/>
              </a:rPr>
              <a:t> : sans déclaration, la synthèse vocale prononce avec le mauvais accent - Révision &gt; Langue &gt; Définir : Français</a:t>
            </a:r>
          </a:p>
          <a:p>
            <a:pPr algn="l">
              <a:lnSpc>
                <a:spcPct val="172000"/>
              </a:lnSpc>
            </a:pPr>
            <a:r>
              <a:rPr sz="1400" lang="fr-FR">
                <a:solidFill>
                  <a:srgbClr val="161616"/>
                </a:solidFill>
                <a:latin typeface="Marianne"/>
              </a:rPr>
              <a:t>• </a:t>
            </a:r>
            <a:r>
              <a:rPr sz="1400" b="1" lang="fr-FR">
                <a:solidFill>
                  <a:srgbClr val="161616"/>
                </a:solidFill>
                <a:latin typeface="Marianne"/>
              </a:rPr>
              <a:t>Finalisation</a:t>
            </a:r>
            <a:r>
              <a:rPr sz="1400" b="0" lang="fr-FR">
                <a:solidFill>
                  <a:srgbClr val="161616"/>
                </a:solidFill>
                <a:latin typeface="Marianne"/>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69</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 : les réponses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70</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Utiliser les styles de titre (Titre 1, Titre 2) pour structurer le document</a:t>
            </a:r>
          </a:p>
          <a:p>
            <a:pPr algn="l">
              <a:lnSpc>
                <a:spcPct val="125000"/>
              </a:lnSpc>
            </a:pPr>
            <a:r>
              <a:rPr sz="1400" b="0" lang="fr-FR">
                <a:solidFill>
                  <a:srgbClr val="161616"/>
                </a:solidFill>
                <a:latin typeface="Marianne"/>
              </a:rPr>
              <a:t>2. Lancer le vérificateur d'accessibilité (Révision &gt; Vérifier l'accessibilité)</a:t>
            </a:r>
          </a:p>
          <a:p>
            <a:pPr algn="l">
              <a:lnSpc>
                <a:spcPct val="125000"/>
              </a:lnSpc>
            </a:pPr>
            <a:r>
              <a:rPr sz="1400" b="0" lang="fr-FR">
                <a:solidFill>
                  <a:srgbClr val="161616"/>
                </a:solidFill>
                <a:latin typeface="Marianne"/>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4306824"/>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avez ces réflexes ? L'essentiel est acquis.</a:t>
            </a:r>
          </a:p>
          <a:p>
            <a:r>
              <a:rPr sz="1800" b="1" lang="fr-FR">
                <a:solidFill>
                  <a:srgbClr val="000091"/>
                </a:solidFill>
                <a:latin typeface="Marianne"/>
              </a:rPr>
              <a:t>Sinon : relisez Structure et Contenus.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Dès demain, vos trois premiers réflexes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71</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Ctrl+F &gt; onglet Titres</a:t>
            </a:r>
          </a:p>
        </p:txBody>
      </p:sp>
      <p:sp>
        <p:nvSpPr>
          <p:cNvPr id="12" name="DSFR-card-contenu"/>
          <p:cNvSpPr txBox="1"/>
          <p:nvPr/>
        </p:nvSpPr>
        <p:spPr>
          <a:xfrm>
            <a:off x="704088"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Vérifier que tous les titres apparaissent dans le volet de navigation</a:t>
            </a:r>
          </a:p>
          <a:p>
            <a:pPr algn="l">
              <a:lnSpc>
                <a:spcPct val="150000"/>
              </a:lnSpc>
            </a:pPr>
            <a:r>
              <a:rPr sz="1400" lang="fr-FR">
                <a:solidFill>
                  <a:srgbClr val="161616"/>
                </a:solidFill>
                <a:latin typeface="Marianne"/>
              </a:rPr>
              <a:t>• </a:t>
            </a:r>
            <a:r>
              <a:rPr sz="1400" b="0" lang="fr-FR">
                <a:solidFill>
                  <a:srgbClr val="161616"/>
                </a:solidFill>
                <a:latin typeface="Marianne"/>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Clic droit &gt; Texte de remplacement</a:t>
            </a:r>
          </a:p>
        </p:txBody>
      </p:sp>
      <p:sp>
        <p:nvSpPr>
          <p:cNvPr id="17" name="DSFR-card-contenu"/>
          <p:cNvSpPr txBox="1"/>
          <p:nvPr/>
        </p:nvSpPr>
        <p:spPr>
          <a:xfrm>
            <a:off x="4547615"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la fonction de chaque image</a:t>
            </a:r>
          </a:p>
          <a:p>
            <a:pPr algn="l">
              <a:lnSpc>
                <a:spcPct val="150000"/>
              </a:lnSpc>
            </a:pPr>
            <a:r>
              <a:rPr sz="1400" lang="fr-FR">
                <a:solidFill>
                  <a:srgbClr val="161616"/>
                </a:solidFill>
                <a:latin typeface="Marianne"/>
              </a:rPr>
              <a:t>• </a:t>
            </a:r>
            <a:r>
              <a:rPr sz="1400" b="0" lang="fr-FR">
                <a:solidFill>
                  <a:srgbClr val="161616"/>
                </a:solidFill>
                <a:latin typeface="Marianne"/>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Fichier &gt; Vérifier l'accessibilité</a:t>
            </a:r>
          </a:p>
        </p:txBody>
      </p:sp>
      <p:sp>
        <p:nvSpPr>
          <p:cNvPr id="22" name="DSFR-card-contenu"/>
          <p:cNvSpPr txBox="1"/>
          <p:nvPr/>
        </p:nvSpPr>
        <p:spPr>
          <a:xfrm>
            <a:off x="8391144"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Corriger les erreurs avant d'envoyer</a:t>
            </a:r>
          </a:p>
          <a:p>
            <a:pPr algn="l">
              <a:lnSpc>
                <a:spcPct val="150000"/>
              </a:lnSpc>
            </a:pPr>
            <a:r>
              <a:rPr sz="1400" lang="fr-FR">
                <a:solidFill>
                  <a:srgbClr val="161616"/>
                </a:solidFill>
                <a:latin typeface="Marianne"/>
              </a:rPr>
              <a:t>• </a:t>
            </a:r>
            <a:r>
              <a:rPr sz="1400" b="0" lang="fr-FR">
                <a:solidFill>
                  <a:srgbClr val="161616"/>
                </a:solidFill>
                <a:latin typeface="Marianne"/>
              </a:rPr>
              <a:t>Zéro erreur = premier filtre passé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72</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Titres avec styles intégrés (pas du gras manuel)</a:t>
            </a:r>
          </a:p>
          <a:p>
            <a:pPr algn="l">
              <a:lnSpc>
                <a:spcPct val="150000"/>
              </a:lnSpc>
            </a:pPr>
            <a:r>
              <a:rPr sz="1800" b="1" lang="fr-FR">
                <a:solidFill>
                  <a:srgbClr val="000091"/>
                </a:solidFill>
                <a:latin typeface="Marianne"/>
              </a:rPr>
              <a:t>☐  </a:t>
            </a:r>
            <a:r>
              <a:rPr sz="1400" lang="fr-FR">
                <a:solidFill>
                  <a:srgbClr val="161616"/>
                </a:solidFill>
                <a:latin typeface="Marianne"/>
              </a:rPr>
              <a:t>Hiérarchie des titres cohérente (H1, H2, H3)</a:t>
            </a:r>
          </a:p>
          <a:p>
            <a:pPr algn="l">
              <a:lnSpc>
                <a:spcPct val="150000"/>
              </a:lnSpc>
            </a:pPr>
            <a:r>
              <a:rPr sz="1800" b="1" lang="fr-FR">
                <a:solidFill>
                  <a:srgbClr val="000091"/>
                </a:solidFill>
                <a:latin typeface="Marianne"/>
              </a:rPr>
              <a:t>☐  </a:t>
            </a:r>
            <a:r>
              <a:rPr sz="1400" lang="fr-FR">
                <a:solidFill>
                  <a:srgbClr val="161616"/>
                </a:solidFill>
                <a:latin typeface="Marianne"/>
              </a:rPr>
              <a:t>Texte alternatif sur images / décoratifs marqués</a:t>
            </a:r>
          </a:p>
          <a:p>
            <a:pPr algn="l">
              <a:lnSpc>
                <a:spcPct val="150000"/>
              </a:lnSpc>
            </a:pPr>
            <a:r>
              <a:rPr sz="1800" b="1" lang="fr-FR">
                <a:solidFill>
                  <a:srgbClr val="000091"/>
                </a:solidFill>
                <a:latin typeface="Marianne"/>
              </a:rPr>
              <a:t>☐  </a:t>
            </a:r>
            <a:r>
              <a:rPr sz="1400" lang="fr-FR">
                <a:solidFill>
                  <a:srgbClr val="161616"/>
                </a:solidFill>
                <a:latin typeface="Marianne"/>
              </a:rPr>
              <a:t>Tableaux de données avec ligne d'en-tête</a:t>
            </a:r>
          </a:p>
          <a:p>
            <a:pPr algn="l">
              <a:lnSpc>
                <a:spcPct val="150000"/>
              </a:lnSpc>
            </a:pPr>
            <a:r>
              <a:rPr sz="1800" b="1" lang="fr-FR">
                <a:solidFill>
                  <a:srgbClr val="000091"/>
                </a:solidFill>
                <a:latin typeface="Marianne"/>
              </a:rPr>
              <a:t>☐  </a:t>
            </a:r>
            <a:r>
              <a:rPr sz="1400" lang="fr-FR">
                <a:solidFill>
                  <a:srgbClr val="161616"/>
                </a:solidFill>
                <a:latin typeface="Marianne"/>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73</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Liens descriptifs (pas cliquez ici)</a:t>
            </a:r>
          </a:p>
          <a:p>
            <a:pPr algn="l">
              <a:lnSpc>
                <a:spcPct val="150000"/>
              </a:lnSpc>
            </a:pPr>
            <a:r>
              <a:rPr sz="1800" b="1" lang="fr-FR">
                <a:solidFill>
                  <a:srgbClr val="000091"/>
                </a:solidFill>
                <a:latin typeface="Marianne"/>
              </a:rPr>
              <a:t>☐  </a:t>
            </a:r>
            <a:r>
              <a:rPr sz="1400" lang="fr-FR">
                <a:solidFill>
                  <a:srgbClr val="161616"/>
                </a:solidFill>
                <a:latin typeface="Marianne"/>
              </a:rPr>
              <a:t>Passages en langue étrangère balisés</a:t>
            </a:r>
          </a:p>
          <a:p>
            <a:pPr algn="l">
              <a:lnSpc>
                <a:spcPct val="150000"/>
              </a:lnSpc>
            </a:pPr>
            <a:r>
              <a:rPr sz="1800" b="1" lang="fr-FR">
                <a:solidFill>
                  <a:srgbClr val="000091"/>
                </a:solidFill>
                <a:latin typeface="Marianne"/>
              </a:rPr>
              <a:t>☐  </a:t>
            </a:r>
            <a:r>
              <a:rPr sz="1400" lang="fr-FR">
                <a:solidFill>
                  <a:srgbClr val="161616"/>
                </a:solidFill>
                <a:latin typeface="Marianne"/>
              </a:rPr>
              <a:t>Contraste &gt;= 4,5:1 texte standard, &gt;= 3:1 grand texte</a:t>
            </a:r>
          </a:p>
          <a:p>
            <a:pPr algn="l">
              <a:lnSpc>
                <a:spcPct val="150000"/>
              </a:lnSpc>
            </a:pPr>
            <a:r>
              <a:rPr sz="1800" b="1" lang="fr-FR">
                <a:solidFill>
                  <a:srgbClr val="000091"/>
                </a:solidFill>
                <a:latin typeface="Marianne"/>
              </a:rPr>
              <a:t>☐  </a:t>
            </a:r>
            <a:r>
              <a:rPr sz="1400" lang="fr-FR">
                <a:solidFill>
                  <a:srgbClr val="161616"/>
                </a:solidFill>
                <a:latin typeface="Marianne"/>
              </a:rPr>
              <a:t>Couleur doublée en texte</a:t>
            </a:r>
          </a:p>
          <a:p>
            <a:pPr algn="l">
              <a:lnSpc>
                <a:spcPct val="150000"/>
              </a:lnSpc>
            </a:pPr>
            <a:r>
              <a:rPr sz="1800" b="1" lang="fr-FR">
                <a:solidFill>
                  <a:srgbClr val="000091"/>
                </a:solidFill>
                <a:latin typeface="Marianne"/>
              </a:rPr>
              <a:t>☐  </a:t>
            </a:r>
            <a:r>
              <a:rPr sz="1400" lang="fr-FR">
                <a:solidFill>
                  <a:srgbClr val="161616"/>
                </a:solidFill>
                <a:latin typeface="Marianne"/>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74</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Aucun objet clignotant</a:t>
            </a:r>
          </a:p>
          <a:p>
            <a:pPr algn="l">
              <a:lnSpc>
                <a:spcPct val="150000"/>
              </a:lnSpc>
            </a:pPr>
            <a:r>
              <a:rPr sz="1800" b="1" lang="fr-FR">
                <a:solidFill>
                  <a:srgbClr val="000091"/>
                </a:solidFill>
                <a:latin typeface="Marianne"/>
              </a:rPr>
              <a:t>☐  </a:t>
            </a:r>
            <a:r>
              <a:rPr sz="1400" lang="fr-FR">
                <a:solidFill>
                  <a:srgbClr val="161616"/>
                </a:solidFill>
                <a:latin typeface="Marianne"/>
              </a:rPr>
              <a:t>Document non protégé</a:t>
            </a:r>
          </a:p>
          <a:p>
            <a:pPr algn="l">
              <a:lnSpc>
                <a:spcPct val="150000"/>
              </a:lnSpc>
            </a:pPr>
            <a:r>
              <a:rPr sz="1800" b="1" lang="fr-FR">
                <a:solidFill>
                  <a:srgbClr val="000091"/>
                </a:solidFill>
                <a:latin typeface="Marianne"/>
              </a:rPr>
              <a:t>☐  </a:t>
            </a:r>
            <a:r>
              <a:rPr sz="1400" lang="fr-FR">
                <a:solidFill>
                  <a:srgbClr val="161616"/>
                </a:solidFill>
                <a:latin typeface="Marianne"/>
              </a:rPr>
              <a:t>Langue principale balisée</a:t>
            </a:r>
          </a:p>
          <a:p>
            <a:pPr algn="l">
              <a:lnSpc>
                <a:spcPct val="150000"/>
              </a:lnSpc>
            </a:pPr>
            <a:r>
              <a:rPr sz="1800" b="1" lang="fr-FR">
                <a:solidFill>
                  <a:srgbClr val="000091"/>
                </a:solidFill>
                <a:latin typeface="Marianne"/>
              </a:rPr>
              <a:t>☐  </a:t>
            </a:r>
            <a:r>
              <a:rPr sz="1400" lang="fr-FR">
                <a:solidFill>
                  <a:srgbClr val="161616"/>
                </a:solidFill>
                <a:latin typeface="Marianne"/>
              </a:rPr>
              <a:t>Fichier .docx + nom descriptif</a:t>
            </a:r>
          </a:p>
          <a:p>
            <a:pPr algn="l">
              <a:lnSpc>
                <a:spcPct val="150000"/>
              </a:lnSpc>
            </a:pPr>
            <a:r>
              <a:rPr sz="1800" b="1" lang="fr-FR">
                <a:solidFill>
                  <a:srgbClr val="000091"/>
                </a:solidFill>
                <a:latin typeface="Marianne"/>
              </a:rPr>
              <a:t>☐  </a:t>
            </a:r>
            <a:r>
              <a:rPr sz="1400" lang="fr-FR">
                <a:solidFill>
                  <a:srgbClr val="161616"/>
                </a:solidFill>
                <a:latin typeface="Marianne"/>
              </a:rPr>
              <a:t>Vérificateur d'accessibilité sans erreur résiduelle</a:t>
            </a:r>
          </a:p>
          <a:p>
            <a:pPr algn="l">
              <a:lnSpc>
                <a:spcPct val="150000"/>
              </a:lnSpc>
            </a:pPr>
            <a:r>
              <a:rPr sz="1800" b="1" lang="fr-FR">
                <a:solidFill>
                  <a:srgbClr val="000091"/>
                </a:solidFill>
                <a:latin typeface="Marianne"/>
              </a:rPr>
              <a:t>☐  </a:t>
            </a:r>
            <a:r>
              <a:rPr sz="1400" lang="fr-FR">
                <a:solidFill>
                  <a:srgbClr val="161616"/>
                </a:solidFill>
                <a:latin typeface="Marianne"/>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75</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Pas de zones de texte flottantes</a:t>
            </a:r>
          </a:p>
          <a:p>
            <a:pPr algn="l">
              <a:lnSpc>
                <a:spcPct val="150000"/>
              </a:lnSpc>
            </a:pPr>
            <a:r>
              <a:rPr sz="1800" b="1" lang="fr-FR">
                <a:solidFill>
                  <a:srgbClr val="000091"/>
                </a:solidFill>
                <a:latin typeface="Marianne"/>
              </a:rPr>
              <a:t>☐  </a:t>
            </a:r>
            <a:r>
              <a:rPr sz="1400" lang="fr-FR">
                <a:solidFill>
                  <a:srgbClr val="161616"/>
                </a:solidFill>
                <a:latin typeface="Marianne"/>
              </a:rPr>
              <a:t>Sauts de page propres (pas de retours à la ligne)</a:t>
            </a:r>
          </a:p>
          <a:p>
            <a:pPr algn="l">
              <a:lnSpc>
                <a:spcPct val="150000"/>
              </a:lnSpc>
            </a:pPr>
            <a:r>
              <a:rPr sz="1800" b="1" lang="fr-FR">
                <a:solidFill>
                  <a:srgbClr val="000091"/>
                </a:solidFill>
                <a:latin typeface="Marianne"/>
              </a:rPr>
              <a:t>☐  </a:t>
            </a:r>
            <a:r>
              <a:rPr sz="1400" lang="fr-FR">
                <a:solidFill>
                  <a:srgbClr val="161616"/>
                </a:solidFill>
                <a:latin typeface="Marianne"/>
              </a:rPr>
              <a:t>Colonnes intégrées (pas de tabulations)</a:t>
            </a:r>
          </a:p>
          <a:p>
            <a:pPr algn="l">
              <a:lnSpc>
                <a:spcPct val="150000"/>
              </a:lnSpc>
            </a:pPr>
            <a:r>
              <a:rPr sz="1800" b="1" lang="fr-FR">
                <a:solidFill>
                  <a:srgbClr val="000091"/>
                </a:solidFill>
                <a:latin typeface="Marianne"/>
              </a:rPr>
              <a:t>☐  </a:t>
            </a:r>
            <a:r>
              <a:rPr sz="1400" lang="fr-FR">
                <a:solidFill>
                  <a:srgbClr val="161616"/>
                </a:solidFill>
                <a:latin typeface="Marianne"/>
              </a:rPr>
              <a:t>Tableaux de mise en page avec habillage Aucun</a:t>
            </a:r>
          </a:p>
          <a:p>
            <a:pPr algn="l">
              <a:lnSpc>
                <a:spcPct val="150000"/>
              </a:lnSpc>
            </a:pPr>
            <a:r>
              <a:rPr sz="1800" b="1" lang="fr-FR">
                <a:solidFill>
                  <a:srgbClr val="000091"/>
                </a:solidFill>
                <a:latin typeface="Marianne"/>
              </a:rPr>
              <a:t>☐  </a:t>
            </a:r>
            <a:r>
              <a:rPr sz="1400" lang="fr-FR">
                <a:solidFill>
                  <a:srgbClr val="161616"/>
                </a:solidFill>
                <a:latin typeface="Marianne"/>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À vous de jouer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J+7</a:t>
            </a:r>
          </a:p>
        </p:txBody>
      </p:sp>
      <p:sp>
        <p:nvSpPr>
          <p:cNvPr id="14" name="DSFR-card-contenu"/>
          <p:cNvSpPr txBox="1"/>
          <p:nvPr/>
        </p:nvSpPr>
        <p:spPr>
          <a:xfrm>
            <a:off x="704088"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Refaites le quiz final sans rouvrir ce support</a:t>
            </a:r>
          </a:p>
          <a:p>
            <a:pPr algn="l">
              <a:lnSpc>
                <a:spcPct val="150000"/>
              </a:lnSpc>
            </a:pPr>
            <a:r>
              <a:rPr sz="1400" lang="fr-FR">
                <a:solidFill>
                  <a:srgbClr val="161616"/>
                </a:solidFill>
                <a:latin typeface="Marianne"/>
              </a:rPr>
              <a:t>• </a:t>
            </a:r>
            <a:r>
              <a:rPr sz="1400" b="0" lang="fr-FR">
                <a:solidFill>
                  <a:srgbClr val="161616"/>
                </a:solidFill>
                <a:latin typeface="Marianne"/>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J+30</a:t>
            </a:r>
          </a:p>
        </p:txBody>
      </p:sp>
      <p:sp>
        <p:nvSpPr>
          <p:cNvPr id="18" name="DSFR-card-contenu"/>
          <p:cNvSpPr txBox="1"/>
          <p:nvPr/>
        </p:nvSpPr>
        <p:spPr>
          <a:xfrm>
            <a:off x="4547615"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un vrai document Word</a:t>
            </a:r>
          </a:p>
          <a:p>
            <a:pPr algn="l">
              <a:lnSpc>
                <a:spcPct val="150000"/>
              </a:lnSpc>
            </a:pPr>
            <a:r>
              <a:rPr sz="1400" lang="fr-FR">
                <a:solidFill>
                  <a:srgbClr val="161616"/>
                </a:solidFill>
                <a:latin typeface="Marianne"/>
              </a:rPr>
              <a:t>• </a:t>
            </a:r>
            <a:r>
              <a:rPr sz="1400" b="0" lang="fr-FR">
                <a:solidFill>
                  <a:srgbClr val="161616"/>
                </a:solidFill>
                <a:latin typeface="Marianne"/>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6 mois</a:t>
            </a:r>
          </a:p>
        </p:txBody>
      </p:sp>
      <p:sp>
        <p:nvSpPr>
          <p:cNvPr id="22" name="DSFR-card-contenu"/>
          <p:cNvSpPr txBox="1"/>
          <p:nvPr/>
        </p:nvSpPr>
        <p:spPr>
          <a:xfrm>
            <a:off x="8391144"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Styles de titre, texte alt, vérificateur avant envoi</a:t>
            </a:r>
          </a:p>
          <a:p>
            <a:pPr algn="l">
              <a:lnSpc>
                <a:spcPct val="150000"/>
              </a:lnSpc>
            </a:pPr>
            <a:r>
              <a:rPr sz="1400" lang="fr-FR">
                <a:solidFill>
                  <a:srgbClr val="161616"/>
                </a:solidFill>
                <a:latin typeface="Marianne"/>
              </a:rPr>
              <a:t>• </a:t>
            </a:r>
            <a:r>
              <a:rPr sz="1400" b="0" lang="fr-FR">
                <a:solidFill>
                  <a:srgbClr val="161616"/>
                </a:solidFill>
                <a:latin typeface="Marianne"/>
              </a:rPr>
              <a:t>Si c'est automatique : les réflexes sont installés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77</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3. Les 13 points de contrôle rapides du W3C</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points de contrôle rapides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78</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WebAIM analyse automatiquement les pages d’accueil : c’est un thermomètre, pas un audit RGAA complet.</a:t>
            </a:r>
          </a:p>
          <a:p>
            <a:pPr algn="l">
              <a:lnSpc>
                <a:spcPct val="115000"/>
              </a:lnSpc>
            </a:pPr>
            <a:r>
              <a:rPr sz="1400" lang="fr-FR">
                <a:solidFill>
                  <a:srgbClr val="161616"/>
                </a:solidFill>
                <a:latin typeface="Marianne"/>
              </a:rPr>
              <a:t>• </a:t>
            </a:r>
            <a:r>
              <a:rPr sz="1400" b="0" lang="fr-FR">
                <a:solidFill>
                  <a:srgbClr val="161616"/>
                </a:solidFill>
                <a:latin typeface="Marianne"/>
              </a:rPr>
              <a:t>L’absence d’erreur détectée ne prouve pas qu’une page est accessible.</a:t>
            </a:r>
          </a:p>
          <a:p>
            <a:pPr algn="l">
              <a:lnSpc>
                <a:spcPct val="115000"/>
              </a:lnSpc>
            </a:pPr>
            <a:r>
              <a:rPr sz="1400" lang="fr-FR">
                <a:solidFill>
                  <a:srgbClr val="161616"/>
                </a:solidFill>
                <a:latin typeface="Marianne"/>
              </a:rPr>
              <a:t>• </a:t>
            </a:r>
            <a:r>
              <a:rPr sz="1400" b="0" lang="fr-FR">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79</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Marianne"/>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Marianne"/>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a:t>
                      </a:r>
                    </a:p>
                  </a:txBody>
                  <a:tcPr marL="91440" marR="91440" marT="45720" marB="45720">
                    <a:solidFill>
                      <a:srgbClr val="F5F5FE"/>
                    </a:solidFill>
                  </a:tcPr>
                </a:tc>
              </a:tr>
            </a:tbl>
          </a:graphicData>
        </a:graphic>
      </p:graphicFrame>
      <p:sp>
        <p:nvSpPr>
          <p:cNvPr id="10" name="DSFR-box"/>
          <p:cNvSpPr/>
          <p:nvPr/>
        </p:nvSpPr>
        <p:spPr>
          <a:xfrm>
            <a:off x="548640" y="4824374"/>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91581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retenir</a:t>
            </a:r>
          </a:p>
        </p:txBody>
      </p:sp>
      <p:sp>
        <p:nvSpPr>
          <p:cNvPr id="12" name="DSFR-callout-body"/>
          <p:cNvSpPr txBox="1"/>
          <p:nvPr/>
        </p:nvSpPr>
        <p:spPr>
          <a:xfrm>
            <a:off x="704088" y="532729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Ces six familles représentent 96 % des erreurs détectées par WebAIM.</a:t>
            </a:r>
          </a:p>
          <a:p>
            <a:pPr algn="l">
              <a:lnSpc>
                <a:spcPct val="115000"/>
              </a:lnSpc>
            </a:pPr>
            <a:r>
              <a:rPr sz="1400" lang="fr-FR">
                <a:solidFill>
                  <a:srgbClr val="161616"/>
                </a:solidFill>
                <a:latin typeface="Marianne"/>
              </a:rPr>
              <a:t>• </a:t>
            </a:r>
            <a:r>
              <a:rPr sz="1400" b="0" lang="fr-FR">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9" name="DSFR-accent-decoratif" descr=""/>
          <p:cNvSpPr/>
          <p:nvPr/>
        </p:nvSpPr>
        <p:spPr>
          <a:xfrm>
            <a:off x="475488" y="482437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81</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Concis : une phrase courte, centrée sur l’information utile</a:t>
            </a:r>
          </a:p>
          <a:p>
            <a:pPr algn="l">
              <a:lnSpc>
                <a:spcPct val="125000"/>
              </a:lnSpc>
            </a:pPr>
            <a:r>
              <a:rPr sz="1400" lang="fr-FR">
                <a:solidFill>
                  <a:srgbClr val="161616"/>
                </a:solidFill>
                <a:latin typeface="Marianne"/>
              </a:rPr>
              <a:t>• </a:t>
            </a:r>
            <a:r>
              <a:rPr sz="1400" b="0" lang="fr-FR">
                <a:solidFill>
                  <a:srgbClr val="161616"/>
                </a:solidFill>
                <a:latin typeface="Marianne"/>
              </a:rPr>
              <a:t>Objectif : décrit, ne commente pas</a:t>
            </a:r>
          </a:p>
          <a:p>
            <a:pPr algn="l">
              <a:lnSpc>
                <a:spcPct val="125000"/>
              </a:lnSpc>
            </a:pPr>
            <a:r>
              <a:rPr sz="1400" lang="fr-FR">
                <a:solidFill>
                  <a:srgbClr val="161616"/>
                </a:solidFill>
                <a:latin typeface="Marianne"/>
              </a:rPr>
              <a:t>• </a:t>
            </a:r>
            <a:r>
              <a:rPr sz="1400" b="0" lang="fr-FR">
                <a:solidFill>
                  <a:srgbClr val="161616"/>
                </a:solidFill>
                <a:latin typeface="Marianne"/>
              </a:rPr>
              <a:t>Pas de « photo de » ni « image de » - le lecteur d’écran le dit déjà</a:t>
            </a:r>
          </a:p>
          <a:p>
            <a:pPr algn="l">
              <a:lnSpc>
                <a:spcPct val="125000"/>
              </a:lnSpc>
            </a:pPr>
            <a:r>
              <a:rPr sz="1400" lang="fr-FR">
                <a:solidFill>
                  <a:srgbClr val="161616"/>
                </a:solidFill>
                <a:latin typeface="Marianne"/>
              </a:rPr>
              <a:t>• </a:t>
            </a:r>
            <a:r>
              <a:rPr sz="1400" b="0" lang="fr-FR">
                <a:solidFill>
                  <a:srgbClr val="161616"/>
                </a:solidFill>
                <a:latin typeface="Marianne"/>
              </a:rPr>
              <a:t>Contextuel : ce qui compte dans cette page, pas tout ce qui est visible</a:t>
            </a:r>
          </a:p>
          <a:p>
            <a:pPr algn="l">
              <a:lnSpc>
                <a:spcPct val="125000"/>
              </a:lnSpc>
            </a:pPr>
            <a:r>
              <a:rPr sz="1400" lang="fr-FR">
                <a:solidFill>
                  <a:srgbClr val="161616"/>
                </a:solidFill>
                <a:latin typeface="Marianne"/>
              </a:rPr>
              <a:t>• </a:t>
            </a:r>
            <a:r>
              <a:rPr sz="1400" b="0" lang="fr-FR">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nom de fichier (IMG_4578.jpg) en guise de texte alternatif = information perdue</a:t>
            </a:r>
          </a:p>
          <a:p>
            <a:pPr algn="l">
              <a:lnSpc>
                <a:spcPct val="150000"/>
              </a:lnSpc>
            </a:pPr>
            <a:r>
              <a:rPr sz="1400" lang="fr-FR">
                <a:solidFill>
                  <a:srgbClr val="161616"/>
                </a:solidFill>
                <a:latin typeface="Marianne"/>
              </a:rPr>
              <a:t>• </a:t>
            </a:r>
            <a:r>
              <a:rPr sz="1400" b="0" lang="fr-FR">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82</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Marianne"/>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page a un titre unique, différent des autres pages du site</a:t>
            </a:r>
          </a:p>
          <a:p>
            <a:pPr algn="l">
              <a:lnSpc>
                <a:spcPct val="125000"/>
              </a:lnSpc>
            </a:pPr>
            <a:r>
              <a:rPr sz="1400" lang="fr-FR">
                <a:solidFill>
                  <a:srgbClr val="161616"/>
                </a:solidFill>
                <a:latin typeface="Marianne"/>
              </a:rPr>
              <a:t>• </a:t>
            </a:r>
            <a:r>
              <a:rPr sz="1400" b="0" lang="fr-FR">
                <a:solidFill>
                  <a:srgbClr val="161616"/>
                </a:solidFill>
                <a:latin typeface="Marianne"/>
              </a:rPr>
              <a:t>Le titre décrit le contenu puis le nom du site (« Déclarer - impots.gouv.fr »)</a:t>
            </a:r>
          </a:p>
          <a:p>
            <a:pPr algn="l">
              <a:lnSpc>
                <a:spcPct val="125000"/>
              </a:lnSpc>
            </a:pPr>
            <a:r>
              <a:rPr sz="1400" lang="fr-FR">
                <a:solidFill>
                  <a:srgbClr val="161616"/>
                </a:solidFill>
                <a:latin typeface="Marianne"/>
              </a:rPr>
              <a:t>• </a:t>
            </a:r>
            <a:r>
              <a:rPr sz="1400" b="0" lang="fr-FR">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OK : « Résultats de recherche : accessibilité - Ministère de la Culture »</a:t>
            </a:r>
          </a:p>
          <a:p>
            <a:pPr algn="l">
              <a:lnSpc>
                <a:spcPct val="150000"/>
              </a:lnSpc>
            </a:pPr>
            <a:r>
              <a:rPr sz="1400" lang="fr-FR">
                <a:solidFill>
                  <a:srgbClr val="161616"/>
                </a:solidFill>
                <a:latin typeface="Marianne"/>
              </a:rPr>
              <a:t>• </a:t>
            </a:r>
            <a:r>
              <a:rPr sz="1400" b="0" lang="fr-FR">
                <a:solidFill>
                  <a:srgbClr val="161616"/>
                </a:solidFill>
                <a:latin typeface="Marianne"/>
              </a:rPr>
              <a:t>KO : « Accueil » sur chaque page du site</a:t>
            </a:r>
          </a:p>
          <a:p>
            <a:pPr algn="l">
              <a:lnSpc>
                <a:spcPct val="150000"/>
              </a:lnSpc>
            </a:pPr>
            <a:r>
              <a:rPr sz="1400" lang="fr-FR">
                <a:solidFill>
                  <a:srgbClr val="161616"/>
                </a:solidFill>
                <a:latin typeface="Marianne"/>
              </a:rPr>
              <a:t>• </a:t>
            </a:r>
            <a:r>
              <a:rPr sz="1400" b="0" lang="fr-FR">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Un seul H1 par page, qui reprend le sujet principal</a:t>
            </a:r>
          </a:p>
          <a:p>
            <a:pPr algn="l">
              <a:lnSpc>
                <a:spcPct val="125000"/>
              </a:lnSpc>
            </a:pPr>
            <a:r>
              <a:rPr sz="1400" lang="fr-FR">
                <a:solidFill>
                  <a:srgbClr val="161616"/>
                </a:solidFill>
                <a:latin typeface="Marianne"/>
              </a:rPr>
              <a:t>• </a:t>
            </a:r>
            <a:r>
              <a:rPr sz="1400" b="0" lang="fr-FR">
                <a:solidFill>
                  <a:srgbClr val="161616"/>
                </a:solidFill>
                <a:latin typeface="Marianne"/>
              </a:rPr>
              <a:t>Les niveaux s’emboîtent sans saut : H1 → H2 → H3, jamais H2 → H4</a:t>
            </a:r>
          </a:p>
          <a:p>
            <a:pPr algn="l">
              <a:lnSpc>
                <a:spcPct val="125000"/>
              </a:lnSpc>
            </a:pPr>
            <a:r>
              <a:rPr sz="1400" lang="fr-FR">
                <a:solidFill>
                  <a:srgbClr val="161616"/>
                </a:solidFill>
                <a:latin typeface="Marianne"/>
              </a:rPr>
              <a:t>• </a:t>
            </a:r>
            <a:r>
              <a:rPr sz="1400" b="0" lang="fr-FR">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85</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Marianne"/>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Marianne"/>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Marianne"/>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Marianne"/>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rapport entre la couleur du texte et celle du fond (ou l’arrière-plan visible)</a:t>
            </a:r>
          </a:p>
          <a:p>
            <a:pPr algn="l">
              <a:lnSpc>
                <a:spcPct val="125000"/>
              </a:lnSpc>
            </a:pPr>
            <a:r>
              <a:rPr sz="1400" lang="fr-FR">
                <a:solidFill>
                  <a:srgbClr val="161616"/>
                </a:solidFill>
                <a:latin typeface="Marianne"/>
              </a:rPr>
              <a:t>• </a:t>
            </a:r>
            <a:r>
              <a:rPr sz="1400" b="0" lang="fr-FR">
                <a:solidFill>
                  <a:srgbClr val="161616"/>
                </a:solidFill>
                <a:latin typeface="Marianne"/>
              </a:rPr>
              <a:t>Sur un dégradé ou une image, mesurer à l’endroit le moins contrasté</a:t>
            </a:r>
          </a:p>
          <a:p>
            <a:pPr algn="l">
              <a:lnSpc>
                <a:spcPct val="125000"/>
              </a:lnSpc>
            </a:pPr>
            <a:r>
              <a:rPr sz="1400" lang="fr-FR">
                <a:solidFill>
                  <a:srgbClr val="161616"/>
                </a:solidFill>
                <a:latin typeface="Marianne"/>
              </a:rPr>
              <a:t>• </a:t>
            </a:r>
            <a:r>
              <a:rPr sz="1400" b="0" lang="fr-FR">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87</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Marianne"/>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Marianne"/>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Marianne"/>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Marianne"/>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Texte gris clair sur fond blanc (#999 sur #FFF) : 2,85:1 - échec même en texte large</a:t>
            </a:r>
          </a:p>
          <a:p>
            <a:pPr algn="l">
              <a:lnSpc>
                <a:spcPct val="150000"/>
              </a:lnSpc>
            </a:pPr>
            <a:r>
              <a:rPr sz="1400" lang="fr-FR">
                <a:solidFill>
                  <a:srgbClr val="161616"/>
                </a:solidFill>
                <a:latin typeface="Marianne"/>
              </a:rPr>
              <a:t>• </a:t>
            </a:r>
            <a:r>
              <a:rPr sz="1400" b="0" lang="fr-FR">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88</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premier lien interactif permet d’aller directement au contenu principal</a:t>
            </a:r>
          </a:p>
          <a:p>
            <a:pPr algn="l">
              <a:lnSpc>
                <a:spcPct val="125000"/>
              </a:lnSpc>
            </a:pPr>
            <a:r>
              <a:rPr sz="1400" lang="fr-FR">
                <a:solidFill>
                  <a:srgbClr val="161616"/>
                </a:solidFill>
                <a:latin typeface="Marianne"/>
              </a:rPr>
              <a:t>• </a:t>
            </a:r>
            <a:r>
              <a:rPr sz="1400" b="0" lang="fr-FR">
                <a:solidFill>
                  <a:srgbClr val="161616"/>
                </a:solidFill>
                <a:latin typeface="Marianne"/>
              </a:rPr>
              <a:t>Il devient visible dès qu’il a le focus, même s’il était masqué</a:t>
            </a:r>
          </a:p>
          <a:p>
            <a:pPr algn="l">
              <a:lnSpc>
                <a:spcPct val="125000"/>
              </a:lnSpc>
            </a:pPr>
            <a:r>
              <a:rPr sz="1400" lang="fr-FR">
                <a:solidFill>
                  <a:srgbClr val="161616"/>
                </a:solidFill>
                <a:latin typeface="Marianne"/>
              </a:rPr>
              <a:t>• </a:t>
            </a:r>
            <a:r>
              <a:rPr sz="1400" b="0" lang="fr-FR">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gouvernement.fr et appuyez Tab : le lien « Contenu » apparaît en haut</a:t>
            </a:r>
          </a:p>
          <a:p>
            <a:pPr algn="l">
              <a:lnSpc>
                <a:spcPct val="150000"/>
              </a:lnSpc>
            </a:pPr>
            <a:r>
              <a:rPr sz="1400" lang="fr-FR">
                <a:solidFill>
                  <a:srgbClr val="161616"/>
                </a:solidFill>
                <a:latin typeface="Marianne"/>
              </a:rPr>
              <a:t>• </a:t>
            </a:r>
            <a:r>
              <a:rPr sz="1400" b="0" lang="fr-FR">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Utiliser 5 touches pour tester n’importe quelle page</a:t>
            </a:r>
          </a:p>
          <a:p>
            <a:pPr algn="l">
              <a:lnSpc>
                <a:spcPct val="125000"/>
              </a:lnSpc>
            </a:pPr>
            <a:r>
              <a:rPr sz="1400" lang="fr-FR">
                <a:solidFill>
                  <a:srgbClr val="161616"/>
                </a:solidFill>
                <a:latin typeface="Marianne"/>
              </a:rPr>
              <a:t>• </a:t>
            </a:r>
            <a:r>
              <a:rPr sz="1400" b="0" lang="fr-FR">
                <a:solidFill>
                  <a:srgbClr val="161616"/>
                </a:solidFill>
                <a:latin typeface="Marianne"/>
              </a:rPr>
              <a:t>Repérer 3 signaux qui trahissent un défaut d’accessibilité</a:t>
            </a:r>
          </a:p>
          <a:p>
            <a:pPr algn="l">
              <a:lnSpc>
                <a:spcPct val="125000"/>
              </a:lnSpc>
            </a:pPr>
            <a:r>
              <a:rPr sz="1400" lang="fr-FR">
                <a:solidFill>
                  <a:srgbClr val="161616"/>
                </a:solidFill>
                <a:latin typeface="Marianne"/>
              </a:rPr>
              <a:t>• </a:t>
            </a:r>
            <a:r>
              <a:rPr sz="1400" b="0" lang="fr-FR">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Marianne"/>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Marianne"/>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91</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focus disparaît</a:t>
            </a:r>
          </a:p>
        </p:txBody>
      </p:sp>
      <p:sp>
        <p:nvSpPr>
          <p:cNvPr id="12" name="DSFR-card-contenu"/>
          <p:cNvSpPr txBox="1"/>
          <p:nvPr/>
        </p:nvSpPr>
        <p:spPr>
          <a:xfrm>
            <a:off x="70408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456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L’ordre est illogique</a:t>
            </a:r>
          </a:p>
        </p:txBody>
      </p:sp>
      <p:sp>
        <p:nvSpPr>
          <p:cNvPr id="17" name="DSFR-card-contenu"/>
          <p:cNvSpPr txBox="1"/>
          <p:nvPr/>
        </p:nvSpPr>
        <p:spPr>
          <a:xfrm>
            <a:off x="454456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8504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L’état n’est pas annoncé</a:t>
            </a:r>
          </a:p>
        </p:txBody>
      </p:sp>
      <p:sp>
        <p:nvSpPr>
          <p:cNvPr id="22" name="DSFR-card-contenu"/>
          <p:cNvSpPr txBox="1"/>
          <p:nvPr/>
        </p:nvSpPr>
        <p:spPr>
          <a:xfrm>
            <a:off x="838504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92</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Cachez votre souris derrière l’écran</a:t>
            </a:r>
          </a:p>
          <a:p>
            <a:pPr algn="l">
              <a:lnSpc>
                <a:spcPct val="125000"/>
              </a:lnSpc>
            </a:pPr>
            <a:r>
              <a:rPr sz="1400" lang="fr-FR">
                <a:solidFill>
                  <a:srgbClr val="161616"/>
                </a:solidFill>
                <a:latin typeface="Marianne"/>
              </a:rPr>
              <a:t>• </a:t>
            </a:r>
            <a:r>
              <a:rPr sz="1400" b="0" lang="fr-FR">
                <a:solidFill>
                  <a:srgbClr val="161616"/>
                </a:solidFill>
                <a:latin typeface="Marianne"/>
              </a:rPr>
              <a:t>Tabulez 10 fois et notez chaque fois que le focus disparaît</a:t>
            </a:r>
          </a:p>
          <a:p>
            <a:pPr algn="l">
              <a:lnSpc>
                <a:spcPct val="125000"/>
              </a:lnSpc>
            </a:pPr>
            <a:r>
              <a:rPr sz="1400" lang="fr-FR">
                <a:solidFill>
                  <a:srgbClr val="161616"/>
                </a:solidFill>
                <a:latin typeface="Marianne"/>
              </a:rPr>
              <a:t>• </a:t>
            </a:r>
            <a:r>
              <a:rPr sz="1400" b="0" lang="fr-FR">
                <a:solidFill>
                  <a:srgbClr val="161616"/>
                </a:solidFill>
                <a:latin typeface="Marianne"/>
              </a:rPr>
              <a:t>Essayez Entrée sur un bouton, Espace sur une case à cocher</a:t>
            </a:r>
          </a:p>
          <a:p>
            <a:pPr algn="l">
              <a:lnSpc>
                <a:spcPct val="125000"/>
              </a:lnSpc>
            </a:pPr>
            <a:r>
              <a:rPr sz="1400" lang="fr-FR">
                <a:solidFill>
                  <a:srgbClr val="161616"/>
                </a:solidFill>
                <a:latin typeface="Marianne"/>
              </a:rPr>
              <a:t>• </a:t>
            </a:r>
            <a:r>
              <a:rPr sz="1400" b="0" lang="fr-FR">
                <a:solidFill>
                  <a:srgbClr val="161616"/>
                </a:solidFill>
                <a:latin typeface="Marianne"/>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signal détecté = vous avez l’œil</a:t>
            </a:r>
          </a:p>
          <a:p>
            <a:pPr algn="l">
              <a:lnSpc>
                <a:spcPct val="150000"/>
              </a:lnSpc>
            </a:pPr>
            <a:r>
              <a:rPr sz="1400" lang="fr-FR">
                <a:solidFill>
                  <a:srgbClr val="161616"/>
                </a:solidFill>
                <a:latin typeface="Marianne"/>
              </a:rPr>
              <a:t>• </a:t>
            </a:r>
            <a:r>
              <a:rPr sz="1400" b="0" lang="fr-FR">
                <a:solidFill>
                  <a:srgbClr val="161616"/>
                </a:solidFill>
                <a:latin typeface="Marianne"/>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93</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 balise &lt;html&gt; porte un attribut lang (ex. lang="fr")</a:t>
            </a:r>
          </a:p>
          <a:p>
            <a:pPr algn="l">
              <a:lnSpc>
                <a:spcPct val="125000"/>
              </a:lnSpc>
            </a:pPr>
            <a:r>
              <a:rPr sz="1400" lang="fr-FR">
                <a:solidFill>
                  <a:srgbClr val="161616"/>
                </a:solidFill>
                <a:latin typeface="Marianne"/>
              </a:rPr>
              <a:t>• </a:t>
            </a:r>
            <a:r>
              <a:rPr sz="1400" b="0" lang="fr-FR">
                <a:solidFill>
                  <a:srgbClr val="161616"/>
                </a:solidFill>
                <a:latin typeface="Marianne"/>
              </a:rPr>
              <a:t>Les passages dans une autre langue sont balisés : &lt;span lang="en"&gt;workshop&lt;/span&gt;</a:t>
            </a:r>
          </a:p>
          <a:p>
            <a:pPr algn="l">
              <a:lnSpc>
                <a:spcPct val="125000"/>
              </a:lnSpc>
            </a:pPr>
            <a:r>
              <a:rPr sz="1400" lang="fr-FR">
                <a:solidFill>
                  <a:srgbClr val="161616"/>
                </a:solidFill>
                <a:latin typeface="Marianne"/>
              </a:rPr>
              <a:t>• </a:t>
            </a:r>
            <a:r>
              <a:rPr sz="1400" b="0" lang="fr-FR">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Clic droit → Afficher le code source → regarder la 1ʳᵉ ligne &lt;html lang="…"&gt;</a:t>
            </a:r>
          </a:p>
          <a:p>
            <a:pPr algn="l">
              <a:lnSpc>
                <a:spcPct val="150000"/>
              </a:lnSpc>
            </a:pPr>
            <a:r>
              <a:rPr sz="1400" lang="fr-FR">
                <a:solidFill>
                  <a:srgbClr val="161616"/>
                </a:solidFill>
                <a:latin typeface="Marianne"/>
              </a:rPr>
              <a:t>• </a:t>
            </a:r>
            <a:r>
              <a:rPr sz="1400" b="0" lang="fr-FR">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94</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À 200 % de zoom, aucun texte n’est coupé ni superposé</a:t>
            </a:r>
          </a:p>
          <a:p>
            <a:pPr algn="l">
              <a:lnSpc>
                <a:spcPct val="125000"/>
              </a:lnSpc>
            </a:pPr>
            <a:r>
              <a:rPr sz="1400" lang="fr-FR">
                <a:solidFill>
                  <a:srgbClr val="161616"/>
                </a:solidFill>
                <a:latin typeface="Marianne"/>
              </a:rPr>
              <a:t>• </a:t>
            </a:r>
            <a:r>
              <a:rPr sz="1400" b="0" lang="fr-FR">
                <a:solidFill>
                  <a:srgbClr val="161616"/>
                </a:solidFill>
                <a:latin typeface="Marianne"/>
              </a:rPr>
              <a:t>Pas d’apparition d’un défilement horizontal sur une page classique</a:t>
            </a:r>
          </a:p>
          <a:p>
            <a:pPr algn="l">
              <a:lnSpc>
                <a:spcPct val="125000"/>
              </a:lnSpc>
            </a:pPr>
            <a:r>
              <a:rPr sz="1400" lang="fr-FR">
                <a:solidFill>
                  <a:srgbClr val="161616"/>
                </a:solidFill>
                <a:latin typeface="Marianne"/>
              </a:rPr>
              <a:t>• </a:t>
            </a:r>
            <a:r>
              <a:rPr sz="1400" b="0" lang="fr-FR">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Ctrl + (ou Cmd + sur Mac) pour zoomer jusqu’à 200 % - répéter 4 fois depuis 100 %</a:t>
            </a:r>
          </a:p>
          <a:p>
            <a:pPr algn="l">
              <a:lnSpc>
                <a:spcPct val="150000"/>
              </a:lnSpc>
            </a:pPr>
            <a:r>
              <a:rPr sz="1400" lang="fr-FR">
                <a:solidFill>
                  <a:srgbClr val="161616"/>
                </a:solidFill>
                <a:latin typeface="Marianne"/>
              </a:rPr>
              <a:t>• </a:t>
            </a:r>
            <a:r>
              <a:rPr sz="1400" b="0" lang="fr-FR">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des sous-titres synchronisés (pas seulement une transcription)</a:t>
            </a:r>
          </a:p>
          <a:p>
            <a:pPr algn="l">
              <a:lnSpc>
                <a:spcPct val="115000"/>
              </a:lnSpc>
            </a:pPr>
            <a:r>
              <a:rPr sz="1400" lang="fr-FR">
                <a:solidFill>
                  <a:srgbClr val="161616"/>
                </a:solidFill>
                <a:latin typeface="Marianne"/>
              </a:rPr>
              <a:t>• </a:t>
            </a:r>
            <a:r>
              <a:rPr sz="1400" b="0" lang="fr-FR">
                <a:solidFill>
                  <a:srgbClr val="161616"/>
                </a:solidFill>
                <a:latin typeface="Marianne"/>
              </a:rPr>
              <a:t>Les sous-titres incluent les paroles ET les informations sonores importantes : « (rires) », « (sonnerie) »</a:t>
            </a:r>
          </a:p>
          <a:p>
            <a:pPr algn="l">
              <a:lnSpc>
                <a:spcPct val="115000"/>
              </a:lnSpc>
            </a:pPr>
            <a:r>
              <a:rPr sz="1400" lang="fr-FR">
                <a:solidFill>
                  <a:srgbClr val="161616"/>
                </a:solidFill>
                <a:latin typeface="Marianne"/>
              </a:rPr>
              <a:t>• </a:t>
            </a:r>
            <a:r>
              <a:rPr sz="1400" b="0" lang="fr-FR">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96</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Les sous-titres automatiques peuvent déformer les mots, surtout les noms propres et acronymes</a:t>
            </a:r>
          </a:p>
          <a:p>
            <a:pPr algn="l">
              <a:lnSpc>
                <a:spcPct val="125000"/>
              </a:lnSpc>
            </a:pPr>
            <a:r>
              <a:rPr sz="1400" lang="fr-FR">
                <a:solidFill>
                  <a:srgbClr val="161616"/>
                </a:solidFill>
                <a:latin typeface="Marianne"/>
              </a:rPr>
              <a:t>• </a:t>
            </a:r>
            <a:r>
              <a:rPr sz="1400" b="0" lang="fr-FR">
                <a:solidFill>
                  <a:srgbClr val="161616"/>
                </a:solidFill>
                <a:latin typeface="Marianne"/>
              </a:rPr>
              <a:t>Noms propres, acronymes, chiffres : souvent mal reconnus</a:t>
            </a:r>
          </a:p>
          <a:p>
            <a:pPr algn="l">
              <a:lnSpc>
                <a:spcPct val="125000"/>
              </a:lnSpc>
            </a:pPr>
            <a:r>
              <a:rPr sz="1400" lang="fr-FR">
                <a:solidFill>
                  <a:srgbClr val="161616"/>
                </a:solidFill>
                <a:latin typeface="Marianne"/>
              </a:rPr>
              <a:t>• </a:t>
            </a:r>
            <a:r>
              <a:rPr sz="1400" b="0" lang="fr-FR">
                <a:solidFill>
                  <a:srgbClr val="161616"/>
                </a:solidFill>
                <a:latin typeface="Marianne"/>
              </a:rPr>
              <a:t>Ponctuation absente : « on mange les enfants » vs « on mange, les enfants »</a:t>
            </a:r>
          </a:p>
          <a:p>
            <a:pPr algn="l">
              <a:lnSpc>
                <a:spcPct val="125000"/>
              </a:lnSpc>
            </a:pPr>
            <a:r>
              <a:rPr sz="1400" lang="fr-FR">
                <a:solidFill>
                  <a:srgbClr val="161616"/>
                </a:solidFill>
                <a:latin typeface="Marianne"/>
              </a:rPr>
              <a:t>• </a:t>
            </a:r>
            <a:r>
              <a:rPr sz="1400" b="0" lang="fr-FR">
                <a:solidFill>
                  <a:srgbClr val="161616"/>
                </a:solidFill>
                <a:latin typeface="Marianne"/>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Générer l’auto (YouTube, Whisper, outil interne) pour accélérer le brouillon</a:t>
            </a:r>
          </a:p>
          <a:p>
            <a:pPr algn="l">
              <a:lnSpc>
                <a:spcPct val="115000"/>
              </a:lnSpc>
            </a:pPr>
            <a:r>
              <a:rPr sz="1400" lang="fr-FR">
                <a:solidFill>
                  <a:srgbClr val="161616"/>
                </a:solidFill>
                <a:latin typeface="Marianne"/>
              </a:rPr>
              <a:t>• </a:t>
            </a:r>
            <a:r>
              <a:rPr sz="1400" b="0" lang="fr-FR">
                <a:solidFill>
                  <a:srgbClr val="161616"/>
                </a:solidFill>
                <a:latin typeface="Marianne"/>
              </a:rPr>
              <a:t>Relire : noms, chiffres, ponctuation et [indications sonores]</a:t>
            </a:r>
          </a:p>
          <a:p>
            <a:pPr algn="l">
              <a:lnSpc>
                <a:spcPct val="115000"/>
              </a:lnSpc>
            </a:pPr>
            <a:r>
              <a:rPr sz="1400" lang="fr-FR">
                <a:solidFill>
                  <a:srgbClr val="161616"/>
                </a:solidFill>
                <a:latin typeface="Marianne"/>
              </a:rPr>
              <a:t>• </a:t>
            </a:r>
            <a:r>
              <a:rPr sz="1400" b="0" lang="fr-FR">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Toute vidéo / audio propose un lien visible « Lire la transcription »</a:t>
            </a:r>
          </a:p>
          <a:p>
            <a:pPr algn="l">
              <a:lnSpc>
                <a:spcPct val="125000"/>
              </a:lnSpc>
            </a:pPr>
            <a:r>
              <a:rPr sz="1400" lang="fr-FR">
                <a:solidFill>
                  <a:srgbClr val="161616"/>
                </a:solidFill>
                <a:latin typeface="Marianne"/>
              </a:rPr>
              <a:t>• </a:t>
            </a:r>
            <a:r>
              <a:rPr sz="1400" b="0" lang="fr-FR">
                <a:solidFill>
                  <a:srgbClr val="161616"/>
                </a:solidFill>
                <a:latin typeface="Marianne"/>
              </a:rPr>
              <a:t>La transcription est complète : paroles + informations sonores essentielles</a:t>
            </a:r>
          </a:p>
          <a:p>
            <a:pPr algn="l">
              <a:lnSpc>
                <a:spcPct val="125000"/>
              </a:lnSpc>
            </a:pPr>
            <a:r>
              <a:rPr sz="1400" lang="fr-FR">
                <a:solidFill>
                  <a:srgbClr val="161616"/>
                </a:solidFill>
                <a:latin typeface="Marianne"/>
              </a:rPr>
              <a:t>• </a:t>
            </a:r>
            <a:r>
              <a:rPr sz="1400" b="0" lang="fr-FR">
                <a:solidFill>
                  <a:srgbClr val="161616"/>
                </a:solidFill>
                <a:latin typeface="Marianne"/>
              </a:rPr>
              <a:t>Elle est sur la même page ou à un clic, pas cachée à deux étages de menu</a:t>
            </a:r>
          </a:p>
          <a:p>
            <a:pPr algn="l">
              <a:lnSpc>
                <a:spcPct val="125000"/>
              </a:lnSpc>
            </a:pPr>
            <a:r>
              <a:rPr sz="1400" lang="fr-FR">
                <a:solidFill>
                  <a:srgbClr val="161616"/>
                </a:solidFill>
                <a:latin typeface="Marianne"/>
              </a:rPr>
              <a:t>• </a:t>
            </a:r>
            <a:r>
              <a:rPr sz="1400" b="0" lang="fr-FR">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 transcription rend le contenu plus facile à retrouver, relire et citer</a:t>
            </a:r>
          </a:p>
          <a:p>
            <a:pPr algn="l">
              <a:lnSpc>
                <a:spcPct val="150000"/>
              </a:lnSpc>
            </a:pPr>
            <a:r>
              <a:rPr sz="1400" lang="fr-FR">
                <a:solidFill>
                  <a:srgbClr val="161616"/>
                </a:solidFill>
                <a:latin typeface="Marianne"/>
              </a:rPr>
              <a:t>• </a:t>
            </a:r>
            <a:r>
              <a:rPr sz="1400" b="0" lang="fr-FR">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L’audiodescription ajoute une voix off qui décrit les images clés pendant les silences.</a:t>
            </a:r>
          </a:p>
        </p:txBody>
      </p:sp>
      <p:sp>
        <p:nvSpPr>
          <p:cNvPr id="12" name="DSFR-box"/>
          <p:cNvSpPr/>
          <p:nvPr/>
        </p:nvSpPr>
        <p:spPr>
          <a:xfrm>
            <a:off x="548640" y="313182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232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63473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une piste audiodécrite activable (bouton AD)</a:t>
            </a:r>
          </a:p>
          <a:p>
            <a:pPr algn="l">
              <a:lnSpc>
                <a:spcPct val="115000"/>
              </a:lnSpc>
            </a:pPr>
            <a:r>
              <a:rPr sz="1400" lang="fr-FR">
                <a:solidFill>
                  <a:srgbClr val="161616"/>
                </a:solidFill>
                <a:latin typeface="Marianne"/>
              </a:rPr>
              <a:t>• </a:t>
            </a:r>
            <a:r>
              <a:rPr sz="1400" b="0" lang="fr-FR">
                <a:solidFill>
                  <a:srgbClr val="161616"/>
                </a:solidFill>
                <a:latin typeface="Marianne"/>
              </a:rPr>
              <a:t>L’audiodescription décrit les éléments visuels essentiels à la compréhension</a:t>
            </a:r>
          </a:p>
          <a:p>
            <a:pPr algn="l">
              <a:lnSpc>
                <a:spcPct val="115000"/>
              </a:lnSpc>
            </a:pPr>
            <a:r>
              <a:rPr sz="1400" lang="fr-FR">
                <a:solidFill>
                  <a:srgbClr val="161616"/>
                </a:solidFill>
                <a:latin typeface="Marianne"/>
              </a:rPr>
              <a:t>• </a:t>
            </a:r>
            <a:r>
              <a:rPr sz="1400" b="0" lang="fr-FR">
                <a:solidFill>
                  <a:srgbClr val="161616"/>
                </a:solidFill>
                <a:latin typeface="Marianne"/>
              </a:rPr>
              <a:t>Elle s’intercale dans les silences, sans couvrir les dialogues</a:t>
            </a:r>
          </a:p>
          <a:p>
            <a:pPr algn="l">
              <a:lnSpc>
                <a:spcPct val="115000"/>
              </a:lnSpc>
            </a:pPr>
            <a:r>
              <a:rPr sz="1400" lang="fr-FR">
                <a:solidFill>
                  <a:srgbClr val="161616"/>
                </a:solidFill>
                <a:latin typeface="Marianne"/>
              </a:rPr>
              <a:t>• </a:t>
            </a:r>
            <a:r>
              <a:rPr sz="1400" b="0" lang="fr-FR">
                <a:solidFill>
                  <a:srgbClr val="161616"/>
                </a:solidFill>
                <a:latin typeface="Marianne"/>
              </a:rPr>
              <a:t>Pour une vidéo sans dialogue essentiel : une description textuelle synchronisée suffit</a:t>
            </a:r>
          </a:p>
        </p:txBody>
      </p:sp>
      <p:sp>
        <p:nvSpPr>
          <p:cNvPr id="16" name="DSFR-box"/>
          <p:cNvSpPr/>
          <p:nvPr/>
        </p:nvSpPr>
        <p:spPr>
          <a:xfrm>
            <a:off x="548640" y="5104180"/>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241340"/>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927140"/>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Audiodescription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3182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104180"/>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Image, schéma ou plan -&gt; description ou texte alternatif</a:t>
            </a:r>
          </a:p>
          <a:p>
            <a:pPr algn="l">
              <a:lnSpc>
                <a:spcPct val="120000"/>
              </a:lnSpc>
            </a:pPr>
            <a:r>
              <a:rPr sz="1400" lang="fr-FR">
                <a:solidFill>
                  <a:srgbClr val="161616"/>
                </a:solidFill>
                <a:latin typeface="Marianne"/>
              </a:rPr>
              <a:t>• </a:t>
            </a:r>
            <a:r>
              <a:rPr sz="1400" b="0" lang="fr-FR">
                <a:solidFill>
                  <a:srgbClr val="161616"/>
                </a:solidFill>
                <a:latin typeface="Marianne"/>
              </a:rPr>
              <a:t>Vidéo -&gt; sous-titres + informations visuelles essentielles</a:t>
            </a:r>
          </a:p>
          <a:p>
            <a:pPr algn="l">
              <a:lnSpc>
                <a:spcPct val="120000"/>
              </a:lnSpc>
            </a:pPr>
            <a:r>
              <a:rPr sz="1400" lang="fr-FR">
                <a:solidFill>
                  <a:srgbClr val="161616"/>
                </a:solidFill>
                <a:latin typeface="Marianne"/>
              </a:rPr>
              <a:t>• </a:t>
            </a:r>
            <a:r>
              <a:rPr sz="1400" b="0" lang="fr-FR">
                <a:solidFill>
                  <a:srgbClr val="161616"/>
                </a:solidFill>
                <a:latin typeface="Marianne"/>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lisibles : contraste fort, bandeau si besoin</a:t>
            </a:r>
          </a:p>
          <a:p>
            <a:pPr algn="l">
              <a:lnSpc>
                <a:spcPct val="120000"/>
              </a:lnSpc>
            </a:pPr>
            <a:r>
              <a:rPr sz="1400" lang="fr-FR">
                <a:solidFill>
                  <a:srgbClr val="161616"/>
                </a:solidFill>
                <a:latin typeface="Marianne"/>
              </a:rPr>
              <a:t>• </a:t>
            </a:r>
            <a:r>
              <a:rPr sz="1400" b="0" lang="fr-FR">
                <a:solidFill>
                  <a:srgbClr val="161616"/>
                </a:solidFill>
                <a:latin typeface="Marianne"/>
              </a:rPr>
              <a:t>Format réseau social : sous-titres non masqués par l'interface</a:t>
            </a:r>
          </a:p>
          <a:p>
            <a:pPr algn="l">
              <a:lnSpc>
                <a:spcPct val="120000"/>
              </a:lnSpc>
            </a:pPr>
            <a:r>
              <a:rPr sz="1400" lang="fr-FR">
                <a:solidFill>
                  <a:srgbClr val="161616"/>
                </a:solidFill>
                <a:latin typeface="Marianne"/>
              </a:rPr>
              <a:t>• </a:t>
            </a:r>
            <a:r>
              <a:rPr sz="1400" b="0" lang="fr-FR">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le son porte de l'information, la transcription des paroles ne suffit pas toujours.</a:t>
            </a:r>
          </a:p>
        </p:txBody>
      </p:sp>
      <p:sp>
        <p:nvSpPr>
          <p:cNvPr id="12" name="DSFR-box"/>
          <p:cNvSpPr/>
          <p:nvPr/>
        </p:nvSpPr>
        <p:spPr>
          <a:xfrm>
            <a:off x="548640" y="2912364"/>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VSME : ce que ça ajoute</a:t>
            </a:r>
          </a:p>
        </p:txBody>
      </p:sp>
      <p:sp>
        <p:nvSpPr>
          <p:cNvPr id="14" name="DSFR-callout-body"/>
          <p:cNvSpPr txBox="1"/>
          <p:nvPr/>
        </p:nvSpPr>
        <p:spPr>
          <a:xfrm>
            <a:off x="704088"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Dialogues visibles et hors champ</a:t>
            </a:r>
          </a:p>
          <a:p>
            <a:pPr algn="l">
              <a:lnSpc>
                <a:spcPct val="115000"/>
              </a:lnSpc>
            </a:pPr>
            <a:r>
              <a:rPr sz="1400" lang="fr-FR">
                <a:solidFill>
                  <a:srgbClr val="161616"/>
                </a:solidFill>
                <a:latin typeface="Marianne"/>
              </a:rPr>
              <a:t>• </a:t>
            </a:r>
            <a:r>
              <a:rPr sz="1400" b="0" lang="fr-FR">
                <a:solidFill>
                  <a:srgbClr val="161616"/>
                </a:solidFill>
                <a:latin typeface="Marianne"/>
              </a:rPr>
              <a:t>Bruits utiles, effets sonores et musique</a:t>
            </a:r>
          </a:p>
          <a:p>
            <a:pPr algn="l">
              <a:lnSpc>
                <a:spcPct val="115000"/>
              </a:lnSpc>
            </a:pPr>
            <a:r>
              <a:rPr sz="1400" lang="fr-FR">
                <a:solidFill>
                  <a:srgbClr val="161616"/>
                </a:solidFill>
                <a:latin typeface="Marianne"/>
              </a:rPr>
              <a:t>• </a:t>
            </a:r>
            <a:r>
              <a:rPr sz="1400" b="0" lang="fr-FR">
                <a:solidFill>
                  <a:srgbClr val="161616"/>
                </a:solidFill>
                <a:latin typeface="Marianne"/>
              </a:rPr>
              <a:t>Voix off, narration, pensée intérieure</a:t>
            </a:r>
          </a:p>
          <a:p>
            <a:pPr algn="l">
              <a:lnSpc>
                <a:spcPct val="115000"/>
              </a:lnSpc>
            </a:pPr>
            <a:r>
              <a:rPr sz="1400" lang="fr-FR">
                <a:solidFill>
                  <a:srgbClr val="161616"/>
                </a:solidFill>
                <a:latin typeface="Marianne"/>
              </a:rPr>
              <a:t>• </a:t>
            </a:r>
            <a:r>
              <a:rPr sz="1400" b="0" lang="fr-FR">
                <a:solidFill>
                  <a:srgbClr val="161616"/>
                </a:solidFill>
                <a:latin typeface="Marianne"/>
              </a:rPr>
              <a:t>Langue étrangère et son venant d'un haut-parleur</a:t>
            </a:r>
          </a:p>
        </p:txBody>
      </p:sp>
      <p:sp>
        <p:nvSpPr>
          <p:cNvPr id="16" name="DSFR-box"/>
          <p:cNvSpPr/>
          <p:nvPr/>
        </p:nvSpPr>
        <p:spPr>
          <a:xfrm>
            <a:off x="6313931" y="291236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Transcription : choisir le niveau</a:t>
            </a:r>
          </a:p>
        </p:txBody>
      </p:sp>
      <p:sp>
        <p:nvSpPr>
          <p:cNvPr id="18" name="DSFR-alert-info-body"/>
          <p:cNvSpPr txBox="1"/>
          <p:nvPr/>
        </p:nvSpPr>
        <p:spPr>
          <a:xfrm>
            <a:off x="6469379"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Semi-intégrale : résumé détaillé + citations</a:t>
            </a:r>
          </a:p>
          <a:p>
            <a:pPr algn="l">
              <a:lnSpc>
                <a:spcPct val="115000"/>
              </a:lnSpc>
            </a:pPr>
            <a:r>
              <a:rPr sz="1400" lang="fr-FR">
                <a:solidFill>
                  <a:srgbClr val="161616"/>
                </a:solidFill>
                <a:latin typeface="Marianne"/>
              </a:rPr>
              <a:t>• </a:t>
            </a:r>
            <a:r>
              <a:rPr sz="1400" b="0" lang="fr-FR">
                <a:solidFill>
                  <a:srgbClr val="161616"/>
                </a:solidFill>
                <a:latin typeface="Marianne"/>
              </a:rPr>
              <a:t>Intégrale éditée : texte complet, corrigé et lisible</a:t>
            </a:r>
          </a:p>
          <a:p>
            <a:pPr algn="l">
              <a:lnSpc>
                <a:spcPct val="115000"/>
              </a:lnSpc>
            </a:pPr>
            <a:r>
              <a:rPr sz="1400" lang="fr-FR">
                <a:solidFill>
                  <a:srgbClr val="161616"/>
                </a:solidFill>
                <a:latin typeface="Marianne"/>
              </a:rPr>
              <a:t>• </a:t>
            </a:r>
            <a:r>
              <a:rPr sz="1400" b="0" lang="fr-FR">
                <a:solidFill>
                  <a:srgbClr val="161616"/>
                </a:solidFill>
                <a:latin typeface="Marianne"/>
              </a:rPr>
              <a:t>Verbatim : mot à mot, hésitations et sons inclus</a:t>
            </a:r>
          </a:p>
        </p:txBody>
      </p:sp>
      <p:sp>
        <p:nvSpPr>
          <p:cNvPr id="20" name="DSFR-box"/>
          <p:cNvSpPr/>
          <p:nvPr/>
        </p:nvSpPr>
        <p:spPr>
          <a:xfrm>
            <a:off x="548640" y="5115153"/>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206593"/>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115153"/>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champ (texte, case, menu déroulant) a une étiquette visible à côté</a:t>
            </a:r>
          </a:p>
          <a:p>
            <a:pPr algn="l">
              <a:lnSpc>
                <a:spcPct val="125000"/>
              </a:lnSpc>
            </a:pPr>
            <a:r>
              <a:rPr sz="1400" lang="fr-FR">
                <a:solidFill>
                  <a:srgbClr val="161616"/>
                </a:solidFill>
                <a:latin typeface="Marianne"/>
              </a:rPr>
              <a:t>• </a:t>
            </a:r>
            <a:r>
              <a:rPr sz="1400" b="0" lang="fr-FR">
                <a:solidFill>
                  <a:srgbClr val="161616"/>
                </a:solidFill>
                <a:latin typeface="Marianne"/>
              </a:rPr>
              <a:t>L’étiquette reste affichée quand on commence à saisir - elle ne disparaît pas</a:t>
            </a:r>
          </a:p>
          <a:p>
            <a:pPr algn="l">
              <a:lnSpc>
                <a:spcPct val="125000"/>
              </a:lnSpc>
            </a:pPr>
            <a:r>
              <a:rPr sz="1400" lang="fr-FR">
                <a:solidFill>
                  <a:srgbClr val="161616"/>
                </a:solidFill>
                <a:latin typeface="Marianne"/>
              </a:rPr>
              <a:t>• </a:t>
            </a:r>
            <a:r>
              <a:rPr sz="1400" b="0" lang="fr-FR">
                <a:solidFill>
                  <a:srgbClr val="161616"/>
                </a:solidFill>
                <a:latin typeface="Marianne"/>
              </a:rPr>
              <a:t>Cliquer sur l’étiquette déplace le focus dans le champ (test rapide et décisif)</a:t>
            </a:r>
          </a:p>
          <a:p>
            <a:pPr algn="l">
              <a:lnSpc>
                <a:spcPct val="125000"/>
              </a:lnSpc>
            </a:pPr>
            <a:r>
              <a:rPr sz="1400" lang="fr-FR">
                <a:solidFill>
                  <a:srgbClr val="161616"/>
                </a:solidFill>
                <a:latin typeface="Marianne"/>
              </a:rPr>
              <a:t>• </a:t>
            </a:r>
            <a:r>
              <a:rPr sz="1400" b="0" lang="fr-FR">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102</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Il disparaît dès qu’on commence à saisir - on oublie ce qu’on remplit</a:t>
            </a:r>
          </a:p>
          <a:p>
            <a:pPr algn="l">
              <a:lnSpc>
                <a:spcPct val="125000"/>
              </a:lnSpc>
            </a:pPr>
            <a:r>
              <a:rPr sz="1400" lang="fr-FR">
                <a:solidFill>
                  <a:srgbClr val="161616"/>
                </a:solidFill>
                <a:latin typeface="Marianne"/>
              </a:rPr>
              <a:t>• </a:t>
            </a:r>
            <a:r>
              <a:rPr sz="1400" b="0" lang="fr-FR">
                <a:solidFill>
                  <a:srgbClr val="161616"/>
                </a:solidFill>
                <a:latin typeface="Marianne"/>
              </a:rPr>
              <a:t>Son contraste est souvent trop faible pour passer le check 4</a:t>
            </a:r>
          </a:p>
          <a:p>
            <a:pPr algn="l">
              <a:lnSpc>
                <a:spcPct val="125000"/>
              </a:lnSpc>
            </a:pPr>
            <a:r>
              <a:rPr sz="1400" lang="fr-FR">
                <a:solidFill>
                  <a:srgbClr val="161616"/>
                </a:solidFill>
                <a:latin typeface="Marianne"/>
              </a:rPr>
              <a:t>• </a:t>
            </a:r>
            <a:r>
              <a:rPr sz="1400" b="0" lang="fr-FR">
                <a:solidFill>
                  <a:srgbClr val="161616"/>
                </a:solidFill>
                <a:latin typeface="Marianne"/>
              </a:rPr>
              <a:t>Il peut être annoncé comme exemple, pas comme nom fiable du champ</a:t>
            </a:r>
          </a:p>
          <a:p>
            <a:pPr algn="l">
              <a:lnSpc>
                <a:spcPct val="125000"/>
              </a:lnSpc>
            </a:pPr>
            <a:r>
              <a:rPr sz="1400" lang="fr-FR">
                <a:solidFill>
                  <a:srgbClr val="161616"/>
                </a:solidFill>
                <a:latin typeface="Marianne"/>
              </a:rPr>
              <a:t>• </a:t>
            </a:r>
            <a:r>
              <a:rPr sz="1400" b="0" lang="fr-FR">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Étiquette visible au-dessus du champ (ou à gauche)</a:t>
            </a:r>
          </a:p>
          <a:p>
            <a:pPr algn="l">
              <a:lnSpc>
                <a:spcPct val="150000"/>
              </a:lnSpc>
            </a:pPr>
            <a:r>
              <a:rPr sz="1400" lang="fr-FR">
                <a:solidFill>
                  <a:srgbClr val="161616"/>
                </a:solidFill>
                <a:latin typeface="Marianne"/>
              </a:rPr>
              <a:t>• </a:t>
            </a:r>
            <a:r>
              <a:rPr sz="1400" b="0" lang="fr-FR">
                <a:solidFill>
                  <a:srgbClr val="161616"/>
                </a:solidFill>
                <a:latin typeface="Marianne"/>
              </a:rPr>
              <a:t>Placeholder optionnel, pour donner un exemple de format : « JJ/MM/AAAA »</a:t>
            </a:r>
          </a:p>
          <a:p>
            <a:pPr algn="l">
              <a:lnSpc>
                <a:spcPct val="150000"/>
              </a:lnSpc>
            </a:pPr>
            <a:r>
              <a:rPr sz="1400" lang="fr-FR">
                <a:solidFill>
                  <a:srgbClr val="161616"/>
                </a:solidFill>
                <a:latin typeface="Marianne"/>
              </a:rPr>
              <a:t>• </a:t>
            </a:r>
            <a:r>
              <a:rPr sz="1400" b="0" lang="fr-FR">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103</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Plusieurs boutons radio qui répondent à la même question (« Civilité : M / Mme / autre »)</a:t>
            </a:r>
          </a:p>
          <a:p>
            <a:pPr algn="l">
              <a:lnSpc>
                <a:spcPct val="125000"/>
              </a:lnSpc>
            </a:pPr>
            <a:r>
              <a:rPr sz="1400" lang="fr-FR">
                <a:solidFill>
                  <a:srgbClr val="161616"/>
                </a:solidFill>
                <a:latin typeface="Marianne"/>
              </a:rPr>
              <a:t>• </a:t>
            </a:r>
            <a:r>
              <a:rPr sz="1400" b="0" lang="fr-FR">
                <a:solidFill>
                  <a:srgbClr val="161616"/>
                </a:solidFill>
                <a:latin typeface="Marianne"/>
              </a:rPr>
              <a:t>Plusieurs cases à cocher qui partagent un thème (« Jours travaillés »)</a:t>
            </a:r>
          </a:p>
          <a:p>
            <a:pPr algn="l">
              <a:lnSpc>
                <a:spcPct val="125000"/>
              </a:lnSpc>
            </a:pPr>
            <a:r>
              <a:rPr sz="1400" lang="fr-FR">
                <a:solidFill>
                  <a:srgbClr val="161616"/>
                </a:solidFill>
                <a:latin typeface="Marianne"/>
              </a:rPr>
              <a:t>• </a:t>
            </a:r>
            <a:r>
              <a:rPr sz="1400" b="0" lang="fr-FR">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4206240"/>
          <a:ext cx="11228832" cy="2331720"/>
        </p:xfrm>
        <a:graphic>
          <a:graphicData uri="http://schemas.openxmlformats.org/drawingml/2006/table">
            <a:tbl>
              <a:tblPr firstRow="1" bandRow="1">
                <a:tableStyleId>{5C22544A-7EE6-4342-B048-85BDC9FD1C3A}</a:tableStyleId>
              </a:tblPr>
              <a:tblGrid>
                <a:gridCol w="2926080"/>
                <a:gridCol w="4187952"/>
                <a:gridCol w="4114800"/>
              </a:tblGrid>
              <a:tr h="777240">
                <a:tc>
                  <a:txBody>
                    <a:bodyPr wrap="square" anchor="ctr" lIns="73152" rIns="73152"/>
                    <a:lstStyle/>
                    <a:p>
                      <a:pPr algn="l">
                        <a:lnSpc>
                          <a:spcPct val="125000"/>
                        </a:lnSpc>
                      </a:pPr>
                      <a:r>
                        <a:rPr sz="1400" b="1" i="0" lang="fr-FR">
                          <a:solidFill>
                            <a:srgbClr val="FFFFFF"/>
                          </a:solidFill>
                          <a:latin typeface="Marianne"/>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 lecteur d’écran</a:t>
                      </a:r>
                    </a:p>
                  </a:txBody>
                  <a:tcPr marL="91440" marR="91440" marT="45720" marB="45720">
                    <a:solidFill>
                      <a:srgbClr val="000091"/>
                    </a:solidFill>
                  </a:tcPr>
                </a:tc>
              </a:tr>
              <a:tr h="777240">
                <a:tc>
                  <a:txBody>
                    <a:bodyPr wrap="square" anchor="ctr" lIns="73152" rIns="73152"/>
                    <a:lstStyle/>
                    <a:p>
                      <a:pPr algn="l">
                        <a:lnSpc>
                          <a:spcPct val="125000"/>
                        </a:lnSpc>
                      </a:pPr>
                      <a:r>
                        <a:rPr sz="1400" b="0" i="0" lang="fr-FR">
                          <a:solidFill>
                            <a:srgbClr val="161616"/>
                          </a:solidFill>
                          <a:latin typeface="Marianne"/>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M, bouton radio » - question perdue</a:t>
                      </a:r>
                    </a:p>
                  </a:txBody>
                  <a:tcPr marL="91440" marR="91440" marT="45720" marB="45720">
                    <a:solidFill>
                      <a:srgbClr val="FFFFFF"/>
                    </a:solidFill>
                  </a:tcPr>
                </a:tc>
              </a:tr>
              <a:tr h="777240">
                <a:tc>
                  <a:txBody>
                    <a:bodyPr wrap="square" anchor="ctr" lIns="73152" rIns="73152"/>
                    <a:lstStyle/>
                    <a:p>
                      <a:pPr algn="l">
                        <a:lnSpc>
                          <a:spcPct val="125000"/>
                        </a:lnSpc>
                      </a:pPr>
                      <a:r>
                        <a:rPr sz="1400" b="0" i="0" lang="fr-FR">
                          <a:solidFill>
                            <a:srgbClr val="161616"/>
                          </a:solidFill>
                          <a:latin typeface="Marianne"/>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104</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 écrite : « obligatoire » ou règle « tous sauf téléphone »</a:t>
            </a:r>
          </a:p>
          <a:p>
            <a:pPr algn="l">
              <a:lnSpc>
                <a:spcPct val="125000"/>
              </a:lnSpc>
            </a:pPr>
            <a:r>
              <a:rPr sz="1400" lang="fr-FR">
                <a:solidFill>
                  <a:srgbClr val="161616"/>
                </a:solidFill>
                <a:latin typeface="Marianne"/>
              </a:rPr>
              <a:t>• </a:t>
            </a:r>
            <a:r>
              <a:rPr sz="1400" b="0" lang="fr-FR">
                <a:solidFill>
                  <a:srgbClr val="161616"/>
                </a:solidFill>
                <a:latin typeface="Marianne"/>
              </a:rPr>
              <a:t>Astérisque expliqué s'il est utilisé</a:t>
            </a:r>
          </a:p>
          <a:p>
            <a:pPr algn="l">
              <a:lnSpc>
                <a:spcPct val="125000"/>
              </a:lnSpc>
            </a:pPr>
            <a:r>
              <a:rPr sz="1400" lang="fr-FR">
                <a:solidFill>
                  <a:srgbClr val="161616"/>
                </a:solidFill>
                <a:latin typeface="Marianne"/>
              </a:rPr>
              <a:t>• </a:t>
            </a:r>
            <a:r>
              <a:rPr sz="1400" b="0" lang="fr-FR">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Aucune erreur ne doit apparaître avant l'envoi</a:t>
            </a:r>
          </a:p>
          <a:p>
            <a:pPr algn="l">
              <a:lnSpc>
                <a:spcPct val="125000"/>
              </a:lnSpc>
            </a:pPr>
            <a:r>
              <a:rPr sz="1400" lang="fr-FR">
                <a:solidFill>
                  <a:srgbClr val="161616"/>
                </a:solidFill>
                <a:latin typeface="Marianne"/>
              </a:rPr>
              <a:t>• </a:t>
            </a:r>
            <a:r>
              <a:rPr sz="1400" b="0" lang="fr-FR">
                <a:solidFill>
                  <a:srgbClr val="161616"/>
                </a:solidFill>
                <a:latin typeface="Marianne"/>
              </a:rPr>
              <a:t>Message précis relié au champ, avec aria-invalid si erreur</a:t>
            </a:r>
          </a:p>
          <a:p>
            <a:pPr algn="l">
              <a:lnSpc>
                <a:spcPct val="125000"/>
              </a:lnSpc>
            </a:pPr>
            <a:r>
              <a:rPr sz="1400" lang="fr-FR">
                <a:solidFill>
                  <a:srgbClr val="161616"/>
                </a:solidFill>
                <a:latin typeface="Marianne"/>
              </a:rPr>
              <a:t>• </a:t>
            </a:r>
            <a:r>
              <a:rPr sz="1400" b="0" lang="fr-FR">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105</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Marianne"/>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Marianne"/>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Un défaut sans preuve est difficile à traiter.</a:t>
            </a:r>
          </a:p>
          <a:p>
            <a:pPr algn="l">
              <a:lnSpc>
                <a:spcPct val="115000"/>
              </a:lnSpc>
            </a:pPr>
            <a:r>
              <a:rPr sz="1400" lang="fr-FR">
                <a:solidFill>
                  <a:srgbClr val="161616"/>
                </a:solidFill>
                <a:latin typeface="Marianne"/>
              </a:rPr>
              <a:t>• </a:t>
            </a:r>
            <a:r>
              <a:rPr sz="1400" b="0" lang="fr-FR">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Éviter les pages saturées de liens sans hiérarchie</a:t>
            </a:r>
          </a:p>
          <a:p>
            <a:pPr algn="l">
              <a:lnSpc>
                <a:spcPct val="120000"/>
              </a:lnSpc>
            </a:pPr>
            <a:r>
              <a:rPr sz="1400" lang="fr-FR">
                <a:solidFill>
                  <a:srgbClr val="161616"/>
                </a:solidFill>
                <a:latin typeface="Marianne"/>
              </a:rPr>
              <a:t>• </a:t>
            </a:r>
            <a:r>
              <a:rPr sz="1400" b="0" lang="fr-FR">
                <a:solidFill>
                  <a:srgbClr val="161616"/>
                </a:solidFill>
                <a:latin typeface="Marianne"/>
              </a:rPr>
              <a:t>Libellé explicite : « programme de l'exposition photo »</a:t>
            </a:r>
          </a:p>
          <a:p>
            <a:pPr algn="l">
              <a:lnSpc>
                <a:spcPct val="120000"/>
              </a:lnSpc>
            </a:pPr>
            <a:r>
              <a:rPr sz="1400" lang="fr-FR">
                <a:solidFill>
                  <a:srgbClr val="161616"/>
                </a:solidFill>
                <a:latin typeface="Marianne"/>
              </a:rPr>
              <a:t>• </a:t>
            </a:r>
            <a:r>
              <a:rPr sz="1400" b="0" lang="fr-FR">
                <a:solidFill>
                  <a:srgbClr val="161616"/>
                </a:solidFill>
                <a:latin typeface="Marianne"/>
              </a:rPr>
              <a:t>Éviter « cliquez ici », « en savoir plus », « programme » seul</a:t>
            </a:r>
          </a:p>
          <a:p>
            <a:pPr algn="l">
              <a:lnSpc>
                <a:spcPct val="120000"/>
              </a:lnSpc>
            </a:pPr>
            <a:r>
              <a:rPr sz="1400" lang="fr-FR">
                <a:solidFill>
                  <a:srgbClr val="161616"/>
                </a:solidFill>
                <a:latin typeface="Marianne"/>
              </a:rPr>
              <a:t>• </a:t>
            </a:r>
            <a:r>
              <a:rPr sz="1400" b="0" lang="fr-FR">
                <a:solidFill>
                  <a:srgbClr val="161616"/>
                </a:solidFill>
                <a:latin typeface="Marianne"/>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Texte sélectionnable : pas de PDF image ou scanné non navigable</a:t>
            </a:r>
          </a:p>
          <a:p>
            <a:pPr algn="l">
              <a:lnSpc>
                <a:spcPct val="120000"/>
              </a:lnSpc>
            </a:pPr>
            <a:r>
              <a:rPr sz="1400" lang="fr-FR">
                <a:solidFill>
                  <a:srgbClr val="161616"/>
                </a:solidFill>
                <a:latin typeface="Marianne"/>
              </a:rPr>
              <a:t>• </a:t>
            </a:r>
            <a:r>
              <a:rPr sz="1400" b="0" lang="fr-FR">
                <a:solidFill>
                  <a:srgbClr val="161616"/>
                </a:solidFill>
                <a:latin typeface="Marianne"/>
              </a:rPr>
              <a:t>Structure : titres, sommaire et liens internes si le document est long</a:t>
            </a:r>
          </a:p>
          <a:p>
            <a:pPr algn="l">
              <a:lnSpc>
                <a:spcPct val="120000"/>
              </a:lnSpc>
            </a:pPr>
            <a:r>
              <a:rPr sz="1400" lang="fr-FR">
                <a:solidFill>
                  <a:srgbClr val="161616"/>
                </a:solidFill>
                <a:latin typeface="Marianne"/>
              </a:rPr>
              <a:t>• </a:t>
            </a:r>
            <a:r>
              <a:rPr sz="1400" b="0" lang="fr-FR">
                <a:solidFill>
                  <a:srgbClr val="161616"/>
                </a:solidFill>
                <a:latin typeface="Marianne"/>
              </a:rPr>
              <a:t>Images avec texte alternatif</a:t>
            </a:r>
          </a:p>
          <a:p>
            <a:pPr algn="l">
              <a:lnSpc>
                <a:spcPct val="120000"/>
              </a:lnSpc>
            </a:pPr>
            <a:r>
              <a:rPr sz="1400" lang="fr-FR">
                <a:solidFill>
                  <a:srgbClr val="161616"/>
                </a:solidFill>
                <a:latin typeface="Marianne"/>
              </a:rPr>
              <a:t>• </a:t>
            </a:r>
            <a:r>
              <a:rPr sz="1400" b="0" lang="fr-FR">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Choisissez quelques points avec votre binôme : vous n’avez pas à tout couvrir</a:t>
            </a:r>
          </a:p>
          <a:p>
            <a:pPr algn="l">
              <a:lnSpc>
                <a:spcPct val="125000"/>
              </a:lnSpc>
            </a:pPr>
            <a:r>
              <a:rPr sz="1400" lang="fr-FR">
                <a:solidFill>
                  <a:srgbClr val="161616"/>
                </a:solidFill>
                <a:latin typeface="Marianne"/>
              </a:rPr>
              <a:t>• </a:t>
            </a:r>
            <a:r>
              <a:rPr sz="1400" b="0" lang="fr-FR">
                <a:solidFill>
                  <a:srgbClr val="161616"/>
                </a:solidFill>
                <a:latin typeface="Marianne"/>
              </a:rPr>
              <a:t>Une seule NC prouvée suffit à invalider le critère</a:t>
            </a:r>
          </a:p>
          <a:p>
            <a:pPr algn="l">
              <a:lnSpc>
                <a:spcPct val="125000"/>
              </a:lnSpc>
            </a:pPr>
            <a:r>
              <a:rPr sz="1400" lang="fr-FR">
                <a:solidFill>
                  <a:srgbClr val="161616"/>
                </a:solidFill>
                <a:latin typeface="Marianne"/>
              </a:rPr>
              <a:t>• </a:t>
            </a:r>
            <a:r>
              <a:rPr sz="1400" b="0" lang="fr-FR">
                <a:solidFill>
                  <a:srgbClr val="161616"/>
                </a:solidFill>
                <a:latin typeface="Marianne"/>
              </a:rPr>
              <a:t>Certains binômes commencent au début, d’autres par la fin</a:t>
            </a:r>
          </a:p>
          <a:p>
            <a:pPr algn="l">
              <a:lnSpc>
                <a:spcPct val="125000"/>
              </a:lnSpc>
            </a:pPr>
            <a:r>
              <a:rPr sz="1400" lang="fr-FR">
                <a:solidFill>
                  <a:srgbClr val="161616"/>
                </a:solidFill>
                <a:latin typeface="Marianne"/>
              </a:rPr>
              <a:t>• </a:t>
            </a:r>
            <a:r>
              <a:rPr sz="1400" b="0" lang="fr-FR">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108</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4. Accessibilité sur les réseaux sociaux</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109</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12 millions de personnes en situation de handicap en France (INSEE 2021)</a:t>
            </a:r>
          </a:p>
          <a:p>
            <a:pPr algn="l">
              <a:lnSpc>
                <a:spcPct val="120000"/>
              </a:lnSpc>
            </a:pPr>
            <a:r>
              <a:rPr sz="1400" lang="fr-FR">
                <a:solidFill>
                  <a:srgbClr val="161616"/>
                </a:solidFill>
                <a:latin typeface="Marianne"/>
              </a:rPr>
              <a:t>• </a:t>
            </a:r>
            <a:r>
              <a:rPr sz="1400" b="0" lang="fr-FR">
                <a:solidFill>
                  <a:srgbClr val="161616"/>
                </a:solidFill>
                <a:latin typeface="Marianne"/>
              </a:rPr>
              <a:t>Utilisateurs en contexte défavorable : faible luminosité, connexion lente, bruit</a:t>
            </a:r>
          </a:p>
          <a:p>
            <a:pPr algn="l">
              <a:lnSpc>
                <a:spcPct val="120000"/>
              </a:lnSpc>
            </a:pPr>
            <a:r>
              <a:rPr sz="1400" lang="fr-FR">
                <a:solidFill>
                  <a:srgbClr val="161616"/>
                </a:solidFill>
                <a:latin typeface="Marianne"/>
              </a:rPr>
              <a:t>• </a:t>
            </a:r>
            <a:r>
              <a:rPr sz="1400" b="0" lang="fr-FR">
                <a:solidFill>
                  <a:srgbClr val="161616"/>
                </a:solidFill>
                <a:latin typeface="Marianne"/>
              </a:rPr>
              <a:t>Moteurs de recherche et outils d'IA qui analysent vos contenus</a:t>
            </a:r>
          </a:p>
          <a:p>
            <a:pPr algn="l">
              <a:lnSpc>
                <a:spcPct val="120000"/>
              </a:lnSpc>
            </a:pPr>
            <a:r>
              <a:rPr sz="1400" lang="fr-FR">
                <a:solidFill>
                  <a:srgbClr val="161616"/>
                </a:solidFill>
                <a:latin typeface="Marianne"/>
              </a:rPr>
              <a:t>• </a:t>
            </a:r>
            <a:r>
              <a:rPr sz="1400" b="0" lang="fr-FR">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Geste 1 - Texte alternatif : décrire chaque image en 1 phrase</a:t>
            </a:r>
          </a:p>
          <a:p>
            <a:pPr algn="l">
              <a:lnSpc>
                <a:spcPct val="120000"/>
              </a:lnSpc>
            </a:pPr>
            <a:r>
              <a:rPr sz="1400" lang="fr-FR">
                <a:solidFill>
                  <a:srgbClr val="161616"/>
                </a:solidFill>
                <a:latin typeface="Marianne"/>
              </a:rPr>
              <a:t>• </a:t>
            </a:r>
            <a:r>
              <a:rPr sz="1400" b="0" lang="fr-FR">
                <a:solidFill>
                  <a:srgbClr val="161616"/>
                </a:solidFill>
                <a:latin typeface="Marianne"/>
              </a:rPr>
              <a:t>Geste 2 - Émojis : 1 ou 2 maximum, en fin de message</a:t>
            </a:r>
          </a:p>
          <a:p>
            <a:pPr algn="l">
              <a:lnSpc>
                <a:spcPct val="120000"/>
              </a:lnSpc>
            </a:pPr>
            <a:r>
              <a:rPr sz="1400" lang="fr-FR">
                <a:solidFill>
                  <a:srgbClr val="161616"/>
                </a:solidFill>
                <a:latin typeface="Marianne"/>
              </a:rPr>
              <a:t>• </a:t>
            </a:r>
            <a:r>
              <a:rPr sz="1400" b="0" lang="fr-FR">
                <a:solidFill>
                  <a:srgbClr val="161616"/>
                </a:solidFill>
                <a:latin typeface="Marianne"/>
              </a:rPr>
              <a:t>Geste 3 - Hashtags : CamelCase et regroupés en fin de post</a:t>
            </a:r>
          </a:p>
          <a:p>
            <a:pPr algn="l">
              <a:lnSpc>
                <a:spcPct val="120000"/>
              </a:lnSpc>
            </a:pPr>
            <a:r>
              <a:rPr sz="1400" lang="fr-FR">
                <a:solidFill>
                  <a:srgbClr val="161616"/>
                </a:solidFill>
                <a:latin typeface="Marianne"/>
              </a:rPr>
              <a:t>• </a:t>
            </a:r>
            <a:r>
              <a:rPr sz="1400" b="0" lang="fr-FR">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110</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Identifiez le maximum de problèmes d'accessibilité</a:t>
            </a:r>
          </a:p>
          <a:p>
            <a:pPr algn="l">
              <a:lnSpc>
                <a:spcPct val="150000"/>
              </a:lnSpc>
            </a:pPr>
            <a:r>
              <a:rPr sz="1400" lang="fr-FR">
                <a:solidFill>
                  <a:srgbClr val="161616"/>
                </a:solidFill>
                <a:latin typeface="Marianne"/>
              </a:rPr>
              <a:t>• </a:t>
            </a:r>
            <a:r>
              <a:rPr sz="1400" b="0" lang="fr-FR">
                <a:solidFill>
                  <a:srgbClr val="161616"/>
                </a:solidFill>
                <a:latin typeface="Marianne"/>
              </a:rPr>
              <a:t>Ne lisez pas le tweet à voix haute</a:t>
            </a:r>
          </a:p>
          <a:p>
            <a:pPr algn="l">
              <a:lnSpc>
                <a:spcPct val="150000"/>
              </a:lnSpc>
            </a:pPr>
            <a:r>
              <a:rPr sz="1400" lang="fr-FR">
                <a:solidFill>
                  <a:srgbClr val="161616"/>
                </a:solidFill>
                <a:latin typeface="Marianne"/>
              </a:rPr>
              <a:t>• </a:t>
            </a:r>
            <a:r>
              <a:rPr sz="1400" b="0" lang="fr-FR">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111</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Lavez-vous les 👐 avec du 🧼 &amp; de l'💦.</a:t>
            </a:r>
          </a:p>
          <a:p>
            <a:pPr algn="l">
              <a:lnSpc>
                <a:spcPct val="125000"/>
              </a:lnSpc>
            </a:pPr>
            <a:r>
              <a:rPr sz="1400" lang="fr-FR">
                <a:solidFill>
                  <a:srgbClr val="161616"/>
                </a:solidFill>
                <a:latin typeface="Marianne"/>
              </a:rPr>
              <a:t>• </a:t>
            </a:r>
            <a:r>
              <a:rPr sz="1400" b="0" lang="fr-FR">
                <a:solidFill>
                  <a:srgbClr val="161616"/>
                </a:solidFill>
                <a:latin typeface="Marianne"/>
              </a:rPr>
              <a:t>Quand vous toussez ou 🤧 couvrez votre 👄.</a:t>
            </a:r>
          </a:p>
          <a:p>
            <a:pPr algn="l">
              <a:lnSpc>
                <a:spcPct val="125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mains ouvertes avec du savon et éclaboussures de sueur.</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visage qui éternue couvrez votre bouche.</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112</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 avec 1 désinfectant à base d'alcool, du 🧼 &amp; de l'💦.</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 couvrez votre 👄 &amp; le 👃🏻.</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du #COVID19 - trois gestes essentiels :</a:t>
            </a:r>
          </a:p>
          <a:p>
            <a:pPr algn="l">
              <a:lnSpc>
                <a:spcPct val="125000"/>
              </a:lnSpc>
            </a:pPr>
            <a:r>
              <a:rPr sz="1400" lang="fr-FR">
                <a:solidFill>
                  <a:srgbClr val="161616"/>
                </a:solidFill>
                <a:latin typeface="Marianne"/>
              </a:rPr>
              <a:t>• </a:t>
            </a:r>
            <a:r>
              <a:rPr sz="1400" b="0" lang="fr-FR">
                <a:solidFill>
                  <a:srgbClr val="161616"/>
                </a:solidFill>
                <a:latin typeface="Marianne"/>
              </a:rPr>
              <a:t>1. Lavez-vous régulièrement les mains avec du savon et de l'eau 🧼</a:t>
            </a:r>
          </a:p>
          <a:p>
            <a:pPr algn="l">
              <a:lnSpc>
                <a:spcPct val="125000"/>
              </a:lnSpc>
            </a:pPr>
            <a:r>
              <a:rPr sz="1400" lang="fr-FR">
                <a:solidFill>
                  <a:srgbClr val="161616"/>
                </a:solidFill>
                <a:latin typeface="Marianne"/>
              </a:rPr>
              <a:t>• </a:t>
            </a:r>
            <a:r>
              <a:rPr sz="1400" b="0" lang="fr-FR">
                <a:solidFill>
                  <a:srgbClr val="161616"/>
                </a:solidFill>
                <a:latin typeface="Marianne"/>
              </a:rPr>
              <a:t>2. Quand vous toussez, couvrez-vous avec le pli du coude</a:t>
            </a:r>
          </a:p>
          <a:p>
            <a:pPr algn="l">
              <a:lnSpc>
                <a:spcPct val="125000"/>
              </a:lnSpc>
            </a:pPr>
            <a:r>
              <a:rPr sz="1400" lang="fr-FR">
                <a:solidFill>
                  <a:srgbClr val="161616"/>
                </a:solidFill>
                <a:latin typeface="Marianne"/>
              </a:rPr>
              <a:t>• </a:t>
            </a:r>
            <a:r>
              <a:rPr sz="1400" b="0" lang="fr-FR">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Émojis réduits à 1, placé en fin de phrase - le message tient sans eux</a:t>
            </a:r>
          </a:p>
          <a:p>
            <a:pPr algn="l">
              <a:lnSpc>
                <a:spcPct val="115000"/>
              </a:lnSpc>
            </a:pPr>
            <a:r>
              <a:rPr sz="1400" lang="fr-FR">
                <a:solidFill>
                  <a:srgbClr val="161616"/>
                </a:solidFill>
                <a:latin typeface="Marianne"/>
              </a:rPr>
              <a:t>• </a:t>
            </a:r>
            <a:r>
              <a:rPr sz="1400" b="0" lang="fr-FR">
                <a:solidFill>
                  <a:srgbClr val="161616"/>
                </a:solidFill>
                <a:latin typeface="Marianne"/>
              </a:rPr>
              <a:t>Structure numérotée - navigation facile pour tous les utilisateurs</a:t>
            </a:r>
          </a:p>
          <a:p>
            <a:pPr algn="l">
              <a:lnSpc>
                <a:spcPct val="115000"/>
              </a:lnSpc>
            </a:pPr>
            <a:r>
              <a:rPr sz="1400" lang="fr-FR">
                <a:solidFill>
                  <a:srgbClr val="161616"/>
                </a:solidFill>
                <a:latin typeface="Marianne"/>
              </a:rPr>
              <a:t>• </a:t>
            </a:r>
            <a:r>
              <a:rPr sz="1400" b="0" lang="fr-FR">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113</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Fermez les yeux ou regardez ailleurs - écoutez uniquement</a:t>
            </a:r>
          </a:p>
          <a:p>
            <a:pPr algn="l">
              <a:lnSpc>
                <a:spcPct val="150000"/>
              </a:lnSpc>
            </a:pPr>
            <a:r>
              <a:rPr sz="1400" lang="fr-FR">
                <a:solidFill>
                  <a:srgbClr val="161616"/>
                </a:solidFill>
                <a:latin typeface="Marianne"/>
              </a:rPr>
              <a:t>• </a:t>
            </a:r>
            <a:r>
              <a:rPr sz="1400" b="0" lang="fr-FR">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114</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chaque image en 1 à 2 phrases</a:t>
            </a:r>
          </a:p>
          <a:p>
            <a:pPr algn="l">
              <a:lnSpc>
                <a:spcPct val="150000"/>
              </a:lnSpc>
            </a:pPr>
            <a:r>
              <a:rPr sz="1400" lang="fr-FR">
                <a:solidFill>
                  <a:srgbClr val="161616"/>
                </a:solidFill>
                <a:latin typeface="Marianne"/>
              </a:rPr>
              <a:t>• </a:t>
            </a:r>
            <a:r>
              <a:rPr sz="1400" b="0" lang="fr-FR">
                <a:solidFill>
                  <a:srgbClr val="161616"/>
                </a:solidFill>
                <a:latin typeface="Marianne"/>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ou 2 maximum, en fin de message uniquement</a:t>
            </a:r>
          </a:p>
          <a:p>
            <a:pPr algn="l">
              <a:lnSpc>
                <a:spcPct val="150000"/>
              </a:lnSpc>
            </a:pPr>
            <a:r>
              <a:rPr sz="1400" lang="fr-FR">
                <a:solidFill>
                  <a:srgbClr val="161616"/>
                </a:solidFill>
                <a:latin typeface="Marianne"/>
              </a:rPr>
              <a:t>• </a:t>
            </a:r>
            <a:r>
              <a:rPr sz="1400" b="0" lang="fr-FR">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#ServicePublic pas #servicepublic</a:t>
            </a:r>
          </a:p>
          <a:p>
            <a:pPr algn="l">
              <a:lnSpc>
                <a:spcPct val="150000"/>
              </a:lnSpc>
            </a:pPr>
            <a:r>
              <a:rPr sz="1400" lang="fr-FR">
                <a:solidFill>
                  <a:srgbClr val="161616"/>
                </a:solidFill>
                <a:latin typeface="Marianne"/>
              </a:rPr>
              <a:t>• </a:t>
            </a:r>
            <a:r>
              <a:rPr sz="1400" b="0" lang="fr-FR">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de faux gras ou faux italique (InstaFont ...)</a:t>
            </a:r>
          </a:p>
          <a:p>
            <a:pPr algn="l">
              <a:lnSpc>
                <a:spcPct val="150000"/>
              </a:lnSpc>
            </a:pPr>
            <a:r>
              <a:rPr sz="1400" lang="fr-FR">
                <a:solidFill>
                  <a:srgbClr val="161616"/>
                </a:solidFill>
                <a:latin typeface="Marianne"/>
              </a:rPr>
              <a:t>• </a:t>
            </a:r>
            <a:r>
              <a:rPr sz="1400" b="0" lang="fr-FR">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Personnes aveugles ou malvoyantes (lecteur d'écran)</a:t>
            </a:r>
          </a:p>
          <a:p>
            <a:pPr algn="l">
              <a:lnSpc>
                <a:spcPct val="115000"/>
              </a:lnSpc>
            </a:pPr>
            <a:r>
              <a:rPr sz="1400" lang="fr-FR">
                <a:solidFill>
                  <a:srgbClr val="161616"/>
                </a:solidFill>
                <a:latin typeface="Marianne"/>
              </a:rPr>
              <a:t>• </a:t>
            </a:r>
            <a:r>
              <a:rPr sz="1400" b="0" lang="fr-FR">
                <a:solidFill>
                  <a:srgbClr val="161616"/>
                </a:solidFill>
                <a:latin typeface="Marianne"/>
              </a:rPr>
              <a:t>Connexion lente ou image non chargée</a:t>
            </a:r>
          </a:p>
          <a:p>
            <a:pPr algn="l">
              <a:lnSpc>
                <a:spcPct val="115000"/>
              </a:lnSpc>
            </a:pPr>
            <a:r>
              <a:rPr sz="1400" lang="fr-FR">
                <a:solidFill>
                  <a:srgbClr val="161616"/>
                </a:solidFill>
                <a:latin typeface="Marianne"/>
              </a:rPr>
              <a:t>• </a:t>
            </a:r>
            <a:r>
              <a:rPr sz="1400" b="0" lang="fr-FR">
                <a:solidFill>
                  <a:srgbClr val="161616"/>
                </a:solidFill>
                <a:latin typeface="Marianne"/>
              </a:rPr>
              <a:t>Moteurs de recherche (Google indexe via l'alt text)</a:t>
            </a:r>
          </a:p>
          <a:p>
            <a:pPr algn="l">
              <a:lnSpc>
                <a:spcPct val="115000"/>
              </a:lnSpc>
            </a:pPr>
            <a:r>
              <a:rPr sz="1400" lang="fr-FR">
                <a:solidFill>
                  <a:srgbClr val="161616"/>
                </a:solidFill>
                <a:latin typeface="Marianne"/>
              </a:rPr>
              <a:t>• </a:t>
            </a:r>
            <a:r>
              <a:rPr sz="1400" b="0" lang="fr-FR">
                <a:solidFill>
                  <a:srgbClr val="161616"/>
                </a:solidFill>
                <a:latin typeface="Marianne"/>
              </a:rPr>
              <a:t>IA et outils d'analyse d'image</a:t>
            </a:r>
          </a:p>
          <a:p>
            <a:pPr algn="l">
              <a:lnSpc>
                <a:spcPct val="115000"/>
              </a:lnSpc>
            </a:pPr>
            <a:r>
              <a:rPr sz="1400" lang="fr-FR">
                <a:solidFill>
                  <a:srgbClr val="161616"/>
                </a:solidFill>
                <a:latin typeface="Marianne"/>
              </a:rPr>
              <a:t>• </a:t>
            </a:r>
            <a:r>
              <a:rPr sz="1400" b="0" lang="fr-FR">
                <a:solidFill>
                  <a:srgbClr val="161616"/>
                </a:solidFill>
                <a:latin typeface="Marianne"/>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LinkedIn : Modifier → Texte alternatif</a:t>
            </a:r>
          </a:p>
          <a:p>
            <a:pPr algn="l">
              <a:lnSpc>
                <a:spcPct val="115000"/>
              </a:lnSpc>
            </a:pPr>
            <a:r>
              <a:rPr sz="1400" lang="fr-FR">
                <a:solidFill>
                  <a:srgbClr val="161616"/>
                </a:solidFill>
                <a:latin typeface="Marianne"/>
              </a:rPr>
              <a:t>• </a:t>
            </a:r>
            <a:r>
              <a:rPr sz="1400" b="0" lang="fr-FR">
                <a:solidFill>
                  <a:srgbClr val="161616"/>
                </a:solidFill>
                <a:latin typeface="Marianne"/>
              </a:rPr>
              <a:t>Facebook : Modifier l'image → Alt text</a:t>
            </a:r>
          </a:p>
          <a:p>
            <a:pPr algn="l">
              <a:lnSpc>
                <a:spcPct val="115000"/>
              </a:lnSpc>
            </a:pPr>
            <a:r>
              <a:rPr sz="1400" lang="fr-FR">
                <a:solidFill>
                  <a:srgbClr val="161616"/>
                </a:solidFill>
                <a:latin typeface="Marianne"/>
              </a:rPr>
              <a:t>• </a:t>
            </a:r>
            <a:r>
              <a:rPr sz="1400" b="0" lang="fr-FR">
                <a:solidFill>
                  <a:srgbClr val="161616"/>
                </a:solidFill>
                <a:latin typeface="Marianne"/>
              </a:rPr>
              <a:t>Twitter/X : intégré à la publication</a:t>
            </a:r>
          </a:p>
          <a:p>
            <a:pPr algn="l">
              <a:lnSpc>
                <a:spcPct val="115000"/>
              </a:lnSpc>
            </a:pPr>
            <a:r>
              <a:rPr sz="1400" lang="fr-FR">
                <a:solidFill>
                  <a:srgbClr val="161616"/>
                </a:solidFill>
                <a:latin typeface="Marianne"/>
              </a:rPr>
              <a:t>• </a:t>
            </a:r>
            <a:r>
              <a:rPr sz="1400" b="0" lang="fr-FR">
                <a:solidFill>
                  <a:srgbClr val="161616"/>
                </a:solidFill>
                <a:latin typeface="Marianne"/>
              </a:rPr>
              <a:t>Instagram : Paramètres avancés → Alt text</a:t>
            </a:r>
          </a:p>
          <a:p>
            <a:pPr algn="l">
              <a:lnSpc>
                <a:spcPct val="115000"/>
              </a:lnSpc>
            </a:pPr>
            <a:r>
              <a:rPr sz="1400" lang="fr-FR">
                <a:solidFill>
                  <a:srgbClr val="161616"/>
                </a:solidFill>
                <a:latin typeface="Marianne"/>
              </a:rPr>
              <a:t>• </a:t>
            </a:r>
            <a:r>
              <a:rPr sz="1400" b="0" lang="fr-FR">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116</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"image.jpg" - nom de fichier, aucun sens</a:t>
            </a:r>
          </a:p>
          <a:p>
            <a:pPr algn="l">
              <a:lnSpc>
                <a:spcPct val="150000"/>
              </a:lnSpc>
            </a:pPr>
            <a:r>
              <a:rPr sz="1400" lang="fr-FR">
                <a:solidFill>
                  <a:srgbClr val="161616"/>
                </a:solidFill>
                <a:latin typeface="Marianne"/>
              </a:rPr>
              <a:t>• </a:t>
            </a:r>
            <a:r>
              <a:rPr sz="1400" b="0" lang="fr-FR">
                <a:solidFill>
                  <a:srgbClr val="161616"/>
                </a:solidFill>
                <a:latin typeface="Marianne"/>
              </a:rPr>
              <a:t>"Photo" - trop vague, aucune information</a:t>
            </a:r>
          </a:p>
          <a:p>
            <a:pPr algn="l">
              <a:lnSpc>
                <a:spcPct val="150000"/>
              </a:lnSpc>
            </a:pPr>
            <a:r>
              <a:rPr sz="1400" lang="fr-FR">
                <a:solidFill>
                  <a:srgbClr val="161616"/>
                </a:solidFill>
                <a:latin typeface="Marianne"/>
              </a:rPr>
              <a:t>• </a:t>
            </a:r>
            <a:r>
              <a:rPr sz="1400" b="0" lang="fr-FR">
                <a:solidFill>
                  <a:srgbClr val="161616"/>
                </a:solidFill>
                <a:latin typeface="Marianne"/>
              </a:rPr>
              <a:t>"Image de la réunion du 12 mars 2026" - date inutile sans contexte</a:t>
            </a:r>
          </a:p>
          <a:p>
            <a:pPr algn="l">
              <a:lnSpc>
                <a:spcPct val="150000"/>
              </a:lnSpc>
            </a:pPr>
            <a:r>
              <a:rPr sz="1400" lang="fr-FR">
                <a:solidFill>
                  <a:srgbClr val="161616"/>
                </a:solidFill>
                <a:latin typeface="Marianne"/>
              </a:rPr>
              <a:t>• </a:t>
            </a:r>
            <a:r>
              <a:rPr sz="1400" b="0" lang="fr-FR">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"Trois agents discutent autour d'une table, documents ouverts"</a:t>
            </a:r>
          </a:p>
          <a:p>
            <a:pPr algn="l">
              <a:lnSpc>
                <a:spcPct val="125000"/>
              </a:lnSpc>
            </a:pPr>
            <a:r>
              <a:rPr sz="1400" lang="fr-FR">
                <a:solidFill>
                  <a:srgbClr val="161616"/>
                </a:solidFill>
                <a:latin typeface="Marianne"/>
              </a:rPr>
              <a:t>• </a:t>
            </a:r>
            <a:r>
              <a:rPr sz="1400" b="0" lang="fr-FR">
                <a:solidFill>
                  <a:srgbClr val="161616"/>
                </a:solidFill>
                <a:latin typeface="Marianne"/>
              </a:rPr>
              <a:t>"Logo DINUM - bleu avec texte blanc"</a:t>
            </a:r>
          </a:p>
          <a:p>
            <a:pPr algn="l">
              <a:lnSpc>
                <a:spcPct val="125000"/>
              </a:lnSpc>
            </a:pPr>
            <a:r>
              <a:rPr sz="1400" lang="fr-FR">
                <a:solidFill>
                  <a:srgbClr val="161616"/>
                </a:solidFill>
                <a:latin typeface="Marianne"/>
              </a:rPr>
              <a:t>• </a:t>
            </a:r>
            <a:r>
              <a:rPr sz="1400" b="0" lang="fr-FR">
                <a:solidFill>
                  <a:srgbClr val="161616"/>
                </a:solidFill>
                <a:latin typeface="Marianne"/>
              </a:rPr>
              <a:t>"Graphique : le taux d'accessibilité passe de 45 à 78 % entre 2023 et 2025"</a:t>
            </a:r>
          </a:p>
          <a:p>
            <a:pPr algn="l">
              <a:lnSpc>
                <a:spcPct val="125000"/>
              </a:lnSpc>
            </a:pPr>
            <a:r>
              <a:rPr sz="1400" lang="fr-FR">
                <a:solidFill>
                  <a:srgbClr val="161616"/>
                </a:solidFill>
                <a:latin typeface="Marianne"/>
              </a:rPr>
              <a:t>• </a:t>
            </a:r>
            <a:r>
              <a:rPr sz="1400" b="0" lang="fr-FR">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117</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Marianne"/>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Marianne"/>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LinkedIn et Instagram proposent un rappel si vous oubliez l'alt text</a:t>
            </a:r>
          </a:p>
          <a:p>
            <a:pPr algn="l">
              <a:lnSpc>
                <a:spcPct val="150000"/>
              </a:lnSpc>
            </a:pPr>
            <a:r>
              <a:rPr sz="1400" lang="fr-FR">
                <a:solidFill>
                  <a:srgbClr val="161616"/>
                </a:solidFill>
                <a:latin typeface="Marianne"/>
              </a:rPr>
              <a:t>• </a:t>
            </a:r>
            <a:r>
              <a:rPr sz="1400" b="0" lang="fr-FR">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118</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Retirez tous les émojis du texte</a:t>
            </a:r>
          </a:p>
          <a:p>
            <a:pPr algn="l">
              <a:lnSpc>
                <a:spcPct val="120000"/>
              </a:lnSpc>
            </a:pPr>
            <a:r>
              <a:rPr sz="1400" lang="fr-FR">
                <a:solidFill>
                  <a:srgbClr val="161616"/>
                </a:solidFill>
                <a:latin typeface="Marianne"/>
              </a:rPr>
              <a:t>• </a:t>
            </a:r>
            <a:r>
              <a:rPr sz="1400" b="0" lang="fr-FR">
                <a:solidFill>
                  <a:srgbClr val="161616"/>
                </a:solidFill>
                <a:latin typeface="Marianne"/>
              </a:rPr>
              <a:t>Le message est-il toujours clair et complet ? Si oui : bon signe</a:t>
            </a:r>
          </a:p>
          <a:p>
            <a:pPr algn="l">
              <a:lnSpc>
                <a:spcPct val="120000"/>
              </a:lnSpc>
            </a:pPr>
            <a:r>
              <a:rPr sz="1400" lang="fr-FR">
                <a:solidFill>
                  <a:srgbClr val="161616"/>
                </a:solidFill>
                <a:latin typeface="Marianne"/>
              </a:rPr>
              <a:t>• </a:t>
            </a:r>
            <a:r>
              <a:rPr sz="1400" b="0" lang="fr-FR">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119</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120</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#ServicePublic : les mots sont séparés naturellement</a:t>
            </a:r>
          </a:p>
          <a:p>
            <a:pPr algn="l">
              <a:lnSpc>
                <a:spcPct val="115000"/>
              </a:lnSpc>
            </a:pPr>
            <a:r>
              <a:rPr sz="1400" lang="fr-FR">
                <a:solidFill>
                  <a:srgbClr val="161616"/>
                </a:solidFill>
                <a:latin typeface="Marianne"/>
              </a:rPr>
              <a:t>• </a:t>
            </a:r>
            <a:r>
              <a:rPr sz="1400" b="0" lang="fr-FR">
                <a:solidFill>
                  <a:srgbClr val="161616"/>
                </a:solidFill>
                <a:latin typeface="Marianne"/>
              </a:rPr>
              <a:t>#servicepublic : un seul bloc, plus difficile à comprendre</a:t>
            </a:r>
          </a:p>
          <a:p>
            <a:pPr algn="l">
              <a:lnSpc>
                <a:spcPct val="115000"/>
              </a:lnSpc>
            </a:pPr>
            <a:r>
              <a:rPr sz="1400" lang="fr-FR">
                <a:solidFill>
                  <a:srgbClr val="161616"/>
                </a:solidFill>
                <a:latin typeface="Marianne"/>
              </a:rPr>
              <a:t>• </a:t>
            </a:r>
            <a:r>
              <a:rPr sz="1400" b="0" lang="fr-FR">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Majuscule au début de chaque mot</a:t>
            </a:r>
          </a:p>
          <a:p>
            <a:pPr algn="l">
              <a:lnSpc>
                <a:spcPct val="115000"/>
              </a:lnSpc>
            </a:pPr>
            <a:r>
              <a:rPr sz="1400" lang="fr-FR">
                <a:solidFill>
                  <a:srgbClr val="161616"/>
                </a:solidFill>
                <a:latin typeface="Marianne"/>
              </a:rPr>
              <a:t>• </a:t>
            </a:r>
            <a:r>
              <a:rPr sz="1400" b="0" lang="fr-FR">
                <a:solidFill>
                  <a:srgbClr val="161616"/>
                </a:solidFill>
                <a:latin typeface="Marianne"/>
              </a:rPr>
              <a:t>Hashtags regroupés à la fin du post</a:t>
            </a:r>
          </a:p>
          <a:p>
            <a:pPr algn="l">
              <a:lnSpc>
                <a:spcPct val="115000"/>
              </a:lnSpc>
            </a:pPr>
            <a:r>
              <a:rPr sz="1400" lang="fr-FR">
                <a:solidFill>
                  <a:srgbClr val="161616"/>
                </a:solidFill>
                <a:latin typeface="Marianne"/>
              </a:rPr>
              <a:t>• </a:t>
            </a:r>
            <a:r>
              <a:rPr sz="1400" b="0" lang="fr-FR">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121</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InstaFont, LingoJam ... transforment les lettres en symboles</a:t>
            </a:r>
          </a:p>
          <a:p>
            <a:pPr algn="l">
              <a:lnSpc>
                <a:spcPct val="115000"/>
              </a:lnSpc>
            </a:pPr>
            <a:r>
              <a:rPr sz="1400" lang="fr-FR">
                <a:solidFill>
                  <a:srgbClr val="161616"/>
                </a:solidFill>
                <a:latin typeface="Marianne"/>
              </a:rPr>
              <a:t>• </a:t>
            </a:r>
            <a:r>
              <a:rPr sz="1400" b="0" lang="fr-FR">
                <a:solidFill>
                  <a:srgbClr val="161616"/>
                </a:solidFill>
                <a:latin typeface="Marianne"/>
              </a:rPr>
              <a:t>Le lecteur d'écran peut épeler, déformer ou ignorer le message</a:t>
            </a:r>
          </a:p>
          <a:p>
            <a:pPr algn="l">
              <a:lnSpc>
                <a:spcPct val="115000"/>
              </a:lnSpc>
            </a:pPr>
            <a:r>
              <a:rPr sz="1400" lang="fr-FR">
                <a:solidFill>
                  <a:srgbClr val="161616"/>
                </a:solidFill>
                <a:latin typeface="Marianne"/>
              </a:rPr>
              <a:t>• </a:t>
            </a:r>
            <a:r>
              <a:rPr sz="1400" b="0" lang="fr-FR">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Utiliser le gras natif de la plateforme quand il existe</a:t>
            </a:r>
          </a:p>
          <a:p>
            <a:pPr algn="l">
              <a:lnSpc>
                <a:spcPct val="115000"/>
              </a:lnSpc>
            </a:pPr>
            <a:r>
              <a:rPr sz="1400" lang="fr-FR">
                <a:solidFill>
                  <a:srgbClr val="161616"/>
                </a:solidFill>
                <a:latin typeface="Marianne"/>
              </a:rPr>
              <a:t>• </a:t>
            </a:r>
            <a:r>
              <a:rPr sz="1400" b="0" lang="fr-FR">
                <a:solidFill>
                  <a:srgbClr val="161616"/>
                </a:solidFill>
                <a:latin typeface="Marianne"/>
              </a:rPr>
              <a:t>Sinon : écrire en texte simple</a:t>
            </a:r>
          </a:p>
          <a:p>
            <a:pPr algn="l">
              <a:lnSpc>
                <a:spcPct val="115000"/>
              </a:lnSpc>
            </a:pPr>
            <a:r>
              <a:rPr sz="1400" lang="fr-FR">
                <a:solidFill>
                  <a:srgbClr val="161616"/>
                </a:solidFill>
                <a:latin typeface="Marianne"/>
              </a:rPr>
              <a:t>• </a:t>
            </a:r>
            <a:r>
              <a:rPr sz="1400" b="0" lang="fr-FR">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122</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Qui est visible dans cette communication ?</a:t>
            </a:r>
          </a:p>
          <a:p>
            <a:pPr algn="l">
              <a:lnSpc>
                <a:spcPct val="115000"/>
              </a:lnSpc>
            </a:pPr>
            <a:r>
              <a:rPr sz="1400" lang="fr-FR">
                <a:solidFill>
                  <a:srgbClr val="161616"/>
                </a:solidFill>
                <a:latin typeface="Marianne"/>
              </a:rPr>
              <a:t>• </a:t>
            </a:r>
            <a:r>
              <a:rPr sz="1400" b="0" lang="fr-FR">
                <a:solidFill>
                  <a:srgbClr val="161616"/>
                </a:solidFill>
                <a:latin typeface="Marianne"/>
              </a:rPr>
              <a:t>Qui est absent ou toujours montré en marge ?</a:t>
            </a:r>
          </a:p>
          <a:p>
            <a:pPr algn="l">
              <a:lnSpc>
                <a:spcPct val="115000"/>
              </a:lnSpc>
            </a:pPr>
            <a:r>
              <a:rPr sz="1400" lang="fr-FR">
                <a:solidFill>
                  <a:srgbClr val="161616"/>
                </a:solidFill>
                <a:latin typeface="Marianne"/>
              </a:rPr>
              <a:t>• </a:t>
            </a:r>
            <a:r>
              <a:rPr sz="1400" b="0" lang="fr-FR">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Les personnes concernées peuvent se sentir attendues</a:t>
            </a:r>
          </a:p>
          <a:p>
            <a:pPr algn="l">
              <a:lnSpc>
                <a:spcPct val="115000"/>
              </a:lnSpc>
            </a:pPr>
            <a:r>
              <a:rPr sz="1400" lang="fr-FR">
                <a:solidFill>
                  <a:srgbClr val="161616"/>
                </a:solidFill>
                <a:latin typeface="Marianne"/>
              </a:rPr>
              <a:t>• </a:t>
            </a:r>
            <a:r>
              <a:rPr sz="1400" b="0" lang="fr-FR">
                <a:solidFill>
                  <a:srgbClr val="161616"/>
                </a:solidFill>
                <a:latin typeface="Marianne"/>
              </a:rPr>
              <a:t>La communication évite de reconduire une seule norme</a:t>
            </a:r>
          </a:p>
          <a:p>
            <a:pPr algn="l">
              <a:lnSpc>
                <a:spcPct val="115000"/>
              </a:lnSpc>
            </a:pPr>
            <a:r>
              <a:rPr sz="1400" lang="fr-FR">
                <a:solidFill>
                  <a:srgbClr val="161616"/>
                </a:solidFill>
                <a:latin typeface="Marianne"/>
              </a:rPr>
              <a:t>• </a:t>
            </a:r>
            <a:r>
              <a:rPr sz="1400" b="0" lang="fr-FR">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123</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Diversité montrée dans des situations ordinaires</a:t>
            </a:r>
          </a:p>
          <a:p>
            <a:pPr algn="l">
              <a:lnSpc>
                <a:spcPct val="115000"/>
              </a:lnSpc>
            </a:pPr>
            <a:r>
              <a:rPr sz="1400" lang="fr-FR">
                <a:solidFill>
                  <a:srgbClr val="161616"/>
                </a:solidFill>
                <a:latin typeface="Marianne"/>
              </a:rPr>
              <a:t>• </a:t>
            </a:r>
            <a:r>
              <a:rPr sz="1400" b="0" lang="fr-FR">
                <a:solidFill>
                  <a:srgbClr val="161616"/>
                </a:solidFill>
                <a:latin typeface="Marianne"/>
              </a:rPr>
              <a:t>Personnes concernées en rôle actif, pas seulement décoratif</a:t>
            </a:r>
          </a:p>
          <a:p>
            <a:pPr algn="l">
              <a:lnSpc>
                <a:spcPct val="115000"/>
              </a:lnSpc>
            </a:pPr>
            <a:r>
              <a:rPr sz="1400" lang="fr-FR">
                <a:solidFill>
                  <a:srgbClr val="161616"/>
                </a:solidFill>
                <a:latin typeface="Marianne"/>
              </a:rPr>
              <a:t>• </a:t>
            </a:r>
            <a:r>
              <a:rPr sz="1400" b="0" lang="fr-FR">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Image symbolique sans réalité derrière</a:t>
            </a:r>
          </a:p>
          <a:p>
            <a:pPr algn="l">
              <a:lnSpc>
                <a:spcPct val="115000"/>
              </a:lnSpc>
            </a:pPr>
            <a:r>
              <a:rPr sz="1400" lang="fr-FR">
                <a:solidFill>
                  <a:srgbClr val="161616"/>
                </a:solidFill>
                <a:latin typeface="Marianne"/>
              </a:rPr>
              <a:t>• </a:t>
            </a:r>
            <a:r>
              <a:rPr sz="1400" b="0" lang="fr-FR">
                <a:solidFill>
                  <a:srgbClr val="161616"/>
                </a:solidFill>
                <a:latin typeface="Marianne"/>
              </a:rPr>
              <a:t>Personne réduite à son handicap ou à son identité</a:t>
            </a:r>
          </a:p>
          <a:p>
            <a:pPr algn="l">
              <a:lnSpc>
                <a:spcPct val="115000"/>
              </a:lnSpc>
            </a:pPr>
            <a:r>
              <a:rPr sz="1400" lang="fr-FR">
                <a:solidFill>
                  <a:srgbClr val="161616"/>
                </a:solidFill>
                <a:latin typeface="Marianne"/>
              </a:rPr>
              <a:t>• </a:t>
            </a:r>
            <a:r>
              <a:rPr sz="1400" b="0" lang="fr-FR">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124</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Formules épicènes : 'Nous vous convions', 'les personnes concernées'</a:t>
            </a:r>
          </a:p>
          <a:p>
            <a:pPr algn="l">
              <a:lnSpc>
                <a:spcPct val="120000"/>
              </a:lnSpc>
            </a:pPr>
            <a:r>
              <a:rPr sz="1400" lang="fr-FR">
                <a:solidFill>
                  <a:srgbClr val="161616"/>
                </a:solidFill>
                <a:latin typeface="Marianne"/>
              </a:rPr>
              <a:t>• </a:t>
            </a:r>
            <a:r>
              <a:rPr sz="1400" b="0" lang="fr-FR">
                <a:solidFill>
                  <a:srgbClr val="161616"/>
                </a:solidFill>
                <a:latin typeface="Marianne"/>
              </a:rPr>
              <a:t>Mots collectifs : 'le public', 'l'équipe', 'la clientèle'</a:t>
            </a:r>
          </a:p>
          <a:p>
            <a:pPr algn="l">
              <a:lnSpc>
                <a:spcPct val="120000"/>
              </a:lnSpc>
            </a:pPr>
            <a:r>
              <a:rPr sz="1400" lang="fr-FR">
                <a:solidFill>
                  <a:srgbClr val="161616"/>
                </a:solidFill>
                <a:latin typeface="Marianne"/>
              </a:rPr>
              <a:t>• </a:t>
            </a:r>
            <a:r>
              <a:rPr sz="1400" b="0" lang="fr-FR">
                <a:solidFill>
                  <a:srgbClr val="161616"/>
                </a:solidFill>
                <a:latin typeface="Marianne"/>
              </a:rPr>
              <a:t>Double flexion si nécessaire : 'les utilisateurs et utilisatrices'</a:t>
            </a:r>
          </a:p>
          <a:p>
            <a:pPr algn="l">
              <a:lnSpc>
                <a:spcPct val="120000"/>
              </a:lnSpc>
            </a:pPr>
            <a:r>
              <a:rPr sz="1400" lang="fr-FR">
                <a:solidFill>
                  <a:srgbClr val="161616"/>
                </a:solidFill>
                <a:latin typeface="Marianne"/>
              </a:rPr>
              <a:t>• </a:t>
            </a:r>
            <a:r>
              <a:rPr sz="1400" b="0" lang="fr-FR">
                <a:solidFill>
                  <a:srgbClr val="161616"/>
                </a:solidFill>
                <a:latin typeface="Marianne"/>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Point médian ou ponctuation répétée quand cela gêne la lecture</a:t>
            </a:r>
          </a:p>
          <a:p>
            <a:pPr algn="l">
              <a:lnSpc>
                <a:spcPct val="120000"/>
              </a:lnSpc>
            </a:pPr>
            <a:r>
              <a:rPr sz="1400" lang="fr-FR">
                <a:solidFill>
                  <a:srgbClr val="161616"/>
                </a:solidFill>
                <a:latin typeface="Marianne"/>
              </a:rPr>
              <a:t>• </a:t>
            </a:r>
            <a:r>
              <a:rPr sz="1400" b="0" lang="fr-FR">
                <a:solidFill>
                  <a:srgbClr val="161616"/>
                </a:solidFill>
                <a:latin typeface="Marianne"/>
              </a:rPr>
              <a:t>Formes trop compressées : elles ralentissent aussi la lecture visuelle</a:t>
            </a:r>
          </a:p>
          <a:p>
            <a:pPr algn="l">
              <a:lnSpc>
                <a:spcPct val="120000"/>
              </a:lnSpc>
            </a:pPr>
            <a:r>
              <a:rPr sz="1400" lang="fr-FR">
                <a:solidFill>
                  <a:srgbClr val="161616"/>
                </a:solidFill>
                <a:latin typeface="Marianne"/>
              </a:rPr>
              <a:t>• </a:t>
            </a:r>
            <a:r>
              <a:rPr sz="1400" b="0" lang="fr-FR">
                <a:solidFill>
                  <a:srgbClr val="161616"/>
                </a:solidFill>
                <a:latin typeface="Marianne"/>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125</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1 publication</a:t>
            </a:r>
          </a:p>
        </p:txBody>
      </p:sp>
      <p:sp>
        <p:nvSpPr>
          <p:cNvPr id="14" name="DSFR-stepper-pastille-2"/>
          <p:cNvSpPr/>
          <p:nvPr/>
        </p:nvSpPr>
        <p:spPr>
          <a:xfrm>
            <a:off x="4328541"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3358134"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Anticiper / Rédiger / Publier</a:t>
            </a:r>
          </a:p>
        </p:txBody>
      </p:sp>
      <p:sp>
        <p:nvSpPr>
          <p:cNvPr id="17" name="DSFR-stepper-pastille-3"/>
          <p:cNvSpPr/>
          <p:nvPr/>
        </p:nvSpPr>
        <p:spPr>
          <a:xfrm>
            <a:off x="7211186"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9" name="DSFR-stepper-texte-3"/>
          <p:cNvSpPr txBox="1"/>
          <p:nvPr/>
        </p:nvSpPr>
        <p:spPr>
          <a:xfrm>
            <a:off x="6240779"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Retenir 2 risques prioritaires</a:t>
            </a:r>
          </a:p>
        </p:txBody>
      </p:sp>
      <p:sp>
        <p:nvSpPr>
          <p:cNvPr id="20" name="DSFR-stepper-pastille-4"/>
          <p:cNvSpPr/>
          <p:nvPr/>
        </p:nvSpPr>
        <p:spPr>
          <a:xfrm>
            <a:off x="10093832"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1" name="DSFR-stepper-texte-4"/>
          <p:cNvSpPr txBox="1"/>
          <p:nvPr/>
        </p:nvSpPr>
        <p:spPr>
          <a:xfrm>
            <a:off x="9123426"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Préparer 1 min de restitution</a:t>
            </a:r>
          </a:p>
        </p:txBody>
      </p:sp>
      <p:sp>
        <p:nvSpPr>
          <p:cNvPr id="23" name="DSFR-box"/>
          <p:cNvSpPr/>
          <p:nvPr/>
        </p:nvSpPr>
        <p:spPr>
          <a:xfrm>
            <a:off x="548640" y="4677156"/>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76859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Déroulé</a:t>
            </a:r>
          </a:p>
        </p:txBody>
      </p:sp>
      <p:sp>
        <p:nvSpPr>
          <p:cNvPr id="25" name="DSFR-alert-info-body"/>
          <p:cNvSpPr txBox="1"/>
          <p:nvPr/>
        </p:nvSpPr>
        <p:spPr>
          <a:xfrm>
            <a:off x="704088" y="5180076"/>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3 min : choisir le post et le contexte</a:t>
            </a:r>
          </a:p>
          <a:p>
            <a:pPr algn="l">
              <a:lnSpc>
                <a:spcPct val="115000"/>
              </a:lnSpc>
            </a:pPr>
            <a:r>
              <a:rPr sz="1400" lang="fr-FR">
                <a:solidFill>
                  <a:srgbClr val="161616"/>
                </a:solidFill>
                <a:latin typeface="Marianne"/>
              </a:rPr>
              <a:t>• </a:t>
            </a:r>
            <a:r>
              <a:rPr sz="1400" b="0" lang="fr-FR">
                <a:solidFill>
                  <a:srgbClr val="161616"/>
                </a:solidFill>
                <a:latin typeface="Marianne"/>
              </a:rPr>
              <a:t>8 min : passer les 3 checklists</a:t>
            </a:r>
          </a:p>
          <a:p>
            <a:pPr algn="l">
              <a:lnSpc>
                <a:spcPct val="115000"/>
              </a:lnSpc>
            </a:pPr>
            <a:r>
              <a:rPr sz="1400" lang="fr-FR">
                <a:solidFill>
                  <a:srgbClr val="161616"/>
                </a:solidFill>
                <a:latin typeface="Marianne"/>
              </a:rPr>
              <a:t>• </a:t>
            </a:r>
            <a:r>
              <a:rPr sz="1400" b="0" lang="fr-FR">
                <a:solidFill>
                  <a:srgbClr val="161616"/>
                </a:solidFill>
                <a:latin typeface="Marianne"/>
              </a:rPr>
              <a:t>4 min : formuler 2 corrections</a:t>
            </a:r>
          </a:p>
        </p:txBody>
      </p:sp>
      <p:sp>
        <p:nvSpPr>
          <p:cNvPr id="27" name="DSFR-box"/>
          <p:cNvSpPr/>
          <p:nvPr/>
        </p:nvSpPr>
        <p:spPr>
          <a:xfrm>
            <a:off x="6313931" y="4603089"/>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69452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restituer</a:t>
            </a:r>
          </a:p>
        </p:txBody>
      </p:sp>
      <p:sp>
        <p:nvSpPr>
          <p:cNvPr id="29" name="DSFR-alert-success-body"/>
          <p:cNvSpPr txBox="1"/>
          <p:nvPr/>
        </p:nvSpPr>
        <p:spPr>
          <a:xfrm>
            <a:off x="6469379" y="5106009"/>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point le plus bloquant</a:t>
            </a:r>
          </a:p>
          <a:p>
            <a:pPr algn="l">
              <a:lnSpc>
                <a:spcPct val="115000"/>
              </a:lnSpc>
            </a:pPr>
            <a:r>
              <a:rPr sz="1400" lang="fr-FR">
                <a:solidFill>
                  <a:srgbClr val="161616"/>
                </a:solidFill>
                <a:latin typeface="Marianne"/>
              </a:rPr>
              <a:t>• </a:t>
            </a:r>
            <a:r>
              <a:rPr sz="1400" b="0" lang="fr-FR">
                <a:solidFill>
                  <a:srgbClr val="161616"/>
                </a:solidFill>
                <a:latin typeface="Marianne"/>
              </a:rPr>
              <a:t>La correction proposée</a:t>
            </a:r>
          </a:p>
          <a:p>
            <a:pPr algn="l">
              <a:lnSpc>
                <a:spcPct val="115000"/>
              </a:lnSpc>
            </a:pPr>
            <a:r>
              <a:rPr sz="1400" lang="fr-FR">
                <a:solidFill>
                  <a:srgbClr val="161616"/>
                </a:solidFill>
                <a:latin typeface="Marianne"/>
              </a:rPr>
              <a:t>• </a:t>
            </a:r>
            <a:r>
              <a:rPr sz="1400" b="0" lang="fr-FR">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77156"/>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603089"/>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Média prévu ? image = alt text, audio = transcription, vidéo = sous-titres</a:t>
            </a:r>
          </a:p>
          <a:p>
            <a:pPr algn="l">
              <a:lnSpc>
                <a:spcPct val="150000"/>
              </a:lnSpc>
            </a:pPr>
            <a:r>
              <a:rPr sz="1800" b="1" lang="fr-FR">
                <a:solidFill>
                  <a:srgbClr val="000091"/>
                </a:solidFill>
                <a:latin typeface="Marianne"/>
              </a:rPr>
              <a:t>☐  </a:t>
            </a:r>
            <a:r>
              <a:rPr sz="1400" lang="fr-FR">
                <a:solidFill>
                  <a:srgbClr val="161616"/>
                </a:solidFill>
                <a:latin typeface="Marianne"/>
              </a:rPr>
              <a:t>Visuels : représentations diverses et cohérentes avec la réalité accessible</a:t>
            </a:r>
          </a:p>
          <a:p>
            <a:pPr algn="l">
              <a:lnSpc>
                <a:spcPct val="150000"/>
              </a:lnSpc>
            </a:pPr>
            <a:r>
              <a:rPr sz="1800" b="1" lang="fr-FR">
                <a:solidFill>
                  <a:srgbClr val="000091"/>
                </a:solidFill>
                <a:latin typeface="Marianne"/>
              </a:rPr>
              <a:t>☐  </a:t>
            </a:r>
            <a:r>
              <a:rPr sz="1400" lang="fr-FR">
                <a:solidFill>
                  <a:srgbClr val="161616"/>
                </a:solidFill>
                <a:latin typeface="Marianne"/>
              </a:rPr>
              <a:t>Visuel très chargé ? prévoir une version complète en ligne ou dans le post</a:t>
            </a:r>
          </a:p>
          <a:p>
            <a:pPr algn="l">
              <a:lnSpc>
                <a:spcPct val="150000"/>
              </a:lnSpc>
            </a:pPr>
            <a:r>
              <a:rPr sz="1800" b="1" lang="fr-FR">
                <a:solidFill>
                  <a:srgbClr val="000091"/>
                </a:solidFill>
                <a:latin typeface="Marianne"/>
              </a:rPr>
              <a:t>☐  </a:t>
            </a:r>
            <a:r>
              <a:rPr sz="1400" lang="fr-FR">
                <a:solidFill>
                  <a:srgbClr val="161616"/>
                </a:solidFill>
                <a:latin typeface="Marianne"/>
              </a:rPr>
              <a:t>Police lisible, sans fantaisie, assez épaisse pour un écran mobile</a:t>
            </a:r>
          </a:p>
          <a:p>
            <a:pPr algn="l">
              <a:lnSpc>
                <a:spcPct val="150000"/>
              </a:lnSpc>
            </a:pPr>
            <a:r>
              <a:rPr sz="1800" b="1" lang="fr-FR">
                <a:solidFill>
                  <a:srgbClr val="000091"/>
                </a:solidFill>
                <a:latin typeface="Marianne"/>
              </a:rPr>
              <a:t>☐  </a:t>
            </a:r>
            <a:r>
              <a:rPr sz="1400" lang="fr-FR">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Informations essentielles écrites dans le texte du post</a:t>
            </a:r>
          </a:p>
          <a:p>
            <a:pPr algn="l">
              <a:lnSpc>
                <a:spcPct val="150000"/>
              </a:lnSpc>
            </a:pPr>
            <a:r>
              <a:rPr sz="1800" b="1" lang="fr-FR">
                <a:solidFill>
                  <a:srgbClr val="000091"/>
                </a:solidFill>
                <a:latin typeface="Marianne"/>
              </a:rPr>
              <a:t>☐  </a:t>
            </a:r>
            <a:r>
              <a:rPr sz="1400" lang="fr-FR">
                <a:solidFill>
                  <a:srgbClr val="161616"/>
                </a:solidFill>
                <a:latin typeface="Marianne"/>
              </a:rPr>
              <a:t>Paragraphes courts, texte natif, pas de faux gras Unicode</a:t>
            </a:r>
          </a:p>
          <a:p>
            <a:pPr algn="l">
              <a:lnSpc>
                <a:spcPct val="150000"/>
              </a:lnSpc>
            </a:pPr>
            <a:r>
              <a:rPr sz="1800" b="1" lang="fr-FR">
                <a:solidFill>
                  <a:srgbClr val="000091"/>
                </a:solidFill>
                <a:latin typeface="Marianne"/>
              </a:rPr>
              <a:t>☐  </a:t>
            </a:r>
            <a:r>
              <a:rPr sz="1400" lang="fr-FR">
                <a:solidFill>
                  <a:srgbClr val="161616"/>
                </a:solidFill>
                <a:latin typeface="Marianne"/>
              </a:rPr>
              <a:t>Émojis : 1 ou 2, en fin de message, sens vérifié</a:t>
            </a:r>
          </a:p>
          <a:p>
            <a:pPr algn="l">
              <a:lnSpc>
                <a:spcPct val="150000"/>
              </a:lnSpc>
            </a:pPr>
            <a:r>
              <a:rPr sz="1800" b="1" lang="fr-FR">
                <a:solidFill>
                  <a:srgbClr val="000091"/>
                </a:solidFill>
                <a:latin typeface="Marianne"/>
              </a:rPr>
              <a:t>☐  </a:t>
            </a:r>
            <a:r>
              <a:rPr sz="1400" lang="fr-FR">
                <a:solidFill>
                  <a:srgbClr val="161616"/>
                </a:solidFill>
                <a:latin typeface="Marianne"/>
              </a:rPr>
              <a:t>Hashtags : CamelCase, courts, regroupés à la fin, 2 ou 3 maximum</a:t>
            </a:r>
          </a:p>
          <a:p>
            <a:pPr algn="l">
              <a:lnSpc>
                <a:spcPct val="150000"/>
              </a:lnSpc>
            </a:pPr>
            <a:r>
              <a:rPr sz="1800" b="1" lang="fr-FR">
                <a:solidFill>
                  <a:srgbClr val="000091"/>
                </a:solidFill>
                <a:latin typeface="Marianne"/>
              </a:rPr>
              <a:t>☐  </a:t>
            </a:r>
            <a:r>
              <a:rPr sz="1400" lang="fr-FR">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Alt text clair et unique pour chaque image informative</a:t>
            </a:r>
          </a:p>
          <a:p>
            <a:pPr algn="l">
              <a:lnSpc>
                <a:spcPct val="150000"/>
              </a:lnSpc>
            </a:pPr>
            <a:r>
              <a:rPr sz="1800" b="1" lang="fr-FR">
                <a:solidFill>
                  <a:srgbClr val="000091"/>
                </a:solidFill>
                <a:latin typeface="Marianne"/>
              </a:rPr>
              <a:t>☐  </a:t>
            </a:r>
            <a:r>
              <a:rPr sz="1400" lang="fr-FR">
                <a:solidFill>
                  <a:srgbClr val="161616"/>
                </a:solidFill>
                <a:latin typeface="Marianne"/>
              </a:rPr>
              <a:t>Infographie ou carrousel : chiffres et messages clés repris dans le post</a:t>
            </a:r>
          </a:p>
          <a:p>
            <a:pPr algn="l">
              <a:lnSpc>
                <a:spcPct val="150000"/>
              </a:lnSpc>
            </a:pPr>
            <a:r>
              <a:rPr sz="1800" b="1" lang="fr-FR">
                <a:solidFill>
                  <a:srgbClr val="000091"/>
                </a:solidFill>
                <a:latin typeface="Marianne"/>
              </a:rPr>
              <a:t>☐  </a:t>
            </a:r>
            <a:r>
              <a:rPr sz="1400" lang="fr-FR">
                <a:solidFill>
                  <a:srgbClr val="161616"/>
                </a:solidFill>
                <a:latin typeface="Marianne"/>
              </a:rPr>
              <a:t>Audio : transcription écrite jointe ou lien visible</a:t>
            </a:r>
          </a:p>
          <a:p>
            <a:pPr algn="l">
              <a:lnSpc>
                <a:spcPct val="150000"/>
              </a:lnSpc>
            </a:pPr>
            <a:r>
              <a:rPr sz="1800" b="1" lang="fr-FR">
                <a:solidFill>
                  <a:srgbClr val="000091"/>
                </a:solidFill>
                <a:latin typeface="Marianne"/>
              </a:rPr>
              <a:t>☐  </a:t>
            </a:r>
            <a:r>
              <a:rPr sz="1400" lang="fr-FR">
                <a:solidFill>
                  <a:srgbClr val="161616"/>
                </a:solidFill>
                <a:latin typeface="Marianne"/>
              </a:rPr>
              <a:t>Vidéo : sous-titres relus, transcription si nécessaire</a:t>
            </a:r>
          </a:p>
          <a:p>
            <a:pPr algn="l">
              <a:lnSpc>
                <a:spcPct val="150000"/>
              </a:lnSpc>
            </a:pPr>
            <a:r>
              <a:rPr sz="1800" b="1" lang="fr-FR">
                <a:solidFill>
                  <a:srgbClr val="000091"/>
                </a:solidFill>
                <a:latin typeface="Marianne"/>
              </a:rPr>
              <a:t>☐  </a:t>
            </a:r>
            <a:r>
              <a:rPr sz="1400" lang="fr-FR">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129</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130</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Avant votre prochain post : passez la checklist Anticiper / Rédiger / Publier</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Relisez votre dernière publication : qui est représenté, qui est absent ?</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Vérifiez un post avec QR code : lien visible + « Scannez-moi ! »</a:t>
            </a:r>
          </a:p>
        </p:txBody>
      </p:sp>
      <p:sp>
        <p:nvSpPr>
          <p:cNvPr id="17" name="DSFR-box"/>
          <p:cNvSpPr/>
          <p:nvPr/>
        </p:nvSpPr>
        <p:spPr>
          <a:xfrm>
            <a:off x="548640" y="4069080"/>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1605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7 jours</a:t>
            </a:r>
          </a:p>
        </p:txBody>
      </p:sp>
      <p:sp>
        <p:nvSpPr>
          <p:cNvPr id="19" name="DSFR-alert-success-body"/>
          <p:cNvSpPr txBox="1"/>
          <p:nvPr/>
        </p:nvSpPr>
        <p:spPr>
          <a:xfrm>
            <a:off x="704088" y="4572000"/>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Publiez un post en appliquant les 3 temps de la checklist</a:t>
            </a:r>
          </a:p>
          <a:p>
            <a:pPr algn="l">
              <a:lnSpc>
                <a:spcPct val="115000"/>
              </a:lnSpc>
            </a:pPr>
            <a:r>
              <a:rPr sz="1400" lang="fr-FR">
                <a:solidFill>
                  <a:srgbClr val="161616"/>
                </a:solidFill>
                <a:latin typeface="Marianne"/>
              </a:rPr>
              <a:t>• </a:t>
            </a:r>
            <a:r>
              <a:rPr sz="1400" b="0" lang="fr-FR">
                <a:solidFill>
                  <a:srgbClr val="161616"/>
                </a:solidFill>
                <a:latin typeface="Marianne"/>
              </a:rPr>
              <a:t>Faites relire une publication par un binôme avant mise en ligne</a:t>
            </a:r>
          </a:p>
          <a:p>
            <a:pPr algn="l">
              <a:lnSpc>
                <a:spcPct val="115000"/>
              </a:lnSpc>
            </a:pPr>
            <a:r>
              <a:rPr sz="1400" lang="fr-FR">
                <a:solidFill>
                  <a:srgbClr val="161616"/>
                </a:solidFill>
                <a:latin typeface="Marianne"/>
              </a:rPr>
              <a:t>• </a:t>
            </a:r>
            <a:r>
              <a:rPr sz="1400" b="0" lang="fr-FR">
                <a:solidFill>
                  <a:srgbClr val="161616"/>
                </a:solidFill>
                <a:latin typeface="Marianne"/>
              </a:rPr>
              <a:t>Partagez le mémo à votre équipe de communication</a:t>
            </a:r>
          </a:p>
        </p:txBody>
      </p:sp>
      <p:sp>
        <p:nvSpPr>
          <p:cNvPr id="21" name="DSFR-box"/>
          <p:cNvSpPr/>
          <p:nvPr/>
        </p:nvSpPr>
        <p:spPr>
          <a:xfrm>
            <a:off x="6313931" y="416143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25287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Mémo : les 3 temps</a:t>
            </a:r>
          </a:p>
        </p:txBody>
      </p:sp>
      <p:sp>
        <p:nvSpPr>
          <p:cNvPr id="23" name="DSFR-alert-info-body"/>
          <p:cNvSpPr txBox="1"/>
          <p:nvPr/>
        </p:nvSpPr>
        <p:spPr>
          <a:xfrm>
            <a:off x="6469379" y="466435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Anticiper : médias, représentations, contraste</a:t>
            </a:r>
          </a:p>
          <a:p>
            <a:pPr algn="l">
              <a:lnSpc>
                <a:spcPct val="115000"/>
              </a:lnSpc>
            </a:pPr>
            <a:r>
              <a:rPr sz="1400" lang="fr-FR">
                <a:solidFill>
                  <a:srgbClr val="161616"/>
                </a:solidFill>
                <a:latin typeface="Marianne"/>
              </a:rPr>
              <a:t>• </a:t>
            </a:r>
            <a:r>
              <a:rPr sz="1400" b="0" lang="fr-FR">
                <a:solidFill>
                  <a:srgbClr val="161616"/>
                </a:solidFill>
                <a:latin typeface="Marianne"/>
              </a:rPr>
              <a:t>Rédiger : texte natif, émojis, hashtags, langage inclusif</a:t>
            </a:r>
          </a:p>
          <a:p>
            <a:pPr algn="l">
              <a:lnSpc>
                <a:spcPct val="115000"/>
              </a:lnSpc>
            </a:pPr>
            <a:r>
              <a:rPr sz="1400" lang="fr-FR">
                <a:solidFill>
                  <a:srgbClr val="161616"/>
                </a:solidFill>
                <a:latin typeface="Marianne"/>
              </a:rPr>
              <a:t>• </a:t>
            </a:r>
            <a:r>
              <a:rPr sz="1400" b="0" lang="fr-FR">
                <a:solidFill>
                  <a:srgbClr val="161616"/>
                </a:solidFill>
                <a:latin typeface="Marianne"/>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69080"/>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6143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102638 -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