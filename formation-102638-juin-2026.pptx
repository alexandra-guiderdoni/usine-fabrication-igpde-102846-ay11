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piliers.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pilier.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Démonstration : ouvrir un tableau de bord avec codes couleur uniquement.</a:t>
            </a:r>
          </a:p>
          <a:p>
            <a:r>
              <a:rPr lang="fr-FR"/>
              <a:t>Simuler la vision daltonienne avec un outil en ligne ou le mode de simulation de Chrome DevTools.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le mettre dans le corps.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donner la réponse.</a:t>
            </a:r>
          </a:p>
          <a:p>
            <a:r>
              <a:rPr lang="fr-FR"/>
              <a:t>Corriger dans l'ordre : structure d'abord (fondation), couleur ensuite, contenu en dernier. 3 piliers simultanément = exercice d'interleaving - force la discrimination entre les piliers. 6 minutes = temps réel, pas estime.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pilier 5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Sophie a tout faux, mais aucune de ses erreurs n'est due à de la mauvaise volonté - juste des habitudes.</a:t>
            </a:r>
          </a:p>
          <a:p>
            <a:r>
              <a:rPr lang="fr-FR"/>
              <a:t>Tout le monde a fait au moins 3 de ces erreurs dans sa carrière.</a:t>
            </a:r>
          </a:p>
          <a:p>
            <a:r>
              <a:rPr lang="fr-FR"/>
              <a:t>Le temps de 8 minutes est mesuré - pas estimé.</a:t>
            </a:r>
          </a:p>
          <a:p>
            <a:r>
              <a:rPr lang="fr-FR"/>
              <a:t>Proposer aux stagiaires de corriger un vrai document en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quadrant haut-gauche est le meilleur investissement. 4 actions qui couvrent les piliers 1, 3 et 5 - les plus impactants.</a:t>
            </a:r>
          </a:p>
          <a:p>
            <a:r>
              <a:rPr lang="fr-FR"/>
              <a:t>Retravailler un document entier est décourageant : commencer par les nouveaux documents.</a:t>
            </a:r>
          </a:p>
          <a:p>
            <a:r>
              <a:rPr lang="fr-FR"/>
              <a:t>Le contraste sur des centaines de pages = piège : traiter à la source (templates, charte graphique).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passer à la slide suivante.</a:t>
            </a:r>
          </a:p>
          <a:p>
            <a:r>
              <a:rPr lang="fr-FR"/>
              <a:t>Ne pas aider - la difficulté fait partie de l'apprentissage.</a:t>
            </a:r>
          </a:p>
          <a:p>
            <a:r>
              <a:rPr lang="fr-FR"/>
              <a:t>Demander à main levée combien trouvent 3 erreurs, 4, les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Corriger en groupe, pilier par pilier.</a:t>
            </a:r>
          </a:p>
          <a:p>
            <a:r>
              <a:rPr lang="fr-FR"/>
              <a:t>Commenter les erreurs manquées.</a:t>
            </a:r>
          </a:p>
          <a:p>
            <a:r>
              <a:rPr lang="fr-FR"/>
              <a:t>Si quelqu'un trouve les 5 : féliciter et demander combien de temps il a mis.</a:t>
            </a:r>
          </a:p>
          <a:p>
            <a:r>
              <a:rPr lang="fr-FR"/>
              <a:t>Si moins de 3 : identifier quel pilier est moins bien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Ce travail de récupération active consolide la mémoire à long terme plus efficacement que relire le support.</a:t>
            </a:r>
          </a:p>
          <a:p>
            <a:r>
              <a:rPr lang="fr-FR"/>
              <a:t>Quand tout le monde a écrit : comparer avec la réponse.</a:t>
            </a:r>
          </a:p>
          <a:p>
            <a:r>
              <a:rPr lang="fr-FR"/>
              <a:t>L'écart entre ce qu'on croit savoir et ce qu'on sait vraiment est très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checklist est l'outil quotidien.</a:t>
            </a:r>
          </a:p>
          <a:p>
            <a:r>
              <a:rPr lang="fr-FR"/>
              <a:t>La plastifier ou la garder en favoris. 5 minutes avant d'envoyer un document : parcourir de haut en bas.</a:t>
            </a:r>
          </a:p>
          <a:p>
            <a:r>
              <a:rPr lang="fr-FR"/>
              <a:t>Ne pas tout faire d'un coup au début : commencer par les 3 premiers critères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3317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766060"/>
            <a:ext cx="5143500" cy="15773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sp>
        <p:nvSpPr>
          <p:cNvPr id="20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Image à insérer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3317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6974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15468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01168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6974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15468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03479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72059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7779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03479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72059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7779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1488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1488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7195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7195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01168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03479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03479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3127248" cy="3840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31720"/>
            <a:ext cx="28346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Photo à insérer</a:t>
            </a:r>
          </a:p>
        </p:txBody>
      </p:sp>
      <p:sp>
        <p:nvSpPr>
          <p:cNvPr id="12" name="DSFR-box"/>
          <p:cNvSpPr/>
          <p:nvPr/>
        </p:nvSpPr>
        <p:spPr>
          <a:xfrm>
            <a:off x="4005072" y="2194560"/>
            <a:ext cx="7699248" cy="27432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4160520" y="2857500"/>
            <a:ext cx="7452360" cy="19888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Service du numérique - 139 rue de Bercy, 75012 Paris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3840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3931920" y="2194560"/>
            <a:ext cx="73152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3127248" cy="3840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31720"/>
            <a:ext cx="283464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Photo à insérer</a:t>
            </a:r>
          </a:p>
        </p:txBody>
      </p:sp>
      <p:sp>
        <p:nvSpPr>
          <p:cNvPr id="12" name="DSFR-box"/>
          <p:cNvSpPr/>
          <p:nvPr/>
        </p:nvSpPr>
        <p:spPr>
          <a:xfrm>
            <a:off x="4005072" y="2194560"/>
            <a:ext cx="7699248" cy="23317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4160520" y="2857500"/>
            <a:ext cx="7452360" cy="15773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3840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3931920" y="2194560"/>
            <a:ext cx="73152" cy="23317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42887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16973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Bonjour, je m'appelle [prénom]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Je suis [métier / fonction]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chez [direction / service]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242887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16973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Quand j'entends « accessibilité numérique », je pense à [premier mot]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Je me situe plutôt :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[ ] Complet débutant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[ ] J'en ai entendu parler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242887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169735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Je produis principalement [type de contenu]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Pour un usage : [ ] Interne   [ ] Grand public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Ce que j'espère retirer :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2887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242887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242887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58317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9888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fin de journée : chaque binôme présente son engagement concret en 1 minute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Vous repartez avec un référent dans votre réseau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831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377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3774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783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70916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80060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70916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48463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7091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70916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946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7145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994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32638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41782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330952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468112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330952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946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7145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994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32638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41782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330952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468112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330952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946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7145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994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32638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417820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330952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468112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994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330952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08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788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12064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21207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12064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257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1206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12064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08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788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12064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21207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512064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card-titre"/>
          <p:cNvSpPr txBox="1"/>
          <p:nvPr/>
        </p:nvSpPr>
        <p:spPr>
          <a:xfrm>
            <a:off x="6469379" y="5257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QR code à insérer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1206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512064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Définition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401650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97662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401650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97662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401650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97662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RGAA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1772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091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064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177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Déclaration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L'accessibilité est une obligation légale - pas une option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Texte, texte, texte, texte, texte, texte... Pendant 4 minutes. Sans titre. Sans repère. Sans pouvoir naviguer vers la section qui le concerne.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320040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- Ce qu'entend une personne malvoyante face à votre document Word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warning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2" name="DSFR-alert-warning-body"/>
          <p:cNvSpPr txBox="1"/>
          <p:nvPr/>
        </p:nvSpPr>
        <p:spPr>
          <a:xfrm>
            <a:off x="704088" y="46177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flash : lequel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VoiceOver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371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6400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0063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0977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Réponse après la prochaine section.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0063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piliers,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pilier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Pilier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intégré,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Devinez : 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17602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17602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84632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9377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34924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8463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3725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429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3725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 -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8862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3891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Insertion &gt; Tableau &gt; choisir les colonnes et lignes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Habillage : clic droit &gt; Propriétés &gt; Habillage = Aucun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tableau flottant (Autour) n'est pas lu au bon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4900"/>
            <a:ext cx="11155680" cy="13030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00634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 en habillage Devant le texte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5778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Invisibles ou lus dans un ordre aléatoire par le lecteur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colonnes intégrées Word ou habillage En ligne avec le texte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8862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4900"/>
            <a:ext cx="73152" cy="13030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Le texte porte l'info, la couleur la renforce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" y="365760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2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: le texte porte l'information, la couleur la renforce.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de l'entreprise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(vide - image décorative)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3657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37490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160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Filigranes (CONFIDENTIEL, BROUILLON) : invisibles pour le lecteur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reproduire l'information essentielle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548640" y="5029200"/>
            <a:ext cx="11155680" cy="11430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704088" y="51206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704088" y="553212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Intégrer : titre + format + poids + langue si elle diffère du document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Exemple : "Rapport annuel 2024 (PDF, 2 Mo, version anglaise)"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3657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75488" y="502920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Karine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 cross-piliers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86309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1315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Karine, chargée de communication, envoie son rapport trimestriel à 40 personnes.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Quels piliers sont concernés ?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Quelles corrections, dans quel ordre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6309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1315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 titre Introduction en gras Arial 16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 graphique de résultats sans description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La mention urgent écrite en gras et en rouge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 lien cliquez ici pour les annexes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197096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28853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piliers, 4 corrections, 6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700016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1 -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2 - Doubler urgent en texte : urgent - Répondre avant le 15 mai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3 - Texte alt sur le graphique : Résultats T1 2025 : hausse de 12 %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Pilier 3 - Renommer le lien : Consulter les annexes du rapport T1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630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630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197096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3891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Calibri),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70916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80060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721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70916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Étude de cas : le compte rendu de Sophie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Étude de cas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9429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Sophie, assistante de direction, doit publier son compte rendu de réunion.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Quels piliers sont concernés ?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Quelles corrections, dans quel ordre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942975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titres en gras et tableaux sans en-tête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action en rouge sans étiquette texte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sans alt, lien cliquez ici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passage anglais sans balisage de langue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propriétés Titre et Auteur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05072"/>
            <a:ext cx="11155680" cy="176021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09651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corrections, 8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507992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P1 - Styles Titre 1/2/3 et Ligne d'en-tête dans chaque tableau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P2 - Ajouter : Alerte avant le texte écrit en rouge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P3 - Texte alt sur l'image et renommer le lien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P4 - Sélectionner le passage &gt; Révision &gt; Langue &gt; Définir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P5 -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Étude de cas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05072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455371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faible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élevé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+ Texte alt + Nom de fichier + Vérificateur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Retravailler un document existant entier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faible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Propriétés (Titre, Auteur)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Corriger le contraste sur des centaines de pages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356616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365760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Commencer par là : impact fort, effort faible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Texte alt sur chaque image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Lancer le vérificateur d'accessibilité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Vérifier les propriétés du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356616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document Word contient les éléments suivants. Identifiez les 5 erreurs d'accessibilité (1 par pilier).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4408"/>
            <a:ext cx="11155680" cy="17602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5584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 :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67328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titre Introduction mis en gras Arial 16 (sans style) [P1]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tableau de résultats avec des lignes en rouge et en vert [P2]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lien cliquez ici pour le formulaire [P3]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langue du document non définie dans les propriétés Word [P4]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propriétés du document Titre et Auteur non renseignées [P5]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4408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Réponses au 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1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P1 -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P2 - Ajouter les étiquettes texte : Conforme et Non conforme dans les cellules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P3 - Renommer le lien :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P4 - Révision &gt; Langue &gt; Définir la langue de vérification : Français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P5 - Fichier &gt; Informations &gt; Propriétés :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Métacognition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Avant de regarder la réponse, notez sans relire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301752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les lecteurs d'écran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9476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sur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50749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success-titre"/>
          <p:cNvSpPr txBox="1"/>
          <p:nvPr/>
        </p:nvSpPr>
        <p:spPr>
          <a:xfrm>
            <a:off x="704088" y="51663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Si vous avez répondu...</a:t>
            </a:r>
          </a:p>
        </p:txBody>
      </p:sp>
      <p:sp>
        <p:nvSpPr>
          <p:cNvPr id="17" name="DSFR-alert-success-body"/>
          <p:cNvSpPr txBox="1"/>
          <p:nvPr/>
        </p:nvSpPr>
        <p:spPr>
          <a:xfrm>
            <a:off x="704088" y="55778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Styles de titre - Ctrl+F onglet Titres - et vérifier le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Vous avez retenu l'essentiel. Sinon : relire les piliers 1 et 3.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Métacognition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50749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Demain à 9 h, vos 3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11258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11258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11258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vos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103120"/>
            <a:ext cx="5463540" cy="48006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Hiérarchie des titres cohérente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Listes avec Puces/Numérotation (pas de tirets manuels)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Sauts de page propres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</p:txBody>
      </p:sp>
      <p:sp>
        <p:nvSpPr>
          <p:cNvPr id="9" name="DSFR-checklist"/>
          <p:cNvSpPr txBox="1"/>
          <p:nvPr/>
        </p:nvSpPr>
        <p:spPr>
          <a:xfrm>
            <a:off x="6240779" y="2103120"/>
            <a:ext cx="5463540" cy="43891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Texte alt sur images significatives / décoratifs marqués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Infos essentielles dans le corps (pas seulement filigrane)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Propriétés renseignées (Titre, Auteur, Objet)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  <a:p>
            <a:pPr algn="l">
              <a:lnSpc>
                <a:spcPct val="150000"/>
              </a:lnSpc>
            </a:pPr>
            <a:r>
              <a:rPr sz="15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1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3468623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21" name="DSFR-card-contenu"/>
          <p:cNvSpPr txBox="1"/>
          <p:nvPr/>
        </p:nvSpPr>
        <p:spPr>
          <a:xfrm>
            <a:off x="704088" y="3909060"/>
            <a:ext cx="3176016" cy="94297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3-4/5 : relisez le pilier correspondant aux erreurs</a:t>
            </a:r>
          </a:p>
        </p:txBody>
      </p:sp>
      <p:sp>
        <p:nvSpPr>
          <p:cNvPr id="23" name="DSFR-box"/>
          <p:cNvSpPr/>
          <p:nvPr/>
        </p:nvSpPr>
        <p:spPr>
          <a:xfrm>
            <a:off x="4392167" y="3314700"/>
            <a:ext cx="3468623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4547615" y="3909060"/>
            <a:ext cx="3176016" cy="94297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7" name="DSFR-box"/>
          <p:cNvSpPr/>
          <p:nvPr/>
        </p:nvSpPr>
        <p:spPr>
          <a:xfrm>
            <a:off x="8235695" y="3314700"/>
            <a:ext cx="3468623" cy="1674495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9" name="DSFR-card-contenu"/>
          <p:cNvSpPr txBox="1"/>
          <p:nvPr/>
        </p:nvSpPr>
        <p:spPr>
          <a:xfrm>
            <a:off x="8391144" y="3909060"/>
            <a:ext cx="3176016" cy="94297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319015" y="331470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8162543" y="3314700"/>
            <a:ext cx="73152" cy="1674495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1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8338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2748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468630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18338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920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8920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0060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8920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30352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0060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12585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0634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977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5092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0634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8920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0634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977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5092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0634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1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53212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Sans audiodescription, une vidéo reste une porte fermée pour 1,7 million de personnes aveugles ou malvoyantes en France.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621792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- 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39496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0634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977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5092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00634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145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145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Enjeux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7602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976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3891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976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7602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5196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3434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75488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7602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5196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Vue synthétique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54914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52349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69214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549140"/>
            <a:ext cx="5390388" cy="22174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52349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692140"/>
            <a:ext cx="5097779" cy="9372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68630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68630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54914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549140"/>
            <a:ext cx="73152" cy="22174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429000"/>
            <a:ext cx="5390388" cy="2788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5204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931920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Personnes aveugles ou malvoyantes (lecteur d'écran lit l'alt text)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Connexion lente ou image non chargée (le texte s'affiche à la place)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Moteurs de recherche (Google indexe les images via l'alt text)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Intelligences artificielles et outils d'analyse d'image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Toute personne dans un contexte défavorable (mauvaise 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42900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52044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931920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LinkedIn : Modifier → Ajouter du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Facebook : Modifier l'image →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Twitter/X : intégré au formulaire de publication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Instagram : Paramètres avancés → Texte alternatif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Canva : Clic droit sur l'image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42900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42900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377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783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58317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9888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377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5831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0749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1663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5778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0749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8691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9606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3721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8691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5831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9888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5831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3 -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58317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9888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1947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1091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831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1947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9659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788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788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 de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69663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5546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12664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69663"/>
            <a:ext cx="5390388" cy="18402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5546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12664"/>
            <a:ext cx="5097779" cy="5600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06824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06824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69663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69663"/>
            <a:ext cx="73152" cy="18402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51960"/>
            <a:ext cx="5390388" cy="1965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3434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754880"/>
            <a:ext cx="51435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3680460"/>
            <a:ext cx="5390388" cy="25374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37719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réflexes, 2 minutes, 0 compétence technique requise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343400"/>
            <a:ext cx="5143500" cy="1783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Alt text : 1 phrase qui décrit l'image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Émojis : 1 ou 2, en fin de message, texte sensé sans eux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Hashtags : CamelCase, en fin de post, 2 à 3 max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Texte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51960"/>
            <a:ext cx="73152" cy="1965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3680460"/>
            <a:ext cx="73152" cy="25374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