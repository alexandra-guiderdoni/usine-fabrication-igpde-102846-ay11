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IGPDE" id="{0B896E98-F45E-4768-8620-EDDF394BE181}">
          <p14:sldIdLst/>
        </p14:section>
        <p14:section name="MÉTHODOLOGIE" id="{EB03BDE6-D677-4574-A7BF-9721F91BDEB8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4" autoAdjust="0"/>
    <p:restoredTop sz="87716" autoAdjust="0"/>
  </p:normalViewPr>
  <p:slideViewPr>
    <p:cSldViewPr showGuides="1">
      <p:cViewPr varScale="1">
        <p:scale>
          <a:sx n="132" d="100"/>
          <a:sy n="132" d="100"/>
        </p:scale>
        <p:origin x="168" y="408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19/04/2026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19/04/2026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Présenter les 4 objectifs, insister sur le caractère opérationnel.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d’erreurs.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Règle d’or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d’écran n’annonce rien.</a:t>
            </a:r>
          </a:p>
          <a:p>
            <a:r>
              <a:rPr lang="fr-FR"/>
              <a:t>Message d’erreur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lIns="73152" rIns="73152" anchor="t"/>
          <a:lstStyle>
            <a:lvl1pPr>
              <a:defRPr lang="fr-FR"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lang="fr-FR" sz="3200" b="1" i="0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lang="fr-FR" sz="1400" b="1" i="0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lIns="73152" rIns="73152" anchor="t"/>
          <a:lstStyle>
            <a:lvl1pPr>
              <a:defRPr lang="fr-FR"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wrap="square" lIns="73152" rIns="73152" anchor="t" anchorCtr="0"/>
          <a:lstStyle>
            <a:lvl1pPr>
              <a:defRPr lang="fr-FR" sz="1150"/>
            </a:lvl1pPr>
          </a:lstStyle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3600" b="1" i="0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30632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315468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À l’issue de cette formation, les stagiaires sauront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356616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Identifier les critères RGAA 4.1.2 applicables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Produire un document bureautique accessible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Auditer une page web avec les outils standards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Remédier aux non-conformités détectées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/>
          <p:cNvSpPr/>
          <p:nvPr/>
        </p:nvSpPr>
        <p:spPr>
          <a:xfrm>
            <a:off x="475488" y="30632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3243731"/>
            <a:ext cx="10680192" cy="64485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3200" b="1" i="0" dirty="0">
                <a:solidFill>
                  <a:srgbClr val="000091"/>
                </a:solidFill>
                <a:latin typeface="Marianne"/>
              </a:rPr>
              <a:t>3. Les 13 </a:t>
            </a:r>
            <a:r>
              <a:rPr lang="fr-FR" sz="3200" b="1" i="0" dirty="0" err="1">
                <a:solidFill>
                  <a:srgbClr val="000091"/>
                </a:solidFill>
                <a:latin typeface="Marianne"/>
              </a:rPr>
              <a:t>easy</a:t>
            </a:r>
            <a:r>
              <a:rPr lang="fr-FR" sz="3200" b="1" i="0" dirty="0">
                <a:solidFill>
                  <a:srgbClr val="000091"/>
                </a:solidFill>
                <a:latin typeface="Marianne"/>
              </a:rPr>
              <a:t>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SFR-accent-decoratif"/>
          <p:cNvSpPr/>
          <p:nvPr/>
        </p:nvSpPr>
        <p:spPr>
          <a:xfrm>
            <a:off x="3346703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SFR-accent-decoratif"/>
          <p:cNvSpPr/>
          <p:nvPr/>
        </p:nvSpPr>
        <p:spPr>
          <a:xfrm>
            <a:off x="6217919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DSFR-accent-decoratif"/>
          <p:cNvSpPr/>
          <p:nvPr/>
        </p:nvSpPr>
        <p:spPr>
          <a:xfrm>
            <a:off x="9089135" y="32461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18338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27482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468630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418338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titre décrit le contenu, puis le nom du site (ex. « Déclarer mes revenus - impots.gouv.fr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032588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85184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 dirty="0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45224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 dirty="0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25000"/>
              </a:lnSpc>
            </a:pPr>
            <a:r>
              <a:rPr lang="fr-FR" sz="1200" dirty="0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25000"/>
              </a:lnSpc>
            </a:pPr>
            <a:r>
              <a:rPr lang="fr-FR" sz="1200" dirty="0">
                <a:solidFill>
                  <a:srgbClr val="161616"/>
                </a:solidFill>
                <a:latin typeface="Marianne"/>
              </a:rPr>
              <a:t>• KO : « </a:t>
            </a:r>
            <a:r>
              <a:rPr lang="fr-FR" sz="1200" dirty="0" err="1">
                <a:solidFill>
                  <a:srgbClr val="161616"/>
                </a:solidFill>
                <a:latin typeface="Marianne"/>
              </a:rPr>
              <a:t>Untitled</a:t>
            </a:r>
            <a:r>
              <a:rPr lang="fr-FR" sz="1200" dirty="0">
                <a:solidFill>
                  <a:srgbClr val="161616"/>
                </a:solidFill>
                <a:latin typeface="Marianne"/>
              </a:rPr>
              <a:t>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032588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6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3200" b="1" i="0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3200" b="1" i="0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3200" b="1" i="0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ccent-decoratif"/>
          <p:cNvSpPr/>
          <p:nvPr/>
        </p:nvSpPr>
        <p:spPr>
          <a:xfrm>
            <a:off x="475488" y="466344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80060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8920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3035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/>
          <p:cNvSpPr/>
          <p:nvPr/>
        </p:nvSpPr>
        <p:spPr>
          <a:xfrm>
            <a:off x="475488" y="48006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5. Lien d’évitement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834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7492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864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Ouvrez gouvernement.fr, appuyez sur Tab : le lien « Contenu » apparaît en haut à gauche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49834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3600" b="1" i="0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5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SFR-accent-decoratif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2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40601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12585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100" b="0" i="0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600" b="1" i="0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accent-decoratif"/>
          <p:cNvSpPr/>
          <p:nvPr/>
        </p:nvSpPr>
        <p:spPr>
          <a:xfrm>
            <a:off x="431596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SFR-accent-decoratif"/>
          <p:cNvSpPr/>
          <p:nvPr/>
        </p:nvSpPr>
        <p:spPr>
          <a:xfrm>
            <a:off x="8156448" y="2331720"/>
            <a:ext cx="73152" cy="240601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3977639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18922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28065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69214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18922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3487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83480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7492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86400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4983480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5544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3977639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Pour une vidéo : la transcription DESCRIPTIVE inclut aussi l’action visible (utile aux aveugles)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48640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89788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39496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532120"/>
            <a:ext cx="10863072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600" b="0" i="1">
                <a:solidFill>
                  <a:srgbClr val="161616"/>
                </a:solidFill>
                <a:latin typeface="Marianne"/>
              </a:rPr>
              <a:t>“ Sans audiodescription, une vidéo reste une porte fermée pour 1,7 million de personnes aveugles ou malvoyantes en France. ”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6217920"/>
            <a:ext cx="1086307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 b="1" i="0">
                <a:solidFill>
                  <a:srgbClr val="000091"/>
                </a:solidFill>
                <a:latin typeface="Marianne"/>
              </a:rPr>
              <a:t>- 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39496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11155680" cy="13487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069079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480559"/>
            <a:ext cx="10908792" cy="7543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SFR-accent-decoratif"/>
          <p:cNvSpPr/>
          <p:nvPr/>
        </p:nvSpPr>
        <p:spPr>
          <a:xfrm>
            <a:off x="475488" y="3977639"/>
            <a:ext cx="73152" cy="13487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80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200" b="1" i="0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>
                    <a:solidFill>
                      <a:srgbClr val="0000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fr-FR" sz="1100" b="0" i="0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>
                    <a:solidFill>
                      <a:srgbClr val="F5F5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9456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800" b="1" i="0">
                <a:solidFill>
                  <a:srgbClr val="000091"/>
                </a:solidFill>
                <a:latin typeface="Marianne"/>
              </a:rPr>
              <a:t>Un astérisque rouge est un signal visuel - il doit être doublé d’une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7602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1658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Les champs obligatoires sont indiqués textuellement (« obligatoire » ou « *requis »)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En cas d’erreur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394960"/>
            <a:ext cx="11155680" cy="1143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48640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897880"/>
            <a:ext cx="10908792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DSFR-accent-decoratif"/>
          <p:cNvSpPr/>
          <p:nvPr/>
        </p:nvSpPr>
        <p:spPr>
          <a:xfrm>
            <a:off x="475488" y="3314700"/>
            <a:ext cx="73152" cy="1760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SFR-accent-decoratif"/>
          <p:cNvSpPr/>
          <p:nvPr/>
        </p:nvSpPr>
        <p:spPr>
          <a:xfrm>
            <a:off x="475488" y="5394960"/>
            <a:ext cx="73152" cy="11430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2800" b="1" i="0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 lIns="73152" rIns="73152" anchor="t"/>
          <a:lstStyle/>
          <a:p>
            <a:pPr algn="r">
              <a:lnSpc>
                <a:spcPct val="125000"/>
              </a:lnSpc>
              <a:buNone/>
            </a:pPr>
            <a:r>
              <a:rPr lang="fr-FR" sz="1100" b="0" i="0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544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400" b="1" i="0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9601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lang="fr-FR" sz="1200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>
              <a:lnSpc>
                <a:spcPct val="125000"/>
              </a:lnSpc>
            </a:pPr>
            <a:r>
              <a:rPr lang="fr-FR" sz="1800" b="1" i="0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lang="fr-FR" sz="1200" b="0" i="0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lIns="73152" rIns="73152" anchor="t"/>
          <a:lstStyle/>
          <a:p>
            <a:pPr algn="l">
              <a:lnSpc>
                <a:spcPct val="125000"/>
              </a:lnSpc>
            </a:pPr>
            <a:r>
              <a:rPr lang="fr-FR" sz="1000" b="0" i="0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/>
          <p:cNvSpPr/>
          <p:nvPr/>
        </p:nvSpPr>
        <p:spPr>
          <a:xfrm>
            <a:off x="475488" y="2103120"/>
            <a:ext cx="73152" cy="15544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SFR-stepper-connecteur-1-decoratif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DSFR-stepper-connecteur-2-decoratif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DSFR-stepper-connecteur-3-decoratif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201</TotalTime>
  <Words>4718</Words>
  <Application>Microsoft Macintosh PowerPoint</Application>
  <PresentationFormat>Grand écran</PresentationFormat>
  <Paragraphs>464</Paragraphs>
  <Slides>27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Calibri</vt:lpstr>
      <vt:lpstr>Marianne</vt:lpstr>
      <vt:lpstr>GOUVERNEMENT</vt:lpstr>
      <vt:lpstr>Présentation PowerPoint</vt:lpstr>
      <vt:lpstr>Présentation PowerPoint</vt:lpstr>
      <vt:lpstr>Présentation PowerPoint</vt:lpstr>
      <vt:lpstr>Alt text : 4 types d’images, 4 décisions</vt:lpstr>
      <vt:lpstr>Rédiger un alt text qui sert vraiment</vt:lpstr>
      <vt:lpstr>Alt text : passe ou échoue ?</vt:lpstr>
      <vt:lpstr>Titre de page : l’étiquette qui oriente</vt:lpstr>
      <vt:lpstr>Titres : la hiérarchie qui structure</vt:lpstr>
      <vt:lpstr>Titres : 3 façons de vérifier</vt:lpstr>
      <vt:lpstr>Contraste : un seuil chiffré, pas une opinion</vt:lpstr>
      <vt:lpstr>Contraste : 3 outils à avoir sous la main</vt:lpstr>
      <vt:lpstr>Lien d’évitement : le raccourci qui sauve 30 Tab</vt:lpstr>
      <vt:lpstr>Présentation PowerPoint</vt:lpstr>
      <vt:lpstr>5 touches, 3 intentions</vt:lpstr>
      <vt:lpstr>3 signaux qui trahissent un défaut</vt:lpstr>
      <vt:lpstr>Votre mission</vt:lpstr>
      <vt:lpstr>Langue de la page : l’accent juste du lecteur d’écran</vt:lpstr>
      <vt:lpstr>Zoom 200 % : tout doit rester lisible</vt:lpstr>
      <vt:lpstr>Sous-titres : le son que tout le monde lit</vt:lpstr>
      <vt:lpstr>Sous-titres auto : brouillon utile, livrable jamais</vt:lpstr>
      <vt:lpstr>Transcription : la version texte qui accompagne</vt:lpstr>
      <vt:lpstr>Audiodescription : la voix qui montre</vt:lpstr>
      <vt:lpstr>Étiquettes : chaque champ a un nom</vt:lpstr>
      <vt:lpstr>Placeholder ≠ étiquette</vt:lpstr>
      <vt:lpstr>Groupes de champs : l’étiquette commune</vt:lpstr>
      <vt:lpstr>Champs obligatoires : dits, pas juste marqués</vt:lpstr>
      <vt:lpstr>Votre mission : audit en 30 minutes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alex</cp:lastModifiedBy>
  <cp:revision>16</cp:revision>
  <dcterms:created xsi:type="dcterms:W3CDTF">2020-03-06T09:47:41Z</dcterms:created>
  <dcterms:modified xsi:type="dcterms:W3CDTF">2026-04-19T12:44:57Z</dcterms:modified>
  <dc:language>fr-FR</dc:language>
</cp:coreProperties>
</file>