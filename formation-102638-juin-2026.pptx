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Objectifs repris mot pour mot de la fiche catalogue 102638.</a:t>
            </a:r>
          </a:p>
          <a:p>
            <a:r>
              <a:rPr lang="fr-FR"/>
              <a:t>Présenter les 3 objectifs, insister sur le caractère opérationnel : cette formation débouche sur des gestes concrets, pas seulement de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modules, indiquer les horaires approximatifs.</a:t>
            </a:r>
          </a:p>
          <a:p>
            <a:r>
              <a:rPr lang="fr-FR"/>
              <a:t>Signaler que chaque module se termine par un geste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de Bertrand : parcours SIRCOM, Opquast, sensibilisation 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d'Alexandra : parcours, spécialisation accessibilité, DU-RAN.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Chaque stagiaire suit la grille à voix haute - 2 minutes maxi par personne.</a:t>
            </a:r>
          </a:p>
          <a:p>
            <a:r>
              <a:rPr lang="fr-FR"/>
              <a:t>Colonne 1 : ancre les métiers présents dans la salle (utile pour choisir les exemples).</a:t>
            </a:r>
          </a:p>
          <a:p>
            <a:r>
              <a:rPr lang="fr-FR"/>
              <a:t>Colonne 2 : révèle le niveau réel du groupe - adapter le rythme en conséquence.</a:t>
            </a:r>
          </a:p>
          <a:p>
            <a:r>
              <a:rPr lang="fr-FR"/>
              <a:t>Colonne 3 : noter les attentes au tableau, y revenir en clôture pour montrer qu'elles ont été traitées.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Constituer les binômes en mélangeant les directions si possible - éviter que deux personnes du même bureau soient ensemble (trop de connivence, moins d'échanges riches).</a:t>
            </a:r>
          </a:p>
          <a:p>
            <a:r>
              <a:rPr lang="fr-FR"/>
              <a:t>Si nombre impair : un trinôme.</a:t>
            </a:r>
          </a:p>
          <a:p>
            <a:r>
              <a:rPr lang="fr-FR"/>
              <a:t>Distribuer les cartes idées reçues maintenant : chaque binôme conserve sa carte comme support de l'engagement de fin de journée.</a:t>
            </a:r>
          </a:p>
          <a:p>
            <a:r>
              <a:rPr lang="fr-FR"/>
              <a:t>Laisser 2 minutes d'échange avant de commencer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cartes ont été distribuées au moment du regroupement en binômes.</a:t>
            </a:r>
          </a:p>
          <a:p>
            <a:r>
              <a:rPr lang="fr-FR"/>
              <a:t>Laisser 30 secondes de réflexion silencieuse, puis demander qui dit 'vrai' et qui dit 'faux' avant d'afficher la slide de décryptage.</a:t>
            </a:r>
          </a:p>
          <a:p>
            <a:r>
              <a:rPr lang="fr-FR"/>
              <a:t>Ne pas corriger immédiatement - laisser le groupe débattre.</a:t>
            </a:r>
          </a:p>
          <a:p>
            <a:r>
              <a:rPr lang="fr-FR"/>
              <a:t>Objectif : casser les freins avant même de commencer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le groupe répondre vrai/faux avant d'afficher le décryptage.</a:t>
            </a:r>
          </a:p>
          <a:p>
            <a:r>
              <a:rPr lang="fr-FR"/>
              <a:t>Insister : le handicap permanent n'est qu'une fraction.</a:t>
            </a:r>
          </a:p>
          <a:p>
            <a:r>
              <a:rPr lang="fr-FR"/>
              <a:t>Le handicap temporaire (bras cassé, conjonctivite) et situationnel (plein soleil sur téléphone) touchent tout le monde.</a:t>
            </a:r>
          </a:p>
          <a:p>
            <a:r>
              <a:rPr lang="fr-FR"/>
              <a:t>Analogie : l'ascenseur est utile aux personnes en fauteuil, aux parents avec poussette, aux livreurs les mains prises.</a:t>
            </a:r>
          </a:p>
          <a:p>
            <a:r>
              <a:rPr lang="fr-FR"/>
              <a:t>L'accessibilité profite 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un contre-exemple si possible : un site très accessible peut être très design.</a:t>
            </a:r>
          </a:p>
          <a:p>
            <a:r>
              <a:rPr lang="fr-FR"/>
              <a:t>La contrainte de contraste 4,5:1 produit des palettes plus sereines, pas plus laides.</a:t>
            </a:r>
          </a:p>
          <a:p>
            <a:r>
              <a:rPr lang="fr-FR"/>
              <a:t>Analogie : les normes de sécurité incendie n'ont pas empêché d'architecturer de beaux bâtiments.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Bonne nouvelle pour les stagiaires : on ne peut pas tout apprendre en 1 jour.</a:t>
            </a:r>
          </a:p>
          <a:p>
            <a:r>
              <a:rPr lang="fr-FR"/>
              <a:t>L'objectif de cette formation, c'est d'ouvrir les yeux sur l'étendue du sujet et d'acquérir les réflexes sur les points les plus fréquents.</a:t>
            </a:r>
          </a:p>
          <a:p>
            <a:r>
              <a:rPr lang="fr-FR"/>
              <a:t>Le reste vient avec la pratique et les ressources (RGAA, Easy Checks W3C).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idée reçue est la plus difficile à déconstruire car elle repose sur une logique réelle : il y a des spécialistes.</a:t>
            </a:r>
          </a:p>
          <a:p>
            <a:r>
              <a:rPr lang="fr-FR"/>
              <a:t>Répondre : oui, les développeurs et chefs de projet ont leurs responsabilités.</a:t>
            </a:r>
          </a:p>
          <a:p>
            <a:r>
              <a:rPr lang="fr-FR"/>
              <a:t>Mais vous aussi - c'est précisément pourquoi vous êtes là aujourd'hui.</a:t>
            </a:r>
          </a:p>
          <a:p>
            <a:r>
              <a:rPr lang="fr-FR"/>
              <a:t>Votre document Word mal structuré empêche un lecteur d'écran de lire.</a:t>
            </a:r>
          </a:p>
          <a:p>
            <a:r>
              <a:rPr lang="fr-FR"/>
              <a:t>Votre image sans texte alternatif prive un non-voyant de l'information.</a:t>
            </a:r>
          </a:p>
          <a:p>
            <a:r>
              <a:rPr lang="fr-FR"/>
              <a:t>Personne n'est exempté.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bâtiment : une rampe d'accès intégrée dès la construction coûte quelques centaines d'euros.</a:t>
            </a:r>
          </a:p>
          <a:p>
            <a:r>
              <a:rPr lang="fr-FR"/>
              <a:t>La reprise après construction, plusieurs milliers.</a:t>
            </a:r>
          </a:p>
          <a:p>
            <a:r>
              <a:rPr lang="fr-FR"/>
              <a:t>Pour les documents : appliquer les styles Titre dans Word, c'est 30 secondes de plus.</a:t>
            </a:r>
          </a:p>
          <a:p>
            <a:r>
              <a:rPr lang="fr-FR"/>
              <a:t>Corriger un PDF de 50 pages après coup, c'est des heures.</a:t>
            </a:r>
          </a:p>
          <a:p>
            <a:r>
              <a:rPr lang="fr-FR"/>
              <a:t>L'accessibilité est rentable quand elle est intégrée - c'est le message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idée reçue - transition naturelle vers la journée : « Aujourd'hui, on ne remet pas à la fin.</a:t>
            </a:r>
          </a:p>
          <a:p>
            <a:r>
              <a:rPr lang="fr-FR"/>
              <a:t>On commence par les bons réflexes et on les ancre maintenant. » Demander au groupe : laquelle de ces 6 idées reçues vous parlait le plus ce matin ?</a:t>
            </a:r>
          </a:p>
          <a:p>
            <a:r>
              <a:rPr lang="fr-FR"/>
              <a:t>Cette question fait le lien entre l'icebreaker et la suite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du module 1.</a:t>
            </a:r>
          </a:p>
          <a:p>
            <a:r>
              <a:rPr lang="fr-FR"/>
              <a:t>Poser la question : Qui a déjà entendu parler du RGAA ?</a:t>
            </a:r>
          </a:p>
          <a:p>
            <a:r>
              <a:rPr lang="fr-FR"/>
              <a:t>Laisser 30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Poser la question : avez-vous déjà été bloqué par un site mal conçu ?</a:t>
            </a:r>
          </a:p>
          <a:p>
            <a:r>
              <a:rPr lang="fr-FR"/>
              <a:t>Les 12 millions incluent les handicaps permanents ET temporaires.</a:t>
            </a:r>
          </a:p>
          <a:p>
            <a:r>
              <a:rPr lang="fr-FR"/>
              <a:t>Insister : 80 % de non-conformité, c'est aussi 80 % de risque juridique.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Chronologie en 4 étapes : montrer la progression du droit.</a:t>
            </a:r>
          </a:p>
          <a:p>
            <a:r>
              <a:rPr lang="fr-FR"/>
              <a:t>Le RGAA 4.1.2 = 106 critères regroupés en 13 thèmes.</a:t>
            </a:r>
          </a:p>
          <a:p>
            <a:r>
              <a:rPr lang="fr-FR"/>
              <a:t>Préciser : contrôle Arcom = médias audiovisuels (effectif depuis 2023).</a:t>
            </a:r>
          </a:p>
          <a:p>
            <a:r>
              <a:rPr lang="fr-FR"/>
              <a:t>Contrôle DINUM = sites publics, dispositif en cours de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5 minutes : chaque stagiaire cherche la déclaration de son propre site.</a:t>
            </a:r>
          </a:p>
          <a:p>
            <a:r>
              <a:rPr lang="fr-FR"/>
              <a:t>Si introuvable : c'est déjà une non-conformité à signaler.</a:t>
            </a:r>
          </a:p>
          <a:p>
            <a:r>
              <a:rPr lang="fr-FR"/>
              <a:t>La voie de recours = Défenseur des droits si absence de réponse en 2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Récupération active : demander à 2-3 stagiaires de citer un point retenu.</a:t>
            </a:r>
          </a:p>
          <a:p>
            <a:r>
              <a:rPr lang="fr-FR"/>
              <a:t>Annoncer la suite : maintenant on passe à la pratique - Module 2 bureautique.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Transition vers le module 2.</a:t>
            </a:r>
          </a:p>
          <a:p>
            <a:r>
              <a:rPr lang="fr-FR"/>
              <a:t>Annoncer : 24 réflexes en 5 piliers.</a:t>
            </a:r>
          </a:p>
          <a:p>
            <a:r>
              <a:rPr lang="fr-FR"/>
              <a:t>Public : communicants, pas développeurs.</a:t>
            </a:r>
          </a:p>
          <a:p>
            <a:r>
              <a:rPr lang="fr-FR"/>
              <a:t>Chaque slide = 1 réflexe actionnable.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citation à voix haute, lentement, avec des pauses.</a:t>
            </a:r>
          </a:p>
          <a:p>
            <a:r>
              <a:rPr lang="fr-FR"/>
              <a:t>Ne pas commenter.</a:t>
            </a:r>
          </a:p>
          <a:p>
            <a:r>
              <a:rPr lang="fr-FR"/>
              <a:t>Laisser le silence s'installer 5 secondes.</a:t>
            </a:r>
          </a:p>
          <a:p>
            <a:r>
              <a:rPr lang="fr-FR"/>
              <a:t>Demander : est-ce que vous avez déjà reçu un document ou un email illisible ?</a:t>
            </a:r>
          </a:p>
          <a:p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30 secondes pour que chacun vote.</a:t>
            </a:r>
          </a:p>
          <a:p>
            <a:r>
              <a:rPr lang="fr-FR"/>
              <a:t>Demander à main levée.</a:t>
            </a:r>
          </a:p>
          <a:p>
            <a:r>
              <a:rPr lang="fr-FR"/>
              <a:t>Ne pas donner la réponse maintenant - la curiosité crée l'attention.</a:t>
            </a:r>
          </a:p>
          <a:p>
            <a:r>
              <a:rPr lang="fr-FR"/>
              <a:t>Zeigarnik :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Répondre au quiz de la slide précédente.</a:t>
            </a:r>
          </a:p>
          <a:p>
            <a:r>
              <a:rPr lang="fr-FR"/>
              <a:t>Document B - mais les deux semblent identiques à l'écran.</a:t>
            </a:r>
          </a:p>
          <a:p>
            <a:r>
              <a:rPr lang="fr-FR"/>
              <a:t>C'est l'invisible qui fait la différence. 15 % = moyenne nationale Source : OMS 2024.</a:t>
            </a:r>
          </a:p>
          <a:p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Plan de la session.</a:t>
            </a:r>
          </a:p>
          <a:p>
            <a:r>
              <a:rPr lang="fr-FR"/>
              <a:t>Pointer chaque pilier.</a:t>
            </a:r>
          </a:p>
          <a:p>
            <a:r>
              <a:rPr lang="fr-FR"/>
              <a:t>Insister : ce n'est pas une liste de règles à mémoriser, c'est un parcours.</a:t>
            </a:r>
          </a:p>
          <a:p>
            <a:r>
              <a:rPr lang="fr-FR"/>
              <a:t>On commence par le plus impactant et on finit par le plus simple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Réponse à la question : le lecteur d'écran lit les balises HTML ou les styles Word - pas la mise en forme visuelle.</a:t>
            </a:r>
          </a:p>
          <a:p>
            <a:r>
              <a:rPr lang="fr-FR"/>
              <a:t>Un titre en gras 16pt n'est pas un titre pour un lecteur d'écran.</a:t>
            </a:r>
          </a:p>
          <a:p>
            <a:r>
              <a:rPr lang="fr-FR"/>
              <a:t>Faire la démonstration en direct si possible : ouvrir un document vierge, écrire un titre en gras, puis avec le style Titre 1.</a:t>
            </a:r>
          </a:p>
          <a:p>
            <a:r>
              <a:rPr lang="fr-FR"/>
              <a:t>La différence est invisible visuellement mais fondamentale pour l'accessibilité.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Démonstration rapide : créer une liste avec tirets manuels, passer en mode lecteur d'écran ou montrer la capture.</a:t>
            </a:r>
          </a:p>
          <a:p>
            <a:r>
              <a:rPr lang="fr-FR"/>
              <a:t>Refaire avec la fonctionnalité native.</a:t>
            </a:r>
          </a:p>
          <a:p>
            <a:r>
              <a:rPr lang="fr-FR"/>
              <a:t>L'annonce change complètement.</a:t>
            </a:r>
          </a:p>
          <a:p>
            <a:r>
              <a:rPr lang="fr-FR"/>
              <a:t>Ce réflexe s'acquiert en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Piège le plus fréquent pour les communicants : la mise en page par espaces et tabulations.</a:t>
            </a:r>
          </a:p>
          <a:p>
            <a:r>
              <a:rPr lang="fr-FR"/>
              <a:t>Montrer le mode Afficher tout (symbole paragraphe) pour révéler les espaces parasites.</a:t>
            </a:r>
          </a:p>
          <a:p>
            <a:r>
              <a:rPr lang="fr-FR"/>
              <a:t>Les zones de texte flottantes sont un piège classique dans les documents Word avec mise en page élaborée.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contraste est le critère a11y le plus souvent échoué : 56 % des sites (WebAIM 2024).</a:t>
            </a:r>
          </a:p>
          <a:p>
            <a:r>
              <a:rPr lang="fr-FR"/>
              <a:t>Analogie : lire un SMS à 3h du matin sur un écran en plein soleil.</a:t>
            </a:r>
          </a:p>
          <a:p>
            <a:r>
              <a:rPr lang="fr-FR"/>
              <a:t>Texte noir sur fond blanc = toujours conforme.</a:t>
            </a:r>
          </a:p>
          <a:p>
            <a:r>
              <a:rPr lang="fr-FR"/>
              <a:t>Le test ne s'applique qu'aux textes colorés.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8 % des hommes = 1 personne dans une réunion de 12.</a:t>
            </a:r>
          </a:p>
          <a:p>
            <a:r>
              <a:rPr lang="fr-FR"/>
              <a:t>Dans une direction de 200 agents : 16 personnes concernées.</a:t>
            </a:r>
          </a:p>
          <a:p>
            <a:r>
              <a:rPr lang="fr-FR"/>
              <a:t>Démonstration : ouvrir un tableau de bord avec codes couleur uniquement.</a:t>
            </a:r>
          </a:p>
          <a:p>
            <a:r>
              <a:rPr lang="fr-FR"/>
              <a:t>Simuler la vision daltonienne avec un outil en ligne ou le mode de simulation de Chrome DevTools.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Décrire la FONCTION, pas l'apparence.</a:t>
            </a:r>
          </a:p>
          <a:p>
            <a:r>
              <a:rPr lang="fr-FR"/>
              <a:t>Un logo sans texte = décoratif (le lecteur annonce déjà le nom de la société dans les propriétés).</a:t>
            </a:r>
          </a:p>
          <a:p>
            <a:r>
              <a:rPr lang="fr-FR"/>
              <a:t>Un graphique = décrire les données clés, pas les couleurs des barres.</a:t>
            </a:r>
          </a:p>
          <a:p>
            <a:r>
              <a:rPr lang="fr-FR"/>
              <a:t>Objet décoratif = filets, séparateurs, icones visuelles.</a:t>
            </a:r>
          </a:p>
          <a:p>
            <a:r>
              <a:rPr lang="fr-FR"/>
              <a:t>Les marquer évite que le lecteur annonce image, image, séparateur en permanence.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les liens inaccessibles puis les accessibles.</a:t>
            </a:r>
          </a:p>
          <a:p>
            <a:r>
              <a:rPr lang="fr-FR"/>
              <a:t>La différence est immédiate.</a:t>
            </a:r>
          </a:p>
          <a:p>
            <a:r>
              <a:rPr lang="fr-FR"/>
              <a:t>Pour les filigranes : montrer un vrai document avec CONFIDENTIEL en filigrane.</a:t>
            </a:r>
          </a:p>
          <a:p>
            <a:r>
              <a:rPr lang="fr-FR"/>
              <a:t>Demander : est-ce que votre lecteur d'écran l'annonce ?</a:t>
            </a:r>
          </a:p>
          <a:p>
            <a:r>
              <a:rPr lang="fr-FR"/>
              <a:t>Non - il faut le mettre dans le corps.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 minutes de réflexion individuelle avant de donner la réponse.</a:t>
            </a:r>
          </a:p>
          <a:p>
            <a:r>
              <a:rPr lang="fr-FR"/>
              <a:t>Corriger dans l'ordre : structure d'abord (fondation), couleur ensuite, contenu en dernier. 3 piliers simultanément = exercice d'interleaving - force la discrimination entre les piliers. 6 minutes = temps réel, pas estime.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Exemple concret de balisage : un document français avec un titre en anglais Annual Report.</a:t>
            </a:r>
          </a:p>
          <a:p>
            <a:r>
              <a:rPr lang="fr-FR"/>
              <a:t>Sans balisage, le lecteur d'écran français prononce les mots anglais avec un accent français incompréhensible.</a:t>
            </a:r>
          </a:p>
          <a:p>
            <a:r>
              <a:rPr lang="fr-FR"/>
              <a:t>Majuscules : UN INTERNE TUE - donne le ton d'une phrase choc en majuscules, pas d'un texte en majuscules.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espaces parasites sont invisibles mais cassent la structure du document.</a:t>
            </a:r>
          </a:p>
          <a:p>
            <a:r>
              <a:rPr lang="fr-FR"/>
              <a:t>Montrer la différence entre Afficher tout activé et désactivé.</a:t>
            </a:r>
          </a:p>
          <a:p>
            <a:r>
              <a:rPr lang="fr-FR"/>
              <a:t>Pour les objets clignotants : c'est une règle de sécurité, pas de préférence.</a:t>
            </a:r>
          </a:p>
          <a:p>
            <a:r>
              <a:rPr lang="fr-FR"/>
              <a:t>Un seul incident suffira pour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pilier 5 est la checklist finale avant envoi. 2 minutes maximum.</a:t>
            </a:r>
          </a:p>
          <a:p>
            <a:r>
              <a:rPr lang="fr-FR"/>
              <a:t>Le vérificateur Word est le dernier filet de sécurité - mais il ne détecte pas tout (voir slide suivante).</a:t>
            </a:r>
          </a:p>
          <a:p>
            <a:r>
              <a:rPr lang="fr-FR"/>
              <a:t>Insister sur le nom de fichier : c'est le seul identifiant visible avant d'ouvrir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le vérificateur d'orthographe ne détecte pas les fautes de sens (il accepte et la et à).</a:t>
            </a:r>
          </a:p>
          <a:p>
            <a:r>
              <a:rPr lang="fr-FR"/>
              <a:t>Le vérificateur d'accessibilité ne détecte pas un texte alt vide de sens.</a:t>
            </a:r>
          </a:p>
          <a:p>
            <a:r>
              <a:rPr lang="fr-FR"/>
              <a:t>Les 5 colonnes du tableau montrent la limite de l'outil.</a:t>
            </a:r>
          </a:p>
          <a:p>
            <a:r>
              <a:rPr lang="fr-FR"/>
              <a:t>Toujours faire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Sophie a tout faux, mais aucune de ses erreurs n'est due à de la mauvaise volonté - juste des habitudes.</a:t>
            </a:r>
          </a:p>
          <a:p>
            <a:r>
              <a:rPr lang="fr-FR"/>
              <a:t>Tout le monde a fait au moins 3 de ces erreurs dans sa carrière.</a:t>
            </a:r>
          </a:p>
          <a:p>
            <a:r>
              <a:rPr lang="fr-FR"/>
              <a:t>Le temps de 8 minutes est mesuré - pas estimé.</a:t>
            </a:r>
          </a:p>
          <a:p>
            <a:r>
              <a:rPr lang="fr-FR"/>
              <a:t>Proposer aux stagiaires de corriger un vrai document en 8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quadrant haut-gauche est le meilleur investissement. 4 actions qui couvrent les piliers 1, 3 et 5 - les plus impactants.</a:t>
            </a:r>
          </a:p>
          <a:p>
            <a:r>
              <a:rPr lang="fr-FR"/>
              <a:t>Retravailler un document entier est décourageant : commencer par les nouveaux documents.</a:t>
            </a:r>
          </a:p>
          <a:p>
            <a:r>
              <a:rPr lang="fr-FR"/>
              <a:t>Le contraste sur des centaines de pages = piège : traiter à la source (templates, charte graphique).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 minutes de réflexion individuelle.</a:t>
            </a:r>
          </a:p>
          <a:p>
            <a:r>
              <a:rPr lang="fr-FR"/>
              <a:t>Corriger en groupe, commenter les erreurs manquées.</a:t>
            </a:r>
          </a:p>
          <a:p>
            <a:r>
              <a:rPr lang="fr-FR"/>
              <a:t>Si quelqu'un trouve les 5 : féliciter et demander combien de temps il a mis.</a:t>
            </a:r>
          </a:p>
          <a:p>
            <a:r>
              <a:rPr lang="fr-FR"/>
              <a:t>Si moins de 3 : identifier quel pilier est moins bien maîtrisé et orienter vers les slides correspondantes.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Silence total pendant 2 minutes.</a:t>
            </a:r>
          </a:p>
          <a:p>
            <a:r>
              <a:rPr lang="fr-FR"/>
              <a:t>Ne pas aider.</a:t>
            </a:r>
          </a:p>
          <a:p>
            <a:r>
              <a:rPr lang="fr-FR"/>
              <a:t>Ce travail de récupération active consolide la mémoire à long terme plus efficacement que relire le support.</a:t>
            </a:r>
          </a:p>
          <a:p>
            <a:r>
              <a:rPr lang="fr-FR"/>
              <a:t>Quand tout le monde a écrit : comparer avec la réponse.</a:t>
            </a:r>
          </a:p>
          <a:p>
            <a:r>
              <a:rPr lang="fr-FR"/>
              <a:t>L'écart entre ce qu'on croit savoir et ce qu'on sait vraiment est très instructif.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3 gestes en 2 minutes sur chaque nouveau document.</a:t>
            </a:r>
          </a:p>
          <a:p>
            <a:r>
              <a:rPr lang="fr-FR"/>
              <a:t>Pas besoin de tout maîtriser d'un coup : commencer par 1, installer le réflexe, ajouter le suivant.</a:t>
            </a:r>
          </a:p>
          <a:p>
            <a:r>
              <a:rPr lang="fr-FR"/>
              <a:t>Dans 30 jours,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checklist est l'outil quotidien.</a:t>
            </a:r>
          </a:p>
          <a:p>
            <a:r>
              <a:rPr lang="fr-FR"/>
              <a:t>La plastifier ou la garder en favoris. 5 minutes avant d'envoyer un document : parcourir de haut en bas.</a:t>
            </a:r>
          </a:p>
          <a:p>
            <a:r>
              <a:rPr lang="fr-FR"/>
              <a:t>Ne pas tout faire d'un coup au début : commencer par les 3 premiers critères de chaque colonne.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répétitions espacées multiplient par 3 la rétention à long terme (Ebbinghaus, confirmé par Pashler 2007).</a:t>
            </a:r>
          </a:p>
          <a:p>
            <a:r>
              <a:rPr lang="fr-FR"/>
              <a:t>J+7 = pic de l'oubli.</a:t>
            </a:r>
          </a:p>
          <a:p>
            <a:r>
              <a:rPr lang="fr-FR"/>
              <a:t>J+30 = consolidation à long terme.</a:t>
            </a:r>
          </a:p>
          <a:p>
            <a:r>
              <a:rPr lang="fr-FR"/>
              <a:t>La phrase-clé est l'ancre : si un stagiaire ne retient qu'une chose, c'est 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diapo : fermeture psychologique.</a:t>
            </a:r>
          </a:p>
          <a:p>
            <a:r>
              <a:rPr lang="fr-FR"/>
              <a:t>L'engagement explicite (« je m'engage ») crée une intention comportementale plus forte qu'une simple affirmation.</a:t>
            </a:r>
          </a:p>
          <a:p>
            <a:r>
              <a:rPr lang="fr-FR"/>
              <a:t>Laisser chaque stagiaire écrire son engagement personnel en bas de la diapo (physique ou mental).</a:t>
            </a:r>
          </a:p>
          <a:p>
            <a:r>
              <a:rPr lang="fr-FR"/>
              <a:t>La répétition J+7 et J+30 est un contrat entre le stagiaire et lui-même : respectez le calendrier, les réflexes s'installent.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d'erreurs.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d'or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d'écran n'annonce rien.</a:t>
            </a:r>
          </a:p>
          <a:p>
            <a:r>
              <a:rPr lang="fr-FR"/>
              <a:t>Message d'erreur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Module 4.</a:t>
            </a:r>
          </a:p>
          <a:p>
            <a:r>
              <a:rPr lang="fr-FR"/>
              <a:t>Question d'accroche : Qui a déjà publié une photo sans texte alternatif ?</a:t>
            </a:r>
          </a:p>
          <a:p>
            <a:r>
              <a:rPr lang="fr-FR"/>
              <a:t>Toutes les mains levées - c'est le problème qu'on va résoudre.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stat des 12 millions vient de l'INSEE (enquête Handicap-Santé 2021).</a:t>
            </a:r>
          </a:p>
          <a:p>
            <a:r>
              <a:rPr lang="fr-FR"/>
              <a:t>Ne pas chercher à impressionner avec des chiffres spectaculaires - le vrai impact c'est 'quelqu'un dans votre public ne pourra pas lire ce post'.</a:t>
            </a:r>
          </a:p>
          <a:p>
            <a:r>
              <a:rPr lang="fr-FR"/>
              <a:t>Annoncer la structure : 4 gestes que vous allez voir en détail.</a:t>
            </a:r>
          </a:p>
          <a:p>
            <a:r>
              <a:rPr lang="fr-FR"/>
              <a:t>Commencer par une question : 'Sur vos 10 derniers posts, combien avaient un texte alternatif sur les images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rien dire.</a:t>
            </a:r>
          </a:p>
          <a:p>
            <a:r>
              <a:rPr lang="fr-FR"/>
              <a:t>Distribuer la consigne, laisser 2 minutes en silence.</a:t>
            </a:r>
          </a:p>
          <a:p>
            <a:r>
              <a:rPr lang="fr-FR"/>
              <a:t>Certains stagiaires vont identifier les émojis, d'autres le contraste, d'autres rien.</a:t>
            </a:r>
          </a:p>
          <a:p>
            <a:r>
              <a:rPr lang="fr-FR"/>
              <a:t>C'est exactement l'objectif : révéler que le problème n'est pas évident visuellement.</a:t>
            </a:r>
          </a:p>
          <a:p>
            <a:r>
              <a:rPr lang="fr-FR"/>
              <a:t>Recueillir les réponses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la colonne de droite avec le ton d'un lecteur d'écran - monotone, sans pause.</a:t>
            </a:r>
          </a:p>
          <a:p>
            <a:r>
              <a:rPr lang="fr-FR"/>
              <a:t>Silence après la lecture.</a:t>
            </a:r>
          </a:p>
          <a:p>
            <a:r>
              <a:rPr lang="fr-FR"/>
              <a:t>Laisser l'absurdité s'installer.</a:t>
            </a:r>
          </a:p>
          <a:p>
            <a:r>
              <a:rPr lang="fr-FR"/>
              <a:t>L'effet de surprise est la meilleure colle mémorielle ici.</a:t>
            </a:r>
          </a:p>
          <a:p>
            <a:r>
              <a:rPr lang="fr-FR"/>
              <a:t>Ne pas commenter immédiatement - poser la question : 'Qui aurait pensé à ça en publiant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: aucune information perdue.</a:t>
            </a:r>
          </a:p>
          <a:p>
            <a:r>
              <a:rPr lang="fr-FR"/>
              <a:t>Le message est même plus clair pour tout le monde.</a:t>
            </a:r>
          </a:p>
          <a:p>
            <a:r>
              <a:rPr lang="fr-FR"/>
              <a:t>L'accessibilité améliore la qualité pour tous, pas seulement pour les personnes handicapées.</a:t>
            </a:r>
          </a:p>
          <a:p>
            <a:r>
              <a:rPr lang="fr-FR"/>
              <a:t>Question à poser : 'Combien de temps faut-il pour faire ces 3 modifications ?' - Réponse 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Post à préparer avant la session : un post LinkedIn ou Twitter avec 5-6 émojis en série et un hashtag sans CamelCase.</a:t>
            </a:r>
          </a:p>
          <a:p>
            <a:r>
              <a:rPr lang="fr-FR"/>
              <a:t>L'effet est immédiatement compréhensible.</a:t>
            </a:r>
          </a:p>
          <a:p>
            <a:r>
              <a:rPr lang="fr-FR"/>
              <a:t>NVDA : Ctrl+Alt+N pour démarrer, Insert+Q pour quitter.</a:t>
            </a:r>
          </a:p>
          <a:p>
            <a:r>
              <a:rPr lang="fr-FR"/>
              <a:t>Si NVDA n'est pas disponible, utiliser Narrateur Windows (Win+Ctrl+Entrée).</a:t>
            </a:r>
          </a:p>
          <a:p>
            <a:r>
              <a:rPr lang="fr-FR"/>
              <a:t>Durée de la démo : 5 minutes max.</a:t>
            </a:r>
          </a:p>
          <a:p>
            <a:r>
              <a:rPr lang="fr-FR"/>
              <a:t>Laisser ensuite 5 minutes aux stagiaires pour tester eux-mêmes sur leur propre PC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slide sert de boussole pour tout le module.</a:t>
            </a:r>
          </a:p>
          <a:p>
            <a:r>
              <a:rPr lang="fr-FR"/>
              <a:t>Y revenir à la fin.</a:t>
            </a:r>
          </a:p>
          <a:p>
            <a:r>
              <a:rPr lang="fr-FR"/>
              <a:t>Chaque réflexe sera détaillé dans les slides suivantes.</a:t>
            </a:r>
          </a:p>
          <a:p>
            <a:r>
              <a:rPr lang="fr-FR"/>
              <a:t>Le message clé : 4 actions, 2 minutes par publication, zéro compétence technique requise.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L'analogie du sous-titre fonctionne très bien - tout le monde comprend immédiatement.</a:t>
            </a:r>
          </a:p>
          <a:p>
            <a:r>
              <a:rPr lang="fr-FR"/>
              <a:t>Insister sur le fait que ça bénéficie AUSSI au référencement : argument qui convainc les agents qui ne sont pas sensibles à l'accessibilité pure.</a:t>
            </a:r>
          </a:p>
          <a:p>
            <a:r>
              <a:rPr lang="fr-FR"/>
              <a:t>Montrer rapidement où trouver le champ alt text sur LinkedIn (le plus utilisé en contexte pro).</a:t>
            </a:r>
          </a:p>
          <a:p>
            <a:r>
              <a:rPr lang="fr-FR"/>
              <a:t>Ne pas aller dans le détail de toutes les plateformes ici - ça sera dans le tableau comparatif.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d'or : décrire ce qui est utile pour comprendre le message, pas ce qui est visible.</a:t>
            </a:r>
          </a:p>
          <a:p>
            <a:r>
              <a:rPr lang="fr-FR"/>
              <a:t>Une photo de groupe sans texte = "Équipe de 5 agents en réunion de travail".</a:t>
            </a:r>
          </a:p>
          <a:p>
            <a:r>
              <a:rPr lang="fr-FR"/>
              <a:t>Une infographie avec des chiffres = décrire les chiffres clés dans l'alt text OU dire que le détail est dans le texte du post.</a:t>
            </a:r>
          </a:p>
          <a:p>
            <a:r>
              <a:rPr lang="fr-FR"/>
              <a:t>Recueillir 1-2 exemples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lire le tableau ligne par ligne - il sert de mémo à imprimer ou photographier.</a:t>
            </a:r>
          </a:p>
          <a:p>
            <a:r>
              <a:rPr lang="fr-FR"/>
              <a:t>Insister : sur X/Twitter il faut le faire AVANT de publier, on ne peut pas l'ajouter après.</a:t>
            </a:r>
          </a:p>
          <a:p>
            <a:r>
              <a:rPr lang="fr-FR"/>
              <a:t>Sur LinkedIn c'est possible après coup, donc pas d'excuse.</a:t>
            </a:r>
          </a:p>
          <a:p>
            <a:r>
              <a:rPr lang="fr-FR"/>
              <a:t>Un mémo PDF plus complet sera distribué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du test : retirer l'émoji et voir si le message tient.</a:t>
            </a:r>
          </a:p>
          <a:p>
            <a:r>
              <a:rPr lang="fr-FR"/>
              <a:t>Exemple : 'Rejoignez-nous mardi prochain !' vs 'Rejoignez-nous mardi prochain !📅' - le calendrier ne porte pas de sens supplémentaire ici, c'est décoratif.</a:t>
            </a:r>
          </a:p>
          <a:p>
            <a:r>
              <a:rPr lang="fr-FR"/>
              <a:t>Mais '🚨 Fermeture exceptionnelle' : l'émoji alerte sert vraiment de signal.</a:t>
            </a:r>
          </a:p>
          <a:p>
            <a:r>
              <a:rPr lang="fr-FR"/>
              <a:t>Dans ce cas il faut écrire 'ALERTE - Fermeture exceptionnelle' et mettre l'émoji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colonne de droite à voix haute, d'une seule traite, sans intonation.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Puis lire la version accessible : nette et compréhensible.</a:t>
            </a:r>
          </a:p>
          <a:p>
            <a:r>
              <a:rPr lang="fr-FR"/>
              <a:t>Question à poser : 'Combien de temps pour corriger ce post ?' - 30 secondes.</a:t>
            </a:r>
          </a:p>
          <a:p>
            <a:r>
              <a:rPr lang="fr-FR"/>
              <a:t>L'information est la même, la lisibilité est incomparablement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L'anecdote Susan Boyle : en 2012 le label de Susan Boyle a lancé le hashtag #susanalbumparty pour son album.</a:t>
            </a:r>
          </a:p>
          <a:p>
            <a:r>
              <a:rPr lang="fr-FR"/>
              <a:t>Sans CamelCase, le lecteur d'écran (et les humains !) lisaient quelque chose de très différent.</a:t>
            </a:r>
          </a:p>
          <a:p>
            <a:r>
              <a:rPr lang="fr-FR"/>
              <a:t>Depuis, le CamelCase est la norme sur toutes les plateformes.</a:t>
            </a:r>
          </a:p>
          <a:p>
            <a:r>
              <a:rPr lang="fr-FR"/>
              <a:t>C'est une des rares règles d'accessibilité qui est aussi devenue la norme éditoriale standard - bon exemple que l'accessibilité améliore la communication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en direct sur un smartphone : aller sur InstaFont, taper 'Bonjour', copier le résultat 'faux gras', le coller dans un post test, puis activer TalkBack (Android) ou VoiceOver (iPhone) pour écouter.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La règle Opquast 14 est une référence AQW (Assurance Qualité Web) qui couvre aussi le SEO et la lisibilité IA - argument fort pour les agents qui ne sont pas encore convaincus par l'argument accessibilité seul.</a:t>
            </a:r>
          </a:p>
          <a:p>
            <a:r>
              <a:rPr lang="fr-FR"/>
              <a:t>Solution simple : utiliser le gras natif de la plateforme (LinkedIn, Facebook permettent le formatage natif).</a:t>
            </a:r>
          </a:p>
          <a:p>
            <a:r>
              <a:rPr lang="fr-FR"/>
              <a:t>Sinon, écrire en texte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Sujet sensible à traiter avec neutralité - ne pas prendre position sur le fond idéologique, uniquement sur la technicité d'accessibilité.</a:t>
            </a:r>
          </a:p>
          <a:p>
            <a:r>
              <a:rPr lang="fr-FR"/>
              <a:t>Le message clé : l'accessibilité et l'inclusion ne s'opposent pas.</a:t>
            </a:r>
          </a:p>
          <a:p>
            <a:r>
              <a:rPr lang="fr-FR"/>
              <a:t>Le point médian pose un problème technique réel (lecteur d'écran) indépendamment de toute position politique.</a:t>
            </a:r>
          </a:p>
          <a:p>
            <a:r>
              <a:rPr lang="fr-FR"/>
              <a:t>La DGLFLF et la DINUM sont des références institutionnelles solides pour les agents qui auraient des doutes sur la légitimité de la recommandation.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Ne pas lire les réponses inscrites sur les cartes pendant la question.</a:t>
            </a:r>
          </a:p>
          <a:p>
            <a:r>
              <a:rPr lang="fr-FR"/>
              <a:t>Interleaving (R14 neuropédagogie) : les 4 questions couvrent les 4 réflexes du module, pas uniquement le dernier thème.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Clôture du module.</a:t>
            </a:r>
          </a:p>
          <a:p>
            <a:r>
              <a:rPr lang="fr-FR"/>
              <a:t>Laisser 2 minutes aux stagiaires pour noter leur engagement personnel (1 seul geste concret pour demain).</a:t>
            </a:r>
          </a:p>
          <a:p>
            <a:r>
              <a:rPr lang="fr-FR"/>
              <a:t>La restitution orale de ces engagements crée une responsabilisation sociale (R24 neuropédagogie - plan d'action + pair learning).</a:t>
            </a:r>
          </a:p>
          <a:p>
            <a:r>
              <a:rPr lang="fr-FR"/>
              <a:t>Annoncer : un mémo PDF 'Réseaux sociaux accessibles' sera envoyé par mail après la formation avec les 4 réflexes et le tableau des plateformes.</a:t>
            </a:r>
          </a:p>
          <a:p>
            <a:r>
              <a:rPr lang="fr-FR"/>
              <a:t>Remercier les stagiaires pour leur participation et leur attention sur un sujet qui impacte directement les millions d'usagers de leurs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hecklists.opquast.com/fr/qualite-numerique/les-contenus-ne-detournent-pas-de-caracteres-pour-simuler-une-mise-en-forme-visuelle" TargetMode="External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306324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315468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formation vous permettra de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35661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Expliquer les enjeux de l'accessibilité numérique et son cadre légal dans le contexte de la communication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Identifier et évaluer les principales erreurs d'accessibilité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Rendre des contenus numériques accessibles</a:t>
            </a:r>
          </a:p>
        </p:txBody>
      </p:sp>
      <p:sp>
        <p:nvSpPr>
          <p:cNvPr id="20" name="DSFR-box"/>
          <p:cNvSpPr/>
          <p:nvPr/>
        </p:nvSpPr>
        <p:spPr>
          <a:xfrm>
            <a:off x="6313931" y="30632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6469379" y="32004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Image à insérer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30632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6240779" y="30632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Programme de la journée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22174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92608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et cadre légal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383280"/>
            <a:ext cx="5097779" cy="9372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Définition, enjeux et obligations des acteurs publics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Analyse d'une déclaration d'accessibilité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240280"/>
            <a:ext cx="5390388" cy="22174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92608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Documents bureautiques accessibles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383280"/>
            <a:ext cx="5097779" cy="9372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Création et adaptation de documents Word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Mémo LibreOffice et export PDF accessible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686300"/>
            <a:ext cx="5390388" cy="22174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53721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Easy Checks W3C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829300"/>
            <a:ext cx="5097779" cy="9372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Introduction aux Easy Checks et leur importance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Présentation et démonstration des évaluations rapides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686300"/>
            <a:ext cx="5390388" cy="22174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53721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réseaux sociaux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829300"/>
            <a:ext cx="5097779" cy="9372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Enjeux essentiels de l'accessibilité sur les réseaux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Texte alt, hashtags et émojis : bonnes pratiques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Programme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82346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82346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22174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240280"/>
            <a:ext cx="73152" cy="22174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686300"/>
            <a:ext cx="73152" cy="22174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686300"/>
            <a:ext cx="73152" cy="22174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Bertrand Matge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3127248" cy="38404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331720"/>
            <a:ext cx="283464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Photo à insérer</a:t>
            </a:r>
          </a:p>
        </p:txBody>
      </p:sp>
      <p:sp>
        <p:nvSpPr>
          <p:cNvPr id="12" name="DSFR-box"/>
          <p:cNvSpPr/>
          <p:nvPr/>
        </p:nvSpPr>
        <p:spPr>
          <a:xfrm>
            <a:off x="4005072" y="2194560"/>
            <a:ext cx="7699248" cy="25831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4160520" y="2286000"/>
            <a:ext cx="74523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Responsable pôle support web - Mission Ingénierie du Web, SG-SNUM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4160520" y="2697480"/>
            <a:ext cx="7452360" cy="19888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Service du numérique - 139 rue de Bercy, 75012 Paris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Formateur Opquast certifié, référent Assurance Qualité Web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Forme et sensibilise à l'accessibilité depuis plusieurs années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Passionné par la conception inclusive et l'expérience utilisateur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Formé à l'audit d'accessibilité numérique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bertrand.matge@finances.gouv.fr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3840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3931920" y="2194560"/>
            <a:ext cx="73152" cy="25831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Alexandra Guiderdoni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3127248" cy="38404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331720"/>
            <a:ext cx="283464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Photo à insérer</a:t>
            </a:r>
          </a:p>
        </p:txBody>
      </p:sp>
      <p:sp>
        <p:nvSpPr>
          <p:cNvPr id="12" name="DSFR-box"/>
          <p:cNvSpPr/>
          <p:nvPr/>
        </p:nvSpPr>
        <p:spPr>
          <a:xfrm>
            <a:off x="4005072" y="2194560"/>
            <a:ext cx="769924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4160520" y="2286000"/>
            <a:ext cx="74523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Chef de projet - Mission Ingénierie du Web, SG-SNUM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4160520" y="2697480"/>
            <a:ext cx="745236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Spécialisée dans les technologies web et l'accessibilité numérique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Expérience : Ministère des affaires étrangères, ESN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DU-RAN (diplôme universitaire référent accessibilité numérique), 1re session 2024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Formée à l'audit d'accessibilité numérique RGAA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alexandra.guiderdoni@finances.gouv.fr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3840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3931920" y="219456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Présentez-vous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2428875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êtes-vous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3176016" cy="169735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Bonjour, je m'appelle [prénom]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Je suis [métier / fonction]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chez [direction / service]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depuis [durée]</a:t>
            </a:r>
          </a:p>
        </p:txBody>
      </p:sp>
      <p:sp>
        <p:nvSpPr>
          <p:cNvPr id="13" name="DSFR-box"/>
          <p:cNvSpPr/>
          <p:nvPr/>
        </p:nvSpPr>
        <p:spPr>
          <a:xfrm>
            <a:off x="4392167" y="2103120"/>
            <a:ext cx="3468623" cy="2428875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Mon rapport à l'accessibilité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697479"/>
            <a:ext cx="3176016" cy="169735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Quand j'entends « accessibilité numérique », je pense à [premier mot]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Je me situe plutôt :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[ ] Complet débutant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[ ] J'en ai entendu parler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[ ] J'ai déjà appliqué quelques règles</a:t>
            </a:r>
          </a:p>
        </p:txBody>
      </p:sp>
      <p:sp>
        <p:nvSpPr>
          <p:cNvPr id="17" name="DSFR-box"/>
          <p:cNvSpPr/>
          <p:nvPr/>
        </p:nvSpPr>
        <p:spPr>
          <a:xfrm>
            <a:off x="8235695" y="2103120"/>
            <a:ext cx="3468623" cy="2428875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j'attends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697479"/>
            <a:ext cx="3176016" cy="169735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Je produis principalement [type de contenu]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Pour un usage : [ ] Interne   [ ] Grand public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Ce que j'espère retirer :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J'aimerais [objectif personnel]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28875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103120"/>
            <a:ext cx="73152" cy="2428875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103120"/>
            <a:ext cx="73152" cy="2428875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Regroupement par binômes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5831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ça marche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9888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12 stagiaires - 6 binômes de 2 personnes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Chaque binôme pioche 1 carte idée reçue : vous en êtes les gardiens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Pendant la journée : les exercices pratiques se font en binôme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 fin de journée : chaque binôme présente son engagement concret en 1 minute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965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en binôme ?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L'apprentissage est plus solide quand on explique à quelqu'un d'autre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Deux regards valent mieux qu'un sur un document à corriger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Vous repartez avec un référent dans votre réseau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1947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010912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Prenez 1 minute : échangez avec votre binôme ce que vous faites au quotidien.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5831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965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1947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Ensemble, faisons tomber les préjugés !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L'accessibilité numérique, ça fait peur... mais souvent pour de mauvaises raisons.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898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6042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Activité : vrai ou faux ?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7190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Vous avez chacun une carte avec une idée reçue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Lisez-la, décidez : vrai ou faux ?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On révèle ensemble le décryptage, carte par carte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898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1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3774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« Ça ne concerne qu'une minorité de personnes 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3774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1783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1 milliard+ de personnes dans le monde vivent avec un handicap (OMS)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Soit 15 % de la population mondiale - 1 personne sur 6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 France : 12 millions de personnes en situation de handicap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Et chacun sera concerné un jour : âge, accident, maladie temporaire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70916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800600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4709160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card-titre"/>
          <p:cNvSpPr txBox="1"/>
          <p:nvPr/>
        </p:nvSpPr>
        <p:spPr>
          <a:xfrm>
            <a:off x="6469379" y="48463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QR code à insérer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3774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3774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70916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470916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2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9946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7145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« La créativité et l'UX seront dégradées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994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4003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L'accessibilité n'impose pas un design archaïque, austère ou sans inspiration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contraintes sont des leviers de créativité, pas des freins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interfaces les plus accessibles sont souvent les plus claires et élégantes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Exemple : le DSFR (Design System de l'État) est à la fois accessible et soigné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32638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417820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5330952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card-titre"/>
          <p:cNvSpPr txBox="1"/>
          <p:nvPr/>
        </p:nvSpPr>
        <p:spPr>
          <a:xfrm>
            <a:off x="6469379" y="5468112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QR code à insérer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994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994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5330952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3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9946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7145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« C'est juste du contraste et des images décrites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994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4003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contraste et les textes alternatifs ne sont que 2 exigences sur des centaines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RGAA compte 106 critères, les WCAG 2.1 en comptent 78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Titres, liens, tableaux, formulaires, langue, ordre de lecture... autant de dimensions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L'accessibilité touche toute la chaîne : rédaction, mise en forme, export, publication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32638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417820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5330952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card-titre"/>
          <p:cNvSpPr txBox="1"/>
          <p:nvPr/>
        </p:nvSpPr>
        <p:spPr>
          <a:xfrm>
            <a:off x="6469379" y="5468112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QR code à insérer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994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994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5330952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4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9946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7145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« Ce n'est pas de mon ressort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994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4003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L'accessibilité ne peut pas être portée par une seule équipe ou une seule personne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Elle implique tous les producteurs de contenu : rédacteurs, communicants, designers...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Chaque document Word, chaque image publiée engage une responsabilité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loi de 2005 et la directive européenne 2016/2102 s'appliquent à tous les agents publics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32638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417820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5330952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card-titre"/>
          <p:cNvSpPr txBox="1"/>
          <p:nvPr/>
        </p:nvSpPr>
        <p:spPr>
          <a:xfrm>
            <a:off x="6469379" y="5468112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QR code à insérer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994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994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5330952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5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788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087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« Ça coûte trop cher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7889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194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Oui - si l'accessibilité est traitée comme un ajustement en fin de projet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Non - si elle est intégrée dès la conception (approche « shift left »)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Corriger un document Word après publication : 10 fois plus cher que le faire d'emblée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réflexes appris aujourd'hui ne coûtent rien : juste un changement d'habitude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12064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21207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5120640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card-titre"/>
          <p:cNvSpPr txBox="1"/>
          <p:nvPr/>
        </p:nvSpPr>
        <p:spPr>
          <a:xfrm>
            <a:off x="6469379" y="5257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QR code à insérer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788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788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12064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512064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6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788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087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« On s'en occupe à la fin !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7889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194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Prise en compte tardive = grosses corrections après coup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Cela pèse sur l'efficacité des projets et génère de la frustration pour les équipes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L'accessibilité « à la fin » est souvent l'accessibilité jamais faite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Solution : intégrer les bons réflexes à chaque étape, pas les accumuler en sprint final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12064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21207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5120640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card-titre"/>
          <p:cNvSpPr txBox="1"/>
          <p:nvPr/>
        </p:nvSpPr>
        <p:spPr>
          <a:xfrm>
            <a:off x="6469379" y="5257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QR code à insérer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6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788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788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12064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512064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Accessibilité numérique et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numérique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Définition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54203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site accessible, c'est un site que tout le monde peut utiliser - avec ou sans handicap, avec ou sans outil d'assistance.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4016502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12 millions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97662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de personnes en situation
de handicap en France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4016502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97662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des sites publics non
conformes au RGAA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4016502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2005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97662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loi Handicap : obligation
d'accessibilité numérique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cadre légal : de 2005 à aujourd'hui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RGAA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Loi Handicap 2005 : 1re obligation d'accessibilité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Directive européenne 2016 : extension au secteur public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RGAA 4.1.2 (décret 2019-768) : référentiel opposable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Contrôle Arcom effectif - contrôle DINUM en cours de mise en place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1772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70915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est concerné ?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12064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État, collectivités, établissements publics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Entreprises privées gérant un service public ou CA &gt; 250 M EUR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Pénalité jusqu'à 25 000 EUR par service non conforme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1772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déclaration d'accessibilité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Déclaration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Que doit-elle contenir ?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concret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Taux de conformité RGAA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Ex. : 62 % conforme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global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Partiellement conforme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Technologies utilisées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HTML5, CSS3, JavaScript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Environnements de test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Chrome + NVDA, Safari + VoiceOver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Contact et voie de recours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accessibilite@ministere.fr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6634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Exercice pratique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0749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Cherchez la déclaration d'accessibilité de votre site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URL type : /declaration-accessibilite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Notez le taux de conformité affiché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Module 1 - Ce que vous retenez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Synthèse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points à retenir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L'accessibilité est une obligation légale - pas une option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RGAA 4.1.2 est votre référentiel de conformité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déclaration d'accessibilité est publiée sur chaque site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encadre-titre"/>
          <p:cNvSpPr txBox="1"/>
          <p:nvPr/>
        </p:nvSpPr>
        <p:spPr>
          <a:xfrm>
            <a:off x="704088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Dès demain matin</a:t>
            </a:r>
          </a:p>
        </p:txBody>
      </p:sp>
      <p:sp>
        <p:nvSpPr>
          <p:cNvPr id="15" name="DSFR-encadre-bullets"/>
          <p:cNvSpPr txBox="1"/>
          <p:nvPr/>
        </p:nvSpPr>
        <p:spPr>
          <a:xfrm>
            <a:off x="704088" y="4572000"/>
            <a:ext cx="5097779" cy="6400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Vérifier votre déclaration d'accessibilité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Noter le taux de conformité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Faire réaliser un audit si celui-ci n'existe pas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3977639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encadre-titre"/>
          <p:cNvSpPr txBox="1"/>
          <p:nvPr/>
        </p:nvSpPr>
        <p:spPr>
          <a:xfrm>
            <a:off x="6469379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semaine</a:t>
            </a:r>
          </a:p>
        </p:txBody>
      </p:sp>
      <p:sp>
        <p:nvSpPr>
          <p:cNvPr id="19" name="DSFR-encadre-bullets"/>
          <p:cNvSpPr txBox="1"/>
          <p:nvPr/>
        </p:nvSpPr>
        <p:spPr>
          <a:xfrm>
            <a:off x="6469379" y="4572000"/>
            <a:ext cx="5097779" cy="6400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Partager le taux à l'équipe projet et à votre supérieur hiérarchique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Identifier les pages obligatoires de l'échantillon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3977639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bureautiques accessibles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Le lecteur d'écran en action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2240279"/>
            <a:ext cx="1086307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“ Texte, texte, texte, texte, texte, texte... Pendant 4 minutes. Sans titre. Sans repère. Sans pouvoir naviguer vers la section qui le concerne. ”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320040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lang="fr-FR">
                <a:solidFill>
                  <a:srgbClr val="000091"/>
                </a:solidFill>
                <a:latin typeface="Marianne"/>
              </a:rPr>
              <a:t>- Ce qu'entend une personne malvoyante face à votre document Word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1480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warning-titre"/>
          <p:cNvSpPr txBox="1"/>
          <p:nvPr/>
        </p:nvSpPr>
        <p:spPr>
          <a:xfrm>
            <a:off x="704088" y="42062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15 % de vos destinataires sont concernés</a:t>
            </a:r>
          </a:p>
        </p:txBody>
      </p:sp>
      <p:sp>
        <p:nvSpPr>
          <p:cNvPr id="22" name="DSFR-alert-warning-body"/>
          <p:cNvSpPr txBox="1"/>
          <p:nvPr/>
        </p:nvSpPr>
        <p:spPr>
          <a:xfrm>
            <a:off x="704088" y="46177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80 % de ces handicaps sont invisibles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Dans une réunion de 12 personnes : au moins 1 daltonien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Parmi 30 destinataires : 4 ou 5 ont un handicap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Contexte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148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flash : lequel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Ils sont visuellement identiques. Lequel préférez-vous pour VoiceOver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5097779" cy="6400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Titres mis en gras, police Arial 16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Image sans description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60"/>
            <a:ext cx="5097779" cy="6400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Titres avec le style « Titre 1 »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Image avec texte alternatif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0063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09777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Réponse après la prochaine section.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0063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ça vous concerne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Réponse au quiz : Document B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piliers,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pilier = des critères actionnables immédiatement dans le ruban Word.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337560"/>
          <a:ext cx="1122883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28431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Pilier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allez apprendre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1.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Titres, listes, colonnes, tableaux, sauts de page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2. Couleurs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Rapport de contraste, couleur porteuse de sens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3. Contenu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alternatif, objets alignés, liens descriptifs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4. Langue et lisibilité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Balisage linguistique, majuscules, espaces répétés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5. Finalisation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Vérificateur intégré, propriétés du document, export PDF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Vue d'ensemble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1 - Les styles de titre : le fondement de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Devinez : comment un lecteur d'écran repère-t-il les titres dans Word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34640"/>
            <a:ext cx="5390388" cy="1760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error-titre"/>
          <p:cNvSpPr txBox="1"/>
          <p:nvPr/>
        </p:nvSpPr>
        <p:spPr>
          <a:xfrm>
            <a:off x="704088" y="292608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Sans styles de titre</a:t>
            </a:r>
          </a:p>
        </p:txBody>
      </p:sp>
      <p:sp>
        <p:nvSpPr>
          <p:cNvPr id="14" name="DSFR-alert-error-body"/>
          <p:cNvSpPr txBox="1"/>
          <p:nvPr/>
        </p:nvSpPr>
        <p:spPr>
          <a:xfrm>
            <a:off x="704088" y="3337560"/>
            <a:ext cx="5143500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Texte, texte, texte, texte...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bloc plat - aucun repère de navigation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4 minutes d'écoute sans pouvoir avancer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834640"/>
            <a:ext cx="5390388" cy="1760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6469379" y="292608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Avec Titre 1, Titre 2, Titre 3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6469379" y="3337560"/>
            <a:ext cx="5143500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Titre 1 : Rapport annuel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Titre 2 : Budget / Titre 3 : Prévisions 2025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Navigation en quelques secondes comme une table des matières interactive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84632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493775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faire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534924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Clic sur le titre &gt; Accueil &gt; Styles &gt; Titre 1, Titre 2 ou Titre 3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Raccourci volet Styles : Ctrl+Alt+Maj+S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Vérification : Ctrl+F &gt; onglet Titres - les titres apparaissent ? C'est bon.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3464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83464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84632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1 - Listes natives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1965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✓  Liste accessible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lecteur annonce : liste de 3 éléments, élément 1 sur 3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Navigation par élément avec les touches flèches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Créer avec : Accueil &gt; Paragraphe &gt; Puces ou Numérotation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1965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✗  Liste inaccessible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Tirets manuels : le lecteur lit tiret Premier élément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Tabulations pour simuler une numérotation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Réseaux d'espaces pour aligner visuellement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37760"/>
            <a:ext cx="11155680" cy="93725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502920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Vérification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440680"/>
            <a:ext cx="10908792" cy="34289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Maj+F1 (Révéler la mise en forme) &gt; Puces et numérotation doit apparaître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1965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1965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37760"/>
            <a:ext cx="73152" cy="93725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1 - Tableaux et objets flottants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d'or : ne jamais utiliser Tab, Espace ou Entrée pour simuler une mise en page - vous créez une barrière invisible pour les technologies d'assistance.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65760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74903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Tableaux de mise en page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1605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Insertion &gt; Tableau &gt; choisir les colonnes et lignes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Habillage : clic droit &gt; Propriétés &gt; Habillage = Aucun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tableau flottant (Autour) n'est pas lu au bon moment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07492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warning-titre"/>
          <p:cNvSpPr txBox="1"/>
          <p:nvPr/>
        </p:nvSpPr>
        <p:spPr>
          <a:xfrm>
            <a:off x="704088" y="516635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flottants : zones de texte et images en habillage Devant le texte</a:t>
            </a:r>
          </a:p>
        </p:txBody>
      </p:sp>
      <p:sp>
        <p:nvSpPr>
          <p:cNvPr id="18" name="DSFR-alert-warning-body"/>
          <p:cNvSpPr txBox="1"/>
          <p:nvPr/>
        </p:nvSpPr>
        <p:spPr>
          <a:xfrm>
            <a:off x="704088" y="557784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Invisibles ou lus dans un ordre aléatoire par le lecteur d'écran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Solution : colonnes intégrées Word ou habillage En ligne avec le texte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6576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07492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2 - 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2801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Ouvrir le Colour Contrast Analyser (CCA) de TPGi - gratuit Windows et macOS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2801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Pipette Premier plan sur la couleur du texte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2801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Pipette Arrière-plan sur la couleur du fond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2801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Lire le ratio : conforme si &gt;= 4,5:1 texte normal, &gt;= 3:1 grand texte</a:t>
            </a:r>
          </a:p>
        </p:txBody>
      </p:sp>
      <p:sp>
        <p:nvSpPr>
          <p:cNvPr id="19" name="DSFR-kpi-pave"/>
          <p:cNvSpPr/>
          <p:nvPr/>
        </p:nvSpPr>
        <p:spPr>
          <a:xfrm>
            <a:off x="475488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20" name="DSFR-kpi-label"/>
          <p:cNvSpPr txBox="1"/>
          <p:nvPr/>
        </p:nvSpPr>
        <p:spPr>
          <a:xfrm>
            <a:off x="475488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21" name="DSFR-kpi-pave"/>
          <p:cNvSpPr/>
          <p:nvPr/>
        </p:nvSpPr>
        <p:spPr>
          <a:xfrm>
            <a:off x="6240779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22" name="DSFR-kpi-label"/>
          <p:cNvSpPr txBox="1"/>
          <p:nvPr/>
        </p:nvSpPr>
        <p:spPr>
          <a:xfrm>
            <a:off x="6240779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Texte large (18 pt+ ou 14 pt gras)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2 - Le texte porte l'info, la couleur la renforce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29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20040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20040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des hommes ne distinguent pas toutes les couleurs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75488" y="365760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rouge / vert / jaune (couleur seule)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En retard / Terminé / En cours (texte + couleur)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zone verte = OK (couleur seule)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OK (vert) / Attention (orange) / Dépassé (rouge)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2" name="DSFR-box"/>
          <p:cNvSpPr/>
          <p:nvPr/>
        </p:nvSpPr>
        <p:spPr>
          <a:xfrm>
            <a:off x="548640" y="50292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highlight"/>
          <p:cNvSpPr txBox="1"/>
          <p:nvPr/>
        </p:nvSpPr>
        <p:spPr>
          <a:xfrm>
            <a:off x="749808" y="51206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: le texte porte l'information, la couleur la renforce.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50292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3 - Texte alternatif sur les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Clic droit sur l'image &gt; Format de l'image &gt; Texte de remplacement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Image significative : décrire la fonction, pas l'apparence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" y="411480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Mauvais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Bon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d'un graphique en barres colorées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Chiffre d'affaires 2020-2024 : hausse de 15 à 23 %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de l'entreprise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(vide - image décorative)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image.png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Organigramme du service : 4 équipes, 28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3 - Liens et informations essentielles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140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Cliquez ici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Consulter le guide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 savoir plus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Télécharger le rapport annuel 2024 (PDF, 2 Mo)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 brute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Accéder au formulaire de contact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365760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374903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Informations essentielles dans les zones non lues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41605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En-têtes et pieds de page : non lus automatiquement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Filigranes (CONFIDENTIEL, BROUILLON) : invisibles pour le lecteur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Solution : reproduire l'information essentielle dans le corps du document</a:t>
            </a:r>
          </a:p>
        </p:txBody>
      </p:sp>
      <p:sp>
        <p:nvSpPr>
          <p:cNvPr id="14" name="DSFR-box"/>
          <p:cNvSpPr/>
          <p:nvPr/>
        </p:nvSpPr>
        <p:spPr>
          <a:xfrm>
            <a:off x="548640" y="5029200"/>
            <a:ext cx="11155680" cy="11430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704088" y="51206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liens de téléchargement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704088" y="553212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Intégrer : titre + format + poids + langue si elle diffère du document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Exemple : "Rapport annuel 2024 (PDF, 2 Mo, version anglaise)"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36576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75488" y="502920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Exercice : les erreurs de Karine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Exercice cross-piliers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86309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1315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Karine, chargée de communication, envoie son rapport trimestriel à 40 personnes.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Quels piliers sont concernés ?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Quelles corrections, dans quel ordre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6309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1315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un titre Introduction en gras Arial 16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un graphique de résultats sans description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la mention urgent écrite en gras et en rouge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un lien cliquez ici pour les annexes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197096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288536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piliers, 4 corrections, 6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4700016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Pilier 1 - Appliquer le style Titre 1 sur Introduction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Pilier 2 - Doubler urgent en texte : urgent - Répondre avant le 15 mai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Pilier 3 - Texte alt sur le graphique : Résultats T1 2025 : hausse de 12 %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Pilier 3 - Renommer le lien : Consulter les annexes du rapport T1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630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630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197096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4 - Langue, majuscules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Balisage de langue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Langue principale : Fichier &gt; Options &gt; Langue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Passage étranger : sélectionner le texte &gt; Révision &gt; Langue &gt; Définir la langue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Sans balisage de langue, le lecteur d'écran prononce mal le mot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68046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377190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Majuscules : deux problèmes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18338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Difficiles à lire pour les dyslexiques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Prononciation ambiguë par les lecteurs d'écran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Solution : minuscules d'abord, puis Police &gt; Modifier la casse &gt; MAJUSCULES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2578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3492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Police sans serif (Arial, Calibri), 12 pt minimum, interligne 1,15. Ne pas justifier le texte.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68046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2578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4 - Espaces et objets clignotants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Activer les marques de formatage : Accueil &gt; Paragraphe &gt; Afficher tout (signe paragraphe)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Points = espaces successifs &gt; supprimer et ne garder qu'un seul espace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Flèches = tabulations utilisées pour simuler une mise en page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Retours à la ligne manuels = utiliser les sauts de page propres à la place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704088" y="397763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clignotants : tolérance zéro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704088" y="43891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Animations, GIF avec flashs, vidéos à plus de 3 Hz : interdits sans exception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Risque de crise d'épilepsie photosensible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 cas de doute sur un GIF : remplacer par une image statique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5 - Avant de publier : 5 vérifications en 2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Propriétés (Titre, Auteur, Objet) : Fichier &gt; Informations &gt; Propriétés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Nom de fichier descriptif en .docx (pas Document1.docx)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Protection : aucune restriction &gt; Révision &gt; Restreindre la modification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Formulaires : aucun champ Word interactif dans le document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Vérificateur d'accessibilité : Fichier &gt; Vérifier l'accessibilité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46177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470915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5 vérifications couvrent 80 % des oublis restants.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46177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5 - Le vérificateur d'accessibilité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détecte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ne détecte PAS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 manquant sur les images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Qualité du texte alt (contenu)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absents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Pertinence des noms de liens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Ordre de lecture problématique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Couleur porteuse de sens seule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Tableaux sans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des passages étrangers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 insuffisant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84632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93775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vérificateur est un premier filtre, pas un certificat de conformité.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34924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Il signale ce qu'il peut détecter automatiquement - pas ce qui est vraiment accessible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Une absence d'erreur ne signifie pas que le document est accessible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84632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Étude de cas : le compte rendu de Sophie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Étude de cas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674495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94297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Sophie, assistante de direction, doit publier son compte rendu de réunion.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Quels piliers sont concernés ?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Quelles corrections, dans quel ordre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674495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94297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titres en gras et tableaux sans en-tête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une action en rouge sans étiquette texte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image sans alt, lien cliquez ici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passage anglais sans balisage de langue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propriétés Titre et Auteur vides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005072"/>
            <a:ext cx="11155680" cy="17602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096511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piliers, 5 corrections, 8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4507992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P1 — Styles Titre 1/2/3 et Ligne d'en-tête dans chaque tableau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P2 — Ajouter : Alerte avant le texte écrit en rouge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P3 — Texte alt sur l'image et renommer le lien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P4 — Sélectionner le passage &gt; Révision &gt; Langue &gt; Définir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P5 — Fichier &gt; Informations &gt; renseigner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Étude de cas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74495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674495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005072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Par où commencer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Priorités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029200"/>
                <a:gridCol w="455371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Effort faible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Effort élevé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Impact fort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+ Texte alt + Nom de fichier + Vérificateur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Retravailler un document existant entier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Impact faible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Propriétés (Titre, Auteur)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Corriger le contraste sur des centaines de pages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356616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highlight"/>
          <p:cNvSpPr txBox="1"/>
          <p:nvPr/>
        </p:nvSpPr>
        <p:spPr>
          <a:xfrm>
            <a:off x="749808" y="365760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Commencer par là : impact fort, effort faible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4348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166359"/>
            <a:ext cx="2580894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Styles de titre sur tous les titres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4348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166359"/>
            <a:ext cx="2580894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Texte alt sur chaque image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4348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166359"/>
            <a:ext cx="2580894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Lancer le vérificateur d'accessibilité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4348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166359"/>
            <a:ext cx="2580894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Vérifier les propriétés du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Priorités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356616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473659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473659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473659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final : trouvez les 5 erreurs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760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Un document Word contient :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titre Introduction mis en gras Arial 16 (sans style) [P1]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tableau de résultats avec des lignes en rouge et en vert [P2]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lien cliquez ici pour le formulaire [P3]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langue du document non définie dans les propriétés Word [P4]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propriétés du document Titre et Auteur non renseignées [P5]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087368"/>
            <a:ext cx="11155680" cy="17602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4178807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piliers, 5 corrections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590288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P1 — Appliquer le style Titre 1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P2 — Ajouter les étiquettes : Conforme et Non conforme dans les cellules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P3 — Renommer le lien : Accéder au formulaire de demande RH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P4 — Révision &gt; Langue &gt; Définir la langue de vérification : Français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P5 — Fichier &gt; Informations &gt; Propriétés : saisir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087368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Métacognition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Avant de regarder la réponse, notez sans relire 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3"/>
            <a:ext cx="12" cy="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/>
              <a:t>1.  La règle la plus importante pour les lecteurs d'écran : _______________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"/>
            <a:ext cx="12" cy="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/>
              <a:t>2.  La vérification à faire en 30 secondes sur n'importe quel document : _______________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5"/>
            <a:ext cx="12" cy="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/>
              <a:t>3.  Le geste que vous ferez dès demain sur votre prochain document : _______________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507492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lert-success-titre"/>
          <p:cNvSpPr txBox="1"/>
          <p:nvPr/>
        </p:nvSpPr>
        <p:spPr>
          <a:xfrm>
            <a:off x="704088" y="516635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Si vous avez répondu...</a:t>
            </a:r>
          </a:p>
        </p:txBody>
      </p:sp>
      <p:sp>
        <p:nvSpPr>
          <p:cNvPr id="17" name="DSFR-alert-success-body"/>
          <p:cNvSpPr txBox="1"/>
          <p:nvPr/>
        </p:nvSpPr>
        <p:spPr>
          <a:xfrm>
            <a:off x="704088" y="557784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Styles de titre - Ctrl+F onglet Titres - et vérifier le texte alternatif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Vous avez retenu l'essentiel. Sinon : relire les piliers 1 et 3.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Métacognition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507492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Demain à 9 h, vos 3 premiers réflexes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Ctrl+F &gt; onglet Titres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3176016" cy="112585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Vérifier que tous les titres apparaissent dans le volet de navigation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Si le volet est vide : appliquer les styles</a:t>
            </a:r>
          </a:p>
        </p:txBody>
      </p:sp>
      <p:sp>
        <p:nvSpPr>
          <p:cNvPr id="14" name="DSFR-box"/>
          <p:cNvSpPr/>
          <p:nvPr/>
        </p:nvSpPr>
        <p:spPr>
          <a:xfrm>
            <a:off x="4392167" y="2103120"/>
            <a:ext cx="3468623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Clic droit &gt; Texte de remplacement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246120"/>
            <a:ext cx="3176016" cy="112585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Décrire la fonction de chaque image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Image décorative : cocher Marquer comme décoratif</a:t>
            </a:r>
          </a:p>
        </p:txBody>
      </p:sp>
      <p:sp>
        <p:nvSpPr>
          <p:cNvPr id="19" name="DSFR-box"/>
          <p:cNvSpPr/>
          <p:nvPr/>
        </p:nvSpPr>
        <p:spPr>
          <a:xfrm>
            <a:off x="8235695" y="2103120"/>
            <a:ext cx="3468623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Fichier &gt; Vérifier l'accessibilité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246120"/>
            <a:ext cx="3176016" cy="112585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Corriger les erreurs avant d'envoyer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Zéro erreur = premier filtre passé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Plan d'action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103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103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vos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42</a:t>
            </a:r>
            <a:endParaRPr lang="fr-FR" dirty="0"/>
          </a:p>
        </p:txBody>
      </p:sp>
      <p:sp>
        <p:nvSpPr>
          <p:cNvPr id="8" name="DSFR-checklist"/>
          <p:cNvSpPr txBox="1"/>
          <p:nvPr/>
        </p:nvSpPr>
        <p:spPr>
          <a:xfrm>
            <a:off x="475488" y="2103120"/>
            <a:ext cx="5463540" cy="480060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Fichier .docx + nom descriptif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Document non protégé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Titres avec styles intégrés (pas du gras manuel)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Hiérarchie des titres cohérente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Listes avec Puces/Numérotation (pas de tirets manuels)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Colonnes intégrées (pas de tabulations)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Sauts de page propres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Tableaux de mise en page avec habillage Aucun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Tableaux de données avec ligne d'en-tête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Contraste &gt;= 4,5:1 texte standard, &gt;= 3:1 grand texte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Couleur doublée en texte</a:t>
            </a:r>
          </a:p>
        </p:txBody>
      </p:sp>
      <p:sp>
        <p:nvSpPr>
          <p:cNvPr id="9" name="DSFR-checklist"/>
          <p:cNvSpPr txBox="1"/>
          <p:nvPr/>
        </p:nvSpPr>
        <p:spPr>
          <a:xfrm>
            <a:off x="6240779" y="2103120"/>
            <a:ext cx="5463540" cy="43891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Texte alt sur images significatives / décoratifs marqués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Pas de zones de texte flottantes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Liens descriptifs (pas cliquez ici)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Infos essentielles dans le corps (pas seulement filigrane)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Langue principale balisée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Passages en langue étrangère balisés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Aucun objet clignotant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Propriétés renseignées (Titre, Auteur, Objet)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Aucun formulaire Word interactif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Vérificateur d'accessibilité sans erreur résiduelle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43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Revenez dans 7 jours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J+7 : refaites le quiz final sans rouvrir ce support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2606039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5/5 : les réflexes sont installés - passez à la checklist sur un vrai document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3-4/5 : relisez les piliers correspondant aux erreurs manquées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Moins de 3 : reprenez les piliers 1 et 3 (80 % des cas)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3749039"/>
            <a:ext cx="11155680" cy="11430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384047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J+30 : ouvrez votre prochain document Word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4251959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Parcourez la checklist de haut en bas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C'est le seul test qui compte</a:t>
            </a:r>
          </a:p>
        </p:txBody>
      </p:sp>
      <p:sp>
        <p:nvSpPr>
          <p:cNvPr id="24" name="DSFR-box"/>
          <p:cNvSpPr/>
          <p:nvPr/>
        </p:nvSpPr>
        <p:spPr>
          <a:xfrm>
            <a:off x="548640" y="512064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SFR-highlight"/>
          <p:cNvSpPr txBox="1"/>
          <p:nvPr/>
        </p:nvSpPr>
        <p:spPr>
          <a:xfrm>
            <a:off x="749808" y="5212079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Phrase-clé à 6 mois : Titres avec styles, images avec texte alt, vérificateur avant d'envoyer.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Répétitions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3749039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475488" y="512064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44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À vous de jouer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Je m'engage à vérifier les styles de titre et le texte alternatif sur mon prochain document.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566160"/>
            <a:ext cx="11155680" cy="15544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lert-info-titre"/>
          <p:cNvSpPr txBox="1"/>
          <p:nvPr/>
        </p:nvSpPr>
        <p:spPr>
          <a:xfrm>
            <a:off x="704088" y="365760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continuer seul(e)</a:t>
            </a:r>
          </a:p>
        </p:txBody>
      </p:sp>
      <p:sp>
        <p:nvSpPr>
          <p:cNvPr id="21" name="DSFR-alert-info-body"/>
          <p:cNvSpPr txBox="1"/>
          <p:nvPr/>
        </p:nvSpPr>
        <p:spPr>
          <a:xfrm>
            <a:off x="704088" y="406908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Ressources en ligne : template Word accessible sur templates.office.com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Support : guide Microsoft Rendre vos documents Word accessibles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Aide rapide : Fichier &gt; Vérifier l'accessibilité (le vérificateur détecte 80 % des oublis)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53035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5394959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Dans 7 jours : refaites le quiz final. Dans 30 jours : ouvrez un vrai document et appliquez la checklist.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56616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53035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7602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Concis : 125 caractères maximum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Objectif : décrit, ne commente pas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18338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27482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468630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nom de fichier (IMG_4578.jpg) en guise d’alt = alt absent pour l’utilisateur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18338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titre décrit le contenu puis le nom du site (« Déclarer - impots.gouv.fr »)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80060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8920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3035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OK : « Résultats de recherche : accessibilité - Ministère de la Culture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KO : « Accueil » sur chaque page du site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8006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53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80060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8920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3035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Texte gris clair sur fond blanc (#999 sur #FFF) : 2,85:1 - échec même en texte large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8006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d’évitement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80060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8920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30352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Ouvrez gouvernement.fr et appuyez Tab : le lien « Contenu » apparaît en haut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80060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55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31470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21" name="DSFR-callout-body"/>
          <p:cNvSpPr txBox="1"/>
          <p:nvPr/>
        </p:nvSpPr>
        <p:spPr>
          <a:xfrm>
            <a:off x="704088" y="38176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Reproduire l’expérience d’un lecteur d’écran en 3 minutes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3147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06907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480559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1 signal détecté = vous avez l’œil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00634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9777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509259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Clic droit → Afficher le code source → regarder la 1ʳᵉ ligne &lt;html lang="…"&gt;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00634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80060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8920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3035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Ctrl + (ou Cmd + sur Mac) pour zoomer jusqu’à 200 % - répéter 4 fois depuis 100 %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8006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11155680" cy="15544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06907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48055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Étape 1 : générer l’auto (YouTube, Whisper, outil interne) pour gagner 80 % du temps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Étape 2 : relire, corriger, ajouter ponctuation et [indications sonores]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Pour une vidéo : la transcription DESCRIPTIVE inclut aussi l'action visible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00634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9777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509259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moteurs de recherche indexent les transcriptions - référencement gratuit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00634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7602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vidéo propose une piste audiodécrite activable (bouton AD)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L’audiodescription décrit les éléments visuels essentiels à la compréhension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Elle s’intercale dans les silences, sans couvrir les dialogues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39496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53212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“ Sans audiodescription, une vidéo reste une porte fermée pour 1,7 million de personnes aveugles ou malvoyantes en France. ”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621792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lang="fr-FR">
                <a:solidFill>
                  <a:srgbClr val="000091"/>
                </a:solidFill>
                <a:latin typeface="Marianne"/>
              </a:rPr>
              <a:t>- 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39496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06907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480559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Étiquette visible au-dessus du champ (ou à gauche)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Placeholder optionnel, pour donner un exemple de format : « JJ/MM/AAAA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8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d'une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champs obligatoires sont indiqués en texte : « obligatoire » ou « requis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 cas d'erreur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00634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9777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509259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00634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Accessibilité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sur les réseaux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Enjeux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Les réseaux sociaux sont devenus un canal officiel de communication publique - et donc soumis aux mêmes obligations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622852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714292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Votre audience est plus large que vous ne le pensez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125772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12 millions de personnes en situation de handicap en France (INSEE 2021)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Utilisateurs en contexte défavorable : faible luminosité, connexion lente, bruit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Moteurs de recherche et outils d'IA qui analysent vos contenus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Collègues et citoyens qui lisent sans images activées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663440"/>
            <a:ext cx="11155680" cy="15544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75487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gestes, 2 minutes par post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16635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Geste 1 - Texte alternatif : décrire chaque image en 1 phrase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Geste 2 - Émojis : 1 ou 2 maximum, en fin de message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Geste 3 - Hashtags : CamelCase et regroupés en fin de post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Geste 4 - Texte natif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622852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66344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Regardez ce tweet - qu'est-ce qui ne va pas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Tweet publié par l'OMS en 2020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Protégez-vous de la #COVID19 :
Lavez-vous les 👐 avec 1 désinfectant à base d'alcool, du 🧼 &amp; de l'💦.
Quand vous toussez ou 🤧 couvrez votre 👄 &amp; le 👃🏻 dans le pli du coude ou mouchoir.
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760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binôme - 2 minutes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Identifiez le maximum de problèmes d'accessibilité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Ne lisez pas le tweet à voix haute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Notez ce qui vous gêne ou vous surprend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vous voyez ≠ ce qui est lu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vous voyez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Lavez-vous les 👐 avec du 🧼 &amp; de l'💦.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Quand vous toussez ou 🤧 couvrez votre 👄.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965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 à voix haute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Lavez-vous les mains ouvertes avec du savon et éclaboussures de sueur.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Quand vous toussez ou visage qui éternue couvrez votre bouche.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Évitez de toucher les yeux grand ouverts, le nez et la bouche.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2976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3891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émoji a un nom officiel lu intégralement. Il interrompt le flux de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965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2976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changements, 0 perte de sens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760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originale - problématique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Lavez-vous les 👐 avec 1 désinfectant à base d'alcool, du 🧼 &amp; de l'💦.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Quand vous toussez ou 🤧 couvrez votre 👄 &amp; le 👃🏻.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accessible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Protégez-vous du #COVID19 - trois gestes essentiels :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1. Lavez-vous régulièrement les mains avec du savon et de l'eau 🧼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2. Quand vous toussez, couvrez-vous avec le pli du coude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3. Évitez de toucher votre visage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251960"/>
            <a:ext cx="5390388" cy="1965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34340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3 changements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754880"/>
            <a:ext cx="51435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Émojis réduits à 1, placé en fin de phrase - le message tient sans eux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Structure numérotée - navigation facile pour tous les utilisateurs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Hashtag conservé mais seul, séparé du texte informatif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251960"/>
            <a:ext cx="73152" cy="1965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Démonstration NVDA - le lecteur d'écran en direct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Démonstration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Ouvrir le post problématique préparé (avec émojis en série)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Activer NVDA : Ctrl+Alt+N - une voix démarre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Naviguer sur le texte : flèches ou Tab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Écouter la restitution - ne pas regarder l'écran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6052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5195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stagiaires pendant la démo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6344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Fermez les yeux ou regardez ailleurs - écoutez uniquement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Notez le premier mot qui vous vient à l'écoute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6052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4 réflexes avant chaque publication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Vue synthétique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2174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alternatif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9372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Décrire chaque image en 1 à 2 phrases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Mentionner « Image décorative » si elle ne porte pas de sens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2174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sobres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9372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1 ou 2 maximum, en fin de message uniquement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Le texte doit avoir du sens sans eux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549140"/>
            <a:ext cx="5390388" cy="22174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523494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Hashtags CamelCase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692140"/>
            <a:ext cx="5097779" cy="9372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#ServicePublic pas #servicepublic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Rassembler en fin de post, 2 à 3 maximum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549140"/>
            <a:ext cx="5390388" cy="22174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523494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natif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692140"/>
            <a:ext cx="5097779" cy="9372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Jamais de faux gras ou faux italique (InstaFont...)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Les caractères Unicode stylisés sont illisibles par les lecteurs d'écran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68630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68630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2174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2174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549140"/>
            <a:ext cx="73152" cy="22174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549140"/>
            <a:ext cx="73152" cy="22174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texte alternatif : votre sous-titre d'image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L'alt text, c'est comme un sous-titre pour votre image : il dit ce qu'elle montre à ceux qui ne peuvent pas la voir.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429000"/>
            <a:ext cx="5390388" cy="27889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52044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en bénéficie ?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931920"/>
            <a:ext cx="5143500" cy="2194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Personnes aveugles ou malvoyantes (lecteur d'écran lit l'alt text)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Connexion lente ou image non chargée (le texte s'affiche à la place)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Moteurs de recherche (Google indexe les images via l'alt text)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Intelligences artificielles et outils d'analyse d'image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Toute personne dans un contexte défavorable (mauvaise luminosité, etc.)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429000"/>
            <a:ext cx="5390388" cy="2788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6469379" y="352044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Concrètement sur les réseaux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6469379" y="3931920"/>
            <a:ext cx="5143500" cy="2194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LinkedIn : Modifier → Ajouter du texte alternatif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Facebook : Modifier l'image → Texte alternatif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Twitter/X : intégré au formulaire de publication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Instagram : Paramètres avancés → Texte alternatif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Canva : Clic droit sur l'image → Texte alternatif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429000"/>
            <a:ext cx="73152" cy="2788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429000"/>
            <a:ext cx="73152" cy="2788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Comment rédiger un bon texte alternatif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3774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1783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"image.jpg" - nom de fichier, aucun sens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"Photo" - trop vague, aucune information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"Image de la réunion du 12 mars 2026" - date inutile sans contexte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"Voir l'image ci-dessous" - redondant, ne décrit rien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5831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fonctionne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9888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"Trois agents discutent autour d'une table, documents ouverts"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"Logo DINUM - bleu avec texte blanc"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"Graphique : le taux d'accessibilité passe de 45 à 78 % entre 2023 et 2025"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"Infographie : 4 étapes pour publier un post accessible (texte ci-dessous)"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1947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01091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Exercice en binôme (7 min) : rédigez l'alt text pour 3 images que vous avez publiées récemment sur vos réseaux professionnels.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3774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5831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1947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où le trouver sur chaque plateforme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79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743200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Plateforme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Accès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Moment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LinkedIn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publication &gt; modifier l'image &gt; Ajouter du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Facebook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photo &gt;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X (Twitter)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Ajouter une description (icône Accessibilité sous l'image)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Instagram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Paramètres avancés &gt; Accessibilité &gt; Écrire le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Canva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l'image &gt;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Pendant la création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507492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516635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Astuce : activez-le par défaut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57784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LinkedIn et Instagram proposent un rappel si vous oubliez l'alt text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X : paramètre Accessibilité dans les réglages de compte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507492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Émojis : 3 règles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2 -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lecteur d'écran lit le nom officiel de chaque émoji. En série, c'est incompréhensible.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1 ou 2 émojis par post maximum - au-delà, le sens se perd à l'écoute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En fin de message uniquement - jamais en milieu de phrase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Le texte doit avoir du sens sans eux - testez en retirant l'émoji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86918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96062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Test rapide avant publication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37210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Retirez tous les émojis du texte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message est-il toujours clair et complet ? Si oui : bon signe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Si non : l'émoji porte du sens - remplacez-le par le mot correspondant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86918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ça donne avec trop d'émojis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2 -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Post original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🎉🎉 Rejoignez-nous 📅 mardi 10 juin 🏢 salle B3 pour notre atelier 💻 sur l'accessibilité 🧠 numérique 👏👏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5831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9888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Visage qui fête quelque chose. Visage qui fête quelque chose. Rejoignez-nous. Calendrier spirale. mardi 10 juin. Bâtiment de bureau. salle B3 pour notre atelier. Ordinateur portable. sur l'accessibilité. Cerveau. numérique. Mains qui applaudissent, peau claire. Mains qui applaudissent, peau claire.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1947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01091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Version accessible : 'Rejoignez-nous mardi 10 juin, salle B3, pour notre atelier sur l'accessibilité numérique. 💻'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5831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1947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Hashtags : le CamelCase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3 - Hashtags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5831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CamelCase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9888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#ServicePublic : le lecteur d'écran lit 'Service Public' - correct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#servicepublic : lu 'servicepublic' - un seul mot sans sens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#SERVICEPUBLIC : lu lettre par lettre S-E-R-V-I-C-E-P-U-B-L-I-C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majuscule en début de chaque mot = découpage naturel pour le lecteur d'écran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pour les hashtags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CamelCase obligatoire : #AccessibilitéNumerique pas #accessibilitenumerique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 fin de post, regroupés - jamais insérés dans la phrase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2 à 3 maximum - au-delà on perd le sens et l'engagement baisse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1947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01091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#SusanAlbumParty (2012) : sans CamelCase, lu 'Susan album party'. Avec majuscules, ça aurait été encore plus clair - et moins... ambigu.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5831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1947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Faux gras et caractères Unicode : le piège invisible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4 - Texte 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788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problème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2194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InstaFont, LingoJam... proposent du 'faux gras' et 'faux italique'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Exemple : 𝕻𝕸𝕨𝕳 𝕬𝕮𝕪𝕴 (rendu visuel identique à du gras)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Ces caractères sont des symboles mathématiques, pas du texte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NVDA les lit : 'MATHEMATICAL BOLD CAPITAL B, O, N, J, O, U, R'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Ou les ignore complètement - le message disparaît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9659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Triple impact négatif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Accessibilité : incompréhensible pour les lecteurs d'écran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SEO : Google n'indexe pas ces caractères comme du texte normal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IA générative : les outils d'analyse et de traduction échouent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1731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0875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Règle qualité web : Opquast règle 14 - caractères détournés. La mise en forme appartient au CSS, pas au contenu.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788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965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1731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Écriture inclusive : ce qui est accessible et ce qui ne l'est pas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4 - Texte 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stratégies accessibles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Doublon explicite : 'les agents et les agentes' - clair à l'oral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Féminin-masculin : 'les citoyennes et citoyens' - lu correctement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Formulation épicène : 'les personnes concernées', 'l'équipe' - neutre et fluide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788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 : le point médian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2194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agent.e.s : le point médian est lu 'point' par les lecteurs d'écran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NVDA lit : 'agent point e point s' - incompréhensible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DGLFLF (2021) : le point médian est déconseillé dans les communications officielles pour des raisons de lisibilité et d'accessibilité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DINUM et le RGAA vont dans le même sens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1731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0875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L'objectif : une communication qui inclut tout le monde ET que tout le monde peut comprendre - sans choix à faire.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788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1731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 de clôture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8402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 ou 2 émojis par post,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5600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VRAI - au-delà de 2, l'écoute devient incompréhensible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8402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#publicservice est aussi accessible que #PublicService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5600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FAUX - sans CamelCase le lecteur lit un seul mot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169663"/>
            <a:ext cx="5390388" cy="18402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55464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Un alt text vide est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312664"/>
            <a:ext cx="5097779" cy="5600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FAUX - une image décorative peut avoir un alt vide (ou 'Image décorative')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169663"/>
            <a:ext cx="5390388" cy="18402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855464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faux gras InstaFont est lu comme du gras par NVDA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312664"/>
            <a:ext cx="5097779" cy="5600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FAUX - les caractères Unicode sont lus lettre par lettre ou ignorés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4 réflexes = 4 questions. Vous avez toutes les réponses depuis le début du module.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306824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306824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402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8402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169663"/>
            <a:ext cx="73152" cy="18402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169663"/>
            <a:ext cx="73152" cy="18402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Que faites-vous demain matin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86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Avant votre prochain post : activez l'alt text sur votre plateforme principale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Relisez votre dernière publication : comptez les émojis et testez le texte sans eux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Vérifiez vos 3 derniers hashtags : sont-ils en CamelCase ?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251960"/>
            <a:ext cx="5390388" cy="1965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34340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Dans 7 jours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754880"/>
            <a:ext cx="51435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Publiez un post en appliquant les 4 réflexes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Vérifiez que vos collègues de direction savent où trouver l'alt text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Partagez ce mémo à votre équipe de communication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3840480"/>
            <a:ext cx="5390388" cy="23774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lert-info-titre"/>
          <p:cNvSpPr txBox="1"/>
          <p:nvPr/>
        </p:nvSpPr>
        <p:spPr>
          <a:xfrm>
            <a:off x="6469379" y="3931920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réflexes, 2 minutes, 0 compétence technique requise</a:t>
            </a:r>
          </a:p>
        </p:txBody>
      </p:sp>
      <p:sp>
        <p:nvSpPr>
          <p:cNvPr id="23" name="DSFR-alert-info-body"/>
          <p:cNvSpPr txBox="1"/>
          <p:nvPr/>
        </p:nvSpPr>
        <p:spPr>
          <a:xfrm>
            <a:off x="6469379" y="4343400"/>
            <a:ext cx="5143500" cy="1783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Alt text : 1 phrase qui décrit l'image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Émojis : 1 ou 2, en fin de message, texte sensé sans eux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Hashtags : CamelCase, en fin de post, 2 à 3 max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Texte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251960"/>
            <a:ext cx="73152" cy="1965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3840480"/>
            <a:ext cx="73152" cy="23774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