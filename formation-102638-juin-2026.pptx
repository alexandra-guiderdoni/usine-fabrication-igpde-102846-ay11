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Identifiez les critères d'accessibilité qui posent problème.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si le groupe a besoin d'un guidage, distribuer sami-doc-aide-correction.docx.</a:t>
            </a:r>
          </a:p>
          <a:p>
            <a:r>
              <a:rPr lang="fr-FR"/>
              <a:t>Les commentaires Word expliquent le problème, l'impact et la méthode sans corriger à la place des stagiaires.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lequel de ces critères avez-vous probablement oublié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sur la règle d'or : partir d'un Word déjà accessible, puis exporter avec les balises de structure activées.</a:t>
            </a:r>
          </a:p>
          <a:p>
            <a:r>
              <a:rPr lang="fr-FR"/>
              <a:t>Le PDF balisé conserve le plan, les titres, les listes, les tableaux et l'ordre de lecture.</a:t>
            </a:r>
          </a:p>
          <a:p>
            <a:r>
              <a:rPr lang="fr-FR"/>
              <a:t>Sans balises, le lecteur d'écran ne distingue plus correctement la structure du document final.</a:t>
            </a:r>
          </a:p>
          <a:p>
            <a:r>
              <a:rPr lang="fr-FR"/>
              <a:t>Sur Mac, utiliser Fichier &gt; Enregistrer sous &gt; PDF puis choisir l'option Idéal pour la distribution électronique et l'accessibilité.</a:t>
            </a:r>
          </a:p>
          <a:p>
            <a:r>
              <a:rPr lang="fr-FR"/>
              <a:t>Word Online ne doit pas être présenté comme la voie de référence pour produire le PDF final : si le PDF est destiné à être diffusé officiellement, préférer Word bureau et tester le PDF généré avec un vérificateur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repéré toutes les catégories visibles à ce stade.</a:t>
            </a:r>
          </a:p>
          <a:p>
            <a:r>
              <a:rPr lang="fr-FR"/>
              <a:t>Révéler les 2 derniers critères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la source d’autorité : The WebAIM Million - Mise à jour 2026, https://webaim.org/projects/million/.</a:t>
            </a:r>
          </a:p>
          <a:p>
            <a:r>
              <a:rPr lang="fr-FR"/>
              <a:t>WebAIM a évalué les pages d’accueil des 1 000 000 de sites web les plus visités avec l’API WAVE autonome et des outils complémentaires de collecte technique.</a:t>
            </a:r>
          </a:p>
          <a:p>
            <a:r>
              <a:rPr lang="fr-FR"/>
              <a:t>Les Easy Checks sont la trousse de secours du W3C : 13 vérifications qu’un non-spécialiste peut faire rapidement pour repérer les principaux signaux d’alerte avant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Source : The WebAIM Million, mise à jour 2026, https://webaim.org/projects/million/.</a:t>
            </a:r>
          </a:p>
          <a:p>
            <a:r>
              <a:rPr lang="fr-FR"/>
              <a:t>WebAIM a évalué les pages d’accueil des 1 000 000 de sites web les plus visités avec l’API WAVE autonome et des outils complémentaires de collecte technique.</a:t>
            </a:r>
          </a:p>
          <a:p>
            <a:r>
              <a:rPr lang="fr-FR"/>
              <a:t>Résultats publiés à partir de données de février 2026 et dernière mise à jour indiquée au 30 mars 2026.</a:t>
            </a:r>
          </a:p>
          <a:p>
            <a:r>
              <a:rPr lang="fr-FR"/>
              <a:t>Expliquer la limite méthodologique : WAVE détecte des erreurs probables et utiles à repérer, mais un résultat automatisé ne remplace pas un audit RGAA complet.</a:t>
            </a:r>
          </a:p>
          <a:p>
            <a:r>
              <a:rPr lang="fr-FR"/>
              <a:t>Message pédagogique : l’objectif n’est pas de faire peur, mais de rendre visible un problème massif et mesurable.</a:t>
            </a:r>
          </a:p>
          <a:p>
            <a:r>
              <a:rPr lang="fr-FR"/>
              <a:t>La slide suivante montre pourquoi les Easy Checks sont un bon premier filtre.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Source : The WebAIM Million, mise à jour 2026, https://webaim.org/projects/million/.</a:t>
            </a:r>
          </a:p>
          <a:p>
            <a:r>
              <a:rPr lang="fr-FR"/>
              <a:t>Les pourcentages indiquent la part des pages d’accueil concernées par chaque type d’erreur.</a:t>
            </a:r>
          </a:p>
          <a:p>
            <a:r>
              <a:rPr lang="fr-FR"/>
              <a:t>Faire le lien avec le programme : les stagiaires vont maintenant apprendre à repérer ces familles par des gestes simples - contraste, images, titres, clavier, langue, formulaires.</a:t>
            </a:r>
          </a:p>
          <a:p>
            <a:r>
              <a:rPr lang="fr-FR"/>
              <a:t>Préciser que les liens et boutons vides ne sont pas un Easy Check autonome dans ce module, mais qu’ils ressortent souvent via les tests images, clavier et formulaires.</a:t>
            </a:r>
          </a:p>
          <a:p>
            <a:r>
              <a:rPr lang="fr-FR"/>
              <a:t>Insister sur la logique de pré-diagnostic : on ne remplace pas l’audit RGAA, on sait mieux quoi remonter.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Qu’est-ce qui rend un texte alternatif vraiment utile ? » La bonne réponse n’est pas une longueur magique : c’est le contexte.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fait partie des défauts les plus fréquents dans les observations WebAIM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ne sert pas à désigner un coupable, mais à prouver qu’un test clavier doit entrer dans la routine de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 et comparer la prononciation.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un gabarit peut être visuellement français tout en oubliant lang="fr" dans 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personnes sourdes ou malentendantes,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Quels mots un sous-titrage auto rate le plus souvent ? » Exemple concret à projeter : une vidéo ministérielle avec sous-titres automatiques - pointer 3 erreurs.</a:t>
            </a:r>
          </a:p>
          <a:p>
            <a:r>
              <a:rPr lang="fr-FR"/>
              <a:t>Règle d’or (R18) : l’automatique est un allié pour brouillonner, mais la publication demande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automatiquement sans relecture.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ouvrir 03-easy-checks/grille-audit-easy-checks.xlsx.</a:t>
            </a:r>
          </a:p>
          <a:p>
            <a:r>
              <a:rPr lang="fr-FR"/>
              <a:t>Expliquer que l’objectif n’est pas seulement de dire « ça passe » ou « ça échoue ».</a:t>
            </a:r>
          </a:p>
          <a:p>
            <a:r>
              <a:rPr lang="fr-FR"/>
              <a:t>Une remontée utile doit permettre à l’équipe web de comprendre le problème, mesurer l’impact, retrouver l’endroit exact et corriger sans refaire toute l’enquête.</a:t>
            </a:r>
          </a:p>
          <a:p>
            <a:r>
              <a:rPr lang="fr-FR"/>
              <a:t>Insister sur les quatre niveaux de sévérité : bloquant, gênant, mineur, info.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Rappeler que le taux Easy Checks n’est pas un taux de conformité RGAA publiable.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u="sng" lang="fr-FR">
                <a:solidFill>
                  <a:srgbClr val="000091"/>
                </a:solidFill>
                <a:latin typeface="Marianne"/>
                <a:hlinkClick r:id="rId3"/>
              </a:rPr>
              <a:t>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u="sng" lang="fr-FR">
                <a:solidFill>
                  <a:srgbClr val="000091"/>
                </a:solidFill>
                <a:latin typeface="Marianne"/>
                <a:hlinkClick r:id="rId3"/>
              </a:rPr>
              <a:t>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Titres, liens, tableaux, formulaires, langue, ordre de lecture 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implique tous les producteurs de contenu : rédacteurs, communicants, designers 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France.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RGAA.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489204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warning-titre"/>
          <p:cNvSpPr txBox="1"/>
          <p:nvPr/>
        </p:nvSpPr>
        <p:spPr>
          <a:xfrm>
            <a:off x="704088" y="49834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14" name="DSFR-alert-warning-body"/>
          <p:cNvSpPr txBox="1"/>
          <p:nvPr/>
        </p:nvSpPr>
        <p:spPr>
          <a:xfrm>
            <a:off x="704088" y="5394959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Parmi 30 destinataires :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489204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1783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2971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429000"/>
            <a:ext cx="5097779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bloc plat, sans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d'écran ne peut pas aller de titre en titre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L'utilisateur doit écouter tout le document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1783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2971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429000"/>
            <a:ext cx="5097779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2 : Budget / Titre 3 : Prévisions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Navigation rapide, comme une table des matières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81728"/>
            <a:ext cx="11155680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18888"/>
            <a:ext cx="10863072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276088"/>
            <a:ext cx="10863072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Appliquer : Accueil &gt; Styles &gt; Titre 1, Titre 2 ou Titre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: Ctrl+F &gt; onglet Titres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1783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1783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81728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57800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49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60720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57800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560320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Quels critères posent problème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560320"/>
            <a:ext cx="5097779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en gras, fausses listes, faux sommaire, tableaux sans en-tête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Mention Urgent en rouge, note en gris insuffisant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Graphique et organigramme sans alt, icône redondante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en image, lien cliquez ici, filigrane invisible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justifié, paragraphes vides, majuscules tapées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2349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263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repérez les problèmes,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2349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160520"/>
            <a:ext cx="5390388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25195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663440"/>
            <a:ext cx="5143500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minuscules d'abord, puis Police &gt; Modifier la casse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41605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6469379" y="425195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Lisibilité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6469379" y="4663440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Police sans serif : Arial ou Marianne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pt minimum, interligne 1,15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justifier le texte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1605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41605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177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091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064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177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Exporter Word vers PDF sans perdre l'accessibilité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Word accessible peut devenir un PDF inaccessible si l'export est mal fait.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Vérifier l'accessibilité dans Word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Fichier &gt; Enregistrer sous &gt; PDF &gt; Options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Cocher les options d'accessibilité avant d'enregistrer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572000"/>
            <a:ext cx="11155680" cy="16148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Options à cocher dans Word bureau Windows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074920"/>
            <a:ext cx="10908792" cy="10204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Propriétés du document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Balises de structure pour l'accessibilité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Créer des signets à l'aide des titres ou en-têtes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convertir le texte en image bitmap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6499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6499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572000"/>
            <a:ext cx="73152" cy="16148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6802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Vous avez déjà travaillé la plupart des erreurs de Structure, Couleurs, Contenus et Lisibilité.
Il restait 2 erreurs des thèmes Langue et Finalisation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6802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698187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78962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201107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698187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 mais commencez par ce qui est le plus facile.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1. Le titre Introduction est en gras Arial 16 au lieu d'un style de titre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2. Un tableau de suivi utilise uniquement des lignes rouges et vertes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3. Un lien est rédigé : cliquez ici pour le formulaire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4. La langue principale du document n'est pas définie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5. Les propriétés du fichier (Titre et Auteur) sont vides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403433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34399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Structure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le gras n'est pas reconnu par les lecteurs d'écran - appliquer le style Titre 1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Couleurs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l'information ne doit pas reposer sur la couleur seule - ajouter les étiquettes Conforme / Non conforme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Contenus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un lien doit être compréhensible hors contexte - renommer en Accéder au formulaire de demande RH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Langue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sans déclaration, la synthèse vocale prononce avec le mauvais accent - Révision &gt; Langue &gt; Définir : Français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Finalisation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3433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3-4/5 : relisez le thème correspondant aux erreurs</a:t>
            </a:r>
          </a:p>
        </p:txBody>
      </p:sp>
      <p:sp>
        <p:nvSpPr>
          <p:cNvPr id="16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Appliquez la checklist de haut en bas</a:t>
            </a:r>
          </a:p>
        </p:txBody>
      </p:sp>
      <p:sp>
        <p:nvSpPr>
          <p:cNvPr id="20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c'est automatique : les réflexes sont installés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WebAIM Million 2026 : le constat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WebAIM Million 2026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1965960"/>
            <a:ext cx="3541775" cy="80238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95,9 %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2830068"/>
            <a:ext cx="3541775" cy="37033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pages d’accueil ont au moins une erreur WCAG détectée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1965960"/>
            <a:ext cx="3541775" cy="80238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56,1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2830068"/>
            <a:ext cx="3541775" cy="37033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erreurs détectées en moyenne par page d’accueil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1965960"/>
            <a:ext cx="3541775" cy="80238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1 437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2830068"/>
            <a:ext cx="3541775" cy="37033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éléments par page en moyenne : la complexité augmente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5661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6576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lire ces chiffres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0690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WebAIM analyse automatiquement les pages d’accueil : c’est un thermomètre, pas un audit RGAA complet.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L’absence d’erreur détectée ne prouve pas qu’une page est accessible.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Mais la présence d’erreurs détectées révèle des barrières très probables pour les utilisateurs.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WebAIM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5661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Six erreurs qui justifient les Easy Checks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WebAIM Million 2026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011680"/>
          <a:ext cx="11228832" cy="2752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2331720"/>
                <a:gridCol w="4873752"/>
              </a:tblGrid>
              <a:tr h="393192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Erreur fréquente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Pages concernées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Point d’entrée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393192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à faible contraste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83,9 %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 d’image manquant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53,1 %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393192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Étiquette de formulaire manquante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51 %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Formulaires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Liens vides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46,3 %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Images / clavier (partiel)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393192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Boutons vides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30,6 %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Clavier / formulaires (partiel)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du document absente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13,5 %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5074920"/>
            <a:ext cx="11155680" cy="111556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704088" y="51663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retenir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704088" y="5577840"/>
            <a:ext cx="10908792" cy="52120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Ces six familles représentent 96 % des erreurs détectées par WebAIM.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Easy Checks donnent une méthode courte pour les repérer sans audit complet.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WebAIM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5074920"/>
            <a:ext cx="73152" cy="111556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texte alternatif est le sous-titre de l’image - sans lui, une partie du message devient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texte alternatif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nommer l’action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texte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Texte alternatif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texte alternatif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texte alternatif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Concis : une phrase courte, centrée sur l’information utile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nom de fichier (IMG_4578.jpg) en guise de texte alternatif = information perdue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texte alternatif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Texte alternatif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Texte alternatif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874519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9659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75788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296722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378708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58114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672583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08406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874519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75788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58114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Plan de document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Web Developer → Information → View Document Outline.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plan liste les titres réels et signale les niveaux manquants.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 que vous trouvez « joli gris » peut devenir illisible selon l’écran, la lumière ou la vision de l’utilisateur.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se fier seulement à l’œil - mesurer avec un outil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vers le contenu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doit souvent traverser tout le menu avant d’atteindre le contenu.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976372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06781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479291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premier lien interactif permet d’aller directement au contenu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736592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8280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239512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976372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736592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Quand on navigue au clavier, un focus invisible suffit à perdre toute la page.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Reproduire l’expérience d’un lecteur d’écran en 3 minutes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le lecteur d’écran peut choisir une mauvaise prononciation et rendre le texte pénible à écouter.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976372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06781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479291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736592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8280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239512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976372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736592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À 200 %, votre site doit rester le même service : lisible, navigable et utilisable.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976372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06781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479291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736592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8280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239512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976372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736592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Une vidéo sans sous-titres devient inutilisable dès que le son manque, est coupé ou ne peut pas être entendu.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à relire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sous-titres automatiques peuvent déformer les mots, surtout les noms propres et acronymes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Noms propres, acronymes, chiffres : souvent mal reconnus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49961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5097780"/>
            <a:ext cx="10908792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1 : générer l’auto (YouTube, Whisper, outil interne) pour accélérer le brouillon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2 : relire, corriger, ajouter ponctuation et [indications sonores]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874519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9659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75788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296722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378708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est sur la même page ou à un clic, pas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Pour une vidéo : la transcription descriptive inclut aussi l’action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6918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9606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37210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transcription rend le contenu plus facile à retrouver, relire et citer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sert aussi aux personnes qui ne peuvent pas lancer la vidéo ou l’audio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874519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75788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6918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Quand l’image porte l’information, elle doit aussi être disponible autrement que par la vue.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Principe d’accessibilité vidéo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pas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peut être annoncé comme exemple, pas comme nom fiable du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devient difficile d’y revenir dès que la saisie commence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874519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9659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75788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296722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378708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6918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9606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37210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presque tous les champs sont requis, marquer les champs optionnels peut rendre le formulaire plus lisible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874519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75788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6918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qu’on remonte dans la grille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Grille d’audit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1965960"/>
          <a:ext cx="11228831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840480"/>
                <a:gridCol w="5513832"/>
              </a:tblGrid>
              <a:tr h="50292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Champ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écrire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court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0292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C, NC ou NA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NC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Sévérité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Bloquant, gênant, mineur ou info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Gênant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0292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Constat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Ce que vous observez concrètement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lien d’évitement n’apparaît pas au focus.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Correctif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Ce que l’équipe doit corriger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Rendre le lien visible et cibler #contenu.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0292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Preuve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URL, capture, sélecteur ou extrait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/actualites - premier appui sur 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83480"/>
            <a:ext cx="11155680" cy="111556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704088" y="50749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Règle de travail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704088" y="5486400"/>
            <a:ext cx="10908792" cy="52120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défaut sans preuve est difficile à traiter.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Une preuve sans sévérité est difficile à prioriser.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Grille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83480"/>
            <a:ext cx="73152" cy="111556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Renseignez pour chaque check : verdict, sévérité, constat, correctif, preuve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Sélectionnez 3 actions prioritaires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78308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874519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0847"/>
            <a:ext cx="5390388" cy="296539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2287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83787"/>
            <a:ext cx="5143500" cy="22110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millions de personnes en situation de handicap en France (INSEE 2021)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Utilisateurs en contexte défavorable : faible luminosité, connexion lente, bruit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Moteurs de recherche et outils d'IA qui analysent vos contenus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0847"/>
            <a:ext cx="5390388" cy="25749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3212287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623767"/>
            <a:ext cx="5143500" cy="19805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1 - Texte alternatif : décrire chaque image en 1 phrase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2 - Émojis : 1 ou 2 maximum, en fin de message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3 - Hashtags : CamelCase et regroupés en fin de post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78308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0847"/>
            <a:ext cx="73152" cy="296539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0847"/>
            <a:ext cx="73152" cy="25749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0116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4231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92024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0116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423160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809744"/>
            <a:ext cx="11155680" cy="139400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901183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5312664"/>
            <a:ext cx="10908792" cy="79964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Émojis réduits à 1, placé en fin de phrase - le message tient sans eux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Structure numérotée - navigation facile pour tous les utilisateurs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92024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809744"/>
            <a:ext cx="73152" cy="139400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Jamais de faux gras ou faux italique (InstaFont 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01168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514600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01168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514600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18464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276088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01168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01168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18464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19659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48970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58114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499262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48970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73736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82880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270205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433572"/>
            <a:ext cx="3541775" cy="11429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270205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433572"/>
            <a:ext cx="3541775" cy="11429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270205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433572"/>
            <a:ext cx="3541775" cy="11429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49724"/>
            <a:ext cx="11155680" cy="142280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411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52644"/>
            <a:ext cx="10908792" cy="82844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Retirez tous les émojis du texte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message est-il toujours clair et complet ? Si oui : bon signe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73736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003804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003804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49724"/>
            <a:ext cx="73152" cy="142280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01168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514600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01168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514600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18464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276088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01168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01168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18464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55448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16459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057400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5544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16459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0574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92624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84064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 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55448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5544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92624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0020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103120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InstaFont, LingoJam 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60020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10312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035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9495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0020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6002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035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0020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103120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60020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103120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035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9495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0020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60020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035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45920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317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: 1 ou 2,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88920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VRAI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45920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317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=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88920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438144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12394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Alt text vide =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4581144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438144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12394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Faux gras InstaFont lu comme gras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4581144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2120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3035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8308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8308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3575303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3575303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45920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45920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438144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438144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2120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94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