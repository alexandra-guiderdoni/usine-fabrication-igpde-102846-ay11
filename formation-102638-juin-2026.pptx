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102638.</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(trop de connivence, moins d'échanges riches).</a:t>
            </a:r>
          </a:p>
          <a:p>
            <a:r>
              <a:rPr lang="fr-FR"/>
              <a:t>Si nombre impair : un trinôme.</a:t>
            </a:r>
          </a:p>
          <a:p>
            <a:r>
              <a:rPr lang="fr-FR"/>
              <a:t>Distribuer les cartes idées reçues maintenant : chaque binôme conserve sa carte comme support de l'engagement de fin de journée.</a:t>
            </a:r>
          </a:p>
          <a:p>
            <a:r>
              <a:rPr lang="fr-FR"/>
              <a:t>Laisser 2 minutes d'échange avant de commencer le programme.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distribuées au moment du regroupement en binômes.</a:t>
            </a:r>
          </a:p>
          <a:p>
            <a:r>
              <a:rPr lang="fr-FR"/>
              <a:t>Laisser 30 secondes de réflexion silencieuse, puis demander qui dit 'vrai' et qui dit 'faux' avant d'afficher la slide de décryptage.</a:t>
            </a:r>
          </a:p>
          <a:p>
            <a:r>
              <a:rPr lang="fr-FR"/>
              <a:t>Ne pas corriger immédiatement - laisser le groupe débattre.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Quand une communication est-elle vraiment accessible ?</a:t>
            </a:r>
          </a:p>
          <a:p>
            <a:r>
              <a:rPr lang="fr-FR"/>
              <a:t>Laisser 30 secondes de silence avant de basculer vers les supports concernés.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rester sur le registre moral : montrer le bénéfice concret.</a:t>
            </a:r>
          </a:p>
          <a:p>
            <a:r>
              <a:rPr lang="fr-FR"/>
              <a:t>La charte de communication de l'État impose des engagements mesurables.</a:t>
            </a:r>
          </a:p>
          <a:p>
            <a:r>
              <a:rPr lang="fr-FR"/>
              <a:t>Pour la personne qui publie : une communication accessible est une communication qui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sami-doc-inaccessible.docx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sami-doc-aide-correction.docx.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sami-doc-inaccessible.docx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1369" y="260647"/>
            <a:ext cx="4579487" cy="4149096"/>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178299" y="776635"/>
            <a:ext cx="3132658" cy="3132658"/>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vispero.com/lp/color-contrast-checker/"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102638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4 juin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Regroupement par binômes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ça marche ?</a:t>
            </a:r>
          </a:p>
        </p:txBody>
      </p:sp>
      <p:sp>
        <p:nvSpPr>
          <p:cNvPr id="11" name="DSFR-callout-body"/>
          <p:cNvSpPr txBox="1"/>
          <p:nvPr/>
        </p:nvSpPr>
        <p:spPr>
          <a:xfrm>
            <a:off x="704088" y="2606039"/>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12 stagiaires - 6 binômes de 2 personnes</a:t>
            </a:r>
          </a:p>
          <a:p>
            <a:pPr algn="l">
              <a:lnSpc>
                <a:spcPct val="125000"/>
              </a:lnSpc>
            </a:pPr>
            <a:r>
              <a:rPr sz="1400" lang="fr-FR">
                <a:solidFill>
                  <a:srgbClr val="161616"/>
                </a:solidFill>
                <a:latin typeface="Marianne"/>
              </a:rPr>
              <a:t>• </a:t>
            </a:r>
            <a:r>
              <a:rPr sz="1400" b="0" lang="fr-FR">
                <a:solidFill>
                  <a:srgbClr val="161616"/>
                </a:solidFill>
                <a:latin typeface="Marianne"/>
              </a:rPr>
              <a:t>Chaque binôme pioche 1 carte idée reçue : vous en êtes les gardiens</a:t>
            </a:r>
          </a:p>
          <a:p>
            <a:pPr algn="l">
              <a:lnSpc>
                <a:spcPct val="125000"/>
              </a:lnSpc>
            </a:pPr>
            <a:r>
              <a:rPr sz="1400" lang="fr-FR">
                <a:solidFill>
                  <a:srgbClr val="161616"/>
                </a:solidFill>
                <a:latin typeface="Marianne"/>
              </a:rPr>
              <a:t>• </a:t>
            </a:r>
            <a:r>
              <a:rPr sz="1400" b="0" lang="fr-FR">
                <a:solidFill>
                  <a:srgbClr val="161616"/>
                </a:solidFill>
                <a:latin typeface="Marianne"/>
              </a:rPr>
              <a:t>Pendant la journée : les exercices pratiques se font en binôme</a:t>
            </a:r>
          </a:p>
        </p:txBody>
      </p:sp>
      <p:sp>
        <p:nvSpPr>
          <p:cNvPr id="13" name="DSFR-box"/>
          <p:cNvSpPr/>
          <p:nvPr/>
        </p:nvSpPr>
        <p:spPr>
          <a:xfrm>
            <a:off x="6313931" y="210312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en binôme ?</a:t>
            </a:r>
          </a:p>
        </p:txBody>
      </p:sp>
      <p:sp>
        <p:nvSpPr>
          <p:cNvPr id="15" name="DSFR-alert-info-body"/>
          <p:cNvSpPr txBox="1"/>
          <p:nvPr/>
        </p:nvSpPr>
        <p:spPr>
          <a:xfrm>
            <a:off x="6469379" y="2606039"/>
            <a:ext cx="5143500" cy="128930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L'apprentissage est plus solide quand on explique à quelqu'un d'autre</a:t>
            </a:r>
          </a:p>
          <a:p>
            <a:pPr algn="l">
              <a:lnSpc>
                <a:spcPct val="150000"/>
              </a:lnSpc>
            </a:pPr>
            <a:r>
              <a:rPr sz="1400" lang="fr-FR">
                <a:solidFill>
                  <a:srgbClr val="161616"/>
                </a:solidFill>
                <a:latin typeface="Marianne"/>
              </a:rPr>
              <a:t>• </a:t>
            </a:r>
            <a:r>
              <a:rPr sz="1400" b="0" lang="fr-FR">
                <a:solidFill>
                  <a:srgbClr val="161616"/>
                </a:solidFill>
                <a:latin typeface="Marianne"/>
              </a:rPr>
              <a:t>Deux regards valent mieux qu'un sur un document à corriger</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Prenez 1 minute : échangez avec votre binôme ce que vous faites au quotidien.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Vous avez chacun une carte avec une idée reçue</a:t>
            </a:r>
          </a:p>
          <a:p>
            <a:pPr algn="l">
              <a:lnSpc>
                <a:spcPct val="150000"/>
              </a:lnSpc>
            </a:pPr>
            <a:r>
              <a:rPr sz="1400" lang="fr-FR">
                <a:solidFill>
                  <a:srgbClr val="161616"/>
                </a:solidFill>
                <a:latin typeface="Marianne"/>
              </a:rPr>
              <a:t>• </a:t>
            </a:r>
            <a:r>
              <a:rPr sz="1400" b="0" lang="fr-FR">
                <a:solidFill>
                  <a:srgbClr val="161616"/>
                </a:solidFill>
                <a:latin typeface="Marianne"/>
              </a:rPr>
              <a:t>Lisez-la, décidez : vrai ou faux ?</a:t>
            </a:r>
          </a:p>
          <a:p>
            <a:pPr algn="l">
              <a:lnSpc>
                <a:spcPct val="150000"/>
              </a:lnSpc>
            </a:pPr>
            <a:r>
              <a:rPr sz="1400" lang="fr-FR">
                <a:solidFill>
                  <a:srgbClr val="161616"/>
                </a:solidFill>
                <a:latin typeface="Marianne"/>
              </a:rPr>
              <a:t>• </a:t>
            </a:r>
            <a:r>
              <a:rPr sz="1400" b="0" lang="fr-FR">
                <a:solidFill>
                  <a:srgbClr val="161616"/>
                </a:solidFill>
                <a:latin typeface="Marianne"/>
              </a:rPr>
              <a:t>On révèle ensemble le décryptage, carte par carte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26771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033272"/>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2677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67335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00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00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00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462272"/>
            <a:ext cx="868680" cy="868680"/>
          </a:xfrm>
          <a:prstGeom prst="rect">
            <a:avLst/>
          </a:prstGeom>
        </p:spPr>
      </p:pic>
      <p:sp>
        <p:nvSpPr>
          <p:cNvPr id="18" name="DSFR-qrcode-cta"/>
          <p:cNvSpPr txBox="1"/>
          <p:nvPr/>
        </p:nvSpPr>
        <p:spPr>
          <a:xfrm>
            <a:off x="7237475" y="45354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48280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60934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00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00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00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60934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00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00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00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60934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00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00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00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651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4173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05740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00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00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00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4846320"/>
            <a:ext cx="868680" cy="868680"/>
          </a:xfrm>
          <a:prstGeom prst="rect">
            <a:avLst/>
          </a:prstGeom>
        </p:spPr>
      </p:pic>
      <p:sp>
        <p:nvSpPr>
          <p:cNvPr id="18" name="DSFR-qrcode-cta"/>
          <p:cNvSpPr txBox="1"/>
          <p:nvPr/>
        </p:nvSpPr>
        <p:spPr>
          <a:xfrm>
            <a:off x="7237475" y="491947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21208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651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4173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05740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00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00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00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4846320"/>
            <a:ext cx="868680" cy="868680"/>
          </a:xfrm>
          <a:prstGeom prst="rect">
            <a:avLst/>
          </a:prstGeom>
        </p:spPr>
      </p:pic>
      <p:sp>
        <p:nvSpPr>
          <p:cNvPr id="18" name="DSFR-qrcode-cta"/>
          <p:cNvSpPr txBox="1"/>
          <p:nvPr/>
        </p:nvSpPr>
        <p:spPr>
          <a:xfrm>
            <a:off x="7237475" y="491947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21208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1. Accessibiliser sa communication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Quoi</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05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05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05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250454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965752"/>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05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05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05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250454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Qui</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50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50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50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50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Pourquoi</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103120"/>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606039"/>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Droit fondamental d'accès à l'information</a:t>
            </a:r>
          </a:p>
          <a:p>
            <a:pPr algn="l">
              <a:lnSpc>
                <a:spcPct val="105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05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sp>
        <p:nvSpPr>
          <p:cNvPr id="13" name="DSFR-box"/>
          <p:cNvSpPr/>
          <p:nvPr/>
        </p:nvSpPr>
        <p:spPr>
          <a:xfrm>
            <a:off x="6313931" y="2103120"/>
            <a:ext cx="5390388" cy="173964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Charte de communication de l'État</a:t>
            </a:r>
          </a:p>
        </p:txBody>
      </p:sp>
      <p:sp>
        <p:nvSpPr>
          <p:cNvPr id="15" name="DSFR-alert-success-body"/>
          <p:cNvSpPr txBox="1"/>
          <p:nvPr/>
        </p:nvSpPr>
        <p:spPr>
          <a:xfrm>
            <a:off x="6469379" y="2606039"/>
            <a:ext cx="5143500" cy="114528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Confiance : l'usager comprend et agit seul</a:t>
            </a:r>
          </a:p>
          <a:p>
            <a:pPr algn="l">
              <a:lnSpc>
                <a:spcPct val="105000"/>
              </a:lnSpc>
            </a:pPr>
            <a:r>
              <a:rPr sz="1400" lang="fr-FR">
                <a:solidFill>
                  <a:srgbClr val="161616"/>
                </a:solidFill>
                <a:latin typeface="Marianne"/>
              </a:rPr>
              <a:t>• </a:t>
            </a:r>
            <a:r>
              <a:rPr sz="1400" b="0" lang="fr-FR">
                <a:solidFill>
                  <a:srgbClr val="161616"/>
                </a:solidFill>
                <a:latin typeface="Marianne"/>
              </a:rPr>
              <a:t>Autonomie : pas besoin d'aide tierce</a:t>
            </a:r>
          </a:p>
          <a:p>
            <a:pPr algn="l">
              <a:lnSpc>
                <a:spcPct val="105000"/>
              </a:lnSpc>
            </a:pPr>
            <a:r>
              <a:rPr sz="1400" lang="fr-FR">
                <a:solidFill>
                  <a:srgbClr val="161616"/>
                </a:solidFill>
                <a:latin typeface="Marianne"/>
              </a:rPr>
              <a:t>• </a:t>
            </a:r>
            <a:r>
              <a:rPr sz="1400" b="0" lang="fr-FR">
                <a:solidFill>
                  <a:srgbClr val="161616"/>
                </a:solidFill>
                <a:latin typeface="Marianne"/>
              </a:rPr>
              <a:t>Inclusion : chaque canal atteint son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73964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le 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But de la formation : transformer une intention d'inclusion en contenus que les publics peuvent lire, comprendre et utiliser.</a:t>
            </a:r>
          </a:p>
        </p:txBody>
      </p:sp>
      <p:sp>
        <p:nvSpPr>
          <p:cNvPr id="12" name="DSFR-box"/>
          <p:cNvSpPr/>
          <p:nvPr/>
        </p:nvSpPr>
        <p:spPr>
          <a:xfrm>
            <a:off x="548640" y="293065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0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0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1428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54853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0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0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0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33639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742035"/>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05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05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33639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05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05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05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05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05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05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thèmes.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1428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54853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05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05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05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05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05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05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graphicFrame>
        <p:nvGraphicFramePr>
          <p:cNvPr id="8" name="Table 7"/>
          <p:cNvGraphicFramePr>
            <a:graphicFrameLocks noGrp="1"/>
          </p:cNvGraphicFramePr>
          <p:nvPr/>
        </p:nvGraphicFramePr>
        <p:xfrm>
          <a:off x="475488" y="182880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206240"/>
            <a:ext cx="11155680" cy="15380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2976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Obligations de publication</a:t>
            </a:r>
          </a:p>
        </p:txBody>
      </p:sp>
      <p:sp>
        <p:nvSpPr>
          <p:cNvPr id="12" name="DSFR-alert-warning-body"/>
          <p:cNvSpPr txBox="1"/>
          <p:nvPr/>
        </p:nvSpPr>
        <p:spPr>
          <a:xfrm>
            <a:off x="704088" y="4709159"/>
            <a:ext cx="10908792" cy="943660"/>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Schéma pluriannuel d'accessibilité (SPAN) sur 3 ans</a:t>
            </a:r>
          </a:p>
          <a:p>
            <a:pPr algn="l">
              <a:lnSpc>
                <a:spcPct val="105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05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05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206240"/>
            <a:ext cx="73152" cy="15380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/declaration-accessibilite</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contraste, QR code et lien visible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2. Documents bureautiques accessibles</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Documents bureautiques accessibles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9204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9834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94959"/>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00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00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9204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075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00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00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2354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2918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235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4023360"/>
            <a:ext cx="5390388" cy="20436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114800"/>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86300"/>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00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00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4023360"/>
            <a:ext cx="5390388" cy="149961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1148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526280"/>
            <a:ext cx="5143500" cy="905256"/>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00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accent-decoratif" descr=""/>
          <p:cNvSpPr/>
          <p:nvPr/>
        </p:nvSpPr>
        <p:spPr>
          <a:xfrm>
            <a:off x="475488" y="4023360"/>
            <a:ext cx="73152" cy="20436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023360"/>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73964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14528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05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05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05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73964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09728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00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00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14" name="DSFR-accent-decoratif" descr=""/>
          <p:cNvSpPr/>
          <p:nvPr/>
        </p:nvSpPr>
        <p:spPr>
          <a:xfrm>
            <a:off x="475488" y="35661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92040"/>
            <a:ext cx="11155680" cy="13075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9834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94959"/>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00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9" name="DSFR-accent-decoratif" descr=""/>
          <p:cNvSpPr/>
          <p:nvPr/>
        </p:nvSpPr>
        <p:spPr>
          <a:xfrm>
            <a:off x="475488" y="489204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49961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905256"/>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00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00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00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00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232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634739"/>
            <a:ext cx="10908792" cy="109728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00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00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00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496062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97780"/>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783580"/>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Audiodescription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318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6062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05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05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05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05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00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00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00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00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00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494233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03377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94233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gridCol w="4187952"/>
                <a:gridCol w="4114800"/>
              </a:tblGrid>
              <a:tr h="77724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7724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7724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1556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21208"/>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00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Grille</a:t>
            </a:r>
          </a:p>
        </p:txBody>
      </p:sp>
      <p:sp>
        <p:nvSpPr>
          <p:cNvPr id="9" name="DSFR-accent-decoratif" descr=""/>
          <p:cNvSpPr/>
          <p:nvPr/>
        </p:nvSpPr>
        <p:spPr>
          <a:xfrm>
            <a:off x="475488" y="4983480"/>
            <a:ext cx="73152" cy="111556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05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05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05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1428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54853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05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05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05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2677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67335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00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00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00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00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00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00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00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00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1755648"/>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05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05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05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05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05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18795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27939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55648"/>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8795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677156"/>
            <a:ext cx="5390388"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76859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180076"/>
            <a:ext cx="5143500"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00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00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677156"/>
            <a:ext cx="5390388" cy="149961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76859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180076"/>
            <a:ext cx="5143500" cy="905256"/>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00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00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77156"/>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677156"/>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406908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1605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572000"/>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00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00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420624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29767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709159"/>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00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00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6908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20624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102638 -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