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thèmes.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thème.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Montrer l'image : en deutéranopie, En retard et En cours sont indiscernables.</a:t>
            </a:r>
          </a:p>
          <a:p>
            <a:r>
              <a:rPr lang="fr-FR"/>
              <a:t>Demander aux stagiaires : « Dans vos documents, utilisez-vous des codes couleur sans texte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reproduire l'information dans le corps du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sami-doc-inaccessible.docx aux binômes.</a:t>
            </a:r>
          </a:p>
          <a:p>
            <a:r>
              <a:rPr lang="fr-FR"/>
              <a:t>Phase 1 - Identification (10 min) : « Trouvez toutes les erreurs d'accessibilité.</a:t>
            </a:r>
          </a:p>
          <a:p>
            <a:r>
              <a:rPr lang="fr-FR"/>
              <a:t>Notez-les sans corriger. » Pas de checklist.</a:t>
            </a:r>
          </a:p>
          <a:p>
            <a:r>
              <a:rPr lang="fr-FR"/>
              <a:t>Phase 2 - Correction (15 min) : afficher la liste des 12 erreurs.</a:t>
            </a:r>
          </a:p>
          <a:p>
            <a:r>
              <a:rPr lang="fr-FR"/>
              <a:t>Les binômes corrigent dans l'ordre structure &gt; couleurs &gt; contenus.</a:t>
            </a:r>
          </a:p>
          <a:p>
            <a:r>
              <a:rPr lang="fr-FR"/>
              <a:t>Le vérificateur Word sert d'outil de découverte : « Que détecte-t-il ?</a:t>
            </a:r>
          </a:p>
          <a:p>
            <a:r>
              <a:rPr lang="fr-FR"/>
              <a:t>Que rate-t-il ? »</a:t>
            </a:r>
            <a:br/>
            <a:br/>
            <a:r>
              <a:rPr lang="fr-FR"/>
              <a:t>Phase 3 - Restitution (5 min) : débriefer l'erreur de contraste (gris #767676, ratio 4,48:1) avec le Colour Contrast Analyser.</a:t>
            </a:r>
          </a:p>
          <a:p>
            <a:r>
              <a:rPr lang="fr-FR"/>
              <a:t>Question de transfert : « Sur votre dernier document, laquelle de ces erreurs avez-vous probablement faite ? » Tour de table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finalisation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Effet de surprise : les stagiaires pensaient avoir trouvé toutes les erreurs.</a:t>
            </a:r>
          </a:p>
          <a:p>
            <a:r>
              <a:rPr lang="fr-FR"/>
              <a:t>Révéler que le document en contenait 2 de plus montre que l'accessibilité a des dimensions qu'on ne voit pas sans formation.</a:t>
            </a:r>
          </a:p>
          <a:p>
            <a:r>
              <a:rPr lang="fr-FR"/>
              <a:t>Proposer aux stagiaires de rouvrir sami-doc-inaccessible.docx et de corriger ces 2 erreurs en 2 minutes.</a:t>
            </a:r>
          </a:p>
          <a:p>
            <a:r>
              <a:rPr lang="fr-FR"/>
              <a:t>Le passage anglais est dans la section Contact.</a:t>
            </a:r>
          </a:p>
          <a:p>
            <a:r>
              <a:rPr lang="fr-FR"/>
              <a:t>Les propriétés sont dans Fichier &gt; Informations.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hiérarchiser les thèmes entre eux : tous sont obligatoires.</a:t>
            </a:r>
          </a:p>
          <a:p>
            <a:r>
              <a:rPr lang="fr-FR"/>
              <a:t>La logique ici est l'effort, pas l'importance.</a:t>
            </a:r>
          </a:p>
          <a:p>
            <a:r>
              <a:rPr lang="fr-FR"/>
              <a:t>Ces 3 réflexes couvrent Structure, Contenus et Finalisation et prennent moins d'une minute chacun.</a:t>
            </a:r>
          </a:p>
          <a:p>
            <a:r>
              <a:rPr lang="fr-FR"/>
              <a:t>Le reste (contraste, langue, propriétés, listes) vient naturellement une fois que ces 3 réflexes sont installés.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Lancer le chronomètre : 3 minutes de réflexion individuelle en silence.</a:t>
            </a:r>
          </a:p>
          <a:p>
            <a:r>
              <a:rPr lang="fr-FR"/>
              <a:t>Ne pas aider - la difficulté fait partie du processus d'apprentissage.</a:t>
            </a:r>
          </a:p>
          <a:p>
            <a:r>
              <a:rPr lang="fr-FR"/>
              <a:t>Au bout des 3 minutes, demander à main levée : « Qui a trouvé 3 erreurs ? 4 erreurs ?</a:t>
            </a:r>
          </a:p>
          <a:p>
            <a:r>
              <a:rPr lang="fr-FR"/>
              <a:t>Les 5 ? » avant de passer à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Passer en revue chaque point en expliquant l'impact utilisateur (pourquoi c'est une erreur), puis la correction dans Word.</a:t>
            </a:r>
          </a:p>
          <a:p>
            <a:r>
              <a:rPr lang="fr-FR"/>
              <a:t>Si quelqu'un trouve les 5 : féliciter et demander combien de temps.</a:t>
            </a:r>
          </a:p>
          <a:p>
            <a:r>
              <a:rPr lang="fr-FR"/>
              <a:t>Si moins de 3 : identifier quel thème est moins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La difficulté de récupération est ce qui consolide la mémoire à long terme.</a:t>
            </a:r>
          </a:p>
          <a:p>
            <a:r>
              <a:rPr lang="fr-FR"/>
              <a:t>Quand tout le monde a écrit,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Comparer avec ce que les stagiaires ont écrit.</a:t>
            </a:r>
          </a:p>
          <a:p>
            <a:r>
              <a:rPr lang="fr-FR"/>
              <a:t>L'écart entre ce qu'on croit savoir et ce qu'on sait vraiment est instructif.</a:t>
            </a:r>
          </a:p>
          <a:p>
            <a:r>
              <a:rPr lang="fr-FR"/>
              <a:t>Insister sur le raccourci Ctrl+F onglet Titres : c'est l'astuce visuelle la plus pratique pour prouver qu'un document est bien ou mal structuré.</a:t>
            </a:r>
          </a:p>
          <a:p>
            <a:r>
              <a:rPr lang="fr-FR"/>
              <a:t>Terminer sur une note 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Première moitié des critères pratiqués dans l'exercice de Sami.</a:t>
            </a:r>
          </a:p>
          <a:p>
            <a:r>
              <a:rPr lang="fr-FR"/>
              <a:t>Ce sont les fondamentaux de structure et de contenu alternatif.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Deuxième moitié des critères pratiqués.</a:t>
            </a:r>
          </a:p>
          <a:p>
            <a:r>
              <a:rPr lang="fr-FR"/>
              <a:t>Liens, couleurs, langue et propriétés du document.</a:t>
            </a:r>
          </a:p>
          <a:p>
            <a:r>
              <a:rPr lang="fr-FR"/>
              <a:t>Demander : « Levez la main si vous êtes capables de corriger ces 10 points sans aide.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critères n'ont pas été pratiqués dans l'exercice mais sont tout aussi obligatoires.</a:t>
            </a:r>
          </a:p>
          <a:p>
            <a:r>
              <a:rPr lang="fr-FR"/>
              <a:t>Les 3 premiers sont des critères bloquants (sécurité et accès fondamental).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Conseil : intégrer 2-3 nouveaux critères par semaine jusqu'à ce que les 21 soient automatiques.</a:t>
            </a:r>
          </a:p>
          <a:p>
            <a:r>
              <a:rPr lang="fr-FR"/>
              <a:t>Suggérer de plastifier ces 4 slides ou de les garder en favoris.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L'engagement explicite crée une intention comportementale plus forte qu'une affirmation.</a:t>
            </a:r>
          </a:p>
          <a:p>
            <a:r>
              <a:rPr lang="fr-FR"/>
              <a:t>Laisser chaque stagiaire écrire son engagement (physique ou mental).</a:t>
            </a:r>
          </a:p>
          <a:p>
            <a:r>
              <a:rPr lang="fr-FR"/>
              <a:t>J+7 = pic de l'oubli selon la courbe d'Ebbinghaus - c'est le moment critique.</a:t>
            </a:r>
          </a:p>
          <a:p>
            <a:r>
              <a:rPr lang="fr-FR"/>
              <a:t>J+30 = consolidation.</a:t>
            </a:r>
          </a:p>
          <a:p>
            <a:r>
              <a:rPr lang="fr-FR"/>
              <a:t>À 6 mois, si les 3 gestes sont devenus automatiques, la formation a atteint son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d'erreurs.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hyperlink" Target="mailto:bertrand.matge@finances.gouv.fr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hyperlink" Target="mailto:alexandra.guiderdoni@finances.gouv.fr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5390388" cy="274777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606039"/>
            <a:ext cx="5143500" cy="21534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Expliquer les enjeux de l'accessibilité numérique et son cadre légal dans le contexte de la communication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et évaluer les principales erreurs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Rendre des contenus numériques accessibles</a:t>
            </a:r>
          </a:p>
        </p:txBody>
      </p:sp>
      <p:pic>
        <p:nvPicPr>
          <p:cNvPr id="19" name="Picture 18" descr="Affiche du SIG pour les 20 ans de la loi handicap. Imaginez un quotidien où rien n'est vraiment pensé pour vous. Ordinateur avec un écran inversé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1920240"/>
            <a:ext cx="3493008" cy="4167097"/>
          </a:xfrm>
          <a:prstGeom prst="rect">
            <a:avLst/>
          </a:prstGeom>
        </p:spPr>
      </p:pic>
      <p:pic>
        <p:nvPicPr>
          <p:cNvPr id="20" name="Picture 19" descr="QR code : https://www.info.gouv.fr/accessibil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846320"/>
            <a:ext cx="1188720" cy="1188720"/>
          </a:xfrm>
          <a:prstGeom prst="rect">
            <a:avLst/>
          </a:prstGeom>
        </p:spPr>
      </p:pic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74777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 des acteurs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 accessible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Documents Word et LibreOffice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13 vérifications rapides W3C WAI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Démonstration et exercice pratique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text, hashtags, émojis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pic>
        <p:nvPicPr>
          <p:cNvPr id="8" name="Picture 7" descr="Photo Bertrand Mat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185416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19582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857500"/>
            <a:ext cx="745236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Formateur Opquast certifié, référent Assurance Qualité Web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Forme et sensibilise à l'accessibilité depuis plusieurs années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Passionné par la conception inclusive et l'expérience 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 à l'audit d'accessibilité numérique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1958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pic>
        <p:nvPicPr>
          <p:cNvPr id="8" name="Picture 7" descr="Photo Alexandra Guiderdon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809821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32384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697479"/>
            <a:ext cx="7452360" cy="27294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Spécialisée dans les technologies web et l'accessibilité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Expérience : Ministère des affaires étrangères, ESN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DU-RAN (diplôme universitaire référent accessibilité numérique), 1re session 2024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Formée à l'audit d'accessibilité numérique RGAA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Formatrice et Référente en Assurance Qualité pour le Web - Opquast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3238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Bonjour, je m'appelle [prénom]
Je suis [métier / fonction]
chez [direction / service]
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Quand j'entends « accessibilité numérique », je pense à [premier mot]
Je me situe plutôt :
[ ] Complet débutant
[ ] J'en ai entendu parler
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Je produis principalement [type de contenu]
Pour un usage :
[ ] Interne   [ ] Grand public
Ce que j'espère retirer :
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Pendant la journée : les exercices pratiques se font en binôme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L'apprentissage est plus solide quand on explique à quelqu'un d'autre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Deux regards valent mieux qu'un sur un document à corriger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 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Vous avez chacun une carte avec une idée reçue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Lisez-la, décidez : vrai ou faux ?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6771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8755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milliard+ de personnes dans le monde vivent avec un handicap (OMS)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Soit 15 % de la population mondiale - 1 personne sur 6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France : 12 millions de personnes en situation de handicap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462272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553712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462272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4622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n'impose pas un design archaïque, austère ou sans inspiration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contraintes sont des leviers de créativité, pas des freins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interfaces les plus accessibles sont souvent les plus claires et élégantes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contraste et les textes alternatifs ne sont que 2 exigences sur des centaines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compte 106 critères, les WCAG 2.1 en comptent 78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Titres, liens, tableaux, formulaires, langue, ordre de lecture... autant de dimensions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ne peut pas être portée par une seule équipe ou une seule personne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implique tous les producteurs de contenu : rédacteurs, communicants, designers...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document Word, chaque image publiée engage une responsabilité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Oui - si l'accessibilité est traitée comme un ajustement en fin de projet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Non - si elle est intégrée dès la conception (approche « shift left »)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un document Word après publication : 10 fois plus cher que le faire d'emblée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Prise en compte tardive = grosses corrections après coup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Cela pèse sur l'efficacité des projets et génère de la frustration pour les équipes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« à la fin » est souvent l'accessibilité jamais faite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personnes en situation
de handicap en France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sites publics non
conformes au RGAA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: obligation
d'accessibilité numérique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06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177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État, collectivités, établissements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Entreprises privées gérant un service public ou CA &gt; 250 M 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Cherchez la déclaration d'accessibilité de votre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URL type : /declaration-accessibilite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Points clés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est une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obligation légale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 - pas une option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4.1.2 est votre référentiel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votre déclaration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Noter le taux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Partager le taux à l'équipe projet et à votre supérieur hiérarchique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25603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2240279"/>
            <a:ext cx="10863072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Texte, texte, texte, texte, texte, texte ...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Pendant 4 minutes. Sans titre. Sans repère.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Sans pouvoir naviguer vers la section qui le concerne.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-&gt; C'est ce qu'entend une personne malvoyante face à votre document Word.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lert-warning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21" name="DSFR-alert-warning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80 % de ces handicaps sont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Dans une réunion de 12 personnes : au moins 1 daltonien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Parmi 30 destinataires : 4 ou 5 ont un handicap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5603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- lequel de ces deux documents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flash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NVDA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mis en gras, police Arial 16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sans description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avec le style « Titre 1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avec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54355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63499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Votre réponse ?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54355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thèmes,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thème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Thème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d'accessibilité,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error-titre"/>
          <p:cNvSpPr txBox="1"/>
          <p:nvPr/>
        </p:nvSpPr>
        <p:spPr>
          <a:xfrm>
            <a:off x="704088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alert-error-body"/>
          <p:cNvSpPr txBox="1"/>
          <p:nvPr/>
        </p:nvSpPr>
        <p:spPr>
          <a:xfrm>
            <a:off x="704088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Texte, texte, texte, texte...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bloc plat - aucun repère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4 minutes d'écoute sans pouvoir avancer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6469379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6469379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1 : Rapport annuel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2 : Budget / Titre 3 : Prévisions 2025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en quelques secondes comme une table des matières interactive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766767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858207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269687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sur le titre &gt; Accueil &gt; Styles &gt; Titre 1, Titre 2 ou Titre 3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Raccourci volet Styles : Ctrl+Alt+Maj+S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Vérification : Ctrl+F &gt; onglet Titres - les titres apparaissent ? C'est bon.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766767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annonce : liste de 3 éléments, élément 1 sur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par élément avec les touches flèches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Tirets manuels : le lecteur lit tiret Premier élément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Tabulations pour simuler une numérotation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7155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771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715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325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Vous créez un obstacle de structure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794760"/>
            <a:ext cx="11155680" cy="130759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2976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Insertion &gt; Tableau &gt; colonnes et lignes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Habillage : Propriétés &gt; Aucun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tableau flottant (Autour) est lu au mauvais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294376"/>
            <a:ext cx="11155680" cy="92354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38581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797296"/>
            <a:ext cx="10908792" cy="3291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Lus dans un ordre aléatoire - solution : colonnes Word ou habillage En ligne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7947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294376"/>
            <a:ext cx="73152" cy="9235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Lire le ratio : conforme si &gt;= 4,5:1 pour le texte normal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&gt;= 3:1 pour le grand texte (18 pt+ ou 14 pt gras)</a:t>
            </a:r>
          </a:p>
        </p:txBody>
      </p:sp>
      <p:sp>
        <p:nvSpPr>
          <p:cNvPr id="22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3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4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5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pic>
        <p:nvPicPr>
          <p:cNvPr id="26" name="Picture 25" descr="QR code : https://vispero.com/lp/color-contrast-checker/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4937760"/>
            <a:ext cx="1188720" cy="118872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couleur ne doit pas porter l'information seule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pic>
        <p:nvPicPr>
          <p:cNvPr id="10" name="Picture 9" descr="Trois pastilles rouge, orange, verte en vision normale puis en deutéranopie : les deux premières deviennent indiscernables sans légende textue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965960"/>
            <a:ext cx="5029200" cy="1434364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7033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3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Doublez toujours la couleur avec une légende textuelle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et idéalement un motif visuel distinct.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d'enveloppe ou E-mail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 (vide - icône redondante)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023360"/>
            <a:ext cx="5390388" cy="20436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11480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6863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En-têtes et pieds de page : non lus automatiquement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Filigranes (Confidentiel, Brouillon) :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reproduire l'info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4023360"/>
            <a:ext cx="5390388" cy="1499616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41148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4526280"/>
            <a:ext cx="5143500" cy="9052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+ format + poids + langue si différente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Rapport annuel 2024 (PDF, 2 Mo, anglais)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023360"/>
            <a:ext cx="73152" cy="20436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4023360"/>
            <a:ext cx="73152" cy="14996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Sami, chargé de communication, envoie son rapport trimestriel à 40 personnes.
1. Quelles erreurs d'accessibilité trouvez-vous ?
2. Quelles corrections proposez-vous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/>
            </a:r>
            <a:r>
              <a:rPr sz="1400" b="1" i="0" lang="fr-FR">
                <a:solidFill>
                  <a:srgbClr val="161616"/>
                </a:solidFill>
                <a:latin typeface="Marianne"/>
              </a:rPr>
              <a:t>Structure :</a:t>
            </a:r>
            <a:r>
              <a:rPr sz="1400" i="0" lang="fr-FR">
                <a:solidFill>
                  <a:srgbClr val="161616"/>
                </a:solidFill>
                <a:latin typeface="Marianne"/>
              </a:rPr>
              <a:t> titres en gras sans styles, tableau sans en-tête, fausses listes
Couleurs : mention Urgent en rouge sans autre indication, note en gris à contraste insuffisant
Contenus : graphique et organigramme sans alt adapté, icône redondante, lien cliquez ici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7210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6354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30 minutes en binôme : trouvez les erreurs, puis corrigez-les.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7210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Passage en langue étrangère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30682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718304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minuscules d'abord, puis Police &gt; Modifier la casse &gt; MAJUSCULES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Police sans serif (Arial, Marianne), 12 pt minimum, interligne 1,15. Ne pas justifier le texte.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116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Animations, GIF avec flashs, vidéos à plus de 3 Hz : interdits sans exception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Risque de crise d'épilepsie photosensible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116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signale ce qu'il peut détecter automatiquement - pas ce qui est vraiment accessible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Retour sur le document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Retour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Vous vous souvenez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4401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document de Sami contenait 12 erreurs de Structure, Couleurs et Contenus.
Mais il en contenait 2 de plus que vous n'aviez pas encore les outils pour détecter.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2 erreurs cachées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4401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un passage en anglais sans balisage de langue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les propriétés du document (titre, auteur) sont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457700"/>
            <a:ext cx="11155680" cy="12115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549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corrections en 2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4960620"/>
            <a:ext cx="10908792" cy="617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sélectionner le passage anglais &gt; Révision &gt; Langue &gt; Définir en anglais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Retour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457700"/>
            <a:ext cx="73152" cy="12115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est important. Commencez par ce qui prend 30 secondes.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alternatif sur chaque image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Lancer le vérificateur d'accessibilité avant d'envoyer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saurez-vous trouver les 5 erreurs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collègue vous partage un document Word pour relecture.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En l'analysant, vous repérez les éléments suivants.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Identifiez les 5 erreurs d'accessibilité :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26180"/>
            <a:ext cx="10908792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6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y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
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b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
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: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z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
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4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
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5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(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 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Correction : les 5 erreurs et leurs solutions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31318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erreurs, 5 solutions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25374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: le gras n'est pas reconnu par les lecteurs d'écran - appliquer le style Titre 1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Couleurs : l'information ne doit pas reposer sur la couleur seule - ajouter les étiquettes Conforme / Non conforme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Contenus : un lien doit être compréhensible hors contexte - renommer en Accéder au formulaire de demande RH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sans déclaration, la synthèse vocale prononce avec le mauvais accent - Révision &gt; Langue &gt; Définir : Français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le titre est la première information lue par le lecteur d'écran - Fichier &gt; Informations &gt;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relire le support, complétez de mémoire :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292608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1.  La règle la plus importante pour qu'un lecteur d'écran comprenne la structure de votre document : _______________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3749039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2.  La vérification à faire en 30 secondes avant d'envoyer n'importe quel document : _______________</a:t>
            </a:r>
          </a:p>
        </p:txBody>
      </p:sp>
      <p:sp>
        <p:nvSpPr>
          <p:cNvPr id="13" name="DSFR-texte-libre"/>
          <p:cNvSpPr txBox="1"/>
          <p:nvPr/>
        </p:nvSpPr>
        <p:spPr>
          <a:xfrm>
            <a:off x="475488" y="457200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3.  Le geste que vous ferez dès demain sur votre prochain document : _______________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 : les réponses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réponses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Utiliser les styles de titre (Titre 1, Titre 2) pour structurer le document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Lancer le vérificateur d'accessibilité (Révision &gt; Vérifier l'accessibilité)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Ajouter un texte alternatif aux images ou renseigner le titre dans les propriétés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4306824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Vous avez ces réflexes ? L'essentiel est acquis.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Sinon : relisez Structure et Contenus.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Dès demain, vos trois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que tous les titres apparaissent dans le volet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la fonction de chaque image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les erreurs avant d'envoyer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critères, vous savez déjà les corriger.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Hiérarchie des titres cohérente (H1, H2, H3)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Texte alternatif sur images / décoratifs marqués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Listes natives (pas de tirets manuels)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Couleurs, langue et finalisation.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Propriétés renseignées (Titre, Auteur)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aussi importants, à intégrer progressivement.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7432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Infos essentielles dans le corps (pas seulement en filigrane)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Mise en page et formatage propre.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Sauts de page propres (pas de retours à la ligne)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card-titre"/>
          <p:cNvSpPr txBox="1"/>
          <p:nvPr/>
        </p:nvSpPr>
        <p:spPr>
          <a:xfrm>
            <a:off x="704088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</a:t>
            </a:r>
          </a:p>
        </p:txBody>
      </p:sp>
      <p:sp>
        <p:nvSpPr>
          <p:cNvPr id="21" name="DSFR-card-contenu"/>
          <p:cNvSpPr txBox="1"/>
          <p:nvPr/>
        </p:nvSpPr>
        <p:spPr>
          <a:xfrm>
            <a:off x="704088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Refaites le quiz final sans rouvrir ce support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3-4/5 : relisez le thème correspondant aux erreurs</a:t>
            </a:r>
          </a:p>
        </p:txBody>
      </p:sp>
      <p:sp>
        <p:nvSpPr>
          <p:cNvPr id="23" name="DSFR-box"/>
          <p:cNvSpPr/>
          <p:nvPr/>
        </p:nvSpPr>
        <p:spPr>
          <a:xfrm>
            <a:off x="4392167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4547615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4547615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un vrai document Word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Appliquez la checklist de haut en bas</a:t>
            </a:r>
          </a:p>
        </p:txBody>
      </p:sp>
      <p:sp>
        <p:nvSpPr>
          <p:cNvPr id="27" name="DSFR-box"/>
          <p:cNvSpPr/>
          <p:nvPr/>
        </p:nvSpPr>
        <p:spPr>
          <a:xfrm>
            <a:off x="8235695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card-titre"/>
          <p:cNvSpPr txBox="1"/>
          <p:nvPr/>
        </p:nvSpPr>
        <p:spPr>
          <a:xfrm>
            <a:off x="8391144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6 mois</a:t>
            </a:r>
          </a:p>
        </p:txBody>
      </p:sp>
      <p:sp>
        <p:nvSpPr>
          <p:cNvPr id="29" name="DSFR-card-contenu"/>
          <p:cNvSpPr txBox="1"/>
          <p:nvPr/>
        </p:nvSpPr>
        <p:spPr>
          <a:xfrm>
            <a:off x="8391144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Styles de titre, texte alt, vérificateur avant envoi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c'est automatique : les réflexes sont installés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319015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8162543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Concis : 125 caractères maximum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Objectif : décrit, ne commente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59486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6863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50977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nom de fichier (IMG_4578.jpg) en guise d’alt = alt absent pour l’utilisateur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5948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OK : « Résultats de recherche : accessibilité - Ministère de la Culture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Accueil » sur chaque page du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gris clair sur fond blanc (#999 sur #FFF) : 2,85:1 - échec même en texte large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d'évitement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gouvernement.fr et appuyez Tab : le lien « Contenu » apparaît en haut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3147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21" name="DSFR-callout-body"/>
          <p:cNvSpPr txBox="1"/>
          <p:nvPr/>
        </p:nvSpPr>
        <p:spPr>
          <a:xfrm>
            <a:off x="704088" y="38176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Reproduire l’expérience d’un lecteur d’écran en 3 minutes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3147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signal détecté = vous avez l’œil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droit → Afficher le code source → regarder la 1ʳᵉ ligne &lt;html lang="…"&gt;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Ctrl + (ou Cmd + sur Mac) pour zoomer jusqu’à 200 % - répéter 4 fois depuis 100 %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1 : générer l’auto (YouTube, Whisper, outil interne) pour gagner 80 % du temps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2 : relire, corriger, ajouter ponctuation et [indications sonores]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: la transcription DESCRIPTIVE inclut aussi l'action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moteurs de recherche indexent les transcriptions - référencement gratuit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318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232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47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une piste audiodécrite activable (bouton AD)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L’audiodescription décrit les éléments visuels essentiels à la compréhension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s’intercale dans les silences, sans couvrir les dialogues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6062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09778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Sans audiodescription, une vidéo reste une porte fermée pour 1,7 million de personnes aveugles ou malvoyantes en France.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578358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318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6062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Étiquette visible au-dessus du champ (ou à gauche)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Placeholder optionnel, pour donner un exemple de format : « JJ/MM/AAAA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7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851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51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622852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71429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125772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millions de personnes en situation de handicap en France (INSEE 2021)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Utilisateurs en contexte défavorable : faible luminosité, connexion lente, bruit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et outils d'IA qui analysent vos contenus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334256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42569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4837176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1 - Texte alternatif : décrire chaque image en 1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2 - Émojis : 1 ou 2 maximum, en fin de message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3 - Hashtags : CamelCase et regroupés en fin de post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622852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334256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Identifiez le maximum de problèmes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lisez pas le tweet à voix haute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mains ouvertes avec du savon et éclaboussures de sueur.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visage qui éternue couvrez votre bouche.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1 désinfectant à base d'alcool, du 🧼 &amp; de l'💦.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 &amp; le 👃🏻.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3758184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3849624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261104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réduits à 1, placé en fin de phrase - le message tient sans eux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numérotée - navigation facile pour tous les utilisateurs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3758184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Fermez les yeux ou regardez ailleurs - écoutez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Réflexes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chaque image en 1 à 2 phrases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ou 2 maximum, en fin de message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pas #servicepublic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Jamais de faux gras ou faux italique (InstaFont...)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7248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0168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Personnes aveugles ou malvoyantes (lecteur d'écran)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Connexion lente ou image non chargée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(Google indexe via l'alt text)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et outils d'analyse d'image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Contexte défavorable (luminosité,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7248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630168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: Modifier → Texte alternatif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Facebook : Modifier l'image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Twitter/X : intégré à la publication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Instagram : Paramètres avancés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Canva : Clic droit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7248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7248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"image.jpg" - nom de fichier, aucun sens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"Photo" - trop vague, aucune information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 de la réunion du 12 mars 2026" - date inutile sans contexte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"Logo DINUM - bleu avec texte blanc"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Plateformes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et Instagram proposent un rappel si vous oubliez l'alt text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Retirez tous les émojis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message est-il toujours clair et complet ? Si oui : bon signe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9179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229743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CamelCase obligatoire : #AccessibilitéNumerique pas #accessibilitenumerique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fin de post, regroupés - jamais insérés dans la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1731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0875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917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1731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Caractères spéciaux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InstaFont, LingoJam... proposent du 'faux gras' et 'faux italique'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𝕻𝕸𝕨𝕳 𝕬𝕮𝕪𝕴 (rendu visuel identique à du gras)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Ces caractères sont des symboles mathématiques, pas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les lit : 'MATHEMATICAL BOLD CAPITAL B, O, N, J, O, U, R'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Écriture inclusive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agent.e.s : le point médian est lu 'point' par les lecteurs d'écran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lit : 'agent point e point s' - incompréhensible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 ou 2 émojis par post,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VRAI - au-delà de 2, l'écoute devient incompréhensible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est aussi accessible que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sans CamelCase le lecteur lit un seul mot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Un alt text vide est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une image décorative peut avoir un alt vide (ou 'Image décorative')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faux gras InstaFont est lu comme du gras par NVDA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les caractères Unicode sont lus lettre par lettre ou ignorés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6908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1605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5720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Publiez un post en appliquant les 4 réflexes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Vérifiez que vos collègues de direction savent où trouver l'alt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206240"/>
            <a:ext cx="539038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429767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Mémo : les 4 réflexes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70915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 : 1 phrase par 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: 1-2, en fin de message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Hashtags : CamelCase, 2-3 en fin de post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: pas de faux gras ni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6908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20624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