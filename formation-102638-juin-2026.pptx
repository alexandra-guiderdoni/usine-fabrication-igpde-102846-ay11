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29"/>
  </p:notesMasterIdLst>
  <p:handoutMasterIdLst>
    <p:handoutMasterId r:id="rId3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IGPDE" id="{0B896E98-F45E-4768-8620-EDDF394BE181}">
          <p14:sldIdLst/>
        </p14:section>
        <p14:section name="MÉTHODOLOGIE" id="{EB03BDE6-D677-4574-A7BF-9721F91BDEB8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77" autoAdjust="0"/>
    <p:restoredTop sz="87652" autoAdjust="0"/>
  </p:normalViewPr>
  <p:slideViewPr>
    <p:cSldViewPr showGuides="1">
      <p:cViewPr>
        <p:scale>
          <a:sx n="100" d="100"/>
          <a:sy n="100" d="100"/>
        </p:scale>
        <p:origin x="3480" y="130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21/04/2026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Présenter les 4 objectifs, insister sur le caractère opérationnel.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 dirty="0"/>
              <a:t>Ouvrir par un chiffre : 97 % des pages web présentent au moins une violation WCAG détectable (source </a:t>
            </a:r>
            <a:r>
              <a:rPr lang="fr-FR" dirty="0" err="1"/>
              <a:t>WebAIM</a:t>
            </a:r>
            <a:r>
              <a:rPr lang="fr-FR" dirty="0"/>
              <a:t> Million 2024).</a:t>
            </a:r>
          </a:p>
          <a:p>
            <a:r>
              <a:rPr lang="fr-FR" dirty="0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 dirty="0"/>
              <a:t>Annoncer le plan : 13 checks, chacun traité sur 1 à 4 slides selon sa complexité.</a:t>
            </a:r>
          </a:p>
          <a:p>
            <a:r>
              <a:rPr lang="fr-FR" dirty="0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d’erreurs.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Règle d’or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d’écran n’annonce rien.</a:t>
            </a:r>
          </a:p>
          <a:p>
            <a:r>
              <a:rPr lang="fr-FR"/>
              <a:t>Message d’erreur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 dirty="0"/>
              <a:t>Distribuer la grille d’audit : 03-easy-checks/grille-audit-easy-</a:t>
            </a:r>
            <a:r>
              <a:rPr lang="fr-FR" dirty="0" err="1"/>
              <a:t>checks.xlsx</a:t>
            </a:r>
            <a:r>
              <a:rPr lang="fr-FR" dirty="0"/>
              <a:t>.</a:t>
            </a:r>
          </a:p>
          <a:p>
            <a:r>
              <a:rPr lang="fr-FR" dirty="0"/>
              <a:t>Onglet Grille vierge à dupliquer par stagiaire, onglet Exemple pour s’orienter, onglet Synthèse pour consolider.</a:t>
            </a:r>
          </a:p>
          <a:p>
            <a:r>
              <a:rPr lang="fr-FR" dirty="0"/>
              <a:t>Timing : 20 min audit individuel, 5 min binôme, 5 min restitution collective.</a:t>
            </a:r>
          </a:p>
          <a:p>
            <a:r>
              <a:rPr lang="fr-FR" dirty="0"/>
              <a:t>Outils autorisés : </a:t>
            </a:r>
            <a:r>
              <a:rPr lang="fr-FR" dirty="0" err="1"/>
              <a:t>DevTools</a:t>
            </a:r>
            <a:r>
              <a:rPr lang="fr-FR" dirty="0"/>
              <a:t>, </a:t>
            </a:r>
            <a:r>
              <a:rPr lang="fr-FR" dirty="0" err="1"/>
              <a:t>HeadingsMap</a:t>
            </a:r>
            <a:r>
              <a:rPr lang="fr-FR" dirty="0"/>
              <a:t>, </a:t>
            </a:r>
            <a:r>
              <a:rPr lang="fr-FR" dirty="0" err="1"/>
              <a:t>Colour</a:t>
            </a:r>
            <a:r>
              <a:rPr lang="fr-FR" dirty="0"/>
              <a:t> </a:t>
            </a:r>
            <a:r>
              <a:rPr lang="fr-FR" dirty="0" err="1"/>
              <a:t>Contrast</a:t>
            </a:r>
            <a:r>
              <a:rPr lang="fr-FR" dirty="0"/>
              <a:t> Analyser, clavier + casque audio.</a:t>
            </a:r>
          </a:p>
          <a:p>
            <a:r>
              <a:rPr lang="fr-FR" dirty="0"/>
              <a:t>Clôture métacognitive (R25) : « Quel check vous a surpris ?</a:t>
            </a:r>
          </a:p>
          <a:p>
            <a:r>
              <a:rPr lang="fr-FR" dirty="0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 dirty="0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lIns="73152" rIns="73152" anchor="t"/>
          <a:lstStyle>
            <a:lvl1pPr>
              <a:defRPr lang="fr-FR"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lang="fr-FR" sz="3200" b="1" i="0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lang="fr-FR" sz="1400" b="1" i="0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lIns="73152" rIns="73152" anchor="t"/>
          <a:lstStyle>
            <a:lvl1pPr>
              <a:defRPr lang="fr-FR"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wrap="square" lIns="73152" rIns="73152" anchor="t" anchorCtr="0"/>
          <a:lstStyle>
            <a:lvl1pPr>
              <a:defRPr lang="fr-FR" sz="1150"/>
            </a:lvl1pPr>
          </a:lstStyle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3600" b="1" i="0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306324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315468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À l’issue de cette formation, les stagiaires sauront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356616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Identifier les critères RGAA 4.1.2 applicables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Produire un document bureautique accessible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Auditer une page web avec les outils standards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Remédier aux non-conformités détectées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/>
          <p:cNvSpPr/>
          <p:nvPr/>
        </p:nvSpPr>
        <p:spPr>
          <a:xfrm>
            <a:off x="475488" y="306324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3243731"/>
            <a:ext cx="10680192" cy="644857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3200" b="1" i="0" dirty="0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12585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12585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12585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12585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Alt </a:t>
            </a:r>
            <a:r>
              <a:rPr lang="fr-FR" sz="1000" b="0" i="0" dirty="0" err="1">
                <a:solidFill>
                  <a:srgbClr val="666666"/>
                </a:solidFill>
                <a:latin typeface="Marianne"/>
              </a:rPr>
              <a:t>text</a:t>
            </a:r>
            <a:endParaRPr lang="fr-FR" sz="1000" b="0" i="0" dirty="0">
              <a:solidFill>
                <a:srgbClr val="666666"/>
              </a:solidFill>
              <a:latin typeface="Marianne"/>
            </a:endParaRP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600" b="1" i="0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600" b="1" i="0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600" b="1" i="0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600" b="1" i="0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DSFR-accent-decoratif"/>
          <p:cNvSpPr/>
          <p:nvPr/>
        </p:nvSpPr>
        <p:spPr>
          <a:xfrm>
            <a:off x="3346703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DSFR-accent-decoratif"/>
          <p:cNvSpPr/>
          <p:nvPr/>
        </p:nvSpPr>
        <p:spPr>
          <a:xfrm>
            <a:off x="6217919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SFR-accent-decoratif"/>
          <p:cNvSpPr/>
          <p:nvPr/>
        </p:nvSpPr>
        <p:spPr>
          <a:xfrm>
            <a:off x="9089135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18338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27482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468630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Alt </a:t>
            </a:r>
            <a:r>
              <a:rPr lang="fr-FR" sz="1000" b="0" i="0" dirty="0" err="1">
                <a:solidFill>
                  <a:srgbClr val="666666"/>
                </a:solidFill>
                <a:latin typeface="Marianne"/>
              </a:rPr>
              <a:t>text</a:t>
            </a:r>
            <a:endParaRPr lang="fr-FR" sz="1000" b="0" i="0" dirty="0">
              <a:solidFill>
                <a:srgbClr val="666666"/>
              </a:solidFill>
              <a:latin typeface="Marianne"/>
            </a:endParaRP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SFR-accent-decoratif"/>
          <p:cNvSpPr/>
          <p:nvPr/>
        </p:nvSpPr>
        <p:spPr>
          <a:xfrm>
            <a:off x="475488" y="418338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Alt </a:t>
            </a:r>
            <a:r>
              <a:rPr lang="fr-FR" sz="1000" b="0" i="0" dirty="0" err="1">
                <a:solidFill>
                  <a:srgbClr val="666666"/>
                </a:solidFill>
                <a:latin typeface="Marianne"/>
              </a:rPr>
              <a:t>text</a:t>
            </a:r>
            <a:endParaRPr lang="fr-FR" sz="1000" b="0" i="0" dirty="0">
              <a:solidFill>
                <a:srgbClr val="666666"/>
              </a:solidFill>
              <a:latin typeface="Mariann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 titre décrit le contenu, puis le nom du site (ex. « Déclarer mes revenus - impots.gouv.fr »)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032588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85184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 dirty="0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45224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 dirty="0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25000"/>
              </a:lnSpc>
            </a:pPr>
            <a:r>
              <a:rPr lang="fr-FR" sz="1200" dirty="0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25000"/>
              </a:lnSpc>
            </a:pPr>
            <a:r>
              <a:rPr lang="fr-FR" sz="1200" dirty="0">
                <a:solidFill>
                  <a:srgbClr val="161616"/>
                </a:solidFill>
                <a:latin typeface="Marianne"/>
              </a:rPr>
              <a:t>• KO : « </a:t>
            </a:r>
            <a:r>
              <a:rPr lang="fr-FR" sz="1200" dirty="0" err="1">
                <a:solidFill>
                  <a:srgbClr val="161616"/>
                </a:solidFill>
                <a:latin typeface="Marianne"/>
              </a:rPr>
              <a:t>Untitled</a:t>
            </a:r>
            <a:r>
              <a:rPr lang="fr-FR" sz="1200" dirty="0">
                <a:solidFill>
                  <a:srgbClr val="161616"/>
                </a:solidFill>
                <a:latin typeface="Marianne"/>
              </a:rPr>
              <a:t>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SFR-accent-decoratif"/>
          <p:cNvSpPr/>
          <p:nvPr/>
        </p:nvSpPr>
        <p:spPr>
          <a:xfrm>
            <a:off x="475488" y="5032588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65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3200" b="1" i="0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3200" b="1" i="0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3200" b="1" i="0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accent-decoratif"/>
          <p:cNvSpPr/>
          <p:nvPr/>
        </p:nvSpPr>
        <p:spPr>
          <a:xfrm>
            <a:off x="475488" y="466344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8006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8920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3035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/>
          <p:cNvSpPr/>
          <p:nvPr/>
        </p:nvSpPr>
        <p:spPr>
          <a:xfrm>
            <a:off x="475488" y="48006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5. Lien d’évitement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8348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7492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8640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Ouvrez gouvernement.fr, appuyez sur Tab : le lien « Contenu » apparaît en haut à gauche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SFR-accent-decoratif"/>
          <p:cNvSpPr/>
          <p:nvPr/>
        </p:nvSpPr>
        <p:spPr>
          <a:xfrm>
            <a:off x="475488" y="498348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3600" b="1" i="0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21" name="DSFR-callout-body"/>
          <p:cNvSpPr txBox="1"/>
          <p:nvPr/>
        </p:nvSpPr>
        <p:spPr>
          <a:xfrm>
            <a:off x="704088" y="38176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5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DSFR-accent-decoratif"/>
          <p:cNvSpPr/>
          <p:nvPr/>
        </p:nvSpPr>
        <p:spPr>
          <a:xfrm>
            <a:off x="475488" y="33147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2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12585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12585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12585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600" b="1" i="0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600" b="1" i="0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600" b="1" i="0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accent-decoratif"/>
          <p:cNvSpPr/>
          <p:nvPr/>
        </p:nvSpPr>
        <p:spPr>
          <a:xfrm>
            <a:off x="431596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DSFR-accent-decoratif"/>
          <p:cNvSpPr/>
          <p:nvPr/>
        </p:nvSpPr>
        <p:spPr>
          <a:xfrm>
            <a:off x="815644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SFR-accent-decoratif"/>
          <p:cNvSpPr/>
          <p:nvPr/>
        </p:nvSpPr>
        <p:spPr>
          <a:xfrm>
            <a:off x="475488" y="3977639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18922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280659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69214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SFR-accent-decoratif"/>
          <p:cNvSpPr/>
          <p:nvPr/>
        </p:nvSpPr>
        <p:spPr>
          <a:xfrm>
            <a:off x="475488" y="518922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8348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7492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8640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SFR-accent-decoratif"/>
          <p:cNvSpPr/>
          <p:nvPr/>
        </p:nvSpPr>
        <p:spPr>
          <a:xfrm>
            <a:off x="475488" y="498348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554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SFR-accent-decoratif"/>
          <p:cNvSpPr/>
          <p:nvPr/>
        </p:nvSpPr>
        <p:spPr>
          <a:xfrm>
            <a:off x="475488" y="3977639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Pour une vidéo : la transcription DESCRIPTIVE inclut aussi l’action visible (utile aux aveugles)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39496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48640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89788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SFR-accent-decoratif"/>
          <p:cNvSpPr/>
          <p:nvPr/>
        </p:nvSpPr>
        <p:spPr>
          <a:xfrm>
            <a:off x="475488" y="539496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39496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532120"/>
            <a:ext cx="10863072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600" b="0" i="1">
                <a:solidFill>
                  <a:srgbClr val="161616"/>
                </a:solidFill>
                <a:latin typeface="Marianne"/>
              </a:rPr>
              <a:t>“ Sans audiodescription, une vidéo reste une porte fermée pour 1,7 million de personnes aveugles ou malvoyantes en France. ”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6217920"/>
            <a:ext cx="1086307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 b="1" i="0">
                <a:solidFill>
                  <a:srgbClr val="000091"/>
                </a:solidFill>
                <a:latin typeface="Marianne"/>
              </a:rPr>
              <a:t>- 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SFR-accent-decoratif"/>
          <p:cNvSpPr/>
          <p:nvPr/>
        </p:nvSpPr>
        <p:spPr>
          <a:xfrm>
            <a:off x="475488" y="539496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SFR-accent-decoratif"/>
          <p:cNvSpPr/>
          <p:nvPr/>
        </p:nvSpPr>
        <p:spPr>
          <a:xfrm>
            <a:off x="475488" y="3977639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8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9456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Un astérisque rouge est un signal visuel - il doit être doublé d’une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champs obligatoires sont indiqués textuellement (« obligatoire » ou « *requis »)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En cas d’erreur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39496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48640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89788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SFR-accent-decoratif"/>
          <p:cNvSpPr/>
          <p:nvPr/>
        </p:nvSpPr>
        <p:spPr>
          <a:xfrm>
            <a:off x="475488" y="539496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 dirty="0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 dirty="0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800" b="1" i="0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fr-FR" sz="1200" b="0" i="0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800" b="1" i="0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fr-FR" sz="1200" b="0" i="0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800" b="1" i="0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fr-FR" sz="1200" b="0" i="0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800" b="1" i="0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fr-FR" sz="1200" b="0" i="0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 dirty="0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stepper-connecteur-1-decoratif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DSFR-stepper-connecteur-2-decoratif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DSFR-stepper-connecteur-3-decoratif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202</TotalTime>
  <Words>4718</Words>
  <Application>Microsoft Macintosh PowerPoint</Application>
  <PresentationFormat>Grand écran</PresentationFormat>
  <Paragraphs>464</Paragraphs>
  <Slides>27</Slides>
  <Notes>27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Arial</vt:lpstr>
      <vt:lpstr>Calibri</vt:lpstr>
      <vt:lpstr>Marianne</vt:lpstr>
      <vt:lpstr>GOUVERNEMENT</vt:lpstr>
      <vt:lpstr>Présentation PowerPoint</vt:lpstr>
      <vt:lpstr>Présentation PowerPoint</vt:lpstr>
      <vt:lpstr>Présentation PowerPoint</vt:lpstr>
      <vt:lpstr>Alt text : 4 types d’images, 4 décisions</vt:lpstr>
      <vt:lpstr>Rédiger un alt text qui sert vraiment</vt:lpstr>
      <vt:lpstr>Alt text : passe ou échoue ?</vt:lpstr>
      <vt:lpstr>Titre de page : l’étiquette qui oriente</vt:lpstr>
      <vt:lpstr>Titres : la hiérarchie qui structure</vt:lpstr>
      <vt:lpstr>Titres : 3 façons de vérifier</vt:lpstr>
      <vt:lpstr>Contraste : un seuil chiffré, pas une opinion</vt:lpstr>
      <vt:lpstr>Contraste : 3 outils à avoir sous la main</vt:lpstr>
      <vt:lpstr>Lien d’évitement : le raccourci qui sauve 30 Tab</vt:lpstr>
      <vt:lpstr>Présentation PowerPoint</vt:lpstr>
      <vt:lpstr>5 touches, 3 intentions</vt:lpstr>
      <vt:lpstr>3 signaux qui trahissent un défaut</vt:lpstr>
      <vt:lpstr>Votre mission</vt:lpstr>
      <vt:lpstr>Langue de la page : l’accent juste du lecteur d’écran</vt:lpstr>
      <vt:lpstr>Zoom 200 % : tout doit rester lisible</vt:lpstr>
      <vt:lpstr>Sous-titres : le son que tout le monde lit</vt:lpstr>
      <vt:lpstr>Sous-titres auto : brouillon utile, livrable jamais</vt:lpstr>
      <vt:lpstr>Transcription : la version texte qui accompagne</vt:lpstr>
      <vt:lpstr>Audiodescription : la voix qui montre</vt:lpstr>
      <vt:lpstr>Étiquettes : chaque champ a un nom</vt:lpstr>
      <vt:lpstr>Placeholder ≠ étiquette</vt:lpstr>
      <vt:lpstr>Groupes de champs : l’étiquette commune</vt:lpstr>
      <vt:lpstr>Champs obligatoires : dits, pas juste marqués</vt:lpstr>
      <vt:lpstr>Votre mission : audit en 30 minutes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alex</cp:lastModifiedBy>
  <cp:revision>17</cp:revision>
  <dcterms:created xsi:type="dcterms:W3CDTF">2020-03-06T09:47:41Z</dcterms:created>
  <dcterms:modified xsi:type="dcterms:W3CDTF">2026-04-21T12:11:01Z</dcterms:modified>
  <dc:language>fr-FR</dc:language>
</cp:coreProperties>
</file>