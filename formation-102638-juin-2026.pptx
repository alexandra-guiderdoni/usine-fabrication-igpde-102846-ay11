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7" r:id="rId1"/>
  </p:sldMasterIdLst>
  <p:notesMasterIdLst>
    <p:notesMasterId r:id="rId18"/>
  </p:notesMasterIdLst>
  <p:handoutMasterIdLst>
    <p:handoutMasterId r:id="rId19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7"/>
    <p:sldId id="267" r:id="rId6"/>
    <p:sldId id="268" r:id="rId5"/>
    <p:sldId id="269" r:id="rId4"/>
    <p:sldId id="270" r:id="rId3"/>
    <p:sldId id="271" r:id="rId2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969" cy="6858000" type="screen16x9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mple" id="{1B2C009F-958F-4730-953E-C3BCDF6DEDF4}">
          <p14:sldIdLst>
            <p14:sldId id="342"/>
            <p14:sldId id="335"/>
            <p14:sldId id="336"/>
            <p14:sldId id="337"/>
            <p14:sldId id="348"/>
            <p14:sldId id="344"/>
            <p14:sldId id="347"/>
          </p14:sldIdLst>
        </p14:section>
        <p14:section name="IGPDE" id="{0B896E98-F45E-4768-8620-EDDF394BE181}">
          <p14:sldIdLst>
            <p14:sldId id="332"/>
            <p14:sldId id="331"/>
            <p14:sldId id="327"/>
            <p14:sldId id="340"/>
            <p14:sldId id="329"/>
            <p14:sldId id="330"/>
          </p14:sldIdLst>
        </p14:section>
        <p14:section name="MÉTHODOLOGIE" id="{EB03BDE6-D677-4574-A7BF-9721F91BDEB8}">
          <p14:sldIdLst>
            <p14:sldId id="319"/>
            <p14:sldId id="323"/>
            <p14:sldId id="32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orient="horz" pos="191">
          <p15:clr>
            <a:srgbClr val="A4A3A4"/>
          </p15:clr>
        </p15:guide>
        <p15:guide id="3" orient="horz" pos="854">
          <p15:clr>
            <a:srgbClr val="A4A3A4"/>
          </p15:clr>
        </p15:guide>
        <p15:guide id="4" orient="horz" pos="821">
          <p15:clr>
            <a:srgbClr val="A4A3A4"/>
          </p15:clr>
        </p15:guide>
        <p15:guide id="5" orient="horz" pos="3049">
          <p15:clr>
            <a:srgbClr val="A4A3A4"/>
          </p15:clr>
        </p15:guide>
        <p15:guide id="6" orient="horz" pos="3151">
          <p15:clr>
            <a:srgbClr val="A4A3A4"/>
          </p15:clr>
        </p15:guide>
        <p15:guide id="7" pos="2880">
          <p15:clr>
            <a:srgbClr val="A4A3A4"/>
          </p15:clr>
        </p15:guide>
        <p15:guide id="8" pos="476">
          <p15:clr>
            <a:srgbClr val="A4A3A4"/>
          </p15:clr>
        </p15:guide>
        <p15:guide id="9" pos="5193">
          <p15:clr>
            <a:srgbClr val="A4A3A4"/>
          </p15:clr>
        </p15:guide>
        <p15:guide id="10" pos="546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84" autoAdjust="0"/>
    <p:restoredTop sz="96224" autoAdjust="0"/>
  </p:normalViewPr>
  <p:slideViewPr>
    <p:cSldViewPr showGuides="1">
      <p:cViewPr varScale="1">
        <p:scale>
          <a:sx n="135" d="100"/>
          <a:sy n="135" d="100"/>
        </p:scale>
        <p:origin x="120" y="114"/>
      </p:cViewPr>
      <p:guideLst>
        <p:guide orient="horz" pos="1620"/>
        <p:guide orient="horz" pos="191"/>
        <p:guide orient="horz" pos="854"/>
        <p:guide orient="horz" pos="821"/>
        <p:guide orient="horz" pos="3049"/>
        <p:guide orient="horz" pos="3151"/>
        <p:guide pos="2880"/>
        <p:guide pos="476"/>
        <p:guide pos="5193"/>
        <p:guide pos="5465"/>
      </p:guideLst>
    </p:cSldViewPr>
  </p:slideViewPr>
  <p:outlineViewPr>
    <p:cViewPr>
      <p:scale>
        <a:sx n="33" d="100"/>
        <a:sy n="33" d="100"/>
      </p:scale>
      <p:origin x="0" y="-256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72" d="100"/>
        <a:sy n="172" d="100"/>
      </p:scale>
      <p:origin x="0" y="-3540"/>
    </p:cViewPr>
  </p:sorterViewPr>
  <p:notesViewPr>
    <p:cSldViewPr showGuides="1">
      <p:cViewPr varScale="1">
        <p:scale>
          <a:sx n="83" d="100"/>
          <a:sy n="83" d="100"/>
        </p:scale>
        <p:origin x="3132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6.xml"/><Relationship Id="rId3" Type="http://schemas.openxmlformats.org/officeDocument/2006/relationships/slide" Target="slides/slide15.xml"/><Relationship Id="rId4" Type="http://schemas.openxmlformats.org/officeDocument/2006/relationships/slide" Target="slides/slide14.xml"/><Relationship Id="rId5" Type="http://schemas.openxmlformats.org/officeDocument/2006/relationships/slide" Target="slides/slide13.xml"/><Relationship Id="rId6" Type="http://schemas.openxmlformats.org/officeDocument/2006/relationships/slide" Target="slides/slide12.xml"/><Relationship Id="rId7" Type="http://schemas.openxmlformats.org/officeDocument/2006/relationships/slide" Target="slides/slide1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DB2658-7BE8-4FC5-8F36-ABC54AD38E15}" type="datetimeFigureOut">
              <a:rPr lang="fr-FR" smtClean="0"/>
              <a:t>06/09/2024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23471C-61B7-441C-A48C-C1E234DDF52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66938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D680E798-53FF-4C51-A981-953463752515}" type="datetimeFigureOut">
              <a:rPr lang="fr-FR" smtClean="0"/>
              <a:pPr/>
              <a:t>06/09/2024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1B06CD8F-B7ED-4A05-9FB1-A01CC0EF02CC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662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Slide de couverture - accueil des stagiaires, tour de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Présenter les 4 objectifs, insister sur le caractère opérationnel.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Ouvrir par un chiffre : 97 % des pages web présentent au moins une violation WCAG détectable (source WebAIM Million 2024).</a:t>
            </a:r>
          </a:p>
          <a:p>
            <a:r>
              <a:rPr lang="fr-FR"/>
              <a:t>Les Easy Checks sont la trousse de secours du W3C : 13 vérifications qu’un non-technicien peut faire en 20 minutes pour savoir si une page mérite un audit approfondi.</a:t>
            </a:r>
          </a:p>
          <a:p>
            <a:r>
              <a:rPr lang="fr-FR"/>
              <a:t>Annoncer le plan : 13 checks, chacun traité sur 1 à 4 slides selon sa complexité.</a:t>
            </a:r>
          </a:p>
          <a:p>
            <a:r>
              <a:rPr lang="fr-FR"/>
              <a:t>À la fin du module : mission d’audit groupé sur une page de votre choix.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: « Cette carte de métro, quel type ? » (complexe).</a:t>
            </a:r>
          </a:p>
          <a:p>
            <a:r>
              <a:rPr lang="fr-FR"/>
              <a:t>Insister sur le décoratif - c’est le plus mal compris.</a:t>
            </a:r>
          </a:p>
          <a:p>
            <a:r>
              <a:rPr lang="fr-FR"/>
              <a:t>Un séparateur graphique avec alt="ligne bleue" pollue le lecteur d’écran.</a:t>
            </a:r>
          </a:p>
          <a:p>
            <a:r>
              <a:rPr lang="fr-FR"/>
              <a:t>Règle mnémo : si je retire l’image, est-ce que je perds une info ?</a:t>
            </a:r>
          </a:p>
          <a:p>
            <a:r>
              <a:rPr lang="fr-FR"/>
              <a:t>Si non → alt vide.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Prédiction avant de montrer les 5 règles : « Combien de caractères max pour un bon alt ? » La plupart diront 255 - la bonne réponse est 125 (JAWS coupe au-delà).</a:t>
            </a:r>
          </a:p>
          <a:p>
            <a:r>
              <a:rPr lang="fr-FR"/>
              <a:t>Exemple live : une photo du ministère avec alt="photo du ministère de Bercy prise en 2023" → refactorer en "Ministère de Bercy, façade ouest." - même info, moitié de caractères.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Masquer la colonne verdict et demander à voter pour chaque ligne.</a:t>
            </a:r>
          </a:p>
          <a:p>
            <a:r>
              <a:rPr lang="fr-FR"/>
              <a:t>Débrief rapide après chaque cas : pourquoi KO ? que rédiger à la place ?</a:t>
            </a:r>
          </a:p>
          <a:p>
            <a:r>
              <a:rPr lang="fr-FR"/>
              <a:t>Ligne 5 (loupe) est le piège le plus commun : on décrit ce qu’on voit, pas ce que l’utilisateur fera en cliquant.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live : ouvrir 3 onglets de sites publics, demander lequel est identifiable juste à l’étiquette.</a:t>
            </a:r>
          </a:p>
          <a:p>
            <a:r>
              <a:rPr lang="fr-FR"/>
              <a:t>Piège des CMS : beaucoup héritent du titre du template - toutes les pages « Accueil ».</a:t>
            </a:r>
          </a:p>
          <a:p>
            <a:r>
              <a:rPr lang="fr-FR"/>
              <a:t>Outil : survoler l’onglet dans le navigateur ou regarder la balise &lt;title&gt;.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un document Word où tout le texte est en gras 18 pt n’a pas de plan.</a:t>
            </a:r>
          </a:p>
          <a:p>
            <a:r>
              <a:rPr lang="fr-FR"/>
              <a:t>Même principe sur le web.</a:t>
            </a:r>
          </a:p>
          <a:p>
            <a:r>
              <a:rPr lang="fr-FR"/>
              <a:t>Prédire : « Quel est le saut de hiérarchie le plus fréquent ? » (H2 → H4, parce que H3 « n’est pas assez joli »).</a:t>
            </a:r>
          </a:p>
          <a:p>
            <a:r>
              <a:rPr lang="fr-FR"/>
              <a:t>Outil : l’extension HeadingsMap pour Chrome / Firefox affiche l’arbre des titres en un clic.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HeadingsMap sur legifrance.gouv.fr ou service-public.fr.</a:t>
            </a:r>
          </a:p>
          <a:p>
            <a:r>
              <a:rPr lang="fr-FR"/>
              <a:t>Engagement (R24) : chaque stagiaire teste sa page d’accueil personnelle ou professionnelle ce soir et note le nombre de H1 détectés - idéalement 1, souvent 0 ou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lire un SMS à 3 h du matin sur un écran en plein soleil - c’est ce que vit un malvoyant en permanence avec un contraste trop faible.</a:t>
            </a:r>
          </a:p>
          <a:p>
            <a:r>
              <a:rPr lang="fr-FR"/>
              <a:t>Rappeler : le contraste est le critère a11y le plus souvent échoué (56 % des sites échouent, WebAIM 2024).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live : prendre la page d’accueil de Bercy et mesurer 3 textes au hasard.</a:t>
            </a:r>
          </a:p>
          <a:p>
            <a:r>
              <a:rPr lang="fr-FR"/>
              <a:t>Laisser les stagiaires deviner avant la mesure.</a:t>
            </a:r>
          </a:p>
          <a:p>
            <a:r>
              <a:rPr lang="fr-FR"/>
              <a:t>Engagement (R24) : choisissez votre outil préféré d’ici la fin de la session et testez 5 couleurs de votre charte dans la semaine.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l’ascenseur dans un immeuble.</a:t>
            </a:r>
          </a:p>
          <a:p>
            <a:r>
              <a:rPr lang="fr-FR"/>
              <a:t>Sans ascenseur, chacun monte les 10 étages à pied - y compris les personnes qui ne peuvent pas.</a:t>
            </a:r>
          </a:p>
          <a:p>
            <a:r>
              <a:rPr lang="fr-FR"/>
              <a:t>Faire deviner : combien de tabulations sur la page de leur intranet pour arriver au contenu ? (réponse typique : 15-30).</a:t>
            </a:r>
          </a:p>
          <a:p>
            <a:r>
              <a:rPr lang="fr-FR"/>
              <a:t>Rappel : le lien d’évitement peut être masqué visuellement mais doit apparaître au focus clavier.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Annoncer le rattachement : cette séquence correspond à l’Easy Check n° 6 du W3C « Focus clavier visible » (WCAG 2.4.7), qu’on élargit ici à la navigation clavier complète (tabulation, activation, lecture).</a:t>
            </a:r>
          </a:p>
          <a:p>
            <a:r>
              <a:rPr lang="fr-FR"/>
              <a:t>Corpus de référence local : 03-easy-checks/w3c-easy-checks-fr.md.</a:t>
            </a:r>
          </a:p>
          <a:p>
            <a:r>
              <a:rPr lang="fr-FR"/>
              <a:t>Ouvrir par une question : « Posez la main loin de la souris.</a:t>
            </a:r>
          </a:p>
          <a:p>
            <a:r>
              <a:rPr lang="fr-FR"/>
              <a:t>Combien de temps tenez-vous sur votre site préféré ? » Laisser 10 secondes de silence.</a:t>
            </a:r>
          </a:p>
          <a:p>
            <a:r>
              <a:rPr lang="fr-FR"/>
              <a:t>Analogie : le clavier est le GPS de votre site - s’il ne s’allume pas, personne ne trouve la route.</a:t>
            </a:r>
          </a:p>
          <a:p>
            <a:r>
              <a:rPr lang="fr-FR"/>
              <a:t>Objectif : transformer le regard des stagiaires.</a:t>
            </a:r>
          </a:p>
          <a:p>
            <a:r>
              <a:rPr lang="fr-FR"/>
              <a:t>Après cette slide, ils ne regarderont plus une page comme 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avant de révéler la 3e colonne (R11) : « Devinez ce qui doit se passer quand j’appuie sur Tab ».</a:t>
            </a:r>
          </a:p>
          <a:p>
            <a:r>
              <a:rPr lang="fr-FR"/>
              <a:t>Insister sur l’indicateur de focus visible - c’est LE critère qui tombe en premier.</a:t>
            </a:r>
          </a:p>
          <a:p>
            <a:r>
              <a:rPr lang="fr-FR"/>
              <a:t>Piège fréquent : un site qui n’annonce jamais l’état d’une case à cocher (ligne Espace).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Avant de révéler les 3 cartes, demander : « Quel est le signal qui vous semble le plus grave ? » Laisser parler 2 stagiaires.</a:t>
            </a:r>
          </a:p>
          <a:p>
            <a:r>
              <a:rPr lang="fr-FR"/>
              <a:t>Rappel rassurant (R18) : détecter un de ces signaux n’est pas une faute du développeur, c’est le signe qu’un test clavier n’a jamais été fait.</a:t>
            </a:r>
          </a:p>
          <a:p>
            <a:r>
              <a:rPr lang="fr-FR"/>
              <a:t>Votre rôle :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l’URL du site d’entraînement (fabriqué en interne, avec pièges volontaires).</a:t>
            </a:r>
          </a:p>
          <a:p>
            <a:r>
              <a:rPr lang="fr-FR"/>
              <a:t>Chronométrer 5 minutes.</a:t>
            </a:r>
          </a:p>
          <a:p>
            <a:r>
              <a:rPr lang="fr-FR"/>
              <a:t>Débriefer en collectif : quel signal a été le plus difficile à repérer ? pourquoi ?</a:t>
            </a:r>
          </a:p>
          <a:p>
            <a:r>
              <a:rPr lang="fr-FR"/>
              <a:t>Clore le module avec la question métacognitive (R25) : « Qu’est-ce qui vous aurait aidé à repérer plus vite ? » Engagement : chaque stagiaire annonce ce qu’il testera dès demain sur son propre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activer VoiceOver ou NVDA sur une page sans lang, écouter l’accent massacré.</a:t>
            </a:r>
          </a:p>
          <a:p>
            <a:r>
              <a:rPr lang="fr-FR"/>
              <a:t>Analogie : un comédien à qui on ne dit pas dans quelle langue jouer - il bute sur chaque mot.</a:t>
            </a:r>
          </a:p>
          <a:p>
            <a:r>
              <a:rPr lang="fr-FR"/>
              <a:t>Piège : les sites institutionnels français oublient souvent lang="fr" par défaut sur le 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zoomer, c’est mettre des lunettes.</a:t>
            </a:r>
          </a:p>
          <a:p>
            <a:r>
              <a:rPr lang="fr-FR"/>
              <a:t>Votre site doit rester opérationnel avec les lunettes.</a:t>
            </a:r>
          </a:p>
          <a:p>
            <a:r>
              <a:rPr lang="fr-FR"/>
              <a:t>Test immédiat : demander à 2 stagiaires de zoomer à 200 % sur leur intranet et de tenter de remplir un formulaire.</a:t>
            </a:r>
          </a:p>
          <a:p>
            <a:r>
              <a:rPr lang="fr-FR"/>
              <a:t>Souvent, un champ ou un bouton devient inaccessible.</a:t>
            </a:r>
          </a:p>
          <a:p>
            <a:r>
              <a:rPr lang="fr-FR"/>
              <a:t>Ne pas confondre zoom navigateur (OK) et zoom tactile (mobile) - les deux doivent fonctionner.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dans un train bruyant, même un entendant lit les sous-titres.</a:t>
            </a:r>
          </a:p>
          <a:p>
            <a:r>
              <a:rPr lang="fr-FR"/>
              <a:t>Bénéficiaires (faire deviner) : sourds/malentendants (6 millions en France), utilisateurs en open space, apprenants d’une langue étrangère, personnes qui préfèrent lire.</a:t>
            </a:r>
          </a:p>
          <a:p>
            <a:r>
              <a:rPr lang="fr-FR"/>
              <a:t>Nuance capitale : une transcription écrite sur la page n’est PAS un sous-titre - les deux sont utiles, pas interchangeables.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: « Quel est le taux d’erreur moyen d’un sous-titrage auto en français ? » (20 %, soit 1 mot sur 5).</a:t>
            </a:r>
          </a:p>
          <a:p>
            <a:r>
              <a:rPr lang="fr-FR"/>
              <a:t>Exemple concret à projeter : une vidéo ministérielle avec sous-titres auto - pointer 3 erreurs.</a:t>
            </a:r>
          </a:p>
          <a:p>
            <a:r>
              <a:rPr lang="fr-FR"/>
              <a:t>Règle d’or (R18) : l’automatique est un allié pour brouillonner, une faute s’il est publié tel quel.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Différence avec les sous-titres : sous-titres = synchronisés avec la vidéo, transcription = texte autonome lisible hors vidéo.</a:t>
            </a:r>
          </a:p>
          <a:p>
            <a:r>
              <a:rPr lang="fr-FR"/>
              <a:t>Les deux coexistent pour une vidéo de référence.</a:t>
            </a:r>
          </a:p>
          <a:p>
            <a:r>
              <a:rPr lang="fr-FR"/>
              <a:t>Piège : publier une transcription brute générée par Whisper sans relecture - bourrée d’erreurs.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montrer 30 secondes d’un film d’animation sans dialogue, puis avec audiodescription.</a:t>
            </a:r>
          </a:p>
          <a:p>
            <a:r>
              <a:rPr lang="fr-FR"/>
              <a:t>Le contraste est saisissant.</a:t>
            </a:r>
          </a:p>
          <a:p>
            <a:r>
              <a:rPr lang="fr-FR"/>
              <a:t>Exception pratique : si la vidéo est entièrement commentée en voix off (ex. reportage narré), l’audiodescription est souvent superflue - tout est déjà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une rue d’immeubles où les boîtes aux lettres n’ont aucun nom - impossible de distribuer.</a:t>
            </a:r>
          </a:p>
          <a:p>
            <a:r>
              <a:rPr lang="fr-FR"/>
              <a:t>Test décisif : cliquer sur le TEXTE de l’étiquette.</a:t>
            </a:r>
          </a:p>
          <a:p>
            <a:r>
              <a:rPr lang="fr-FR"/>
              <a:t>Si le curseur saute dans le champ, c’est bien balisé.</a:t>
            </a:r>
          </a:p>
          <a:p>
            <a:r>
              <a:rPr lang="fr-FR"/>
              <a:t>Sinon, l’association est cassée - même si visuellement ça semble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formulaire courant (type CAF, impots.gouv) avec labels floating - zoomer à 200 % et montrer que l’étiquette disparaît derrière le texte saisi.</a:t>
            </a:r>
          </a:p>
          <a:p>
            <a:r>
              <a:rPr lang="fr-FR"/>
              <a:t>Règle pragmatique : si on doit choisir entre joli et utilisable, on choisit utilisable.</a:t>
            </a:r>
          </a:p>
          <a:p>
            <a:r>
              <a:rPr lang="fr-FR"/>
              <a:t>Les labels au-dessus du champ sont plus hauts mais clairs pour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sans &lt;fieldset&gt;/&lt;legend&gt;, les radios sont comme des enfants sans nom de famille - on les entend, on ne sait pas à quelle question ils répondent.</a:t>
            </a:r>
          </a:p>
          <a:p>
            <a:r>
              <a:rPr lang="fr-FR"/>
              <a:t>Côté visuel : le fieldset se traduit souvent par une bordure ou un titre de section - le design peut l’habiller, il ne doit pas le supprimer.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Règle d’or : couleur seule = information perdue pour les aveugles et les daltoniens.</a:t>
            </a:r>
          </a:p>
          <a:p>
            <a:r>
              <a:rPr lang="fr-FR"/>
              <a:t>Exemple à tester : un champ obligatoire marqué uniquement par astérisque rouge - lecteur d’écran n’annonce rien.</a:t>
            </a:r>
          </a:p>
          <a:p>
            <a:r>
              <a:rPr lang="fr-FR"/>
              <a:t>Message d’erreur à éviter : « Erreur champ 3 » → préférer « Votre adresse électronique est obligatoire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la grille d’audit : 03-easy-checks/grille-audit-easy-checks.xlsx.</a:t>
            </a:r>
          </a:p>
          <a:p>
            <a:r>
              <a:rPr lang="fr-FR"/>
              <a:t>Onglet Grille vierge à dupliquer par stagiaire, onglet Exemple pour s’orienter, onglet Synthèse pour consolider.</a:t>
            </a:r>
          </a:p>
          <a:p>
            <a:r>
              <a:rPr lang="fr-FR"/>
              <a:t>Timing : 20 min audit individuel, 5 min binôme, 5 min restitution collective.</a:t>
            </a:r>
          </a:p>
          <a:p>
            <a:r>
              <a:rPr lang="fr-FR"/>
              <a:t>Outils autorisés : DevTools, HeadingsMap, Colour Contrast Analyser, clavier + casque audio.</a:t>
            </a:r>
          </a:p>
          <a:p>
            <a:r>
              <a:rPr lang="fr-FR"/>
              <a:t>Clôture métacognitive (R25) : « Quel check vous a surpris ?</a:t>
            </a:r>
          </a:p>
          <a:p>
            <a:r>
              <a:rPr lang="fr-FR"/>
              <a:t>Quel est le plus facile à faire adopter dans votre équipe ? » Engagement (R24) : chaque stagiaire annonce UNE action qu’il lancera dès demain 9 h.</a:t>
            </a:r>
          </a:p>
          <a:p>
            <a:r>
              <a:rPr lang="fr-FR"/>
              <a:t>Livrable individuel : grille Easy Checks remplie + 3 actions priorisées + 1 engagement personnel.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uver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/>
              <a:t>XX/XX/XXXX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959997" y="5226516"/>
            <a:ext cx="4319989" cy="1199997"/>
          </a:xfrm>
        </p:spPr>
        <p:txBody>
          <a:bodyPr anchor="b" anchorCtr="0"/>
          <a:lstStyle>
            <a:lvl1pPr>
              <a:defRPr sz="1150"/>
            </a:lvl1pPr>
          </a:lstStyle>
          <a:p>
            <a:r>
              <a:rPr lang="fr-FR" dirty="0"/>
              <a:t>Institut de la Gestion publique </a:t>
            </a:r>
            <a:br>
              <a:rPr lang="fr-FR" dirty="0"/>
            </a:br>
            <a:r>
              <a:rPr lang="fr-FR" dirty="0"/>
              <a:t>et du Développement économique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pic>
        <p:nvPicPr>
          <p:cNvPr id="8" name="Imag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69" y="260647"/>
            <a:ext cx="4579487" cy="4149096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299" y="776635"/>
            <a:ext cx="3132658" cy="3132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6109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  <p15:guide id="3" orient="horz" pos="386" userDrawn="1">
          <p15:clr>
            <a:srgbClr val="FBAE40"/>
          </p15:clr>
        </p15:guide>
        <p15:guide id="4" pos="443" userDrawn="1">
          <p15:clr>
            <a:srgbClr val="FBAE40"/>
          </p15:clr>
        </p15:guide>
        <p15:guide id="5" orient="horz" pos="303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re et sous-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1" name="Espace réservé du texte 10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8" y="3128053"/>
            <a:ext cx="11231971" cy="2769593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3250" b="1" cap="all" baseline="0"/>
            </a:lvl1pPr>
            <a:lvl2pPr marL="0" indent="0">
              <a:spcBef>
                <a:spcPts val="500"/>
              </a:spcBef>
              <a:spcAft>
                <a:spcPts val="0"/>
              </a:spcAft>
              <a:buNone/>
              <a:defRPr sz="18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cxnSp>
        <p:nvCxnSpPr>
          <p:cNvPr id="12" name="Connecteur droit 11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227" y="212775"/>
            <a:ext cx="2143038" cy="1941631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467" y="465665"/>
            <a:ext cx="1464915" cy="1464915"/>
          </a:xfrm>
          <a:prstGeom prst="rect">
            <a:avLst/>
          </a:prstGeom>
        </p:spPr>
      </p:pic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</a:t>
            </a:r>
          </a:p>
        </p:txBody>
      </p:sp>
    </p:spTree>
    <p:extLst>
      <p:ext uri="{BB962C8B-B14F-4D97-AF65-F5344CB8AC3E}">
        <p14:creationId xmlns:p14="http://schemas.microsoft.com/office/powerpoint/2010/main" val="3483904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6" y="2522617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415988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351977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1641030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983997"/>
            <a:ext cx="12191969" cy="5875185"/>
          </a:xfrm>
          <a:solidFill>
            <a:schemeClr val="bg1">
              <a:lumMod val="85000"/>
            </a:schemeClr>
          </a:solidFill>
        </p:spPr>
        <p:txBody>
          <a:bodyPr tIns="1080000" anchor="ctr" anchorCtr="0"/>
          <a:lstStyle>
            <a:lvl1pPr algn="ctr">
              <a:defRPr cap="all" baseline="0"/>
            </a:lvl1pPr>
          </a:lstStyle>
          <a:p>
            <a:r>
              <a:rPr lang="fr-FR" dirty="0"/>
              <a:t>Sélectionner l’icône pour insérer une image, </a:t>
            </a:r>
            <a:br>
              <a:rPr lang="fr-FR" dirty="0"/>
            </a:br>
            <a:r>
              <a:rPr lang="fr-FR" dirty="0"/>
              <a:t>puis disposer l’image en arrière plan </a:t>
            </a:r>
            <a:br>
              <a:rPr lang="fr-FR" dirty="0"/>
            </a:br>
            <a:r>
              <a:rPr lang="fr-FR" dirty="0"/>
              <a:t>(Sélectionner l’image avec le bouton droit de la souris / </a:t>
            </a:r>
            <a:br>
              <a:rPr lang="fr-FR" dirty="0"/>
            </a:br>
            <a:r>
              <a:rPr lang="fr-FR" dirty="0"/>
              <a:t>Mettre à l’arrière plan)</a:t>
            </a: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983997"/>
            <a:ext cx="11231971" cy="5395186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solidFill>
              <a:schemeClr val="tx1"/>
            </a:solidFill>
          </a:ln>
        </p:spPr>
        <p:txBody>
          <a:bodyPr lIns="0" bIns="360000" anchor="ctr" anchorCtr="0"/>
          <a:lstStyle>
            <a:lvl1pPr marL="396000" indent="-396000">
              <a:buFont typeface="+mj-lt"/>
              <a:buAutoNum type="arabicPeriod"/>
              <a:defRPr sz="3250"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08596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textes 3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9997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3" name="Espace réservé du texte 11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415988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4" name="Espace réservé du texte 11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8351979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</p:spTree>
    <p:extLst>
      <p:ext uri="{BB962C8B-B14F-4D97-AF65-F5344CB8AC3E}">
        <p14:creationId xmlns:p14="http://schemas.microsoft.com/office/powerpoint/2010/main" val="3840454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/>
          <a:p>
            <a:r>
              <a:rPr lang="fr-FR" noProof="0" dirty="0"/>
              <a:t>Titre</a:t>
            </a:r>
            <a:endParaRPr lang="fr-FR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9" name="Espace réservé du contenu 8"/>
          <p:cNvSpPr>
            <a:spLocks noGrp="1"/>
          </p:cNvSpPr>
          <p:nvPr>
            <p:ph sz="quarter" idx="14" hasCustomPrompt="1"/>
          </p:nvPr>
        </p:nvSpPr>
        <p:spPr bwMode="gray">
          <a:xfrm>
            <a:off x="479996" y="2447993"/>
            <a:ext cx="1123197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5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jpg"/><Relationship Id="rId9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479997" y="1199997"/>
            <a:ext cx="11231971" cy="95999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 noProof="0" dirty="0"/>
              <a:t>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479997" y="2447993"/>
            <a:ext cx="11231971" cy="343199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fr-FR" noProof="0" dirty="0"/>
              <a:t>Texte de niveau 1</a:t>
            </a:r>
          </a:p>
          <a:p>
            <a:pPr lvl="1"/>
            <a:r>
              <a:rPr lang="fr-FR" noProof="0" dirty="0"/>
              <a:t>Texte de niveau 2</a:t>
            </a:r>
          </a:p>
          <a:p>
            <a:pPr lvl="2"/>
            <a:r>
              <a:rPr lang="fr-FR" noProof="0" dirty="0"/>
              <a:t>Texte de niveau 3</a:t>
            </a:r>
          </a:p>
          <a:p>
            <a:pPr lvl="3"/>
            <a:r>
              <a:rPr lang="fr-FR" noProof="0" dirty="0"/>
              <a:t>Texte de niveau 4</a:t>
            </a:r>
          </a:p>
          <a:p>
            <a:pPr lvl="4"/>
            <a:r>
              <a:rPr lang="fr-FR" noProof="0" dirty="0"/>
              <a:t>Texte de niveau 5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 bwMode="gray">
          <a:xfrm>
            <a:off x="10151974" y="6377984"/>
            <a:ext cx="1559996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ctr">
              <a:defRPr sz="750" b="1">
                <a:solidFill>
                  <a:schemeClr val="tx1"/>
                </a:solidFill>
              </a:defRPr>
            </a:lvl1pPr>
          </a:lstStyle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 bwMode="gray">
          <a:xfrm>
            <a:off x="479998" y="6377984"/>
            <a:ext cx="7871980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>
              <a:defRPr sz="750" b="1">
                <a:solidFill>
                  <a:schemeClr val="tx1"/>
                </a:solidFill>
              </a:defRPr>
            </a:lvl1pPr>
          </a:lstStyle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gray">
          <a:xfrm>
            <a:off x="8351979" y="6377984"/>
            <a:ext cx="1799995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r">
              <a:defRPr sz="750" b="1">
                <a:solidFill>
                  <a:schemeClr val="tx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cxnSp>
        <p:nvCxnSpPr>
          <p:cNvPr id="10" name="Connecteur droit 9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976" y="147038"/>
            <a:ext cx="737074" cy="667800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961" y="243271"/>
            <a:ext cx="477928" cy="47792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08" r:id="rId1"/>
    <p:sldLayoutId id="2147483812" r:id="rId2"/>
    <p:sldLayoutId id="2147483810" r:id="rId3"/>
    <p:sldLayoutId id="2147483811" r:id="rId4"/>
    <p:sldLayoutId id="2147483809" r:id="rId5"/>
    <p:sldLayoutId id="2147483798" r:id="rId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55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500"/>
        </a:spcAft>
        <a:buFont typeface="Arial" pitchFamily="34" charset="0"/>
        <a:buNone/>
        <a:defRPr sz="105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52000" indent="-7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itchFamily="34" charset="0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2pPr>
      <a:lvl3pPr marL="43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3pPr>
      <a:lvl4pPr marL="61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828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8348472" y="6382512"/>
            <a:ext cx="1801368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</a:t>
            </a:r>
            <a:endParaRPr lang="fr-FR" dirty="0"/>
          </a:p>
        </p:txBody>
      </p:sp>
      <p:sp>
        <p:nvSpPr>
          <p:cNvPr id="8" name="Title-DSFR-couverture"/>
          <p:cNvSpPr txBox="1"/>
          <p:nvPr/>
        </p:nvSpPr>
        <p:spPr>
          <a:xfrm>
            <a:off x="5303520" y="4114800"/>
            <a:ext cx="649224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Accessibilité numérique</a:t>
            </a:r>
          </a:p>
        </p:txBody>
      </p:sp>
      <p:sp>
        <p:nvSpPr>
          <p:cNvPr id="9" name="DSFR-couverture-soustitre"/>
          <p:cNvSpPr txBox="1"/>
          <p:nvPr/>
        </p:nvSpPr>
        <p:spPr>
          <a:xfrm>
            <a:off x="5303520" y="4846320"/>
            <a:ext cx="649224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1400" b="1" i="0" lang="fr-FR">
                <a:solidFill>
                  <a:srgbClr val="E1000F"/>
                </a:solidFill>
                <a:latin typeface="Marianne"/>
              </a:rPr>
              <a:t>Formation 102638 | Bureautique et web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10149840" y="6382512"/>
            <a:ext cx="1563624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475488" y="6382512"/>
            <a:ext cx="7872983" cy="475488"/>
          </a:xfrm>
        </p:spPr>
        <p:txBody>
          <a:bodyPr anchor="t" anchorCtr="0" wrap="square" lIns="73152" rIns="73152"/>
          <a:lstStyle>
            <a:lvl1pPr>
              <a:defRPr sz="1150" lang="fr-FR"/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Institut de la Gestion publique et du Développement économique</a:t>
            </a:r>
          </a:p>
        </p:txBody>
      </p:sp>
      <p:cxnSp>
        <p:nvCxnSpPr>
          <p:cNvPr id="7" name="IGPDE-footer-ligne-decoratif" descr=""/>
          <p:cNvCxnSpPr/>
          <p:nvPr/>
        </p:nvCxnSpPr>
        <p:spPr>
          <a:xfrm>
            <a:off x="475488" y="6373368"/>
            <a:ext cx="11228831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Objectifs pédagogiques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306324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llout-titre"/>
          <p:cNvSpPr txBox="1"/>
          <p:nvPr/>
        </p:nvSpPr>
        <p:spPr>
          <a:xfrm>
            <a:off x="704088" y="315468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l’issue de cette formation, les stagiaires sauront :</a:t>
            </a:r>
          </a:p>
        </p:txBody>
      </p:sp>
      <p:sp>
        <p:nvSpPr>
          <p:cNvPr id="18" name="DSFR-callout-body"/>
          <p:cNvSpPr txBox="1"/>
          <p:nvPr/>
        </p:nvSpPr>
        <p:spPr>
          <a:xfrm>
            <a:off x="704088" y="3566160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Identifier les critères RGAA 4.1.2 applicables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Produire un document bureautique accessible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Auditer une page web avec les outils standards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Remédier aux non-conformités détectées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Objectifs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306324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3. Les 13 Easy Checks du W3C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4 types d’images, 4 décisions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L’alt text est le sous-titre de l’image - sans lui, 5 % des lecteurs voient une page muette.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46120"/>
            <a:ext cx="2542032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704088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Informative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704088" y="4389120"/>
            <a:ext cx="2249424" cy="112585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Apporte une info : photo d’un bâtiment, graphique.
→ alt descriptif court.</a:t>
            </a:r>
          </a:p>
        </p:txBody>
      </p:sp>
      <p:sp>
        <p:nvSpPr>
          <p:cNvPr id="17" name="DSFR-box"/>
          <p:cNvSpPr/>
          <p:nvPr/>
        </p:nvSpPr>
        <p:spPr>
          <a:xfrm>
            <a:off x="3419856" y="3246120"/>
            <a:ext cx="2542032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rd-titre"/>
          <p:cNvSpPr txBox="1"/>
          <p:nvPr/>
        </p:nvSpPr>
        <p:spPr>
          <a:xfrm>
            <a:off x="3575303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Décorative</a:t>
            </a:r>
          </a:p>
        </p:txBody>
      </p:sp>
      <p:sp>
        <p:nvSpPr>
          <p:cNvPr id="20" name="DSFR-card-contenu"/>
          <p:cNvSpPr txBox="1"/>
          <p:nvPr/>
        </p:nvSpPr>
        <p:spPr>
          <a:xfrm>
            <a:off x="3575303" y="4389120"/>
            <a:ext cx="2249424" cy="112585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Pure ambiance : séparateur, icône floue.
→ alt="" (vide).</a:t>
            </a:r>
          </a:p>
        </p:txBody>
      </p:sp>
      <p:sp>
        <p:nvSpPr>
          <p:cNvPr id="22" name="DSFR-box"/>
          <p:cNvSpPr/>
          <p:nvPr/>
        </p:nvSpPr>
        <p:spPr>
          <a:xfrm>
            <a:off x="6291071" y="3246120"/>
            <a:ext cx="2542032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card-titre"/>
          <p:cNvSpPr txBox="1"/>
          <p:nvPr/>
        </p:nvSpPr>
        <p:spPr>
          <a:xfrm>
            <a:off x="6446519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Fonctionnelle</a:t>
            </a:r>
          </a:p>
        </p:txBody>
      </p:sp>
      <p:sp>
        <p:nvSpPr>
          <p:cNvPr id="25" name="DSFR-card-contenu"/>
          <p:cNvSpPr txBox="1"/>
          <p:nvPr/>
        </p:nvSpPr>
        <p:spPr>
          <a:xfrm>
            <a:off x="6446519" y="4389120"/>
            <a:ext cx="2249424" cy="112585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Dans un lien ou un bouton : logo cliquable, picto.
→ alt = action attendue.</a:t>
            </a:r>
          </a:p>
        </p:txBody>
      </p:sp>
      <p:sp>
        <p:nvSpPr>
          <p:cNvPr id="27" name="DSFR-box"/>
          <p:cNvSpPr/>
          <p:nvPr/>
        </p:nvSpPr>
        <p:spPr>
          <a:xfrm>
            <a:off x="9162287" y="3246120"/>
            <a:ext cx="2542032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SFR-card-titre"/>
          <p:cNvSpPr txBox="1"/>
          <p:nvPr/>
        </p:nvSpPr>
        <p:spPr>
          <a:xfrm>
            <a:off x="9317735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Complexe</a:t>
            </a:r>
          </a:p>
        </p:txBody>
      </p:sp>
      <p:sp>
        <p:nvSpPr>
          <p:cNvPr id="30" name="DSFR-card-contenu"/>
          <p:cNvSpPr txBox="1"/>
          <p:nvPr/>
        </p:nvSpPr>
        <p:spPr>
          <a:xfrm>
            <a:off x="9317735" y="4389120"/>
            <a:ext cx="2249424" cy="112585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Diagramme, schéma, infographie.
→ alt court + description longue à part.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  <p:sp>
        <p:nvSpPr>
          <p:cNvPr id="13" name="DSFR-card-numero"/>
          <p:cNvSpPr/>
          <p:nvPr/>
        </p:nvSpPr>
        <p:spPr>
          <a:xfrm>
            <a:off x="704088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8" name="DSFR-card-numero"/>
          <p:cNvSpPr/>
          <p:nvPr/>
        </p:nvSpPr>
        <p:spPr>
          <a:xfrm>
            <a:off x="3575303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3" name="DSFR-card-numero"/>
          <p:cNvSpPr/>
          <p:nvPr/>
        </p:nvSpPr>
        <p:spPr>
          <a:xfrm>
            <a:off x="6446519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8" name="DSFR-card-numero"/>
          <p:cNvSpPr/>
          <p:nvPr/>
        </p:nvSpPr>
        <p:spPr>
          <a:xfrm>
            <a:off x="9317735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461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3346703" y="32461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ccent-decoratif" descr=""/>
          <p:cNvSpPr/>
          <p:nvPr/>
        </p:nvSpPr>
        <p:spPr>
          <a:xfrm>
            <a:off x="6217919" y="32461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accent-decoratif" descr=""/>
          <p:cNvSpPr/>
          <p:nvPr/>
        </p:nvSpPr>
        <p:spPr>
          <a:xfrm>
            <a:off x="9089135" y="32461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Rédiger un alt text qui sert vraiment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7602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règles pour un alt text utile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1658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Concis : 125 caractères maximum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Objectif : décrit, ne commente pas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Pas de « photo de » ni « image de » - le lecteur d’écran le dit déjà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Contextuel : ce qui compte dans cette page, pas tout ce qui est visible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Ponctué : point final, pour que le lecteur marque la pause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183380"/>
            <a:ext cx="11155680" cy="1143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704088" y="427482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Piège fréquent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704088" y="4686300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Un nom de fichier (IMG_4578.jpg) en guise d’alt = alt absent pour l’utilisateur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Un alt qui décrit la décoration au lieu du contenu utile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760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183380"/>
            <a:ext cx="73152" cy="1143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passe ou échoue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4187952"/>
                <a:gridCol w="3200400"/>
              </a:tblGrid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Image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Alt proposé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Verdict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Logo ministère dans l’en-tête (lien vers l’accueil)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alt="Ministère de l’Économie - Accueil"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fonctionnelle, action nommée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Photo d’illustration d’un article sur la fraude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alt="image"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KO - aucune information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Séparateur graphique entre deux sections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décorative, alt vide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Graphique de répartition budgétaire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alt="graphique montrant la répartition du budget 2026, voir détail ci-dessous"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alt court + renvoi au détail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Icône loupe dans un bouton de recherche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alt="loupe"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KO - décrit l’image, pas l’action (devrait être « Rechercher »)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 de page : l’étiquette qui oriente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2. Titre de page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Le titre de page est la 1ʳᵉ chose que lit un lecteur d’écran et la seule chose visible dans l’onglet.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Chaque page a un titre unique, différent des autres pages du site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 titre décrit le contenu, puis le nom du site (ex. « Déclarer mes revenus - impots.gouv.fr »)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Il change quand le contenu principal change (recherche, étape de formulaire)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189220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280659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Exemples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69214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OK : « Résultats de recherche : accessibilité - Ministère de la Culture »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KO : « Accueil » sur chaque page du site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KO : « Untitled Document » (oubli fréquent sur les PDF)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 de page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518922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Titres : la hiérarchie qui structure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utilisateur de lecteur d’écran navigue de titre en titre comme on navigue dans une table des matières.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règles qui font passer le check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Un seul H1 par page, qui reprend le sujet principal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niveaux s’emboîtent sans saut : H1 → H2 → H3, jamais H2 → H4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Un titre n’est pas une simple mise en forme gras/gros - c’est une balise &lt;h1&gt; à &lt;h6&gt;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Titres : 3 façons de vérifier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096512"/>
                <a:gridCol w="4572000"/>
              </a:tblGrid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Méthode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Comment faire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que vous cherchez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Extension HeadingsMap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Installer l’extension, ouvrir le panneau latéral.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L’arbre complet des titres s’affiche, les anomalies en rouge.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Mode lecture du navigateur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Firefox : icône livre dans la barre d’URL.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Si la page se simplifie correctement, la hiérarchie est probablement saine.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« Inspecter 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Rechercher `h1`, `h2`, `h3` dans l’onglet Éléments.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Un seul &lt;h1&gt;, pas de saut, pas de titre factice (&lt;div class="titre"&gt;).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un seuil chiffré, pas une opinion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personne sur 12 voit les couleurs autrement - ce que vous trouvez « joli gris » peut être illisible.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4,5:1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Texte normal (sous 18 pt)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4319015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3:1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4319015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Texte large (18 pt+ ou 14 pt gras) et composants graphiques</a:t>
            </a:r>
          </a:p>
        </p:txBody>
      </p:sp>
      <p:sp>
        <p:nvSpPr>
          <p:cNvPr id="15" name="DSFR-kpi-pave"/>
          <p:cNvSpPr/>
          <p:nvPr/>
        </p:nvSpPr>
        <p:spPr>
          <a:xfrm>
            <a:off x="8162543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7:1</a:t>
            </a:r>
          </a:p>
        </p:txBody>
      </p:sp>
      <p:sp>
        <p:nvSpPr>
          <p:cNvPr id="16" name="DSFR-kpi-label"/>
          <p:cNvSpPr txBox="1"/>
          <p:nvPr/>
        </p:nvSpPr>
        <p:spPr>
          <a:xfrm>
            <a:off x="8162543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Niveau AAA - recommandé pour texte dense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66344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llout-titre"/>
          <p:cNvSpPr txBox="1"/>
          <p:nvPr/>
        </p:nvSpPr>
        <p:spPr>
          <a:xfrm>
            <a:off x="704088" y="4754879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qui compte :</a:t>
            </a:r>
          </a:p>
        </p:txBody>
      </p:sp>
      <p:sp>
        <p:nvSpPr>
          <p:cNvPr id="20" name="DSFR-callout-body"/>
          <p:cNvSpPr txBox="1"/>
          <p:nvPr/>
        </p:nvSpPr>
        <p:spPr>
          <a:xfrm>
            <a:off x="704088" y="5166359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 rapport entre la couleur du texte et celle du fond (ou l’arrière-plan visible)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Sur un dégradé ou une image, mesurer à l’endroit le moins contrasté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Ne jamais se fier à l’œil - toujours mesurer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66344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3 outils à avoir sous la main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11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87952"/>
                <a:gridCol w="4114800"/>
              </a:tblGrid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Outil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Usage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Quand l’utiliser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DevTools Chrome / Firefox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sur un texte → Inspecter → pastille de couleur.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Mesure ponctuelle pendant la rédaction ou la relecture.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WebAIM Contrast Checker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webaim.org/resources/contrastchecker - coller les deux couleurs hex.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de choisir une charte graphique ou un thème.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Colour Contrast Analyser (CCA)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App desktop - pipette qui mesure n’importe quelle zone d’écran.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Tester des maquettes Figma, des captures d’écran, des PDF.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800600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89204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Piège classique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530352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Texte gris clair sur fond blanc (#999 sur #FFF) : 2,85:1 - échec même en texte large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Bouton bleu avec texte bleu marine « moderne » : souvent sous le seuil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80060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Lien d’évitement : le raccourci qui sauve 30 Tab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5. Lien d’évitement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lien d’évitement, un utilisateur clavier tabule 20 à 40 fois par page juste pour franchir le menu.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3487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Un lien « Aller au contenu » est le 1ᵉʳ élément reçu par Tab en haut de page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Il devient visible dès qu’il a le focus, même s’il était masqué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Il mène au bloc principal via une ancre (#contenu, #main)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83480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704088" y="507492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Démo en 3 Tab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704088" y="548640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Ouvrez gouvernement.fr, appuyez sur Tab : le lien « Contenu » apparaît en haut à gauche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Entrée → vous voilà au contenu, menu contourné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Lien d’évitement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8348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13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Naviguer sans souris : le test qui change tout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personne sur 5 n’utilise jamais de souris pour naviguer sur le web.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3314700"/>
            <a:ext cx="11155680" cy="13487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En 15 minutes, vous saurez :</a:t>
            </a:r>
          </a:p>
        </p:txBody>
      </p:sp>
      <p:sp>
        <p:nvSpPr>
          <p:cNvPr id="21" name="DSFR-callout-body"/>
          <p:cNvSpPr txBox="1"/>
          <p:nvPr/>
        </p:nvSpPr>
        <p:spPr>
          <a:xfrm>
            <a:off x="704088" y="381762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Utiliser 5 touches pour tester n’importe quelle page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Repérer 3 signaux qui trahissent un défaut d’accessibilité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Reproduire l’expérience d’un lecteur d’écran en 3 minutes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331470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5 touches, 3 intentions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Naviguer → Tab / Shift+Tab    Agir → Entrée / Espace    Lire → Flèches ↑ ↓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497580"/>
          <a:ext cx="11228832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480560"/>
                <a:gridCol w="5102352"/>
              </a:tblGrid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Touche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À quoi elle sert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qu’il faut vérifier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Avancer sur l’élément interactif suivant (lien, bouton, champ).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focus se déplace et reste visible à chaque étape.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Shift + Tab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Reculer sur l’élément interactif précédent.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L’ordre inverse est logique, sans saut imprévu.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Entrée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Activer un lien ou soumettre un formulaire.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L’action attendue se déclenche immédiatement.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Barre d’espace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Cocher, décocher, sélectionner un bouton radio.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L’état coché / non coché est annoncé vocalement.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Flèches ↑ ↓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Lire le contenu ligne par ligne avec un lecteur d’écran.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texte alternatif des images est lu à haute voix.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3 signaux qui trahissent un défaut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331720"/>
            <a:ext cx="3465576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focus disparaît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474720"/>
            <a:ext cx="3172968" cy="112585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Plus de contour visible pendant la tabulation. L’utilisateur est perdu dès la 3ᵉ touche Tab.</a:t>
            </a:r>
          </a:p>
        </p:txBody>
      </p:sp>
      <p:sp>
        <p:nvSpPr>
          <p:cNvPr id="14" name="DSFR-box"/>
          <p:cNvSpPr/>
          <p:nvPr/>
        </p:nvSpPr>
        <p:spPr>
          <a:xfrm>
            <a:off x="4389120" y="2331720"/>
            <a:ext cx="3465576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456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L’ordre est illogique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4568" y="3474720"/>
            <a:ext cx="3172968" cy="112585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Le focus saute à droite avant le menu à gauche. Le lecteur d’écran parcourt la page dans le désordre.</a:t>
            </a:r>
          </a:p>
        </p:txBody>
      </p:sp>
      <p:sp>
        <p:nvSpPr>
          <p:cNvPr id="19" name="DSFR-box"/>
          <p:cNvSpPr/>
          <p:nvPr/>
        </p:nvSpPr>
        <p:spPr>
          <a:xfrm>
            <a:off x="8229600" y="2331720"/>
            <a:ext cx="3465576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8504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L’état n’est pas annoncé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85048" y="3474720"/>
            <a:ext cx="3172968" cy="112585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Une case qui coche sans dire « coché ». L’information est invisible pour qui ne voit pas l’écran.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456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8504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3317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5968" y="23317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56448" y="23317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Votre mission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Sur le site d’entraînement qui vous sera fourni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Cachez votre souris derrière l’écran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Tabulez 10 fois et notez chaque fois que le focus disparaît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Essayez Entrée sur un bouton, Espace sur une case à cocher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Listez les pièges détectés et associez-les aux 3 signaux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977639"/>
            <a:ext cx="11155680" cy="1143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069079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Objectif : votre permis clavier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480559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1 signal détecté = vous avez l’œil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3 signaux détectés = vous êtes auditeur clavier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977639"/>
            <a:ext cx="73152" cy="1143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Langue de la page : l’accent juste du lecteur d’écran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7.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langue déclarée, un texte français est lu avec l’accent anglais : « beau-jore » pour « bonjour ».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La balise &lt;html&gt; porte un attribut lang (ex. lang="fr")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passages dans une autre langue sont balisés : &lt;span lang="en"&gt;workshop&lt;/span&gt;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 code langue suit la norme ISO 639 : fr, en, de, es - pas « français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189220"/>
            <a:ext cx="11155680" cy="1143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280659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vérifier sans coder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692140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Clic droit → Afficher le code source → regarder la 1ʳᵉ ligne &lt;html lang="…"&gt;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Ou extension « Web Developer » → Information → View Document Language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5189220"/>
            <a:ext cx="73152" cy="1143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Zoom 200 % : tout doit rester lisible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8. Zoom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Français sur 5 agrandit le texte en permanence - pour lui, votre site zoomé à 200 % est votre vrai site.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3487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À 200 % de zoom, aucun texte n’est coupé ni superposé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Pas d’apparition d’un défilement horizontal sur une page classique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menus, boutons et formulaires restent utilisables, pas seulement visibles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83480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7492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tester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8640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Ctrl + (ou Cmd + sur Mac) pour zoomer jusqu’à 200 % - répéter 4 fois depuis 100 %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Parcourir la page : formulaire, menu, pied de page. Si ça casse, le check échoue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Zoom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8348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Sous-titres : le son que tout le monde lit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80 % des vidéos sociales sont regardées sans son - les sous-titres ne sont plus une option.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La vidéo propose des sous-titres synchronisés (pas seulement une transcription)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sous-titres incluent les paroles ET les informations sonores importantes : « (rires) », « (sonnerie) »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Ils sont activables/désactivables par l’utilisateur (bouton CC)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Sous-titres auto : brouillon utile, livrable jamais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l’auto ne suffit pas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YouTube auto : 10 à 30 % d’erreurs sur un français soigné, pire avec un accent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Noms propres, acronymes, chiffres : souvent massacrés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Ponctuation absente : « on mange les enfants » vs « on mange, les enfants »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Pas d’indication sonore non verbale (musique, applaudissements)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977639"/>
            <a:ext cx="11155680" cy="15544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069079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Méthode recommandée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480559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Étape 1 : générer l’auto (YouTube, Whisper, outil interne) pour gagner 80 % du temps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Étape 2 : relire, corriger, ajouter ponctuation et [indications sonores]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Étape 3 : caler le timing sur les pauses naturelles (2 lignes max à l’écran)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977639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Transcription : la version texte qui accompagne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10. Transcriptions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La transcription est au podcast ce que le script est au film : la version lisible, indexable, citable.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7602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1658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Toute vidéo / audio propose un lien visible « Lire la transcription »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La transcription est complète : paroles + informations sonores essentielles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Elle est sur la même page ou à un clic, jamais cachée à deux étages de menu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Pour une vidéo : la transcription DESCRIPTIVE inclut aussi l’action visible (utile aux aveugles)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394960"/>
            <a:ext cx="11155680" cy="1143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48640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Bonus souvent oublié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897880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moteurs de recherche indexent les transcriptions - référencement gratuit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utilisateurs qui cherchent une citation précise vous remercient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Transcriptions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760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5394960"/>
            <a:ext cx="73152" cy="1143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Audiodescription : la voix qui montre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11. Audiodescription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L’audiodescription ajoute une voix off qui décrit les images clés pendant les silences.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7602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1658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La vidéo propose une piste audiodécrite activable (bouton AD)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L’audiodescription décrit les éléments visuels essentiels à la compréhension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Elle s’intercale dans les silences, sans couvrir les dialogues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Pour une vidéo sans dialogue essentiel : une description textuelle synchronisée suffit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394960"/>
            <a:ext cx="11155680" cy="12801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quote-texte"/>
          <p:cNvSpPr txBox="1"/>
          <p:nvPr/>
        </p:nvSpPr>
        <p:spPr>
          <a:xfrm>
            <a:off x="749808" y="5532120"/>
            <a:ext cx="10863072" cy="7315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lang="fr-FR">
                <a:solidFill>
                  <a:srgbClr val="161616"/>
                </a:solidFill>
                <a:latin typeface="Marianne"/>
              </a:rPr>
              <a:t>“ Sans audiodescription, une vidéo reste une porte fermée pour 1,7 million de personnes aveugles ou malvoyantes en France. ”</a:t>
            </a:r>
          </a:p>
        </p:txBody>
      </p:sp>
      <p:sp>
        <p:nvSpPr>
          <p:cNvPr id="18" name="DSFR-quote-auteur"/>
          <p:cNvSpPr txBox="1"/>
          <p:nvPr/>
        </p:nvSpPr>
        <p:spPr>
          <a:xfrm>
            <a:off x="749808" y="6217920"/>
            <a:ext cx="1086307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lang="fr-FR">
                <a:solidFill>
                  <a:srgbClr val="000091"/>
                </a:solidFill>
                <a:latin typeface="Marianne"/>
              </a:rPr>
              <a:t>- Fédération des Aveugles de France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Audiodescription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760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5394960"/>
            <a:ext cx="73152" cy="12801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Étiquettes : chaque champ a un nom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étiquette, un champ est comme une boîte aux lettres sans nom - on ne sait pas ce qu’on glisse dedans.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Chaque champ (texte, case, menu déroulant) a une étiquette visible à côté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L’étiquette reste affichée quand on commence à saisir - elle ne disparaît pas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Cliquer sur l’étiquette déplace le focus dans le champ (test rapide et décisif)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 lecteur d’écran annonce l’étiquette ET le type de champ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Placeholder ≠ étiquette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le placeholder ne remplace jamais l’étiquette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Il disparaît dès qu’on commence à saisir - on oublie ce qu’on remplit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Son contraste est souvent trop faible pour passer le check 4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lecteurs d’écran l’ignorent ou l’annoncent comme « texte exemple »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Impossible d’y revenir : il est perdu dès la 1ʳᵉ lettre tapée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977639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069079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480559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Étiquette visible au-dessus du champ (ou à gauche)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Placeholder optionnel, pour donner un exemple de format : « JJ/MM/AAAA »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Ne JAMAIS mettre l’information essentielle uniquement dans le placeholder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977639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Groupes de champs : l’étiquette commune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9456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28600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Quand regrouper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97480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Plusieurs boutons radio qui répondent à la même question (« Civilité : M / Mme / autre »)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Plusieurs cases à cocher qui partagent un thème (« Jours travaillés »)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Adresse découpée en plusieurs champs (n°, rue, code postal, ville)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75488" y="4206240"/>
          <a:ext cx="1122883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87952"/>
                <a:gridCol w="4114800"/>
              </a:tblGrid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Cas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Code vérifié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Verdict lecteur d’écran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 radios « Civilité » sans regroupement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Chaque radio a son label seul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« M, bouton radio » - question perdue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 radios dans un &lt;fieldset&gt; avec &lt;legend&gt;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&lt;fieldset&gt;&lt;legend&gt;Civilité&lt;/legend&gt;… &lt;input type="radio"&gt;…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« Civilité, M, bouton radio » - question claire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9456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Champs obligatoires : dits, pas juste marqués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13. Champs obligatoires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astérisque rouge est un signal visuel - il doit être doublé d’une information textuelle pour tous.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7602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1658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champs obligatoires sont indiqués textuellement (« obligatoire » ou « *requis »)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La légende « * champ obligatoire » est présente en début de formulaire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Techniquement : attribut required ou aria-required="true" sur le champ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En cas d’erreur : le message pointe le champ par son étiquette, pas « champ 3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394960"/>
            <a:ext cx="11155680" cy="1143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48640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897880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Marquez les champs OPTIONNELS, pas les obligatoires - plus court sur un formulaire où 90 % des champs sont requis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Champs obligatoires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760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5394960"/>
            <a:ext cx="73152" cy="1143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Votre mission : audit en 30 minutes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Mission finale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Choisissez une page de votre site pro ou d’un site public et passez-la aux 13 Easy Checks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Notez pour chaque check : passe, échoue, ou doute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Mesurez le contraste d’au moins 3 zones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Testez clavier et zoom 200 % sur un parcours complet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Listez 3 non-conformités à remonter à votre équipe web</a:t>
            </a:r>
          </a:p>
        </p:txBody>
      </p:sp>
      <p:sp>
        <p:nvSpPr>
          <p:cNvPr id="12" name="DSFR-stepper-pastille-1"/>
          <p:cNvSpPr/>
          <p:nvPr/>
        </p:nvSpPr>
        <p:spPr>
          <a:xfrm>
            <a:off x="1445894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4" name="DSFR-stepper-texte-1"/>
          <p:cNvSpPr txBox="1"/>
          <p:nvPr/>
        </p:nvSpPr>
        <p:spPr>
          <a:xfrm>
            <a:off x="475488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Choisir 1 page</a:t>
            </a:r>
          </a:p>
        </p:txBody>
      </p:sp>
      <p:sp>
        <p:nvSpPr>
          <p:cNvPr id="15" name="DSFR-stepper-pastille-2"/>
          <p:cNvSpPr/>
          <p:nvPr/>
        </p:nvSpPr>
        <p:spPr>
          <a:xfrm>
            <a:off x="4328541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7" name="DSFR-stepper-texte-2"/>
          <p:cNvSpPr txBox="1"/>
          <p:nvPr/>
        </p:nvSpPr>
        <p:spPr>
          <a:xfrm>
            <a:off x="3358134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13 checks</a:t>
            </a:r>
          </a:p>
        </p:txBody>
      </p:sp>
      <p:sp>
        <p:nvSpPr>
          <p:cNvPr id="18" name="DSFR-stepper-pastille-3"/>
          <p:cNvSpPr/>
          <p:nvPr/>
        </p:nvSpPr>
        <p:spPr>
          <a:xfrm>
            <a:off x="7211186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0" name="DSFR-stepper-texte-3"/>
          <p:cNvSpPr txBox="1"/>
          <p:nvPr/>
        </p:nvSpPr>
        <p:spPr>
          <a:xfrm>
            <a:off x="6240779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Binôme : débrief 5 min</a:t>
            </a:r>
          </a:p>
        </p:txBody>
      </p:sp>
      <p:sp>
        <p:nvSpPr>
          <p:cNvPr id="21" name="DSFR-stepper-pastille-4"/>
          <p:cNvSpPr/>
          <p:nvPr/>
        </p:nvSpPr>
        <p:spPr>
          <a:xfrm>
            <a:off x="10093832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22" name="DSFR-stepper-texte-4"/>
          <p:cNvSpPr txBox="1"/>
          <p:nvPr/>
        </p:nvSpPr>
        <p:spPr>
          <a:xfrm>
            <a:off x="9123426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1 action dès demain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Mission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stepper-connecteur-1-decoratif" descr=""/>
          <p:cNvSpPr/>
          <p:nvPr/>
        </p:nvSpPr>
        <p:spPr>
          <a:xfrm>
            <a:off x="2085975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stepper-connecteur-2-decoratif" descr=""/>
          <p:cNvSpPr/>
          <p:nvPr/>
        </p:nvSpPr>
        <p:spPr>
          <a:xfrm>
            <a:off x="4968621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stepper-connecteur-3-decoratif" descr=""/>
          <p:cNvSpPr/>
          <p:nvPr/>
        </p:nvSpPr>
        <p:spPr>
          <a:xfrm>
            <a:off x="7851267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UVERNEMENT">
  <a:themeElements>
    <a:clrScheme name="GOUVERNEMENT PPT">
      <a:dk1>
        <a:srgbClr val="000000"/>
      </a:dk1>
      <a:lt1>
        <a:srgbClr val="FFFFFF"/>
      </a:lt1>
      <a:dk2>
        <a:srgbClr val="000091"/>
      </a:dk2>
      <a:lt2>
        <a:srgbClr val="E1000F"/>
      </a:lt2>
      <a:accent1>
        <a:srgbClr val="005841"/>
      </a:accent1>
      <a:accent2>
        <a:srgbClr val="21215A"/>
      </a:accent2>
      <a:accent3>
        <a:srgbClr val="FFD500"/>
      </a:accent3>
      <a:accent4>
        <a:srgbClr val="EA5433"/>
      </a:accent4>
      <a:accent5>
        <a:srgbClr val="8C2237"/>
      </a:accent5>
      <a:accent6>
        <a:srgbClr val="49311F"/>
      </a:accent6>
      <a:hlink>
        <a:srgbClr val="000000"/>
      </a:hlink>
      <a:folHlink>
        <a:srgbClr val="000000"/>
      </a:folHlink>
    </a:clrScheme>
    <a:fontScheme name="Personnalisé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_gouvernement_marianne" id="{307D1C89-B296-4882-8ECC-2BD1C6821949}" vid="{B53EA17D-A77A-459E-979D-FA962BE9015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ppt_gouvernement_arial</Template>
  <TotalTime>200</TotalTime>
  <Words>1065</Words>
  <Application>Microsoft Office PowerPoint</Application>
  <PresentationFormat>Affichage à l'écran (16:9)</PresentationFormat>
  <Paragraphs>157</Paragraphs>
  <Slides>16</Slides>
  <Notes>1</Notes>
  <HiddenSlides>3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1" baseType="lpstr">
      <vt:lpstr>Arial</vt:lpstr>
      <vt:lpstr>Calibri</vt:lpstr>
      <vt:lpstr>Verdana</vt:lpstr>
      <vt:lpstr>Wingdings</vt:lpstr>
      <vt:lpstr>GOUVERNEMENT</vt:lpstr>
      <vt:lpstr>XXXXX Libelle de la formation</vt:lpstr>
      <vt:lpstr>Présentation PowerPoint</vt:lpstr>
      <vt:lpstr>Le programme</vt:lpstr>
      <vt:lpstr>Présentation PowerPoint</vt:lpstr>
      <vt:lpstr>Sommaire</vt:lpstr>
      <vt:lpstr>Introduction aux réseaux informatiques</vt:lpstr>
      <vt:lpstr>Introduction </vt:lpstr>
      <vt:lpstr>Présentation PowerPoint</vt:lpstr>
      <vt:lpstr>Présentation PowerPoint</vt:lpstr>
      <vt:lpstr>Sommaire</vt:lpstr>
      <vt:lpstr>Titre de partie</vt:lpstr>
      <vt:lpstr>Lorem ipsum dolor  sit amet consectetur</vt:lpstr>
      <vt:lpstr>Lorem ipsum dolor  sit amet consectetur</vt:lpstr>
      <vt:lpstr>Réduire / Augmenter le niveau de liste</vt:lpstr>
      <vt:lpstr>Titre</vt:lpstr>
      <vt:lpstr>Copier / coller les textes</vt:lpstr>
    </vt:vector>
  </TitlesOfParts>
  <Manager>Client</Manager>
  <Company>Secrétariat Général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Formation 102638 - Accessibilité numérique</dc:title>
  <dc:subject>Support de formation IGPDE - DSFR accessible</dc:subject>
  <dc:creator>Alex Guiderdoni</dc:creator>
  <cp:lastModifiedBy>COUPLAN Carine</cp:lastModifiedBy>
  <cp:revision>15</cp:revision>
  <dcterms:created xsi:type="dcterms:W3CDTF">2020-03-06T09:47:41Z</dcterms:created>
  <dcterms:modified xsi:type="dcterms:W3CDTF">2024-09-06T15:21:48Z</dcterms:modified>
  <dc:language>fr-FR</dc:language>
</cp:coreProperties>
</file>