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Slide de couverture -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Objectifs repris mot pour mot de la fiche catalogue 102638.</a:t>
            </a:r>
          </a:p>
          <a:p>
            <a:r>
              <a:rPr lang="fr-FR"/>
              <a:t>Présenter les 3 objectifs, insister sur le caractère opérationnel : cette formation débouche sur des gestes concrets, pas seulement de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Présenter les 4 modules, indiquer les horaires approximatifs.</a:t>
            </a:r>
          </a:p>
          <a:p>
            <a:r>
              <a:rPr lang="fr-FR"/>
              <a:t>Signaler que chaque module se termine par un geste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de Bertrand : parcours SIRCOM, Opquast, sensibilisation 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Présentation d'Alexandra : parcours, spécialisation accessibilité, DU-RAN.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Chaque stagiaire suit la grille à voix haute - 2 minutes maxi par personne.</a:t>
            </a:r>
          </a:p>
          <a:p>
            <a:r>
              <a:rPr lang="fr-FR"/>
              <a:t>Colonne 1 : ancre les métiers présents dans la salle (utile pour choisir les exemples).</a:t>
            </a:r>
          </a:p>
          <a:p>
            <a:r>
              <a:rPr lang="fr-FR"/>
              <a:t>Colonne 2 : révèle le niveau réel du groupe - adapter le rythme en conséquence.</a:t>
            </a:r>
          </a:p>
          <a:p>
            <a:r>
              <a:rPr lang="fr-FR"/>
              <a:t>Colonne 3 : noter les attentes au tableau, y revenir en clôture pour montrer qu'elles ont été traitées.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Constituer les binômes en mélangeant les directions si possible - éviter que deux personnes du même bureau soient ensemble (trop de connivence, moins d'échanges riches).</a:t>
            </a:r>
          </a:p>
          <a:p>
            <a:r>
              <a:rPr lang="fr-FR"/>
              <a:t>Si nombre impair : un trinôme.</a:t>
            </a:r>
          </a:p>
          <a:p>
            <a:r>
              <a:rPr lang="fr-FR"/>
              <a:t>Distribuer les cartes idées reçues maintenant : chaque binôme conserve sa carte comme support de l'engagement de fin de journée.</a:t>
            </a:r>
          </a:p>
          <a:p>
            <a:r>
              <a:rPr lang="fr-FR"/>
              <a:t>Laisser 2 minutes d'échange avant de commencer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cartes ont été distribuées au moment du regroupement en binômes.</a:t>
            </a:r>
          </a:p>
          <a:p>
            <a:r>
              <a:rPr lang="fr-FR"/>
              <a:t>Laisser 30 secondes de réflexion silencieuse, puis demander qui dit 'vrai' et qui dit 'faux' avant d'afficher la slide de décryptage.</a:t>
            </a:r>
          </a:p>
          <a:p>
            <a:r>
              <a:rPr lang="fr-FR"/>
              <a:t>Ne pas corriger immédiatement - laisser le groupe débattre.</a:t>
            </a:r>
          </a:p>
          <a:p>
            <a:r>
              <a:rPr lang="fr-FR"/>
              <a:t>Objectif : casser les freins avant même de commencer la théorie.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le groupe répondre vrai/faux avant d'afficher le décryptage.</a:t>
            </a:r>
          </a:p>
          <a:p>
            <a:r>
              <a:rPr lang="fr-FR"/>
              <a:t>Insister : le handicap permanent n'est qu'une fraction.</a:t>
            </a:r>
          </a:p>
          <a:p>
            <a:r>
              <a:rPr lang="fr-FR"/>
              <a:t>Le handicap temporaire (bras cassé, conjonctivite) et situationnel (plein soleil sur téléphone) touchent tout le monde.</a:t>
            </a:r>
          </a:p>
          <a:p>
            <a:r>
              <a:rPr lang="fr-FR"/>
              <a:t>Analogie : l'ascenseur est utile aux personnes en fauteuil, aux parents avec poussette, aux livreurs les mains prises.</a:t>
            </a:r>
          </a:p>
          <a:p>
            <a:r>
              <a:rPr lang="fr-FR"/>
              <a:t>L'accessibilité profite à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un contre-exemple si possible : un site très accessible peut être très design.</a:t>
            </a:r>
          </a:p>
          <a:p>
            <a:r>
              <a:rPr lang="fr-FR"/>
              <a:t>La contrainte de contraste 4,5:1 produit des palettes plus sereines, pas plus laides.</a:t>
            </a:r>
          </a:p>
          <a:p>
            <a:r>
              <a:rPr lang="fr-FR"/>
              <a:t>Analogie : les normes de sécurité incendie n'ont pas empêché d'architecturer de beaux bâtiments.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Bonne nouvelle pour les stagiaires : on ne peut pas tout apprendre en 1 jour.</a:t>
            </a:r>
          </a:p>
          <a:p>
            <a:r>
              <a:rPr lang="fr-FR"/>
              <a:t>L'objectif de cette formation, c'est d'ouvrir les yeux sur l'étendue du sujet et d'acquérir les réflexes sur les points les plus fréquents.</a:t>
            </a:r>
          </a:p>
          <a:p>
            <a:r>
              <a:rPr lang="fr-FR"/>
              <a:t>Le reste vient avec la pratique et les ressources (RGAA, Easy Checks W3C).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idée reçue est la plus difficile à déconstruire car elle repose sur une logique réelle : il y a des spécialistes.</a:t>
            </a:r>
          </a:p>
          <a:p>
            <a:r>
              <a:rPr lang="fr-FR"/>
              <a:t>Répondre : oui, les développeurs et chefs de projet ont leurs responsabilités.</a:t>
            </a:r>
          </a:p>
          <a:p>
            <a:r>
              <a:rPr lang="fr-FR"/>
              <a:t>Mais vous aussi - c'est précisément pourquoi vous êtes là aujourd'hui.</a:t>
            </a:r>
          </a:p>
          <a:p>
            <a:r>
              <a:rPr lang="fr-FR"/>
              <a:t>Votre document Word mal structuré empêche un lecteur d'écran de lire.</a:t>
            </a:r>
          </a:p>
          <a:p>
            <a:r>
              <a:rPr lang="fr-FR"/>
              <a:t>Votre image sans texte alternatif prive un non-voyant de l'information.</a:t>
            </a:r>
          </a:p>
          <a:p>
            <a:r>
              <a:rPr lang="fr-FR"/>
              <a:t>Personne n'est exempté.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bâtiment : une rampe d'accès intégrée dès la construction coûte quelques centaines d'euros.</a:t>
            </a:r>
          </a:p>
          <a:p>
            <a:r>
              <a:rPr lang="fr-FR"/>
              <a:t>La reprise après construction, plusieurs milliers.</a:t>
            </a:r>
          </a:p>
          <a:p>
            <a:r>
              <a:rPr lang="fr-FR"/>
              <a:t>Pour les documents : appliquer les styles Titre dans Word, c'est 30 secondes de plus.</a:t>
            </a:r>
          </a:p>
          <a:p>
            <a:r>
              <a:rPr lang="fr-FR"/>
              <a:t>Corriger un PDF de 50 pages après coup, c'est des heures.</a:t>
            </a:r>
          </a:p>
          <a:p>
            <a:r>
              <a:rPr lang="fr-FR"/>
              <a:t>L'accessibilité est rentable quand elle est intégrée - c'est le message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Dernière idée reçue - transition naturelle vers la journée : « Aujourd'hui, on ne remet pas à la fin.</a:t>
            </a:r>
          </a:p>
          <a:p>
            <a:r>
              <a:rPr lang="fr-FR"/>
              <a:t>On commence par les bons réflexes et on les ancre maintenant. » Demander au groupe : laquelle de ces 6 idées reçues vous parlait le plus ce matin ?</a:t>
            </a:r>
          </a:p>
          <a:p>
            <a:r>
              <a:rPr lang="fr-FR"/>
              <a:t>Cette question fait le lien entre l'icebreaker et la suite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du module 1.</a:t>
            </a:r>
          </a:p>
          <a:p>
            <a:r>
              <a:rPr lang="fr-FR"/>
              <a:t>Poser la question : Qui a déjà entendu parler du RGAA ?</a:t>
            </a:r>
          </a:p>
          <a:p>
            <a:r>
              <a:rPr lang="fr-FR"/>
              <a:t>Laisser 30 secondes de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Poser la question : avez-vous déjà été bloqué par un site mal conçu ?</a:t>
            </a:r>
          </a:p>
          <a:p>
            <a:r>
              <a:rPr lang="fr-FR"/>
              <a:t>Les 12 millions incluent les handicaps permanents ET temporaires.</a:t>
            </a:r>
          </a:p>
          <a:p>
            <a:r>
              <a:rPr lang="fr-FR"/>
              <a:t>Insister : 80 % de non-conformité, c'est aussi 80 % de risque juridique.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Chronologie en 4 étapes : montrer la progression du droit.</a:t>
            </a:r>
          </a:p>
          <a:p>
            <a:r>
              <a:rPr lang="fr-FR"/>
              <a:t>Le RGAA 4.1.2 = 106 critères regroupés en 13 thèmes.</a:t>
            </a:r>
          </a:p>
          <a:p>
            <a:r>
              <a:rPr lang="fr-FR"/>
              <a:t>Préciser : contrôle Arcom = médias audiovisuels (effectif depuis 2023).</a:t>
            </a:r>
          </a:p>
          <a:p>
            <a:r>
              <a:rPr lang="fr-FR"/>
              <a:t>Contrôle DINUM = sites publics, dispositif en cours de déploiement.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5 minutes : chaque stagiaire cherche la déclaration de son propre site.</a:t>
            </a:r>
          </a:p>
          <a:p>
            <a:r>
              <a:rPr lang="fr-FR"/>
              <a:t>Si introuvable : c'est déjà une non-conformité à signaler.</a:t>
            </a:r>
          </a:p>
          <a:p>
            <a:r>
              <a:rPr lang="fr-FR"/>
              <a:t>La voie de recours = Défenseur des droits si absence de réponse en 2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Récupération active : demander à 2-3 stagiaires de citer un point retenu.</a:t>
            </a:r>
          </a:p>
          <a:p>
            <a:r>
              <a:rPr lang="fr-FR"/>
              <a:t>Annoncer la suite : maintenant on passe à la pratique - Module 2 bureautique.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Transition vers le module 2.</a:t>
            </a:r>
          </a:p>
          <a:p>
            <a:r>
              <a:rPr lang="fr-FR"/>
              <a:t>Annoncer : 24 réflexes en 5 thèmes.</a:t>
            </a:r>
          </a:p>
          <a:p>
            <a:r>
              <a:rPr lang="fr-FR"/>
              <a:t>Public : communicants, pas développeurs.</a:t>
            </a:r>
          </a:p>
          <a:p>
            <a:r>
              <a:rPr lang="fr-FR"/>
              <a:t>Chaque slide = 1 réflexe actionnable.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citation à voix haute, lentement, avec des pauses.</a:t>
            </a:r>
          </a:p>
          <a:p>
            <a:r>
              <a:rPr lang="fr-FR"/>
              <a:t>Ne pas commenter.</a:t>
            </a:r>
          </a:p>
          <a:p>
            <a:r>
              <a:rPr lang="fr-FR"/>
              <a:t>Laisser le silence s'installer 5 secondes.</a:t>
            </a:r>
          </a:p>
          <a:p>
            <a:r>
              <a:rPr lang="fr-FR"/>
              <a:t>Demander : est-ce que vous avez déjà reçu un document ou un email illisible ?</a:t>
            </a:r>
          </a:p>
          <a:p>
            <a:r>
              <a:rPr lang="fr-FR"/>
              <a:t>Cette personne vivait ça tous les 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Laisser 30 secondes pour que chacun vote.</a:t>
            </a:r>
          </a:p>
          <a:p>
            <a:r>
              <a:rPr lang="fr-FR"/>
              <a:t>Demander à main levée.</a:t>
            </a:r>
          </a:p>
          <a:p>
            <a:r>
              <a:rPr lang="fr-FR"/>
              <a:t>Ne pas donner la réponse maintenant - la curiosité crée l'attention.</a:t>
            </a:r>
          </a:p>
          <a:p>
            <a:r>
              <a:rPr lang="fr-FR"/>
              <a:t>Zeigarnik : la boucle ouverte maintient l'engagement.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Répondre au quiz de la slide précédente.</a:t>
            </a:r>
          </a:p>
          <a:p>
            <a:r>
              <a:rPr lang="fr-FR"/>
              <a:t>Document B - mais les deux semblent identiques à l'écran.</a:t>
            </a:r>
          </a:p>
          <a:p>
            <a:r>
              <a:rPr lang="fr-FR"/>
              <a:t>C'est l'invisible qui fait la différence. 15 % = moyenne nationale Source : OMS 2024.</a:t>
            </a:r>
          </a:p>
          <a:p>
            <a:r>
              <a:rPr lang="fr-FR"/>
              <a:t>Le chiffre 0 ligne de code est le déclencheur de confiance : tout le monde peut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Plan de la session.</a:t>
            </a:r>
          </a:p>
          <a:p>
            <a:r>
              <a:rPr lang="fr-FR"/>
              <a:t>Pointer chaque thème.</a:t>
            </a:r>
          </a:p>
          <a:p>
            <a:r>
              <a:rPr lang="fr-FR"/>
              <a:t>Insister : ce n'est pas une liste de règles à mémoriser, c'est un parcours.</a:t>
            </a:r>
          </a:p>
          <a:p>
            <a:r>
              <a:rPr lang="fr-FR"/>
              <a:t>On commence par le plus impactant et on finit par le plus simple à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Réponse à la question : le lecteur d'écran lit les balises HTML ou les styles Word - pas la mise en forme visuelle.</a:t>
            </a:r>
          </a:p>
          <a:p>
            <a:r>
              <a:rPr lang="fr-FR"/>
              <a:t>Un titre en gras 16pt n'est pas un titre pour un lecteur d'écran.</a:t>
            </a:r>
          </a:p>
          <a:p>
            <a:r>
              <a:rPr lang="fr-FR"/>
              <a:t>Faire la démonstration en direct si possible : ouvrir un document vierge, écrire un titre en gras, puis avec le style Titre 1.</a:t>
            </a:r>
          </a:p>
          <a:p>
            <a:r>
              <a:rPr lang="fr-FR"/>
              <a:t>La différence est invisible visuellement mais fondamentale pour l'accessibilité.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Démonstration rapide : créer une liste avec tirets manuels, passer en mode lecteur d'écran ou montrer la capture.</a:t>
            </a:r>
          </a:p>
          <a:p>
            <a:r>
              <a:rPr lang="fr-FR"/>
              <a:t>Refaire avec la fonctionnalité native.</a:t>
            </a:r>
          </a:p>
          <a:p>
            <a:r>
              <a:rPr lang="fr-FR"/>
              <a:t>L'annonce change complètement.</a:t>
            </a:r>
          </a:p>
          <a:p>
            <a:r>
              <a:rPr lang="fr-FR"/>
              <a:t>Ce réflexe s'acquiert en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Piège le plus fréquent pour les communicants : la mise en page par espaces et tabulations.</a:t>
            </a:r>
          </a:p>
          <a:p>
            <a:r>
              <a:rPr lang="fr-FR"/>
              <a:t>Montrer le mode Afficher tout (symbole paragraphe) pour révéler les espaces parasites.</a:t>
            </a:r>
          </a:p>
          <a:p>
            <a:r>
              <a:rPr lang="fr-FR"/>
              <a:t>Les zones de texte flottantes sont un piège classique dans les documents Word avec mise en page élaborée.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 contraste est le critère a11y le plus souvent échoué : 56 % des sites (WebAIM 2024).</a:t>
            </a:r>
          </a:p>
          <a:p>
            <a:r>
              <a:rPr lang="fr-FR"/>
              <a:t>Analogie : lire un SMS à 3h du matin sur un écran en plein soleil.</a:t>
            </a:r>
          </a:p>
          <a:p>
            <a:r>
              <a:rPr lang="fr-FR"/>
              <a:t>Texte noir sur fond blanc = toujours conforme.</a:t>
            </a:r>
          </a:p>
          <a:p>
            <a:r>
              <a:rPr lang="fr-FR"/>
              <a:t>Le test ne s'applique qu'aux textes colorés.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8 % des hommes = 1 personne dans une réunion de 12.</a:t>
            </a:r>
          </a:p>
          <a:p>
            <a:r>
              <a:rPr lang="fr-FR"/>
              <a:t>Dans une direction de 200 agents : 16 personnes concernées.</a:t>
            </a:r>
          </a:p>
          <a:p>
            <a:r>
              <a:rPr lang="fr-FR"/>
              <a:t>Montrer l'image : en deutéranopie, En retard et En cours sont indiscernables.</a:t>
            </a:r>
          </a:p>
          <a:p>
            <a:r>
              <a:rPr lang="fr-FR"/>
              <a:t>Demander aux stagiaires : « Dans vos documents, utilisez-vous des codes couleur sans texte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Décrire la FONCTION, pas l'apparence.</a:t>
            </a:r>
          </a:p>
          <a:p>
            <a:r>
              <a:rPr lang="fr-FR"/>
              <a:t>Un logo sans texte = décoratif (le lecteur annonce déjà le nom de la société dans les propriétés).</a:t>
            </a:r>
          </a:p>
          <a:p>
            <a:r>
              <a:rPr lang="fr-FR"/>
              <a:t>Un graphique = décrire les données clés, pas les couleurs des barres.</a:t>
            </a:r>
          </a:p>
          <a:p>
            <a:r>
              <a:rPr lang="fr-FR"/>
              <a:t>Objet décoratif = filets, séparateurs, icones visuelles.</a:t>
            </a:r>
          </a:p>
          <a:p>
            <a:r>
              <a:rPr lang="fr-FR"/>
              <a:t>Les marquer évite que le lecteur annonce image, image, séparateur en permanence.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les liens inaccessibles puis les accessibles.</a:t>
            </a:r>
          </a:p>
          <a:p>
            <a:r>
              <a:rPr lang="fr-FR"/>
              <a:t>La différence est immédiate.</a:t>
            </a:r>
          </a:p>
          <a:p>
            <a:r>
              <a:rPr lang="fr-FR"/>
              <a:t>Pour les filigranes : montrer un vrai document avec CONFIDENTIEL en filigrane.</a:t>
            </a:r>
          </a:p>
          <a:p>
            <a:r>
              <a:rPr lang="fr-FR"/>
              <a:t>Demander : est-ce que votre lecteur d'écran l'annonce ?</a:t>
            </a:r>
          </a:p>
          <a:p>
            <a:r>
              <a:rPr lang="fr-FR"/>
              <a:t>Non - il faut reproduire l'information dans le corps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sami-doc-inaccessible.docx aux binômes.</a:t>
            </a:r>
          </a:p>
          <a:p>
            <a:r>
              <a:rPr lang="fr-FR"/>
              <a:t>Phase 1 - Identification (10 min) : « Trouvez toutes les erreurs d'accessibilité.</a:t>
            </a:r>
          </a:p>
          <a:p>
            <a:r>
              <a:rPr lang="fr-FR"/>
              <a:t>Notez-les sans corriger. » Pas de checklist.</a:t>
            </a:r>
          </a:p>
          <a:p>
            <a:r>
              <a:rPr lang="fr-FR"/>
              <a:t>Phase 2 - Correction (15 min) : afficher la liste des 19 erreurs.</a:t>
            </a:r>
          </a:p>
          <a:p>
            <a:r>
              <a:rPr lang="fr-FR"/>
              <a:t>Les binômes corrigent dans l'ordre structure &gt; couleurs &gt; contenus.</a:t>
            </a:r>
          </a:p>
          <a:p>
            <a:r>
              <a:rPr lang="fr-FR"/>
              <a:t>Le vérificateur Word sert d'outil de découverte : « Que détecte-t-il ?</a:t>
            </a:r>
          </a:p>
          <a:p>
            <a:r>
              <a:rPr lang="fr-FR"/>
              <a:t>Que rate-t-il ? »</a:t>
            </a:r>
            <a:br/>
            <a:br/>
            <a:r>
              <a:rPr lang="fr-FR"/>
              <a:t>Phase 3 - Restitution (5 min) : débriefer l'erreur de contraste (gris #767676, ratio 4,48:1) avec le Colour Contrast Analyser.</a:t>
            </a:r>
          </a:p>
          <a:p>
            <a:r>
              <a:rPr lang="fr-FR"/>
              <a:t>Question de transfert : « Sur votre dernier document, laquelle de ces erreurs avez-vous probablement faite ? » Tour de table rapide.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Exemple concret de balisage : un document français avec un titre en anglais Annual Report.</a:t>
            </a:r>
          </a:p>
          <a:p>
            <a:r>
              <a:rPr lang="fr-FR"/>
              <a:t>Sans balisage, le lecteur d'écran français prononce les mots anglais avec un accent français incompréhensible.</a:t>
            </a:r>
          </a:p>
          <a:p>
            <a:r>
              <a:rPr lang="fr-FR"/>
              <a:t>Majuscules : UN INTERNE TUE - donne le ton d'une phrase choc en majuscules, pas d'un texte en majuscules.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Les espaces parasites sont invisibles mais cassent la structure du document.</a:t>
            </a:r>
          </a:p>
          <a:p>
            <a:r>
              <a:rPr lang="fr-FR"/>
              <a:t>Montrer la différence entre Afficher tout activé et désactivé.</a:t>
            </a:r>
          </a:p>
          <a:p>
            <a:r>
              <a:rPr lang="fr-FR"/>
              <a:t>Pour les objets clignotants : c'est une règle de sécurité, pas de préférence.</a:t>
            </a:r>
          </a:p>
          <a:p>
            <a:r>
              <a:rPr lang="fr-FR"/>
              <a:t>Un seul incident suffira pour comprendre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finalisation est la checklist finale avant envoi. 2 minutes maximum.</a:t>
            </a:r>
          </a:p>
          <a:p>
            <a:r>
              <a:rPr lang="fr-FR"/>
              <a:t>Le vérificateur Word est le dernier filet de sécurité - mais il ne détecte pas tout (voir slide suivante).</a:t>
            </a:r>
          </a:p>
          <a:p>
            <a:r>
              <a:rPr lang="fr-FR"/>
              <a:t>Insister sur le nom de fichier : c'est le seul identifiant visible avant d'ouvrir le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le vérificateur d'orthographe ne détecte pas les fautes de sens (il accepte et la et à).</a:t>
            </a:r>
          </a:p>
          <a:p>
            <a:r>
              <a:rPr lang="fr-FR"/>
              <a:t>Le vérificateur d'accessibilité ne détecte pas un texte alt vide de sens.</a:t>
            </a:r>
          </a:p>
          <a:p>
            <a:r>
              <a:rPr lang="fr-FR"/>
              <a:t>Les 5 colonnes du tableau montrent la limite de l'outil.</a:t>
            </a:r>
          </a:p>
          <a:p>
            <a:r>
              <a:rPr lang="fr-FR"/>
              <a:t>Toujours faire une relecture humaine.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Effet de surprise : les stagiaires pensaient avoir trouvé toutes les erreurs.</a:t>
            </a:r>
          </a:p>
          <a:p>
            <a:r>
              <a:rPr lang="fr-FR"/>
              <a:t>Révéler que le document en contenait 2 de plus montre que l'accessibilité a des dimensions qu'on ne voit pas sans formation.</a:t>
            </a:r>
          </a:p>
          <a:p>
            <a:r>
              <a:rPr lang="fr-FR"/>
              <a:t>Proposer aux stagiaires de rouvrir sami-doc-inaccessible.docx et de corriger ces 2 erreurs en 2 minutes.</a:t>
            </a:r>
          </a:p>
          <a:p>
            <a:r>
              <a:rPr lang="fr-FR"/>
              <a:t>Le passage anglais est dans la section Contact.</a:t>
            </a:r>
          </a:p>
          <a:p>
            <a:r>
              <a:rPr lang="fr-FR"/>
              <a:t>Les propriétés sont dans Fichier &gt;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hiérarchiser les thèmes entre eux : tous sont obligatoires.</a:t>
            </a:r>
          </a:p>
          <a:p>
            <a:r>
              <a:rPr lang="fr-FR"/>
              <a:t>La logique ici est l'effort, pas l'importance.</a:t>
            </a:r>
          </a:p>
          <a:p>
            <a:r>
              <a:rPr lang="fr-FR"/>
              <a:t>Ces 3 réflexes couvrent Structure, Contenus et Finalisation et prennent moins d'une minute chacun.</a:t>
            </a:r>
          </a:p>
          <a:p>
            <a:r>
              <a:rPr lang="fr-FR"/>
              <a:t>Le reste (contraste, langue, propriétés, listes) vient naturellement une fois que ces 3 réflexes sont installés.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Lancer le chronomètre : 3 minutes de réflexion individuelle en silence.</a:t>
            </a:r>
          </a:p>
          <a:p>
            <a:r>
              <a:rPr lang="fr-FR"/>
              <a:t>Ne pas aider - la difficulté fait partie du processus d'apprentissage.</a:t>
            </a:r>
          </a:p>
          <a:p>
            <a:r>
              <a:rPr lang="fr-FR"/>
              <a:t>Au bout des 3 minutes, demander à main levée : « Qui a trouvé 3 erreurs ? 4 erreurs ?</a:t>
            </a:r>
          </a:p>
          <a:p>
            <a:r>
              <a:rPr lang="fr-FR"/>
              <a:t>Les 5 ? » avant de passer à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Passer en revue chaque point en expliquant l'impact utilisateur (pourquoi c'est une erreur), puis la correction dans Word.</a:t>
            </a:r>
          </a:p>
          <a:p>
            <a:r>
              <a:rPr lang="fr-FR"/>
              <a:t>Si quelqu'un trouve les 5 : féliciter et demander combien de temps.</a:t>
            </a:r>
          </a:p>
          <a:p>
            <a:r>
              <a:rPr lang="fr-FR"/>
              <a:t>Si moins de 3 : identifier quel thème est moins maîtrisé et orienter vers les slides correspondantes.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Silence total pendant 2 minutes.</a:t>
            </a:r>
          </a:p>
          <a:p>
            <a:r>
              <a:rPr lang="fr-FR"/>
              <a:t>Ne pas aider.</a:t>
            </a:r>
          </a:p>
          <a:p>
            <a:r>
              <a:rPr lang="fr-FR"/>
              <a:t>La difficulté de récupération est ce qui consolide la mémoire à long terme.</a:t>
            </a:r>
          </a:p>
          <a:p>
            <a:r>
              <a:rPr lang="fr-FR"/>
              <a:t>Quand tout le monde a écrit,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Comparer avec ce que les stagiaires ont écrit.</a:t>
            </a:r>
          </a:p>
          <a:p>
            <a:r>
              <a:rPr lang="fr-FR"/>
              <a:t>L'écart entre ce qu'on croit savoir et ce qu'on sait vraiment est instructif.</a:t>
            </a:r>
          </a:p>
          <a:p>
            <a:r>
              <a:rPr lang="fr-FR"/>
              <a:t>Insister sur le raccourci Ctrl+F onglet Titres : c'est l'astuce visuelle la plus pratique pour prouver qu'un document est bien ou mal structuré.</a:t>
            </a:r>
          </a:p>
          <a:p>
            <a:r>
              <a:rPr lang="fr-FR"/>
              <a:t>Terminer sur une note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3 gestes en 2 minutes sur chaque nouveau document.</a:t>
            </a:r>
          </a:p>
          <a:p>
            <a:r>
              <a:rPr lang="fr-FR"/>
              <a:t>Pas besoin de tout maîtriser d'un coup : commencer par 1, installer le réflexe, ajouter le suivant.</a:t>
            </a:r>
          </a:p>
          <a:p>
            <a:r>
              <a:rPr lang="fr-FR"/>
              <a:t>Dans 30 jours, c'est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Première moitié des critères pratiqués dans l'exercice de Sami.</a:t>
            </a:r>
          </a:p>
          <a:p>
            <a:r>
              <a:rPr lang="fr-FR"/>
              <a:t>Ce sont les fondamentaux de structure et de contenu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Deuxième moitié des critères pratiqués.</a:t>
            </a:r>
          </a:p>
          <a:p>
            <a:r>
              <a:rPr lang="fr-FR"/>
              <a:t>Liens, couleurs, langue et propriétés du document.</a:t>
            </a:r>
          </a:p>
          <a:p>
            <a:r>
              <a:rPr lang="fr-FR"/>
              <a:t>Demander : « Levez la main si vous êtes capables de corriger ces 10 points sans aide.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Ces critères n'ont pas été pratiqués dans l'exercice mais sont tout aussi obligatoires.</a:t>
            </a:r>
          </a:p>
          <a:p>
            <a:r>
              <a:rPr lang="fr-FR"/>
              <a:t>Les 3 premiers sont des critères bloquants (sécurité et accès fondamental).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Conseil : intégrer 2-3 nouveaux critères par semaine jusqu'à ce que les 21 soient automatiques.</a:t>
            </a:r>
          </a:p>
          <a:p>
            <a:r>
              <a:rPr lang="fr-FR"/>
              <a:t>Suggérer de plastifier ces 4 slides ou de les garder en favoris.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L'engagement explicite crée une intention comportementale plus forte qu'une affirmation.</a:t>
            </a:r>
          </a:p>
          <a:p>
            <a:r>
              <a:rPr lang="fr-FR"/>
              <a:t>Laisser chaque stagiaire écrire son engagement (physique ou mental).</a:t>
            </a:r>
          </a:p>
          <a:p>
            <a:r>
              <a:rPr lang="fr-FR"/>
              <a:t>J+7 = pic de l'oubli selon la courbe d'Ebbinghaus - c'est le moment critique.</a:t>
            </a:r>
          </a:p>
          <a:p>
            <a:r>
              <a:rPr lang="fr-FR"/>
              <a:t>J+30 = consolidation.</a:t>
            </a:r>
          </a:p>
          <a:p>
            <a:r>
              <a:rPr lang="fr-FR"/>
              <a:t>À 6 mois, si les 3 gestes sont devenus automatiques, la formation a atteint son objectif.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Ouvrir par un chiffre : 97 % des pages web présentent au moins une violation WCAG détectable (source WebAIM Million 2024).</a:t>
            </a:r>
          </a:p>
          <a:p>
            <a:r>
              <a:rPr lang="fr-FR"/>
              <a:t>Les Easy Checks sont la trousse de secours du W3C : 13 vérifications qu’un non-technicien peut faire en 20 minutes pour savoir si une page mérite un audit approfondi.</a:t>
            </a:r>
          </a:p>
          <a:p>
            <a:r>
              <a:rPr lang="fr-FR"/>
              <a:t>Annoncer le plan : 13 checks, chacun traité sur 1 à 4 slides selon sa complexité.</a:t>
            </a:r>
          </a:p>
          <a:p>
            <a:r>
              <a:rPr lang="fr-FR"/>
              <a:t>À la fin du module : mission d’audit groupé sur une page de votre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Cette carte de métro, quel type ? » (complexe).</a:t>
            </a:r>
          </a:p>
          <a:p>
            <a:r>
              <a:rPr lang="fr-FR"/>
              <a:t>Insister sur le décoratif - c’est le plus mal compris.</a:t>
            </a:r>
          </a:p>
          <a:p>
            <a:r>
              <a:rPr lang="fr-FR"/>
              <a:t>Un séparateur graphique avec alt="ligne bleue" pollue le lecteur d’écran.</a:t>
            </a:r>
          </a:p>
          <a:p>
            <a:r>
              <a:rPr lang="fr-FR"/>
              <a:t>Règle mnémo : si je retire l’image, est-ce que je perds une info ?</a:t>
            </a:r>
          </a:p>
          <a:p>
            <a:r>
              <a:rPr lang="fr-FR"/>
              <a:t>Si non → alt 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Prédiction avant de montrer les 5 règles : « Combien de caractères max pour un bon alt ? » La plupart diront 255 - la bonne réponse est 125 (JAWS coupe au-delà).</a:t>
            </a:r>
          </a:p>
          <a:p>
            <a:r>
              <a:rPr lang="fr-FR"/>
              <a:t>Exemple live : une photo du ministère avec alt="photo du ministère de Bercy prise en 2023" → refactorer en "Ministère de Bercy, façade ouest." - même info, moitié de caractères.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Masquer la colonne verdict et demander à voter pour chaque ligne.</a:t>
            </a:r>
          </a:p>
          <a:p>
            <a:r>
              <a:rPr lang="fr-FR"/>
              <a:t>Débrief rapide après chaque cas : pourquoi KO ? que rédiger à la place ?</a:t>
            </a:r>
          </a:p>
          <a:p>
            <a:r>
              <a:rPr lang="fr-FR"/>
              <a:t>Ligne 5 (loupe) est le piège le plus commun : on décrit ce qu’on voit, pas ce que l’utilisateur fera en cliquant.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ouvrir 3 onglets de sites publics, demander lequel est identifiable juste à l’étiquette.</a:t>
            </a:r>
          </a:p>
          <a:p>
            <a:r>
              <a:rPr lang="fr-FR"/>
              <a:t>Piège des CMS : beaucoup héritent du titre du template - toutes les pages « Accueil ».</a:t>
            </a:r>
          </a:p>
          <a:p>
            <a:r>
              <a:rPr lang="fr-FR"/>
              <a:t>Outil : survoler l’onglet dans le navigateur ou regarder la balise &lt;title&gt;.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 document Word où tout le texte est en gras 18 pt n’a pas de plan.</a:t>
            </a:r>
          </a:p>
          <a:p>
            <a:r>
              <a:rPr lang="fr-FR"/>
              <a:t>Même principe sur le web.</a:t>
            </a:r>
          </a:p>
          <a:p>
            <a:r>
              <a:rPr lang="fr-FR"/>
              <a:t>Prédire : « Quel est le saut de hiérarchie le plus fréquent ? » (H2 → H4, parce que H3 « n’est pas assez joli »).</a:t>
            </a:r>
          </a:p>
          <a:p>
            <a:r>
              <a:rPr lang="fr-FR"/>
              <a:t>Outil : l’extension HeadingsMap pour Chrome / Firefox affiche l’arbre des titres en un clic.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HeadingsMap sur legifrance.gouv.fr ou service-public.fr.</a:t>
            </a:r>
          </a:p>
          <a:p>
            <a:r>
              <a:rPr lang="fr-FR"/>
              <a:t>Engagement (R24) : chaque stagiaire teste sa page d’accueil personnelle ou professionnelle ce soir et note le nombre de H1 détectés - idéalement 1, souvent 0 ou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lire un SMS à 3 h du matin sur un écran en plein soleil - c’est ce que vit un malvoyant en permanence avec un contraste trop faible.</a:t>
            </a:r>
          </a:p>
          <a:p>
            <a:r>
              <a:rPr lang="fr-FR"/>
              <a:t>Rappeler : le contraste est le critère a11y le plus souvent échoué (56 % des sites échouent, WebAIM 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live : prendre la page d’accueil de Bercy et mesurer 3 textes au hasard.</a:t>
            </a:r>
          </a:p>
          <a:p>
            <a:r>
              <a:rPr lang="fr-FR"/>
              <a:t>Laisser les stagiaires deviner avant la mesure.</a:t>
            </a:r>
          </a:p>
          <a:p>
            <a:r>
              <a:rPr lang="fr-FR"/>
              <a:t>Engagement (R24) : choisissez votre outil préféré d’ici la fin de la session et testez 5 couleurs de votre charte dans la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l’ascenseur dans un immeuble.</a:t>
            </a:r>
          </a:p>
          <a:p>
            <a:r>
              <a:rPr lang="fr-FR"/>
              <a:t>Sans ascenseur, chacun monte les 10 étages à pied - y compris les personnes qui ne peuvent pas.</a:t>
            </a:r>
          </a:p>
          <a:p>
            <a:r>
              <a:rPr lang="fr-FR"/>
              <a:t>Faire deviner : combien de tabulations sur la page de leur intranet pour arriver au contenu ? (réponse typique : 15-30).</a:t>
            </a:r>
          </a:p>
          <a:p>
            <a:r>
              <a:rPr lang="fr-FR"/>
              <a:t>Rappel : le lien d’évitement peut être masqué visuellement mais doit apparaître au focus clavier.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Annoncer le rattachement : cette séquence correspond à l’Easy Check n° 6 du W3C « Focus clavier visible » (WCAG 2.4.7), qu’on élargit ici à la navigation clavier complète (tabulation, activation, lecture).</a:t>
            </a:r>
          </a:p>
          <a:p>
            <a:r>
              <a:rPr lang="fr-FR"/>
              <a:t>Corpus de référence local : 03-easy-checks/w3c-easy-checks-fr.md.</a:t>
            </a:r>
          </a:p>
          <a:p>
            <a:r>
              <a:rPr lang="fr-FR"/>
              <a:t>Ouvrir par une question : « Posez la main loin de la souris.</a:t>
            </a:r>
          </a:p>
          <a:p>
            <a:r>
              <a:rPr lang="fr-FR"/>
              <a:t>Combien de temps tenez-vous sur votre site préféré ? » Laisser 10 secondes de silence.</a:t>
            </a:r>
          </a:p>
          <a:p>
            <a:r>
              <a:rPr lang="fr-FR"/>
              <a:t>Analogie : le clavier est le GPS de votre site - s’il ne s’allume pas, personne ne trouve la route.</a:t>
            </a:r>
          </a:p>
          <a:p>
            <a:r>
              <a:rPr lang="fr-FR"/>
              <a:t>Objectif : transformer le regard des stagiaires.</a:t>
            </a:r>
          </a:p>
          <a:p>
            <a:r>
              <a:rPr lang="fr-FR"/>
              <a:t>Après cette slide, ils ne regarderont plus une page comme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avant de révéler la 3e colonne (R11) : « Devinez ce qui doit se passer quand j’appuie sur Tab ».</a:t>
            </a:r>
          </a:p>
          <a:p>
            <a:r>
              <a:rPr lang="fr-FR"/>
              <a:t>Insister sur l’indicateur de focus visible - c’est LE critère qui tombe en premier.</a:t>
            </a:r>
          </a:p>
          <a:p>
            <a:r>
              <a:rPr lang="fr-FR"/>
              <a:t>Piège fréquent : un site qui n’annonce jamais l’état d’une case à cocher (ligne Espace).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Avant de révéler les 3 cartes, demander : « Quel est le signal qui vous semble le plus grave ? » Laisser parler 2 stagiaires.</a:t>
            </a:r>
          </a:p>
          <a:p>
            <a:r>
              <a:rPr lang="fr-FR"/>
              <a:t>Rappel rassurant (R18) : détecter un de ces signaux n’est pas une faute du développeur, c’est le signe qu’un test clavier n’a jamais été fait.</a:t>
            </a:r>
          </a:p>
          <a:p>
            <a:r>
              <a:rPr lang="fr-FR"/>
              <a:t>Votre rôle :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l’URL du site d’entraînement (fabriqué en interne, avec pièges volontaires).</a:t>
            </a:r>
          </a:p>
          <a:p>
            <a:r>
              <a:rPr lang="fr-FR"/>
              <a:t>Chronométrer 5 minutes.</a:t>
            </a:r>
          </a:p>
          <a:p>
            <a:r>
              <a:rPr lang="fr-FR"/>
              <a:t>Débriefer en collectif : quel signal a été le plus difficile à repérer ? pourquoi ?</a:t>
            </a:r>
          </a:p>
          <a:p>
            <a:r>
              <a:rPr lang="fr-FR"/>
              <a:t>Clore le module avec la question métacognitive (R25) : « Qu’est-ce qui vous aurait aidé à repérer plus vite ? » Engagement : chaque stagiaire annonce ce qu’il testera dès demain sur son propre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activer VoiceOver ou NVDA sur une page sans lang, écouter l’accent massacré.</a:t>
            </a:r>
          </a:p>
          <a:p>
            <a:r>
              <a:rPr lang="fr-FR"/>
              <a:t>Analogie : un comédien à qui on ne dit pas dans quelle langue jouer - il bute sur chaque mot.</a:t>
            </a:r>
          </a:p>
          <a:p>
            <a:r>
              <a:rPr lang="fr-FR"/>
              <a:t>Piège : les sites institutionnels français oublient souvent lang="fr" par défaut sur le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zoomer, c’est mettre des lunettes.</a:t>
            </a:r>
          </a:p>
          <a:p>
            <a:r>
              <a:rPr lang="fr-FR"/>
              <a:t>Votre site doit rester opérationnel avec les lunettes.</a:t>
            </a:r>
          </a:p>
          <a:p>
            <a:r>
              <a:rPr lang="fr-FR"/>
              <a:t>Test immédiat : demander à 2 stagiaires de zoomer à 200 % sur leur intranet et de tenter de remplir un formulaire.</a:t>
            </a:r>
          </a:p>
          <a:p>
            <a:r>
              <a:rPr lang="fr-FR"/>
              <a:t>Souvent, un champ ou un bouton devient inaccessible.</a:t>
            </a:r>
          </a:p>
          <a:p>
            <a:r>
              <a:rPr lang="fr-FR"/>
              <a:t>Ne pas confondre zoom navigateur (OK) et zoom tactile (mobile) - les deux doivent fonctionner.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dans un train bruyant, même un entendant lit les sous-titres.</a:t>
            </a:r>
          </a:p>
          <a:p>
            <a:r>
              <a:rPr lang="fr-FR"/>
              <a:t>Bénéficiaires (faire deviner) : sourds/malentendants (6 millions en France), utilisateurs en open space, apprenants d’une langue étrangère, personnes qui préfèrent lire.</a:t>
            </a:r>
          </a:p>
          <a:p>
            <a:r>
              <a:rPr lang="fr-FR"/>
              <a:t>Nuance capitale : une transcription écrite sur la page n’est PAS un sous-titre - les deux sont utiles, pas interchangeables.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Faire deviner : « Quel est le taux d’erreur moyen d’un sous-titrage auto en français ? » (20 %, soit 1 mot sur 5).</a:t>
            </a:r>
          </a:p>
          <a:p>
            <a:r>
              <a:rPr lang="fr-FR"/>
              <a:t>Exemple concret à projeter : une vidéo ministérielle avec sous-titres auto - pointer 3 erreurs.</a:t>
            </a:r>
          </a:p>
          <a:p>
            <a:r>
              <a:rPr lang="fr-FR"/>
              <a:t>Règle d’or (R18) : l’automatique est un allié pour brouillonner, une faute s’il est publié tel quel.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Différence avec les sous-titres : sous-titres = synchronisés avec la vidéo, transcription = texte autonome lisible hors vidéo.</a:t>
            </a:r>
          </a:p>
          <a:p>
            <a:r>
              <a:rPr lang="fr-FR"/>
              <a:t>Les deux coexistent pour une vidéo de référence.</a:t>
            </a:r>
          </a:p>
          <a:p>
            <a:r>
              <a:rPr lang="fr-FR"/>
              <a:t>Piège : publier une transcription brute générée par Whisper sans relecture - bourrée d'erreurs.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montrer 30 secondes d’un film d’animation sans dialogue, puis avec audiodescription.</a:t>
            </a:r>
          </a:p>
          <a:p>
            <a:r>
              <a:rPr lang="fr-FR"/>
              <a:t>Le contraste est saisissant.</a:t>
            </a:r>
          </a:p>
          <a:p>
            <a:r>
              <a:rPr lang="fr-FR"/>
              <a:t>Exception pratique : si la vidéo est entièrement commentée en voix off (ex. reportage narré), l’audiodescription est souvent superflue - tout est déjà 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une rue d’immeubles où les boîtes aux lettres n’ont aucun nom - impossible de distribuer.</a:t>
            </a:r>
          </a:p>
          <a:p>
            <a:r>
              <a:rPr lang="fr-FR"/>
              <a:t>Test décisif : cliquer sur le TEXTE de l’étiquette.</a:t>
            </a:r>
          </a:p>
          <a:p>
            <a:r>
              <a:rPr lang="fr-FR"/>
              <a:t>Si le curseur saute dans le champ, c’est bien balisé.</a:t>
            </a:r>
          </a:p>
          <a:p>
            <a:r>
              <a:rPr lang="fr-FR"/>
              <a:t>Sinon, l’association est cassée - même si visuellement ça semble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Démo : formulaire courant (type CAF, impots.gouv) avec labels floating - zoomer à 200 % et montrer que l’étiquette disparaît derrière le texte saisi.</a:t>
            </a:r>
          </a:p>
          <a:p>
            <a:r>
              <a:rPr lang="fr-FR"/>
              <a:t>Règle pragmatique : si on doit choisir entre joli et utilisable, on choisit utilisable.</a:t>
            </a:r>
          </a:p>
          <a:p>
            <a:r>
              <a:rPr lang="fr-FR"/>
              <a:t>Les labels au-dessus du champ sont plus hauts mais clairs pour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Analogie : sans &lt;fieldset&gt;/&lt;legend&gt;, les radios sont comme des enfants sans nom de famille - on les entend, on ne sait pas à quelle question ils répondent.</a:t>
            </a:r>
          </a:p>
          <a:p>
            <a:r>
              <a:rPr lang="fr-FR"/>
              <a:t>Côté visuel : le fieldset se traduit souvent par une bordure ou un titre de section - le design peut l’habiller, il ne doit pas le supprimer.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Règle d'or : couleur seule = information perdue pour les aveugles et les daltoniens.</a:t>
            </a:r>
          </a:p>
          <a:p>
            <a:r>
              <a:rPr lang="fr-FR"/>
              <a:t>Exemple à tester : un champ obligatoire marqué uniquement par astérisque rouge - lecteur d'écran n'annonce rien.</a:t>
            </a:r>
          </a:p>
          <a:p>
            <a:r>
              <a:rPr lang="fr-FR"/>
              <a:t>Message d'erreur à éviter : « Erreur champ 3 » → préférer « Votre adresse électronique est obligatoire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Distribuer la grille d’audit : 03-easy-checks/grille-audit-easy-checks.xlsx.</a:t>
            </a:r>
          </a:p>
          <a:p>
            <a:r>
              <a:rPr lang="fr-FR"/>
              <a:t>Onglet Grille vierge à dupliquer par stagiaire, onglet Exemple pour s’orienter, onglet Synthèse pour consolider.</a:t>
            </a:r>
          </a:p>
          <a:p>
            <a:r>
              <a:rPr lang="fr-FR"/>
              <a:t>Timing : 20 min audit individuel, 5 min binôme, 5 min restitution collective.</a:t>
            </a:r>
          </a:p>
          <a:p>
            <a:r>
              <a:rPr lang="fr-FR"/>
              <a:t>Outils autorisés : DevTools, HeadingsMap, Colour Contrast Analyser, clavier + casque audio.</a:t>
            </a:r>
          </a:p>
          <a:p>
            <a:r>
              <a:rPr lang="fr-FR"/>
              <a:t>Clôture métacognitive (R25) : « Quel check vous a surpris ?</a:t>
            </a:r>
          </a:p>
          <a:p>
            <a:r>
              <a:rPr lang="fr-FR"/>
              <a:t>Quel est le plus facile à faire adopter dans votre équipe ? » Engagement (R24) : chaque stagiaire annonce UNE action qu’il lancera dès demain 9 h.</a:t>
            </a:r>
          </a:p>
          <a:p>
            <a:r>
              <a:rPr lang="fr-FR"/>
              <a:t>Livrable individuel : grille Easy Checks remplie + 3 actions priorisées + 1 engagement personnel.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Ouverture Module 4.</a:t>
            </a:r>
          </a:p>
          <a:p>
            <a:r>
              <a:rPr lang="fr-FR"/>
              <a:t>Question d'accroche : Qui a déjà publié une photo sans texte alternatif ?</a:t>
            </a:r>
          </a:p>
          <a:p>
            <a:r>
              <a:rPr lang="fr-FR"/>
              <a:t>Toutes les mains levées - c'est le problème qu'on va résoudre.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stat des 12 millions vient de l'INSEE (enquête Handicap-Santé 2021).</a:t>
            </a:r>
          </a:p>
          <a:p>
            <a:r>
              <a:rPr lang="fr-FR"/>
              <a:t>Ne pas chercher à impressionner avec des chiffres spectaculaires - le vrai impact c'est 'quelqu'un dans votre public ne pourra pas lire ce post'.</a:t>
            </a:r>
          </a:p>
          <a:p>
            <a:r>
              <a:rPr lang="fr-FR"/>
              <a:t>Annoncer la structure : 4 gestes que vous allez voir en détail.</a:t>
            </a:r>
          </a:p>
          <a:p>
            <a:r>
              <a:rPr lang="fr-FR"/>
              <a:t>Commencer par une question : 'Sur vos 10 derniers posts, combien avaient un texte alternatif sur les images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rien dire.</a:t>
            </a:r>
          </a:p>
          <a:p>
            <a:r>
              <a:rPr lang="fr-FR"/>
              <a:t>Distribuer la consigne, laisser 2 minutes en silence.</a:t>
            </a:r>
          </a:p>
          <a:p>
            <a:r>
              <a:rPr lang="fr-FR"/>
              <a:t>Certains stagiaires vont identifier les émojis, d'autres le contraste, d'autres rien.</a:t>
            </a:r>
          </a:p>
          <a:p>
            <a:r>
              <a:rPr lang="fr-FR"/>
              <a:t>C'est exactement l'objectif : révéler que le problème n'est pas évident visuellement.</a:t>
            </a:r>
          </a:p>
          <a:p>
            <a:r>
              <a:rPr lang="fr-FR"/>
              <a:t>Recueillir les réponses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à voix haute la colonne de droite avec le ton d'un lecteur d'écran - monotone, sans pause.</a:t>
            </a:r>
          </a:p>
          <a:p>
            <a:r>
              <a:rPr lang="fr-FR"/>
              <a:t>Silence après la lecture.</a:t>
            </a:r>
          </a:p>
          <a:p>
            <a:r>
              <a:rPr lang="fr-FR"/>
              <a:t>Laisser l'absurdité s'installer.</a:t>
            </a:r>
          </a:p>
          <a:p>
            <a:r>
              <a:rPr lang="fr-FR"/>
              <a:t>L'effet de surprise est la meilleure colle mémorielle ici.</a:t>
            </a:r>
          </a:p>
          <a:p>
            <a:r>
              <a:rPr lang="fr-FR"/>
              <a:t>Ne pas commenter immédiatement - poser la question : 'Qui aurait pensé à ça en publiant 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Insister : aucune information perdue.</a:t>
            </a:r>
          </a:p>
          <a:p>
            <a:r>
              <a:rPr lang="fr-FR"/>
              <a:t>Le message est même plus clair pour tout le monde.</a:t>
            </a:r>
          </a:p>
          <a:p>
            <a:r>
              <a:rPr lang="fr-FR"/>
              <a:t>L'accessibilité améliore la qualité pour tous, pas seulement pour les personnes handicapées.</a:t>
            </a:r>
          </a:p>
          <a:p>
            <a:r>
              <a:rPr lang="fr-FR"/>
              <a:t>Question à poser : 'Combien de temps faut-il pour faire ces 3 modifications ?' - Réponse :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Post à préparer avant la session : un post LinkedIn ou Twitter avec 5-6 émojis en série et un hashtag sans CamelCase.</a:t>
            </a:r>
          </a:p>
          <a:p>
            <a:r>
              <a:rPr lang="fr-FR"/>
              <a:t>L'effet est immédiatement compréhensible.</a:t>
            </a:r>
          </a:p>
          <a:p>
            <a:r>
              <a:rPr lang="fr-FR"/>
              <a:t>NVDA : Ctrl+Alt+N pour démarrer, Insert+Q pour quitter.</a:t>
            </a:r>
          </a:p>
          <a:p>
            <a:r>
              <a:rPr lang="fr-FR"/>
              <a:t>Si NVDA n'est pas disponible, utiliser Narrateur Windows (Win+Ctrl+Entrée).</a:t>
            </a:r>
          </a:p>
          <a:p>
            <a:r>
              <a:rPr lang="fr-FR"/>
              <a:t>Durée de la démo : 5 minutes max.</a:t>
            </a:r>
          </a:p>
          <a:p>
            <a:r>
              <a:rPr lang="fr-FR"/>
              <a:t>Laisser ensuite 5 minutes aux stagiaires pour tester eux-mêmes sur leur propre PC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Cette slide sert de boussole pour tout le module.</a:t>
            </a:r>
          </a:p>
          <a:p>
            <a:r>
              <a:rPr lang="fr-FR"/>
              <a:t>Y revenir à la fin.</a:t>
            </a:r>
          </a:p>
          <a:p>
            <a:r>
              <a:rPr lang="fr-FR"/>
              <a:t>Chaque réflexe sera détaillé dans les slides suivantes.</a:t>
            </a:r>
          </a:p>
          <a:p>
            <a:r>
              <a:rPr lang="fr-FR"/>
              <a:t>Le message clé : 4 actions, 2 minutes par publication, zéro compétence technique requise.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L'analogie du sous-titre fonctionne très bien - tout le monde comprend immédiatement.</a:t>
            </a:r>
          </a:p>
          <a:p>
            <a:r>
              <a:rPr lang="fr-FR"/>
              <a:t>Insister sur le fait que ça bénéficie AUSSI au référencement : argument qui convainc les agents qui ne sont pas sensibles à l'accessibilité pure.</a:t>
            </a:r>
          </a:p>
          <a:p>
            <a:r>
              <a:rPr lang="fr-FR"/>
              <a:t>Montrer rapidement où trouver le champ alt text sur LinkedIn (le plus utilisé en contexte pro).</a:t>
            </a:r>
          </a:p>
          <a:p>
            <a:r>
              <a:rPr lang="fr-FR"/>
              <a:t>Ne pas aller dans le détail de toutes les plateformes ici - ça sera dans le tableau comparatif.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d'or : décrire ce qui est utile pour comprendre le message, pas ce qui est visible.</a:t>
            </a:r>
          </a:p>
          <a:p>
            <a:r>
              <a:rPr lang="fr-FR"/>
              <a:t>Une photo de groupe sans texte = "Équipe de 5 agents en réunion de travail".</a:t>
            </a:r>
          </a:p>
          <a:p>
            <a:r>
              <a:rPr lang="fr-FR"/>
              <a:t>Une infographie avec des chiffres = décrire les chiffres clés dans l'alt text OU dire que le détail est dans le texte du post.</a:t>
            </a:r>
          </a:p>
          <a:p>
            <a:r>
              <a:rPr lang="fr-FR"/>
              <a:t>Recueillir 1-2 exemples à l'oral avant de passer à la slide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Ne pas lire le tableau ligne par ligne - il sert de mémo à imprimer ou photographier.</a:t>
            </a:r>
          </a:p>
          <a:p>
            <a:r>
              <a:rPr lang="fr-FR"/>
              <a:t>Insister : sur X/Twitter il faut le faire AVANT de publier, on ne peut pas l'ajouter après.</a:t>
            </a:r>
          </a:p>
          <a:p>
            <a:r>
              <a:rPr lang="fr-FR"/>
              <a:t>Sur LinkedIn c'est possible après coup, donc pas d'excuse.</a:t>
            </a:r>
          </a:p>
          <a:p>
            <a:r>
              <a:rPr lang="fr-FR"/>
              <a:t>Un mémo PDF plus complet sera distribué 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La règle du test : retirer l'émoji et voir si le message tient.</a:t>
            </a:r>
          </a:p>
          <a:p>
            <a:r>
              <a:rPr lang="fr-FR"/>
              <a:t>Exemple : 'Rejoignez-nous mardi prochain !' vs 'Rejoignez-nous mardi prochain !📅' - le calendrier ne porte pas de sens supplémentaire ici, c'est décoratif.</a:t>
            </a:r>
          </a:p>
          <a:p>
            <a:r>
              <a:rPr lang="fr-FR"/>
              <a:t>Mais '🚨 Fermeture exceptionnelle' : l'émoji alerte sert vraiment de signal.</a:t>
            </a:r>
          </a:p>
          <a:p>
            <a:r>
              <a:rPr lang="fr-FR"/>
              <a:t>Dans ce cas il faut écrire 'ALERTE - Fermeture exceptionnelle' et mettre l'émoji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Lire la colonne de droite à voix haute, d'une seule traite, sans intonation.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Puis lire la version accessible : nette et compréhensible.</a:t>
            </a:r>
          </a:p>
          <a:p>
            <a:r>
              <a:rPr lang="fr-FR"/>
              <a:t>Question à poser : 'Combien de temps pour corriger ce post ?' - 30 secondes.</a:t>
            </a:r>
          </a:p>
          <a:p>
            <a:r>
              <a:rPr lang="fr-FR"/>
              <a:t>L'information est la même, la lisibilité est incomparablement meilleure.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L'anecdote Susan Boyle : en 2012 le label de Susan Boyle a lancé le hashtag #susanalbumparty pour son album.</a:t>
            </a:r>
          </a:p>
          <a:p>
            <a:r>
              <a:rPr lang="fr-FR"/>
              <a:t>Sans CamelCase, le lecteur d'écran (et les humains !) lisaient quelque chose de très différent.</a:t>
            </a:r>
          </a:p>
          <a:p>
            <a:r>
              <a:rPr lang="fr-FR"/>
              <a:t>Depuis, le CamelCase est la norme sur toutes les plateformes.</a:t>
            </a:r>
          </a:p>
          <a:p>
            <a:r>
              <a:rPr lang="fr-FR"/>
              <a:t>C'est une des rares règles d'accessibilité qui est aussi devenue la norme éditoriale standard - bon exemple que l'accessibilité améliore la communication pour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Montrer en direct sur un smartphone : aller sur InstaFont, taper 'Bonjour', copier le résultat 'faux gras', le coller dans un post test, puis activer TalkBack (Android) ou VoiceOver (iPhone) pour écouter.</a:t>
            </a:r>
          </a:p>
          <a:p>
            <a:r>
              <a:rPr lang="fr-FR"/>
              <a:t>L'effet est immédiat.</a:t>
            </a:r>
          </a:p>
          <a:p>
            <a:r>
              <a:rPr lang="fr-FR"/>
              <a:t>La règle Opquast 14 est une référence AQW (Assurance Qualité Web) qui couvre aussi le SEO et la lisibilité IA - argument fort pour les agents qui ne sont pas encore convaincus par l'argument accessibilité seul.</a:t>
            </a:r>
          </a:p>
          <a:p>
            <a:r>
              <a:rPr lang="fr-FR"/>
              <a:t>Solution simple : utiliser le gras natif de la plateforme (LinkedIn, Facebook permettent le formatage natif).</a:t>
            </a:r>
          </a:p>
          <a:p>
            <a:r>
              <a:rPr lang="fr-FR"/>
              <a:t>Sinon, écrire en texte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Sujet sensible à traiter avec neutralité - ne pas prendre position sur le fond idéologique, uniquement sur la technicité d'accessibilité.</a:t>
            </a:r>
          </a:p>
          <a:p>
            <a:r>
              <a:rPr lang="fr-FR"/>
              <a:t>Le message clé : l'accessibilité et l'inclusion ne s'opposent pas.</a:t>
            </a:r>
          </a:p>
          <a:p>
            <a:r>
              <a:rPr lang="fr-FR"/>
              <a:t>Le point médian pose un problème technique réel (lecteur d'écran) indépendamment de toute position politique.</a:t>
            </a:r>
          </a:p>
          <a:p>
            <a:r>
              <a:rPr lang="fr-FR"/>
              <a:t>La DGLFLF et la DINUM sont des références institutionnelles solides pour les agents qui auraient des doutes sur la légitimité de la recommandation.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Ne pas lire les réponses inscrites sur les cartes pendant la question.</a:t>
            </a:r>
          </a:p>
          <a:p>
            <a:r>
              <a:rPr lang="fr-FR"/>
              <a:t>Interleaving (R14 neuropédagogie) : les 4 questions couvrent les 4 réflexes du module, pas uniquement le dernier thème.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Clôture du module.</a:t>
            </a:r>
          </a:p>
          <a:p>
            <a:r>
              <a:rPr lang="fr-FR"/>
              <a:t>Laisser 2 minutes aux stagiaires pour noter leur engagement personnel (1 seul geste concret pour demain).</a:t>
            </a:r>
          </a:p>
          <a:p>
            <a:r>
              <a:rPr lang="fr-FR"/>
              <a:t>La restitution orale de ces engagements crée une responsabilisation sociale (R24 neuropédagogie - plan d'action + pair learning).</a:t>
            </a:r>
          </a:p>
          <a:p>
            <a:r>
              <a:rPr lang="fr-FR"/>
              <a:t>Annoncer : un mémo PDF 'Réseaux sociaux accessibles' sera envoyé par mail après la formation avec les 4 réflexes et le tableau des plateformes.</a:t>
            </a:r>
          </a:p>
          <a:p>
            <a:r>
              <a:rPr lang="fr-FR"/>
              <a:t>Remercier les stagiaires pour leur participation et leur attention sur un sujet qui impacte directement les millions d'usagers de leurs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hyperlink" Target="mailto:bertrand.matge@finances.gouv.fr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hyperlink" Target="mailto:alexandra.guiderdoni@finances.gouv.fr" TargetMode="Externa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ideance.net/blog/4602/idees-recues-a11y" TargetMode="Externa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checklists.opquast.com/fr/qualite-numerique/les-contenus-ne-detournent-pas-de-caracteres-pour-simuler-une-mise-en-forme-visuelle" TargetMode="External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2286000"/>
            <a:ext cx="11228832" cy="10058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2103120"/>
            <a:ext cx="5390388" cy="274777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formation vous permettra de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2606039"/>
            <a:ext cx="5143500" cy="21534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Expliquer les enjeux de l'accessibilité numérique et son cadre légal dans le contexte de la communication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et évaluer les principales erreurs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Rendre des contenus numériques accessibles</a:t>
            </a:r>
          </a:p>
        </p:txBody>
      </p:sp>
      <p:pic>
        <p:nvPicPr>
          <p:cNvPr id="19" name="Picture 18" descr="Affiche du SIG pour les 20 ans de la loi handicap. Imaginez un quotidien où rien n'est vraiment pensé pour vous. Ordinateur avec un écran inversé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5432" y="1920240"/>
            <a:ext cx="3493008" cy="4167097"/>
          </a:xfrm>
          <a:prstGeom prst="rect">
            <a:avLst/>
          </a:prstGeom>
        </p:spPr>
      </p:pic>
      <p:pic>
        <p:nvPicPr>
          <p:cNvPr id="20" name="Picture 19" descr="QR code : https://www.info.gouv.fr/accessibili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4846320"/>
            <a:ext cx="1188720" cy="1188720"/>
          </a:xfrm>
          <a:prstGeom prst="rect">
            <a:avLst/>
          </a:prstGeom>
        </p:spPr>
      </p:pic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2103120"/>
            <a:ext cx="73152" cy="274777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Programme de la journée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Accessibilité et cadre légal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 des acteurs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Déclaration d'accessibilité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23059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0885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 accessible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66059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Documents Word et LibreOffice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Export PDF accessible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Easy Checks W3C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13 vérifications rapides W3C WAI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Démonstration et exercice pratique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989070"/>
            <a:ext cx="5390388" cy="21831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67487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Réseaux sociaux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132070"/>
            <a:ext cx="5097779" cy="9029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Enjeux et obligations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text, hashtags, émojis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Programme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6021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12623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23059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989070"/>
            <a:ext cx="73152" cy="21831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Bertrand Matge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pic>
        <p:nvPicPr>
          <p:cNvPr id="8" name="Picture 7" descr="Photo Bertrand Mat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185416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195828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Responsable pôle support web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857500"/>
            <a:ext cx="745236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Formateur Opquast certifié, référent Assurance Qualité Web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Forme et sensibilise à l'accessibilité depuis plusieurs années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Passionné par la conception inclusive et l'expérience 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 à l'audit d'accessibilité numérique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bertrand.matge@finances.gouv.fr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1958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Alexandra Guiderdoni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Intervenants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pic>
        <p:nvPicPr>
          <p:cNvPr id="8" name="Picture 7" descr="Photo Alexandra Guiderdon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194560"/>
            <a:ext cx="2185416" cy="2809821"/>
          </a:xfrm>
          <a:prstGeom prst="rect">
            <a:avLst/>
          </a:prstGeom>
        </p:spPr>
      </p:pic>
      <p:sp>
        <p:nvSpPr>
          <p:cNvPr id="10" name="DSFR-box"/>
          <p:cNvSpPr/>
          <p:nvPr/>
        </p:nvSpPr>
        <p:spPr>
          <a:xfrm>
            <a:off x="4005072" y="2194560"/>
            <a:ext cx="7699248" cy="332384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llout-titre"/>
          <p:cNvSpPr txBox="1"/>
          <p:nvPr/>
        </p:nvSpPr>
        <p:spPr>
          <a:xfrm>
            <a:off x="4160520" y="2286000"/>
            <a:ext cx="745236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Chef de projet - Mission Ingénierie du Web, SG-SNUM</a:t>
            </a:r>
          </a:p>
        </p:txBody>
      </p:sp>
      <p:sp>
        <p:nvSpPr>
          <p:cNvPr id="12" name="DSFR-callout-body"/>
          <p:cNvSpPr txBox="1"/>
          <p:nvPr/>
        </p:nvSpPr>
        <p:spPr>
          <a:xfrm>
            <a:off x="4160520" y="2697479"/>
            <a:ext cx="7452360" cy="27294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Spécialisée dans les technologies web et l'accessibilité numérique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Expérience : Ministère des affaires étrangères, ESN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DU-RAN (diplôme universitaire référent accessibilité numérique), 1re session 2024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Formée à l'audit d'accessibilité numérique RGAA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Formatrice et Référente en Assurance Qualité pour le Web - Opquast</a:t>
            </a:r>
          </a:p>
          <a:p>
            <a:pPr algn="l">
              <a:lnSpc>
                <a:spcPct val="150000"/>
              </a:lnSpc>
            </a:pPr>
            <a:r>
              <a:rPr sz="1400" u="sng" lang="fr-FR">
                <a:solidFill>
                  <a:srgbClr val="000091"/>
                </a:solidFill>
                <a:latin typeface="Marianne"/>
                <a:hlinkClick r:id="rId3"/>
              </a:rPr>
              <a:t>• Email : alexandra.guiderdoni@finances.gouv.fr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Intervenants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3931920" y="2194560"/>
            <a:ext cx="73152" cy="33238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Présentez-vous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êtes-vous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Bonjour, je m'appelle [prénom]
Je suis [métier / fonction]
chez [direction / service]
depuis [durée]</a:t>
            </a:r>
          </a:p>
        </p:txBody>
      </p:sp>
      <p:sp>
        <p:nvSpPr>
          <p:cNvPr id="13" name="DSFR-box"/>
          <p:cNvSpPr/>
          <p:nvPr/>
        </p:nvSpPr>
        <p:spPr>
          <a:xfrm>
            <a:off x="4392167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Mon rapport à l'accessibilité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Quand j'entends « accessibilité numérique », je pense à [premier mot]
Je me situe plutôt :
[ ] Complet débutant
[ ] J'en ai entendu parler
[ ] J'ai déjà appliqué quelques règles</a:t>
            </a:r>
          </a:p>
        </p:txBody>
      </p:sp>
      <p:sp>
        <p:nvSpPr>
          <p:cNvPr id="17" name="DSFR-box"/>
          <p:cNvSpPr/>
          <p:nvPr/>
        </p:nvSpPr>
        <p:spPr>
          <a:xfrm>
            <a:off x="8235695" y="2103120"/>
            <a:ext cx="3468623" cy="4069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rd-titre"/>
          <p:cNvSpPr txBox="1"/>
          <p:nvPr/>
        </p:nvSpPr>
        <p:spPr>
          <a:xfrm>
            <a:off x="8391144" y="2240279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j'attends</a:t>
            </a:r>
          </a:p>
        </p:txBody>
      </p:sp>
      <p:sp>
        <p:nvSpPr>
          <p:cNvPr id="19" name="DSFR-card-contenu"/>
          <p:cNvSpPr txBox="1"/>
          <p:nvPr/>
        </p:nvSpPr>
        <p:spPr>
          <a:xfrm>
            <a:off x="8391144" y="2697479"/>
            <a:ext cx="3176016" cy="33375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Je produis principalement [type de contenu]
Pour un usage :
[ ] Interne   [ ] Grand public
Ce que j'espère retirer :
J'aimerais [objectif personnel]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319015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103120"/>
            <a:ext cx="73152" cy="4069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Regroupement par binômes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ça marche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stagiaires - 6 binômes de 2 personnes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binôme pioche 1 carte idée reçue : vous en êtes les gardiens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Pendant la journée : les exercices pratiques se font en binôme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en binôme ?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L'apprentissage est plus solide quand on explique à quelqu'un d'autre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Deux regards valent mieux qu'un sur un document à corriger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Prenez 1 minute : échangez avec votre binôme ce que vous faites au quotidien.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Ensemble, faisons tomber les préjugés 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L'accessibilité numérique, ça fait peur ... mais souvent pour de mauvaises raisons.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6898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info-titre"/>
          <p:cNvSpPr txBox="1"/>
          <p:nvPr/>
        </p:nvSpPr>
        <p:spPr>
          <a:xfrm>
            <a:off x="704088" y="336042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Activité : vrai ou faux ?</a:t>
            </a:r>
          </a:p>
        </p:txBody>
      </p:sp>
      <p:sp>
        <p:nvSpPr>
          <p:cNvPr id="14" name="DSFR-alert-info-body"/>
          <p:cNvSpPr txBox="1"/>
          <p:nvPr/>
        </p:nvSpPr>
        <p:spPr>
          <a:xfrm>
            <a:off x="704088" y="377190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Vous avez chacun une carte avec une idée reçue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Lisez-la, décidez : vrai ou faux ?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On révèle ensemble le décryptage, carte par carte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6898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1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26771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98755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 Ça ne concerne qu'une minorité de personnes 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milliard+ de personnes dans le monde vivent avec un handicap (OMS)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Soit 15 % de la population mondiale - 1 personne sur 6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France : 12 millions de personnes en situation de handicap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Et chacun sera concerné un jour : âge, accident, maladie temporaire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462272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553712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462272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46227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2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La créativité et l'UX seront dégradées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n'impose pas un design archaïque, austère ou sans inspiration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contraintes sont des leviers de créativité, pas des freins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interfaces les plus accessibles sont souvent les plus claires et élégantes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le DSFR (Design System de l'État) est à la fois accessible et soigné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3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C'est juste du contraste et des images décrites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contraste et les textes alternatifs ne sont que 2 exigences sur des centaines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compte 106 critères, les WCAG 2.1 en comptent 78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Titres, liens, tableaux, formulaires, langue, ordre de lecture ... autant de dimensions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touche toute la chaîne : rédaction, mise en forme, export, publication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4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437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56362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Ce n'est pas de mon ressort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843784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2494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ne peut pas être portée par une seule équipe ou une seule personne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implique tous les producteurs de contenu : rédacteurs, communicants, designers ...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document Word, chaque image publiée engage une responsabilité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loi de 2005 et la directive européenne 2016/2102 s'appliquent à tous les agents publics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5038344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5129783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5038344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8437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503834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5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Ça coûte trop cher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Oui - si l'accessibilité est traitée comme un ajustement en fin de projet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Non - si elle est intégrée dès la conception (approche « shift left »)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un document Word après publication : 10 fois plus cher que le faire d'emblée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réflexes appris aujourd'hui ne coûtent rien : juste un changement d'habitude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Idée reçue 6 / 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Idées reçues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651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Idée reçue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13716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« On s'en occupe à la fin ! »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26517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Décryptage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2606039"/>
            <a:ext cx="5143500" cy="2057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Prise en compte tardive = grosses corrections après coup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Cela pèse sur l'efficacité des projets et génère de la frustration pour les équipes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« à la fin » est souvent l'accessibilité jamais faite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intégrer les bons réflexes à chaque étape, pas les accumuler en sprint final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846320"/>
            <a:ext cx="5390388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highlight"/>
          <p:cNvSpPr txBox="1"/>
          <p:nvPr/>
        </p:nvSpPr>
        <p:spPr>
          <a:xfrm>
            <a:off x="749808" y="4937759"/>
            <a:ext cx="5097779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Source : ideance.net/blog/4602/idees-recues-a11y</a:t>
            </a:r>
          </a:p>
        </p:txBody>
      </p:sp>
      <p:pic>
        <p:nvPicPr>
          <p:cNvPr id="20" name="Picture 19" descr="QR code : https://ideance.net/blog/4602/idees-recues-a11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79" y="4846320"/>
            <a:ext cx="891540" cy="89154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Accueil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6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2651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8463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Accessibilité numérique et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numérique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542032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site accessible, c'est un site que tout le monde peut utiliser - avec ou sans handicap, avec ou sans outil d'assistance.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12 millions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personnes en situation
de handicap en France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sites publics non
conformes au RGAA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707891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2005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6680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: obligation
d'accessibilité numérique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cadre légal : de 2005 à aujourd'hui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Loi Handicap 2005 : 1re obligation d'accessibilité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Directive européenne 2016 : extension au secteur public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RGAA 4.1.2 (décret 2019-768) : référentiel opposable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Contrôle Arcom effectif - contrôle DINUM en cours de mise en place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148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062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est concerné ?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177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État, collectivités, établissements publics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Entreprises privées gérant un service public ou CA &gt; 250 M 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Pénalité jusqu'à 25 000 EUR par service non conforme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148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déclaration d'accessibilité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Cadre légal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Que doit-elle contenir ?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Exemple concret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Taux de conformité RGAA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Ex. : 62 % conforme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global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Partiellement conforme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Technologies utilisées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HTML5, CSS3, JavaScript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Environnements de test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Chrome + NVDA, Safari + VoiceOver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Contact et voie de recours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accessibilite@ministere.fr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5720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Exercice pratique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0749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Cherchez la déclaration d'accessibilité de votre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URL type : /declaration-accessibilite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taux de conformité affiché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5720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Module 1 - Ce que vous retenez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Introduction | Points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info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points à retenir</a:t>
            </a:r>
          </a:p>
        </p:txBody>
      </p:sp>
      <p:sp>
        <p:nvSpPr>
          <p:cNvPr id="11" name="DSFR-alert-info-body"/>
          <p:cNvSpPr txBox="1"/>
          <p:nvPr/>
        </p:nvSpPr>
        <p:spPr>
          <a:xfrm>
            <a:off x="704088" y="2606039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L'accessibilité est une </a:t>
            </a:r>
            <a:r>
              <a:rPr sz="1400" b="1" lang="fr-FR">
                <a:solidFill>
                  <a:srgbClr val="161616"/>
                </a:solidFill>
                <a:latin typeface="Marianne"/>
              </a:rPr>
              <a:t>obligation légale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 - pas une option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RGAA 4.1.2 est votre référentiel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déclaration d'accessibilité est publiée sur chaque site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encadre-titre"/>
          <p:cNvSpPr txBox="1"/>
          <p:nvPr/>
        </p:nvSpPr>
        <p:spPr>
          <a:xfrm>
            <a:off x="704088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Dès demain matin</a:t>
            </a:r>
          </a:p>
        </p:txBody>
      </p:sp>
      <p:sp>
        <p:nvSpPr>
          <p:cNvPr id="15" name="DSFR-encadre-bullets"/>
          <p:cNvSpPr txBox="1"/>
          <p:nvPr/>
        </p:nvSpPr>
        <p:spPr>
          <a:xfrm>
            <a:off x="704088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votre déclaration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Noter le taux de conformité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Faire réaliser un audit si celui-ci n'existe pas</a:t>
            </a:r>
          </a:p>
        </p:txBody>
      </p:sp>
      <p:sp>
        <p:nvSpPr>
          <p:cNvPr id="17" name="DSFR-box"/>
          <p:cNvSpPr/>
          <p:nvPr/>
        </p:nvSpPr>
        <p:spPr>
          <a:xfrm>
            <a:off x="6313931" y="3977639"/>
            <a:ext cx="5390388" cy="21945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encadre-titre"/>
          <p:cNvSpPr txBox="1"/>
          <p:nvPr/>
        </p:nvSpPr>
        <p:spPr>
          <a:xfrm>
            <a:off x="6469379" y="411480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Cette semaine</a:t>
            </a:r>
          </a:p>
        </p:txBody>
      </p:sp>
      <p:sp>
        <p:nvSpPr>
          <p:cNvPr id="19" name="DSFR-encadre-bullets"/>
          <p:cNvSpPr txBox="1"/>
          <p:nvPr/>
        </p:nvSpPr>
        <p:spPr>
          <a:xfrm>
            <a:off x="6469379" y="4572000"/>
            <a:ext cx="5097779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Partager le taux à l'équipe projet et à votre supérieur hiérarchique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Identifier les pages obligatoires de l'échantillon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6240779" y="3977639"/>
            <a:ext cx="73152" cy="21945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bureautiques accessibles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lecteur d'écran en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Ouverture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25603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quote-texte"/>
          <p:cNvSpPr txBox="1"/>
          <p:nvPr/>
        </p:nvSpPr>
        <p:spPr>
          <a:xfrm>
            <a:off x="749808" y="2240279"/>
            <a:ext cx="10863072" cy="22860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Texte, texte, texte, texte, texte, texte ...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Pendant 4 minutes. Sans titre. Sans repère.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Sans pouvoir naviguer vers la section qui le concerne.</a:t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600" i="1" lang="fr-FR">
                <a:solidFill>
                  <a:srgbClr val="161616"/>
                </a:solidFill>
                <a:latin typeface="Marianne"/>
              </a:rPr>
              <a:t>-&gt; C'est ce qu'entend une personne malvoyante face à votre document Word.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warning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15 % de vos destinataires sont concernés</a:t>
            </a:r>
          </a:p>
        </p:txBody>
      </p:sp>
      <p:sp>
        <p:nvSpPr>
          <p:cNvPr id="14" name="DSFR-alert-warning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80 % de ces handicaps sont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Dans une réunion de 12 personnes : au moins 1 daltonien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Parmi 30 destinataires : 4 ou 5 ont un handicap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Contexte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5603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- lequel de ces deux documents est accessible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flash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Ils sont visuellement identiques. Lequel préférez-vous pour NVDA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A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mis en gras, police Arial 16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sans description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Document1.docx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314700"/>
            <a:ext cx="5390388" cy="190881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6469379" y="345186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Document B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6469379" y="3909060"/>
            <a:ext cx="5097779" cy="11772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avec le style « Titre 1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avec texte alternatif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Fichier nommé rapport-bilan-2024.docx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554355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63499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Votre réponse ?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314700"/>
            <a:ext cx="73152" cy="19088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54355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ça vous concerne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23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15 %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vos destinataires sont concernés par un handicap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80 %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ces handicaps sont invisibles - rien ne le montre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10312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0 ligne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06323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 code nécessaire - uniquement des réflexes dans le ruban Word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37947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Réponse au quiz : Document B</a:t>
            </a:r>
          </a:p>
        </p:txBody>
      </p:sp>
      <p:sp>
        <p:nvSpPr>
          <p:cNvPr id="17" name="DSFR-callout-body"/>
          <p:cNvSpPr txBox="1"/>
          <p:nvPr/>
        </p:nvSpPr>
        <p:spPr>
          <a:xfrm>
            <a:off x="704088" y="42976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style Titre 1 crée une structure de navigation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de remplacement décrit la fonction de l'image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nom de fichier permet de retrouver le document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Pourquoi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37947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thèmes, 21 critères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thème = des critères actionnables immédiatement dans le ruban Word.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337560"/>
          <a:ext cx="1122883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028431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Thème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allez apprendre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1.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Titres, listes, colonnes, tableaux, sauts de page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2. Couleurs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Rapport de contraste, couleur porteuse de sens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3. Contenu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alternatif, objets alignés, liens descriptifs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4. Langue et lisibilité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Balisage linguistique, majuscules, espaces répétés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5. Finalisation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Vérificateur d'accessibilité, propriétés du document, export PDF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Vue d'ensemble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styles de titre : le fondement de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202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01168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Comment un lecteur d'écran repère-t-il les titres dans Word ?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lert-error-titre"/>
          <p:cNvSpPr txBox="1"/>
          <p:nvPr/>
        </p:nvSpPr>
        <p:spPr>
          <a:xfrm>
            <a:off x="704088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Sans styles de titre</a:t>
            </a:r>
          </a:p>
        </p:txBody>
      </p:sp>
      <p:sp>
        <p:nvSpPr>
          <p:cNvPr id="14" name="DSFR-alert-error-body"/>
          <p:cNvSpPr txBox="1"/>
          <p:nvPr/>
        </p:nvSpPr>
        <p:spPr>
          <a:xfrm>
            <a:off x="704088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Texte, texte, texte, texte ...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bloc plat - aucun repère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 minutes d'écoute sans pouvoir avancer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283464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6469379" y="292608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Avec Titre 1, Titre 2, Titre 3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6469379" y="3337560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1 : Rapport annuel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2 : Budget / Titre 3 : Prévisions 2025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en quelques secondes comme une table des matières interactive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5720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llout-titre"/>
          <p:cNvSpPr txBox="1"/>
          <p:nvPr/>
        </p:nvSpPr>
        <p:spPr>
          <a:xfrm>
            <a:off x="704088" y="46634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faire</a:t>
            </a:r>
          </a:p>
        </p:txBody>
      </p:sp>
      <p:sp>
        <p:nvSpPr>
          <p:cNvPr id="22" name="DSFR-callout-body"/>
          <p:cNvSpPr txBox="1"/>
          <p:nvPr/>
        </p:nvSpPr>
        <p:spPr>
          <a:xfrm>
            <a:off x="704088" y="50749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sur le titre &gt; Accueil &gt; Styles &gt; Titre 1, Titre 2 ou Titre 3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Raccourci volet Styles : Ctrl+Alt+Maj+S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Vérification : Ctrl+F &gt; onglet Titres - les titres apparaissent ? C'est bon.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202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283464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5720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Listes natives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success-titre"/>
          <p:cNvSpPr txBox="1"/>
          <p:nvPr/>
        </p:nvSpPr>
        <p:spPr>
          <a:xfrm>
            <a:off x="704088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✓  Liste accessible</a:t>
            </a:r>
          </a:p>
        </p:txBody>
      </p:sp>
      <p:sp>
        <p:nvSpPr>
          <p:cNvPr id="11" name="DSFR-alert-success-body"/>
          <p:cNvSpPr txBox="1"/>
          <p:nvPr/>
        </p:nvSpPr>
        <p:spPr>
          <a:xfrm>
            <a:off x="704088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annonce : liste de 3 éléments, élément 1 sur 3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Navigation par élément avec les touches flèches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Créer avec : Accueil &gt; Paragraphe &gt; Puces ou Numérotation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24028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6469379" y="23317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✗  Liste inaccessible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6469379" y="2743200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Tirets manuels : le lecteur lit tiret Premier élément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Tabulations pour simuler une numérotation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Réseaux d'espaces pour aligner visuellement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937760"/>
            <a:ext cx="11155680" cy="97155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5029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Vérification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440680"/>
            <a:ext cx="10908792" cy="37719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Maj+F1 (Révéler la mise en forme) &gt; Puces et numérotation doit apparaître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24028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937760"/>
            <a:ext cx="73152" cy="9715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Tableaux et objets flottants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1. Structure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5087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3258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Règle d'or : ne jamais utiliser Tab, Espace ou Entrée pour simuler une mise en page.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Vous créez un obstacle de structure pour les technologies d'assistance.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794760"/>
            <a:ext cx="11155680" cy="130759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8862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Tableaux de mise en page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2976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Insertion &gt; Tableau &gt; colonnes et lignes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Habillage : Propriétés &gt; Aucun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tableau flottant (Autour) est lu au mauvais moment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5294376"/>
            <a:ext cx="11155680" cy="92354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warning-titre"/>
          <p:cNvSpPr txBox="1"/>
          <p:nvPr/>
        </p:nvSpPr>
        <p:spPr>
          <a:xfrm>
            <a:off x="704088" y="538581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flottants : zones de texte et images</a:t>
            </a:r>
          </a:p>
        </p:txBody>
      </p:sp>
      <p:sp>
        <p:nvSpPr>
          <p:cNvPr id="18" name="DSFR-alert-warning-body"/>
          <p:cNvSpPr txBox="1"/>
          <p:nvPr/>
        </p:nvSpPr>
        <p:spPr>
          <a:xfrm>
            <a:off x="704088" y="5797296"/>
            <a:ext cx="10908792" cy="32918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Lus dans un ordre aléatoire - solution : colonnes Word ou habillage En ligne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Structure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5087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7947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5294376"/>
            <a:ext cx="73152" cy="92354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28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Colour Contrast Analyser (CCA) de TPGi - gratuit Windows et macOS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Premier plan sur la couleur du texte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Pipette Arrière-plan sur la couleur du fond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Lire le ratio : conforme si &gt;= 4,5:1 pour le texte normal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&gt;= 3:1 pour le grand texte (18 pt+ ou 14 pt gras)</a:t>
            </a:r>
          </a:p>
        </p:txBody>
      </p:sp>
      <p:sp>
        <p:nvSpPr>
          <p:cNvPr id="22" name="DSFR-kpi-pave"/>
          <p:cNvSpPr/>
          <p:nvPr/>
        </p:nvSpPr>
        <p:spPr>
          <a:xfrm>
            <a:off x="475488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23" name="DSFR-kpi-label"/>
          <p:cNvSpPr txBox="1"/>
          <p:nvPr/>
        </p:nvSpPr>
        <p:spPr>
          <a:xfrm>
            <a:off x="475488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24" name="DSFR-kpi-pave"/>
          <p:cNvSpPr/>
          <p:nvPr/>
        </p:nvSpPr>
        <p:spPr>
          <a:xfrm>
            <a:off x="6240779" y="4297680"/>
            <a:ext cx="546354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25" name="DSFR-kpi-label"/>
          <p:cNvSpPr txBox="1"/>
          <p:nvPr/>
        </p:nvSpPr>
        <p:spPr>
          <a:xfrm>
            <a:off x="6240779" y="5257800"/>
            <a:ext cx="546354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</a:t>
            </a:r>
          </a:p>
        </p:txBody>
      </p:sp>
      <p:pic>
        <p:nvPicPr>
          <p:cNvPr id="26" name="Picture 25" descr="QR code : https://vispero.com/lp/color-contrast-checker/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4937760"/>
            <a:ext cx="1188720" cy="1188720"/>
          </a:xfrm>
          <a:prstGeom prst="rect">
            <a:avLst/>
          </a:prstGeom>
        </p:spPr>
      </p:pic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 couleur ne doit pas porter l'information seule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2. Couleurs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29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103120"/>
            <a:ext cx="3200400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8 %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063239"/>
            <a:ext cx="3200400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des hommes ne distinguent pas toutes les couleurs</a:t>
            </a:r>
          </a:p>
        </p:txBody>
      </p:sp>
      <p:pic>
        <p:nvPicPr>
          <p:cNvPr id="10" name="Picture 9" descr="Trois pastilles rouge, orange, verte en vision normale puis en deutéranopie : les deux premières deviennent indiscernables sans légende textuel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965960"/>
            <a:ext cx="5029200" cy="1434364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703320"/>
          <a:ext cx="11228832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rouge / vert / jaune (couleur seule)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Statut : En retard / Terminé / En cours (texte + couleur)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zone verte = OK (couleur seule)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Budget : OK (vert) / Attention (orange) / Dépassé (rouge)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13" name="DSFR-box"/>
          <p:cNvSpPr/>
          <p:nvPr/>
        </p:nvSpPr>
        <p:spPr>
          <a:xfrm>
            <a:off x="548640" y="502920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512064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Doublez toujours la couleur avec une légende textuelle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et idéalement un motif visuel distinct.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Couleurs</a:t>
            </a:r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502920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Texte alternatif sur les images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Clic droit sur l'image &gt; Format de l'image &gt; Texte de remplacement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significative : décrire la fonction, pas l'apparence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Image décorative : cocher Marquer comme décoratif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75488" y="411480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61996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Mauvais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Bon texte alt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d'un graphique en barres colorées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Chiffre d'affaires 2020-2024 : hausse de 15 à 23 %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d'enveloppe ou E-mail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 (vide - icône redondante)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image.png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Organigramme du service : 4 équipes, 28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Liens et informations essentielles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3. Contenus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31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14032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Inaccessible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Accessible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Cliquez ici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Consulter le guide d'accessibilité Word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 savoir plus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Télécharger le rapport annuel 2024 (PDF, 2 Mo)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URL brute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Accéder au formulaire de contact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023360"/>
            <a:ext cx="5390388" cy="204368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114800"/>
            <a:ext cx="5143500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Informations essentielles dans les zones non lues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46863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En-têtes et pieds de page : non lus automatiquement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Filigranes (Confidentiel, Brouillon) : invisibles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reproduire l'info dans le corps du document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4023360"/>
            <a:ext cx="5390388" cy="1499616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6469379" y="411480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Liens de téléchargement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6469379" y="4526280"/>
            <a:ext cx="5143500" cy="90525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 + format + poids + langue si différente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Rapport annuel 2024 (PDF, 2 Mo, anglais)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Contenus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023360"/>
            <a:ext cx="73152" cy="204368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4023360"/>
            <a:ext cx="73152" cy="149961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Exercice : les erreurs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Mise en situation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560320"/>
            <a:ext cx="5097779" cy="24003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Sami, chargé de communication, envoie son rapport trimestriel à 40 personnes.
1. Quelles erreurs trouvez-vous ?
2. Quelles corrections proposez-vous ?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1965960"/>
            <a:ext cx="5390388" cy="3131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1031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document contient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560320"/>
            <a:ext cx="5097779" cy="24003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Titres en gras, fausses listes, faux sommaire, tableau fusionné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 Urgent en rouge, note en gris insuffisant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Graphique et organigramme sans alt, icône redondante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en image, lien cliquez ici, filigrane invisible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justifié, paragraphes vides, majuscules tapées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23494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32637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30 minutes en binôme : trouvez les erreurs, puis corrigez-les.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196596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23494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Langue, majuscules et lisibilité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Balisage de langue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principale : Fichier &gt; Options &gt;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Passage en langue étrangère : sélectionner le texte &gt; Révision &gt; Langue &gt; Définir la langue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Sans balisage de langue, le lecteur d'écran prononce mal le mot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704088" y="430682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Majuscules : deux problèmes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704088" y="4718304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Difficiles à lire pour les dyslexiques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Prononciation ambiguë par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Solution : minuscules d'abord, puis Police &gt; Modifier la casse &gt; MAJUSCULES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Police sans serif (Arial, Marianne), 12 pt minimum, interligne 1,15. Ne pas justifier le texte.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Espaces et objets clignotants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4.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116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Activer les marques de formatage : Accueil &gt; Paragraphe &gt; Afficher tout (signe paragraphe)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Points = espaces successifs &gt; supprimer et ne garder qu'un seul espace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Flèches = tabulations utilisées pour simuler une mise en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Retours à la ligne manuels = utiliser les sauts de page propres à la place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3886200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error-titre"/>
          <p:cNvSpPr txBox="1"/>
          <p:nvPr/>
        </p:nvSpPr>
        <p:spPr>
          <a:xfrm>
            <a:off x="704088" y="397763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Objets clignotants : tolérance zéro</a:t>
            </a:r>
          </a:p>
        </p:txBody>
      </p:sp>
      <p:sp>
        <p:nvSpPr>
          <p:cNvPr id="15" name="DSFR-alert-error-body"/>
          <p:cNvSpPr txBox="1"/>
          <p:nvPr/>
        </p:nvSpPr>
        <p:spPr>
          <a:xfrm>
            <a:off x="704088" y="4389120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Animations, GIF avec flashs, vidéos à plus de 3 Hz : interdits sans exception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Risque de crise d'épilepsie photosensible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de doute sur un GIF : remplacer par une image statique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116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3886200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Avant de publier : 5 vérifications en 2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35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15763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Propriétés (Titre, Auteur, Objet) : Fichier &gt; Informations &gt; Propriétés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346374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2781604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Nom de fichier descriptif en .docx (pas Document1.docx)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576986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5087721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Protection : aucune restriction &gt; Révision &gt; Restreindre la modification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8075980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9" name="DSFR-stepper-texte-4"/>
          <p:cNvSpPr txBox="1"/>
          <p:nvPr/>
        </p:nvSpPr>
        <p:spPr>
          <a:xfrm>
            <a:off x="7393838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Formulaires : aucun champ Word interactif dans le document</a:t>
            </a:r>
          </a:p>
        </p:txBody>
      </p:sp>
      <p:sp>
        <p:nvSpPr>
          <p:cNvPr id="20" name="DSFR-stepper-pastille-5"/>
          <p:cNvSpPr/>
          <p:nvPr/>
        </p:nvSpPr>
        <p:spPr>
          <a:xfrm>
            <a:off x="10382097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5</a:t>
            </a:r>
          </a:p>
        </p:txBody>
      </p:sp>
      <p:sp>
        <p:nvSpPr>
          <p:cNvPr id="21" name="DSFR-stepper-texte-5"/>
          <p:cNvSpPr txBox="1"/>
          <p:nvPr/>
        </p:nvSpPr>
        <p:spPr>
          <a:xfrm>
            <a:off x="9699955" y="2834640"/>
            <a:ext cx="2004364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Vérificateur d'accessibilité : Fichier &gt; Vérifier l'accessibilité</a:t>
            </a:r>
          </a:p>
        </p:txBody>
      </p:sp>
      <p:sp>
        <p:nvSpPr>
          <p:cNvPr id="23" name="DSFR-box"/>
          <p:cNvSpPr/>
          <p:nvPr/>
        </p:nvSpPr>
        <p:spPr>
          <a:xfrm>
            <a:off x="548640" y="46177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highlight"/>
          <p:cNvSpPr txBox="1"/>
          <p:nvPr/>
        </p:nvSpPr>
        <p:spPr>
          <a:xfrm>
            <a:off x="749808" y="4709159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5 vérifications couvrent 80 % des oublis restants.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179771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103827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6409944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stepper-connecteur-4-decoratif" descr=""/>
          <p:cNvSpPr/>
          <p:nvPr/>
        </p:nvSpPr>
        <p:spPr>
          <a:xfrm>
            <a:off x="8716060" y="2404872"/>
            <a:ext cx="1666036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ccent-decoratif" descr=""/>
          <p:cNvSpPr/>
          <p:nvPr/>
        </p:nvSpPr>
        <p:spPr>
          <a:xfrm>
            <a:off x="475488" y="46177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vérificateur d'accessibilité Word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5. Finalisation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36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22883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416"/>
                <a:gridCol w="5614416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détecte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qu'il ne détecte PAS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Texte alt manquant sur les images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Qualité du texte alt (contenu)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Styles de titre absents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Pertinence des noms de liens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Ordre de lecture problématique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Couleur porteuse de sens seule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Tableaux sans en-tête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Langue des passages étrangers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Contraste insuffisant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vérificateur est un premier filtre, pas un certificat de conformité.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signale ce qu'il peut détecter automatiquement - pas ce qui est vraiment accessible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Une absence d'erreur ne signifie pas que le document est accessible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Finalisation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Retour sur le document de Sami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Retour exercice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rd-titre"/>
          <p:cNvSpPr txBox="1"/>
          <p:nvPr/>
        </p:nvSpPr>
        <p:spPr>
          <a:xfrm>
            <a:off x="704088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Vous vous souvenez ?</a:t>
            </a:r>
          </a:p>
        </p:txBody>
      </p:sp>
      <p:sp>
        <p:nvSpPr>
          <p:cNvPr id="11" name="DSFR-card-contenu"/>
          <p:cNvSpPr txBox="1"/>
          <p:nvPr/>
        </p:nvSpPr>
        <p:spPr>
          <a:xfrm>
            <a:off x="704088" y="2697479"/>
            <a:ext cx="5097779" cy="168021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document de Sami contenait 19 erreurs de Structure, Couleurs, Contenus et Lisibilité.
Mais il en contenait 2 de plus que vous n'aviez pas encore les outils pour détecter.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6469379" y="22402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2 erreurs cachées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6469379" y="2697479"/>
            <a:ext cx="5097779" cy="16802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un passage en anglais sans balisage de langue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les propriétés du document (titre, auteur) sont vides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698187"/>
            <a:ext cx="11155680" cy="121158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callout-titre"/>
          <p:cNvSpPr txBox="1"/>
          <p:nvPr/>
        </p:nvSpPr>
        <p:spPr>
          <a:xfrm>
            <a:off x="704088" y="4789627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corrections en 2 minutes</a:t>
            </a:r>
          </a:p>
        </p:txBody>
      </p:sp>
      <p:sp>
        <p:nvSpPr>
          <p:cNvPr id="19" name="DSFR-callout-body"/>
          <p:cNvSpPr txBox="1"/>
          <p:nvPr/>
        </p:nvSpPr>
        <p:spPr>
          <a:xfrm>
            <a:off x="704088" y="5201107"/>
            <a:ext cx="10908792" cy="6172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sélectionner le passage anglais &gt; Révision &gt; Langue &gt; Définir en anglais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Fichier &gt; Informations &gt; renseigner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Retour exercice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698187"/>
            <a:ext cx="73152" cy="12115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Par où commencer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Priorités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est important. Commencez par ce qui prend 30 secondes.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Styles de titre sur tous les titres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alternatif sur chaque image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0175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74903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Lancer le vérificateur d'accessibilité avant d'envoyer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Priorités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3192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final : saurez-vous trouver les 5 erreurs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collègue vous partage un document Word pour relecture.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En l'analysant, vous repérez les éléments suivants.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Identifiez les 5 erreurs d'accessibilité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Le titre Introduction est en gras Arial 16 au lieu d'un style de titre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Un tableau de suivi utilise uniquement des lignes rouges et vertes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Un lien est rédigé : cliquez ici pour le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4. La langue principale du document n'est pas définie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5. Les propriétés du fichier (Titre et Auteur) sont vides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Correction : les 5 erreurs et leurs solutions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Quiz final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31318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erreurs, 5 solutions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25374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: le gras n'est pas reconnu par les lecteurs d'écran - appliquer le style Titre 1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Couleurs : l'information ne doit pas reposer sur la couleur seule - ajouter les étiquettes Conforme / Non conforme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Contenus : un lien doit être compréhensible hors contexte - renommer en Accéder au formulaire de demande RH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Langue : sans déclaration, la synthèse vocale prononce avec le mauvais accent - Révision &gt; Langue &gt; Définir : Français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Finalisation : le titre est la première information lue par le lecteur d'écran - Fichier &gt; Informations &gt; saisir Titre et Auteur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Quiz final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131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relire le support, complétez de mémoire :</a:t>
            </a:r>
          </a:p>
        </p:txBody>
      </p:sp>
      <p:sp>
        <p:nvSpPr>
          <p:cNvPr id="11" name="DSFR-texte-libre"/>
          <p:cNvSpPr txBox="1"/>
          <p:nvPr/>
        </p:nvSpPr>
        <p:spPr>
          <a:xfrm>
            <a:off x="475488" y="292608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1.  La règle la plus importante pour qu'un lecteur d'écran comprenne la structure de votre document : _______________</a:t>
            </a:r>
          </a:p>
        </p:txBody>
      </p:sp>
      <p:sp>
        <p:nvSpPr>
          <p:cNvPr id="12" name="DSFR-texte-libre"/>
          <p:cNvSpPr txBox="1"/>
          <p:nvPr/>
        </p:nvSpPr>
        <p:spPr>
          <a:xfrm>
            <a:off x="475488" y="3749039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2.  La vérification à faire en 30 secondes avant d'envoyer n'importe quel document : _______________</a:t>
            </a:r>
          </a:p>
        </p:txBody>
      </p:sp>
      <p:sp>
        <p:nvSpPr>
          <p:cNvPr id="13" name="DSFR-texte-libre"/>
          <p:cNvSpPr txBox="1"/>
          <p:nvPr/>
        </p:nvSpPr>
        <p:spPr>
          <a:xfrm>
            <a:off x="475488" y="4572000"/>
            <a:ext cx="11228832" cy="5943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3.  Le geste que vous ferez dès demain sur votre prochain document : _______________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Faites le point : les réponses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Bilan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réponses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Utiliser les styles de titre (Titre 1, Titre 2) pour structurer le document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Lancer le vérificateur d'accessibilité (Révision &gt; Vérifier l'accessibilité)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Ajouter un texte alternatif aux images ou renseigner le titre dans les propriétés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215384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highlight"/>
          <p:cNvSpPr txBox="1"/>
          <p:nvPr/>
        </p:nvSpPr>
        <p:spPr>
          <a:xfrm>
            <a:off x="749808" y="4306824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Vous avez ces réflexes ? L'essentiel est acquis.</a:t>
            </a:r>
          </a:p>
          <a:p>
            <a:r>
              <a:rPr sz="1800" b="1" lang="fr-FR">
                <a:solidFill>
                  <a:srgbClr val="000091"/>
                </a:solidFill>
                <a:latin typeface="Marianne"/>
              </a:rPr>
              <a:t>Sinon : relisez Structure et Contenus.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Bilan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215384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Dès demain, vos trois premiers réflexes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Ctrl+F &gt; onglet Titres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Vérifier que tous les titres apparaissent dans le volet de navigation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le volet est vide : appliquer les styles</a:t>
            </a:r>
          </a:p>
        </p:txBody>
      </p:sp>
      <p:sp>
        <p:nvSpPr>
          <p:cNvPr id="14" name="DSFR-box"/>
          <p:cNvSpPr/>
          <p:nvPr/>
        </p:nvSpPr>
        <p:spPr>
          <a:xfrm>
            <a:off x="4392167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Clic droit &gt; Texte de remplacement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la fonction de chaque image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Image décorative : cocher Marquer comme décoratif</a:t>
            </a:r>
          </a:p>
        </p:txBody>
      </p:sp>
      <p:sp>
        <p:nvSpPr>
          <p:cNvPr id="19" name="DSFR-box"/>
          <p:cNvSpPr/>
          <p:nvPr/>
        </p:nvSpPr>
        <p:spPr>
          <a:xfrm>
            <a:off x="8235695" y="2103120"/>
            <a:ext cx="3468623" cy="36576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78892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Fichier &gt; Vérifier l'accessibilité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246120"/>
            <a:ext cx="3176016" cy="23774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Corriger les erreurs avant d'envoyer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Zéro erreur = premier filtre passé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Plan d'action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103120"/>
            <a:ext cx="73152" cy="3657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Ces critères, vous savez déjà les corriger.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Titres avec styles intégrés (pas du gras manuel)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Hiérarchie des titres cohérente (H1, H2, H3)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Texte alternatif sur images / décoratifs marqués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données avec ligne d'en-tête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Listes natives (pas de tirets manuels)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pratiqué dans l'exercice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Couleurs, langue et finalisation.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Liens descriptifs (pas cliquez ici)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Passages en langue étrangère balisés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Contraste &gt;= 4,5:1 texte standard, &gt;= 3:1 grand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Couleur doublée en texte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Propriétés renseignées (Titre, Auteur)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Tout aussi importants, à intégrer progressivement.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74320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objet clignotant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Document non protégé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Langue principale balisée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Fichier .docx + nom descriptif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Vérificateur d'accessibilité sans erreur résiduelle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Infos essentielles dans le corps (pas seulement en filigrane)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Checklist : autres critères essentiels (2/2)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Checklist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64008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457199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Mise en page et formatage propre.</a:t>
            </a:r>
          </a:p>
        </p:txBody>
      </p:sp>
      <p:sp>
        <p:nvSpPr>
          <p:cNvPr id="11" name="DSFR-checklist"/>
          <p:cNvSpPr txBox="1"/>
          <p:nvPr/>
        </p:nvSpPr>
        <p:spPr>
          <a:xfrm>
            <a:off x="475488" y="3017520"/>
            <a:ext cx="11228832" cy="2331720"/>
          </a:xfrm>
          <a:prstGeom prst="rect">
            <a:avLst/>
          </a:prstGeom>
          <a:noFill/>
        </p:spPr>
        <p:txBody>
          <a:bodyPr wrap="square" lIns="137160" rIns="137160" tIns="91440" bIns="9144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Pas de zones de texte flottantes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Sauts de page propres (pas de retours à la ligne)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Colonnes intégrées (pas de tabulations)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Tableaux de mise en page avec habillage Aucun</a:t>
            </a:r>
          </a:p>
          <a:p>
            <a:pPr algn="l">
              <a:lnSpc>
                <a:spcPct val="150000"/>
              </a:lnSpc>
            </a:pPr>
            <a:r>
              <a:rPr sz="1800" b="1" lang="fr-FR">
                <a:solidFill>
                  <a:srgbClr val="000091"/>
                </a:solidFill>
                <a:latin typeface="Marianne"/>
              </a:rPr>
              <a:t>☐  </a:t>
            </a:r>
            <a:r>
              <a:rPr sz="1400" lang="fr-FR">
                <a:solidFill>
                  <a:srgbClr val="161616"/>
                </a:solidFill>
                <a:latin typeface="Marianne"/>
              </a:rPr>
              <a:t>Aucun formulaire Word interactif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Checklist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64008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À vous de jouer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Documents accessibles | Clôture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Je m'engage à vérifier les styles de titre et le texte alternatif sur mon prochain document.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rd-titre"/>
          <p:cNvSpPr txBox="1"/>
          <p:nvPr/>
        </p:nvSpPr>
        <p:spPr>
          <a:xfrm>
            <a:off x="704088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J+7</a:t>
            </a:r>
          </a:p>
        </p:txBody>
      </p:sp>
      <p:sp>
        <p:nvSpPr>
          <p:cNvPr id="14" name="DSFR-card-contenu"/>
          <p:cNvSpPr txBox="1"/>
          <p:nvPr/>
        </p:nvSpPr>
        <p:spPr>
          <a:xfrm>
            <a:off x="704088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Refaites le quiz final sans rouvrir ce support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3-4/5 : relisez le thème correspondant aux erreurs</a:t>
            </a:r>
          </a:p>
        </p:txBody>
      </p:sp>
      <p:sp>
        <p:nvSpPr>
          <p:cNvPr id="16" name="DSFR-box"/>
          <p:cNvSpPr/>
          <p:nvPr/>
        </p:nvSpPr>
        <p:spPr>
          <a:xfrm>
            <a:off x="4392167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rd-titre"/>
          <p:cNvSpPr txBox="1"/>
          <p:nvPr/>
        </p:nvSpPr>
        <p:spPr>
          <a:xfrm>
            <a:off x="4547615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J+30</a:t>
            </a:r>
          </a:p>
        </p:txBody>
      </p:sp>
      <p:sp>
        <p:nvSpPr>
          <p:cNvPr id="18" name="DSFR-card-contenu"/>
          <p:cNvSpPr txBox="1"/>
          <p:nvPr/>
        </p:nvSpPr>
        <p:spPr>
          <a:xfrm>
            <a:off x="4547615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un vrai document Word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Appliquez la checklist de haut en bas</a:t>
            </a:r>
          </a:p>
        </p:txBody>
      </p:sp>
      <p:sp>
        <p:nvSpPr>
          <p:cNvPr id="20" name="DSFR-box"/>
          <p:cNvSpPr/>
          <p:nvPr/>
        </p:nvSpPr>
        <p:spPr>
          <a:xfrm>
            <a:off x="8235695" y="3314700"/>
            <a:ext cx="3468623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345186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6 mois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909060"/>
            <a:ext cx="3176016" cy="144017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Styles de titre, texte alt, vérificateur avant envoi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c'est automatique : les réflexes sont installés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Documents accessibles - Fin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319015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8162543" y="331470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49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Les 13 Easy Checks du W3C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4 types d’images, 4 décisions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L’alt text est le sous-titre de l’image - sans lui, 5 % des lecteurs voient une page muette.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704088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Informative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704088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Apporte une info : photo d’un bâtiment, graphique.
→ alt descriptif court.</a:t>
            </a:r>
          </a:p>
        </p:txBody>
      </p:sp>
      <p:sp>
        <p:nvSpPr>
          <p:cNvPr id="17" name="DSFR-box"/>
          <p:cNvSpPr/>
          <p:nvPr/>
        </p:nvSpPr>
        <p:spPr>
          <a:xfrm>
            <a:off x="3419856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3575303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Décorative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3575303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Pure ambiance : séparateur, icône floue.
→ alt="" (vide).</a:t>
            </a:r>
          </a:p>
        </p:txBody>
      </p:sp>
      <p:sp>
        <p:nvSpPr>
          <p:cNvPr id="22" name="DSFR-box"/>
          <p:cNvSpPr/>
          <p:nvPr/>
        </p:nvSpPr>
        <p:spPr>
          <a:xfrm>
            <a:off x="6291071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SFR-card-titre"/>
          <p:cNvSpPr txBox="1"/>
          <p:nvPr/>
        </p:nvSpPr>
        <p:spPr>
          <a:xfrm>
            <a:off x="6446519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Fonctionnelle</a:t>
            </a:r>
          </a:p>
        </p:txBody>
      </p:sp>
      <p:sp>
        <p:nvSpPr>
          <p:cNvPr id="25" name="DSFR-card-contenu"/>
          <p:cNvSpPr txBox="1"/>
          <p:nvPr/>
        </p:nvSpPr>
        <p:spPr>
          <a:xfrm>
            <a:off x="6446519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Dans un lien ou un bouton : logo cliquable, picto.
→ alt = action attendue.</a:t>
            </a:r>
          </a:p>
        </p:txBody>
      </p:sp>
      <p:sp>
        <p:nvSpPr>
          <p:cNvPr id="27" name="DSFR-box"/>
          <p:cNvSpPr/>
          <p:nvPr/>
        </p:nvSpPr>
        <p:spPr>
          <a:xfrm>
            <a:off x="9162287" y="3246120"/>
            <a:ext cx="2542032" cy="29032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SFR-card-titre"/>
          <p:cNvSpPr txBox="1"/>
          <p:nvPr/>
        </p:nvSpPr>
        <p:spPr>
          <a:xfrm>
            <a:off x="9317735" y="3931920"/>
            <a:ext cx="2249424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Complexe</a:t>
            </a:r>
          </a:p>
        </p:txBody>
      </p:sp>
      <p:sp>
        <p:nvSpPr>
          <p:cNvPr id="30" name="DSFR-card-contenu"/>
          <p:cNvSpPr txBox="1"/>
          <p:nvPr/>
        </p:nvSpPr>
        <p:spPr>
          <a:xfrm>
            <a:off x="9317735" y="4389120"/>
            <a:ext cx="2249424" cy="1623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Diagramme, schéma, infographie.
→ alt court + description longue à part.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704088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3575303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3" name="DSFR-card-numero"/>
          <p:cNvSpPr/>
          <p:nvPr/>
        </p:nvSpPr>
        <p:spPr>
          <a:xfrm>
            <a:off x="6446519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8" name="DSFR-card-numero"/>
          <p:cNvSpPr/>
          <p:nvPr/>
        </p:nvSpPr>
        <p:spPr>
          <a:xfrm>
            <a:off x="9317735" y="3383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3346703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ccent-decoratif" descr=""/>
          <p:cNvSpPr/>
          <p:nvPr/>
        </p:nvSpPr>
        <p:spPr>
          <a:xfrm>
            <a:off x="6217919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accent-decoratif" descr=""/>
          <p:cNvSpPr/>
          <p:nvPr/>
        </p:nvSpPr>
        <p:spPr>
          <a:xfrm>
            <a:off x="9089135" y="3246120"/>
            <a:ext cx="73152" cy="29032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Rédiger un alt text qui sert vraiment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931669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5 règles pour un alt text utile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3373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Concis : 125 caractères maximum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Objectif : décrit, ne commente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de « photo de » ni « image de » - le lecteur d’écran le dit déjà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Contextuel : ce qui compte dans cette page, pas tout ce qui est visible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Ponctué : point final, pour que le lecteur marque la pause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59486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704088" y="46863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fréquent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704088" y="509778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nom de fichier (IMG_4578.jpg) en guise d’alt = alt absent pour l’utilisateur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alt qui décrit la décoration au lieu du contenu utile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3166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59486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passe ou échoue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1. Alternatives textuelles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52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4187952"/>
                <a:gridCol w="3200400"/>
              </a:tblGrid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Image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Alt proposé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Logo ministère dans l’en-tête (lien vers l’accueil)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alt="Ministère de l’Économie - Accueil"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fonctionnelle, action nommée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Photo d’illustration d’un article sur la fraude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alt="image"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aucune information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Séparateur graphique entre deux sections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décorative, alt vide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Graphique de répartition budgétaire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alt="graphique montrant la répartition du budget 2026, voir détail ci-dessous"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OK - alt court + renvoi au détail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56692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Icône loupe dans un bouton de recherche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alt="loupe"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KO - décrit l’image, pas l’action (devrait être « Rechercher »)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Alt text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 de page : l’étiquette qui oriente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2. Titre de page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 titre de page est la 1ʳᵉ chose que lit un lecteur d’écran et la seule chose visible dans l’onglet.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page a un titre unique, différent des autres pages du site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titre décrit le contenu puis le nom du site (« Déclarer - impots.gouv.fr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change quand le contenu principal change (recherche, étape de formulaire)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Exemples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OK : « Résultats de recherche : accessibilité - Ministère de la Culture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Accueil » sur chaque page du site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KO : « Untitled Document » (oubli fréquent sur les PDF)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 de page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la hiérarchie qui structure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utilisateur de lecteur d’écran navigue de titre en titre comme on navigue dans une table des matières.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qui font passer le check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seul H1 par page, qui reprend le sujet principal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niveaux s’emboîtent sans saut : H1 → H2 → H3, jamais H2 → H4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titre n’est pas une simple mise en forme gras/gros - c’est une balise &lt;h1&gt; à &lt;h6&gt;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Titres : 3 façons de vérifier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3. Titres de rubriques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55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096512"/>
                <a:gridCol w="4572000"/>
              </a:tblGrid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Méthode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Comment faire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que vous cherchez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Extension HeadingsMap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Installer l’extension, ouvrir le panneau latéral.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L’arbre complet des titres s’affiche, les anomalies en rouge.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Mode lecture du navigateur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Firefox : icône livre dans la barre d’URL.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Si la page se simplifie correctement, la hiérarchie est probablement saine.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8580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« Inspecter 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Rechercher `h1`, `h2`, `h3` dans l’onglet Éléments.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Un seul &lt;h1&gt;, pas de saut, pas de titre factice (&lt;div class="titre"&gt;).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Titres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un seuil chiffré, pas une opinion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12 voit les couleurs autrement - ce que vous trouvez « joli gris » peut être illisible.</a:t>
            </a:r>
          </a:p>
        </p:txBody>
      </p:sp>
      <p:sp>
        <p:nvSpPr>
          <p:cNvPr id="11" name="DSFR-kpi-pave"/>
          <p:cNvSpPr/>
          <p:nvPr/>
        </p:nvSpPr>
        <p:spPr>
          <a:xfrm>
            <a:off x="475488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4,5:1</a:t>
            </a:r>
          </a:p>
        </p:txBody>
      </p:sp>
      <p:sp>
        <p:nvSpPr>
          <p:cNvPr id="12" name="DSFR-kpi-label"/>
          <p:cNvSpPr txBox="1"/>
          <p:nvPr/>
        </p:nvSpPr>
        <p:spPr>
          <a:xfrm>
            <a:off x="475488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normal (sous 18 pt)</a:t>
            </a:r>
          </a:p>
        </p:txBody>
      </p:sp>
      <p:sp>
        <p:nvSpPr>
          <p:cNvPr id="13" name="DSFR-kpi-pave"/>
          <p:cNvSpPr/>
          <p:nvPr/>
        </p:nvSpPr>
        <p:spPr>
          <a:xfrm>
            <a:off x="4319015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3:1</a:t>
            </a:r>
          </a:p>
        </p:txBody>
      </p:sp>
      <p:sp>
        <p:nvSpPr>
          <p:cNvPr id="14" name="DSFR-kpi-label"/>
          <p:cNvSpPr txBox="1"/>
          <p:nvPr/>
        </p:nvSpPr>
        <p:spPr>
          <a:xfrm>
            <a:off x="4319015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Texte large (18 pt+ ou 14 pt gras) et composants graphiques</a:t>
            </a:r>
          </a:p>
        </p:txBody>
      </p:sp>
      <p:sp>
        <p:nvSpPr>
          <p:cNvPr id="15" name="DSFR-kpi-pave"/>
          <p:cNvSpPr/>
          <p:nvPr/>
        </p:nvSpPr>
        <p:spPr>
          <a:xfrm>
            <a:off x="8162543" y="3108960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7:1</a:t>
            </a:r>
          </a:p>
        </p:txBody>
      </p:sp>
      <p:sp>
        <p:nvSpPr>
          <p:cNvPr id="16" name="DSFR-kpi-label"/>
          <p:cNvSpPr txBox="1"/>
          <p:nvPr/>
        </p:nvSpPr>
        <p:spPr>
          <a:xfrm>
            <a:off x="8162543" y="4069079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Niveau AAA - recommandé pour texte dense</a:t>
            </a:r>
          </a:p>
        </p:txBody>
      </p:sp>
      <p:sp>
        <p:nvSpPr>
          <p:cNvPr id="18" name="DSFR-box"/>
          <p:cNvSpPr/>
          <p:nvPr/>
        </p:nvSpPr>
        <p:spPr>
          <a:xfrm>
            <a:off x="548640" y="466344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llout-titre"/>
          <p:cNvSpPr txBox="1"/>
          <p:nvPr/>
        </p:nvSpPr>
        <p:spPr>
          <a:xfrm>
            <a:off x="704088" y="475487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compte :</a:t>
            </a:r>
          </a:p>
        </p:txBody>
      </p:sp>
      <p:sp>
        <p:nvSpPr>
          <p:cNvPr id="20" name="DSFR-callout-body"/>
          <p:cNvSpPr txBox="1"/>
          <p:nvPr/>
        </p:nvSpPr>
        <p:spPr>
          <a:xfrm>
            <a:off x="704088" y="5166359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rapport entre la couleur du texte et celle du fond (ou l’arrière-plan visible)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Sur un dégradé ou une image, mesurer à l’endroit le moins contrasté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se fier à l’œil - toujours mesurer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ccent-decoratif" descr=""/>
          <p:cNvSpPr/>
          <p:nvPr/>
        </p:nvSpPr>
        <p:spPr>
          <a:xfrm>
            <a:off x="475488" y="466344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Contraste : 3 outils à avoir sous la main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4. Contraste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57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94560"/>
          <a:ext cx="112288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Quand l’utiliser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DevTools Chrome / Firefox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un texte → Inspecter → pastille de couleur.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Mesure ponctuelle pendant la rédaction ou la relecture.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 Contrast Checker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webaim.org/resources/contrastchecker - coller les deux couleurs hex.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de choisir une charte graphique ou un thème.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65836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Colour Contrast Analyser (CCA)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App desktop - pipette qui mesure n’importe quelle zone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Tester des maquettes Figma, des captures d’écran, des PDF.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warning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Piège classique</a:t>
            </a:r>
          </a:p>
        </p:txBody>
      </p:sp>
      <p:sp>
        <p:nvSpPr>
          <p:cNvPr id="12" name="DSFR-alert-warning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gris clair sur fond blanc (#999 sur #FFF) : 2,85:1 - échec même en texte large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Bouton bleu avec texte bleu marine « moderne » : souvent sous le seuil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Contraste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Lien d’évitement : le raccourci qui sauve 30 Tab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5. Lien d'évitement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lien d’évitement, un utilisateur clavier tabule 20 à 40 fois par page juste pour franchir le menu.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Un lien « Aller au contenu » est le 1ᵉʳ élément reçu par Tab en haut de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devient visible dès qu’il a le focus, même s’il était masqué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mène au bloc principal via une ancre (#contenu, #main)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Démo en 3 Tab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Ouvrez gouvernement.fr et appuyez Tab : le lien « Contenu » apparaît en haut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Entrée → vous voilà au contenu, menu contourné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Lien d’évitement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Naviguer sans souris : le test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personne sur 5 n’utilise jamais de souris pour naviguer sur le web.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15 minutes, vous saurez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Utiliser 5 touches pour tester n’importe quelle page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Repérer 3 signaux qui trahissent un défaut d’accessibilité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Reproduire l’expérience d’un lecteur d’écran en 3 minutes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5 touches, 3 intentions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Naviguer → Tab / Shift+Tab    Agir → Entrée / Espace    Lire → Flèches ↑ ↓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75488" y="3497580"/>
          <a:ext cx="11228832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480560"/>
                <a:gridCol w="5102352"/>
              </a:tblGrid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Touche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À quoi elle sert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Ce qu’il faut vérifier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Tab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Avancer sur l’élément interactif suivant (lien, bouton, champ).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focus se déplace et reste visible à chaque étape.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Shift + Tab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Reculer sur l’élément interactif précédent.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L’ordre inverse est logique, sans saut imprévu.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Entrée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Activer un lien ou soumettre un formulaire.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L’action attendue se déclenche immédiatement.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Barre d’espace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Cocher, décocher, sélectionner un bouton radio.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L’état coché / non coché est annoncé vocalement.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75488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Flèches ↑ 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Lire le contenu ligne par ligne avec un lecteur d’écran.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 texte alternatif des images est lu à haute voix.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signaux qui trahissent un défaut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focus disparaît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Plus de contour visible pendant la tabulation. L’utilisateur est perdu dès la 3ᵉ touche Tab.</a:t>
            </a:r>
          </a:p>
        </p:txBody>
      </p:sp>
      <p:sp>
        <p:nvSpPr>
          <p:cNvPr id="14" name="DSFR-box"/>
          <p:cNvSpPr/>
          <p:nvPr/>
        </p:nvSpPr>
        <p:spPr>
          <a:xfrm>
            <a:off x="438912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456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L’ordre est illogique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456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focus saute à droite avant le menu à gauche. Le lecteur d’écran parcourt la page dans le désordre.</a:t>
            </a:r>
          </a:p>
        </p:txBody>
      </p:sp>
      <p:sp>
        <p:nvSpPr>
          <p:cNvPr id="19" name="DSFR-box"/>
          <p:cNvSpPr/>
          <p:nvPr/>
        </p:nvSpPr>
        <p:spPr>
          <a:xfrm>
            <a:off x="8229600" y="2331720"/>
            <a:ext cx="3465576" cy="266318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85048" y="3017520"/>
            <a:ext cx="3172968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L’état n’est pas annoncé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85048" y="3474720"/>
            <a:ext cx="3172968" cy="138302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Une case qui coche sans dire « coché ». L’information est invisible pour qui ne voit pas l’écran.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456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85048" y="24688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596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56448" y="2331720"/>
            <a:ext cx="73152" cy="266318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6. Focus et navigation clavier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Sur le site d’entraînement qui vous sera fourni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Cachez votre souris derrière l’écran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Tabulez 10 fois et notez chaque fois que le focus disparaît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Essayez Entrée sur un bouton, Espace sur une case à cocher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les pièges détectés et associez-les aux 3 signaux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Objectif : votre permis clavier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signal détecté = vous avez l’œil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 signaux détectés = vous êtes auditeur clavier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Clavier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Langue de la page : l’accent juste du lecteur d’écran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7. Langue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langue déclarée, un texte français est lu avec l’accent anglais : « beau-jore » pour « bonjour ».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balise &lt;html&gt; porte un attribut lang (ex. lang="fr")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passages dans une autre langue sont balisés : &lt;span lang="en"&gt;workshop&lt;/span&gt;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code langue suit la norme ISO 639 : fr, en, de, es - pas « français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vérifier sans coder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Clic droit → Afficher le code source → regarder la 1ʳᵉ ligne &lt;html lang="…"&gt;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extension « Web Developer » → Information → View Document Language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Langue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Zoom 200 % : tout doit rester lisible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8. Zoom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1 Français sur 5 agrandit le texte en permanence - pour lui, votre site zoomé à 200 % est votre vrai site.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À 200 % de zoom, aucun texte n’est coupé ni superposé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d’apparition d’un défilement horizontal sur une page classique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menus, boutons et formulaires restent utilisables, pas seulement visibles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Comment tester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Ctrl + (ou Cmd + sur Mac) pour zoomer jusqu’à 200 % - répéter 4 fois depuis 100 %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Parcourir la page : formulaire, menu, pied de page. Si ça casse, le check échoue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Zoom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: le son que tout le monde lit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80 % des vidéos sociales sont regardées sans son - les sous-titres ne sont plus une option.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des sous-titres synchronisés (pas seulement une transcription)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sous-titres incluent les paroles ET les informations sonores importantes : « (rires) », « (sonnerie)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Ils sont activables/désactivables par l’utilisateur (bouton CC)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Sous-titres auto : brouillon utile, livrable jamais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9. Sous-titres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l’auto ne suffit pas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YouTube auto : 10 à 30 % d’erreurs sur un français soigné, pire avec un accent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Noms propres, acronymes, chiffres : souvent massacrés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Ponctuation absente : « on mange les enfants » vs « on mange, les enfants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Pas d’indication sonore non verbale (musique, applaudissements)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Méthode recommandée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1 : générer l’auto (YouTube, Whisper, outil interne) pour gagner 80 % du temps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2 : relire, corriger, ajouter ponctuation et [indications sonores]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Étape 3 : caler le timing sur les pauses naturelles (2 lignes max à l’écran)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Sous-titres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Transcription : la version texte qui accompagne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10. Transcriptions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transcription est au podcast ce que le script est au film : la version lisible, indexable, citable.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Toute vidéo / audio propose un lien visible « Lire la transcription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transcription est complète : paroles + informations sonores essentielles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est sur la même page ou à un clic, jamais cachée à deux étages de menu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: la transcription DESCRIPTIVE inclut aussi l'action visible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Bonus souvent oublié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moteurs de recherche indexent les transcriptions - référencement gratuit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utilisateurs qui cherchent une citation précise vous remercient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Transcriptions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Audiodescription : la voix qui montre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11. Audiodescription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L’audiodescription ajoute une voix off qui décrit les images clés pendant les silences.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318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232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47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vidéo propose une piste audiodécrite activable (bouton AD)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L’audiodescription décrit les éléments visuels essentiels à la compréhension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Elle s’intercale dans les silences, sans couvrir les dialogues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Pour une vidéo sans dialogue essentiel : une description textuelle synchronisée suffit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60620"/>
            <a:ext cx="11155680" cy="12801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quote-texte"/>
          <p:cNvSpPr txBox="1"/>
          <p:nvPr/>
        </p:nvSpPr>
        <p:spPr>
          <a:xfrm>
            <a:off x="749808" y="5097780"/>
            <a:ext cx="10863072" cy="7315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Sans audiodescription, une vidéo reste une porte fermée pour 1,7 million de personnes aveugles ou malvoyantes en France.</a:t>
            </a:r>
          </a:p>
        </p:txBody>
      </p:sp>
      <p:sp>
        <p:nvSpPr>
          <p:cNvPr id="18" name="DSFR-quote-auteur"/>
          <p:cNvSpPr txBox="1"/>
          <p:nvPr/>
        </p:nvSpPr>
        <p:spPr>
          <a:xfrm>
            <a:off x="749808" y="5783580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Fédération des Aveugles de France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Audiodescription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318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60620"/>
            <a:ext cx="73152" cy="12801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Étiquettes : chaque champ a un nom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Sans étiquette, un champ est comme une boîte aux lettres sans nom - on ne sait pas ce qu’on glisse dedans.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31470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40614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qu’il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81762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Chaque champ (texte, case, menu déroulant) a une étiquette visible à côté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L’étiquette reste affichée quand on commence à saisir - elle ne disparaît pas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Cliquer sur l’étiquette déplace le focus dans le champ (test rapide et décisif)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lecteur d’écran annonce l’étiquette ET le type de champ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31470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Placeholder ≠ étiquette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placeholder ne remplace jamais l’étiquette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Il disparaît dès qu’on commence à saisir - on oublie ce qu’on remplit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Son contraste est souvent trop faible pour passer le check 4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lecteurs d’écran l’ignorent ou l’annoncent comme « texte exemple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Impossible d’y revenir : il est perdu dès la 1ʳᵉ lettre tapée</a:t>
            </a:r>
          </a:p>
        </p:txBody>
      </p:sp>
      <p:sp>
        <p:nvSpPr>
          <p:cNvPr id="13" name="DSFR-box"/>
          <p:cNvSpPr/>
          <p:nvPr/>
        </p:nvSpPr>
        <p:spPr>
          <a:xfrm>
            <a:off x="548640" y="4306824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704088" y="4398264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704088" y="4809744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Étiquette visible au-dessus du champ (ou à gauche)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Placeholder optionnel, pour donner un exemple de format : « JJ/MM/AAAA »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JAMAIS mettre l’information essentielle uniquement dans le placeholder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475488" y="4306824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Groupes de champs : l’étiquette commune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12. Étiquettes de formulaire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945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2860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Quand regrouper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97479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boutons radio qui répondent à la même question (« Civilité : M / Mme / autre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Plusieurs cases à cocher qui partagent un thème (« Jours travaillés »)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Adresse découpée en plusieurs champs (n°, rue, code postal, ville)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75488" y="4206240"/>
          <a:ext cx="1122883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187952"/>
                <a:gridCol w="4114800"/>
              </a:tblGrid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Cas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Code vérifié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Verdict lecteur d’écran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« Civilité » sans regroupement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Chaque radio a son label seul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M, bouton radio » - question perdue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3 radios dans un &lt;fieldset&gt; avec &lt;legend&gt;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&lt;fieldset&gt;&lt;legend&gt;Civilité&lt;/legend&gt;… &lt;input type="radio"&gt;…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« Civilité, M, bouton radio » - question claire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</a:tbl>
          </a:graphicData>
        </a:graphic>
      </p:graphicFrame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Étiquettes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945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Champs obligatoires : dits, pas juste marqués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13. Champs obligatoires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astérisque rouge est un signal visuel - il doit être doublé d'une information textuelle pour tous.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223260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314700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qu'il faut vérifier :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72618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champs obligatoires sont indiqués en texte : « obligatoire » ou « requis »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légende « * champ obligatoire » est présente en début de formulaire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Techniquement : attribut required ou aria-required="true" sur le champ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cas d'erreur : le message pointe le champ par son étiquette, pas « champ 3 »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Pattern recommandé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Marquez les champs OPTIONNELS, pas les obligatoires - plus court sur un formulaire où 90 % des champs sont requis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Champs obligatoires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22326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Votre mission : audit en 30 minutes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Easy Checks | Mission finale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85166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10908792" cy="4800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Choisissez une page de votre site pro ou d’un site public et passez-la aux 13 Easy Checks :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766060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pour chaque check : passe, échoue, ou doute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Mesurez le contraste d’au moins 3 zones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Testez clavier et zoom 200 % sur un parcours complet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Listez 3 non-conformités à remonter à votre équipe web</a:t>
            </a:r>
          </a:p>
        </p:txBody>
      </p:sp>
      <p:sp>
        <p:nvSpPr>
          <p:cNvPr id="12" name="DSFR-stepper-pastille-1"/>
          <p:cNvSpPr/>
          <p:nvPr/>
        </p:nvSpPr>
        <p:spPr>
          <a:xfrm>
            <a:off x="1445894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4" name="DSFR-stepper-texte-1"/>
          <p:cNvSpPr txBox="1"/>
          <p:nvPr/>
        </p:nvSpPr>
        <p:spPr>
          <a:xfrm>
            <a:off x="475488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Choisir 1 page</a:t>
            </a:r>
          </a:p>
        </p:txBody>
      </p:sp>
      <p:sp>
        <p:nvSpPr>
          <p:cNvPr id="15" name="DSFR-stepper-pastille-2"/>
          <p:cNvSpPr/>
          <p:nvPr/>
        </p:nvSpPr>
        <p:spPr>
          <a:xfrm>
            <a:off x="4328541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7" name="DSFR-stepper-texte-2"/>
          <p:cNvSpPr txBox="1"/>
          <p:nvPr/>
        </p:nvSpPr>
        <p:spPr>
          <a:xfrm>
            <a:off x="3358134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13 checks</a:t>
            </a:r>
          </a:p>
        </p:txBody>
      </p:sp>
      <p:sp>
        <p:nvSpPr>
          <p:cNvPr id="18" name="DSFR-stepper-pastille-3"/>
          <p:cNvSpPr/>
          <p:nvPr/>
        </p:nvSpPr>
        <p:spPr>
          <a:xfrm>
            <a:off x="7211186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0" name="DSFR-stepper-texte-3"/>
          <p:cNvSpPr txBox="1"/>
          <p:nvPr/>
        </p:nvSpPr>
        <p:spPr>
          <a:xfrm>
            <a:off x="6240779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Binôme : débrief 5 min</a:t>
            </a:r>
          </a:p>
        </p:txBody>
      </p:sp>
      <p:sp>
        <p:nvSpPr>
          <p:cNvPr id="21" name="DSFR-stepper-pastille-4"/>
          <p:cNvSpPr/>
          <p:nvPr/>
        </p:nvSpPr>
        <p:spPr>
          <a:xfrm>
            <a:off x="10093832" y="48463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22" name="DSFR-stepper-texte-4"/>
          <p:cNvSpPr txBox="1"/>
          <p:nvPr/>
        </p:nvSpPr>
        <p:spPr>
          <a:xfrm>
            <a:off x="9123426" y="5577840"/>
            <a:ext cx="2580894" cy="1828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action dès demain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Easy Checks - Mission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8516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stepper-connecteur-1-decoratif" descr=""/>
          <p:cNvSpPr/>
          <p:nvPr/>
        </p:nvSpPr>
        <p:spPr>
          <a:xfrm>
            <a:off x="2085975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stepper-connecteur-2-decoratif" descr=""/>
          <p:cNvSpPr/>
          <p:nvPr/>
        </p:nvSpPr>
        <p:spPr>
          <a:xfrm>
            <a:off x="4968621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stepper-connecteur-3-decoratif" descr=""/>
          <p:cNvSpPr/>
          <p:nvPr/>
        </p:nvSpPr>
        <p:spPr>
          <a:xfrm>
            <a:off x="7851267" y="51480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Accessibilité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Pourquoi l'accessibilité sur les réseaux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Les réseaux sociaux sont devenus un canal officiel de communication publique - et donc soumis aux mêmes obligations d'accessibilité.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622852"/>
            <a:ext cx="11155680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714292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Votre audience est plus large que vous ne le pensez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4125772"/>
            <a:ext cx="1090879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12 millions de personnes en situation de handicap en France (INSEE 2021)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Utilisateurs en contexte défavorable : faible luminosité, connexion lente, bruit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et outils d'IA qui analysent vos contenus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Collègues et citoyens qui lisent sans images activées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334256"/>
            <a:ext cx="11155680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success-titre"/>
          <p:cNvSpPr txBox="1"/>
          <p:nvPr/>
        </p:nvSpPr>
        <p:spPr>
          <a:xfrm>
            <a:off x="704088" y="4425696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4 gestes, 2 minutes par post</a:t>
            </a:r>
          </a:p>
        </p:txBody>
      </p:sp>
      <p:sp>
        <p:nvSpPr>
          <p:cNvPr id="18" name="DSFR-alert-success-body"/>
          <p:cNvSpPr txBox="1"/>
          <p:nvPr/>
        </p:nvSpPr>
        <p:spPr>
          <a:xfrm>
            <a:off x="704088" y="4837176"/>
            <a:ext cx="10908792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1 - Texte alternatif : décrire chaque image en 1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2 - Émojis : 1 ou 2 maximum, en fin de message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3 - Hashtags : CamelCase et regroupés en fin de post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Geste 4 - Texte natif : jamais de faux gras ou faux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Module 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622852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334256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Regardez ce tweet - qu'est-ce qui ne va pas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Tweet publié par l'OMS en 2020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de la #COVID19 :
Lavez-vous les 👐 avec 1 désinfectant à base d'alcool, du 🧼 &amp; de l'💦.
Quand vous toussez ou 🤧 couvrez votre 👄 &amp; le 👃🏻 dans le pli du coude ou mouchoir.
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info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En binôme - 2 minutes</a:t>
            </a:r>
          </a:p>
        </p:txBody>
      </p:sp>
      <p:sp>
        <p:nvSpPr>
          <p:cNvPr id="15" name="DSFR-alert-info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Identifiez le maximum de problèmes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Ne lisez pas le tweet à voix haute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ce qui vous gêne ou vous surprend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vous voyez ≠ ce qui est lu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69164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vous voyez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du 🧼 &amp; de l'💦.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👄.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 à voix haute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mains ouvertes avec du savon et éclaboussures de sueur.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visage qui éternue couvrez votre bouche.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yeux grand ouverts, le nez et la bouche.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791456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4882896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Chaque émoji a un nom officiel lu intégralement. Il interrompt le flux de lecture.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791456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3 changements, 0 perte de sens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Cas pratique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1717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originale - problématique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Lavez-vous les 👐 avec 1 désinfectant à base d'alcool, du 🧼 &amp; de l'💦.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Quand vous toussez ou 🤧 couvrez votre 👄 &amp; le 👃🏻.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Évitez de toucher les 👀, le 👃 &amp; la 👄.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Version accessible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Protégez-vous du #COVID19 - trois gestes essentiels :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1. Lavez-vous régulièrement les mains avec du savon et de l'eau 🧼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2. Quand vous toussez, couvrez-vous avec le pli du coude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3. Évitez de toucher votre visage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3758184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3849624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Les 3 changements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261104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réduits à 1, placé en fin de phrase - le message tient sans eux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Structure numérotée - navigation facile pour tous les utilisateurs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 conservé mais seul, séparé du texte informatif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3758184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Démonstration NVDA - le lecteur d'écran en direct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Démonstration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79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Ouvrir le post problématique préparé (avec émojis en série)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Activer NVDA : Ctrl+Alt+N - une voix démarre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Naviguer sur le texte : flèches ou Tab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2834640"/>
            <a:ext cx="2580894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Écouter la restitution - ne pas regarder l'écran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160520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251959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 les stagiaires pendant la démo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4663440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Fermez les yeux ou regardez ailleurs - écoutez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Notez le premier mot qui vous vient à l'écoute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404872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160520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4 réflexes avant chaque publication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Réflexes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80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alternatif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Décrire chaque image en 1 à 2 phrases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Mentionner « Image décorative » si elle ne porte pas de sens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sobres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1 ou 2 maximum, en fin de message uniquement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texte doit avoir du sens sans eux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Hashtags CamelCase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pas #servicepublic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Rassembler en fin de post, 2 à 3 maximum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183379"/>
            <a:ext cx="5390388" cy="19888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869179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Texte natif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326379"/>
            <a:ext cx="5097779" cy="7086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Jamais de faux gras ou faux italique (InstaFont ...)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Les caractères Unicode stylisés sont illisibles par les lecteurs d'écran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3205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183379"/>
            <a:ext cx="73152" cy="19888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 texte alternatif : votre sous-titre d'image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L'alt text, c'est comme un sous-titre pour votre image : il dit ce qu'elle montre à ceux qui ne peuvent pas la voir.</a:t>
            </a:r>
          </a:p>
        </p:txBody>
      </p:sp>
      <p:sp>
        <p:nvSpPr>
          <p:cNvPr id="12" name="DSFR-box"/>
          <p:cNvSpPr/>
          <p:nvPr/>
        </p:nvSpPr>
        <p:spPr>
          <a:xfrm>
            <a:off x="548640" y="3127248"/>
            <a:ext cx="5390388" cy="2267712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callout-titre"/>
          <p:cNvSpPr txBox="1"/>
          <p:nvPr/>
        </p:nvSpPr>
        <p:spPr>
          <a:xfrm>
            <a:off x="704088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Qui en bénéficie ?</a:t>
            </a:r>
          </a:p>
        </p:txBody>
      </p:sp>
      <p:sp>
        <p:nvSpPr>
          <p:cNvPr id="14" name="DSFR-callout-body"/>
          <p:cNvSpPr txBox="1"/>
          <p:nvPr/>
        </p:nvSpPr>
        <p:spPr>
          <a:xfrm>
            <a:off x="704088" y="3630168"/>
            <a:ext cx="5143500" cy="167335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Personnes aveugles ou malvoyantes (lecteur d'écran)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Connexion lente ou image non chargée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Moteurs de recherche (Google indexe via l'alt text)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et outils d'analyse d'image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Contexte défavorable (luminosité, etc.)</a:t>
            </a:r>
          </a:p>
        </p:txBody>
      </p:sp>
      <p:sp>
        <p:nvSpPr>
          <p:cNvPr id="16" name="DSFR-box"/>
          <p:cNvSpPr/>
          <p:nvPr/>
        </p:nvSpPr>
        <p:spPr>
          <a:xfrm>
            <a:off x="6313931" y="3127248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alert-info-titre"/>
          <p:cNvSpPr txBox="1"/>
          <p:nvPr/>
        </p:nvSpPr>
        <p:spPr>
          <a:xfrm>
            <a:off x="6469379" y="3218688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Concrètement sur les réseaux</a:t>
            </a:r>
          </a:p>
        </p:txBody>
      </p:sp>
      <p:sp>
        <p:nvSpPr>
          <p:cNvPr id="18" name="DSFR-alert-info-body"/>
          <p:cNvSpPr txBox="1"/>
          <p:nvPr/>
        </p:nvSpPr>
        <p:spPr>
          <a:xfrm>
            <a:off x="6469379" y="3630168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: Modifier → Texte alternatif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Facebook : Modifier l'image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Twitter/X : intégré à la publication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Instagram : Paramètres avancés → 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Canva : Clic droit → Texte alternatif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75488" y="3127248"/>
            <a:ext cx="73152" cy="226771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accent-decoratif" descr=""/>
          <p:cNvSpPr/>
          <p:nvPr/>
        </p:nvSpPr>
        <p:spPr>
          <a:xfrm>
            <a:off x="6240779" y="3127248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Comment rédiger un bon texte alternatif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Alt text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82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"image.jpg" - nom de fichier, aucun sens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"Photo" - trop vague, aucune information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"Image de la réunion du 12 mars 2026" - date inutile sans contexte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"Voir l'image ci-dessous" - redondant, ne décrit rien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qui fonctionne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"Trois agents discutent autour d'une table, documents ouverts"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"Logo DINUM - bleu avec texte blanc"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"Graphique : le taux d'accessibilité passe de 45 à 78 % entre 2023 et 2025"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"Infographie : 4 étapes pour publier un post accessible (texte ci-dessous)"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Exercice en binôme (7 min) : rédigez l'alt text pour 3 images que vous avez publiées récemment sur vos réseaux professionnels.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Alt text : où le trouver sur chaque plateforme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Plateformes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83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103120"/>
          <a:ext cx="111556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00800"/>
                <a:gridCol w="2743200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Plateforme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Accès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Moment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LinkedIn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publication &gt; modifier l'image &gt; Ajouter du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Facebook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Modifier la photo &gt;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À la publication ou après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X (Twitter)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Ajouter une description (icône Accessibilité sous l'image)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Instagram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Paramètres avancés &gt; Accessibilité &gt; Écrire le texte alternatif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Avant publication uniquement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Canva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Clic droit sur l'image &gt; Texte alternatif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4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Pendant la création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4910328"/>
            <a:ext cx="11155680" cy="1307592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lert-success-titre"/>
          <p:cNvSpPr txBox="1"/>
          <p:nvPr/>
        </p:nvSpPr>
        <p:spPr>
          <a:xfrm>
            <a:off x="704088" y="5001768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Astuce : activez-le par défaut</a:t>
            </a:r>
          </a:p>
        </p:txBody>
      </p:sp>
      <p:sp>
        <p:nvSpPr>
          <p:cNvPr id="12" name="DSFR-alert-success-body"/>
          <p:cNvSpPr txBox="1"/>
          <p:nvPr/>
        </p:nvSpPr>
        <p:spPr>
          <a:xfrm>
            <a:off x="704088" y="5413248"/>
            <a:ext cx="10908792" cy="7132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LinkedIn et Instagram proposent un rappel si vous oubliez l'alt text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X : paramètre Accessibilité dans les réglages de compte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4910328"/>
            <a:ext cx="73152" cy="1307592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Émojis : 3 règles simples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highlight"/>
          <p:cNvSpPr txBox="1"/>
          <p:nvPr/>
        </p:nvSpPr>
        <p:spPr>
          <a:xfrm>
            <a:off x="749808" y="219456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Un lecteur d'écran lit le nom officiel de chaque émoji. En série, c'est incompréhensible.</a:t>
            </a:r>
          </a:p>
        </p:txBody>
      </p:sp>
      <p:sp>
        <p:nvSpPr>
          <p:cNvPr id="11" name="DSFR-stepper-pastille-1"/>
          <p:cNvSpPr/>
          <p:nvPr/>
        </p:nvSpPr>
        <p:spPr>
          <a:xfrm>
            <a:off x="1926335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stepper-texte-1"/>
          <p:cNvSpPr txBox="1"/>
          <p:nvPr/>
        </p:nvSpPr>
        <p:spPr>
          <a:xfrm>
            <a:off x="475488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1 ou 2 émojis par post maximum - au-delà, le sens se perd à l'écoute</a:t>
            </a:r>
          </a:p>
        </p:txBody>
      </p:sp>
      <p:sp>
        <p:nvSpPr>
          <p:cNvPr id="14" name="DSFR-stepper-pastille-2"/>
          <p:cNvSpPr/>
          <p:nvPr/>
        </p:nvSpPr>
        <p:spPr>
          <a:xfrm>
            <a:off x="5769863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6" name="DSFR-stepper-texte-2"/>
          <p:cNvSpPr txBox="1"/>
          <p:nvPr/>
        </p:nvSpPr>
        <p:spPr>
          <a:xfrm>
            <a:off x="4319015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En fin de message uniquement - jamais en milieu de phrase</a:t>
            </a:r>
          </a:p>
        </p:txBody>
      </p:sp>
      <p:sp>
        <p:nvSpPr>
          <p:cNvPr id="17" name="DSFR-stepper-pastille-3"/>
          <p:cNvSpPr/>
          <p:nvPr/>
        </p:nvSpPr>
        <p:spPr>
          <a:xfrm>
            <a:off x="9613391" y="322326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8" name="DSFR-stepper-texte-3"/>
          <p:cNvSpPr txBox="1"/>
          <p:nvPr/>
        </p:nvSpPr>
        <p:spPr>
          <a:xfrm>
            <a:off x="8162543" y="3954779"/>
            <a:ext cx="3541775" cy="1554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Le texte doit avoir du sens sans eux - testez en retirant l'émoji</a:t>
            </a:r>
          </a:p>
        </p:txBody>
      </p:sp>
      <p:sp>
        <p:nvSpPr>
          <p:cNvPr id="20" name="DSFR-box"/>
          <p:cNvSpPr/>
          <p:nvPr/>
        </p:nvSpPr>
        <p:spPr>
          <a:xfrm>
            <a:off x="548640" y="4622292"/>
            <a:ext cx="11155680" cy="159562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alert-info-titre"/>
          <p:cNvSpPr txBox="1"/>
          <p:nvPr/>
        </p:nvSpPr>
        <p:spPr>
          <a:xfrm>
            <a:off x="704088" y="4713731"/>
            <a:ext cx="10908792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Test rapide avant publication</a:t>
            </a:r>
          </a:p>
        </p:txBody>
      </p:sp>
      <p:sp>
        <p:nvSpPr>
          <p:cNvPr id="22" name="DSFR-alert-info-body"/>
          <p:cNvSpPr txBox="1"/>
          <p:nvPr/>
        </p:nvSpPr>
        <p:spPr>
          <a:xfrm>
            <a:off x="704088" y="5125212"/>
            <a:ext cx="10908792" cy="10012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Retirez tous les émojis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Le message est-il toujours clair et complet ? Si oui : bon signe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Si non : l'émoji porte du sens - remplacez-le par le mot correspondant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1-decoratif" descr=""/>
          <p:cNvSpPr/>
          <p:nvPr/>
        </p:nvSpPr>
        <p:spPr>
          <a:xfrm>
            <a:off x="2566416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2-decoratif" descr=""/>
          <p:cNvSpPr/>
          <p:nvPr/>
        </p:nvSpPr>
        <p:spPr>
          <a:xfrm>
            <a:off x="6409944" y="352501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4622292"/>
            <a:ext cx="73152" cy="159562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Ce que ça donne avec trop d'émojis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Émojis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45161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Post original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85725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🎉🎉 Rejoignez-nous 📅 mardi 10 juin 🏢 salle B3 pour notre atelier 💻 sur l'accessibilité 🧠 numérique 👏👏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03580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Ce que NVDA lit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244144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Visage qui fête quelque chose. Visage qui fête quelque chose. Rejoignez-nous. Calendrier spirale. mardi 10 juin. Bâtiment de bureau. salle B3 pour notre atelier. Ordinateur portable. sur l'accessibilité. Cerveau. numérique. Mains qui applaudissent, peau claire. Mains qui applaudissent, peau claire.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Version accessible : 'Rejoignez-nous mardi 10 juin, salle B3, pour notre atelier sur l'accessibilité numérique. 💻'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45161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0358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Hashtags : le CamelCase qui change tout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Hashtags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89179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Pourquoi le CamelCase ?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229743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le lecteur d'écran lit 'Service Public' - correct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'servicepublic' - un seul mot sans sens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#SERVICEPUBLIC : lu lettre par lettre S-E-R-V-I-C-E-P-U-B-L-I-C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majuscule en début de chaque mot = découpage naturel pour le lecteur d'écran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459736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success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règles pour les hashtags</a:t>
            </a:r>
          </a:p>
        </p:txBody>
      </p:sp>
      <p:sp>
        <p:nvSpPr>
          <p:cNvPr id="15" name="DSFR-alert-success-body"/>
          <p:cNvSpPr txBox="1"/>
          <p:nvPr/>
        </p:nvSpPr>
        <p:spPr>
          <a:xfrm>
            <a:off x="6469379" y="2606039"/>
            <a:ext cx="5143500" cy="1865376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CamelCase obligatoire : #AccessibilitéNumerique pas #accessibilitenumerique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En fin de post, regroupés - jamais insérés dans la phrase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2 à 3 maximum - au-delà on perd le sens et l'engagement baisse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017312"/>
            <a:ext cx="11155680" cy="120015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108752"/>
            <a:ext cx="10863072" cy="101727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#SusanAlbumParty (2012) : sans CamelCase, lu 'Susan album party'. Avec majuscules, ça aurait été encore plus clair - et moins ... ambigu.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89179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459736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017312"/>
            <a:ext cx="73152" cy="120015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Faux gras et caractères Unicode : le piège invisible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Caractères spéciaux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alert-error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problème</a:t>
            </a:r>
          </a:p>
        </p:txBody>
      </p:sp>
      <p:sp>
        <p:nvSpPr>
          <p:cNvPr id="11" name="DSFR-alert-error-body"/>
          <p:cNvSpPr txBox="1"/>
          <p:nvPr/>
        </p:nvSpPr>
        <p:spPr>
          <a:xfrm>
            <a:off x="704088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InstaFont, LingoJam ... proposent du 'faux gras' et 'faux italique'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Exemple : 𝕻𝕸𝕨𝕳 𝕬𝕮𝕪𝕴 (rendu visuel identique à du gras)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Ces caractères sont des symboles mathématiques, pas du texte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les lit : 'MATHEMATICAL BOLD CAPITAL B, O, N, J, O, U, R'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Ou les ignore complètement - le message disparaît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21717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llout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Triple impact négatif</a:t>
            </a:r>
          </a:p>
        </p:txBody>
      </p:sp>
      <p:sp>
        <p:nvSpPr>
          <p:cNvPr id="15" name="DSFR-callout-body"/>
          <p:cNvSpPr txBox="1"/>
          <p:nvPr/>
        </p:nvSpPr>
        <p:spPr>
          <a:xfrm>
            <a:off x="6469379" y="2606039"/>
            <a:ext cx="5143500" cy="15773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Accessibilité : incompréhensible pour les lecteurs d'écran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SEO : Google n'indexe pas ces caractères comme du texte normal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IA générative : les outils d'analyse et de traduction échouent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 u="sng" lang="fr-FR">
                <a:solidFill>
                  <a:srgbClr val="000091"/>
                </a:solidFill>
                <a:latin typeface="Marianne"/>
                <a:hlinkClick r:id="rId2"/>
              </a:rPr>
              <a:t>Règle qualité web : Opquast règle 14 - caractères détournés. La mise en forme appartient au CSS, pas au contenu.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21717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Écriture inclusive : ce qui est accessible et ce qui ne l'est pas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Écriture inclusive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241173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3 stratégies accessibles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606039"/>
            <a:ext cx="5143500" cy="181737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Doublon explicite : 'les agents et les agentes' - clair à l'oral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Féminin-masculin : 'les citoyennes et citoyens' - lu correctement</a:t>
            </a:r>
          </a:p>
          <a:p>
            <a:pPr algn="l">
              <a:lnSpc>
                <a:spcPct val="125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Formulation épicène : 'les personnes concernées', 'l'équipe' - neutre et fluide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103120"/>
            <a:ext cx="5390388" cy="3611879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19456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éviter : le point médian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606039"/>
            <a:ext cx="5143500" cy="3017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agent.e.s : le point médian est lu 'point' par les lecteurs d'écran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NVDA lit : 'agent point e point s' - incompréhensible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DGLFLF (2021) : le point médian est déconseillé dans les communications officielles pour des raisons de lisibilité et d'accessibilité</a:t>
            </a:r>
          </a:p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La DINUM et le RGAA vont dans le même sens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L'objectif : une communication qui inclut tout le monde ET que tout le monde peut comprendre - sans choix à faire.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241173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103120"/>
            <a:ext cx="73152" cy="3611879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1 ou 2 émojis par post,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VRAI - au-delà de 2, l'écoute devient incompréhensible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2103120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7889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#publicservice est aussi accessible que #PublicService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246120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sans CamelCase le lecteur lit un seul mot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alt text vide est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une image décorative peut avoir un alt vide (ou 'Image décorative')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4270248"/>
            <a:ext cx="5390388" cy="19431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956048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Le faux gras InstaFont est lu comme du gras par NVDA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5413248"/>
            <a:ext cx="5097779" cy="6629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FAUX - les caractères Unicode sont lus lettre par lettre ou ignorés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3263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4178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4 réflexes = 4 questions. Vous avez toutes les réponses depuis le début du module.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240279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4407408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103120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4270248"/>
            <a:ext cx="73152" cy="19431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3263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Que faites-vous demain matin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Plan d'action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90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926335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Avant votre prochain post : activez l'alt text sur votre plateforme principale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5769863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4319015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Relisez votre dernière publication : comptez les émojis et testez le texte sans eux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9613391" y="2103120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5" name="DSFR-stepper-texte-3"/>
          <p:cNvSpPr txBox="1"/>
          <p:nvPr/>
        </p:nvSpPr>
        <p:spPr>
          <a:xfrm>
            <a:off x="8162543" y="2834640"/>
            <a:ext cx="3541775" cy="10972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0" lang="fr-FR">
                <a:solidFill>
                  <a:srgbClr val="161616"/>
                </a:solidFill>
                <a:latin typeface="Marianne"/>
              </a:rPr>
              <a:t>Vérifiez vos 3 derniers hashtags : sont-ils en CamelCase ?</a:t>
            </a:r>
          </a:p>
        </p:txBody>
      </p:sp>
      <p:sp>
        <p:nvSpPr>
          <p:cNvPr id="17" name="DSFR-box"/>
          <p:cNvSpPr/>
          <p:nvPr/>
        </p:nvSpPr>
        <p:spPr>
          <a:xfrm>
            <a:off x="548640" y="4069080"/>
            <a:ext cx="5390388" cy="1883664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lert-success-titre"/>
          <p:cNvSpPr txBox="1"/>
          <p:nvPr/>
        </p:nvSpPr>
        <p:spPr>
          <a:xfrm>
            <a:off x="704088" y="4160520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Dans 7 jours</a:t>
            </a:r>
          </a:p>
        </p:txBody>
      </p:sp>
      <p:sp>
        <p:nvSpPr>
          <p:cNvPr id="19" name="DSFR-alert-success-body"/>
          <p:cNvSpPr txBox="1"/>
          <p:nvPr/>
        </p:nvSpPr>
        <p:spPr>
          <a:xfrm>
            <a:off x="704088" y="4572000"/>
            <a:ext cx="5143500" cy="128930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Publiez un post en appliquant les 4 réflexes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Vérifiez que vos collègues de direction savent où trouver l'alt text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Partagez ce mémo à votre équipe de communication</a:t>
            </a:r>
          </a:p>
        </p:txBody>
      </p:sp>
      <p:sp>
        <p:nvSpPr>
          <p:cNvPr id="21" name="DSFR-box"/>
          <p:cNvSpPr/>
          <p:nvPr/>
        </p:nvSpPr>
        <p:spPr>
          <a:xfrm>
            <a:off x="6313931" y="4206240"/>
            <a:ext cx="5390388" cy="16916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SFR-alert-info-titre"/>
          <p:cNvSpPr txBox="1"/>
          <p:nvPr/>
        </p:nvSpPr>
        <p:spPr>
          <a:xfrm>
            <a:off x="6469379" y="4297679"/>
            <a:ext cx="514350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Mémo : les 4 réflexes</a:t>
            </a:r>
          </a:p>
        </p:txBody>
      </p:sp>
      <p:sp>
        <p:nvSpPr>
          <p:cNvPr id="23" name="DSFR-alert-info-body"/>
          <p:cNvSpPr txBox="1"/>
          <p:nvPr/>
        </p:nvSpPr>
        <p:spPr>
          <a:xfrm>
            <a:off x="6469379" y="4709159"/>
            <a:ext cx="51435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Alt text : 1 phrase par image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Émojis : 1-2, en fin de message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Hashtags : CamelCase, 2-3 en fin de post</a:t>
            </a:r>
          </a:p>
          <a:p>
            <a:pPr algn="l">
              <a:lnSpc>
                <a:spcPct val="10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Texte : pas de faux gras ni italique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566416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6409944" y="2404872"/>
            <a:ext cx="3203447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475488" y="4069080"/>
            <a:ext cx="73152" cy="1883664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accent-decoratif" descr=""/>
          <p:cNvSpPr/>
          <p:nvPr/>
        </p:nvSpPr>
        <p:spPr>
          <a:xfrm>
            <a:off x="6240779" y="4206240"/>
            <a:ext cx="73152" cy="16916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