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Quand une communication est-elle vraiment accessible ?</a:t>
            </a:r>
          </a:p>
          <a:p>
            <a:r>
              <a:rPr lang="fr-FR"/>
              <a:t>Laisser 30 secondes de silence avant de basculer vers les supports concernés.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rester sur le registre moral : montrer le bénéfice concret.</a:t>
            </a:r>
          </a:p>
          <a:p>
            <a:r>
              <a:rPr lang="fr-FR"/>
              <a:t>La charte de communication de l'État impose des engagements mesurables.</a:t>
            </a:r>
          </a:p>
          <a:p>
            <a:r>
              <a:rPr lang="fr-FR"/>
              <a:t>Pour la personne qui publie : une communication accessible est une communication qui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vispero.com/lp/color-contrast-checker/"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15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15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15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15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15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15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15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15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15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15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15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15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15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15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15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15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15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15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1. Mise en accessibilité de sa communication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Quoi</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Qui</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Pourquoi</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103120"/>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60603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d'accès à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sp>
        <p:nvSpPr>
          <p:cNvPr id="13" name="DSFR-box"/>
          <p:cNvSpPr/>
          <p:nvPr/>
        </p:nvSpPr>
        <p:spPr>
          <a:xfrm>
            <a:off x="6313931" y="210312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Charte de communication de l'État</a:t>
            </a:r>
          </a:p>
        </p:txBody>
      </p:sp>
      <p:sp>
        <p:nvSpPr>
          <p:cNvPr id="15" name="DSFR-alert-success-body"/>
          <p:cNvSpPr txBox="1"/>
          <p:nvPr/>
        </p:nvSpPr>
        <p:spPr>
          <a:xfrm>
            <a:off x="6469379" y="2606039"/>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Confiance : l'usager comprend et agit seul</a:t>
            </a:r>
          </a:p>
          <a:p>
            <a:pPr algn="l">
              <a:lnSpc>
                <a:spcPct val="120000"/>
              </a:lnSpc>
            </a:pPr>
            <a:r>
              <a:rPr sz="1400" lang="fr-FR">
                <a:solidFill>
                  <a:srgbClr val="161616"/>
                </a:solidFill>
                <a:latin typeface="Marianne"/>
              </a:rPr>
              <a:t>• </a:t>
            </a:r>
            <a:r>
              <a:rPr sz="1400" b="0" lang="fr-FR">
                <a:solidFill>
                  <a:srgbClr val="161616"/>
                </a:solidFill>
                <a:latin typeface="Marianne"/>
              </a:rPr>
              <a:t>Autonomie : pas besoin d'aide tierce</a:t>
            </a:r>
          </a:p>
          <a:p>
            <a:pPr algn="l">
              <a:lnSpc>
                <a:spcPct val="120000"/>
              </a:lnSpc>
            </a:pPr>
            <a:r>
              <a:rPr sz="1400" lang="fr-FR">
                <a:solidFill>
                  <a:srgbClr val="161616"/>
                </a:solidFill>
                <a:latin typeface="Marianne"/>
              </a:rPr>
              <a:t>• </a:t>
            </a:r>
            <a:r>
              <a:rPr sz="1400" b="0" lang="fr-FR">
                <a:solidFill>
                  <a:srgbClr val="161616"/>
                </a:solidFill>
                <a:latin typeface="Marianne"/>
              </a:rPr>
              <a:t>Inclusion : chaque canal atteint son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0624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2976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709159"/>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20624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/declaration-accessibilite</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2. Documents bureautiques accessibles</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Documents bureautiques accessibles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2437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91581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2729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15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15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2437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15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15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01414"/>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92854"/>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15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15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15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accent-decoratif" descr=""/>
          <p:cNvSpPr/>
          <p:nvPr/>
        </p:nvSpPr>
        <p:spPr>
          <a:xfrm>
            <a:off x="475488" y="4001414"/>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20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20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20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24374"/>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91581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2729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9" name="DSFR-accent-decoratif" descr=""/>
          <p:cNvSpPr/>
          <p:nvPr/>
        </p:nvSpPr>
        <p:spPr>
          <a:xfrm>
            <a:off x="475488" y="482437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510418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24134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92714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10418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15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15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15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677156"/>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180076"/>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603089"/>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69452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106009"/>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77156"/>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603089"/>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406908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1605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572000"/>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15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15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416143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25287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15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15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6908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6143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