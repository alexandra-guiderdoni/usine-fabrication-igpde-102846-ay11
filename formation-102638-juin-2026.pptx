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27"/>
  </p:notesMasterIdLst>
  <p:handoutMasterIdLst>
    <p:handoutMasterId r:id="rId12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Lst>
        </p14:section>
        <p14:section name="MÉTHODOLOGIE" id="{EB03BDE6-D677-4574-A7BF-9721F91BDEB8}">
          <p14:sldIdLst>
            <p14:sldId id="319"/>
            <p14:sldId id="320"/>
            <p14:sldId id="321"/>
            <p14:sldId id="322"/>
            <p14:sldId id="323"/>
            <p14:sldId id="324"/>
            <p14:sldId id="325"/>
            <p14:sldId id="326"/>
          </p14:sldIdLst>
        </p14:section>
        <p14:section name="IGPDE" id="{0B896E98-F45E-4768-8620-EDDF394BE181}">
          <p14:sldIdLst>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4" autoAdjust="0"/>
    <p:restoredTop sz="96151" autoAdjust="0"/>
  </p:normalViewPr>
  <p:slideViewPr>
    <p:cSldViewPr showGuides="1">
      <p:cViewPr varScale="1">
        <p:scale>
          <a:sx n="171" d="100"/>
          <a:sy n="171" d="100"/>
        </p:scale>
        <p:origin x="192" y="808"/>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handoutMaster" Target="handoutMasters/handout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16/05/2026</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16/05/2026</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Slide de couverture - accueil des stagiaires, tour de table.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Présentation d'Alexandra : parcours, spécialisation accessibilité, DU-RAN.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_source/references/).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rester sur le registre moral : montrer le bénéfice concret.</a:t>
            </a:r>
          </a:p>
          <a:p>
            <a:r>
              <a:rPr lang="fr-FR"/>
              <a:t>La charte de communication de l'État impose des engagements mesurables.</a:t>
            </a:r>
          </a:p>
          <a:p>
            <a:r>
              <a:rPr lang="fr-FR"/>
              <a:t>Pour la personne qui publie : une communication accessible est une communication qui atteint son objectif.</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sz="quarter" idx="5"/>
          </p:nvPr>
        </p:nvSpPr>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sz="quarter" idx="5"/>
          </p:nvPr>
        </p:nvSpPr>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sz="quarter" idx="5"/>
          </p:nvPr>
        </p:nvSpPr>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sz="quarter" idx="5"/>
          </p:nvPr>
        </p:nvSpPr>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sz="quarter" idx="5"/>
          </p:nvPr>
        </p:nvSpPr>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sz="quarter" idx="5"/>
          </p:nvPr>
        </p:nvSpPr>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sz="quarter" idx="5"/>
          </p:nvPr>
        </p:nvSpPr>
        <p:spPr/>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hyperlink" Target="https://www.info.gouv.fr/accessibilite" TargetMode="Externa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hyperlink" Target="mailto:bertrand.matge@finances.gouv.fr"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hyperlink" Target="mailto:alexandra.guiderdoni@finances.gouv.fr"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4.png"/><Relationship Id="rId5" Type="http://schemas.openxmlformats.org/officeDocument/2006/relationships/image" Target="../media/image19.png"/><Relationship Id="rId4" Type="http://schemas.openxmlformats.org/officeDocument/2006/relationships/image" Target="../media/image18.jp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hyperlink" Target="https://obligations-legales-accessibilite-numerique.fr/fr/comprendre/" TargetMode="External"/><Relationship Id="rId5" Type="http://schemas.openxmlformats.org/officeDocument/2006/relationships/hyperlink" Target="https://obligations-legales-accessibilite-numerique.fr/fr/simulation/" TargetMode="External"/><Relationship Id="rId4" Type="http://schemas.openxmlformats.org/officeDocument/2006/relationships/hyperlink" Target="https://obligations-legales-accessibilite-numerique.fr/fr/"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40.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0.xml"/><Relationship Id="rId1" Type="http://schemas.openxmlformats.org/officeDocument/2006/relationships/slideLayout" Target="../slideLayouts/slideLayout6.xml"/><Relationship Id="rId4" Type="http://schemas.openxmlformats.org/officeDocument/2006/relationships/hyperlink" Target="https://vispero.com/lp/color-contrast-checker/"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3" Type="http://schemas.openxmlformats.org/officeDocument/2006/relationships/hyperlink" Target="https://checklists.opquast.com/fr/qualite-numerique/les-contenus-ne-detournent-pas-de-caracteres-pour-simuler-une-mise-en-forme-visuelle" TargetMode="External"/><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lIns="73152" rIns="73152" anchor="t"/>
          <a:lstStyle>
            <a:lvl1pPr>
              <a:defRPr lang="fr-FR" sz="100">
                <a:solidFill>
                  <a:schemeClr val="tx1">
                    <a:alpha val="0"/>
                  </a:schemeClr>
                </a:solidFill>
              </a:defRPr>
            </a:lvl1pPr>
          </a:lstStyle>
          <a:p>
            <a:pPr algn="l">
              <a:lnSpc>
                <a:spcPct val="125000"/>
              </a:lnSpc>
            </a:pPr>
            <a:r>
              <a:rPr lang="fr-FR" sz="1000" b="0" i="0">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lIns="73152" rIns="73152" anchor="t">
            <a:spAutoFit/>
          </a:bodyPr>
          <a:lstStyle/>
          <a:p>
            <a:pPr algn="r">
              <a:lnSpc>
                <a:spcPct val="125000"/>
              </a:lnSpc>
            </a:pPr>
            <a:r>
              <a:rPr lang="fr-FR" sz="3200" b="1" i="0">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lIns="73152" rIns="73152" anchor="t">
            <a:spAutoFit/>
          </a:bodyPr>
          <a:lstStyle/>
          <a:p>
            <a:pPr algn="r">
              <a:lnSpc>
                <a:spcPct val="125000"/>
              </a:lnSpc>
            </a:pPr>
            <a:r>
              <a:rPr lang="fr-FR" sz="1400" b="1" i="0">
                <a:solidFill>
                  <a:srgbClr val="000091"/>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lIns="73152" rIns="73152" anchor="t"/>
          <a:lstStyle>
            <a:lvl1pPr>
              <a:defRPr lang="fr-FR" sz="100">
                <a:solidFill>
                  <a:schemeClr val="tx1">
                    <a:alpha val="0"/>
                  </a:schemeClr>
                </a:solidFill>
              </a:defRPr>
            </a:lvl1pPr>
          </a:lstStyle>
          <a:p>
            <a:pPr algn="l">
              <a:lnSpc>
                <a:spcPct val="125000"/>
              </a:lnSpc>
            </a:pPr>
            <a:r>
              <a:rPr lang="fr-FR" sz="1000" b="0" i="0">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wrap="square" lIns="73152" rIns="73152" anchor="t" anchorCtr="0"/>
          <a:lstStyle>
            <a:lvl1pPr>
              <a:defRPr lang="fr-FR" sz="1150"/>
            </a:lvl1pPr>
          </a:lstStyle>
          <a:p>
            <a:pPr algn="l">
              <a:lnSpc>
                <a:spcPct val="125000"/>
              </a:lnSpc>
            </a:pPr>
            <a:r>
              <a:rPr lang="fr-FR" sz="1000" b="0" i="0">
                <a:solidFill>
                  <a:srgbClr val="666666"/>
                </a:solidFill>
                <a:latin typeface="Marianne"/>
              </a:rPr>
              <a:t>Institut de la Gestion publique et du Développement économique</a:t>
            </a:r>
          </a:p>
        </p:txBody>
      </p:sp>
      <p:cxnSp>
        <p:nvCxnSpPr>
          <p:cNvPr id="7" name="IGPDE-footer-ligne-decoratif"/>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Espace réservé du numéro de diapositive 7"/>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lIns="73152" rIns="73152" anchor="t">
            <a:spAutoFit/>
          </a:bodyPr>
          <a:lstStyle/>
          <a:p>
            <a:pPr algn="l">
              <a:lnSpc>
                <a:spcPct val="125000"/>
              </a:lnSpc>
            </a:pPr>
            <a:r>
              <a:rPr lang="fr-FR" sz="3600" b="1" i="0">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Expliquer les enjeux de l'accessibilité numérique et son cadre légal dans le contexte de la communication</a:t>
            </a:r>
          </a:p>
          <a:p>
            <a:pPr algn="l">
              <a:lnSpc>
                <a:spcPct val="150000"/>
              </a:lnSpc>
            </a:pPr>
            <a:r>
              <a:rPr lang="fr-FR" sz="1400">
                <a:solidFill>
                  <a:srgbClr val="161616"/>
                </a:solidFill>
                <a:latin typeface="Marianne"/>
              </a:rPr>
              <a:t>• </a:t>
            </a:r>
            <a:r>
              <a:rPr lang="fr-FR" sz="1400" b="0">
                <a:solidFill>
                  <a:srgbClr val="161616"/>
                </a:solidFill>
                <a:latin typeface="Marianne"/>
              </a:rPr>
              <a:t>Identifier et évaluer les principales erreurs d'accessibilité</a:t>
            </a:r>
          </a:p>
          <a:p>
            <a:pPr algn="l">
              <a:lnSpc>
                <a:spcPct val="150000"/>
              </a:lnSpc>
            </a:pPr>
            <a:r>
              <a:rPr lang="fr-FR" sz="1400">
                <a:solidFill>
                  <a:srgbClr val="161616"/>
                </a:solidFill>
                <a:latin typeface="Marianne"/>
              </a:rPr>
              <a:t>• </a:t>
            </a:r>
            <a:r>
              <a:rPr lang="fr-FR" sz="1400" b="0">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3"/>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4"/>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5"/>
              </a:rPr>
              <a:t>https://www.info.gouv.fr/accessibilite</a:t>
            </a:r>
          </a:p>
        </p:txBody>
      </p:sp>
      <p:sp>
        <p:nvSpPr>
          <p:cNvPr id="2" name="Espace réservé de la date 1"/>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Objectifs</a:t>
            </a:r>
          </a:p>
        </p:txBody>
      </p:sp>
      <p:sp>
        <p:nvSpPr>
          <p:cNvPr id="15" name="DSFR-accent-decoratif"/>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Programme de la journée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30885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Enjeux et obligations des acteurs publics</a:t>
            </a:r>
          </a:p>
          <a:p>
            <a:pPr algn="l">
              <a:lnSpc>
                <a:spcPct val="150000"/>
              </a:lnSpc>
            </a:pPr>
            <a:r>
              <a:rPr lang="fr-FR" sz="1400">
                <a:solidFill>
                  <a:srgbClr val="161616"/>
                </a:solidFill>
                <a:latin typeface="Marianne"/>
              </a:rPr>
              <a:t>• </a:t>
            </a:r>
            <a:r>
              <a:rPr lang="fr-FR" sz="1400" b="0">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6469379" y="230885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Documents Word et LibreOffice</a:t>
            </a:r>
          </a:p>
          <a:p>
            <a:pPr algn="l">
              <a:lnSpc>
                <a:spcPct val="150000"/>
              </a:lnSpc>
            </a:pPr>
            <a:r>
              <a:rPr lang="fr-FR" sz="1400">
                <a:solidFill>
                  <a:srgbClr val="161616"/>
                </a:solidFill>
                <a:latin typeface="Marianne"/>
              </a:rPr>
              <a:t>• </a:t>
            </a:r>
            <a:r>
              <a:rPr lang="fr-FR" sz="1400" b="0">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704088" y="467487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13 vérifications rapides W3C WAI</a:t>
            </a:r>
          </a:p>
          <a:p>
            <a:pPr algn="l">
              <a:lnSpc>
                <a:spcPct val="150000"/>
              </a:lnSpc>
            </a:pPr>
            <a:r>
              <a:rPr lang="fr-FR" sz="1400">
                <a:solidFill>
                  <a:srgbClr val="161616"/>
                </a:solidFill>
                <a:latin typeface="Marianne"/>
              </a:rPr>
              <a:t>• </a:t>
            </a:r>
            <a:r>
              <a:rPr lang="fr-FR" sz="1400" b="0">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card-titre"/>
          <p:cNvSpPr txBox="1"/>
          <p:nvPr/>
        </p:nvSpPr>
        <p:spPr>
          <a:xfrm>
            <a:off x="6469379" y="467487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Enjeux et obligations</a:t>
            </a:r>
          </a:p>
          <a:p>
            <a:pPr algn="l">
              <a:lnSpc>
                <a:spcPct val="150000"/>
              </a:lnSpc>
            </a:pPr>
            <a:r>
              <a:rPr lang="fr-FR" sz="1400">
                <a:solidFill>
                  <a:srgbClr val="161616"/>
                </a:solidFill>
                <a:latin typeface="Marianne"/>
              </a:rPr>
              <a:t>• </a:t>
            </a:r>
            <a:r>
              <a:rPr lang="fr-FR" sz="1400" b="0">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Bertrand Matge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a:t>
            </a:r>
            <a:endParaRPr lang="fr-FR" dirty="0"/>
          </a:p>
        </p:txBody>
      </p:sp>
      <p:pic>
        <p:nvPicPr>
          <p:cNvPr id="8" name="Picture 7" descr="Photo Bertrand Matge"/>
          <p:cNvPicPr>
            <a:picLocks noChangeAspect="1"/>
          </p:cNvPicPr>
          <p:nvPr/>
        </p:nvPicPr>
        <p:blipFill>
          <a:blip r:embed="rId3"/>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4160520" y="2286000"/>
            <a:ext cx="7452360"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Formateur Opquast certifié, référent Assurance Qualité Web</a:t>
            </a:r>
          </a:p>
          <a:p>
            <a:pPr algn="l">
              <a:lnSpc>
                <a:spcPct val="150000"/>
              </a:lnSpc>
            </a:pPr>
            <a:r>
              <a:rPr lang="fr-FR" sz="1400">
                <a:solidFill>
                  <a:srgbClr val="161616"/>
                </a:solidFill>
                <a:latin typeface="Marianne"/>
              </a:rPr>
              <a:t>• </a:t>
            </a:r>
            <a:r>
              <a:rPr lang="fr-FR" sz="1400" b="0">
                <a:solidFill>
                  <a:srgbClr val="161616"/>
                </a:solidFill>
                <a:latin typeface="Marianne"/>
              </a:rPr>
              <a:t>Forme et sensibilise à l'accessibilité depuis plusieurs années</a:t>
            </a:r>
          </a:p>
          <a:p>
            <a:pPr algn="l">
              <a:lnSpc>
                <a:spcPct val="150000"/>
              </a:lnSpc>
            </a:pPr>
            <a:r>
              <a:rPr lang="fr-FR" sz="1400">
                <a:solidFill>
                  <a:srgbClr val="161616"/>
                </a:solidFill>
                <a:latin typeface="Marianne"/>
              </a:rPr>
              <a:t>• </a:t>
            </a:r>
            <a:r>
              <a:rPr lang="fr-FR" sz="1400" b="0">
                <a:solidFill>
                  <a:srgbClr val="161616"/>
                </a:solidFill>
                <a:latin typeface="Marianne"/>
              </a:rPr>
              <a:t>Passionné par la conception inclusive et l'expérience utilisateur</a:t>
            </a:r>
          </a:p>
          <a:p>
            <a:pPr algn="l">
              <a:lnSpc>
                <a:spcPct val="150000"/>
              </a:lnSpc>
            </a:pPr>
            <a:r>
              <a:rPr lang="fr-FR" sz="1400">
                <a:solidFill>
                  <a:srgbClr val="161616"/>
                </a:solidFill>
                <a:latin typeface="Marianne"/>
              </a:rPr>
              <a:t>• </a:t>
            </a:r>
            <a:r>
              <a:rPr lang="fr-FR" sz="1400" b="0">
                <a:solidFill>
                  <a:srgbClr val="161616"/>
                </a:solidFill>
                <a:latin typeface="Marianne"/>
              </a:rPr>
              <a:t>Formé à l'audit d'accessibilité numérique</a:t>
            </a:r>
          </a:p>
          <a:p>
            <a:pPr algn="l">
              <a:lnSpc>
                <a:spcPct val="150000"/>
              </a:lnSpc>
            </a:pPr>
            <a:r>
              <a:rPr lang="fr-FR" sz="1400">
                <a:solidFill>
                  <a:srgbClr val="161616"/>
                </a:solidFill>
                <a:latin typeface="Marianne"/>
              </a:rPr>
              <a:t>• </a:t>
            </a:r>
            <a:r>
              <a:rPr lang="fr-FR" sz="1400" b="0" u="sng">
                <a:solidFill>
                  <a:srgbClr val="000091"/>
                </a:solidFill>
                <a:latin typeface="Marianne"/>
                <a:hlinkClick r:id="rId4"/>
              </a:rPr>
              <a:t>Email : bertrand.matge@finances.gouv.fr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Intervenants</a:t>
            </a:r>
          </a:p>
        </p:txBody>
      </p:sp>
      <p:sp>
        <p:nvSpPr>
          <p:cNvPr id="9" name="DSFR-accent-decoratif"/>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Alexandra Guiderdoni</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3"/>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4160520" y="2286000"/>
            <a:ext cx="745236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Spécialisée dans les technologies web et l'accessibilité numérique</a:t>
            </a:r>
          </a:p>
          <a:p>
            <a:pPr algn="l">
              <a:lnSpc>
                <a:spcPct val="150000"/>
              </a:lnSpc>
            </a:pPr>
            <a:r>
              <a:rPr lang="fr-FR" sz="1400">
                <a:solidFill>
                  <a:srgbClr val="161616"/>
                </a:solidFill>
                <a:latin typeface="Marianne"/>
              </a:rPr>
              <a:t>• </a:t>
            </a:r>
            <a:r>
              <a:rPr lang="fr-FR" sz="1400" b="0">
                <a:solidFill>
                  <a:srgbClr val="161616"/>
                </a:solidFill>
                <a:latin typeface="Marianne"/>
              </a:rPr>
              <a:t>Expérience : Ministère des affaires étrangères, ESN</a:t>
            </a:r>
          </a:p>
          <a:p>
            <a:pPr algn="l">
              <a:lnSpc>
                <a:spcPct val="150000"/>
              </a:lnSpc>
            </a:pPr>
            <a:r>
              <a:rPr lang="fr-FR" sz="1400">
                <a:solidFill>
                  <a:srgbClr val="161616"/>
                </a:solidFill>
                <a:latin typeface="Marianne"/>
              </a:rPr>
              <a:t>• </a:t>
            </a:r>
            <a:r>
              <a:rPr lang="fr-FR" sz="1400" b="0">
                <a:solidFill>
                  <a:srgbClr val="161616"/>
                </a:solidFill>
                <a:latin typeface="Marianne"/>
              </a:rPr>
              <a:t>DU-RAN (diplôme universitaire référent accessibilité numérique), 1re session 2024</a:t>
            </a:r>
          </a:p>
          <a:p>
            <a:pPr algn="l">
              <a:lnSpc>
                <a:spcPct val="150000"/>
              </a:lnSpc>
            </a:pPr>
            <a:r>
              <a:rPr lang="fr-FR" sz="1400">
                <a:solidFill>
                  <a:srgbClr val="161616"/>
                </a:solidFill>
                <a:latin typeface="Marianne"/>
              </a:rPr>
              <a:t>• </a:t>
            </a:r>
            <a:r>
              <a:rPr lang="fr-FR" sz="1400" b="0">
                <a:solidFill>
                  <a:srgbClr val="161616"/>
                </a:solidFill>
                <a:latin typeface="Marianne"/>
              </a:rPr>
              <a:t>Formée à l'audit d'accessibilité numérique RGAA</a:t>
            </a:r>
          </a:p>
          <a:p>
            <a:pPr algn="l">
              <a:lnSpc>
                <a:spcPct val="150000"/>
              </a:lnSpc>
            </a:pPr>
            <a:r>
              <a:rPr lang="fr-FR" sz="1400">
                <a:solidFill>
                  <a:srgbClr val="161616"/>
                </a:solidFill>
                <a:latin typeface="Marianne"/>
              </a:rPr>
              <a:t>• </a:t>
            </a:r>
            <a:r>
              <a:rPr lang="fr-FR" sz="1400" b="0">
                <a:solidFill>
                  <a:srgbClr val="161616"/>
                </a:solidFill>
                <a:latin typeface="Marianne"/>
              </a:rPr>
              <a:t>Formatrice et Référente en Assurance Qualité pour le Web - Opquast</a:t>
            </a:r>
          </a:p>
          <a:p>
            <a:pPr algn="l">
              <a:lnSpc>
                <a:spcPct val="150000"/>
              </a:lnSpc>
            </a:pPr>
            <a:r>
              <a:rPr lang="fr-FR" sz="1400">
                <a:solidFill>
                  <a:srgbClr val="161616"/>
                </a:solidFill>
                <a:latin typeface="Marianne"/>
              </a:rPr>
              <a:t>• </a:t>
            </a:r>
            <a:r>
              <a:rPr lang="fr-FR" sz="1400" b="0" u="sng">
                <a:solidFill>
                  <a:srgbClr val="000091"/>
                </a:solidFill>
                <a:latin typeface="Marianne"/>
                <a:hlinkClick r:id="rId4"/>
              </a:rPr>
              <a:t>Email : alexandra.guiderdoni@finances.gouv.fr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Intervenants</a:t>
            </a:r>
          </a:p>
        </p:txBody>
      </p:sp>
      <p:sp>
        <p:nvSpPr>
          <p:cNvPr id="9" name="DSFR-accent-decoratif"/>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Présentez-vous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rd-titre"/>
          <p:cNvSpPr txBox="1"/>
          <p:nvPr/>
        </p:nvSpPr>
        <p:spPr>
          <a:xfrm>
            <a:off x="704088" y="2240279"/>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rd-titre"/>
          <p:cNvSpPr txBox="1"/>
          <p:nvPr/>
        </p:nvSpPr>
        <p:spPr>
          <a:xfrm>
            <a:off x="4547615" y="2240279"/>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card-titre"/>
          <p:cNvSpPr txBox="1"/>
          <p:nvPr/>
        </p:nvSpPr>
        <p:spPr>
          <a:xfrm>
            <a:off x="8391144" y="2240279"/>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8" name="DSFR-accent-decoratif"/>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Organisation des activités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Mettez-vous par deux et piochez une carte idée reçue</a:t>
            </a:r>
          </a:p>
          <a:p>
            <a:pPr algn="l">
              <a:lnSpc>
                <a:spcPct val="125000"/>
              </a:lnSpc>
            </a:pPr>
            <a:r>
              <a:rPr lang="fr-FR" sz="1400">
                <a:solidFill>
                  <a:srgbClr val="161616"/>
                </a:solidFill>
                <a:latin typeface="Marianne"/>
              </a:rPr>
              <a:t>• </a:t>
            </a:r>
            <a:r>
              <a:rPr lang="fr-FR" sz="1400" b="0">
                <a:solidFill>
                  <a:srgbClr val="161616"/>
                </a:solidFill>
                <a:latin typeface="Marianne"/>
              </a:rPr>
              <a:t>Présentez-vous et échangez sur votre quotidien</a:t>
            </a:r>
          </a:p>
          <a:p>
            <a:pPr algn="l">
              <a:lnSpc>
                <a:spcPct val="125000"/>
              </a:lnSpc>
            </a:pPr>
            <a:r>
              <a:rPr lang="fr-FR" sz="1400">
                <a:solidFill>
                  <a:srgbClr val="161616"/>
                </a:solidFill>
                <a:latin typeface="Marianne"/>
              </a:rPr>
              <a:t>• </a:t>
            </a:r>
            <a:r>
              <a:rPr lang="fr-FR" sz="1400" b="0">
                <a:solidFill>
                  <a:srgbClr val="161616"/>
                </a:solidFill>
                <a:latin typeface="Marianne"/>
              </a:rPr>
              <a:t>Confrontez vos cartes : qu'en pensez-vous ?</a:t>
            </a:r>
          </a:p>
          <a:p>
            <a:pPr algn="l">
              <a:lnSpc>
                <a:spcPct val="125000"/>
              </a:lnSpc>
            </a:pPr>
            <a:r>
              <a:rPr lang="fr-FR" sz="1400">
                <a:solidFill>
                  <a:srgbClr val="161616"/>
                </a:solidFill>
                <a:latin typeface="Marianne"/>
              </a:rPr>
              <a:t>• </a:t>
            </a:r>
            <a:r>
              <a:rPr lang="fr-FR" sz="1400" b="0">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info-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N'hésitez pas à travailler en binôme</a:t>
            </a:r>
          </a:p>
          <a:p>
            <a:pPr algn="l">
              <a:lnSpc>
                <a:spcPct val="150000"/>
              </a:lnSpc>
            </a:pPr>
            <a:r>
              <a:rPr lang="fr-FR" sz="1400">
                <a:solidFill>
                  <a:srgbClr val="161616"/>
                </a:solidFill>
                <a:latin typeface="Marianne"/>
              </a:rPr>
              <a:t>• </a:t>
            </a:r>
            <a:r>
              <a:rPr lang="fr-FR" sz="1400" b="0">
                <a:solidFill>
                  <a:srgbClr val="161616"/>
                </a:solidFill>
                <a:latin typeface="Marianne"/>
              </a:rPr>
              <a:t>Deux regards repèrent ce qu'un seul ne voit pas</a:t>
            </a:r>
          </a:p>
          <a:p>
            <a:pPr algn="l">
              <a:lnSpc>
                <a:spcPct val="150000"/>
              </a:lnSpc>
            </a:pPr>
            <a:r>
              <a:rPr lang="fr-FR" sz="1400">
                <a:solidFill>
                  <a:srgbClr val="161616"/>
                </a:solidFill>
                <a:latin typeface="Marianne"/>
              </a:rPr>
              <a:t>• </a:t>
            </a:r>
            <a:r>
              <a:rPr lang="fr-FR" sz="1400" b="0">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5458968"/>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8" name="DSFR-accent-decoratif"/>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Ensemble, faisons tomber les préjugés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lert-info-titre"/>
          <p:cNvSpPr txBox="1"/>
          <p:nvPr/>
        </p:nvSpPr>
        <p:spPr>
          <a:xfrm>
            <a:off x="704088" y="336042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En binôme, confrontez vos cartes : vrai ou faux ?</a:t>
            </a:r>
          </a:p>
          <a:p>
            <a:pPr algn="l">
              <a:lnSpc>
                <a:spcPct val="150000"/>
              </a:lnSpc>
            </a:pPr>
            <a:r>
              <a:rPr lang="fr-FR" sz="1400">
                <a:solidFill>
                  <a:srgbClr val="161616"/>
                </a:solidFill>
                <a:latin typeface="Marianne"/>
              </a:rPr>
              <a:t>• </a:t>
            </a:r>
            <a:r>
              <a:rPr lang="fr-FR" sz="1400" b="0">
                <a:solidFill>
                  <a:srgbClr val="161616"/>
                </a:solidFill>
                <a:latin typeface="Marianne"/>
              </a:rPr>
              <a:t>Échangez vos arguments, préparez votre position</a:t>
            </a:r>
          </a:p>
          <a:p>
            <a:pPr algn="l">
              <a:lnSpc>
                <a:spcPct val="150000"/>
              </a:lnSpc>
            </a:pPr>
            <a:r>
              <a:rPr lang="fr-FR" sz="1400">
                <a:solidFill>
                  <a:srgbClr val="161616"/>
                </a:solidFill>
                <a:latin typeface="Marianne"/>
              </a:rPr>
              <a:t>• </a:t>
            </a:r>
            <a:r>
              <a:rPr lang="fr-FR" sz="1400" b="0">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1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1 milliard+ de personnes dans le monde vivent avec un handicap (OMS)</a:t>
            </a:r>
          </a:p>
          <a:p>
            <a:pPr algn="l">
              <a:lnSpc>
                <a:spcPct val="115000"/>
              </a:lnSpc>
            </a:pPr>
            <a:r>
              <a:rPr lang="fr-FR" sz="1400">
                <a:solidFill>
                  <a:srgbClr val="161616"/>
                </a:solidFill>
                <a:latin typeface="Marianne"/>
              </a:rPr>
              <a:t>• </a:t>
            </a:r>
            <a:r>
              <a:rPr lang="fr-FR" sz="1400" b="0">
                <a:solidFill>
                  <a:srgbClr val="161616"/>
                </a:solidFill>
                <a:latin typeface="Marianne"/>
              </a:rPr>
              <a:t>Soit 15 % de la population mondiale - 1 personne sur 6</a:t>
            </a:r>
          </a:p>
          <a:p>
            <a:pPr algn="l">
              <a:lnSpc>
                <a:spcPct val="115000"/>
              </a:lnSpc>
            </a:pPr>
            <a:r>
              <a:rPr lang="fr-FR" sz="1400">
                <a:solidFill>
                  <a:srgbClr val="161616"/>
                </a:solidFill>
                <a:latin typeface="Marianne"/>
              </a:rPr>
              <a:t>• </a:t>
            </a:r>
            <a:r>
              <a:rPr lang="fr-FR" sz="1400" b="0">
                <a:solidFill>
                  <a:srgbClr val="161616"/>
                </a:solidFill>
                <a:latin typeface="Marianne"/>
              </a:rPr>
              <a:t>En France : 12 millions de personnes en situation de handicap</a:t>
            </a:r>
          </a:p>
          <a:p>
            <a:pPr algn="l">
              <a:lnSpc>
                <a:spcPct val="115000"/>
              </a:lnSpc>
            </a:pPr>
            <a:r>
              <a:rPr lang="fr-FR" sz="1400">
                <a:solidFill>
                  <a:srgbClr val="161616"/>
                </a:solidFill>
                <a:latin typeface="Marianne"/>
              </a:rPr>
              <a:t>• </a:t>
            </a:r>
            <a:r>
              <a:rPr lang="fr-FR" sz="1400" b="0">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3"/>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8" name="DSFR-accent-decoratif"/>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2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L'accessibilité n'impose pas un design archaïque, austère ou sans inspiration</a:t>
            </a:r>
          </a:p>
          <a:p>
            <a:pPr algn="l">
              <a:lnSpc>
                <a:spcPct val="115000"/>
              </a:lnSpc>
            </a:pPr>
            <a:r>
              <a:rPr lang="fr-FR" sz="1400">
                <a:solidFill>
                  <a:srgbClr val="161616"/>
                </a:solidFill>
                <a:latin typeface="Marianne"/>
              </a:rPr>
              <a:t>• </a:t>
            </a:r>
            <a:r>
              <a:rPr lang="fr-FR" sz="1400" b="0">
                <a:solidFill>
                  <a:srgbClr val="161616"/>
                </a:solidFill>
                <a:latin typeface="Marianne"/>
              </a:rPr>
              <a:t>Les contraintes sont des leviers de créativité, pas des freins</a:t>
            </a:r>
          </a:p>
          <a:p>
            <a:pPr algn="l">
              <a:lnSpc>
                <a:spcPct val="115000"/>
              </a:lnSpc>
            </a:pPr>
            <a:r>
              <a:rPr lang="fr-FR" sz="1400">
                <a:solidFill>
                  <a:srgbClr val="161616"/>
                </a:solidFill>
                <a:latin typeface="Marianne"/>
              </a:rPr>
              <a:t>• </a:t>
            </a:r>
            <a:r>
              <a:rPr lang="fr-FR" sz="1400" b="0">
                <a:solidFill>
                  <a:srgbClr val="161616"/>
                </a:solidFill>
                <a:latin typeface="Marianne"/>
              </a:rPr>
              <a:t>Les interfaces les plus accessibles sont souvent les plus claires et élégantes</a:t>
            </a:r>
          </a:p>
          <a:p>
            <a:pPr algn="l">
              <a:lnSpc>
                <a:spcPct val="115000"/>
              </a:lnSpc>
            </a:pPr>
            <a:r>
              <a:rPr lang="fr-FR" sz="1400">
                <a:solidFill>
                  <a:srgbClr val="161616"/>
                </a:solidFill>
                <a:latin typeface="Marianne"/>
              </a:rPr>
              <a:t>• </a:t>
            </a:r>
            <a:r>
              <a:rPr lang="fr-FR" sz="1400" b="0">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3"/>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8" name="DSFR-accent-decoratif"/>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3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Le contraste et les textes alternatifs ne sont que 2 exigences sur des centaines</a:t>
            </a:r>
          </a:p>
          <a:p>
            <a:pPr algn="l">
              <a:lnSpc>
                <a:spcPct val="115000"/>
              </a:lnSpc>
            </a:pPr>
            <a:r>
              <a:rPr lang="fr-FR" sz="1400">
                <a:solidFill>
                  <a:srgbClr val="161616"/>
                </a:solidFill>
                <a:latin typeface="Marianne"/>
              </a:rPr>
              <a:t>• </a:t>
            </a:r>
            <a:r>
              <a:rPr lang="fr-FR" sz="1400" b="0">
                <a:solidFill>
                  <a:srgbClr val="161616"/>
                </a:solidFill>
                <a:latin typeface="Marianne"/>
              </a:rPr>
              <a:t>Le RGAA compte 106 critères, les WCAG 2.1 en comptent 78</a:t>
            </a:r>
          </a:p>
          <a:p>
            <a:pPr algn="l">
              <a:lnSpc>
                <a:spcPct val="115000"/>
              </a:lnSpc>
            </a:pPr>
            <a:r>
              <a:rPr lang="fr-FR" sz="1400">
                <a:solidFill>
                  <a:srgbClr val="161616"/>
                </a:solidFill>
                <a:latin typeface="Marianne"/>
              </a:rPr>
              <a:t>• </a:t>
            </a:r>
            <a:r>
              <a:rPr lang="fr-FR" sz="1400" b="0">
                <a:solidFill>
                  <a:srgbClr val="161616"/>
                </a:solidFill>
                <a:latin typeface="Marianne"/>
              </a:rPr>
              <a:t>Titres, liens, tableaux, formulaires, langue, ordre de lecture ... autant de dimensions</a:t>
            </a:r>
          </a:p>
          <a:p>
            <a:pPr algn="l">
              <a:lnSpc>
                <a:spcPct val="115000"/>
              </a:lnSpc>
            </a:pPr>
            <a:r>
              <a:rPr lang="fr-FR" sz="1400">
                <a:solidFill>
                  <a:srgbClr val="161616"/>
                </a:solidFill>
                <a:latin typeface="Marianne"/>
              </a:rPr>
              <a:t>• </a:t>
            </a:r>
            <a:r>
              <a:rPr lang="fr-FR" sz="1400" b="0">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3"/>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8" name="DSFR-accent-decoratif"/>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4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L'accessibilité ne peut pas être portée par une seule équipe ou une seule personne</a:t>
            </a:r>
          </a:p>
          <a:p>
            <a:pPr algn="l">
              <a:lnSpc>
                <a:spcPct val="115000"/>
              </a:lnSpc>
            </a:pPr>
            <a:r>
              <a:rPr lang="fr-FR" sz="1400">
                <a:solidFill>
                  <a:srgbClr val="161616"/>
                </a:solidFill>
                <a:latin typeface="Marianne"/>
              </a:rPr>
              <a:t>• </a:t>
            </a:r>
            <a:r>
              <a:rPr lang="fr-FR" sz="1400" b="0">
                <a:solidFill>
                  <a:srgbClr val="161616"/>
                </a:solidFill>
                <a:latin typeface="Marianne"/>
              </a:rPr>
              <a:t>Elle implique tous les producteurs de contenu : rédacteurs, communicants, designers ...</a:t>
            </a:r>
          </a:p>
          <a:p>
            <a:pPr algn="l">
              <a:lnSpc>
                <a:spcPct val="115000"/>
              </a:lnSpc>
            </a:pPr>
            <a:r>
              <a:rPr lang="fr-FR" sz="1400">
                <a:solidFill>
                  <a:srgbClr val="161616"/>
                </a:solidFill>
                <a:latin typeface="Marianne"/>
              </a:rPr>
              <a:t>• </a:t>
            </a:r>
            <a:r>
              <a:rPr lang="fr-FR" sz="1400" b="0">
                <a:solidFill>
                  <a:srgbClr val="161616"/>
                </a:solidFill>
                <a:latin typeface="Marianne"/>
              </a:rPr>
              <a:t>Chaque document Word, chaque image publiée engage une responsabilité</a:t>
            </a:r>
          </a:p>
          <a:p>
            <a:pPr algn="l">
              <a:lnSpc>
                <a:spcPct val="115000"/>
              </a:lnSpc>
            </a:pPr>
            <a:r>
              <a:rPr lang="fr-FR" sz="1400">
                <a:solidFill>
                  <a:srgbClr val="161616"/>
                </a:solidFill>
                <a:latin typeface="Marianne"/>
              </a:rPr>
              <a:t>• </a:t>
            </a:r>
            <a:r>
              <a:rPr lang="fr-FR" sz="1400" b="0">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3"/>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5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Oui - si l'accessibilité est traitée comme un ajustement en fin de projet</a:t>
            </a:r>
          </a:p>
          <a:p>
            <a:pPr algn="l">
              <a:lnSpc>
                <a:spcPct val="115000"/>
              </a:lnSpc>
            </a:pPr>
            <a:r>
              <a:rPr lang="fr-FR" sz="1400">
                <a:solidFill>
                  <a:srgbClr val="161616"/>
                </a:solidFill>
                <a:latin typeface="Marianne"/>
              </a:rPr>
              <a:t>• </a:t>
            </a:r>
            <a:r>
              <a:rPr lang="fr-FR" sz="1400" b="0">
                <a:solidFill>
                  <a:srgbClr val="161616"/>
                </a:solidFill>
                <a:latin typeface="Marianne"/>
              </a:rPr>
              <a:t>Non - si elle est intégrée dès la conception (approche « shift left »)</a:t>
            </a:r>
          </a:p>
          <a:p>
            <a:pPr algn="l">
              <a:lnSpc>
                <a:spcPct val="115000"/>
              </a:lnSpc>
            </a:pPr>
            <a:r>
              <a:rPr lang="fr-FR" sz="1400">
                <a:solidFill>
                  <a:srgbClr val="161616"/>
                </a:solidFill>
                <a:latin typeface="Marianne"/>
              </a:rPr>
              <a:t>• </a:t>
            </a:r>
            <a:r>
              <a:rPr lang="fr-FR" sz="1400" b="0">
                <a:solidFill>
                  <a:srgbClr val="161616"/>
                </a:solidFill>
                <a:latin typeface="Marianne"/>
              </a:rPr>
              <a:t>Corriger un document Word après publication : 10 fois plus cher que le faire d'emblée</a:t>
            </a:r>
          </a:p>
          <a:p>
            <a:pPr algn="l">
              <a:lnSpc>
                <a:spcPct val="115000"/>
              </a:lnSpc>
            </a:pPr>
            <a:r>
              <a:rPr lang="fr-FR" sz="1400">
                <a:solidFill>
                  <a:srgbClr val="161616"/>
                </a:solidFill>
                <a:latin typeface="Marianne"/>
              </a:rPr>
              <a:t>• </a:t>
            </a:r>
            <a:r>
              <a:rPr lang="fr-FR" sz="1400" b="0">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3"/>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5</a:t>
            </a:r>
          </a:p>
        </p:txBody>
      </p:sp>
      <p:sp>
        <p:nvSpPr>
          <p:cNvPr id="8" name="DSFR-accent-decoratif"/>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6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Prise en compte tardive = grosses corrections après coup</a:t>
            </a:r>
          </a:p>
          <a:p>
            <a:pPr algn="l">
              <a:lnSpc>
                <a:spcPct val="115000"/>
              </a:lnSpc>
            </a:pPr>
            <a:r>
              <a:rPr lang="fr-FR" sz="1400">
                <a:solidFill>
                  <a:srgbClr val="161616"/>
                </a:solidFill>
                <a:latin typeface="Marianne"/>
              </a:rPr>
              <a:t>• </a:t>
            </a:r>
            <a:r>
              <a:rPr lang="fr-FR" sz="1400" b="0">
                <a:solidFill>
                  <a:srgbClr val="161616"/>
                </a:solidFill>
                <a:latin typeface="Marianne"/>
              </a:rPr>
              <a:t>Cela pèse sur l'efficacité des projets et génère de la frustration pour les équipes</a:t>
            </a:r>
          </a:p>
          <a:p>
            <a:pPr algn="l">
              <a:lnSpc>
                <a:spcPct val="115000"/>
              </a:lnSpc>
            </a:pPr>
            <a:r>
              <a:rPr lang="fr-FR" sz="1400">
                <a:solidFill>
                  <a:srgbClr val="161616"/>
                </a:solidFill>
                <a:latin typeface="Marianne"/>
              </a:rPr>
              <a:t>• </a:t>
            </a:r>
            <a:r>
              <a:rPr lang="fr-FR" sz="1400" b="0">
                <a:solidFill>
                  <a:srgbClr val="161616"/>
                </a:solidFill>
                <a:latin typeface="Marianne"/>
              </a:rPr>
              <a:t>L'accessibilité « à la fin » est souvent l'accessibilité jamais faite</a:t>
            </a:r>
          </a:p>
          <a:p>
            <a:pPr algn="l">
              <a:lnSpc>
                <a:spcPct val="115000"/>
              </a:lnSpc>
            </a:pPr>
            <a:r>
              <a:rPr lang="fr-FR" sz="1400">
                <a:solidFill>
                  <a:srgbClr val="161616"/>
                </a:solidFill>
                <a:latin typeface="Marianne"/>
              </a:rPr>
              <a:t>• </a:t>
            </a:r>
            <a:r>
              <a:rPr lang="fr-FR" sz="1400" b="0">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3"/>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6</a:t>
            </a:r>
          </a:p>
        </p:txBody>
      </p:sp>
      <p:sp>
        <p:nvSpPr>
          <p:cNvPr id="8" name="DSFR-accent-decoratif"/>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L'accessibilité numérique, c'est quoi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101727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39425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Sites web, applications, newsletters, courriels</a:t>
            </a:r>
          </a:p>
          <a:p>
            <a:pPr algn="l">
              <a:lnSpc>
                <a:spcPct val="120000"/>
              </a:lnSpc>
            </a:pPr>
            <a:r>
              <a:rPr lang="fr-FR" sz="1400">
                <a:solidFill>
                  <a:srgbClr val="161616"/>
                </a:solidFill>
                <a:latin typeface="Marianne"/>
              </a:rPr>
              <a:t>• </a:t>
            </a:r>
            <a:r>
              <a:rPr lang="fr-FR" sz="1400" b="0">
                <a:solidFill>
                  <a:srgbClr val="161616"/>
                </a:solidFill>
                <a:latin typeface="Marianne"/>
              </a:rPr>
              <a:t>Vidéos, podcasts, visuels animés</a:t>
            </a:r>
          </a:p>
          <a:p>
            <a:pPr algn="l">
              <a:lnSpc>
                <a:spcPct val="120000"/>
              </a:lnSpc>
            </a:pPr>
            <a:r>
              <a:rPr lang="fr-FR" sz="1400">
                <a:solidFill>
                  <a:srgbClr val="161616"/>
                </a:solidFill>
                <a:latin typeface="Marianne"/>
              </a:rPr>
              <a:t>• </a:t>
            </a:r>
            <a:r>
              <a:rPr lang="fr-FR" sz="1400" b="0">
                <a:solidFill>
                  <a:srgbClr val="161616"/>
                </a:solidFill>
                <a:latin typeface="Marianne"/>
              </a:rPr>
              <a:t>Documents bureautiques, PDF, formulaires</a:t>
            </a:r>
          </a:p>
          <a:p>
            <a:pPr algn="l">
              <a:lnSpc>
                <a:spcPct val="120000"/>
              </a:lnSpc>
            </a:pPr>
            <a:r>
              <a:rPr lang="fr-FR" sz="1400">
                <a:solidFill>
                  <a:srgbClr val="161616"/>
                </a:solidFill>
                <a:latin typeface="Marianne"/>
              </a:rPr>
              <a:t>• </a:t>
            </a:r>
            <a:r>
              <a:rPr lang="fr-FR" sz="1400" b="0">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llout-titre"/>
          <p:cNvSpPr txBox="1"/>
          <p:nvPr/>
        </p:nvSpPr>
        <p:spPr>
          <a:xfrm>
            <a:off x="6469379" y="3394252"/>
            <a:ext cx="5143500"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Handicap permanent, temporaire ou situationnel</a:t>
            </a:r>
          </a:p>
          <a:p>
            <a:pPr algn="l">
              <a:lnSpc>
                <a:spcPct val="120000"/>
              </a:lnSpc>
            </a:pPr>
            <a:r>
              <a:rPr lang="fr-FR" sz="1400">
                <a:solidFill>
                  <a:srgbClr val="161616"/>
                </a:solidFill>
                <a:latin typeface="Marianne"/>
              </a:rPr>
              <a:t>• </a:t>
            </a:r>
            <a:r>
              <a:rPr lang="fr-FR" sz="1400" b="0">
                <a:solidFill>
                  <a:srgbClr val="161616"/>
                </a:solidFill>
                <a:latin typeface="Marianne"/>
              </a:rPr>
              <a:t>Matériel ancien, connexion lente, écran petit</a:t>
            </a:r>
          </a:p>
          <a:p>
            <a:pPr algn="l">
              <a:lnSpc>
                <a:spcPct val="120000"/>
              </a:lnSpc>
            </a:pPr>
            <a:r>
              <a:rPr lang="fr-FR" sz="1400">
                <a:solidFill>
                  <a:srgbClr val="161616"/>
                </a:solidFill>
                <a:latin typeface="Marianne"/>
              </a:rPr>
              <a:t>• </a:t>
            </a:r>
            <a:r>
              <a:rPr lang="fr-FR" sz="1400" b="0">
                <a:solidFill>
                  <a:srgbClr val="161616"/>
                </a:solidFill>
                <a:latin typeface="Marianne"/>
              </a:rPr>
              <a:t>Environnement bruyant, lumineux ou contraint</a:t>
            </a:r>
          </a:p>
          <a:p>
            <a:pPr algn="l">
              <a:lnSpc>
                <a:spcPct val="120000"/>
              </a:lnSpc>
            </a:pPr>
            <a:r>
              <a:rPr lang="fr-FR" sz="1400">
                <a:solidFill>
                  <a:srgbClr val="161616"/>
                </a:solidFill>
                <a:latin typeface="Marianne"/>
              </a:rPr>
              <a:t>• </a:t>
            </a:r>
            <a:r>
              <a:rPr lang="fr-FR" sz="1400" b="0">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Point sur l'accessibilité numérique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17</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542032"/>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18</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C'est pour qui ? 4 familles de besoins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rd-titre"/>
          <p:cNvSpPr txBox="1"/>
          <p:nvPr/>
        </p:nvSpPr>
        <p:spPr>
          <a:xfrm>
            <a:off x="704088" y="3131820"/>
            <a:ext cx="221513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Lecteur d'écran, loupe, contraste</a:t>
            </a:r>
          </a:p>
          <a:p>
            <a:pPr algn="l">
              <a:lnSpc>
                <a:spcPct val="150000"/>
              </a:lnSpc>
            </a:pPr>
            <a:r>
              <a:rPr lang="fr-FR" sz="1400">
                <a:solidFill>
                  <a:srgbClr val="161616"/>
                </a:solidFill>
                <a:latin typeface="Marianne"/>
              </a:rPr>
              <a:t>• </a:t>
            </a:r>
            <a:r>
              <a:rPr lang="fr-FR" sz="1400" b="0">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rd-titre"/>
          <p:cNvSpPr txBox="1"/>
          <p:nvPr/>
        </p:nvSpPr>
        <p:spPr>
          <a:xfrm>
            <a:off x="3586734" y="3131820"/>
            <a:ext cx="221513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Sous-titres, transcription, LSF</a:t>
            </a:r>
          </a:p>
          <a:p>
            <a:pPr algn="l">
              <a:lnSpc>
                <a:spcPct val="150000"/>
              </a:lnSpc>
            </a:pPr>
            <a:r>
              <a:rPr lang="fr-FR" sz="1400">
                <a:solidFill>
                  <a:srgbClr val="161616"/>
                </a:solidFill>
                <a:latin typeface="Marianne"/>
              </a:rPr>
              <a:t>• </a:t>
            </a:r>
            <a:r>
              <a:rPr lang="fr-FR" sz="1400" b="0">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6469379" y="3131820"/>
            <a:ext cx="221513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Clavier seul, contacteur, voix</a:t>
            </a:r>
          </a:p>
          <a:p>
            <a:pPr algn="l">
              <a:lnSpc>
                <a:spcPct val="150000"/>
              </a:lnSpc>
            </a:pPr>
            <a:r>
              <a:rPr lang="fr-FR" sz="1400">
                <a:solidFill>
                  <a:srgbClr val="161616"/>
                </a:solidFill>
                <a:latin typeface="Marianne"/>
              </a:rPr>
              <a:t>• </a:t>
            </a:r>
            <a:r>
              <a:rPr lang="fr-FR" sz="1400" b="0">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SFR-card-titre"/>
          <p:cNvSpPr txBox="1"/>
          <p:nvPr/>
        </p:nvSpPr>
        <p:spPr>
          <a:xfrm>
            <a:off x="9352026" y="3131820"/>
            <a:ext cx="221513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Langage clair, mise en page aérée</a:t>
            </a:r>
          </a:p>
          <a:p>
            <a:pPr algn="l">
              <a:lnSpc>
                <a:spcPct val="150000"/>
              </a:lnSpc>
            </a:pPr>
            <a:r>
              <a:rPr lang="fr-FR" sz="1400">
                <a:solidFill>
                  <a:srgbClr val="161616"/>
                </a:solidFill>
                <a:latin typeface="Marianne"/>
              </a:rPr>
              <a:t>• </a:t>
            </a:r>
            <a:r>
              <a:rPr lang="fr-FR" sz="1400" b="0">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Anaïs, gestionnaire RH - malvoyance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20</a:t>
            </a:r>
            <a:endParaRPr lang="fr-FR" dirty="0"/>
          </a:p>
        </p:txBody>
      </p:sp>
      <p:pic>
        <p:nvPicPr>
          <p:cNvPr id="8" name="Picture 7" descr="Portrait illustratif - Anaïs"/>
          <p:cNvPicPr>
            <a:picLocks noChangeAspect="1"/>
          </p:cNvPicPr>
          <p:nvPr/>
        </p:nvPicPr>
        <p:blipFill>
          <a:blip r:embed="rId3"/>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2990088" y="2103120"/>
            <a:ext cx="8622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lang="fr-FR" sz="1400">
                <a:solidFill>
                  <a:srgbClr val="161616"/>
                </a:solidFill>
                <a:latin typeface="Marianne"/>
              </a:rPr>
              <a:t>• </a:t>
            </a:r>
            <a:r>
              <a:rPr lang="fr-FR" sz="1400" b="0">
                <a:solidFill>
                  <a:srgbClr val="161616"/>
                </a:solidFill>
                <a:latin typeface="Marianne"/>
              </a:rPr>
              <a:t>Agrandir la taille des textes et des interfaces</a:t>
            </a:r>
          </a:p>
          <a:p>
            <a:pPr algn="l">
              <a:lnSpc>
                <a:spcPct val="130000"/>
              </a:lnSpc>
            </a:pPr>
            <a:r>
              <a:rPr lang="fr-FR" sz="1400">
                <a:solidFill>
                  <a:srgbClr val="161616"/>
                </a:solidFill>
                <a:latin typeface="Marianne"/>
              </a:rPr>
              <a:t>• </a:t>
            </a:r>
            <a:r>
              <a:rPr lang="fr-FR" sz="1400" b="0">
                <a:solidFill>
                  <a:srgbClr val="161616"/>
                </a:solidFill>
                <a:latin typeface="Marianne"/>
              </a:rPr>
              <a:t>Contraste suffisant entre texte et fond (ratio 4.5:1 minimum)</a:t>
            </a:r>
          </a:p>
          <a:p>
            <a:pPr algn="l">
              <a:lnSpc>
                <a:spcPct val="130000"/>
              </a:lnSpc>
            </a:pPr>
            <a:r>
              <a:rPr lang="fr-FR" sz="1400">
                <a:solidFill>
                  <a:srgbClr val="161616"/>
                </a:solidFill>
                <a:latin typeface="Marianne"/>
              </a:rPr>
              <a:t>• </a:t>
            </a:r>
            <a:r>
              <a:rPr lang="fr-FR" sz="1400" b="0">
                <a:solidFill>
                  <a:srgbClr val="161616"/>
                </a:solidFill>
                <a:latin typeface="Marianne"/>
              </a:rPr>
              <a:t>Pouvoir naviguer sans dépendre uniquement des couleurs</a:t>
            </a:r>
          </a:p>
        </p:txBody>
      </p:sp>
      <p:pic>
        <p:nvPicPr>
          <p:cNvPr id="13" name="Picture 12" descr="Clavier adapté"/>
          <p:cNvPicPr>
            <a:picLocks noChangeAspect="1"/>
          </p:cNvPicPr>
          <p:nvPr/>
        </p:nvPicPr>
        <p:blipFill>
          <a:blip r:embed="rId4"/>
          <a:stretch>
            <a:fillRect/>
          </a:stretch>
        </p:blipFill>
        <p:spPr>
          <a:xfrm>
            <a:off x="1453895" y="4297680"/>
            <a:ext cx="1584960" cy="1187938"/>
          </a:xfrm>
          <a:prstGeom prst="rect">
            <a:avLst/>
          </a:prstGeom>
        </p:spPr>
      </p:pic>
      <p:sp>
        <p:nvSpPr>
          <p:cNvPr id="14" name="DSFR-texte-libre"/>
          <p:cNvSpPr txBox="1"/>
          <p:nvPr/>
        </p:nvSpPr>
        <p:spPr>
          <a:xfrm>
            <a:off x="475488" y="5532120"/>
            <a:ext cx="3541775" cy="32004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Clavier adapté</a:t>
            </a:r>
          </a:p>
        </p:txBody>
      </p:sp>
      <p:pic>
        <p:nvPicPr>
          <p:cNvPr id="15" name="Picture 14" descr="Clavier guide-doigts"/>
          <p:cNvPicPr>
            <a:picLocks noChangeAspect="1"/>
          </p:cNvPicPr>
          <p:nvPr/>
        </p:nvPicPr>
        <p:blipFill>
          <a:blip r:embed="rId5"/>
          <a:stretch>
            <a:fillRect/>
          </a:stretch>
        </p:blipFill>
        <p:spPr>
          <a:xfrm>
            <a:off x="4410455" y="4297680"/>
            <a:ext cx="3358895" cy="1057920"/>
          </a:xfrm>
          <a:prstGeom prst="rect">
            <a:avLst/>
          </a:prstGeom>
        </p:spPr>
      </p:pic>
      <p:sp>
        <p:nvSpPr>
          <p:cNvPr id="16" name="DSFR-texte-libre"/>
          <p:cNvSpPr txBox="1"/>
          <p:nvPr/>
        </p:nvSpPr>
        <p:spPr>
          <a:xfrm>
            <a:off x="4319015" y="5532120"/>
            <a:ext cx="3541775" cy="32004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Clavier guide-doigts</a:t>
            </a:r>
          </a:p>
        </p:txBody>
      </p:sp>
      <p:pic>
        <p:nvPicPr>
          <p:cNvPr id="17" name="Picture 16" descr="Paramètres accessibilité"/>
          <p:cNvPicPr>
            <a:picLocks noChangeAspect="1"/>
          </p:cNvPicPr>
          <p:nvPr/>
        </p:nvPicPr>
        <p:blipFill>
          <a:blip r:embed="rId6"/>
          <a:stretch>
            <a:fillRect/>
          </a:stretch>
        </p:blipFill>
        <p:spPr>
          <a:xfrm>
            <a:off x="8668836" y="4297680"/>
            <a:ext cx="2529191" cy="748185"/>
          </a:xfrm>
          <a:prstGeom prst="rect">
            <a:avLst/>
          </a:prstGeom>
        </p:spPr>
      </p:pic>
      <p:sp>
        <p:nvSpPr>
          <p:cNvPr id="18" name="DSFR-texte-libre"/>
          <p:cNvSpPr txBox="1"/>
          <p:nvPr/>
        </p:nvSpPr>
        <p:spPr>
          <a:xfrm>
            <a:off x="8162543" y="5532120"/>
            <a:ext cx="3541775" cy="32004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Paramètres accessibilité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9" name="DSFR-accent-decoratif"/>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Justine, chargée de communication - surdité</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21</a:t>
            </a:r>
            <a:endParaRPr lang="fr-FR" dirty="0"/>
          </a:p>
        </p:txBody>
      </p:sp>
      <p:pic>
        <p:nvPicPr>
          <p:cNvPr id="8" name="Picture 7" descr="Portrait illustratif - Justine"/>
          <p:cNvPicPr>
            <a:picLocks noChangeAspect="1"/>
          </p:cNvPicPr>
          <p:nvPr/>
        </p:nvPicPr>
        <p:blipFill>
          <a:blip r:embed="rId3"/>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2990088" y="2103120"/>
            <a:ext cx="8622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lang="fr-FR" sz="1400">
                <a:solidFill>
                  <a:srgbClr val="161616"/>
                </a:solidFill>
                <a:latin typeface="Marianne"/>
              </a:rPr>
              <a:t>• </a:t>
            </a:r>
            <a:r>
              <a:rPr lang="fr-FR" sz="1400" b="0">
                <a:solidFill>
                  <a:srgbClr val="161616"/>
                </a:solidFill>
                <a:latin typeface="Marianne"/>
              </a:rPr>
              <a:t>Sous-titres sur toutes les vidéos et contenus audio</a:t>
            </a:r>
          </a:p>
          <a:p>
            <a:pPr algn="l">
              <a:lnSpc>
                <a:spcPct val="130000"/>
              </a:lnSpc>
            </a:pPr>
            <a:r>
              <a:rPr lang="fr-FR" sz="1400">
                <a:solidFill>
                  <a:srgbClr val="161616"/>
                </a:solidFill>
                <a:latin typeface="Marianne"/>
              </a:rPr>
              <a:t>• </a:t>
            </a:r>
            <a:r>
              <a:rPr lang="fr-FR" sz="1400" b="0">
                <a:solidFill>
                  <a:srgbClr val="161616"/>
                </a:solidFill>
                <a:latin typeface="Marianne"/>
              </a:rPr>
              <a:t>Transcription textuelle des podcasts et webinaires</a:t>
            </a:r>
          </a:p>
          <a:p>
            <a:pPr algn="l">
              <a:lnSpc>
                <a:spcPct val="130000"/>
              </a:lnSpc>
            </a:pPr>
            <a:r>
              <a:rPr lang="fr-FR" sz="1400">
                <a:solidFill>
                  <a:srgbClr val="161616"/>
                </a:solidFill>
                <a:latin typeface="Marianne"/>
              </a:rPr>
              <a:t>• </a:t>
            </a:r>
            <a:r>
              <a:rPr lang="fr-FR" sz="1400" b="0">
                <a:solidFill>
                  <a:srgbClr val="161616"/>
                </a:solidFill>
                <a:latin typeface="Marianne"/>
              </a:rPr>
              <a:t>Alertes visuelles, jamais uniquement sonores</a:t>
            </a:r>
          </a:p>
        </p:txBody>
      </p:sp>
      <p:pic>
        <p:nvPicPr>
          <p:cNvPr id="13" name="Picture 12" descr="Transcription"/>
          <p:cNvPicPr>
            <a:picLocks noChangeAspect="1"/>
          </p:cNvPicPr>
          <p:nvPr/>
        </p:nvPicPr>
        <p:blipFill>
          <a:blip r:embed="rId4"/>
          <a:stretch>
            <a:fillRect/>
          </a:stretch>
        </p:blipFill>
        <p:spPr>
          <a:xfrm>
            <a:off x="1652016" y="4297680"/>
            <a:ext cx="1188720" cy="1188720"/>
          </a:xfrm>
          <a:prstGeom prst="rect">
            <a:avLst/>
          </a:prstGeom>
        </p:spPr>
      </p:pic>
      <p:sp>
        <p:nvSpPr>
          <p:cNvPr id="14" name="DSFR-texte-libre"/>
          <p:cNvSpPr txBox="1"/>
          <p:nvPr/>
        </p:nvSpPr>
        <p:spPr>
          <a:xfrm>
            <a:off x="475488" y="5532120"/>
            <a:ext cx="3541775" cy="32004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Transcription</a:t>
            </a:r>
          </a:p>
        </p:txBody>
      </p:sp>
      <p:pic>
        <p:nvPicPr>
          <p:cNvPr id="15" name="Picture 14" descr="Vérificateur accessibilité"/>
          <p:cNvPicPr>
            <a:picLocks noChangeAspect="1"/>
          </p:cNvPicPr>
          <p:nvPr/>
        </p:nvPicPr>
        <p:blipFill>
          <a:blip r:embed="rId5"/>
          <a:stretch>
            <a:fillRect/>
          </a:stretch>
        </p:blipFill>
        <p:spPr>
          <a:xfrm>
            <a:off x="4825308" y="4297680"/>
            <a:ext cx="2529191" cy="428442"/>
          </a:xfrm>
          <a:prstGeom prst="rect">
            <a:avLst/>
          </a:prstGeom>
        </p:spPr>
      </p:pic>
      <p:sp>
        <p:nvSpPr>
          <p:cNvPr id="16" name="DSFR-texte-libre"/>
          <p:cNvSpPr txBox="1"/>
          <p:nvPr/>
        </p:nvSpPr>
        <p:spPr>
          <a:xfrm>
            <a:off x="4319015" y="5532120"/>
            <a:ext cx="3541775" cy="32004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Vérificateur accessibilité</a:t>
            </a:r>
          </a:p>
        </p:txBody>
      </p:sp>
      <p:pic>
        <p:nvPicPr>
          <p:cNvPr id="17" name="Picture 16" descr="NVDA - lecteur d'écran"/>
          <p:cNvPicPr>
            <a:picLocks noChangeAspect="1"/>
          </p:cNvPicPr>
          <p:nvPr/>
        </p:nvPicPr>
        <p:blipFill>
          <a:blip r:embed="rId6"/>
          <a:stretch>
            <a:fillRect/>
          </a:stretch>
        </p:blipFill>
        <p:spPr>
          <a:xfrm>
            <a:off x="9339072" y="4297680"/>
            <a:ext cx="1188720" cy="1188720"/>
          </a:xfrm>
          <a:prstGeom prst="rect">
            <a:avLst/>
          </a:prstGeom>
        </p:spPr>
      </p:pic>
      <p:sp>
        <p:nvSpPr>
          <p:cNvPr id="18" name="DSFR-texte-libre"/>
          <p:cNvSpPr txBox="1"/>
          <p:nvPr/>
        </p:nvSpPr>
        <p:spPr>
          <a:xfrm>
            <a:off x="8162543" y="5532120"/>
            <a:ext cx="3541775" cy="32004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NVDA - lecteur d'écran</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9" name="DSFR-accent-decoratif"/>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Agathe, chargée de mission - déficience motrice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22</a:t>
            </a:r>
            <a:endParaRPr lang="fr-FR" dirty="0"/>
          </a:p>
        </p:txBody>
      </p:sp>
      <p:pic>
        <p:nvPicPr>
          <p:cNvPr id="8" name="Picture 7" descr="Portrait illustratif - Agathe"/>
          <p:cNvPicPr>
            <a:picLocks noChangeAspect="1"/>
          </p:cNvPicPr>
          <p:nvPr/>
        </p:nvPicPr>
        <p:blipFill>
          <a:blip r:embed="rId3"/>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2990088" y="2103120"/>
            <a:ext cx="8622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lang="fr-FR" sz="1400">
                <a:solidFill>
                  <a:srgbClr val="161616"/>
                </a:solidFill>
                <a:latin typeface="Marianne"/>
              </a:rPr>
              <a:t>• </a:t>
            </a:r>
            <a:r>
              <a:rPr lang="fr-FR" sz="1400" b="0">
                <a:solidFill>
                  <a:srgbClr val="161616"/>
                </a:solidFill>
                <a:latin typeface="Marianne"/>
              </a:rPr>
              <a:t>Naviguer sans souris, avec des contacteurs adaptés</a:t>
            </a:r>
          </a:p>
          <a:p>
            <a:pPr algn="l">
              <a:lnSpc>
                <a:spcPct val="130000"/>
              </a:lnSpc>
            </a:pPr>
            <a:r>
              <a:rPr lang="fr-FR" sz="1400">
                <a:solidFill>
                  <a:srgbClr val="161616"/>
                </a:solidFill>
                <a:latin typeface="Marianne"/>
              </a:rPr>
              <a:t>• </a:t>
            </a:r>
            <a:r>
              <a:rPr lang="fr-FR" sz="1400" b="0">
                <a:solidFill>
                  <a:srgbClr val="161616"/>
                </a:solidFill>
                <a:latin typeface="Marianne"/>
              </a:rPr>
              <a:t>Cibles cliquables suffisamment larges (44 x 44 px minimum)</a:t>
            </a:r>
          </a:p>
          <a:p>
            <a:pPr algn="l">
              <a:lnSpc>
                <a:spcPct val="130000"/>
              </a:lnSpc>
            </a:pPr>
            <a:r>
              <a:rPr lang="fr-FR" sz="1400">
                <a:solidFill>
                  <a:srgbClr val="161616"/>
                </a:solidFill>
                <a:latin typeface="Marianne"/>
              </a:rPr>
              <a:t>• </a:t>
            </a:r>
            <a:r>
              <a:rPr lang="fr-FR" sz="1400" b="0">
                <a:solidFill>
                  <a:srgbClr val="161616"/>
                </a:solidFill>
                <a:latin typeface="Marianne"/>
              </a:rPr>
              <a:t>Convertisseur texte-parole pour communiquer plus facilement</a:t>
            </a:r>
          </a:p>
        </p:txBody>
      </p:sp>
      <p:pic>
        <p:nvPicPr>
          <p:cNvPr id="13" name="Picture 12" descr="Souris trackball"/>
          <p:cNvPicPr>
            <a:picLocks noChangeAspect="1"/>
          </p:cNvPicPr>
          <p:nvPr/>
        </p:nvPicPr>
        <p:blipFill>
          <a:blip r:embed="rId4"/>
          <a:stretch>
            <a:fillRect/>
          </a:stretch>
        </p:blipFill>
        <p:spPr>
          <a:xfrm>
            <a:off x="1453895" y="4297680"/>
            <a:ext cx="1584960" cy="1186806"/>
          </a:xfrm>
          <a:prstGeom prst="rect">
            <a:avLst/>
          </a:prstGeom>
        </p:spPr>
      </p:pic>
      <p:sp>
        <p:nvSpPr>
          <p:cNvPr id="14" name="DSFR-texte-libre"/>
          <p:cNvSpPr txBox="1"/>
          <p:nvPr/>
        </p:nvSpPr>
        <p:spPr>
          <a:xfrm>
            <a:off x="475488" y="5532120"/>
            <a:ext cx="3541775" cy="32004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Souris trackball</a:t>
            </a:r>
          </a:p>
        </p:txBody>
      </p:sp>
      <p:pic>
        <p:nvPicPr>
          <p:cNvPr id="15" name="Picture 14" descr="Plage braille / contacteurs"/>
          <p:cNvPicPr>
            <a:picLocks noChangeAspect="1"/>
          </p:cNvPicPr>
          <p:nvPr/>
        </p:nvPicPr>
        <p:blipFill>
          <a:blip r:embed="rId5"/>
          <a:stretch>
            <a:fillRect/>
          </a:stretch>
        </p:blipFill>
        <p:spPr>
          <a:xfrm>
            <a:off x="4989237" y="4297680"/>
            <a:ext cx="2201333" cy="1189311"/>
          </a:xfrm>
          <a:prstGeom prst="rect">
            <a:avLst/>
          </a:prstGeom>
        </p:spPr>
      </p:pic>
      <p:sp>
        <p:nvSpPr>
          <p:cNvPr id="16" name="DSFR-texte-libre"/>
          <p:cNvSpPr txBox="1"/>
          <p:nvPr/>
        </p:nvSpPr>
        <p:spPr>
          <a:xfrm>
            <a:off x="4319015" y="5532120"/>
            <a:ext cx="3541775" cy="32004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Plage braille / contacteurs</a:t>
            </a:r>
          </a:p>
        </p:txBody>
      </p:sp>
      <p:pic>
        <p:nvPicPr>
          <p:cNvPr id="17" name="Picture 16" descr="Contrôle vocal"/>
          <p:cNvPicPr>
            <a:picLocks noChangeAspect="1"/>
          </p:cNvPicPr>
          <p:nvPr/>
        </p:nvPicPr>
        <p:blipFill>
          <a:blip r:embed="rId6"/>
          <a:stretch>
            <a:fillRect/>
          </a:stretch>
        </p:blipFill>
        <p:spPr>
          <a:xfrm>
            <a:off x="9339072" y="4297680"/>
            <a:ext cx="1188720" cy="1188720"/>
          </a:xfrm>
          <a:prstGeom prst="rect">
            <a:avLst/>
          </a:prstGeom>
        </p:spPr>
      </p:pic>
      <p:sp>
        <p:nvSpPr>
          <p:cNvPr id="18" name="DSFR-texte-libre"/>
          <p:cNvSpPr txBox="1"/>
          <p:nvPr/>
        </p:nvSpPr>
        <p:spPr>
          <a:xfrm>
            <a:off x="8162543" y="5532120"/>
            <a:ext cx="3541775" cy="32004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Contrôle vocal</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9" name="DSFR-accent-decoratif"/>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Handicap : sortir de l'angle mort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callout-titre"/>
          <p:cNvSpPr txBox="1"/>
          <p:nvPr/>
        </p:nvSpPr>
        <p:spPr>
          <a:xfrm>
            <a:off x="704088" y="46863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Penser le public comme valide par défaut</a:t>
            </a:r>
          </a:p>
          <a:p>
            <a:pPr algn="l">
              <a:lnSpc>
                <a:spcPct val="120000"/>
              </a:lnSpc>
            </a:pPr>
            <a:r>
              <a:rPr lang="fr-FR" sz="1400">
                <a:solidFill>
                  <a:srgbClr val="161616"/>
                </a:solidFill>
                <a:latin typeface="Marianne"/>
              </a:rPr>
              <a:t>• </a:t>
            </a:r>
            <a:r>
              <a:rPr lang="fr-FR" sz="1400" b="0">
                <a:solidFill>
                  <a:srgbClr val="161616"/>
                </a:solidFill>
                <a:latin typeface="Marianne"/>
              </a:rPr>
              <a:t>Confondre bonne intention et accès réel</a:t>
            </a:r>
          </a:p>
          <a:p>
            <a:pPr algn="l">
              <a:lnSpc>
                <a:spcPct val="120000"/>
              </a:lnSpc>
            </a:pPr>
            <a:r>
              <a:rPr lang="fr-FR" sz="1400">
                <a:solidFill>
                  <a:srgbClr val="161616"/>
                </a:solidFill>
                <a:latin typeface="Marianne"/>
              </a:rPr>
              <a:t>• </a:t>
            </a:r>
            <a:r>
              <a:rPr lang="fr-FR" sz="1400" b="0">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ccent-decoratif"/>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Déficience n'est pas situation de handicap</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3"/>
          <a:stretch>
            <a:fillRect/>
          </a:stretch>
        </p:blipFill>
        <p:spPr>
          <a:xfrm>
            <a:off x="475488" y="2994660"/>
            <a:ext cx="5029200" cy="2743200"/>
          </a:xfrm>
          <a:prstGeom prst="rect">
            <a:avLst/>
          </a:prstGeom>
        </p:spPr>
      </p:pic>
      <p:sp>
        <p:nvSpPr>
          <p:cNvPr id="13" name="DSFR-box"/>
          <p:cNvSpPr/>
          <p:nvPr/>
        </p:nvSpPr>
        <p:spPr>
          <a:xfrm>
            <a:off x="5897880" y="2994660"/>
            <a:ext cx="58064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6053328" y="3086100"/>
            <a:ext cx="555955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que ça change pour vous</a:t>
            </a:r>
          </a:p>
        </p:txBody>
      </p:sp>
      <p:sp>
        <p:nvSpPr>
          <p:cNvPr id="15" name="DSFR-callout-body"/>
          <p:cNvSpPr txBox="1"/>
          <p:nvPr/>
        </p:nvSpPr>
        <p:spPr>
          <a:xfrm>
            <a:off x="6053328" y="3497579"/>
            <a:ext cx="5559552" cy="1634947"/>
          </a:xfrm>
          <a:prstGeom prst="rect">
            <a:avLst/>
          </a:prstGeom>
          <a:noFill/>
        </p:spPr>
        <p:txBody>
          <a:bodyPr wrap="square" lIns="73152" rIns="73152">
            <a:spAutoFit/>
          </a:bodyPr>
          <a:lstStyle/>
          <a:p>
            <a:pPr algn="l">
              <a:lnSpc>
                <a:spcPct val="130000"/>
              </a:lnSpc>
            </a:pPr>
            <a:r>
              <a:rPr lang="fr-FR" sz="1400">
                <a:solidFill>
                  <a:srgbClr val="161616"/>
                </a:solidFill>
                <a:latin typeface="Marianne"/>
              </a:rPr>
              <a:t>• </a:t>
            </a:r>
            <a:r>
              <a:rPr lang="fr-FR" sz="1400" b="0">
                <a:solidFill>
                  <a:srgbClr val="161616"/>
                </a:solidFill>
                <a:latin typeface="Marianne"/>
              </a:rPr>
              <a:t>C'est l'environnement qui crée le handicap, pas la personne</a:t>
            </a:r>
          </a:p>
          <a:p>
            <a:pPr algn="l">
              <a:lnSpc>
                <a:spcPct val="130000"/>
              </a:lnSpc>
            </a:pPr>
            <a:r>
              <a:rPr lang="fr-FR" sz="1400">
                <a:solidFill>
                  <a:srgbClr val="161616"/>
                </a:solidFill>
                <a:latin typeface="Marianne"/>
              </a:rPr>
              <a:t>• </a:t>
            </a:r>
            <a:r>
              <a:rPr lang="fr-FR" sz="1400" b="0">
                <a:solidFill>
                  <a:srgbClr val="161616"/>
                </a:solidFill>
                <a:latin typeface="Marianne"/>
              </a:rPr>
              <a:t>Un document inaccessible = une barrière que vous pouvez lever</a:t>
            </a:r>
          </a:p>
          <a:p>
            <a:pPr algn="l">
              <a:lnSpc>
                <a:spcPct val="130000"/>
              </a:lnSpc>
            </a:pPr>
            <a:r>
              <a:rPr lang="fr-FR" sz="1400">
                <a:solidFill>
                  <a:srgbClr val="161616"/>
                </a:solidFill>
                <a:latin typeface="Marianne"/>
              </a:rPr>
              <a:t>• </a:t>
            </a:r>
            <a:r>
              <a:rPr lang="fr-FR" sz="1400" b="0">
                <a:solidFill>
                  <a:srgbClr val="161616"/>
                </a:solidFill>
                <a:latin typeface="Marianne"/>
              </a:rPr>
              <a:t>Accessibiliser votre communication supprime la situation de handicap</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58247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spectre du handicap</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3"/>
          <a:stretch>
            <a:fillRect/>
          </a:stretch>
        </p:blipFill>
        <p:spPr>
          <a:xfrm>
            <a:off x="4032504" y="3040380"/>
            <a:ext cx="4114800" cy="3226123"/>
          </a:xfrm>
          <a:prstGeom prst="rect">
            <a:avLst/>
          </a:prstGeom>
        </p:spPr>
      </p:pic>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cadre légal : de 2005 à aujourd'hui</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27</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alert-info-titre"/>
          <p:cNvSpPr txBox="1"/>
          <p:nvPr/>
        </p:nvSpPr>
        <p:spPr>
          <a:xfrm>
            <a:off x="704088" y="42062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État, collectivités, établissements publics</a:t>
            </a:r>
          </a:p>
          <a:p>
            <a:pPr algn="l">
              <a:lnSpc>
                <a:spcPct val="150000"/>
              </a:lnSpc>
            </a:pPr>
            <a:r>
              <a:rPr lang="fr-FR" sz="1400">
                <a:solidFill>
                  <a:srgbClr val="161616"/>
                </a:solidFill>
                <a:latin typeface="Marianne"/>
              </a:rPr>
              <a:t>• </a:t>
            </a:r>
            <a:r>
              <a:rPr lang="fr-FR" sz="1400" b="0">
                <a:solidFill>
                  <a:srgbClr val="161616"/>
                </a:solidFill>
                <a:latin typeface="Marianne"/>
              </a:rPr>
              <a:t>Entreprises privées gérant un service public ou CA &gt; 250 M EUR</a:t>
            </a:r>
          </a:p>
          <a:p>
            <a:pPr algn="l">
              <a:lnSpc>
                <a:spcPct val="150000"/>
              </a:lnSpc>
            </a:pPr>
            <a:r>
              <a:rPr lang="fr-FR" sz="1400">
                <a:solidFill>
                  <a:srgbClr val="161616"/>
                </a:solidFill>
                <a:latin typeface="Marianne"/>
              </a:rPr>
              <a:t>• </a:t>
            </a:r>
            <a:r>
              <a:rPr lang="fr-FR" sz="1400" b="0">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9" name="DSFR-stepper-connecteur-1-decoratif"/>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3-decoratif"/>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cadre européen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Sites web et applications mobiles du secteur public</a:t>
            </a:r>
          </a:p>
          <a:p>
            <a:pPr algn="l">
              <a:lnSpc>
                <a:spcPct val="120000"/>
              </a:lnSpc>
            </a:pPr>
            <a:r>
              <a:rPr lang="fr-FR" sz="1400">
                <a:solidFill>
                  <a:srgbClr val="161616"/>
                </a:solidFill>
                <a:latin typeface="Marianne"/>
              </a:rPr>
              <a:t>• </a:t>
            </a:r>
            <a:r>
              <a:rPr lang="fr-FR" sz="1400" b="0">
                <a:solidFill>
                  <a:srgbClr val="161616"/>
                </a:solidFill>
                <a:latin typeface="Marianne"/>
              </a:rPr>
              <a:t>Transposée en droit français par le décret 2019-768</a:t>
            </a:r>
          </a:p>
          <a:p>
            <a:pPr algn="l">
              <a:lnSpc>
                <a:spcPct val="120000"/>
              </a:lnSpc>
            </a:pPr>
            <a:r>
              <a:rPr lang="fr-FR" sz="1400">
                <a:solidFill>
                  <a:srgbClr val="161616"/>
                </a:solidFill>
                <a:latin typeface="Marianne"/>
              </a:rPr>
              <a:t>• </a:t>
            </a:r>
            <a:r>
              <a:rPr lang="fr-FR" sz="1400" b="0">
                <a:solidFill>
                  <a:srgbClr val="161616"/>
                </a:solidFill>
                <a:latin typeface="Marianne"/>
              </a:rPr>
              <a:t>Obligation de déclaration d'accessibilité</a:t>
            </a:r>
          </a:p>
          <a:p>
            <a:pPr algn="l">
              <a:lnSpc>
                <a:spcPct val="120000"/>
              </a:lnSpc>
            </a:pPr>
            <a:r>
              <a:rPr lang="fr-FR" sz="1400">
                <a:solidFill>
                  <a:srgbClr val="161616"/>
                </a:solidFill>
                <a:latin typeface="Marianne"/>
              </a:rPr>
              <a:t>• </a:t>
            </a:r>
            <a:r>
              <a:rPr lang="fr-FR" sz="1400" b="0">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warning-titre"/>
          <p:cNvSpPr txBox="1"/>
          <p:nvPr/>
        </p:nvSpPr>
        <p:spPr>
          <a:xfrm>
            <a:off x="6469379"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Acte européen d'accessibilité (EAA)</a:t>
            </a:r>
          </a:p>
          <a:p>
            <a:pPr algn="l">
              <a:lnSpc>
                <a:spcPct val="120000"/>
              </a:lnSpc>
            </a:pPr>
            <a:r>
              <a:rPr lang="fr-FR" sz="1400">
                <a:solidFill>
                  <a:srgbClr val="161616"/>
                </a:solidFill>
                <a:latin typeface="Marianne"/>
              </a:rPr>
              <a:t>• </a:t>
            </a:r>
            <a:r>
              <a:rPr lang="fr-FR" sz="1400" b="0">
                <a:solidFill>
                  <a:srgbClr val="161616"/>
                </a:solidFill>
                <a:latin typeface="Marianne"/>
              </a:rPr>
              <a:t>Applicable à partir du 28 juin 2025</a:t>
            </a:r>
          </a:p>
          <a:p>
            <a:pPr algn="l">
              <a:lnSpc>
                <a:spcPct val="120000"/>
              </a:lnSpc>
            </a:pPr>
            <a:r>
              <a:rPr lang="fr-FR" sz="1400">
                <a:solidFill>
                  <a:srgbClr val="161616"/>
                </a:solidFill>
                <a:latin typeface="Marianne"/>
              </a:rPr>
              <a:t>• </a:t>
            </a:r>
            <a:r>
              <a:rPr lang="fr-FR" sz="1400" b="0">
                <a:solidFill>
                  <a:srgbClr val="161616"/>
                </a:solidFill>
                <a:latin typeface="Marianne"/>
              </a:rPr>
              <a:t>Commerce en ligne, banque, transport, télécom</a:t>
            </a:r>
          </a:p>
          <a:p>
            <a:pPr algn="l">
              <a:lnSpc>
                <a:spcPct val="120000"/>
              </a:lnSpc>
            </a:pPr>
            <a:r>
              <a:rPr lang="fr-FR" sz="1400">
                <a:solidFill>
                  <a:srgbClr val="161616"/>
                </a:solidFill>
                <a:latin typeface="Marianne"/>
              </a:rPr>
              <a:t>• </a:t>
            </a:r>
            <a:r>
              <a:rPr lang="fr-FR" sz="1400" b="0">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RGAA : 13 thèmes, 3 niveaux de conformité</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29</a:t>
            </a:r>
            <a:endParaRPr lang="fr-FR" dirty="0"/>
          </a:p>
        </p:txBody>
      </p:sp>
      <p:graphicFrame>
        <p:nvGraphicFramePr>
          <p:cNvPr id="8" name="Table 7"/>
          <p:cNvGraphicFramePr>
            <a:graphicFrameLocks noGrp="1"/>
          </p:cNvGraphicFramePr>
          <p:nvPr/>
        </p:nvGraphicFramePr>
        <p:xfrm>
          <a:off x="475488" y="1828800"/>
          <a:ext cx="10927080" cy="2786254"/>
        </p:xfrm>
        <a:graphic>
          <a:graphicData uri="http://schemas.openxmlformats.org/drawingml/2006/table">
            <a:tbl>
              <a:tblPr firstRow="1" bandRow="1">
                <a:tableStyleId>{5C22544A-7EE6-4342-B048-85BDC9FD1C3A}</a:tableStyleId>
              </a:tblPr>
              <a:tblGrid>
                <a:gridCol w="5463540">
                  <a:extLst>
                    <a:ext uri="{9D8B030D-6E8A-4147-A177-3AD203B41FA5}">
                      <a16:colId xmlns:a16="http://schemas.microsoft.com/office/drawing/2014/main" val="20000"/>
                    </a:ext>
                  </a:extLst>
                </a:gridCol>
                <a:gridCol w="5463540">
                  <a:extLst>
                    <a:ext uri="{9D8B030D-6E8A-4147-A177-3AD203B41FA5}">
                      <a16:colId xmlns:a16="http://schemas.microsoft.com/office/drawing/2014/main" val="20001"/>
                    </a:ext>
                  </a:extLst>
                </a:gridCol>
              </a:tblGrid>
              <a:tr h="274320">
                <a:tc>
                  <a:txBody>
                    <a:bodyPr/>
                    <a:lstStyle/>
                    <a:p>
                      <a:pPr algn="l">
                        <a:lnSpc>
                          <a:spcPct val="125000"/>
                        </a:lnSpc>
                      </a:pPr>
                      <a:r>
                        <a:rPr lang="fr-FR" sz="1400" b="1" i="0">
                          <a:solidFill>
                            <a:srgbClr val="FFFFFF"/>
                          </a:solidFill>
                          <a:latin typeface="Marianne"/>
                        </a:rPr>
                        <a:t>Les 13 thèmes du RGAA</a:t>
                      </a:r>
                    </a:p>
                  </a:txBody>
                  <a:tcPr>
                    <a:solidFill>
                      <a:srgbClr val="000091"/>
                    </a:solidFill>
                  </a:tcPr>
                </a:tc>
                <a:tc>
                  <a:txBody>
                    <a:bodyPr/>
                    <a:lstStyle/>
                    <a:p>
                      <a:pPr algn="l">
                        <a:lnSpc>
                          <a:spcPct val="125000"/>
                        </a:lnSpc>
                      </a:pPr>
                      <a:endParaRPr/>
                    </a:p>
                  </a:txBody>
                  <a:tcPr>
                    <a:solidFill>
                      <a:srgbClr val="000091"/>
                    </a:solidFill>
                  </a:tcPr>
                </a:tc>
                <a:extLst>
                  <a:ext uri="{0D108BD9-81ED-4DB2-BD59-A6C34878D82A}">
                    <a16:rowId xmlns:a16="http://schemas.microsoft.com/office/drawing/2014/main" val="10000"/>
                  </a:ext>
                </a:extLst>
              </a:tr>
              <a:tr h="274320">
                <a:tc>
                  <a:txBody>
                    <a:bodyPr/>
                    <a:lstStyle/>
                    <a:p>
                      <a:pPr algn="l">
                        <a:lnSpc>
                          <a:spcPct val="125000"/>
                        </a:lnSpc>
                      </a:pPr>
                      <a:r>
                        <a:rPr lang="fr-FR" sz="1400" b="0" i="0">
                          <a:solidFill>
                            <a:srgbClr val="161616"/>
                          </a:solidFill>
                          <a:latin typeface="Marianne"/>
                        </a:rPr>
                        <a:t>1. Images</a:t>
                      </a:r>
                    </a:p>
                  </a:txBody>
                  <a:tcPr>
                    <a:solidFill>
                      <a:srgbClr val="FFFFFF"/>
                    </a:solidFill>
                  </a:tcPr>
                </a:tc>
                <a:tc>
                  <a:txBody>
                    <a:bodyPr/>
                    <a:lstStyle/>
                    <a:p>
                      <a:pPr algn="l">
                        <a:lnSpc>
                          <a:spcPct val="125000"/>
                        </a:lnSpc>
                      </a:pPr>
                      <a:r>
                        <a:rPr lang="fr-FR" sz="1400" b="0" i="0">
                          <a:solidFill>
                            <a:srgbClr val="161616"/>
                          </a:solidFill>
                          <a:latin typeface="Marianne"/>
                        </a:rPr>
                        <a:t>8. Éléments obligatoires</a:t>
                      </a:r>
                    </a:p>
                  </a:txBody>
                  <a:tcPr>
                    <a:solidFill>
                      <a:srgbClr val="FFFFFF"/>
                    </a:solidFill>
                  </a:tcPr>
                </a:tc>
                <a:extLst>
                  <a:ext uri="{0D108BD9-81ED-4DB2-BD59-A6C34878D82A}">
                    <a16:rowId xmlns:a16="http://schemas.microsoft.com/office/drawing/2014/main" val="10001"/>
                  </a:ext>
                </a:extLst>
              </a:tr>
              <a:tr h="274320">
                <a:tc>
                  <a:txBody>
                    <a:bodyPr/>
                    <a:lstStyle/>
                    <a:p>
                      <a:pPr algn="l">
                        <a:lnSpc>
                          <a:spcPct val="125000"/>
                        </a:lnSpc>
                      </a:pPr>
                      <a:r>
                        <a:rPr lang="fr-FR" sz="1400" b="0" i="0">
                          <a:solidFill>
                            <a:srgbClr val="161616"/>
                          </a:solidFill>
                          <a:latin typeface="Marianne"/>
                        </a:rPr>
                        <a:t>2. Cadres</a:t>
                      </a:r>
                    </a:p>
                  </a:txBody>
                  <a:tcPr>
                    <a:solidFill>
                      <a:srgbClr val="F5F5FE"/>
                    </a:solidFill>
                  </a:tcPr>
                </a:tc>
                <a:tc>
                  <a:txBody>
                    <a:bodyPr/>
                    <a:lstStyle/>
                    <a:p>
                      <a:pPr algn="l">
                        <a:lnSpc>
                          <a:spcPct val="125000"/>
                        </a:lnSpc>
                      </a:pPr>
                      <a:r>
                        <a:rPr lang="fr-FR" sz="1400" b="0" i="0">
                          <a:solidFill>
                            <a:srgbClr val="161616"/>
                          </a:solidFill>
                          <a:latin typeface="Marianne"/>
                        </a:rPr>
                        <a:t>9. Structuration</a:t>
                      </a:r>
                    </a:p>
                  </a:txBody>
                  <a:tcPr>
                    <a:solidFill>
                      <a:srgbClr val="F5F5FE"/>
                    </a:solidFill>
                  </a:tcPr>
                </a:tc>
                <a:extLst>
                  <a:ext uri="{0D108BD9-81ED-4DB2-BD59-A6C34878D82A}">
                    <a16:rowId xmlns:a16="http://schemas.microsoft.com/office/drawing/2014/main" val="10002"/>
                  </a:ext>
                </a:extLst>
              </a:tr>
              <a:tr h="274320">
                <a:tc>
                  <a:txBody>
                    <a:bodyPr/>
                    <a:lstStyle/>
                    <a:p>
                      <a:pPr algn="l">
                        <a:lnSpc>
                          <a:spcPct val="125000"/>
                        </a:lnSpc>
                      </a:pPr>
                      <a:r>
                        <a:rPr lang="fr-FR" sz="1400" b="0" i="0">
                          <a:solidFill>
                            <a:srgbClr val="161616"/>
                          </a:solidFill>
                          <a:latin typeface="Marianne"/>
                        </a:rPr>
                        <a:t>3. Couleurs</a:t>
                      </a:r>
                    </a:p>
                  </a:txBody>
                  <a:tcPr>
                    <a:solidFill>
                      <a:srgbClr val="FFFFFF"/>
                    </a:solidFill>
                  </a:tcPr>
                </a:tc>
                <a:tc>
                  <a:txBody>
                    <a:bodyPr/>
                    <a:lstStyle/>
                    <a:p>
                      <a:pPr algn="l">
                        <a:lnSpc>
                          <a:spcPct val="125000"/>
                        </a:lnSpc>
                      </a:pPr>
                      <a:r>
                        <a:rPr lang="fr-FR" sz="1400" b="0" i="0">
                          <a:solidFill>
                            <a:srgbClr val="161616"/>
                          </a:solidFill>
                          <a:latin typeface="Marianne"/>
                        </a:rPr>
                        <a:t>10. Présentation</a:t>
                      </a:r>
                    </a:p>
                  </a:txBody>
                  <a:tcPr>
                    <a:solidFill>
                      <a:srgbClr val="FFFFFF"/>
                    </a:solidFill>
                  </a:tcPr>
                </a:tc>
                <a:extLst>
                  <a:ext uri="{0D108BD9-81ED-4DB2-BD59-A6C34878D82A}">
                    <a16:rowId xmlns:a16="http://schemas.microsoft.com/office/drawing/2014/main" val="10003"/>
                  </a:ext>
                </a:extLst>
              </a:tr>
              <a:tr h="274320">
                <a:tc>
                  <a:txBody>
                    <a:bodyPr/>
                    <a:lstStyle/>
                    <a:p>
                      <a:pPr algn="l">
                        <a:lnSpc>
                          <a:spcPct val="125000"/>
                        </a:lnSpc>
                      </a:pPr>
                      <a:r>
                        <a:rPr lang="fr-FR" sz="1400" b="0" i="0">
                          <a:solidFill>
                            <a:srgbClr val="161616"/>
                          </a:solidFill>
                          <a:latin typeface="Marianne"/>
                        </a:rPr>
                        <a:t>4. Multimédia</a:t>
                      </a:r>
                    </a:p>
                  </a:txBody>
                  <a:tcPr>
                    <a:solidFill>
                      <a:srgbClr val="F5F5FE"/>
                    </a:solidFill>
                  </a:tcPr>
                </a:tc>
                <a:tc>
                  <a:txBody>
                    <a:bodyPr/>
                    <a:lstStyle/>
                    <a:p>
                      <a:pPr algn="l">
                        <a:lnSpc>
                          <a:spcPct val="125000"/>
                        </a:lnSpc>
                      </a:pPr>
                      <a:r>
                        <a:rPr lang="fr-FR" sz="1400" b="0" i="0">
                          <a:solidFill>
                            <a:srgbClr val="161616"/>
                          </a:solidFill>
                          <a:latin typeface="Marianne"/>
                        </a:rPr>
                        <a:t>11. Formulaires</a:t>
                      </a:r>
                    </a:p>
                  </a:txBody>
                  <a:tcPr>
                    <a:solidFill>
                      <a:srgbClr val="F5F5FE"/>
                    </a:solidFill>
                  </a:tcPr>
                </a:tc>
                <a:extLst>
                  <a:ext uri="{0D108BD9-81ED-4DB2-BD59-A6C34878D82A}">
                    <a16:rowId xmlns:a16="http://schemas.microsoft.com/office/drawing/2014/main" val="10004"/>
                  </a:ext>
                </a:extLst>
              </a:tr>
              <a:tr h="274320">
                <a:tc>
                  <a:txBody>
                    <a:bodyPr/>
                    <a:lstStyle/>
                    <a:p>
                      <a:pPr algn="l">
                        <a:lnSpc>
                          <a:spcPct val="125000"/>
                        </a:lnSpc>
                      </a:pPr>
                      <a:r>
                        <a:rPr lang="fr-FR" sz="1400" b="0" i="0">
                          <a:solidFill>
                            <a:srgbClr val="161616"/>
                          </a:solidFill>
                          <a:latin typeface="Marianne"/>
                        </a:rPr>
                        <a:t>5. Tableaux</a:t>
                      </a:r>
                    </a:p>
                  </a:txBody>
                  <a:tcPr>
                    <a:solidFill>
                      <a:srgbClr val="FFFFFF"/>
                    </a:solidFill>
                  </a:tcPr>
                </a:tc>
                <a:tc>
                  <a:txBody>
                    <a:bodyPr/>
                    <a:lstStyle/>
                    <a:p>
                      <a:pPr algn="l">
                        <a:lnSpc>
                          <a:spcPct val="125000"/>
                        </a:lnSpc>
                      </a:pPr>
                      <a:r>
                        <a:rPr lang="fr-FR" sz="1400" b="0" i="0">
                          <a:solidFill>
                            <a:srgbClr val="161616"/>
                          </a:solidFill>
                          <a:latin typeface="Marianne"/>
                        </a:rPr>
                        <a:t>12. Navigation</a:t>
                      </a:r>
                    </a:p>
                  </a:txBody>
                  <a:tcPr>
                    <a:solidFill>
                      <a:srgbClr val="FFFFFF"/>
                    </a:solidFill>
                  </a:tcPr>
                </a:tc>
                <a:extLst>
                  <a:ext uri="{0D108BD9-81ED-4DB2-BD59-A6C34878D82A}">
                    <a16:rowId xmlns:a16="http://schemas.microsoft.com/office/drawing/2014/main" val="10005"/>
                  </a:ext>
                </a:extLst>
              </a:tr>
              <a:tr h="274320">
                <a:tc>
                  <a:txBody>
                    <a:bodyPr/>
                    <a:lstStyle/>
                    <a:p>
                      <a:pPr algn="l">
                        <a:lnSpc>
                          <a:spcPct val="125000"/>
                        </a:lnSpc>
                      </a:pPr>
                      <a:r>
                        <a:rPr lang="fr-FR" sz="1400" b="0" i="0">
                          <a:solidFill>
                            <a:srgbClr val="161616"/>
                          </a:solidFill>
                          <a:latin typeface="Marianne"/>
                        </a:rPr>
                        <a:t>6. Liens</a:t>
                      </a:r>
                    </a:p>
                  </a:txBody>
                  <a:tcPr>
                    <a:solidFill>
                      <a:srgbClr val="F5F5FE"/>
                    </a:solidFill>
                  </a:tcPr>
                </a:tc>
                <a:tc>
                  <a:txBody>
                    <a:bodyPr/>
                    <a:lstStyle/>
                    <a:p>
                      <a:pPr algn="l">
                        <a:lnSpc>
                          <a:spcPct val="125000"/>
                        </a:lnSpc>
                      </a:pPr>
                      <a:r>
                        <a:rPr lang="fr-FR" sz="1400" b="0" i="0">
                          <a:solidFill>
                            <a:srgbClr val="161616"/>
                          </a:solidFill>
                          <a:latin typeface="Marianne"/>
                        </a:rPr>
                        <a:t>13. Consultation</a:t>
                      </a:r>
                    </a:p>
                  </a:txBody>
                  <a:tcPr>
                    <a:solidFill>
                      <a:srgbClr val="F5F5FE"/>
                    </a:solidFill>
                  </a:tcPr>
                </a:tc>
                <a:extLst>
                  <a:ext uri="{0D108BD9-81ED-4DB2-BD59-A6C34878D82A}">
                    <a16:rowId xmlns:a16="http://schemas.microsoft.com/office/drawing/2014/main" val="10006"/>
                  </a:ext>
                </a:extLst>
              </a:tr>
              <a:tr h="274320">
                <a:tc>
                  <a:txBody>
                    <a:bodyPr/>
                    <a:lstStyle/>
                    <a:p>
                      <a:pPr algn="l">
                        <a:lnSpc>
                          <a:spcPct val="125000"/>
                        </a:lnSpc>
                      </a:pPr>
                      <a:r>
                        <a:rPr lang="fr-FR" sz="1400" b="0" i="0">
                          <a:solidFill>
                            <a:srgbClr val="161616"/>
                          </a:solidFill>
                          <a:latin typeface="Marianne"/>
                        </a:rPr>
                        <a:t>7. Scripts</a:t>
                      </a:r>
                    </a:p>
                  </a:txBody>
                  <a:tcPr>
                    <a:solidFill>
                      <a:srgbClr val="FFFFFF"/>
                    </a:solidFill>
                  </a:tcPr>
                </a:tc>
                <a:tc>
                  <a:txBody>
                    <a:bodyPr/>
                    <a:lstStyle/>
                    <a:p>
                      <a:pPr algn="l">
                        <a:lnSpc>
                          <a:spcPct val="125000"/>
                        </a:lnSpc>
                      </a:pPr>
                      <a:endParaRPr/>
                    </a:p>
                  </a:txBody>
                  <a:tcPr>
                    <a:solidFill>
                      <a:srgbClr val="FFFFFF"/>
                    </a:solidFill>
                  </a:tcPr>
                </a:tc>
                <a:extLst>
                  <a:ext uri="{0D108BD9-81ED-4DB2-BD59-A6C34878D82A}">
                    <a16:rowId xmlns:a16="http://schemas.microsoft.com/office/drawing/2014/main" val="10007"/>
                  </a:ext>
                </a:extLst>
              </a:tr>
            </a:tbl>
          </a:graphicData>
        </a:graphic>
      </p:graphicFrame>
      <p:sp>
        <p:nvSpPr>
          <p:cNvPr id="10" name="DSFR-box"/>
          <p:cNvSpPr/>
          <p:nvPr/>
        </p:nvSpPr>
        <p:spPr>
          <a:xfrm>
            <a:off x="548640" y="429768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warning-titre"/>
          <p:cNvSpPr txBox="1"/>
          <p:nvPr/>
        </p:nvSpPr>
        <p:spPr>
          <a:xfrm>
            <a:off x="704088" y="438912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Obligations de publication</a:t>
            </a:r>
          </a:p>
        </p:txBody>
      </p:sp>
      <p:sp>
        <p:nvSpPr>
          <p:cNvPr id="12" name="DSFR-alert-warning-body"/>
          <p:cNvSpPr txBox="1"/>
          <p:nvPr/>
        </p:nvSpPr>
        <p:spPr>
          <a:xfrm>
            <a:off x="704088" y="4800600"/>
            <a:ext cx="10908792" cy="1058875"/>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Schéma pluriannuel d'accessibilité (SPAN) sur 3 ans</a:t>
            </a:r>
          </a:p>
          <a:p>
            <a:pPr algn="l">
              <a:lnSpc>
                <a:spcPct val="120000"/>
              </a:lnSpc>
            </a:pPr>
            <a:r>
              <a:rPr lang="fr-FR" sz="1400">
                <a:solidFill>
                  <a:srgbClr val="161616"/>
                </a:solidFill>
                <a:latin typeface="Marianne"/>
              </a:rPr>
              <a:t>• </a:t>
            </a:r>
            <a:r>
              <a:rPr lang="fr-FR" sz="1400" b="0">
                <a:solidFill>
                  <a:srgbClr val="161616"/>
                </a:solidFill>
                <a:latin typeface="Marianne"/>
              </a:rPr>
              <a:t>Non conforme : moins de 50 % des critères</a:t>
            </a:r>
          </a:p>
          <a:p>
            <a:pPr algn="l">
              <a:lnSpc>
                <a:spcPct val="120000"/>
              </a:lnSpc>
            </a:pPr>
            <a:r>
              <a:rPr lang="fr-FR" sz="1400">
                <a:solidFill>
                  <a:srgbClr val="161616"/>
                </a:solidFill>
                <a:latin typeface="Marianne"/>
              </a:rPr>
              <a:t>• </a:t>
            </a:r>
            <a:r>
              <a:rPr lang="fr-FR" sz="1400" b="0">
                <a:solidFill>
                  <a:srgbClr val="161616"/>
                </a:solidFill>
                <a:latin typeface="Marianne"/>
              </a:rPr>
              <a:t>Partiellement conforme : de 50 % à 99 %</a:t>
            </a:r>
          </a:p>
          <a:p>
            <a:pPr algn="l">
              <a:lnSpc>
                <a:spcPct val="120000"/>
              </a:lnSpc>
            </a:pPr>
            <a:r>
              <a:rPr lang="fr-FR" sz="1400">
                <a:solidFill>
                  <a:srgbClr val="161616"/>
                </a:solidFill>
                <a:latin typeface="Marianne"/>
              </a:rPr>
              <a:t>• </a:t>
            </a:r>
            <a:r>
              <a:rPr lang="fr-FR" sz="1400" b="0">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9" name="DSFR-accent-decoratif"/>
          <p:cNvSpPr/>
          <p:nvPr/>
        </p:nvSpPr>
        <p:spPr>
          <a:xfrm>
            <a:off x="475488" y="429768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Quelles obligations pour votre structure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lert-info-titre"/>
          <p:cNvSpPr txBox="1"/>
          <p:nvPr/>
        </p:nvSpPr>
        <p:spPr>
          <a:xfrm>
            <a:off x="704088" y="3406140"/>
            <a:ext cx="90799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Activité - simulateur Obligally (10 min)</a:t>
            </a:r>
          </a:p>
        </p:txBody>
      </p:sp>
      <p:sp>
        <p:nvSpPr>
          <p:cNvPr id="14" name="DSFR-alert-info-body"/>
          <p:cNvSpPr txBox="1"/>
          <p:nvPr/>
        </p:nvSpPr>
        <p:spPr>
          <a:xfrm>
            <a:off x="704088" y="3817620"/>
            <a:ext cx="9079992" cy="1289304"/>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Cliquez sur Simuler et répondez aux questions</a:t>
            </a:r>
          </a:p>
          <a:p>
            <a:pPr algn="l">
              <a:lnSpc>
                <a:spcPct val="150000"/>
              </a:lnSpc>
            </a:pPr>
            <a:r>
              <a:rPr lang="fr-FR" sz="1400">
                <a:solidFill>
                  <a:srgbClr val="161616"/>
                </a:solidFill>
                <a:latin typeface="Marianne"/>
              </a:rPr>
              <a:t>• </a:t>
            </a:r>
            <a:r>
              <a:rPr lang="fr-FR" sz="1400" b="0">
                <a:solidFill>
                  <a:srgbClr val="161616"/>
                </a:solidFill>
                <a:latin typeface="Marianne"/>
              </a:rPr>
              <a:t>Notez le résultat : quelles normes s'appliquent à vous ?</a:t>
            </a:r>
          </a:p>
          <a:p>
            <a:pPr algn="l">
              <a:lnSpc>
                <a:spcPct val="150000"/>
              </a:lnSpc>
            </a:pPr>
            <a:r>
              <a:rPr lang="fr-FR" sz="1400">
                <a:solidFill>
                  <a:srgbClr val="161616"/>
                </a:solidFill>
                <a:latin typeface="Marianne"/>
              </a:rPr>
              <a:t>• </a:t>
            </a:r>
            <a:r>
              <a:rPr lang="fr-FR" sz="1400" b="0">
                <a:solidFill>
                  <a:srgbClr val="161616"/>
                </a:solidFill>
                <a:latin typeface="Marianne"/>
              </a:rPr>
              <a:t>Visualiser (infographie) : .../fr/visualisation/</a:t>
            </a:r>
          </a:p>
          <a:p>
            <a:pPr algn="l">
              <a:lnSpc>
                <a:spcPct val="150000"/>
              </a:lnSpc>
            </a:pPr>
            <a:r>
              <a:rPr lang="fr-FR" sz="1400">
                <a:solidFill>
                  <a:srgbClr val="161616"/>
                </a:solidFill>
                <a:latin typeface="Marianne"/>
              </a:rPr>
              <a:t>• </a:t>
            </a:r>
            <a:r>
              <a:rPr lang="fr-FR" sz="1400" b="0">
                <a:solidFill>
                  <a:srgbClr val="161616"/>
                </a:solidFill>
                <a:latin typeface="Marianne"/>
              </a:rPr>
              <a:t>Approfondir (article détaillé) : .../fr/comprendre/</a:t>
            </a:r>
          </a:p>
        </p:txBody>
      </p:sp>
      <p:pic>
        <p:nvPicPr>
          <p:cNvPr id="15" name="Picture 14" descr="QR code vers le simulateur Obligally : https://obligations-legales-accessibilite-numerique.fr/fr/"/>
          <p:cNvPicPr>
            <a:picLocks noChangeAspect="1"/>
          </p:cNvPicPr>
          <p:nvPr/>
        </p:nvPicPr>
        <p:blipFill>
          <a:blip r:embed="rId3"/>
          <a:stretch>
            <a:fillRect/>
          </a:stretch>
        </p:blipFill>
        <p:spPr>
          <a:xfrm>
            <a:off x="10012680" y="3634739"/>
            <a:ext cx="1645920" cy="1645920"/>
          </a:xfrm>
          <a:prstGeom prst="rect">
            <a:avLst/>
          </a:prstGeom>
        </p:spPr>
      </p:pic>
      <p:sp>
        <p:nvSpPr>
          <p:cNvPr id="16" name="DSFR-texte-libre"/>
          <p:cNvSpPr txBox="1"/>
          <p:nvPr/>
        </p:nvSpPr>
        <p:spPr>
          <a:xfrm>
            <a:off x="10012680" y="5326379"/>
            <a:ext cx="1645920" cy="274320"/>
          </a:xfrm>
          <a:prstGeom prst="rect">
            <a:avLst/>
          </a:prstGeom>
          <a:noFill/>
        </p:spPr>
        <p:txBody>
          <a:bodyPr wrap="square" lIns="73152" rIns="73152" anchor="t">
            <a:spAutoFit/>
          </a:bodyPr>
          <a:lstStyle/>
          <a:p>
            <a:pPr algn="l">
              <a:lnSpc>
                <a:spcPct val="125000"/>
              </a:lnSpc>
            </a:pPr>
            <a:r>
              <a:rPr lang="fr-FR" sz="1200" b="1" i="0">
                <a:solidFill>
                  <a:srgbClr val="161616"/>
                </a:solidFill>
                <a:latin typeface="Marianne"/>
              </a:rPr>
              <a:t>Scannez-moi !</a:t>
            </a:r>
          </a:p>
        </p:txBody>
      </p:sp>
      <p:sp>
        <p:nvSpPr>
          <p:cNvPr id="17" name="TextBox 16"/>
          <p:cNvSpPr txBox="1"/>
          <p:nvPr/>
        </p:nvSpPr>
        <p:spPr>
          <a:xfrm>
            <a:off x="475488" y="5295290"/>
            <a:ext cx="11228832" cy="320040"/>
          </a:xfrm>
          <a:prstGeom prst="rect">
            <a:avLst/>
          </a:prstGeom>
          <a:noFill/>
        </p:spPr>
        <p:txBody>
          <a:bodyPr wrap="square">
            <a:spAutoFit/>
          </a:bodyPr>
          <a:lstStyle/>
          <a:p>
            <a:r>
              <a:rPr lang="fr-FR" sz="1400" b="1" u="sng">
                <a:solidFill>
                  <a:srgbClr val="000091"/>
                </a:solidFill>
                <a:hlinkClick r:id="rId4"/>
              </a:rPr>
              <a:t>https://obligations-legales-accessibilite-numerique.fr/fr/</a:t>
            </a:r>
          </a:p>
        </p:txBody>
      </p:sp>
      <p:sp>
        <p:nvSpPr>
          <p:cNvPr id="18" name="TextBox 17"/>
          <p:cNvSpPr txBox="1"/>
          <p:nvPr/>
        </p:nvSpPr>
        <p:spPr>
          <a:xfrm>
            <a:off x="475488" y="5661050"/>
            <a:ext cx="11228832" cy="219456"/>
          </a:xfrm>
          <a:prstGeom prst="rect">
            <a:avLst/>
          </a:prstGeom>
          <a:noFill/>
        </p:spPr>
        <p:txBody>
          <a:bodyPr wrap="none">
            <a:spAutoFit/>
          </a:bodyPr>
          <a:lstStyle/>
          <a:p>
            <a:r>
              <a:rPr lang="fr-FR" sz="900" b="1">
                <a:solidFill>
                  <a:srgbClr val="161616"/>
                </a:solidFill>
              </a:rPr>
              <a:t>Simuler : </a:t>
            </a:r>
            <a:r>
              <a:rPr lang="fr-FR" sz="900" u="sng">
                <a:solidFill>
                  <a:srgbClr val="000091"/>
                </a:solidFill>
                <a:hlinkClick r:id="rId5"/>
              </a:rPr>
              <a:t>https://obligations-legales-accessibilite-numerique.fr/fr/simulation/</a:t>
            </a:r>
          </a:p>
        </p:txBody>
      </p:sp>
      <p:sp>
        <p:nvSpPr>
          <p:cNvPr id="19" name="TextBox 18"/>
          <p:cNvSpPr txBox="1"/>
          <p:nvPr/>
        </p:nvSpPr>
        <p:spPr>
          <a:xfrm>
            <a:off x="475488" y="5907938"/>
            <a:ext cx="11228832" cy="219456"/>
          </a:xfrm>
          <a:prstGeom prst="rect">
            <a:avLst/>
          </a:prstGeom>
          <a:noFill/>
        </p:spPr>
        <p:txBody>
          <a:bodyPr wrap="none">
            <a:spAutoFit/>
          </a:bodyPr>
          <a:lstStyle/>
          <a:p>
            <a:r>
              <a:rPr lang="fr-FR" sz="900" b="1">
                <a:solidFill>
                  <a:srgbClr val="161616"/>
                </a:solidFill>
              </a:rPr>
              <a:t>Comprendre : </a:t>
            </a:r>
            <a:r>
              <a:rPr lang="fr-FR" sz="900" u="sng">
                <a:solidFill>
                  <a:srgbClr val="000091"/>
                </a:solidFill>
                <a:hlinkClick r:id="rId6"/>
              </a:rPr>
              <a:t>https://obligations-legales-accessibilite-numerique.fr/fr/comprendre/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 déclaration d'accessibilité</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extLst>
                    <a:ext uri="{9D8B030D-6E8A-4147-A177-3AD203B41FA5}">
                      <a16:colId xmlns:a16="http://schemas.microsoft.com/office/drawing/2014/main" val="20000"/>
                    </a:ext>
                  </a:extLst>
                </a:gridCol>
                <a:gridCol w="6199632">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Que doit-elle contenir ?</a:t>
                      </a:r>
                    </a:p>
                  </a:txBody>
                  <a:tcPr>
                    <a:solidFill>
                      <a:srgbClr val="000091"/>
                    </a:solidFill>
                  </a:tcPr>
                </a:tc>
                <a:tc>
                  <a:txBody>
                    <a:bodyPr/>
                    <a:lstStyle/>
                    <a:p>
                      <a:pPr algn="l">
                        <a:lnSpc>
                          <a:spcPct val="125000"/>
                        </a:lnSpc>
                      </a:pPr>
                      <a:r>
                        <a:rPr lang="fr-FR" sz="1400" b="1" i="0">
                          <a:solidFill>
                            <a:srgbClr val="FFFFFF"/>
                          </a:solidFill>
                          <a:latin typeface="Marianne"/>
                        </a:rPr>
                        <a:t>Exemple concret</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Taux de conformité RGAA</a:t>
                      </a:r>
                    </a:p>
                  </a:txBody>
                  <a:tcPr>
                    <a:solidFill>
                      <a:srgbClr val="FFFFFF"/>
                    </a:solidFill>
                  </a:tcPr>
                </a:tc>
                <a:tc>
                  <a:txBody>
                    <a:bodyPr/>
                    <a:lstStyle/>
                    <a:p>
                      <a:pPr algn="l">
                        <a:lnSpc>
                          <a:spcPct val="125000"/>
                        </a:lnSpc>
                      </a:pPr>
                      <a:r>
                        <a:rPr lang="fr-FR" sz="1400" b="0" i="0">
                          <a:solidFill>
                            <a:srgbClr val="161616"/>
                          </a:solidFill>
                          <a:latin typeface="Marianne"/>
                        </a:rPr>
                        <a:t>Ex. : 62 % conforme</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Statut global</a:t>
                      </a:r>
                    </a:p>
                  </a:txBody>
                  <a:tcPr>
                    <a:solidFill>
                      <a:srgbClr val="F5F5FE"/>
                    </a:solidFill>
                  </a:tcPr>
                </a:tc>
                <a:tc>
                  <a:txBody>
                    <a:bodyPr/>
                    <a:lstStyle/>
                    <a:p>
                      <a:pPr algn="l">
                        <a:lnSpc>
                          <a:spcPct val="125000"/>
                        </a:lnSpc>
                      </a:pPr>
                      <a:r>
                        <a:rPr lang="fr-FR" sz="1400" b="0" i="0">
                          <a:solidFill>
                            <a:srgbClr val="161616"/>
                          </a:solidFill>
                          <a:latin typeface="Marianne"/>
                        </a:rPr>
                        <a:t>Partiellement conforme</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Technologies utilisées</a:t>
                      </a:r>
                    </a:p>
                  </a:txBody>
                  <a:tcPr>
                    <a:solidFill>
                      <a:srgbClr val="FFFFFF"/>
                    </a:solidFill>
                  </a:tcPr>
                </a:tc>
                <a:tc>
                  <a:txBody>
                    <a:bodyPr/>
                    <a:lstStyle/>
                    <a:p>
                      <a:pPr algn="l">
                        <a:lnSpc>
                          <a:spcPct val="125000"/>
                        </a:lnSpc>
                      </a:pPr>
                      <a:r>
                        <a:rPr lang="fr-FR" sz="1400" b="0" i="0">
                          <a:solidFill>
                            <a:srgbClr val="161616"/>
                          </a:solidFill>
                          <a:latin typeface="Marianne"/>
                        </a:rPr>
                        <a:t>HTML5, CSS3, JavaScript</a:t>
                      </a:r>
                    </a:p>
                  </a:txBody>
                  <a:tcPr>
                    <a:solidFill>
                      <a:srgbClr val="FFFFFF"/>
                    </a:solidFill>
                  </a:tcPr>
                </a:tc>
                <a:extLst>
                  <a:ext uri="{0D108BD9-81ED-4DB2-BD59-A6C34878D82A}">
                    <a16:rowId xmlns:a16="http://schemas.microsoft.com/office/drawing/2014/main" val="10003"/>
                  </a:ext>
                </a:extLst>
              </a:tr>
              <a:tr h="411480">
                <a:tc>
                  <a:txBody>
                    <a:bodyPr/>
                    <a:lstStyle/>
                    <a:p>
                      <a:pPr algn="l">
                        <a:lnSpc>
                          <a:spcPct val="125000"/>
                        </a:lnSpc>
                      </a:pPr>
                      <a:r>
                        <a:rPr lang="fr-FR" sz="1400" b="0" i="0">
                          <a:solidFill>
                            <a:srgbClr val="161616"/>
                          </a:solidFill>
                          <a:latin typeface="Marianne"/>
                        </a:rPr>
                        <a:t>Environnements de test</a:t>
                      </a:r>
                    </a:p>
                  </a:txBody>
                  <a:tcPr>
                    <a:solidFill>
                      <a:srgbClr val="F5F5FE"/>
                    </a:solidFill>
                  </a:tcPr>
                </a:tc>
                <a:tc>
                  <a:txBody>
                    <a:bodyPr/>
                    <a:lstStyle/>
                    <a:p>
                      <a:pPr algn="l">
                        <a:lnSpc>
                          <a:spcPct val="125000"/>
                        </a:lnSpc>
                      </a:pPr>
                      <a:r>
                        <a:rPr lang="fr-FR" sz="1400" b="0" i="0">
                          <a:solidFill>
                            <a:srgbClr val="161616"/>
                          </a:solidFill>
                          <a:latin typeface="Marianne"/>
                        </a:rPr>
                        <a:t>Chrome + NVDA, Safari + VoiceOver</a:t>
                      </a:r>
                    </a:p>
                  </a:txBody>
                  <a:tcPr>
                    <a:solidFill>
                      <a:srgbClr val="F5F5FE"/>
                    </a:solidFill>
                  </a:tcPr>
                </a:tc>
                <a:extLst>
                  <a:ext uri="{0D108BD9-81ED-4DB2-BD59-A6C34878D82A}">
                    <a16:rowId xmlns:a16="http://schemas.microsoft.com/office/drawing/2014/main" val="10004"/>
                  </a:ext>
                </a:extLst>
              </a:tr>
              <a:tr h="411480">
                <a:tc>
                  <a:txBody>
                    <a:bodyPr/>
                    <a:lstStyle/>
                    <a:p>
                      <a:pPr algn="l">
                        <a:lnSpc>
                          <a:spcPct val="125000"/>
                        </a:lnSpc>
                      </a:pPr>
                      <a:r>
                        <a:rPr lang="fr-FR" sz="1400" b="0" i="0">
                          <a:solidFill>
                            <a:srgbClr val="161616"/>
                          </a:solidFill>
                          <a:latin typeface="Marianne"/>
                        </a:rPr>
                        <a:t>Contact et voie de recours</a:t>
                      </a:r>
                    </a:p>
                  </a:txBody>
                  <a:tcPr>
                    <a:solidFill>
                      <a:srgbClr val="FFFFFF"/>
                    </a:solidFill>
                  </a:tcPr>
                </a:tc>
                <a:tc>
                  <a:txBody>
                    <a:bodyPr/>
                    <a:lstStyle/>
                    <a:p>
                      <a:pPr algn="l">
                        <a:lnSpc>
                          <a:spcPct val="125000"/>
                        </a:lnSpc>
                      </a:pPr>
                      <a:r>
                        <a:rPr lang="fr-FR" sz="1400" b="0" i="0">
                          <a:solidFill>
                            <a:srgbClr val="161616"/>
                          </a:solidFill>
                          <a:latin typeface="Marianne"/>
                        </a:rPr>
                        <a:t>accessibilite@mon-ministere.gouv.fr</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success-titre"/>
          <p:cNvSpPr txBox="1"/>
          <p:nvPr/>
        </p:nvSpPr>
        <p:spPr>
          <a:xfrm>
            <a:off x="704088" y="46634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Cherchez la déclaration d'accessibilité de votre site</a:t>
            </a:r>
          </a:p>
          <a:p>
            <a:pPr algn="l">
              <a:lnSpc>
                <a:spcPct val="150000"/>
              </a:lnSpc>
            </a:pPr>
            <a:r>
              <a:rPr lang="fr-FR" sz="1400">
                <a:solidFill>
                  <a:srgbClr val="161616"/>
                </a:solidFill>
                <a:latin typeface="Marianne"/>
              </a:rPr>
              <a:t>• </a:t>
            </a:r>
            <a:r>
              <a:rPr lang="fr-FR" sz="1400" b="0">
                <a:solidFill>
                  <a:srgbClr val="161616"/>
                </a:solidFill>
                <a:latin typeface="Marianne"/>
              </a:rPr>
              <a:t>URL type : /declaration-accessibilite</a:t>
            </a:r>
          </a:p>
          <a:p>
            <a:pPr algn="l">
              <a:lnSpc>
                <a:spcPct val="150000"/>
              </a:lnSpc>
            </a:pPr>
            <a:r>
              <a:rPr lang="fr-FR" sz="1400">
                <a:solidFill>
                  <a:srgbClr val="161616"/>
                </a:solidFill>
                <a:latin typeface="Marianne"/>
              </a:rPr>
              <a:t>• </a:t>
            </a:r>
            <a:r>
              <a:rPr lang="fr-FR" sz="1400" b="0">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9" name="DSFR-accent-decoratif"/>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32</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Pourquoi agir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33</a:t>
            </a:r>
            <a:endParaRPr lang="fr-FR" dirty="0"/>
          </a:p>
        </p:txBody>
      </p:sp>
      <p:sp>
        <p:nvSpPr>
          <p:cNvPr id="9" name="DSFR-box"/>
          <p:cNvSpPr/>
          <p:nvPr/>
        </p:nvSpPr>
        <p:spPr>
          <a:xfrm>
            <a:off x="548640" y="2103120"/>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Un droit, pas une faveur</a:t>
            </a:r>
          </a:p>
        </p:txBody>
      </p:sp>
      <p:sp>
        <p:nvSpPr>
          <p:cNvPr id="11" name="DSFR-callout-body"/>
          <p:cNvSpPr txBox="1"/>
          <p:nvPr/>
        </p:nvSpPr>
        <p:spPr>
          <a:xfrm>
            <a:off x="704088" y="2606039"/>
            <a:ext cx="5143500" cy="1519732"/>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Droit fondamental d'accès à l'information</a:t>
            </a:r>
          </a:p>
          <a:p>
            <a:pPr algn="l">
              <a:lnSpc>
                <a:spcPct val="120000"/>
              </a:lnSpc>
            </a:pPr>
            <a:r>
              <a:rPr lang="fr-FR" sz="1400">
                <a:solidFill>
                  <a:srgbClr val="161616"/>
                </a:solidFill>
                <a:latin typeface="Marianne"/>
              </a:rPr>
              <a:t>• </a:t>
            </a:r>
            <a:r>
              <a:rPr lang="fr-FR" sz="1400" b="0">
                <a:solidFill>
                  <a:srgbClr val="161616"/>
                </a:solidFill>
                <a:latin typeface="Marianne"/>
              </a:rPr>
              <a:t>Lutte contre la discrimination numérique</a:t>
            </a:r>
          </a:p>
          <a:p>
            <a:pPr algn="l">
              <a:lnSpc>
                <a:spcPct val="120000"/>
              </a:lnSpc>
            </a:pPr>
            <a:r>
              <a:rPr lang="fr-FR" sz="1400">
                <a:solidFill>
                  <a:srgbClr val="161616"/>
                </a:solidFill>
                <a:latin typeface="Marianne"/>
              </a:rPr>
              <a:t>• </a:t>
            </a:r>
            <a:r>
              <a:rPr lang="fr-FR" sz="1400" b="0">
                <a:solidFill>
                  <a:srgbClr val="161616"/>
                </a:solidFill>
                <a:latin typeface="Marianne"/>
              </a:rPr>
              <a:t>Inclusion dans la vie professionnelle et citoyenne</a:t>
            </a:r>
          </a:p>
        </p:txBody>
      </p:sp>
      <p:sp>
        <p:nvSpPr>
          <p:cNvPr id="13" name="DSFR-box"/>
          <p:cNvSpPr/>
          <p:nvPr/>
        </p:nvSpPr>
        <p:spPr>
          <a:xfrm>
            <a:off x="6313931" y="210312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Charte de communication de l'État</a:t>
            </a:r>
          </a:p>
        </p:txBody>
      </p:sp>
      <p:sp>
        <p:nvSpPr>
          <p:cNvPr id="15" name="DSFR-alert-success-body"/>
          <p:cNvSpPr txBox="1"/>
          <p:nvPr/>
        </p:nvSpPr>
        <p:spPr>
          <a:xfrm>
            <a:off x="6469379" y="2606039"/>
            <a:ext cx="5143500" cy="1289304"/>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Confiance : l'usager comprend et agit seul</a:t>
            </a:r>
          </a:p>
          <a:p>
            <a:pPr algn="l">
              <a:lnSpc>
                <a:spcPct val="120000"/>
              </a:lnSpc>
            </a:pPr>
            <a:r>
              <a:rPr lang="fr-FR" sz="1400">
                <a:solidFill>
                  <a:srgbClr val="161616"/>
                </a:solidFill>
                <a:latin typeface="Marianne"/>
              </a:rPr>
              <a:t>• </a:t>
            </a:r>
            <a:r>
              <a:rPr lang="fr-FR" sz="1400" b="0">
                <a:solidFill>
                  <a:srgbClr val="161616"/>
                </a:solidFill>
                <a:latin typeface="Marianne"/>
              </a:rPr>
              <a:t>Autonomie : pas besoin d'aide tierce</a:t>
            </a:r>
          </a:p>
          <a:p>
            <a:pPr algn="l">
              <a:lnSpc>
                <a:spcPct val="120000"/>
              </a:lnSpc>
            </a:pPr>
            <a:r>
              <a:rPr lang="fr-FR" sz="1400">
                <a:solidFill>
                  <a:srgbClr val="161616"/>
                </a:solidFill>
                <a:latin typeface="Marianne"/>
              </a:rPr>
              <a:t>• </a:t>
            </a:r>
            <a:r>
              <a:rPr lang="fr-FR" sz="1400" b="0">
                <a:solidFill>
                  <a:srgbClr val="161616"/>
                </a:solidFill>
                <a:latin typeface="Marianne"/>
              </a:rPr>
              <a:t>Inclusion : chaque canal atteint son public</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210312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Accessibiliser sa communication : de quoi parle-t-on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2209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Qui risque d'être empêché par ce support ?</a:t>
            </a:r>
          </a:p>
          <a:p>
            <a:pPr algn="l">
              <a:lnSpc>
                <a:spcPct val="125000"/>
              </a:lnSpc>
            </a:pPr>
            <a:r>
              <a:rPr lang="fr-FR" sz="1400">
                <a:solidFill>
                  <a:srgbClr val="161616"/>
                </a:solidFill>
                <a:latin typeface="Marianne"/>
              </a:rPr>
              <a:t>• </a:t>
            </a:r>
            <a:r>
              <a:rPr lang="fr-FR" sz="1400" b="0">
                <a:solidFill>
                  <a:srgbClr val="161616"/>
                </a:solidFill>
                <a:latin typeface="Marianne"/>
              </a:rPr>
              <a:t>Quel autre chemin donne accès à la même information ?</a:t>
            </a:r>
          </a:p>
          <a:p>
            <a:pPr algn="l">
              <a:lnSpc>
                <a:spcPct val="125000"/>
              </a:lnSpc>
            </a:pPr>
            <a:r>
              <a:rPr lang="fr-FR" sz="1400">
                <a:solidFill>
                  <a:srgbClr val="161616"/>
                </a:solidFill>
                <a:latin typeface="Marianne"/>
              </a:rPr>
              <a:t>• </a:t>
            </a:r>
            <a:r>
              <a:rPr lang="fr-FR" sz="1400" b="0">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2209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Web : site, application, newsletter, mails</a:t>
            </a:r>
          </a:p>
          <a:p>
            <a:pPr algn="l">
              <a:lnSpc>
                <a:spcPct val="125000"/>
              </a:lnSpc>
            </a:pPr>
            <a:r>
              <a:rPr lang="fr-FR" sz="1400">
                <a:solidFill>
                  <a:srgbClr val="161616"/>
                </a:solidFill>
                <a:latin typeface="Marianne"/>
              </a:rPr>
              <a:t>• </a:t>
            </a:r>
            <a:r>
              <a:rPr lang="fr-FR" sz="1400" b="0">
                <a:solidFill>
                  <a:srgbClr val="161616"/>
                </a:solidFill>
                <a:latin typeface="Marianne"/>
              </a:rPr>
              <a:t>Médias : vidéo, podcast, visuel animé</a:t>
            </a:r>
          </a:p>
          <a:p>
            <a:pPr algn="l">
              <a:lnSpc>
                <a:spcPct val="125000"/>
              </a:lnSpc>
            </a:pPr>
            <a:r>
              <a:rPr lang="fr-FR" sz="1400">
                <a:solidFill>
                  <a:srgbClr val="161616"/>
                </a:solidFill>
                <a:latin typeface="Marianne"/>
              </a:rPr>
              <a:t>• </a:t>
            </a:r>
            <a:r>
              <a:rPr lang="fr-FR" sz="1400" b="0">
                <a:solidFill>
                  <a:srgbClr val="161616"/>
                </a:solidFill>
                <a:latin typeface="Marianne"/>
              </a:rPr>
              <a:t>Documents : PDF, bureautique, formulaires</a:t>
            </a:r>
          </a:p>
          <a:p>
            <a:pPr algn="l">
              <a:lnSpc>
                <a:spcPct val="125000"/>
              </a:lnSpc>
            </a:pPr>
            <a:r>
              <a:rPr lang="fr-FR" sz="1400">
                <a:solidFill>
                  <a:srgbClr val="161616"/>
                </a:solidFill>
                <a:latin typeface="Marianne"/>
              </a:rPr>
              <a:t>• </a:t>
            </a:r>
            <a:r>
              <a:rPr lang="fr-FR" sz="1400" b="0">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Des outils déjà intégrés à vos postes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101727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39425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Vision</a:t>
            </a:r>
          </a:p>
        </p:txBody>
      </p:sp>
      <p:sp>
        <p:nvSpPr>
          <p:cNvPr id="14" name="DSFR-callout-body"/>
          <p:cNvSpPr txBox="1"/>
          <p:nvPr/>
        </p:nvSpPr>
        <p:spPr>
          <a:xfrm>
            <a:off x="704088" y="3805732"/>
            <a:ext cx="5143500" cy="1058875"/>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Loupe et zoom intégrés</a:t>
            </a:r>
          </a:p>
          <a:p>
            <a:pPr algn="l">
              <a:lnSpc>
                <a:spcPct val="120000"/>
              </a:lnSpc>
            </a:pPr>
            <a:r>
              <a:rPr lang="fr-FR" sz="1400">
                <a:solidFill>
                  <a:srgbClr val="161616"/>
                </a:solidFill>
                <a:latin typeface="Marianne"/>
              </a:rPr>
              <a:t>• </a:t>
            </a:r>
            <a:r>
              <a:rPr lang="fr-FR" sz="1400" b="0">
                <a:solidFill>
                  <a:srgbClr val="161616"/>
                </a:solidFill>
                <a:latin typeface="Marianne"/>
              </a:rPr>
              <a:t>Filtres de couleur et mode sombre</a:t>
            </a:r>
          </a:p>
          <a:p>
            <a:pPr algn="l">
              <a:lnSpc>
                <a:spcPct val="120000"/>
              </a:lnSpc>
            </a:pPr>
            <a:r>
              <a:rPr lang="fr-FR" sz="1400">
                <a:solidFill>
                  <a:srgbClr val="161616"/>
                </a:solidFill>
                <a:latin typeface="Marianne"/>
              </a:rPr>
              <a:t>• </a:t>
            </a:r>
            <a:r>
              <a:rPr lang="fr-FR" sz="1400" b="0">
                <a:solidFill>
                  <a:srgbClr val="161616"/>
                </a:solidFill>
                <a:latin typeface="Marianne"/>
              </a:rPr>
              <a:t>Narrateur / NVDA (lecteur d'écran)</a:t>
            </a:r>
          </a:p>
          <a:p>
            <a:pPr algn="l">
              <a:lnSpc>
                <a:spcPct val="120000"/>
              </a:lnSpc>
            </a:pPr>
            <a:r>
              <a:rPr lang="fr-FR" sz="1400">
                <a:solidFill>
                  <a:srgbClr val="161616"/>
                </a:solidFill>
                <a:latin typeface="Marianne"/>
              </a:rPr>
              <a:t>• </a:t>
            </a:r>
            <a:r>
              <a:rPr lang="fr-FR" sz="1400" b="0">
                <a:solidFill>
                  <a:srgbClr val="161616"/>
                </a:solidFill>
                <a:latin typeface="Marianne"/>
              </a:rPr>
              <a:t>Réglage de la taille du texte</a:t>
            </a:r>
          </a:p>
        </p:txBody>
      </p:sp>
      <p:sp>
        <p:nvSpPr>
          <p:cNvPr id="16" name="DSFR-box"/>
          <p:cNvSpPr/>
          <p:nvPr/>
        </p:nvSpPr>
        <p:spPr>
          <a:xfrm>
            <a:off x="6313931" y="3302812"/>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llout-titre"/>
          <p:cNvSpPr txBox="1"/>
          <p:nvPr/>
        </p:nvSpPr>
        <p:spPr>
          <a:xfrm>
            <a:off x="6469379" y="339425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Audition et interaction</a:t>
            </a:r>
          </a:p>
        </p:txBody>
      </p:sp>
      <p:sp>
        <p:nvSpPr>
          <p:cNvPr id="18" name="DSFR-callout-body"/>
          <p:cNvSpPr txBox="1"/>
          <p:nvPr/>
        </p:nvSpPr>
        <p:spPr>
          <a:xfrm>
            <a:off x="6469379" y="3805732"/>
            <a:ext cx="5143500" cy="1289304"/>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Sous-titres en temps réel</a:t>
            </a:r>
          </a:p>
          <a:p>
            <a:pPr algn="l">
              <a:lnSpc>
                <a:spcPct val="120000"/>
              </a:lnSpc>
            </a:pPr>
            <a:r>
              <a:rPr lang="fr-FR" sz="1400">
                <a:solidFill>
                  <a:srgbClr val="161616"/>
                </a:solidFill>
                <a:latin typeface="Marianne"/>
              </a:rPr>
              <a:t>• </a:t>
            </a:r>
            <a:r>
              <a:rPr lang="fr-FR" sz="1400" b="0">
                <a:solidFill>
                  <a:srgbClr val="161616"/>
                </a:solidFill>
                <a:latin typeface="Marianne"/>
              </a:rPr>
              <a:t>Commandes vocales</a:t>
            </a:r>
          </a:p>
          <a:p>
            <a:pPr algn="l">
              <a:lnSpc>
                <a:spcPct val="120000"/>
              </a:lnSpc>
            </a:pPr>
            <a:r>
              <a:rPr lang="fr-FR" sz="1400">
                <a:solidFill>
                  <a:srgbClr val="161616"/>
                </a:solidFill>
                <a:latin typeface="Marianne"/>
              </a:rPr>
              <a:t>• </a:t>
            </a:r>
            <a:r>
              <a:rPr lang="fr-FR" sz="1400" b="0">
                <a:solidFill>
                  <a:srgbClr val="161616"/>
                </a:solidFill>
                <a:latin typeface="Marianne"/>
              </a:rPr>
              <a:t>Navigation au clavier</a:t>
            </a:r>
          </a:p>
          <a:p>
            <a:pPr algn="l">
              <a:lnSpc>
                <a:spcPct val="120000"/>
              </a:lnSpc>
            </a:pPr>
            <a:r>
              <a:rPr lang="fr-FR" sz="1400">
                <a:solidFill>
                  <a:srgbClr val="161616"/>
                </a:solidFill>
                <a:latin typeface="Marianne"/>
              </a:rPr>
              <a:t>• </a:t>
            </a:r>
            <a:r>
              <a:rPr lang="fr-FR" sz="1400" b="0">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3"/>
          <a:stretch>
            <a:fillRect/>
          </a:stretch>
        </p:blipFill>
        <p:spPr>
          <a:xfrm>
            <a:off x="5632704" y="5323636"/>
            <a:ext cx="914400" cy="914400"/>
          </a:xfrm>
          <a:prstGeom prst="rect">
            <a:avLst/>
          </a:prstGeom>
        </p:spPr>
      </p:pic>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02812"/>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302812"/>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Règles transversales : texte, contraste, QR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37</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Police simple, sans empattement</a:t>
            </a:r>
          </a:p>
          <a:p>
            <a:pPr algn="l">
              <a:lnSpc>
                <a:spcPct val="150000"/>
              </a:lnSpc>
            </a:pPr>
            <a:r>
              <a:rPr lang="fr-FR" sz="1400">
                <a:solidFill>
                  <a:srgbClr val="161616"/>
                </a:solidFill>
                <a:latin typeface="Marianne"/>
              </a:rPr>
              <a:t>• </a:t>
            </a:r>
            <a:r>
              <a:rPr lang="fr-FR" sz="1400" b="0">
                <a:solidFill>
                  <a:srgbClr val="161616"/>
                </a:solidFill>
                <a:latin typeface="Marianne"/>
              </a:rPr>
              <a:t>Alignement à gauche</a:t>
            </a:r>
          </a:p>
          <a:p>
            <a:pPr algn="l">
              <a:lnSpc>
                <a:spcPct val="150000"/>
              </a:lnSpc>
            </a:pPr>
            <a:r>
              <a:rPr lang="fr-FR" sz="1400">
                <a:solidFill>
                  <a:srgbClr val="161616"/>
                </a:solidFill>
                <a:latin typeface="Marianne"/>
              </a:rPr>
              <a:t>• </a:t>
            </a:r>
            <a:r>
              <a:rPr lang="fr-FR" sz="1400" b="0">
                <a:solidFill>
                  <a:srgbClr val="161616"/>
                </a:solidFill>
                <a:latin typeface="Marianne"/>
              </a:rPr>
              <a:t>Paragraphes courts et aérés</a:t>
            </a:r>
          </a:p>
          <a:p>
            <a:pPr algn="l">
              <a:lnSpc>
                <a:spcPct val="150000"/>
              </a:lnSpc>
            </a:pPr>
            <a:r>
              <a:rPr lang="fr-FR" sz="1400">
                <a:solidFill>
                  <a:srgbClr val="161616"/>
                </a:solidFill>
                <a:latin typeface="Marianne"/>
              </a:rPr>
              <a:t>• </a:t>
            </a:r>
            <a:r>
              <a:rPr lang="fr-FR" sz="1400" b="0">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4547615"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Ratio 4,5:1 minimum</a:t>
            </a:r>
          </a:p>
          <a:p>
            <a:pPr algn="l">
              <a:lnSpc>
                <a:spcPct val="150000"/>
              </a:lnSpc>
            </a:pPr>
            <a:r>
              <a:rPr lang="fr-FR" sz="1400">
                <a:solidFill>
                  <a:srgbClr val="161616"/>
                </a:solidFill>
                <a:latin typeface="Marianne"/>
              </a:rPr>
              <a:t>• </a:t>
            </a:r>
            <a:r>
              <a:rPr lang="fr-FR" sz="1400" b="0">
                <a:solidFill>
                  <a:srgbClr val="161616"/>
                </a:solidFill>
                <a:latin typeface="Marianne"/>
              </a:rPr>
              <a:t>Idéal : viser 7:1</a:t>
            </a:r>
          </a:p>
          <a:p>
            <a:pPr algn="l">
              <a:lnSpc>
                <a:spcPct val="150000"/>
              </a:lnSpc>
            </a:pPr>
            <a:r>
              <a:rPr lang="fr-FR" sz="1400">
                <a:solidFill>
                  <a:srgbClr val="161616"/>
                </a:solidFill>
                <a:latin typeface="Marianne"/>
              </a:rPr>
              <a:t>• </a:t>
            </a:r>
            <a:r>
              <a:rPr lang="fr-FR" sz="1400" b="0">
                <a:solidFill>
                  <a:srgbClr val="161616"/>
                </a:solidFill>
                <a:latin typeface="Marianne"/>
              </a:rPr>
              <a:t>Éviter les dégradés sous le texte</a:t>
            </a:r>
          </a:p>
          <a:p>
            <a:pPr algn="l">
              <a:lnSpc>
                <a:spcPct val="150000"/>
              </a:lnSpc>
            </a:pPr>
            <a:r>
              <a:rPr lang="fr-FR" sz="1400">
                <a:solidFill>
                  <a:srgbClr val="161616"/>
                </a:solidFill>
                <a:latin typeface="Marianne"/>
              </a:rPr>
              <a:t>• </a:t>
            </a:r>
            <a:r>
              <a:rPr lang="fr-FR" sz="1400" b="0">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8391144"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Jamais le seul accès</a:t>
            </a:r>
          </a:p>
          <a:p>
            <a:pPr algn="l">
              <a:lnSpc>
                <a:spcPct val="150000"/>
              </a:lnSpc>
            </a:pPr>
            <a:r>
              <a:rPr lang="fr-FR" sz="1400">
                <a:solidFill>
                  <a:srgbClr val="161616"/>
                </a:solidFill>
                <a:latin typeface="Marianne"/>
              </a:rPr>
              <a:t>• </a:t>
            </a:r>
            <a:r>
              <a:rPr lang="fr-FR" sz="1400" b="0">
                <a:solidFill>
                  <a:srgbClr val="161616"/>
                </a:solidFill>
                <a:latin typeface="Marianne"/>
              </a:rPr>
              <a:t>Lien visible à côté</a:t>
            </a:r>
          </a:p>
          <a:p>
            <a:pPr algn="l">
              <a:lnSpc>
                <a:spcPct val="150000"/>
              </a:lnSpc>
            </a:pPr>
            <a:r>
              <a:rPr lang="fr-FR" sz="1400">
                <a:solidFill>
                  <a:srgbClr val="161616"/>
                </a:solidFill>
                <a:latin typeface="Marianne"/>
              </a:rPr>
              <a:t>• </a:t>
            </a:r>
            <a:r>
              <a:rPr lang="fr-FR" sz="1400" b="0">
                <a:solidFill>
                  <a:srgbClr val="161616"/>
                </a:solidFill>
                <a:latin typeface="Marianne"/>
              </a:rPr>
              <a:t>Mention « Scannez-moi ! »</a:t>
            </a:r>
          </a:p>
          <a:p>
            <a:pPr algn="l">
              <a:lnSpc>
                <a:spcPct val="150000"/>
              </a:lnSpc>
            </a:pPr>
            <a:r>
              <a:rPr lang="fr-FR" sz="1400">
                <a:solidFill>
                  <a:srgbClr val="161616"/>
                </a:solidFill>
                <a:latin typeface="Marianne"/>
              </a:rPr>
              <a:t>• </a:t>
            </a:r>
            <a:r>
              <a:rPr lang="fr-FR" sz="1400" b="0">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SFR-highlight"/>
          <p:cNvSpPr txBox="1"/>
          <p:nvPr/>
        </p:nvSpPr>
        <p:spPr>
          <a:xfrm>
            <a:off x="749808" y="5657849"/>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8" name="DSFR-accent-decoratif"/>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FALC et langage clair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Règles européennes d'accessibilité cognitive</a:t>
            </a:r>
          </a:p>
          <a:p>
            <a:pPr algn="l">
              <a:lnSpc>
                <a:spcPct val="120000"/>
              </a:lnSpc>
            </a:pPr>
            <a:r>
              <a:rPr lang="fr-FR" sz="1400">
                <a:solidFill>
                  <a:srgbClr val="161616"/>
                </a:solidFill>
                <a:latin typeface="Marianne"/>
              </a:rPr>
              <a:t>• </a:t>
            </a:r>
            <a:r>
              <a:rPr lang="fr-FR" sz="1400" b="0">
                <a:solidFill>
                  <a:srgbClr val="161616"/>
                </a:solidFill>
                <a:latin typeface="Marianne"/>
              </a:rPr>
              <a:t>Phrases courtes, mots simples, une idée par phrase</a:t>
            </a:r>
          </a:p>
          <a:p>
            <a:pPr algn="l">
              <a:lnSpc>
                <a:spcPct val="120000"/>
              </a:lnSpc>
            </a:pPr>
            <a:r>
              <a:rPr lang="fr-FR" sz="1400">
                <a:solidFill>
                  <a:srgbClr val="161616"/>
                </a:solidFill>
                <a:latin typeface="Marianne"/>
              </a:rPr>
              <a:t>• </a:t>
            </a:r>
            <a:r>
              <a:rPr lang="fr-FR" sz="1400" b="0">
                <a:solidFill>
                  <a:srgbClr val="161616"/>
                </a:solidFill>
                <a:latin typeface="Marianne"/>
              </a:rPr>
              <a:t>Images explicatives, mise en page aérée</a:t>
            </a:r>
          </a:p>
          <a:p>
            <a:pPr algn="l">
              <a:lnSpc>
                <a:spcPct val="120000"/>
              </a:lnSpc>
            </a:pPr>
            <a:r>
              <a:rPr lang="fr-FR" sz="1400">
                <a:solidFill>
                  <a:srgbClr val="161616"/>
                </a:solidFill>
                <a:latin typeface="Marianne"/>
              </a:rPr>
              <a:t>• </a:t>
            </a:r>
            <a:r>
              <a:rPr lang="fr-FR" sz="1400" b="0">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Structurer : titres, listes, paragraphes courts</a:t>
            </a:r>
          </a:p>
          <a:p>
            <a:pPr algn="l">
              <a:lnSpc>
                <a:spcPct val="120000"/>
              </a:lnSpc>
            </a:pPr>
            <a:r>
              <a:rPr lang="fr-FR" sz="1400">
                <a:solidFill>
                  <a:srgbClr val="161616"/>
                </a:solidFill>
                <a:latin typeface="Marianne"/>
              </a:rPr>
              <a:t>• </a:t>
            </a:r>
            <a:r>
              <a:rPr lang="fr-FR" sz="1400" b="0">
                <a:solidFill>
                  <a:srgbClr val="161616"/>
                </a:solidFill>
                <a:latin typeface="Marianne"/>
              </a:rPr>
              <a:t>Expliquer : sigles, jargon, termes techniques</a:t>
            </a:r>
          </a:p>
          <a:p>
            <a:pPr algn="l">
              <a:lnSpc>
                <a:spcPct val="120000"/>
              </a:lnSpc>
            </a:pPr>
            <a:r>
              <a:rPr lang="fr-FR" sz="1400">
                <a:solidFill>
                  <a:srgbClr val="161616"/>
                </a:solidFill>
                <a:latin typeface="Marianne"/>
              </a:rPr>
              <a:t>• </a:t>
            </a:r>
            <a:r>
              <a:rPr lang="fr-FR" sz="1400" b="0">
                <a:solidFill>
                  <a:srgbClr val="161616"/>
                </a:solidFill>
                <a:latin typeface="Marianne"/>
              </a:rPr>
              <a:t>Guider : verbes d'action, consignes explicites</a:t>
            </a:r>
          </a:p>
          <a:p>
            <a:pPr algn="l">
              <a:lnSpc>
                <a:spcPct val="120000"/>
              </a:lnSpc>
            </a:pPr>
            <a:r>
              <a:rPr lang="fr-FR" sz="1400">
                <a:solidFill>
                  <a:srgbClr val="161616"/>
                </a:solidFill>
                <a:latin typeface="Marianne"/>
              </a:rPr>
              <a:t>• </a:t>
            </a:r>
            <a:r>
              <a:rPr lang="fr-FR" sz="1400" b="0">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3"/>
          <a:stretch>
            <a:fillRect/>
          </a:stretch>
        </p:blipFill>
        <p:spPr>
          <a:xfrm>
            <a:off x="5541264" y="5706770"/>
            <a:ext cx="1097280" cy="996075"/>
          </a:xfrm>
          <a:prstGeom prst="rect">
            <a:avLst/>
          </a:prstGeom>
        </p:spPr>
      </p:pic>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Comment s'y mettre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4 étapes pour avancer</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Être sensibilisé - c'est ce qu'on fait aujourd'hui</a:t>
            </a:r>
          </a:p>
          <a:p>
            <a:pPr algn="l">
              <a:lnSpc>
                <a:spcPct val="120000"/>
              </a:lnSpc>
            </a:pPr>
            <a:r>
              <a:rPr lang="fr-FR" sz="1400">
                <a:solidFill>
                  <a:srgbClr val="161616"/>
                </a:solidFill>
                <a:latin typeface="Marianne"/>
              </a:rPr>
              <a:t>• </a:t>
            </a:r>
            <a:r>
              <a:rPr lang="fr-FR" sz="1400" b="0">
                <a:solidFill>
                  <a:srgbClr val="161616"/>
                </a:solidFill>
                <a:latin typeface="Marianne"/>
              </a:rPr>
              <a:t>Être à l'écoute des besoins spécifiques</a:t>
            </a:r>
          </a:p>
          <a:p>
            <a:pPr algn="l">
              <a:lnSpc>
                <a:spcPct val="120000"/>
              </a:lnSpc>
            </a:pPr>
            <a:r>
              <a:rPr lang="fr-FR" sz="1400">
                <a:solidFill>
                  <a:srgbClr val="161616"/>
                </a:solidFill>
                <a:latin typeface="Marianne"/>
              </a:rPr>
              <a:t>• </a:t>
            </a:r>
            <a:r>
              <a:rPr lang="fr-FR" sz="1400" b="0">
                <a:solidFill>
                  <a:srgbClr val="161616"/>
                </a:solidFill>
                <a:latin typeface="Marianne"/>
              </a:rPr>
              <a:t>Connaître les matériels et logiciels adaptés</a:t>
            </a:r>
          </a:p>
          <a:p>
            <a:pPr algn="l">
              <a:lnSpc>
                <a:spcPct val="120000"/>
              </a:lnSpc>
            </a:pPr>
            <a:r>
              <a:rPr lang="fr-FR" sz="1400">
                <a:solidFill>
                  <a:srgbClr val="161616"/>
                </a:solidFill>
                <a:latin typeface="Marianne"/>
              </a:rPr>
              <a:t>• </a:t>
            </a:r>
            <a:r>
              <a:rPr lang="fr-FR" sz="1400" b="0">
                <a:solidFill>
                  <a:srgbClr val="161616"/>
                </a:solidFill>
                <a:latin typeface="Marianne"/>
              </a:rPr>
              <a:t>Se former pour découvrir un nouvel univers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success-titre"/>
          <p:cNvSpPr txBox="1"/>
          <p:nvPr/>
        </p:nvSpPr>
        <p:spPr>
          <a:xfrm>
            <a:off x="6469379"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Offre de formation</a:t>
            </a:r>
          </a:p>
        </p:txBody>
      </p:sp>
      <p:sp>
        <p:nvSpPr>
          <p:cNvPr id="18" name="DSFR-alert-success-body"/>
          <p:cNvSpPr txBox="1"/>
          <p:nvPr/>
        </p:nvSpPr>
        <p:spPr>
          <a:xfrm>
            <a:off x="6469379" y="3497579"/>
            <a:ext cx="5143500" cy="1750161"/>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Mentor (en ligne) : l'accessibilité numérique selon votre métier</a:t>
            </a:r>
          </a:p>
          <a:p>
            <a:pPr algn="l">
              <a:lnSpc>
                <a:spcPct val="120000"/>
              </a:lnSpc>
            </a:pPr>
            <a:r>
              <a:rPr lang="fr-FR" sz="1400">
                <a:solidFill>
                  <a:srgbClr val="161616"/>
                </a:solidFill>
                <a:latin typeface="Marianne"/>
              </a:rPr>
              <a:t>• </a:t>
            </a:r>
            <a:r>
              <a:rPr lang="fr-FR" sz="1400" b="0">
                <a:solidFill>
                  <a:srgbClr val="161616"/>
                </a:solidFill>
                <a:latin typeface="Marianne"/>
              </a:rPr>
              <a:t>IGPDE : l'accessibilité numérique pour la bureautique et le web (réf. 102846)</a:t>
            </a:r>
          </a:p>
          <a:p>
            <a:pPr algn="l">
              <a:lnSpc>
                <a:spcPct val="120000"/>
              </a:lnSpc>
            </a:pPr>
            <a:r>
              <a:rPr lang="fr-FR" sz="1400">
                <a:solidFill>
                  <a:srgbClr val="161616"/>
                </a:solidFill>
                <a:latin typeface="Marianne"/>
              </a:rPr>
              <a:t>• </a:t>
            </a:r>
            <a:r>
              <a:rPr lang="fr-FR" sz="1400" b="0">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L'accessibilité dès la conception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3"/>
          <a:stretch>
            <a:fillRect/>
          </a:stretch>
        </p:blipFill>
        <p:spPr>
          <a:xfrm>
            <a:off x="475488" y="2994660"/>
            <a:ext cx="5486400" cy="2560320"/>
          </a:xfrm>
          <a:prstGeom prst="rect">
            <a:avLst/>
          </a:prstGeom>
        </p:spPr>
      </p:pic>
      <p:sp>
        <p:nvSpPr>
          <p:cNvPr id="13" name="DSFR-box"/>
          <p:cNvSpPr/>
          <p:nvPr/>
        </p:nvSpPr>
        <p:spPr>
          <a:xfrm>
            <a:off x="6355080" y="2994660"/>
            <a:ext cx="53492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6510528" y="3086100"/>
            <a:ext cx="510235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Concevoir accessible, pas adapter après</a:t>
            </a:r>
          </a:p>
        </p:txBody>
      </p:sp>
      <p:sp>
        <p:nvSpPr>
          <p:cNvPr id="15" name="DSFR-callout-body"/>
          <p:cNvSpPr txBox="1"/>
          <p:nvPr/>
        </p:nvSpPr>
        <p:spPr>
          <a:xfrm>
            <a:off x="6510528" y="3497579"/>
            <a:ext cx="5102352" cy="1634947"/>
          </a:xfrm>
          <a:prstGeom prst="rect">
            <a:avLst/>
          </a:prstGeom>
          <a:noFill/>
        </p:spPr>
        <p:txBody>
          <a:bodyPr wrap="square" lIns="73152" rIns="73152">
            <a:spAutoFit/>
          </a:bodyPr>
          <a:lstStyle/>
          <a:p>
            <a:pPr algn="l">
              <a:lnSpc>
                <a:spcPct val="130000"/>
              </a:lnSpc>
            </a:pPr>
            <a:r>
              <a:rPr lang="fr-FR" sz="1400">
                <a:solidFill>
                  <a:srgbClr val="161616"/>
                </a:solidFill>
                <a:latin typeface="Marianne"/>
              </a:rPr>
              <a:t>• </a:t>
            </a:r>
            <a:r>
              <a:rPr lang="fr-FR" sz="1400" b="0">
                <a:solidFill>
                  <a:srgbClr val="161616"/>
                </a:solidFill>
                <a:latin typeface="Marianne"/>
              </a:rPr>
              <a:t>Intégrer l'accessibilité dès le début, pas en rattrapage</a:t>
            </a:r>
          </a:p>
          <a:p>
            <a:pPr algn="l">
              <a:lnSpc>
                <a:spcPct val="130000"/>
              </a:lnSpc>
            </a:pPr>
            <a:r>
              <a:rPr lang="fr-FR" sz="1400">
                <a:solidFill>
                  <a:srgbClr val="161616"/>
                </a:solidFill>
                <a:latin typeface="Marianne"/>
              </a:rPr>
              <a:t>• </a:t>
            </a:r>
            <a:r>
              <a:rPr lang="fr-FR" sz="1400" b="0">
                <a:solidFill>
                  <a:srgbClr val="161616"/>
                </a:solidFill>
                <a:latin typeface="Marianne"/>
              </a:rPr>
              <a:t>Un document bien structuré profite à tous les lecteurs</a:t>
            </a:r>
          </a:p>
          <a:p>
            <a:pPr algn="l">
              <a:lnSpc>
                <a:spcPct val="130000"/>
              </a:lnSpc>
            </a:pPr>
            <a:r>
              <a:rPr lang="fr-FR" sz="1400">
                <a:solidFill>
                  <a:srgbClr val="161616"/>
                </a:solidFill>
                <a:latin typeface="Marianne"/>
              </a:rPr>
              <a:t>• </a:t>
            </a:r>
            <a:r>
              <a:rPr lang="fr-FR" sz="1400" b="0">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4"/>
          <a:stretch>
            <a:fillRect/>
          </a:stretch>
        </p:blipFill>
        <p:spPr>
          <a:xfrm>
            <a:off x="4489704" y="5692140"/>
            <a:ext cx="3200400" cy="1229736"/>
          </a:xfrm>
          <a:prstGeom prst="rect">
            <a:avLst/>
          </a:prstGeom>
        </p:spPr>
      </p:pic>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819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Module 1 - ce que vous retenez</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41</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info-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L'accessibilité relève de l'</a:t>
            </a:r>
            <a:r>
              <a:rPr lang="fr-FR" sz="1400" b="1">
                <a:solidFill>
                  <a:srgbClr val="161616"/>
                </a:solidFill>
                <a:latin typeface="Marianne"/>
              </a:rPr>
              <a:t>équité</a:t>
            </a:r>
            <a:r>
              <a:rPr lang="fr-FR" sz="1400" b="0">
                <a:solidFill>
                  <a:srgbClr val="161616"/>
                </a:solidFill>
                <a:latin typeface="Marianne"/>
              </a:rPr>
              <a:t> et du droit, pas de la bonne volonté</a:t>
            </a:r>
          </a:p>
          <a:p>
            <a:pPr algn="l">
              <a:lnSpc>
                <a:spcPct val="150000"/>
              </a:lnSpc>
            </a:pPr>
            <a:r>
              <a:rPr lang="fr-FR" sz="1400">
                <a:solidFill>
                  <a:srgbClr val="161616"/>
                </a:solidFill>
                <a:latin typeface="Marianne"/>
              </a:rPr>
              <a:t>• </a:t>
            </a:r>
            <a:r>
              <a:rPr lang="fr-FR" sz="1400" b="0">
                <a:solidFill>
                  <a:srgbClr val="161616"/>
                </a:solidFill>
                <a:latin typeface="Marianne"/>
              </a:rPr>
              <a:t>Les WCAG et le RGAA donnent un cadre pour vérifier ce qui est conforme</a:t>
            </a:r>
          </a:p>
          <a:p>
            <a:pPr algn="l">
              <a:lnSpc>
                <a:spcPct val="150000"/>
              </a:lnSpc>
            </a:pPr>
            <a:r>
              <a:rPr lang="fr-FR" sz="1400">
                <a:solidFill>
                  <a:srgbClr val="161616"/>
                </a:solidFill>
                <a:latin typeface="Marianne"/>
              </a:rPr>
              <a:t>• </a:t>
            </a:r>
            <a:r>
              <a:rPr lang="fr-FR" sz="1400" b="0">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encadre-titre"/>
          <p:cNvSpPr txBox="1"/>
          <p:nvPr/>
        </p:nvSpPr>
        <p:spPr>
          <a:xfrm>
            <a:off x="704088" y="411480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Relire une communication récente</a:t>
            </a:r>
          </a:p>
          <a:p>
            <a:pPr algn="l">
              <a:lnSpc>
                <a:spcPct val="150000"/>
              </a:lnSpc>
            </a:pPr>
            <a:r>
              <a:rPr lang="fr-FR" sz="1400">
                <a:solidFill>
                  <a:srgbClr val="161616"/>
                </a:solidFill>
                <a:latin typeface="Marianne"/>
              </a:rPr>
              <a:t>• </a:t>
            </a:r>
            <a:r>
              <a:rPr lang="fr-FR" sz="1400" b="0">
                <a:solidFill>
                  <a:srgbClr val="161616"/>
                </a:solidFill>
                <a:latin typeface="Marianne"/>
              </a:rPr>
              <a:t>Vérifier texte et contraste</a:t>
            </a:r>
          </a:p>
          <a:p>
            <a:pPr algn="l">
              <a:lnSpc>
                <a:spcPct val="150000"/>
              </a:lnSpc>
            </a:pPr>
            <a:r>
              <a:rPr lang="fr-FR" sz="1400">
                <a:solidFill>
                  <a:srgbClr val="161616"/>
                </a:solidFill>
                <a:latin typeface="Marianne"/>
              </a:rPr>
              <a:t>• </a:t>
            </a:r>
            <a:r>
              <a:rPr lang="fr-FR" sz="1400" b="0">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encadre-titre"/>
          <p:cNvSpPr txBox="1"/>
          <p:nvPr/>
        </p:nvSpPr>
        <p:spPr>
          <a:xfrm>
            <a:off x="6469379" y="411480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Partager les constats avec l'équipe</a:t>
            </a:r>
          </a:p>
          <a:p>
            <a:pPr algn="l">
              <a:lnSpc>
                <a:spcPct val="150000"/>
              </a:lnSpc>
            </a:pPr>
            <a:r>
              <a:rPr lang="fr-FR" sz="1400">
                <a:solidFill>
                  <a:srgbClr val="161616"/>
                </a:solidFill>
                <a:latin typeface="Marianne"/>
              </a:rPr>
              <a:t>• </a:t>
            </a:r>
            <a:r>
              <a:rPr lang="fr-FR" sz="1400" b="0">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42</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2. Documents bureautiques accessibles</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Documents bureautiques accessibles</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lecteur d'écran en action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43</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quote-texte"/>
          <p:cNvSpPr txBox="1"/>
          <p:nvPr/>
        </p:nvSpPr>
        <p:spPr>
          <a:xfrm>
            <a:off x="749808" y="2240279"/>
            <a:ext cx="10863072" cy="2286000"/>
          </a:xfrm>
          <a:prstGeom prst="rect">
            <a:avLst/>
          </a:prstGeom>
          <a:noFill/>
        </p:spPr>
        <p:txBody>
          <a:bodyPr wrap="square" lIns="73152" rIns="73152" anchor="t">
            <a:spAutoFit/>
          </a:bodyPr>
          <a:lstStyle/>
          <a:p>
            <a:pPr algn="l">
              <a:lnSpc>
                <a:spcPct val="125000"/>
              </a:lnSpc>
            </a:pPr>
            <a:r>
              <a:rPr lang="fr-FR" sz="1600" b="0" i="1">
                <a:solidFill>
                  <a:srgbClr val="161616"/>
                </a:solidFill>
                <a:latin typeface="Marianne"/>
              </a:rPr>
              <a:t>Texte, texte, texte, texte, texte, texte ...</a:t>
            </a:r>
          </a:p>
          <a:p>
            <a:pPr algn="l">
              <a:lnSpc>
                <a:spcPct val="125000"/>
              </a:lnSpc>
            </a:pPr>
            <a:endParaRPr lang="fr-FR" sz="1600" b="0" i="1">
              <a:solidFill>
                <a:srgbClr val="161616"/>
              </a:solidFill>
              <a:latin typeface="Marianne"/>
            </a:endParaRPr>
          </a:p>
          <a:p>
            <a:pPr algn="l">
              <a:lnSpc>
                <a:spcPct val="125000"/>
              </a:lnSpc>
            </a:pPr>
            <a:r>
              <a:rPr lang="fr-FR" sz="1600" i="1">
                <a:solidFill>
                  <a:srgbClr val="161616"/>
                </a:solidFill>
                <a:latin typeface="Marianne"/>
              </a:rPr>
              <a:t>Pendant 4 minutes. Sans titre. Sans repère.</a:t>
            </a:r>
          </a:p>
          <a:p>
            <a:pPr algn="l">
              <a:lnSpc>
                <a:spcPct val="125000"/>
              </a:lnSpc>
            </a:pPr>
            <a:r>
              <a:rPr lang="fr-FR" sz="1600" i="1">
                <a:solidFill>
                  <a:srgbClr val="161616"/>
                </a:solidFill>
                <a:latin typeface="Marianne"/>
              </a:rPr>
              <a:t>Sans pouvoir naviguer vers la section qui le concerne.</a:t>
            </a:r>
          </a:p>
          <a:p>
            <a:pPr algn="l">
              <a:lnSpc>
                <a:spcPct val="125000"/>
              </a:lnSpc>
            </a:pPr>
            <a:endParaRPr lang="fr-FR" sz="1600" i="1">
              <a:solidFill>
                <a:srgbClr val="161616"/>
              </a:solidFill>
              <a:latin typeface="Marianne"/>
            </a:endParaRPr>
          </a:p>
          <a:p>
            <a:pPr algn="l">
              <a:lnSpc>
                <a:spcPct val="125000"/>
              </a:lnSpc>
            </a:pPr>
            <a:r>
              <a:rPr lang="fr-FR" sz="1600" i="1">
                <a:solidFill>
                  <a:srgbClr val="161616"/>
                </a:solidFill>
                <a:latin typeface="Marianne"/>
              </a:rPr>
              <a:t>-&gt; C'est ce qu'entend une personne malvoyante face à votre document Word.</a:t>
            </a:r>
          </a:p>
        </p:txBody>
      </p:sp>
      <p:sp>
        <p:nvSpPr>
          <p:cNvPr id="12" name="DSFR-box"/>
          <p:cNvSpPr/>
          <p:nvPr/>
        </p:nvSpPr>
        <p:spPr>
          <a:xfrm>
            <a:off x="548640" y="482437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lert-warning-titre"/>
          <p:cNvSpPr txBox="1"/>
          <p:nvPr/>
        </p:nvSpPr>
        <p:spPr>
          <a:xfrm>
            <a:off x="704088" y="491581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15 % de vos destinataires sont concernés</a:t>
            </a:r>
          </a:p>
        </p:txBody>
      </p:sp>
      <p:sp>
        <p:nvSpPr>
          <p:cNvPr id="14" name="DSFR-alert-warning-body"/>
          <p:cNvSpPr txBox="1"/>
          <p:nvPr/>
        </p:nvSpPr>
        <p:spPr>
          <a:xfrm>
            <a:off x="704088" y="5327294"/>
            <a:ext cx="10908792" cy="799642"/>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80 % de ces handicaps sont invisibles</a:t>
            </a:r>
          </a:p>
          <a:p>
            <a:pPr algn="l">
              <a:lnSpc>
                <a:spcPct val="115000"/>
              </a:lnSpc>
            </a:pPr>
            <a:r>
              <a:rPr lang="fr-FR" sz="1400">
                <a:solidFill>
                  <a:srgbClr val="161616"/>
                </a:solidFill>
                <a:latin typeface="Marianne"/>
              </a:rPr>
              <a:t>• </a:t>
            </a:r>
            <a:r>
              <a:rPr lang="fr-FR" sz="1400" b="0">
                <a:solidFill>
                  <a:srgbClr val="161616"/>
                </a:solidFill>
                <a:latin typeface="Marianne"/>
              </a:rPr>
              <a:t>Dans une réunion de 12 personnes : au moins 1 daltonien</a:t>
            </a:r>
          </a:p>
          <a:p>
            <a:pPr algn="l">
              <a:lnSpc>
                <a:spcPct val="115000"/>
              </a:lnSpc>
            </a:pPr>
            <a:r>
              <a:rPr lang="fr-FR" sz="1400">
                <a:solidFill>
                  <a:srgbClr val="161616"/>
                </a:solidFill>
                <a:latin typeface="Marianne"/>
              </a:rPr>
              <a:t>• </a:t>
            </a:r>
            <a:r>
              <a:rPr lang="fr-FR" sz="1400" b="0">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Contexte</a:t>
            </a:r>
          </a:p>
        </p:txBody>
      </p:sp>
      <p:sp>
        <p:nvSpPr>
          <p:cNvPr id="8" name="DSFR-accent-decoratif"/>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482437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Quiz - lequel de ces deux documents est accessible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rd-titre"/>
          <p:cNvSpPr txBox="1"/>
          <p:nvPr/>
        </p:nvSpPr>
        <p:spPr>
          <a:xfrm>
            <a:off x="704088" y="345186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Titres mis en gras, police Arial 16</a:t>
            </a:r>
          </a:p>
          <a:p>
            <a:pPr algn="l">
              <a:lnSpc>
                <a:spcPct val="150000"/>
              </a:lnSpc>
            </a:pPr>
            <a:r>
              <a:rPr lang="fr-FR" sz="1400">
                <a:solidFill>
                  <a:srgbClr val="161616"/>
                </a:solidFill>
                <a:latin typeface="Marianne"/>
              </a:rPr>
              <a:t>• </a:t>
            </a:r>
            <a:r>
              <a:rPr lang="fr-FR" sz="1400" b="0">
                <a:solidFill>
                  <a:srgbClr val="161616"/>
                </a:solidFill>
                <a:latin typeface="Marianne"/>
              </a:rPr>
              <a:t>Image sans description</a:t>
            </a:r>
          </a:p>
          <a:p>
            <a:pPr algn="l">
              <a:lnSpc>
                <a:spcPct val="150000"/>
              </a:lnSpc>
            </a:pPr>
            <a:r>
              <a:rPr lang="fr-FR" sz="1400">
                <a:solidFill>
                  <a:srgbClr val="161616"/>
                </a:solidFill>
                <a:latin typeface="Marianne"/>
              </a:rPr>
              <a:t>• </a:t>
            </a:r>
            <a:r>
              <a:rPr lang="fr-FR" sz="1400" b="0">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rd-titre"/>
          <p:cNvSpPr txBox="1"/>
          <p:nvPr/>
        </p:nvSpPr>
        <p:spPr>
          <a:xfrm>
            <a:off x="6469379" y="345186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Titres avec le style « Titre 1 »</a:t>
            </a:r>
          </a:p>
          <a:p>
            <a:pPr algn="l">
              <a:lnSpc>
                <a:spcPct val="150000"/>
              </a:lnSpc>
            </a:pPr>
            <a:r>
              <a:rPr lang="fr-FR" sz="1400">
                <a:solidFill>
                  <a:srgbClr val="161616"/>
                </a:solidFill>
                <a:latin typeface="Marianne"/>
              </a:rPr>
              <a:t>• </a:t>
            </a:r>
            <a:r>
              <a:rPr lang="fr-FR" sz="1400" b="0">
                <a:solidFill>
                  <a:srgbClr val="161616"/>
                </a:solidFill>
                <a:latin typeface="Marianne"/>
              </a:rPr>
              <a:t>Image avec texte alternatif</a:t>
            </a:r>
          </a:p>
          <a:p>
            <a:pPr algn="l">
              <a:lnSpc>
                <a:spcPct val="150000"/>
              </a:lnSpc>
            </a:pPr>
            <a:r>
              <a:rPr lang="fr-FR" sz="1400">
                <a:solidFill>
                  <a:srgbClr val="161616"/>
                </a:solidFill>
                <a:latin typeface="Marianne"/>
              </a:rPr>
              <a:t>• </a:t>
            </a:r>
            <a:r>
              <a:rPr lang="fr-FR" sz="1400" b="0">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highlight"/>
          <p:cNvSpPr txBox="1"/>
          <p:nvPr/>
        </p:nvSpPr>
        <p:spPr>
          <a:xfrm>
            <a:off x="749808" y="563499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Quiz</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Pourquoi ça vous concerne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45</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llout-titre"/>
          <p:cNvSpPr txBox="1"/>
          <p:nvPr/>
        </p:nvSpPr>
        <p:spPr>
          <a:xfrm>
            <a:off x="704088" y="38862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Le style Titre 1 crée une structure de navigation</a:t>
            </a:r>
          </a:p>
          <a:p>
            <a:pPr algn="l">
              <a:lnSpc>
                <a:spcPct val="125000"/>
              </a:lnSpc>
            </a:pPr>
            <a:r>
              <a:rPr lang="fr-FR" sz="1400">
                <a:solidFill>
                  <a:srgbClr val="161616"/>
                </a:solidFill>
                <a:latin typeface="Marianne"/>
              </a:rPr>
              <a:t>• </a:t>
            </a:r>
            <a:r>
              <a:rPr lang="fr-FR" sz="1400" b="0">
                <a:solidFill>
                  <a:srgbClr val="161616"/>
                </a:solidFill>
                <a:latin typeface="Marianne"/>
              </a:rPr>
              <a:t>Le texte de remplacement décrit la fonction de l'image</a:t>
            </a:r>
          </a:p>
          <a:p>
            <a:pPr algn="l">
              <a:lnSpc>
                <a:spcPct val="125000"/>
              </a:lnSpc>
            </a:pPr>
            <a:r>
              <a:rPr lang="fr-FR" sz="1400">
                <a:solidFill>
                  <a:srgbClr val="161616"/>
                </a:solidFill>
                <a:latin typeface="Marianne"/>
              </a:rPr>
              <a:t>• </a:t>
            </a:r>
            <a:r>
              <a:rPr lang="fr-FR" sz="1400" b="0">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Pourquoi</a:t>
            </a:r>
          </a:p>
        </p:txBody>
      </p:sp>
      <p:sp>
        <p:nvSpPr>
          <p:cNvPr id="14" name="DSFR-accent-decoratif"/>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5 thèmes, 21 critères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8028431">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Thème</a:t>
                      </a:r>
                    </a:p>
                  </a:txBody>
                  <a:tcPr>
                    <a:solidFill>
                      <a:srgbClr val="000091"/>
                    </a:solidFill>
                  </a:tcPr>
                </a:tc>
                <a:tc>
                  <a:txBody>
                    <a:bodyPr/>
                    <a:lstStyle/>
                    <a:p>
                      <a:pPr algn="l">
                        <a:lnSpc>
                          <a:spcPct val="125000"/>
                        </a:lnSpc>
                      </a:pPr>
                      <a:r>
                        <a:rPr lang="fr-FR" sz="1400" b="1" i="0">
                          <a:solidFill>
                            <a:srgbClr val="FFFFFF"/>
                          </a:solidFill>
                          <a:latin typeface="Marianne"/>
                        </a:rPr>
                        <a:t>Ce que vous allez apprendre</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1. Structure</a:t>
                      </a:r>
                    </a:p>
                  </a:txBody>
                  <a:tcPr>
                    <a:solidFill>
                      <a:srgbClr val="FFFFFF"/>
                    </a:solidFill>
                  </a:tcPr>
                </a:tc>
                <a:tc>
                  <a:txBody>
                    <a:bodyPr/>
                    <a:lstStyle/>
                    <a:p>
                      <a:pPr algn="l">
                        <a:lnSpc>
                          <a:spcPct val="125000"/>
                        </a:lnSpc>
                      </a:pPr>
                      <a:r>
                        <a:rPr lang="fr-FR" sz="1400" b="0" i="0">
                          <a:solidFill>
                            <a:srgbClr val="161616"/>
                          </a:solidFill>
                          <a:latin typeface="Marianne"/>
                        </a:rPr>
                        <a:t>Titres, listes, colonnes, tableaux, sauts de page</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2. Couleurs</a:t>
                      </a:r>
                    </a:p>
                  </a:txBody>
                  <a:tcPr>
                    <a:solidFill>
                      <a:srgbClr val="F5F5FE"/>
                    </a:solidFill>
                  </a:tcPr>
                </a:tc>
                <a:tc>
                  <a:txBody>
                    <a:bodyPr/>
                    <a:lstStyle/>
                    <a:p>
                      <a:pPr algn="l">
                        <a:lnSpc>
                          <a:spcPct val="125000"/>
                        </a:lnSpc>
                      </a:pPr>
                      <a:r>
                        <a:rPr lang="fr-FR" sz="1400" b="0" i="0">
                          <a:solidFill>
                            <a:srgbClr val="161616"/>
                          </a:solidFill>
                          <a:latin typeface="Marianne"/>
                        </a:rPr>
                        <a:t>Rapport de contraste, couleur porteuse de sens</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3. Contenu alternatif</a:t>
                      </a:r>
                    </a:p>
                  </a:txBody>
                  <a:tcPr>
                    <a:solidFill>
                      <a:srgbClr val="FFFFFF"/>
                    </a:solidFill>
                  </a:tcPr>
                </a:tc>
                <a:tc>
                  <a:txBody>
                    <a:bodyPr/>
                    <a:lstStyle/>
                    <a:p>
                      <a:pPr algn="l">
                        <a:lnSpc>
                          <a:spcPct val="125000"/>
                        </a:lnSpc>
                      </a:pPr>
                      <a:r>
                        <a:rPr lang="fr-FR" sz="1400" b="0" i="0">
                          <a:solidFill>
                            <a:srgbClr val="161616"/>
                          </a:solidFill>
                          <a:latin typeface="Marianne"/>
                        </a:rPr>
                        <a:t>Texte alternatif, objets alignés, liens descriptifs</a:t>
                      </a:r>
                    </a:p>
                  </a:txBody>
                  <a:tcPr>
                    <a:solidFill>
                      <a:srgbClr val="FFFFFF"/>
                    </a:solidFill>
                  </a:tcPr>
                </a:tc>
                <a:extLst>
                  <a:ext uri="{0D108BD9-81ED-4DB2-BD59-A6C34878D82A}">
                    <a16:rowId xmlns:a16="http://schemas.microsoft.com/office/drawing/2014/main" val="10003"/>
                  </a:ext>
                </a:extLst>
              </a:tr>
              <a:tr h="411480">
                <a:tc>
                  <a:txBody>
                    <a:bodyPr/>
                    <a:lstStyle/>
                    <a:p>
                      <a:pPr algn="l">
                        <a:lnSpc>
                          <a:spcPct val="125000"/>
                        </a:lnSpc>
                      </a:pPr>
                      <a:r>
                        <a:rPr lang="fr-FR" sz="1400" b="0" i="0">
                          <a:solidFill>
                            <a:srgbClr val="161616"/>
                          </a:solidFill>
                          <a:latin typeface="Marianne"/>
                        </a:rPr>
                        <a:t>4. Langue et lisibilité</a:t>
                      </a:r>
                    </a:p>
                  </a:txBody>
                  <a:tcPr>
                    <a:solidFill>
                      <a:srgbClr val="F5F5FE"/>
                    </a:solidFill>
                  </a:tcPr>
                </a:tc>
                <a:tc>
                  <a:txBody>
                    <a:bodyPr/>
                    <a:lstStyle/>
                    <a:p>
                      <a:pPr algn="l">
                        <a:lnSpc>
                          <a:spcPct val="125000"/>
                        </a:lnSpc>
                      </a:pPr>
                      <a:r>
                        <a:rPr lang="fr-FR" sz="1400" b="0" i="0">
                          <a:solidFill>
                            <a:srgbClr val="161616"/>
                          </a:solidFill>
                          <a:latin typeface="Marianne"/>
                        </a:rPr>
                        <a:t>Balisage linguistique, majuscules, espaces répétés</a:t>
                      </a:r>
                    </a:p>
                  </a:txBody>
                  <a:tcPr>
                    <a:solidFill>
                      <a:srgbClr val="F5F5FE"/>
                    </a:solidFill>
                  </a:tcPr>
                </a:tc>
                <a:extLst>
                  <a:ext uri="{0D108BD9-81ED-4DB2-BD59-A6C34878D82A}">
                    <a16:rowId xmlns:a16="http://schemas.microsoft.com/office/drawing/2014/main" val="10004"/>
                  </a:ext>
                </a:extLst>
              </a:tr>
              <a:tr h="411480">
                <a:tc>
                  <a:txBody>
                    <a:bodyPr/>
                    <a:lstStyle/>
                    <a:p>
                      <a:pPr algn="l">
                        <a:lnSpc>
                          <a:spcPct val="125000"/>
                        </a:lnSpc>
                      </a:pPr>
                      <a:r>
                        <a:rPr lang="fr-FR" sz="1400" b="0" i="0">
                          <a:solidFill>
                            <a:srgbClr val="161616"/>
                          </a:solidFill>
                          <a:latin typeface="Marianne"/>
                        </a:rPr>
                        <a:t>5. Finalisation</a:t>
                      </a:r>
                    </a:p>
                  </a:txBody>
                  <a:tcPr>
                    <a:solidFill>
                      <a:srgbClr val="FFFFFF"/>
                    </a:solidFill>
                  </a:tcPr>
                </a:tc>
                <a:tc>
                  <a:txBody>
                    <a:bodyPr/>
                    <a:lstStyle/>
                    <a:p>
                      <a:pPr algn="l">
                        <a:lnSpc>
                          <a:spcPct val="125000"/>
                        </a:lnSpc>
                      </a:pPr>
                      <a:r>
                        <a:rPr lang="fr-FR" sz="1400" b="0" i="0">
                          <a:solidFill>
                            <a:srgbClr val="161616"/>
                          </a:solidFill>
                          <a:latin typeface="Marianne"/>
                        </a:rPr>
                        <a:t>Vérificateur d'accessibilité, propriétés du document, export PDF</a:t>
                      </a:r>
                    </a:p>
                  </a:txBody>
                  <a:tcPr>
                    <a:solidFill>
                      <a:srgbClr val="FFFFFF"/>
                    </a:solidFill>
                  </a:tcPr>
                </a:tc>
                <a:extLst>
                  <a:ext uri="{0D108BD9-81ED-4DB2-BD59-A6C34878D82A}">
                    <a16:rowId xmlns:a16="http://schemas.microsoft.com/office/drawing/2014/main" val="10005"/>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Vue d'ensemble</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Les styles de titre : le fondement de tout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47</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rd-titre"/>
          <p:cNvSpPr txBox="1"/>
          <p:nvPr/>
        </p:nvSpPr>
        <p:spPr>
          <a:xfrm>
            <a:off x="704088" y="297180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Un bloc plat, sans repère de navigation</a:t>
            </a:r>
          </a:p>
          <a:p>
            <a:pPr algn="l">
              <a:lnSpc>
                <a:spcPct val="150000"/>
              </a:lnSpc>
            </a:pPr>
            <a:r>
              <a:rPr lang="fr-FR" sz="1400">
                <a:solidFill>
                  <a:srgbClr val="161616"/>
                </a:solidFill>
                <a:latin typeface="Marianne"/>
              </a:rPr>
              <a:t>• </a:t>
            </a:r>
            <a:r>
              <a:rPr lang="fr-FR" sz="1400" b="0">
                <a:solidFill>
                  <a:srgbClr val="161616"/>
                </a:solidFill>
                <a:latin typeface="Marianne"/>
              </a:rPr>
              <a:t>Le lecteur d'écran ne peut pas aller de titre en titre</a:t>
            </a:r>
          </a:p>
          <a:p>
            <a:pPr algn="l">
              <a:lnSpc>
                <a:spcPct val="150000"/>
              </a:lnSpc>
            </a:pPr>
            <a:r>
              <a:rPr lang="fr-FR" sz="1400">
                <a:solidFill>
                  <a:srgbClr val="161616"/>
                </a:solidFill>
                <a:latin typeface="Marianne"/>
              </a:rPr>
              <a:t>• </a:t>
            </a:r>
            <a:r>
              <a:rPr lang="fr-FR" sz="1400" b="0">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rd-titre"/>
          <p:cNvSpPr txBox="1"/>
          <p:nvPr/>
        </p:nvSpPr>
        <p:spPr>
          <a:xfrm>
            <a:off x="6469379" y="297180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Titre 1 : Rapport annuel</a:t>
            </a:r>
          </a:p>
          <a:p>
            <a:pPr algn="l">
              <a:lnSpc>
                <a:spcPct val="150000"/>
              </a:lnSpc>
            </a:pPr>
            <a:r>
              <a:rPr lang="fr-FR" sz="1400">
                <a:solidFill>
                  <a:srgbClr val="161616"/>
                </a:solidFill>
                <a:latin typeface="Marianne"/>
              </a:rPr>
              <a:t>• </a:t>
            </a:r>
            <a:r>
              <a:rPr lang="fr-FR" sz="1400" b="0">
                <a:solidFill>
                  <a:srgbClr val="161616"/>
                </a:solidFill>
                <a:latin typeface="Marianne"/>
              </a:rPr>
              <a:t>Titre 2 : Budget / Titre 3 : Prévisions</a:t>
            </a:r>
          </a:p>
          <a:p>
            <a:pPr algn="l">
              <a:lnSpc>
                <a:spcPct val="150000"/>
              </a:lnSpc>
            </a:pPr>
            <a:r>
              <a:rPr lang="fr-FR" sz="1400">
                <a:solidFill>
                  <a:srgbClr val="161616"/>
                </a:solidFill>
                <a:latin typeface="Marianne"/>
              </a:rPr>
              <a:t>• </a:t>
            </a:r>
            <a:r>
              <a:rPr lang="fr-FR" sz="1400" b="0">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704088" y="4818888"/>
            <a:ext cx="10863072"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Appliquer : Accueil &gt; Styles &gt; Titre 1, Titre 2 ou Titre 3</a:t>
            </a:r>
          </a:p>
          <a:p>
            <a:pPr algn="l">
              <a:lnSpc>
                <a:spcPct val="150000"/>
              </a:lnSpc>
            </a:pPr>
            <a:r>
              <a:rPr lang="fr-FR" sz="1400">
                <a:solidFill>
                  <a:srgbClr val="161616"/>
                </a:solidFill>
                <a:latin typeface="Marianne"/>
              </a:rPr>
              <a:t>• </a:t>
            </a:r>
            <a:r>
              <a:rPr lang="fr-FR" sz="1400" b="0">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Structure</a:t>
            </a:r>
          </a:p>
        </p:txBody>
      </p:sp>
      <p:sp>
        <p:nvSpPr>
          <p:cNvPr id="8" name="DSFR-accent-decoratif"/>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Listes natives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48</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success-titre"/>
          <p:cNvSpPr txBox="1"/>
          <p:nvPr/>
        </p:nvSpPr>
        <p:spPr>
          <a:xfrm>
            <a:off x="704088" y="23317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Le lecteur annonce : liste de 3 éléments, élément 1 sur 3</a:t>
            </a:r>
          </a:p>
          <a:p>
            <a:pPr algn="l">
              <a:lnSpc>
                <a:spcPct val="150000"/>
              </a:lnSpc>
            </a:pPr>
            <a:r>
              <a:rPr lang="fr-FR" sz="1400">
                <a:solidFill>
                  <a:srgbClr val="161616"/>
                </a:solidFill>
                <a:latin typeface="Marianne"/>
              </a:rPr>
              <a:t>• </a:t>
            </a:r>
            <a:r>
              <a:rPr lang="fr-FR" sz="1400" b="0">
                <a:solidFill>
                  <a:srgbClr val="161616"/>
                </a:solidFill>
                <a:latin typeface="Marianne"/>
              </a:rPr>
              <a:t>Navigation par élément avec les touches flèches</a:t>
            </a:r>
          </a:p>
          <a:p>
            <a:pPr algn="l">
              <a:lnSpc>
                <a:spcPct val="150000"/>
              </a:lnSpc>
            </a:pPr>
            <a:r>
              <a:rPr lang="fr-FR" sz="1400">
                <a:solidFill>
                  <a:srgbClr val="161616"/>
                </a:solidFill>
                <a:latin typeface="Marianne"/>
              </a:rPr>
              <a:t>• </a:t>
            </a:r>
            <a:r>
              <a:rPr lang="fr-FR" sz="1400" b="0">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error-titre"/>
          <p:cNvSpPr txBox="1"/>
          <p:nvPr/>
        </p:nvSpPr>
        <p:spPr>
          <a:xfrm>
            <a:off x="6469379" y="23317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Tirets manuels : le lecteur lit tiret Premier élément</a:t>
            </a:r>
          </a:p>
          <a:p>
            <a:pPr algn="l">
              <a:lnSpc>
                <a:spcPct val="150000"/>
              </a:lnSpc>
            </a:pPr>
            <a:r>
              <a:rPr lang="fr-FR" sz="1400">
                <a:solidFill>
                  <a:srgbClr val="161616"/>
                </a:solidFill>
                <a:latin typeface="Marianne"/>
              </a:rPr>
              <a:t>• </a:t>
            </a:r>
            <a:r>
              <a:rPr lang="fr-FR" sz="1400" b="0">
                <a:solidFill>
                  <a:srgbClr val="161616"/>
                </a:solidFill>
                <a:latin typeface="Marianne"/>
              </a:rPr>
              <a:t>Tabulations pour simuler une numérotation</a:t>
            </a:r>
          </a:p>
          <a:p>
            <a:pPr algn="l">
              <a:lnSpc>
                <a:spcPct val="150000"/>
              </a:lnSpc>
            </a:pPr>
            <a:r>
              <a:rPr lang="fr-FR" sz="1400">
                <a:solidFill>
                  <a:srgbClr val="161616"/>
                </a:solidFill>
                <a:latin typeface="Marianne"/>
              </a:rPr>
              <a:t>• </a:t>
            </a:r>
            <a:r>
              <a:rPr lang="fr-FR" sz="1400" b="0">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callout-titre"/>
          <p:cNvSpPr txBox="1"/>
          <p:nvPr/>
        </p:nvSpPr>
        <p:spPr>
          <a:xfrm>
            <a:off x="704088" y="50292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Structure</a:t>
            </a:r>
          </a:p>
        </p:txBody>
      </p:sp>
      <p:sp>
        <p:nvSpPr>
          <p:cNvPr id="8" name="DSFR-accent-decoratif"/>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Tableaux et objets flottants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49</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132588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Règle d'or : ne jamais utiliser Tab, Espace ou Entrée pour simuler une mise en page.</a:t>
            </a:r>
          </a:p>
          <a:p>
            <a:r>
              <a:rPr lang="fr-FR" sz="1800" b="1">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8862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Insertion &gt; Tableau &gt; colonnes et lignes</a:t>
            </a:r>
          </a:p>
          <a:p>
            <a:pPr algn="l">
              <a:lnSpc>
                <a:spcPct val="115000"/>
              </a:lnSpc>
            </a:pPr>
            <a:r>
              <a:rPr lang="fr-FR" sz="1400">
                <a:solidFill>
                  <a:srgbClr val="161616"/>
                </a:solidFill>
                <a:latin typeface="Marianne"/>
              </a:rPr>
              <a:t>• </a:t>
            </a:r>
            <a:r>
              <a:rPr lang="fr-FR" sz="1400" b="0">
                <a:solidFill>
                  <a:srgbClr val="161616"/>
                </a:solidFill>
                <a:latin typeface="Marianne"/>
              </a:rPr>
              <a:t>Habillage : Propriétés &gt; Aucun</a:t>
            </a:r>
          </a:p>
          <a:p>
            <a:pPr algn="l">
              <a:lnSpc>
                <a:spcPct val="115000"/>
              </a:lnSpc>
            </a:pPr>
            <a:r>
              <a:rPr lang="fr-FR" sz="1400">
                <a:solidFill>
                  <a:srgbClr val="161616"/>
                </a:solidFill>
                <a:latin typeface="Marianne"/>
              </a:rPr>
              <a:t>• </a:t>
            </a:r>
            <a:r>
              <a:rPr lang="fr-FR" sz="1400" b="0">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warning-titre"/>
          <p:cNvSpPr txBox="1"/>
          <p:nvPr/>
        </p:nvSpPr>
        <p:spPr>
          <a:xfrm>
            <a:off x="704088" y="53492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Structure</a:t>
            </a:r>
          </a:p>
        </p:txBody>
      </p:sp>
      <p:sp>
        <p:nvSpPr>
          <p:cNvPr id="8" name="DSFR-accent-decoratif"/>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Contraste : un seuil chiffré, pas une opinion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50</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3"/>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https://vispero.com/lp/color-contrast-checker/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Couleurs</a:t>
            </a:r>
          </a:p>
        </p:txBody>
      </p:sp>
      <p:sp>
        <p:nvSpPr>
          <p:cNvPr id="9" name="DSFR-stepper-connecteur-1-decoratif"/>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3-decoratif"/>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stepper-connecteur-4-decoratif"/>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 couleur ne doit pas porter l'information à elle seule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51</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3"/>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extLst>
                    <a:ext uri="{9D8B030D-6E8A-4147-A177-3AD203B41FA5}">
                      <a16:colId xmlns:a16="http://schemas.microsoft.com/office/drawing/2014/main" val="20000"/>
                    </a:ext>
                  </a:extLst>
                </a:gridCol>
                <a:gridCol w="5614416">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Inaccessible</a:t>
                      </a:r>
                    </a:p>
                  </a:txBody>
                  <a:tcPr>
                    <a:solidFill>
                      <a:srgbClr val="000091"/>
                    </a:solidFill>
                  </a:tcPr>
                </a:tc>
                <a:tc>
                  <a:txBody>
                    <a:bodyPr/>
                    <a:lstStyle/>
                    <a:p>
                      <a:pPr algn="l">
                        <a:lnSpc>
                          <a:spcPct val="125000"/>
                        </a:lnSpc>
                      </a:pPr>
                      <a:r>
                        <a:rPr lang="fr-FR" sz="1400" b="1" i="0">
                          <a:solidFill>
                            <a:srgbClr val="FFFFFF"/>
                          </a:solidFill>
                          <a:latin typeface="Marianne"/>
                        </a:rPr>
                        <a:t>Accessible</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Statut : rouge / vert / jaune (couleur seule)</a:t>
                      </a:r>
                    </a:p>
                  </a:txBody>
                  <a:tcPr>
                    <a:solidFill>
                      <a:srgbClr val="FFFFFF"/>
                    </a:solidFill>
                  </a:tcPr>
                </a:tc>
                <a:tc>
                  <a:txBody>
                    <a:bodyPr/>
                    <a:lstStyle/>
                    <a:p>
                      <a:pPr algn="l">
                        <a:lnSpc>
                          <a:spcPct val="125000"/>
                        </a:lnSpc>
                      </a:pPr>
                      <a:r>
                        <a:rPr lang="fr-FR" sz="1400" b="0" i="0">
                          <a:solidFill>
                            <a:srgbClr val="161616"/>
                          </a:solidFill>
                          <a:latin typeface="Marianne"/>
                        </a:rPr>
                        <a:t>Statut : En retard / Terminé / En cours (texte + couleur)</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Budget : zone verte = OK (couleur seule)</a:t>
                      </a:r>
                    </a:p>
                  </a:txBody>
                  <a:tcPr>
                    <a:solidFill>
                      <a:srgbClr val="F5F5FE"/>
                    </a:solidFill>
                  </a:tcPr>
                </a:tc>
                <a:tc>
                  <a:txBody>
                    <a:bodyPr/>
                    <a:lstStyle/>
                    <a:p>
                      <a:pPr algn="l">
                        <a:lnSpc>
                          <a:spcPct val="125000"/>
                        </a:lnSpc>
                      </a:pPr>
                      <a:r>
                        <a:rPr lang="fr-FR" sz="1400" b="0" i="0">
                          <a:solidFill>
                            <a:srgbClr val="161616"/>
                          </a:solidFill>
                          <a:latin typeface="Marianne"/>
                        </a:rPr>
                        <a:t>Budget : OK (vert) / Attention (orange) / Dépassé (rouge)</a:t>
                      </a:r>
                    </a:p>
                  </a:txBody>
                  <a:tcPr>
                    <a:solidFill>
                      <a:srgbClr val="F5F5FE"/>
                    </a:solidFill>
                  </a:tcPr>
                </a:tc>
                <a:extLst>
                  <a:ext uri="{0D108BD9-81ED-4DB2-BD59-A6C34878D82A}">
                    <a16:rowId xmlns:a16="http://schemas.microsoft.com/office/drawing/2014/main" val="10002"/>
                  </a:ext>
                </a:extLst>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highlight"/>
          <p:cNvSpPr txBox="1"/>
          <p:nvPr/>
        </p:nvSpPr>
        <p:spPr>
          <a:xfrm>
            <a:off x="749808" y="512064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Doublez toujours la couleur avec une légende textuelle</a:t>
            </a:r>
          </a:p>
          <a:p>
            <a:r>
              <a:rPr lang="fr-FR" sz="1800" b="1">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Couleurs</a:t>
            </a:r>
          </a:p>
        </p:txBody>
      </p:sp>
      <p:sp>
        <p:nvSpPr>
          <p:cNvPr id="12" name="DSFR-accent-decoratif"/>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Texte alternatif sur les images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52</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extLst>
                    <a:ext uri="{9D8B030D-6E8A-4147-A177-3AD203B41FA5}">
                      <a16:colId xmlns:a16="http://schemas.microsoft.com/office/drawing/2014/main" val="20000"/>
                    </a:ext>
                  </a:extLst>
                </a:gridCol>
                <a:gridCol w="6199632">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Mauvais texte alt</a:t>
                      </a:r>
                    </a:p>
                  </a:txBody>
                  <a:tcPr>
                    <a:solidFill>
                      <a:srgbClr val="000091"/>
                    </a:solidFill>
                  </a:tcPr>
                </a:tc>
                <a:tc>
                  <a:txBody>
                    <a:bodyPr/>
                    <a:lstStyle/>
                    <a:p>
                      <a:pPr algn="l">
                        <a:lnSpc>
                          <a:spcPct val="125000"/>
                        </a:lnSpc>
                      </a:pPr>
                      <a:r>
                        <a:rPr lang="fr-FR" sz="1400" b="1" i="0">
                          <a:solidFill>
                            <a:srgbClr val="FFFFFF"/>
                          </a:solidFill>
                          <a:latin typeface="Marianne"/>
                        </a:rPr>
                        <a:t>Bon texte alt</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Photo d'un graphique en barres colorées</a:t>
                      </a:r>
                    </a:p>
                  </a:txBody>
                  <a:tcPr>
                    <a:solidFill>
                      <a:srgbClr val="FFFFFF"/>
                    </a:solidFill>
                  </a:tcPr>
                </a:tc>
                <a:tc>
                  <a:txBody>
                    <a:bodyPr/>
                    <a:lstStyle/>
                    <a:p>
                      <a:pPr algn="l">
                        <a:lnSpc>
                          <a:spcPct val="125000"/>
                        </a:lnSpc>
                      </a:pPr>
                      <a:r>
                        <a:rPr lang="fr-FR" sz="1400" b="0" i="0">
                          <a:solidFill>
                            <a:srgbClr val="161616"/>
                          </a:solidFill>
                          <a:latin typeface="Marianne"/>
                        </a:rPr>
                        <a:t>Chiffre d'affaires 2020-2024 : hausse de 15 à 23 %</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Icône d'enveloppe ou E-mail</a:t>
                      </a:r>
                    </a:p>
                  </a:txBody>
                  <a:tcPr>
                    <a:solidFill>
                      <a:srgbClr val="F5F5FE"/>
                    </a:solidFill>
                  </a:tcPr>
                </a:tc>
                <a:tc>
                  <a:txBody>
                    <a:bodyPr/>
                    <a:lstStyle/>
                    <a:p>
                      <a:pPr algn="l">
                        <a:lnSpc>
                          <a:spcPct val="125000"/>
                        </a:lnSpc>
                      </a:pPr>
                      <a:r>
                        <a:rPr lang="fr-FR" sz="1400" b="0" i="0">
                          <a:solidFill>
                            <a:srgbClr val="161616"/>
                          </a:solidFill>
                          <a:latin typeface="Marianne"/>
                        </a:rPr>
                        <a:t>alt="" (vide - icône redondante)</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image.png</a:t>
                      </a:r>
                    </a:p>
                  </a:txBody>
                  <a:tcPr>
                    <a:solidFill>
                      <a:srgbClr val="FFFFFF"/>
                    </a:solidFill>
                  </a:tcPr>
                </a:tc>
                <a:tc>
                  <a:txBody>
                    <a:bodyPr/>
                    <a:lstStyle/>
                    <a:p>
                      <a:pPr algn="l">
                        <a:lnSpc>
                          <a:spcPct val="125000"/>
                        </a:lnSpc>
                      </a:pPr>
                      <a:r>
                        <a:rPr lang="fr-FR" sz="1400" b="0" i="0">
                          <a:solidFill>
                            <a:srgbClr val="161616"/>
                          </a:solidFill>
                          <a:latin typeface="Marianne"/>
                        </a:rPr>
                        <a:t>Organigramme du service : 4 équipes, 28 agents</a:t>
                      </a:r>
                    </a:p>
                  </a:txBody>
                  <a:tcPr>
                    <a:solidFill>
                      <a:srgbClr val="FFFFFF"/>
                    </a:solidFill>
                  </a:tcPr>
                </a:tc>
                <a:extLst>
                  <a:ext uri="{0D108BD9-81ED-4DB2-BD59-A6C34878D82A}">
                    <a16:rowId xmlns:a16="http://schemas.microsoft.com/office/drawing/2014/main" val="10003"/>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Contenus</a:t>
            </a:r>
          </a:p>
        </p:txBody>
      </p:sp>
      <p:sp>
        <p:nvSpPr>
          <p:cNvPr id="9" name="DSFR-stepper-connecteur-1-decoratif"/>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Liens et informations essentielles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53</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7114032">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Inaccessible</a:t>
                      </a:r>
                    </a:p>
                  </a:txBody>
                  <a:tcPr>
                    <a:solidFill>
                      <a:srgbClr val="000091"/>
                    </a:solidFill>
                  </a:tcPr>
                </a:tc>
                <a:tc>
                  <a:txBody>
                    <a:bodyPr/>
                    <a:lstStyle/>
                    <a:p>
                      <a:pPr algn="l">
                        <a:lnSpc>
                          <a:spcPct val="125000"/>
                        </a:lnSpc>
                      </a:pPr>
                      <a:r>
                        <a:rPr lang="fr-FR" sz="1400" b="1" i="0">
                          <a:solidFill>
                            <a:srgbClr val="FFFFFF"/>
                          </a:solidFill>
                          <a:latin typeface="Marianne"/>
                        </a:rPr>
                        <a:t>Accessible</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Cliquez ici</a:t>
                      </a:r>
                    </a:p>
                  </a:txBody>
                  <a:tcPr>
                    <a:solidFill>
                      <a:srgbClr val="FFFFFF"/>
                    </a:solidFill>
                  </a:tcPr>
                </a:tc>
                <a:tc>
                  <a:txBody>
                    <a:bodyPr/>
                    <a:lstStyle/>
                    <a:p>
                      <a:pPr algn="l">
                        <a:lnSpc>
                          <a:spcPct val="125000"/>
                        </a:lnSpc>
                      </a:pPr>
                      <a:r>
                        <a:rPr lang="fr-FR" sz="1400" b="0" i="0">
                          <a:solidFill>
                            <a:srgbClr val="161616"/>
                          </a:solidFill>
                          <a:latin typeface="Marianne"/>
                        </a:rPr>
                        <a:t>Consulter le guide d'accessibilité Word</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En savoir plus</a:t>
                      </a:r>
                    </a:p>
                  </a:txBody>
                  <a:tcPr>
                    <a:solidFill>
                      <a:srgbClr val="F5F5FE"/>
                    </a:solidFill>
                  </a:tcPr>
                </a:tc>
                <a:tc>
                  <a:txBody>
                    <a:bodyPr/>
                    <a:lstStyle/>
                    <a:p>
                      <a:pPr algn="l">
                        <a:lnSpc>
                          <a:spcPct val="125000"/>
                        </a:lnSpc>
                      </a:pPr>
                      <a:r>
                        <a:rPr lang="fr-FR" sz="1400" b="0" i="0">
                          <a:solidFill>
                            <a:srgbClr val="161616"/>
                          </a:solidFill>
                          <a:latin typeface="Marianne"/>
                        </a:rPr>
                        <a:t>Télécharger le rapport annuel 2024 (PDF, 2 Mo)</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URL brute</a:t>
                      </a:r>
                    </a:p>
                  </a:txBody>
                  <a:tcPr>
                    <a:solidFill>
                      <a:srgbClr val="FFFFFF"/>
                    </a:solidFill>
                  </a:tcPr>
                </a:tc>
                <a:tc>
                  <a:txBody>
                    <a:bodyPr/>
                    <a:lstStyle/>
                    <a:p>
                      <a:pPr algn="l">
                        <a:lnSpc>
                          <a:spcPct val="125000"/>
                        </a:lnSpc>
                      </a:pPr>
                      <a:r>
                        <a:rPr lang="fr-FR" sz="1400" b="0" i="0">
                          <a:solidFill>
                            <a:srgbClr val="161616"/>
                          </a:solidFill>
                          <a:latin typeface="Marianne"/>
                        </a:rPr>
                        <a:t>Accéder au formulaire de contact</a:t>
                      </a:r>
                    </a:p>
                  </a:txBody>
                  <a:tcPr>
                    <a:solidFill>
                      <a:srgbClr val="FFFFFF"/>
                    </a:solidFill>
                  </a:tcPr>
                </a:tc>
                <a:extLst>
                  <a:ext uri="{0D108BD9-81ED-4DB2-BD59-A6C34878D82A}">
                    <a16:rowId xmlns:a16="http://schemas.microsoft.com/office/drawing/2014/main" val="10003"/>
                  </a:ext>
                </a:extLst>
              </a:tr>
            </a:tbl>
          </a:graphicData>
        </a:graphic>
      </p:graphicFrame>
      <p:sp>
        <p:nvSpPr>
          <p:cNvPr id="10" name="DSFR-box"/>
          <p:cNvSpPr/>
          <p:nvPr/>
        </p:nvSpPr>
        <p:spPr>
          <a:xfrm>
            <a:off x="548640" y="4001414"/>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warning-titre"/>
          <p:cNvSpPr txBox="1"/>
          <p:nvPr/>
        </p:nvSpPr>
        <p:spPr>
          <a:xfrm>
            <a:off x="704088" y="4092854"/>
            <a:ext cx="5143500"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Informations essentielles dans les zones non lues</a:t>
            </a:r>
          </a:p>
        </p:txBody>
      </p:sp>
      <p:sp>
        <p:nvSpPr>
          <p:cNvPr id="12" name="DSFR-alert-warning-body"/>
          <p:cNvSpPr txBox="1"/>
          <p:nvPr/>
        </p:nvSpPr>
        <p:spPr>
          <a:xfrm>
            <a:off x="704088" y="4664354"/>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En-têtes et pieds de page : non lus automatiquement</a:t>
            </a:r>
          </a:p>
          <a:p>
            <a:pPr algn="l">
              <a:lnSpc>
                <a:spcPct val="115000"/>
              </a:lnSpc>
            </a:pPr>
            <a:r>
              <a:rPr lang="fr-FR" sz="1400">
                <a:solidFill>
                  <a:srgbClr val="161616"/>
                </a:solidFill>
                <a:latin typeface="Marianne"/>
              </a:rPr>
              <a:t>• </a:t>
            </a:r>
            <a:r>
              <a:rPr lang="fr-FR" sz="1400" b="0">
                <a:solidFill>
                  <a:srgbClr val="161616"/>
                </a:solidFill>
                <a:latin typeface="Marianne"/>
              </a:rPr>
              <a:t>Filigranes (Confidentiel, Brouillon) : invisibles</a:t>
            </a:r>
          </a:p>
          <a:p>
            <a:pPr algn="l">
              <a:lnSpc>
                <a:spcPct val="115000"/>
              </a:lnSpc>
            </a:pPr>
            <a:r>
              <a:rPr lang="fr-FR" sz="1400">
                <a:solidFill>
                  <a:srgbClr val="161616"/>
                </a:solidFill>
                <a:latin typeface="Marianne"/>
              </a:rPr>
              <a:t>• </a:t>
            </a:r>
            <a:r>
              <a:rPr lang="fr-FR" sz="1400" b="0">
                <a:solidFill>
                  <a:srgbClr val="161616"/>
                </a:solidFill>
                <a:latin typeface="Marianne"/>
              </a:rPr>
              <a:t>Solution : reproduire l'info dans le corps du document</a:t>
            </a:r>
          </a:p>
        </p:txBody>
      </p:sp>
      <p:sp>
        <p:nvSpPr>
          <p:cNvPr id="14" name="DSFR-box"/>
          <p:cNvSpPr/>
          <p:nvPr/>
        </p:nvSpPr>
        <p:spPr>
          <a:xfrm>
            <a:off x="6313931" y="402336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41148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Liens de téléchargement</a:t>
            </a:r>
          </a:p>
        </p:txBody>
      </p:sp>
      <p:sp>
        <p:nvSpPr>
          <p:cNvPr id="16" name="DSFR-callout-body"/>
          <p:cNvSpPr txBox="1"/>
          <p:nvPr/>
        </p:nvSpPr>
        <p:spPr>
          <a:xfrm>
            <a:off x="6469379" y="4526280"/>
            <a:ext cx="5143500" cy="1020470"/>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Titre + format + poids + langue si différente</a:t>
            </a:r>
          </a:p>
          <a:p>
            <a:pPr algn="l">
              <a:lnSpc>
                <a:spcPct val="115000"/>
              </a:lnSpc>
            </a:pPr>
            <a:r>
              <a:rPr lang="fr-FR" sz="1400">
                <a:solidFill>
                  <a:srgbClr val="161616"/>
                </a:solidFill>
                <a:latin typeface="Marianne"/>
              </a:rPr>
              <a:t>• </a:t>
            </a:r>
            <a:r>
              <a:rPr lang="fr-FR" sz="1400" b="0">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Contenus</a:t>
            </a:r>
          </a:p>
        </p:txBody>
      </p:sp>
      <p:sp>
        <p:nvSpPr>
          <p:cNvPr id="9" name="DSFR-accent-decoratif"/>
          <p:cNvSpPr/>
          <p:nvPr/>
        </p:nvSpPr>
        <p:spPr>
          <a:xfrm>
            <a:off x="475488" y="4001414"/>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402336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Exercice : les erreurs de Sami</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54</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rd-titre"/>
          <p:cNvSpPr txBox="1"/>
          <p:nvPr/>
        </p:nvSpPr>
        <p:spPr>
          <a:xfrm>
            <a:off x="704088" y="21031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rd-titre"/>
          <p:cNvSpPr txBox="1"/>
          <p:nvPr/>
        </p:nvSpPr>
        <p:spPr>
          <a:xfrm>
            <a:off x="6469379" y="21031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Titres en gras, fausses listes, faux sommaire, tableaux sans en-tête</a:t>
            </a:r>
          </a:p>
          <a:p>
            <a:pPr algn="l">
              <a:lnSpc>
                <a:spcPct val="150000"/>
              </a:lnSpc>
            </a:pPr>
            <a:r>
              <a:rPr lang="fr-FR" sz="1400">
                <a:solidFill>
                  <a:srgbClr val="161616"/>
                </a:solidFill>
                <a:latin typeface="Marianne"/>
              </a:rPr>
              <a:t>• </a:t>
            </a:r>
            <a:r>
              <a:rPr lang="fr-FR" sz="1400" b="0">
                <a:solidFill>
                  <a:srgbClr val="161616"/>
                </a:solidFill>
                <a:latin typeface="Marianne"/>
              </a:rPr>
              <a:t>Mention Urgent en rouge, note en gris insuffisant</a:t>
            </a:r>
          </a:p>
          <a:p>
            <a:pPr algn="l">
              <a:lnSpc>
                <a:spcPct val="150000"/>
              </a:lnSpc>
            </a:pPr>
            <a:r>
              <a:rPr lang="fr-FR" sz="1400">
                <a:solidFill>
                  <a:srgbClr val="161616"/>
                </a:solidFill>
                <a:latin typeface="Marianne"/>
              </a:rPr>
              <a:t>• </a:t>
            </a:r>
            <a:r>
              <a:rPr lang="fr-FR" sz="1400" b="0">
                <a:solidFill>
                  <a:srgbClr val="161616"/>
                </a:solidFill>
                <a:latin typeface="Marianne"/>
              </a:rPr>
              <a:t>Graphique et organigramme sans alt, icône redondante</a:t>
            </a:r>
          </a:p>
          <a:p>
            <a:pPr algn="l">
              <a:lnSpc>
                <a:spcPct val="150000"/>
              </a:lnSpc>
            </a:pPr>
            <a:r>
              <a:rPr lang="fr-FR" sz="1400">
                <a:solidFill>
                  <a:srgbClr val="161616"/>
                </a:solidFill>
                <a:latin typeface="Marianne"/>
              </a:rPr>
              <a:t>• </a:t>
            </a:r>
            <a:r>
              <a:rPr lang="fr-FR" sz="1400" b="0">
                <a:solidFill>
                  <a:srgbClr val="161616"/>
                </a:solidFill>
                <a:latin typeface="Marianne"/>
              </a:rPr>
              <a:t>Texte en image, lien cliquez ici, filigrane invisible</a:t>
            </a:r>
          </a:p>
          <a:p>
            <a:pPr algn="l">
              <a:lnSpc>
                <a:spcPct val="150000"/>
              </a:lnSpc>
            </a:pPr>
            <a:r>
              <a:rPr lang="fr-FR" sz="1400">
                <a:solidFill>
                  <a:srgbClr val="161616"/>
                </a:solidFill>
                <a:latin typeface="Marianne"/>
              </a:rPr>
              <a:t>• </a:t>
            </a:r>
            <a:r>
              <a:rPr lang="fr-FR" sz="1400" b="0">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5326379"/>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Exercice</a:t>
            </a:r>
          </a:p>
        </p:txBody>
      </p:sp>
      <p:sp>
        <p:nvSpPr>
          <p:cNvPr id="8" name="DSFR-accent-decoratif"/>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Langue, majuscules et lisibilité</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55</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Langue principale : Fichier &gt; Options &gt; Langue</a:t>
            </a:r>
          </a:p>
          <a:p>
            <a:pPr algn="l">
              <a:lnSpc>
                <a:spcPct val="125000"/>
              </a:lnSpc>
            </a:pPr>
            <a:r>
              <a:rPr lang="fr-FR" sz="1400">
                <a:solidFill>
                  <a:srgbClr val="161616"/>
                </a:solidFill>
                <a:latin typeface="Marianne"/>
              </a:rPr>
              <a:t>• </a:t>
            </a:r>
            <a:r>
              <a:rPr lang="fr-FR" sz="1400" b="0">
                <a:solidFill>
                  <a:srgbClr val="161616"/>
                </a:solidFill>
                <a:latin typeface="Marianne"/>
              </a:rPr>
              <a:t>Passage en langue étrangère : sélectionner le texte &gt; Révision &gt; Langue &gt; Définir la langue</a:t>
            </a:r>
          </a:p>
          <a:p>
            <a:pPr algn="l">
              <a:lnSpc>
                <a:spcPct val="125000"/>
              </a:lnSpc>
            </a:pPr>
            <a:r>
              <a:rPr lang="fr-FR" sz="1400">
                <a:solidFill>
                  <a:srgbClr val="161616"/>
                </a:solidFill>
                <a:latin typeface="Marianne"/>
              </a:rPr>
              <a:t>• </a:t>
            </a:r>
            <a:r>
              <a:rPr lang="fr-FR" sz="1400" b="0">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704088" y="4251959"/>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Difficiles à lire pour les dyslexiques</a:t>
            </a:r>
          </a:p>
          <a:p>
            <a:pPr algn="l">
              <a:lnSpc>
                <a:spcPct val="125000"/>
              </a:lnSpc>
            </a:pPr>
            <a:r>
              <a:rPr lang="fr-FR" sz="1400">
                <a:solidFill>
                  <a:srgbClr val="161616"/>
                </a:solidFill>
                <a:latin typeface="Marianne"/>
              </a:rPr>
              <a:t>• </a:t>
            </a:r>
            <a:r>
              <a:rPr lang="fr-FR" sz="1400" b="0">
                <a:solidFill>
                  <a:srgbClr val="161616"/>
                </a:solidFill>
                <a:latin typeface="Marianne"/>
              </a:rPr>
              <a:t>Prononciation ambiguë par les lecteurs d'écran</a:t>
            </a:r>
          </a:p>
          <a:p>
            <a:pPr algn="l">
              <a:lnSpc>
                <a:spcPct val="125000"/>
              </a:lnSpc>
            </a:pPr>
            <a:r>
              <a:rPr lang="fr-FR" sz="1400">
                <a:solidFill>
                  <a:srgbClr val="161616"/>
                </a:solidFill>
                <a:latin typeface="Marianne"/>
              </a:rPr>
              <a:t>• </a:t>
            </a:r>
            <a:r>
              <a:rPr lang="fr-FR" sz="1400" b="0">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callout-titre"/>
          <p:cNvSpPr txBox="1"/>
          <p:nvPr/>
        </p:nvSpPr>
        <p:spPr>
          <a:xfrm>
            <a:off x="6469379" y="4251959"/>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Police sans serif, 12 pt minimum</a:t>
            </a:r>
          </a:p>
          <a:p>
            <a:pPr algn="l">
              <a:lnSpc>
                <a:spcPct val="120000"/>
              </a:lnSpc>
            </a:pPr>
            <a:r>
              <a:rPr lang="fr-FR" sz="1400">
                <a:solidFill>
                  <a:srgbClr val="161616"/>
                </a:solidFill>
                <a:latin typeface="Marianne"/>
              </a:rPr>
              <a:t>• </a:t>
            </a:r>
            <a:r>
              <a:rPr lang="fr-FR" sz="1400" b="0">
                <a:solidFill>
                  <a:srgbClr val="161616"/>
                </a:solidFill>
                <a:latin typeface="Marianne"/>
              </a:rPr>
              <a:t>Interligne 1,15, paragraphes aérés</a:t>
            </a:r>
          </a:p>
          <a:p>
            <a:pPr algn="l">
              <a:lnSpc>
                <a:spcPct val="120000"/>
              </a:lnSpc>
            </a:pPr>
            <a:r>
              <a:rPr lang="fr-FR" sz="1400">
                <a:solidFill>
                  <a:srgbClr val="161616"/>
                </a:solidFill>
                <a:latin typeface="Marianne"/>
              </a:rPr>
              <a:t>• </a:t>
            </a:r>
            <a:r>
              <a:rPr lang="fr-FR" sz="1400" b="0">
                <a:solidFill>
                  <a:srgbClr val="161616"/>
                </a:solidFill>
                <a:latin typeface="Marianne"/>
              </a:rPr>
              <a:t>Alignement à gauche, pas de justification</a:t>
            </a:r>
          </a:p>
          <a:p>
            <a:pPr algn="l">
              <a:lnSpc>
                <a:spcPct val="120000"/>
              </a:lnSpc>
            </a:pPr>
            <a:r>
              <a:rPr lang="fr-FR" sz="1400">
                <a:solidFill>
                  <a:srgbClr val="161616"/>
                </a:solidFill>
                <a:latin typeface="Marianne"/>
              </a:rPr>
              <a:t>• </a:t>
            </a:r>
            <a:r>
              <a:rPr lang="fr-FR" sz="1400" b="0">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Langue</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Espaces et objets clignotants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56</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Points = espaces successifs &gt; supprimer et ne garder qu'un seul espace</a:t>
            </a:r>
          </a:p>
          <a:p>
            <a:pPr algn="l">
              <a:lnSpc>
                <a:spcPct val="125000"/>
              </a:lnSpc>
            </a:pPr>
            <a:r>
              <a:rPr lang="fr-FR" sz="1400">
                <a:solidFill>
                  <a:srgbClr val="161616"/>
                </a:solidFill>
                <a:latin typeface="Marianne"/>
              </a:rPr>
              <a:t>• </a:t>
            </a:r>
            <a:r>
              <a:rPr lang="fr-FR" sz="1400" b="0">
                <a:solidFill>
                  <a:srgbClr val="161616"/>
                </a:solidFill>
                <a:latin typeface="Marianne"/>
              </a:rPr>
              <a:t>Flèches = tabulations utilisées pour simuler une mise en page</a:t>
            </a:r>
          </a:p>
          <a:p>
            <a:pPr algn="l">
              <a:lnSpc>
                <a:spcPct val="125000"/>
              </a:lnSpc>
            </a:pPr>
            <a:r>
              <a:rPr lang="fr-FR" sz="1400">
                <a:solidFill>
                  <a:srgbClr val="161616"/>
                </a:solidFill>
                <a:latin typeface="Marianne"/>
              </a:rPr>
              <a:t>• </a:t>
            </a:r>
            <a:r>
              <a:rPr lang="fr-FR" sz="1400" b="0">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error-titre"/>
          <p:cNvSpPr txBox="1"/>
          <p:nvPr/>
        </p:nvSpPr>
        <p:spPr>
          <a:xfrm>
            <a:off x="704088" y="397763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Animations, GIF avec flashs, vidéos à plus de 3 Hz : interdits sans exception</a:t>
            </a:r>
          </a:p>
          <a:p>
            <a:pPr algn="l">
              <a:lnSpc>
                <a:spcPct val="150000"/>
              </a:lnSpc>
            </a:pPr>
            <a:r>
              <a:rPr lang="fr-FR" sz="1400">
                <a:solidFill>
                  <a:srgbClr val="161616"/>
                </a:solidFill>
                <a:latin typeface="Marianne"/>
              </a:rPr>
              <a:t>• </a:t>
            </a:r>
            <a:r>
              <a:rPr lang="fr-FR" sz="1400" b="0">
                <a:solidFill>
                  <a:srgbClr val="161616"/>
                </a:solidFill>
                <a:latin typeface="Marianne"/>
              </a:rPr>
              <a:t>Risque de crise d'épilepsie photosensible</a:t>
            </a:r>
          </a:p>
          <a:p>
            <a:pPr algn="l">
              <a:lnSpc>
                <a:spcPct val="150000"/>
              </a:lnSpc>
            </a:pPr>
            <a:r>
              <a:rPr lang="fr-FR" sz="1400">
                <a:solidFill>
                  <a:srgbClr val="161616"/>
                </a:solidFill>
                <a:latin typeface="Marianne"/>
              </a:rPr>
              <a:t>• </a:t>
            </a:r>
            <a:r>
              <a:rPr lang="fr-FR" sz="1400" b="0">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Langue</a:t>
            </a:r>
          </a:p>
        </p:txBody>
      </p:sp>
      <p:sp>
        <p:nvSpPr>
          <p:cNvPr id="8" name="DSFR-accent-decoratif"/>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Avant de publier : 5 vérifications en 2 minutes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57</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SFR-highlight"/>
          <p:cNvSpPr txBox="1"/>
          <p:nvPr/>
        </p:nvSpPr>
        <p:spPr>
          <a:xfrm>
            <a:off x="749808" y="4709159"/>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Finalisation</a:t>
            </a:r>
          </a:p>
        </p:txBody>
      </p:sp>
      <p:sp>
        <p:nvSpPr>
          <p:cNvPr id="9" name="DSFR-stepper-connecteur-1-decoratif"/>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3-decoratif"/>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stepper-connecteur-4-decoratif"/>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SFR-accent-decoratif"/>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vérificateur d'accessibilité Word</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58</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extLst>
                    <a:ext uri="{9D8B030D-6E8A-4147-A177-3AD203B41FA5}">
                      <a16:colId xmlns:a16="http://schemas.microsoft.com/office/drawing/2014/main" val="20000"/>
                    </a:ext>
                  </a:extLst>
                </a:gridCol>
                <a:gridCol w="5614416">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Ce qu'il détecte</a:t>
                      </a:r>
                    </a:p>
                  </a:txBody>
                  <a:tcPr>
                    <a:solidFill>
                      <a:srgbClr val="000091"/>
                    </a:solidFill>
                  </a:tcPr>
                </a:tc>
                <a:tc>
                  <a:txBody>
                    <a:bodyPr/>
                    <a:lstStyle/>
                    <a:p>
                      <a:pPr algn="l">
                        <a:lnSpc>
                          <a:spcPct val="125000"/>
                        </a:lnSpc>
                      </a:pPr>
                      <a:r>
                        <a:rPr lang="fr-FR" sz="1400" b="1" i="0">
                          <a:solidFill>
                            <a:srgbClr val="FFFFFF"/>
                          </a:solidFill>
                          <a:latin typeface="Marianne"/>
                        </a:rPr>
                        <a:t>Ce qu'il ne détecte PAS</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Texte alt manquant sur les images</a:t>
                      </a:r>
                    </a:p>
                  </a:txBody>
                  <a:tcPr>
                    <a:solidFill>
                      <a:srgbClr val="FFFFFF"/>
                    </a:solidFill>
                  </a:tcPr>
                </a:tc>
                <a:tc>
                  <a:txBody>
                    <a:bodyPr/>
                    <a:lstStyle/>
                    <a:p>
                      <a:pPr algn="l">
                        <a:lnSpc>
                          <a:spcPct val="125000"/>
                        </a:lnSpc>
                      </a:pPr>
                      <a:r>
                        <a:rPr lang="fr-FR" sz="1400" b="0" i="0">
                          <a:solidFill>
                            <a:srgbClr val="161616"/>
                          </a:solidFill>
                          <a:latin typeface="Marianne"/>
                        </a:rPr>
                        <a:t>Qualité du texte alt (contenu)</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Styles de titre absents</a:t>
                      </a:r>
                    </a:p>
                  </a:txBody>
                  <a:tcPr>
                    <a:solidFill>
                      <a:srgbClr val="F5F5FE"/>
                    </a:solidFill>
                  </a:tcPr>
                </a:tc>
                <a:tc>
                  <a:txBody>
                    <a:bodyPr/>
                    <a:lstStyle/>
                    <a:p>
                      <a:pPr algn="l">
                        <a:lnSpc>
                          <a:spcPct val="125000"/>
                        </a:lnSpc>
                      </a:pPr>
                      <a:r>
                        <a:rPr lang="fr-FR" sz="1400" b="0" i="0">
                          <a:solidFill>
                            <a:srgbClr val="161616"/>
                          </a:solidFill>
                          <a:latin typeface="Marianne"/>
                        </a:rPr>
                        <a:t>Pertinence des noms de liens</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Ordre de lecture problématique</a:t>
                      </a:r>
                    </a:p>
                  </a:txBody>
                  <a:tcPr>
                    <a:solidFill>
                      <a:srgbClr val="FFFFFF"/>
                    </a:solidFill>
                  </a:tcPr>
                </a:tc>
                <a:tc>
                  <a:txBody>
                    <a:bodyPr/>
                    <a:lstStyle/>
                    <a:p>
                      <a:pPr algn="l">
                        <a:lnSpc>
                          <a:spcPct val="125000"/>
                        </a:lnSpc>
                      </a:pPr>
                      <a:r>
                        <a:rPr lang="fr-FR" sz="1400" b="0" i="0">
                          <a:solidFill>
                            <a:srgbClr val="161616"/>
                          </a:solidFill>
                          <a:latin typeface="Marianne"/>
                        </a:rPr>
                        <a:t>Couleur porteuse de sens seule</a:t>
                      </a:r>
                    </a:p>
                  </a:txBody>
                  <a:tcPr>
                    <a:solidFill>
                      <a:srgbClr val="FFFFFF"/>
                    </a:solidFill>
                  </a:tcPr>
                </a:tc>
                <a:extLst>
                  <a:ext uri="{0D108BD9-81ED-4DB2-BD59-A6C34878D82A}">
                    <a16:rowId xmlns:a16="http://schemas.microsoft.com/office/drawing/2014/main" val="10003"/>
                  </a:ext>
                </a:extLst>
              </a:tr>
              <a:tr h="411480">
                <a:tc>
                  <a:txBody>
                    <a:bodyPr/>
                    <a:lstStyle/>
                    <a:p>
                      <a:pPr algn="l">
                        <a:lnSpc>
                          <a:spcPct val="125000"/>
                        </a:lnSpc>
                      </a:pPr>
                      <a:r>
                        <a:rPr lang="fr-FR" sz="1400" b="0" i="0">
                          <a:solidFill>
                            <a:srgbClr val="161616"/>
                          </a:solidFill>
                          <a:latin typeface="Marianne"/>
                        </a:rPr>
                        <a:t>Tableaux sans en-tête</a:t>
                      </a:r>
                    </a:p>
                  </a:txBody>
                  <a:tcPr>
                    <a:solidFill>
                      <a:srgbClr val="F5F5FE"/>
                    </a:solidFill>
                  </a:tcPr>
                </a:tc>
                <a:tc>
                  <a:txBody>
                    <a:bodyPr/>
                    <a:lstStyle/>
                    <a:p>
                      <a:pPr algn="l">
                        <a:lnSpc>
                          <a:spcPct val="125000"/>
                        </a:lnSpc>
                      </a:pPr>
                      <a:r>
                        <a:rPr lang="fr-FR" sz="1400" b="0" i="0">
                          <a:solidFill>
                            <a:srgbClr val="161616"/>
                          </a:solidFill>
                          <a:latin typeface="Marianne"/>
                        </a:rPr>
                        <a:t>Langue des passages étrangers</a:t>
                      </a:r>
                    </a:p>
                  </a:txBody>
                  <a:tcPr>
                    <a:solidFill>
                      <a:srgbClr val="F5F5FE"/>
                    </a:solidFill>
                  </a:tcPr>
                </a:tc>
                <a:extLst>
                  <a:ext uri="{0D108BD9-81ED-4DB2-BD59-A6C34878D82A}">
                    <a16:rowId xmlns:a16="http://schemas.microsoft.com/office/drawing/2014/main" val="10004"/>
                  </a:ext>
                </a:extLst>
              </a:tr>
              <a:tr h="411480">
                <a:tc>
                  <a:txBody>
                    <a:bodyPr/>
                    <a:lstStyle/>
                    <a:p>
                      <a:pPr algn="l">
                        <a:lnSpc>
                          <a:spcPct val="125000"/>
                        </a:lnSpc>
                      </a:pPr>
                      <a:endParaRPr/>
                    </a:p>
                  </a:txBody>
                  <a:tcPr>
                    <a:solidFill>
                      <a:srgbClr val="FFFFFF"/>
                    </a:solidFill>
                  </a:tcPr>
                </a:tc>
                <a:tc>
                  <a:txBody>
                    <a:bodyPr/>
                    <a:lstStyle/>
                    <a:p>
                      <a:pPr algn="l">
                        <a:lnSpc>
                          <a:spcPct val="125000"/>
                        </a:lnSpc>
                      </a:pPr>
                      <a:r>
                        <a:rPr lang="fr-FR" sz="1400" b="0" i="0">
                          <a:solidFill>
                            <a:srgbClr val="161616"/>
                          </a:solidFill>
                          <a:latin typeface="Marianne"/>
                        </a:rPr>
                        <a:t>Contraste insuffisant</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warning-titre"/>
          <p:cNvSpPr txBox="1"/>
          <p:nvPr/>
        </p:nvSpPr>
        <p:spPr>
          <a:xfrm>
            <a:off x="704088" y="470915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Il signale ce qu'il peut détecter automatiquement - pas ce qui est vraiment accessible</a:t>
            </a:r>
          </a:p>
          <a:p>
            <a:pPr algn="l">
              <a:lnSpc>
                <a:spcPct val="150000"/>
              </a:lnSpc>
            </a:pPr>
            <a:r>
              <a:rPr lang="fr-FR" sz="1400">
                <a:solidFill>
                  <a:srgbClr val="161616"/>
                </a:solidFill>
                <a:latin typeface="Marianne"/>
              </a:rPr>
              <a:t>• </a:t>
            </a:r>
            <a:r>
              <a:rPr lang="fr-FR" sz="1400" b="0">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Finalisation</a:t>
            </a:r>
          </a:p>
        </p:txBody>
      </p:sp>
      <p:sp>
        <p:nvSpPr>
          <p:cNvPr id="9" name="DSFR-accent-decoratif"/>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Exporter Word vers PDF sans perdre l'accessibilité</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llout-titre"/>
          <p:cNvSpPr txBox="1"/>
          <p:nvPr/>
        </p:nvSpPr>
        <p:spPr>
          <a:xfrm>
            <a:off x="704088" y="46634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Propriétés du document</a:t>
            </a:r>
          </a:p>
          <a:p>
            <a:pPr algn="l">
              <a:lnSpc>
                <a:spcPct val="115000"/>
              </a:lnSpc>
            </a:pPr>
            <a:r>
              <a:rPr lang="fr-FR" sz="1400">
                <a:solidFill>
                  <a:srgbClr val="161616"/>
                </a:solidFill>
                <a:latin typeface="Marianne"/>
              </a:rPr>
              <a:t>• </a:t>
            </a:r>
            <a:r>
              <a:rPr lang="fr-FR" sz="1400" b="0">
                <a:solidFill>
                  <a:srgbClr val="161616"/>
                </a:solidFill>
                <a:latin typeface="Marianne"/>
              </a:rPr>
              <a:t>Balises de structure pour l'accessibilité</a:t>
            </a:r>
          </a:p>
          <a:p>
            <a:pPr algn="l">
              <a:lnSpc>
                <a:spcPct val="115000"/>
              </a:lnSpc>
            </a:pPr>
            <a:r>
              <a:rPr lang="fr-FR" sz="1400">
                <a:solidFill>
                  <a:srgbClr val="161616"/>
                </a:solidFill>
                <a:latin typeface="Marianne"/>
              </a:rPr>
              <a:t>• </a:t>
            </a:r>
            <a:r>
              <a:rPr lang="fr-FR" sz="1400" b="0">
                <a:solidFill>
                  <a:srgbClr val="161616"/>
                </a:solidFill>
                <a:latin typeface="Marianne"/>
              </a:rPr>
              <a:t>Créer des signets à l'aide des titres ou en-têtes</a:t>
            </a:r>
          </a:p>
          <a:p>
            <a:pPr algn="l">
              <a:lnSpc>
                <a:spcPct val="115000"/>
              </a:lnSpc>
            </a:pPr>
            <a:r>
              <a:rPr lang="fr-FR" sz="1400">
                <a:solidFill>
                  <a:srgbClr val="161616"/>
                </a:solidFill>
                <a:latin typeface="Marianne"/>
              </a:rPr>
              <a:t>• </a:t>
            </a:r>
            <a:r>
              <a:rPr lang="fr-FR" sz="1400" b="0">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Finalisation</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1-decoratif"/>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2-decoratif"/>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Retour sur le document de Sami</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60</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rd-titre"/>
          <p:cNvSpPr txBox="1"/>
          <p:nvPr/>
        </p:nvSpPr>
        <p:spPr>
          <a:xfrm>
            <a:off x="704088" y="224027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rd-titre"/>
          <p:cNvSpPr txBox="1"/>
          <p:nvPr/>
        </p:nvSpPr>
        <p:spPr>
          <a:xfrm>
            <a:off x="6469379" y="224027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Langue : un passage en anglais sans balisage de langue</a:t>
            </a:r>
          </a:p>
          <a:p>
            <a:pPr algn="l">
              <a:lnSpc>
                <a:spcPct val="150000"/>
              </a:lnSpc>
            </a:pPr>
            <a:r>
              <a:rPr lang="fr-FR" sz="1400">
                <a:solidFill>
                  <a:srgbClr val="161616"/>
                </a:solidFill>
                <a:latin typeface="Marianne"/>
              </a:rPr>
              <a:t>• </a:t>
            </a:r>
            <a:r>
              <a:rPr lang="fr-FR" sz="1400" b="0">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callout-titre"/>
          <p:cNvSpPr txBox="1"/>
          <p:nvPr/>
        </p:nvSpPr>
        <p:spPr>
          <a:xfrm>
            <a:off x="704088" y="4789627"/>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Langue : sélectionner le passage anglais &gt; Révision &gt; Langue &gt; Définir en anglais</a:t>
            </a:r>
          </a:p>
          <a:p>
            <a:pPr algn="l">
              <a:lnSpc>
                <a:spcPct val="125000"/>
              </a:lnSpc>
            </a:pPr>
            <a:r>
              <a:rPr lang="fr-FR" sz="1400">
                <a:solidFill>
                  <a:srgbClr val="161616"/>
                </a:solidFill>
                <a:latin typeface="Marianne"/>
              </a:rPr>
              <a:t>• </a:t>
            </a:r>
            <a:r>
              <a:rPr lang="fr-FR" sz="1400" b="0">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Retour exercice</a:t>
            </a:r>
          </a:p>
        </p:txBody>
      </p:sp>
      <p:sp>
        <p:nvSpPr>
          <p:cNvPr id="8" name="DSFR-accent-decoratif"/>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Par où commencer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Priorités</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1-decoratif"/>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2-decoratif"/>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Quiz final : saurez-vous trouver les 5 erreurs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collègue vous partage un document Word pour relecture.</a:t>
            </a:r>
          </a:p>
          <a:p>
            <a:r>
              <a:rPr lang="fr-FR" sz="1800" b="1">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3147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lang="fr-FR" sz="1400" b="0">
                <a:solidFill>
                  <a:srgbClr val="161616"/>
                </a:solidFill>
                <a:latin typeface="Marianne"/>
              </a:rPr>
              <a:t>1. Le titre Introduction est en gras Arial 16 au lieu d'un style de titre</a:t>
            </a:r>
          </a:p>
          <a:p>
            <a:pPr algn="l">
              <a:lnSpc>
                <a:spcPct val="125000"/>
              </a:lnSpc>
            </a:pPr>
            <a:r>
              <a:rPr lang="fr-FR" sz="1400" b="0">
                <a:solidFill>
                  <a:srgbClr val="161616"/>
                </a:solidFill>
                <a:latin typeface="Marianne"/>
              </a:rPr>
              <a:t>2. Un tableau de suivi utilise uniquement des lignes rouges et vertes</a:t>
            </a:r>
          </a:p>
          <a:p>
            <a:pPr algn="l">
              <a:lnSpc>
                <a:spcPct val="125000"/>
              </a:lnSpc>
            </a:pPr>
            <a:r>
              <a:rPr lang="fr-FR" sz="1400" b="0">
                <a:solidFill>
                  <a:srgbClr val="161616"/>
                </a:solidFill>
                <a:latin typeface="Marianne"/>
              </a:rPr>
              <a:t>3. Un lien est rédigé : cliquez ici pour le formulaire</a:t>
            </a:r>
          </a:p>
          <a:p>
            <a:pPr algn="l">
              <a:lnSpc>
                <a:spcPct val="125000"/>
              </a:lnSpc>
            </a:pPr>
            <a:r>
              <a:rPr lang="fr-FR" sz="1400" b="0">
                <a:solidFill>
                  <a:srgbClr val="161616"/>
                </a:solidFill>
                <a:latin typeface="Marianne"/>
              </a:rPr>
              <a:t>4. La langue principale du document n'est pas définie</a:t>
            </a:r>
          </a:p>
          <a:p>
            <a:pPr algn="l">
              <a:lnSpc>
                <a:spcPct val="125000"/>
              </a:lnSpc>
            </a:pPr>
            <a:r>
              <a:rPr lang="fr-FR" sz="1400" b="0">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Quiz final</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Correction : les 5 erreurs et leurs solutions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63</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lang="fr-FR" sz="1400">
                <a:solidFill>
                  <a:srgbClr val="161616"/>
                </a:solidFill>
                <a:latin typeface="Marianne"/>
              </a:rPr>
              <a:t>• </a:t>
            </a:r>
            <a:r>
              <a:rPr lang="fr-FR" sz="1400" b="1">
                <a:solidFill>
                  <a:srgbClr val="161616"/>
                </a:solidFill>
                <a:latin typeface="Marianne"/>
              </a:rPr>
              <a:t>Structure</a:t>
            </a:r>
            <a:r>
              <a:rPr lang="fr-FR" sz="1400" b="0">
                <a:solidFill>
                  <a:srgbClr val="161616"/>
                </a:solidFill>
                <a:latin typeface="Marianne"/>
              </a:rPr>
              <a:t> : le gras n'est pas reconnu par les lecteurs d'écran - appliquer le style Titre 1</a:t>
            </a:r>
          </a:p>
          <a:p>
            <a:pPr algn="l">
              <a:lnSpc>
                <a:spcPct val="172000"/>
              </a:lnSpc>
            </a:pPr>
            <a:r>
              <a:rPr lang="fr-FR" sz="1400">
                <a:solidFill>
                  <a:srgbClr val="161616"/>
                </a:solidFill>
                <a:latin typeface="Marianne"/>
              </a:rPr>
              <a:t>• </a:t>
            </a:r>
            <a:r>
              <a:rPr lang="fr-FR" sz="1400" b="1">
                <a:solidFill>
                  <a:srgbClr val="161616"/>
                </a:solidFill>
                <a:latin typeface="Marianne"/>
              </a:rPr>
              <a:t>Couleurs</a:t>
            </a:r>
            <a:r>
              <a:rPr lang="fr-FR" sz="1400" b="0">
                <a:solidFill>
                  <a:srgbClr val="161616"/>
                </a:solidFill>
                <a:latin typeface="Marianne"/>
              </a:rPr>
              <a:t> : l'information ne doit pas reposer sur la couleur seule - ajouter les étiquettes Conforme / Non conforme</a:t>
            </a:r>
          </a:p>
          <a:p>
            <a:pPr algn="l">
              <a:lnSpc>
                <a:spcPct val="172000"/>
              </a:lnSpc>
            </a:pPr>
            <a:r>
              <a:rPr lang="fr-FR" sz="1400">
                <a:solidFill>
                  <a:srgbClr val="161616"/>
                </a:solidFill>
                <a:latin typeface="Marianne"/>
              </a:rPr>
              <a:t>• </a:t>
            </a:r>
            <a:r>
              <a:rPr lang="fr-FR" sz="1400" b="1">
                <a:solidFill>
                  <a:srgbClr val="161616"/>
                </a:solidFill>
                <a:latin typeface="Marianne"/>
              </a:rPr>
              <a:t>Contenus</a:t>
            </a:r>
            <a:r>
              <a:rPr lang="fr-FR" sz="1400" b="0">
                <a:solidFill>
                  <a:srgbClr val="161616"/>
                </a:solidFill>
                <a:latin typeface="Marianne"/>
              </a:rPr>
              <a:t> : un lien doit être compréhensible hors contexte - renommer en Accéder au formulaire de demande RH</a:t>
            </a:r>
          </a:p>
          <a:p>
            <a:pPr algn="l">
              <a:lnSpc>
                <a:spcPct val="172000"/>
              </a:lnSpc>
            </a:pPr>
            <a:r>
              <a:rPr lang="fr-FR" sz="1400">
                <a:solidFill>
                  <a:srgbClr val="161616"/>
                </a:solidFill>
                <a:latin typeface="Marianne"/>
              </a:rPr>
              <a:t>• </a:t>
            </a:r>
            <a:r>
              <a:rPr lang="fr-FR" sz="1400" b="1">
                <a:solidFill>
                  <a:srgbClr val="161616"/>
                </a:solidFill>
                <a:latin typeface="Marianne"/>
              </a:rPr>
              <a:t>Langue</a:t>
            </a:r>
            <a:r>
              <a:rPr lang="fr-FR" sz="1400" b="0">
                <a:solidFill>
                  <a:srgbClr val="161616"/>
                </a:solidFill>
                <a:latin typeface="Marianne"/>
              </a:rPr>
              <a:t> : sans déclaration, la synthèse vocale prononce avec le mauvais accent - Révision &gt; Langue &gt; Définir : Français</a:t>
            </a:r>
          </a:p>
          <a:p>
            <a:pPr algn="l">
              <a:lnSpc>
                <a:spcPct val="172000"/>
              </a:lnSpc>
            </a:pPr>
            <a:r>
              <a:rPr lang="fr-FR" sz="1400">
                <a:solidFill>
                  <a:srgbClr val="161616"/>
                </a:solidFill>
                <a:latin typeface="Marianne"/>
              </a:rPr>
              <a:t>• </a:t>
            </a:r>
            <a:r>
              <a:rPr lang="fr-FR" sz="1400" b="1">
                <a:solidFill>
                  <a:srgbClr val="161616"/>
                </a:solidFill>
                <a:latin typeface="Marianne"/>
              </a:rPr>
              <a:t>Finalisation</a:t>
            </a:r>
            <a:r>
              <a:rPr lang="fr-FR" sz="1400" b="0">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Quiz final</a:t>
            </a:r>
          </a:p>
        </p:txBody>
      </p:sp>
      <p:sp>
        <p:nvSpPr>
          <p:cNvPr id="8" name="DSFR-accent-decoratif"/>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Faites le point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Bilan</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Faites le point : les réponses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65</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b="0">
                <a:solidFill>
                  <a:srgbClr val="161616"/>
                </a:solidFill>
                <a:latin typeface="Marianne"/>
              </a:rPr>
              <a:t>1. Utiliser les styles de titre (Titre 1, Titre 2) pour structurer le document</a:t>
            </a:r>
          </a:p>
          <a:p>
            <a:pPr algn="l">
              <a:lnSpc>
                <a:spcPct val="125000"/>
              </a:lnSpc>
            </a:pPr>
            <a:r>
              <a:rPr lang="fr-FR" sz="1400" b="0">
                <a:solidFill>
                  <a:srgbClr val="161616"/>
                </a:solidFill>
                <a:latin typeface="Marianne"/>
              </a:rPr>
              <a:t>2. Lancer le vérificateur d'accessibilité (Révision &gt; Vérifier l'accessibilité)</a:t>
            </a:r>
          </a:p>
          <a:p>
            <a:pPr algn="l">
              <a:lnSpc>
                <a:spcPct val="125000"/>
              </a:lnSpc>
            </a:pPr>
            <a:r>
              <a:rPr lang="fr-FR" sz="1400" b="0">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highlight"/>
          <p:cNvSpPr txBox="1"/>
          <p:nvPr/>
        </p:nvSpPr>
        <p:spPr>
          <a:xfrm>
            <a:off x="749808" y="4306824"/>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Vous avez ces réflexes ? L'essentiel est acquis.</a:t>
            </a:r>
          </a:p>
          <a:p>
            <a:r>
              <a:rPr lang="fr-FR" sz="1800" b="1">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Bilan</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Dès demain, vos trois premiers réflexes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66</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Vérifier que tous les titres apparaissent dans le volet de navigation</a:t>
            </a:r>
          </a:p>
          <a:p>
            <a:pPr algn="l">
              <a:lnSpc>
                <a:spcPct val="150000"/>
              </a:lnSpc>
            </a:pPr>
            <a:r>
              <a:rPr lang="fr-FR" sz="1400">
                <a:solidFill>
                  <a:srgbClr val="161616"/>
                </a:solidFill>
                <a:latin typeface="Marianne"/>
              </a:rPr>
              <a:t>• </a:t>
            </a:r>
            <a:r>
              <a:rPr lang="fr-FR" sz="1400" b="0">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4547615"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Décrire la fonction de chaque image</a:t>
            </a:r>
          </a:p>
          <a:p>
            <a:pPr algn="l">
              <a:lnSpc>
                <a:spcPct val="150000"/>
              </a:lnSpc>
            </a:pPr>
            <a:r>
              <a:rPr lang="fr-FR" sz="1400">
                <a:solidFill>
                  <a:srgbClr val="161616"/>
                </a:solidFill>
                <a:latin typeface="Marianne"/>
              </a:rPr>
              <a:t>• </a:t>
            </a:r>
            <a:r>
              <a:rPr lang="fr-FR" sz="1400" b="0">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8391144"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Corriger les erreurs avant d'envoyer</a:t>
            </a:r>
          </a:p>
          <a:p>
            <a:pPr algn="l">
              <a:lnSpc>
                <a:spcPct val="150000"/>
              </a:lnSpc>
            </a:pPr>
            <a:r>
              <a:rPr lang="fr-FR" sz="1400">
                <a:solidFill>
                  <a:srgbClr val="161616"/>
                </a:solidFill>
                <a:latin typeface="Marianne"/>
              </a:rPr>
              <a:t>• </a:t>
            </a:r>
            <a:r>
              <a:rPr lang="fr-FR" sz="1400" b="0">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8" name="DSFR-accent-decoratif"/>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 pratiqué dans l'exercice (1/2)</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67</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Titres avec styles intégrés (pas du gras manuel)</a:t>
            </a:r>
          </a:p>
          <a:p>
            <a:pPr algn="l">
              <a:lnSpc>
                <a:spcPct val="150000"/>
              </a:lnSpc>
            </a:pPr>
            <a:r>
              <a:rPr lang="fr-FR" sz="1800" b="1">
                <a:solidFill>
                  <a:srgbClr val="000091"/>
                </a:solidFill>
                <a:latin typeface="Marianne"/>
              </a:rPr>
              <a:t>☐  </a:t>
            </a:r>
            <a:r>
              <a:rPr lang="fr-FR" sz="1400">
                <a:solidFill>
                  <a:srgbClr val="161616"/>
                </a:solidFill>
                <a:latin typeface="Marianne"/>
              </a:rPr>
              <a:t>Hiérarchie des titres cohérente (H1, H2, H3)</a:t>
            </a:r>
          </a:p>
          <a:p>
            <a:pPr algn="l">
              <a:lnSpc>
                <a:spcPct val="150000"/>
              </a:lnSpc>
            </a:pPr>
            <a:r>
              <a:rPr lang="fr-FR" sz="1800" b="1">
                <a:solidFill>
                  <a:srgbClr val="000091"/>
                </a:solidFill>
                <a:latin typeface="Marianne"/>
              </a:rPr>
              <a:t>☐  </a:t>
            </a:r>
            <a:r>
              <a:rPr lang="fr-FR" sz="1400">
                <a:solidFill>
                  <a:srgbClr val="161616"/>
                </a:solidFill>
                <a:latin typeface="Marianne"/>
              </a:rPr>
              <a:t>Texte alternatif sur images / décoratifs marqués</a:t>
            </a:r>
          </a:p>
          <a:p>
            <a:pPr algn="l">
              <a:lnSpc>
                <a:spcPct val="150000"/>
              </a:lnSpc>
            </a:pPr>
            <a:r>
              <a:rPr lang="fr-FR" sz="1800" b="1">
                <a:solidFill>
                  <a:srgbClr val="000091"/>
                </a:solidFill>
                <a:latin typeface="Marianne"/>
              </a:rPr>
              <a:t>☐  </a:t>
            </a:r>
            <a:r>
              <a:rPr lang="fr-FR" sz="1400">
                <a:solidFill>
                  <a:srgbClr val="161616"/>
                </a:solidFill>
                <a:latin typeface="Marianne"/>
              </a:rPr>
              <a:t>Tableaux de données avec ligne d'en-tête</a:t>
            </a:r>
          </a:p>
          <a:p>
            <a:pPr algn="l">
              <a:lnSpc>
                <a:spcPct val="150000"/>
              </a:lnSpc>
            </a:pPr>
            <a:r>
              <a:rPr lang="fr-FR" sz="1800" b="1">
                <a:solidFill>
                  <a:srgbClr val="000091"/>
                </a:solidFill>
                <a:latin typeface="Marianne"/>
              </a:rPr>
              <a:t>☐  </a:t>
            </a:r>
            <a:r>
              <a:rPr lang="fr-FR" sz="1400">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Checklist</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 pratiqué dans l'exercice (2/2)</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Liens descriptifs (pas cliquez ici)</a:t>
            </a:r>
          </a:p>
          <a:p>
            <a:pPr algn="l">
              <a:lnSpc>
                <a:spcPct val="150000"/>
              </a:lnSpc>
            </a:pPr>
            <a:r>
              <a:rPr lang="fr-FR" sz="1800" b="1">
                <a:solidFill>
                  <a:srgbClr val="000091"/>
                </a:solidFill>
                <a:latin typeface="Marianne"/>
              </a:rPr>
              <a:t>☐  </a:t>
            </a:r>
            <a:r>
              <a:rPr lang="fr-FR" sz="1400">
                <a:solidFill>
                  <a:srgbClr val="161616"/>
                </a:solidFill>
                <a:latin typeface="Marianne"/>
              </a:rPr>
              <a:t>Passages en langue étrangère balisés</a:t>
            </a:r>
          </a:p>
          <a:p>
            <a:pPr algn="l">
              <a:lnSpc>
                <a:spcPct val="150000"/>
              </a:lnSpc>
            </a:pPr>
            <a:r>
              <a:rPr lang="fr-FR" sz="1800" b="1">
                <a:solidFill>
                  <a:srgbClr val="000091"/>
                </a:solidFill>
                <a:latin typeface="Marianne"/>
              </a:rPr>
              <a:t>☐  </a:t>
            </a:r>
            <a:r>
              <a:rPr lang="fr-FR" sz="1400">
                <a:solidFill>
                  <a:srgbClr val="161616"/>
                </a:solidFill>
                <a:latin typeface="Marianne"/>
              </a:rPr>
              <a:t>Contraste &gt;= 4,5:1 texte standard, &gt;= 3:1 grand texte</a:t>
            </a:r>
          </a:p>
          <a:p>
            <a:pPr algn="l">
              <a:lnSpc>
                <a:spcPct val="150000"/>
              </a:lnSpc>
            </a:pPr>
            <a:r>
              <a:rPr lang="fr-FR" sz="1800" b="1">
                <a:solidFill>
                  <a:srgbClr val="000091"/>
                </a:solidFill>
                <a:latin typeface="Marianne"/>
              </a:rPr>
              <a:t>☐  </a:t>
            </a:r>
            <a:r>
              <a:rPr lang="fr-FR" sz="1400">
                <a:solidFill>
                  <a:srgbClr val="161616"/>
                </a:solidFill>
                <a:latin typeface="Marianne"/>
              </a:rPr>
              <a:t>Couleur doublée en texte</a:t>
            </a:r>
          </a:p>
          <a:p>
            <a:pPr algn="l">
              <a:lnSpc>
                <a:spcPct val="150000"/>
              </a:lnSpc>
            </a:pPr>
            <a:r>
              <a:rPr lang="fr-FR" sz="1800" b="1">
                <a:solidFill>
                  <a:srgbClr val="000091"/>
                </a:solidFill>
                <a:latin typeface="Marianne"/>
              </a:rPr>
              <a:t>☐  </a:t>
            </a:r>
            <a:r>
              <a:rPr lang="fr-FR" sz="1400">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Checklist</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 autres critères essentiels (1/2)</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Aucun objet clignotant</a:t>
            </a:r>
          </a:p>
          <a:p>
            <a:pPr algn="l">
              <a:lnSpc>
                <a:spcPct val="150000"/>
              </a:lnSpc>
            </a:pPr>
            <a:r>
              <a:rPr lang="fr-FR" sz="1800" b="1">
                <a:solidFill>
                  <a:srgbClr val="000091"/>
                </a:solidFill>
                <a:latin typeface="Marianne"/>
              </a:rPr>
              <a:t>☐  </a:t>
            </a:r>
            <a:r>
              <a:rPr lang="fr-FR" sz="1400">
                <a:solidFill>
                  <a:srgbClr val="161616"/>
                </a:solidFill>
                <a:latin typeface="Marianne"/>
              </a:rPr>
              <a:t>Document non protégé</a:t>
            </a:r>
          </a:p>
          <a:p>
            <a:pPr algn="l">
              <a:lnSpc>
                <a:spcPct val="150000"/>
              </a:lnSpc>
            </a:pPr>
            <a:r>
              <a:rPr lang="fr-FR" sz="1800" b="1">
                <a:solidFill>
                  <a:srgbClr val="000091"/>
                </a:solidFill>
                <a:latin typeface="Marianne"/>
              </a:rPr>
              <a:t>☐  </a:t>
            </a:r>
            <a:r>
              <a:rPr lang="fr-FR" sz="1400">
                <a:solidFill>
                  <a:srgbClr val="161616"/>
                </a:solidFill>
                <a:latin typeface="Marianne"/>
              </a:rPr>
              <a:t>Langue principale balisée</a:t>
            </a:r>
          </a:p>
          <a:p>
            <a:pPr algn="l">
              <a:lnSpc>
                <a:spcPct val="150000"/>
              </a:lnSpc>
            </a:pPr>
            <a:r>
              <a:rPr lang="fr-FR" sz="1800" b="1">
                <a:solidFill>
                  <a:srgbClr val="000091"/>
                </a:solidFill>
                <a:latin typeface="Marianne"/>
              </a:rPr>
              <a:t>☐  </a:t>
            </a:r>
            <a:r>
              <a:rPr lang="fr-FR" sz="1400">
                <a:solidFill>
                  <a:srgbClr val="161616"/>
                </a:solidFill>
                <a:latin typeface="Marianne"/>
              </a:rPr>
              <a:t>Fichier .docx + nom descriptif</a:t>
            </a:r>
          </a:p>
          <a:p>
            <a:pPr algn="l">
              <a:lnSpc>
                <a:spcPct val="150000"/>
              </a:lnSpc>
            </a:pPr>
            <a:r>
              <a:rPr lang="fr-FR" sz="1800" b="1">
                <a:solidFill>
                  <a:srgbClr val="000091"/>
                </a:solidFill>
                <a:latin typeface="Marianne"/>
              </a:rPr>
              <a:t>☐  </a:t>
            </a:r>
            <a:r>
              <a:rPr lang="fr-FR" sz="1400">
                <a:solidFill>
                  <a:srgbClr val="161616"/>
                </a:solidFill>
                <a:latin typeface="Marianne"/>
              </a:rPr>
              <a:t>Vérificateur d'accessibilité sans erreur résiduelle</a:t>
            </a:r>
          </a:p>
          <a:p>
            <a:pPr algn="l">
              <a:lnSpc>
                <a:spcPct val="150000"/>
              </a:lnSpc>
            </a:pPr>
            <a:r>
              <a:rPr lang="fr-FR" sz="1800" b="1">
                <a:solidFill>
                  <a:srgbClr val="000091"/>
                </a:solidFill>
                <a:latin typeface="Marianne"/>
              </a:rPr>
              <a:t>☐  </a:t>
            </a:r>
            <a:r>
              <a:rPr lang="fr-FR" sz="1400">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Checklist</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 autres critères essentiels (2/2)</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Pas de zones de texte flottantes</a:t>
            </a:r>
          </a:p>
          <a:p>
            <a:pPr algn="l">
              <a:lnSpc>
                <a:spcPct val="150000"/>
              </a:lnSpc>
            </a:pPr>
            <a:r>
              <a:rPr lang="fr-FR" sz="1800" b="1">
                <a:solidFill>
                  <a:srgbClr val="000091"/>
                </a:solidFill>
                <a:latin typeface="Marianne"/>
              </a:rPr>
              <a:t>☐  </a:t>
            </a:r>
            <a:r>
              <a:rPr lang="fr-FR" sz="1400">
                <a:solidFill>
                  <a:srgbClr val="161616"/>
                </a:solidFill>
                <a:latin typeface="Marianne"/>
              </a:rPr>
              <a:t>Sauts de page propres (pas de retours à la ligne)</a:t>
            </a:r>
          </a:p>
          <a:p>
            <a:pPr algn="l">
              <a:lnSpc>
                <a:spcPct val="150000"/>
              </a:lnSpc>
            </a:pPr>
            <a:r>
              <a:rPr lang="fr-FR" sz="1800" b="1">
                <a:solidFill>
                  <a:srgbClr val="000091"/>
                </a:solidFill>
                <a:latin typeface="Marianne"/>
              </a:rPr>
              <a:t>☐  </a:t>
            </a:r>
            <a:r>
              <a:rPr lang="fr-FR" sz="1400">
                <a:solidFill>
                  <a:srgbClr val="161616"/>
                </a:solidFill>
                <a:latin typeface="Marianne"/>
              </a:rPr>
              <a:t>Colonnes intégrées (pas de tabulations)</a:t>
            </a:r>
          </a:p>
          <a:p>
            <a:pPr algn="l">
              <a:lnSpc>
                <a:spcPct val="150000"/>
              </a:lnSpc>
            </a:pPr>
            <a:r>
              <a:rPr lang="fr-FR" sz="1800" b="1">
                <a:solidFill>
                  <a:srgbClr val="000091"/>
                </a:solidFill>
                <a:latin typeface="Marianne"/>
              </a:rPr>
              <a:t>☐  </a:t>
            </a:r>
            <a:r>
              <a:rPr lang="fr-FR" sz="1400">
                <a:solidFill>
                  <a:srgbClr val="161616"/>
                </a:solidFill>
                <a:latin typeface="Marianne"/>
              </a:rPr>
              <a:t>Tableaux de mise en page avec habillage Aucun</a:t>
            </a:r>
          </a:p>
          <a:p>
            <a:pPr algn="l">
              <a:lnSpc>
                <a:spcPct val="150000"/>
              </a:lnSpc>
            </a:pPr>
            <a:r>
              <a:rPr lang="fr-FR" sz="1800" b="1">
                <a:solidFill>
                  <a:srgbClr val="000091"/>
                </a:solidFill>
                <a:latin typeface="Marianne"/>
              </a:rPr>
              <a:t>☐  </a:t>
            </a:r>
            <a:r>
              <a:rPr lang="fr-FR" sz="1400">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Checklist</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À vous de jouer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rd-titre"/>
          <p:cNvSpPr txBox="1"/>
          <p:nvPr/>
        </p:nvSpPr>
        <p:spPr>
          <a:xfrm>
            <a:off x="704088" y="345186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Refaites le quiz final sans rouvrir ce support</a:t>
            </a:r>
          </a:p>
          <a:p>
            <a:pPr algn="l">
              <a:lnSpc>
                <a:spcPct val="150000"/>
              </a:lnSpc>
            </a:pPr>
            <a:r>
              <a:rPr lang="fr-FR" sz="1400">
                <a:solidFill>
                  <a:srgbClr val="161616"/>
                </a:solidFill>
                <a:latin typeface="Marianne"/>
              </a:rPr>
              <a:t>• </a:t>
            </a:r>
            <a:r>
              <a:rPr lang="fr-FR" sz="1400" b="0">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rd-titre"/>
          <p:cNvSpPr txBox="1"/>
          <p:nvPr/>
        </p:nvSpPr>
        <p:spPr>
          <a:xfrm>
            <a:off x="4547615" y="345186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Ouvrez un vrai document Word</a:t>
            </a:r>
          </a:p>
          <a:p>
            <a:pPr algn="l">
              <a:lnSpc>
                <a:spcPct val="150000"/>
              </a:lnSpc>
            </a:pPr>
            <a:r>
              <a:rPr lang="fr-FR" sz="1400">
                <a:solidFill>
                  <a:srgbClr val="161616"/>
                </a:solidFill>
                <a:latin typeface="Marianne"/>
              </a:rPr>
              <a:t>• </a:t>
            </a:r>
            <a:r>
              <a:rPr lang="fr-FR" sz="1400" b="0">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8391144" y="345186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Styles de titre, texte alt, vérificateur avant envoi</a:t>
            </a:r>
          </a:p>
          <a:p>
            <a:pPr algn="l">
              <a:lnSpc>
                <a:spcPct val="150000"/>
              </a:lnSpc>
            </a:pPr>
            <a:r>
              <a:rPr lang="fr-FR" sz="1400">
                <a:solidFill>
                  <a:srgbClr val="161616"/>
                </a:solidFill>
                <a:latin typeface="Marianne"/>
              </a:rPr>
              <a:t>• </a:t>
            </a:r>
            <a:r>
              <a:rPr lang="fr-FR" sz="1400" b="0">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Fin</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72</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points de contrôle rapides</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WebAIM Million 2026 : le constat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73</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llout-titre"/>
          <p:cNvSpPr txBox="1"/>
          <p:nvPr/>
        </p:nvSpPr>
        <p:spPr>
          <a:xfrm>
            <a:off x="704088" y="36576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WebAIM analyse automatiquement les pages d’accueil : c’est un thermomètre, pas un audit RGAA complet.</a:t>
            </a:r>
          </a:p>
          <a:p>
            <a:pPr algn="l">
              <a:lnSpc>
                <a:spcPct val="115000"/>
              </a:lnSpc>
            </a:pPr>
            <a:r>
              <a:rPr lang="fr-FR" sz="1400">
                <a:solidFill>
                  <a:srgbClr val="161616"/>
                </a:solidFill>
                <a:latin typeface="Marianne"/>
              </a:rPr>
              <a:t>• </a:t>
            </a:r>
            <a:r>
              <a:rPr lang="fr-FR" sz="1400" b="0">
                <a:solidFill>
                  <a:srgbClr val="161616"/>
                </a:solidFill>
                <a:latin typeface="Marianne"/>
              </a:rPr>
              <a:t>L’absence d’erreur détectée ne prouve pas qu’une page est accessible.</a:t>
            </a:r>
          </a:p>
          <a:p>
            <a:pPr algn="l">
              <a:lnSpc>
                <a:spcPct val="115000"/>
              </a:lnSpc>
            </a:pPr>
            <a:r>
              <a:rPr lang="fr-FR" sz="1400">
                <a:solidFill>
                  <a:srgbClr val="161616"/>
                </a:solidFill>
                <a:latin typeface="Marianne"/>
              </a:rPr>
              <a:t>• </a:t>
            </a:r>
            <a:r>
              <a:rPr lang="fr-FR" sz="1400" b="0">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WebAIM</a:t>
            </a:r>
          </a:p>
        </p:txBody>
      </p:sp>
      <p:sp>
        <p:nvSpPr>
          <p:cNvPr id="14" name="DSFR-accent-decoratif"/>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Six erreurs qui justifient les points de contrôle rapides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74</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393192">
                <a:tc>
                  <a:txBody>
                    <a:bodyPr/>
                    <a:lstStyle/>
                    <a:p>
                      <a:pPr algn="l">
                        <a:lnSpc>
                          <a:spcPct val="125000"/>
                        </a:lnSpc>
                      </a:pPr>
                      <a:r>
                        <a:rPr lang="fr-FR" sz="1400" b="1" i="0">
                          <a:solidFill>
                            <a:srgbClr val="FFFFFF"/>
                          </a:solidFill>
                          <a:latin typeface="Marianne"/>
                        </a:rPr>
                        <a:t>Erreur fréquente</a:t>
                      </a:r>
                    </a:p>
                  </a:txBody>
                  <a:tcPr>
                    <a:solidFill>
                      <a:srgbClr val="000091"/>
                    </a:solidFill>
                  </a:tcPr>
                </a:tc>
                <a:tc>
                  <a:txBody>
                    <a:bodyPr/>
                    <a:lstStyle/>
                    <a:p>
                      <a:pPr algn="l">
                        <a:lnSpc>
                          <a:spcPct val="125000"/>
                        </a:lnSpc>
                      </a:pPr>
                      <a:r>
                        <a:rPr lang="fr-FR" sz="1400" b="1" i="0">
                          <a:solidFill>
                            <a:srgbClr val="FFFFFF"/>
                          </a:solidFill>
                          <a:latin typeface="Marianne"/>
                        </a:rPr>
                        <a:t>Pages concernées</a:t>
                      </a:r>
                    </a:p>
                  </a:txBody>
                  <a:tcPr>
                    <a:solidFill>
                      <a:srgbClr val="000091"/>
                    </a:solidFill>
                  </a:tcPr>
                </a:tc>
                <a:tc>
                  <a:txBody>
                    <a:bodyPr/>
                    <a:lstStyle/>
                    <a:p>
                      <a:pPr algn="l">
                        <a:lnSpc>
                          <a:spcPct val="125000"/>
                        </a:lnSpc>
                      </a:pPr>
                      <a:r>
                        <a:rPr lang="fr-FR" sz="1400" b="1" i="0">
                          <a:solidFill>
                            <a:srgbClr val="FFFFFF"/>
                          </a:solidFill>
                          <a:latin typeface="Marianne"/>
                        </a:rPr>
                        <a:t>Point d’entrée</a:t>
                      </a:r>
                    </a:p>
                  </a:txBody>
                  <a:tcPr>
                    <a:solidFill>
                      <a:srgbClr val="000091"/>
                    </a:solidFill>
                  </a:tcPr>
                </a:tc>
                <a:extLst>
                  <a:ext uri="{0D108BD9-81ED-4DB2-BD59-A6C34878D82A}">
                    <a16:rowId xmlns:a16="http://schemas.microsoft.com/office/drawing/2014/main" val="10000"/>
                  </a:ext>
                </a:extLst>
              </a:tr>
              <a:tr h="393192">
                <a:tc>
                  <a:txBody>
                    <a:bodyPr/>
                    <a:lstStyle/>
                    <a:p>
                      <a:pPr algn="l">
                        <a:lnSpc>
                          <a:spcPct val="125000"/>
                        </a:lnSpc>
                      </a:pPr>
                      <a:r>
                        <a:rPr lang="fr-FR" sz="1400" b="0" i="0">
                          <a:solidFill>
                            <a:srgbClr val="161616"/>
                          </a:solidFill>
                          <a:latin typeface="Marianne"/>
                        </a:rPr>
                        <a:t>Texte à faible contraste</a:t>
                      </a:r>
                    </a:p>
                  </a:txBody>
                  <a:tcPr>
                    <a:solidFill>
                      <a:srgbClr val="FFFFFF"/>
                    </a:solidFill>
                  </a:tcPr>
                </a:tc>
                <a:tc>
                  <a:txBody>
                    <a:bodyPr/>
                    <a:lstStyle/>
                    <a:p>
                      <a:pPr algn="l">
                        <a:lnSpc>
                          <a:spcPct val="125000"/>
                        </a:lnSpc>
                      </a:pPr>
                      <a:r>
                        <a:rPr lang="fr-FR" sz="1400" b="0" i="0">
                          <a:solidFill>
                            <a:srgbClr val="161616"/>
                          </a:solidFill>
                          <a:latin typeface="Marianne"/>
                        </a:rPr>
                        <a:t>83,9 %</a:t>
                      </a:r>
                    </a:p>
                  </a:txBody>
                  <a:tcPr>
                    <a:solidFill>
                      <a:srgbClr val="FFFFFF"/>
                    </a:solidFill>
                  </a:tcPr>
                </a:tc>
                <a:tc>
                  <a:txBody>
                    <a:bodyPr/>
                    <a:lstStyle/>
                    <a:p>
                      <a:pPr algn="l">
                        <a:lnSpc>
                          <a:spcPct val="125000"/>
                        </a:lnSpc>
                      </a:pPr>
                      <a:r>
                        <a:rPr lang="fr-FR" sz="1400" b="0" i="0">
                          <a:solidFill>
                            <a:srgbClr val="161616"/>
                          </a:solidFill>
                          <a:latin typeface="Marianne"/>
                        </a:rPr>
                        <a:t>Contraste</a:t>
                      </a:r>
                    </a:p>
                  </a:txBody>
                  <a:tcPr>
                    <a:solidFill>
                      <a:srgbClr val="FFFFFF"/>
                    </a:solidFill>
                  </a:tcPr>
                </a:tc>
                <a:extLst>
                  <a:ext uri="{0D108BD9-81ED-4DB2-BD59-A6C34878D82A}">
                    <a16:rowId xmlns:a16="http://schemas.microsoft.com/office/drawing/2014/main" val="10001"/>
                  </a:ext>
                </a:extLst>
              </a:tr>
              <a:tr h="393192">
                <a:tc>
                  <a:txBody>
                    <a:bodyPr/>
                    <a:lstStyle/>
                    <a:p>
                      <a:pPr algn="l">
                        <a:lnSpc>
                          <a:spcPct val="125000"/>
                        </a:lnSpc>
                      </a:pPr>
                      <a:r>
                        <a:rPr lang="fr-FR" sz="1400" b="0" i="0">
                          <a:solidFill>
                            <a:srgbClr val="161616"/>
                          </a:solidFill>
                          <a:latin typeface="Marianne"/>
                        </a:rPr>
                        <a:t>Texte alternatif d’image manquant</a:t>
                      </a:r>
                    </a:p>
                  </a:txBody>
                  <a:tcPr>
                    <a:solidFill>
                      <a:srgbClr val="F5F5FE"/>
                    </a:solidFill>
                  </a:tcPr>
                </a:tc>
                <a:tc>
                  <a:txBody>
                    <a:bodyPr/>
                    <a:lstStyle/>
                    <a:p>
                      <a:pPr algn="l">
                        <a:lnSpc>
                          <a:spcPct val="125000"/>
                        </a:lnSpc>
                      </a:pPr>
                      <a:r>
                        <a:rPr lang="fr-FR" sz="1400" b="0" i="0">
                          <a:solidFill>
                            <a:srgbClr val="161616"/>
                          </a:solidFill>
                          <a:latin typeface="Marianne"/>
                        </a:rPr>
                        <a:t>53,1 %</a:t>
                      </a:r>
                    </a:p>
                  </a:txBody>
                  <a:tcPr>
                    <a:solidFill>
                      <a:srgbClr val="F5F5FE"/>
                    </a:solidFill>
                  </a:tcPr>
                </a:tc>
                <a:tc>
                  <a:txBody>
                    <a:bodyPr/>
                    <a:lstStyle/>
                    <a:p>
                      <a:pPr algn="l">
                        <a:lnSpc>
                          <a:spcPct val="125000"/>
                        </a:lnSpc>
                      </a:pPr>
                      <a:r>
                        <a:rPr lang="fr-FR" sz="1400" b="0" i="0">
                          <a:solidFill>
                            <a:srgbClr val="161616"/>
                          </a:solidFill>
                          <a:latin typeface="Marianne"/>
                        </a:rPr>
                        <a:t>Images</a:t>
                      </a:r>
                    </a:p>
                  </a:txBody>
                  <a:tcPr>
                    <a:solidFill>
                      <a:srgbClr val="F5F5FE"/>
                    </a:solidFill>
                  </a:tcPr>
                </a:tc>
                <a:extLst>
                  <a:ext uri="{0D108BD9-81ED-4DB2-BD59-A6C34878D82A}">
                    <a16:rowId xmlns:a16="http://schemas.microsoft.com/office/drawing/2014/main" val="10002"/>
                  </a:ext>
                </a:extLst>
              </a:tr>
              <a:tr h="393192">
                <a:tc>
                  <a:txBody>
                    <a:bodyPr/>
                    <a:lstStyle/>
                    <a:p>
                      <a:pPr algn="l">
                        <a:lnSpc>
                          <a:spcPct val="125000"/>
                        </a:lnSpc>
                      </a:pPr>
                      <a:r>
                        <a:rPr lang="fr-FR" sz="1400" b="0" i="0">
                          <a:solidFill>
                            <a:srgbClr val="161616"/>
                          </a:solidFill>
                          <a:latin typeface="Marianne"/>
                        </a:rPr>
                        <a:t>Étiquette de formulaire manquante</a:t>
                      </a:r>
                    </a:p>
                  </a:txBody>
                  <a:tcPr>
                    <a:solidFill>
                      <a:srgbClr val="FFFFFF"/>
                    </a:solidFill>
                  </a:tcPr>
                </a:tc>
                <a:tc>
                  <a:txBody>
                    <a:bodyPr/>
                    <a:lstStyle/>
                    <a:p>
                      <a:pPr algn="l">
                        <a:lnSpc>
                          <a:spcPct val="125000"/>
                        </a:lnSpc>
                      </a:pPr>
                      <a:r>
                        <a:rPr lang="fr-FR" sz="1400" b="0" i="0">
                          <a:solidFill>
                            <a:srgbClr val="161616"/>
                          </a:solidFill>
                          <a:latin typeface="Marianne"/>
                        </a:rPr>
                        <a:t>51 %</a:t>
                      </a:r>
                    </a:p>
                  </a:txBody>
                  <a:tcPr>
                    <a:solidFill>
                      <a:srgbClr val="FFFFFF"/>
                    </a:solidFill>
                  </a:tcPr>
                </a:tc>
                <a:tc>
                  <a:txBody>
                    <a:bodyPr/>
                    <a:lstStyle/>
                    <a:p>
                      <a:pPr algn="l">
                        <a:lnSpc>
                          <a:spcPct val="125000"/>
                        </a:lnSpc>
                      </a:pPr>
                      <a:r>
                        <a:rPr lang="fr-FR" sz="1400" b="0" i="0">
                          <a:solidFill>
                            <a:srgbClr val="161616"/>
                          </a:solidFill>
                          <a:latin typeface="Marianne"/>
                        </a:rPr>
                        <a:t>Formulaires</a:t>
                      </a:r>
                    </a:p>
                  </a:txBody>
                  <a:tcPr>
                    <a:solidFill>
                      <a:srgbClr val="FFFFFF"/>
                    </a:solidFill>
                  </a:tcPr>
                </a:tc>
                <a:extLst>
                  <a:ext uri="{0D108BD9-81ED-4DB2-BD59-A6C34878D82A}">
                    <a16:rowId xmlns:a16="http://schemas.microsoft.com/office/drawing/2014/main" val="10003"/>
                  </a:ext>
                </a:extLst>
              </a:tr>
              <a:tr h="393192">
                <a:tc>
                  <a:txBody>
                    <a:bodyPr/>
                    <a:lstStyle/>
                    <a:p>
                      <a:pPr algn="l">
                        <a:lnSpc>
                          <a:spcPct val="125000"/>
                        </a:lnSpc>
                      </a:pPr>
                      <a:r>
                        <a:rPr lang="fr-FR" sz="1400" b="0" i="0">
                          <a:solidFill>
                            <a:srgbClr val="161616"/>
                          </a:solidFill>
                          <a:latin typeface="Marianne"/>
                        </a:rPr>
                        <a:t>Liens vides</a:t>
                      </a:r>
                    </a:p>
                  </a:txBody>
                  <a:tcPr>
                    <a:solidFill>
                      <a:srgbClr val="F5F5FE"/>
                    </a:solidFill>
                  </a:tcPr>
                </a:tc>
                <a:tc>
                  <a:txBody>
                    <a:bodyPr/>
                    <a:lstStyle/>
                    <a:p>
                      <a:pPr algn="l">
                        <a:lnSpc>
                          <a:spcPct val="125000"/>
                        </a:lnSpc>
                      </a:pPr>
                      <a:r>
                        <a:rPr lang="fr-FR" sz="1400" b="0" i="0">
                          <a:solidFill>
                            <a:srgbClr val="161616"/>
                          </a:solidFill>
                          <a:latin typeface="Marianne"/>
                        </a:rPr>
                        <a:t>46,3 %</a:t>
                      </a:r>
                    </a:p>
                  </a:txBody>
                  <a:tcPr>
                    <a:solidFill>
                      <a:srgbClr val="F5F5FE"/>
                    </a:solidFill>
                  </a:tcPr>
                </a:tc>
                <a:tc>
                  <a:txBody>
                    <a:bodyPr/>
                    <a:lstStyle/>
                    <a:p>
                      <a:pPr algn="l">
                        <a:lnSpc>
                          <a:spcPct val="125000"/>
                        </a:lnSpc>
                      </a:pPr>
                      <a:r>
                        <a:rPr lang="fr-FR" sz="1400" b="0" i="0">
                          <a:solidFill>
                            <a:srgbClr val="161616"/>
                          </a:solidFill>
                          <a:latin typeface="Marianne"/>
                        </a:rPr>
                        <a:t>Images / clavier (partiel)</a:t>
                      </a:r>
                    </a:p>
                  </a:txBody>
                  <a:tcPr>
                    <a:solidFill>
                      <a:srgbClr val="F5F5FE"/>
                    </a:solidFill>
                  </a:tcPr>
                </a:tc>
                <a:extLst>
                  <a:ext uri="{0D108BD9-81ED-4DB2-BD59-A6C34878D82A}">
                    <a16:rowId xmlns:a16="http://schemas.microsoft.com/office/drawing/2014/main" val="10004"/>
                  </a:ext>
                </a:extLst>
              </a:tr>
              <a:tr h="393192">
                <a:tc>
                  <a:txBody>
                    <a:bodyPr/>
                    <a:lstStyle/>
                    <a:p>
                      <a:pPr algn="l">
                        <a:lnSpc>
                          <a:spcPct val="125000"/>
                        </a:lnSpc>
                      </a:pPr>
                      <a:r>
                        <a:rPr lang="fr-FR" sz="1400" b="0" i="0">
                          <a:solidFill>
                            <a:srgbClr val="161616"/>
                          </a:solidFill>
                          <a:latin typeface="Marianne"/>
                        </a:rPr>
                        <a:t>Boutons vides</a:t>
                      </a:r>
                    </a:p>
                  </a:txBody>
                  <a:tcPr>
                    <a:solidFill>
                      <a:srgbClr val="FFFFFF"/>
                    </a:solidFill>
                  </a:tcPr>
                </a:tc>
                <a:tc>
                  <a:txBody>
                    <a:bodyPr/>
                    <a:lstStyle/>
                    <a:p>
                      <a:pPr algn="l">
                        <a:lnSpc>
                          <a:spcPct val="125000"/>
                        </a:lnSpc>
                      </a:pPr>
                      <a:r>
                        <a:rPr lang="fr-FR" sz="1400" b="0" i="0">
                          <a:solidFill>
                            <a:srgbClr val="161616"/>
                          </a:solidFill>
                          <a:latin typeface="Marianne"/>
                        </a:rPr>
                        <a:t>30,6 %</a:t>
                      </a:r>
                    </a:p>
                  </a:txBody>
                  <a:tcPr>
                    <a:solidFill>
                      <a:srgbClr val="FFFFFF"/>
                    </a:solidFill>
                  </a:tcPr>
                </a:tc>
                <a:tc>
                  <a:txBody>
                    <a:bodyPr/>
                    <a:lstStyle/>
                    <a:p>
                      <a:pPr algn="l">
                        <a:lnSpc>
                          <a:spcPct val="125000"/>
                        </a:lnSpc>
                      </a:pPr>
                      <a:r>
                        <a:rPr lang="fr-FR" sz="1400" b="0" i="0">
                          <a:solidFill>
                            <a:srgbClr val="161616"/>
                          </a:solidFill>
                          <a:latin typeface="Marianne"/>
                        </a:rPr>
                        <a:t>Clavier / formulaires (partiel)</a:t>
                      </a:r>
                    </a:p>
                  </a:txBody>
                  <a:tcPr>
                    <a:solidFill>
                      <a:srgbClr val="FFFFFF"/>
                    </a:solidFill>
                  </a:tcPr>
                </a:tc>
                <a:extLst>
                  <a:ext uri="{0D108BD9-81ED-4DB2-BD59-A6C34878D82A}">
                    <a16:rowId xmlns:a16="http://schemas.microsoft.com/office/drawing/2014/main" val="10005"/>
                  </a:ext>
                </a:extLst>
              </a:tr>
              <a:tr h="393192">
                <a:tc>
                  <a:txBody>
                    <a:bodyPr/>
                    <a:lstStyle/>
                    <a:p>
                      <a:pPr algn="l">
                        <a:lnSpc>
                          <a:spcPct val="125000"/>
                        </a:lnSpc>
                      </a:pPr>
                      <a:r>
                        <a:rPr lang="fr-FR" sz="1400" b="0" i="0">
                          <a:solidFill>
                            <a:srgbClr val="161616"/>
                          </a:solidFill>
                          <a:latin typeface="Marianne"/>
                        </a:rPr>
                        <a:t>Langue du document absente</a:t>
                      </a:r>
                    </a:p>
                  </a:txBody>
                  <a:tcPr>
                    <a:solidFill>
                      <a:srgbClr val="F5F5FE"/>
                    </a:solidFill>
                  </a:tcPr>
                </a:tc>
                <a:tc>
                  <a:txBody>
                    <a:bodyPr/>
                    <a:lstStyle/>
                    <a:p>
                      <a:pPr algn="l">
                        <a:lnSpc>
                          <a:spcPct val="125000"/>
                        </a:lnSpc>
                      </a:pPr>
                      <a:r>
                        <a:rPr lang="fr-FR" sz="1400" b="0" i="0">
                          <a:solidFill>
                            <a:srgbClr val="161616"/>
                          </a:solidFill>
                          <a:latin typeface="Marianne"/>
                        </a:rPr>
                        <a:t>13,5 %</a:t>
                      </a:r>
                    </a:p>
                  </a:txBody>
                  <a:tcPr>
                    <a:solidFill>
                      <a:srgbClr val="F5F5FE"/>
                    </a:solidFill>
                  </a:tcPr>
                </a:tc>
                <a:tc>
                  <a:txBody>
                    <a:bodyPr/>
                    <a:lstStyle/>
                    <a:p>
                      <a:pPr algn="l">
                        <a:lnSpc>
                          <a:spcPct val="125000"/>
                        </a:lnSpc>
                      </a:pPr>
                      <a:r>
                        <a:rPr lang="fr-FR" sz="1400" b="0" i="0">
                          <a:solidFill>
                            <a:srgbClr val="161616"/>
                          </a:solidFill>
                          <a:latin typeface="Marianne"/>
                        </a:rPr>
                        <a:t>Langue</a:t>
                      </a:r>
                    </a:p>
                  </a:txBody>
                  <a:tcPr>
                    <a:solidFill>
                      <a:srgbClr val="F5F5FE"/>
                    </a:solidFill>
                  </a:tcPr>
                </a:tc>
                <a:extLst>
                  <a:ext uri="{0D108BD9-81ED-4DB2-BD59-A6C34878D82A}">
                    <a16:rowId xmlns:a16="http://schemas.microsoft.com/office/drawing/2014/main" val="10006"/>
                  </a:ext>
                </a:extLst>
              </a:tr>
            </a:tbl>
          </a:graphicData>
        </a:graphic>
      </p:graphicFrame>
      <p:sp>
        <p:nvSpPr>
          <p:cNvPr id="10" name="DSFR-box"/>
          <p:cNvSpPr/>
          <p:nvPr/>
        </p:nvSpPr>
        <p:spPr>
          <a:xfrm>
            <a:off x="548640" y="4824374"/>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704088" y="491581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retenir</a:t>
            </a:r>
          </a:p>
        </p:txBody>
      </p:sp>
      <p:sp>
        <p:nvSpPr>
          <p:cNvPr id="12" name="DSFR-callout-body"/>
          <p:cNvSpPr txBox="1"/>
          <p:nvPr/>
        </p:nvSpPr>
        <p:spPr>
          <a:xfrm>
            <a:off x="704088" y="5327294"/>
            <a:ext cx="10908792" cy="799642"/>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Ces six familles représentent 96 % des erreurs détectées par WebAIM.</a:t>
            </a:r>
          </a:p>
          <a:p>
            <a:pPr algn="l">
              <a:lnSpc>
                <a:spcPct val="115000"/>
              </a:lnSpc>
            </a:pPr>
            <a:r>
              <a:rPr lang="fr-FR" sz="1400">
                <a:solidFill>
                  <a:srgbClr val="161616"/>
                </a:solidFill>
                <a:latin typeface="Marianne"/>
              </a:rPr>
              <a:t>• </a:t>
            </a:r>
            <a:r>
              <a:rPr lang="fr-FR" sz="1400" b="0">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WebAIM</a:t>
            </a:r>
          </a:p>
        </p:txBody>
      </p:sp>
      <p:sp>
        <p:nvSpPr>
          <p:cNvPr id="9" name="DSFR-accent-decoratif"/>
          <p:cNvSpPr/>
          <p:nvPr/>
        </p:nvSpPr>
        <p:spPr>
          <a:xfrm>
            <a:off x="475488" y="482437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Texte alternatif : 4 types d’images, 4 décisions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rd-titre"/>
          <p:cNvSpPr txBox="1"/>
          <p:nvPr/>
        </p:nvSpPr>
        <p:spPr>
          <a:xfrm>
            <a:off x="704088" y="3931920"/>
            <a:ext cx="224942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card-titre"/>
          <p:cNvSpPr txBox="1"/>
          <p:nvPr/>
        </p:nvSpPr>
        <p:spPr>
          <a:xfrm>
            <a:off x="3575303" y="3931920"/>
            <a:ext cx="224942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SFR-card-titre"/>
          <p:cNvSpPr txBox="1"/>
          <p:nvPr/>
        </p:nvSpPr>
        <p:spPr>
          <a:xfrm>
            <a:off x="6446519" y="3931920"/>
            <a:ext cx="224942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SFR-card-titre"/>
          <p:cNvSpPr txBox="1"/>
          <p:nvPr/>
        </p:nvSpPr>
        <p:spPr>
          <a:xfrm>
            <a:off x="9317735" y="3931920"/>
            <a:ext cx="224942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accent-decoratif"/>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accent-decoratif"/>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Rédiger un texte alternatif qui sert vraiment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76</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Concis : une phrase courte, centrée sur l’information utile</a:t>
            </a:r>
          </a:p>
          <a:p>
            <a:pPr algn="l">
              <a:lnSpc>
                <a:spcPct val="125000"/>
              </a:lnSpc>
            </a:pPr>
            <a:r>
              <a:rPr lang="fr-FR" sz="1400">
                <a:solidFill>
                  <a:srgbClr val="161616"/>
                </a:solidFill>
                <a:latin typeface="Marianne"/>
              </a:rPr>
              <a:t>• </a:t>
            </a:r>
            <a:r>
              <a:rPr lang="fr-FR" sz="1400" b="0">
                <a:solidFill>
                  <a:srgbClr val="161616"/>
                </a:solidFill>
                <a:latin typeface="Marianne"/>
              </a:rPr>
              <a:t>Objectif : décrit, ne commente pas</a:t>
            </a:r>
          </a:p>
          <a:p>
            <a:pPr algn="l">
              <a:lnSpc>
                <a:spcPct val="125000"/>
              </a:lnSpc>
            </a:pPr>
            <a:r>
              <a:rPr lang="fr-FR" sz="1400">
                <a:solidFill>
                  <a:srgbClr val="161616"/>
                </a:solidFill>
                <a:latin typeface="Marianne"/>
              </a:rPr>
              <a:t>• </a:t>
            </a:r>
            <a:r>
              <a:rPr lang="fr-FR" sz="1400" b="0">
                <a:solidFill>
                  <a:srgbClr val="161616"/>
                </a:solidFill>
                <a:latin typeface="Marianne"/>
              </a:rPr>
              <a:t>Pas de « photo de » ni « image de » - le lecteur d’écran le dit déjà</a:t>
            </a:r>
          </a:p>
          <a:p>
            <a:pPr algn="l">
              <a:lnSpc>
                <a:spcPct val="125000"/>
              </a:lnSpc>
            </a:pPr>
            <a:r>
              <a:rPr lang="fr-FR" sz="1400">
                <a:solidFill>
                  <a:srgbClr val="161616"/>
                </a:solidFill>
                <a:latin typeface="Marianne"/>
              </a:rPr>
              <a:t>• </a:t>
            </a:r>
            <a:r>
              <a:rPr lang="fr-FR" sz="1400" b="0">
                <a:solidFill>
                  <a:srgbClr val="161616"/>
                </a:solidFill>
                <a:latin typeface="Marianne"/>
              </a:rPr>
              <a:t>Contextuel : ce qui compte dans cette page, pas tout ce qui est visible</a:t>
            </a:r>
          </a:p>
          <a:p>
            <a:pPr algn="l">
              <a:lnSpc>
                <a:spcPct val="125000"/>
              </a:lnSpc>
            </a:pPr>
            <a:r>
              <a:rPr lang="fr-FR" sz="1400">
                <a:solidFill>
                  <a:srgbClr val="161616"/>
                </a:solidFill>
                <a:latin typeface="Marianne"/>
              </a:rPr>
              <a:t>• </a:t>
            </a:r>
            <a:r>
              <a:rPr lang="fr-FR" sz="1400" b="0">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704088" y="46863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Un nom de fichier (IMG_4578.jpg) en guise de texte alternatif = information perdue</a:t>
            </a:r>
          </a:p>
          <a:p>
            <a:pPr algn="l">
              <a:lnSpc>
                <a:spcPct val="150000"/>
              </a:lnSpc>
            </a:pPr>
            <a:r>
              <a:rPr lang="fr-FR" sz="1400">
                <a:solidFill>
                  <a:srgbClr val="161616"/>
                </a:solidFill>
                <a:latin typeface="Marianne"/>
              </a:rPr>
              <a:t>• </a:t>
            </a:r>
            <a:r>
              <a:rPr lang="fr-FR" sz="1400" b="0">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Texte alternatif des images</a:t>
            </a:r>
          </a:p>
        </p:txBody>
      </p:sp>
      <p:sp>
        <p:nvSpPr>
          <p:cNvPr id="8" name="DSFR-accent-decoratif"/>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Texte alternatif : passe ou échoue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77</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4187952">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566928">
                <a:tc>
                  <a:txBody>
                    <a:bodyPr/>
                    <a:lstStyle/>
                    <a:p>
                      <a:pPr algn="l">
                        <a:lnSpc>
                          <a:spcPct val="125000"/>
                        </a:lnSpc>
                      </a:pPr>
                      <a:r>
                        <a:rPr lang="fr-FR" sz="1400" b="1" i="0">
                          <a:solidFill>
                            <a:srgbClr val="FFFFFF"/>
                          </a:solidFill>
                          <a:latin typeface="Marianne"/>
                        </a:rPr>
                        <a:t>Image</a:t>
                      </a:r>
                    </a:p>
                  </a:txBody>
                  <a:tcPr>
                    <a:solidFill>
                      <a:srgbClr val="000091"/>
                    </a:solidFill>
                  </a:tcPr>
                </a:tc>
                <a:tc>
                  <a:txBody>
                    <a:bodyPr/>
                    <a:lstStyle/>
                    <a:p>
                      <a:pPr algn="l">
                        <a:lnSpc>
                          <a:spcPct val="125000"/>
                        </a:lnSpc>
                      </a:pPr>
                      <a:r>
                        <a:rPr lang="fr-FR" sz="1400" b="1" i="0">
                          <a:solidFill>
                            <a:srgbClr val="FFFFFF"/>
                          </a:solidFill>
                          <a:latin typeface="Marianne"/>
                        </a:rPr>
                        <a:t>Alt proposé</a:t>
                      </a:r>
                    </a:p>
                  </a:txBody>
                  <a:tcPr>
                    <a:solidFill>
                      <a:srgbClr val="000091"/>
                    </a:solidFill>
                  </a:tcPr>
                </a:tc>
                <a:tc>
                  <a:txBody>
                    <a:bodyPr/>
                    <a:lstStyle/>
                    <a:p>
                      <a:pPr algn="l">
                        <a:lnSpc>
                          <a:spcPct val="125000"/>
                        </a:lnSpc>
                      </a:pPr>
                      <a:r>
                        <a:rPr lang="fr-FR" sz="1400" b="1" i="0">
                          <a:solidFill>
                            <a:srgbClr val="FFFFFF"/>
                          </a:solidFill>
                          <a:latin typeface="Marianne"/>
                        </a:rPr>
                        <a:t>Verdict</a:t>
                      </a:r>
                    </a:p>
                  </a:txBody>
                  <a:tcPr>
                    <a:solidFill>
                      <a:srgbClr val="000091"/>
                    </a:solidFill>
                  </a:tcPr>
                </a:tc>
                <a:extLst>
                  <a:ext uri="{0D108BD9-81ED-4DB2-BD59-A6C34878D82A}">
                    <a16:rowId xmlns:a16="http://schemas.microsoft.com/office/drawing/2014/main" val="10000"/>
                  </a:ext>
                </a:extLst>
              </a:tr>
              <a:tr h="566928">
                <a:tc>
                  <a:txBody>
                    <a:bodyPr/>
                    <a:lstStyle/>
                    <a:p>
                      <a:pPr algn="l">
                        <a:lnSpc>
                          <a:spcPct val="125000"/>
                        </a:lnSpc>
                      </a:pPr>
                      <a:r>
                        <a:rPr lang="fr-FR" sz="1400" b="0" i="0">
                          <a:solidFill>
                            <a:srgbClr val="161616"/>
                          </a:solidFill>
                          <a:latin typeface="Marianne"/>
                        </a:rPr>
                        <a:t>Logo ministère dans l’en-tête (lien vers l’accueil)</a:t>
                      </a:r>
                    </a:p>
                  </a:txBody>
                  <a:tcPr>
                    <a:solidFill>
                      <a:srgbClr val="FFFFFF"/>
                    </a:solidFill>
                  </a:tcPr>
                </a:tc>
                <a:tc>
                  <a:txBody>
                    <a:bodyPr/>
                    <a:lstStyle/>
                    <a:p>
                      <a:pPr algn="l">
                        <a:lnSpc>
                          <a:spcPct val="125000"/>
                        </a:lnSpc>
                      </a:pPr>
                      <a:r>
                        <a:rPr lang="fr-FR" sz="1400" b="0" i="0">
                          <a:solidFill>
                            <a:srgbClr val="161616"/>
                          </a:solidFill>
                          <a:latin typeface="Marianne"/>
                        </a:rPr>
                        <a:t>alt="Ministère de l’Économie - Accueil"</a:t>
                      </a:r>
                    </a:p>
                  </a:txBody>
                  <a:tcPr>
                    <a:solidFill>
                      <a:srgbClr val="FFFFFF"/>
                    </a:solidFill>
                  </a:tcPr>
                </a:tc>
                <a:tc>
                  <a:txBody>
                    <a:bodyPr/>
                    <a:lstStyle/>
                    <a:p>
                      <a:pPr algn="l">
                        <a:lnSpc>
                          <a:spcPct val="125000"/>
                        </a:lnSpc>
                      </a:pPr>
                      <a:r>
                        <a:rPr lang="fr-FR" sz="1400" b="0" i="0">
                          <a:solidFill>
                            <a:srgbClr val="161616"/>
                          </a:solidFill>
                          <a:latin typeface="Marianne"/>
                        </a:rPr>
                        <a:t>OK - fonctionnelle, action nommée</a:t>
                      </a:r>
                    </a:p>
                  </a:txBody>
                  <a:tcPr>
                    <a:solidFill>
                      <a:srgbClr val="FFFFFF"/>
                    </a:solidFill>
                  </a:tcPr>
                </a:tc>
                <a:extLst>
                  <a:ext uri="{0D108BD9-81ED-4DB2-BD59-A6C34878D82A}">
                    <a16:rowId xmlns:a16="http://schemas.microsoft.com/office/drawing/2014/main" val="10001"/>
                  </a:ext>
                </a:extLst>
              </a:tr>
              <a:tr h="566928">
                <a:tc>
                  <a:txBody>
                    <a:bodyPr/>
                    <a:lstStyle/>
                    <a:p>
                      <a:pPr algn="l">
                        <a:lnSpc>
                          <a:spcPct val="125000"/>
                        </a:lnSpc>
                      </a:pPr>
                      <a:r>
                        <a:rPr lang="fr-FR" sz="1400" b="0" i="0">
                          <a:solidFill>
                            <a:srgbClr val="161616"/>
                          </a:solidFill>
                          <a:latin typeface="Marianne"/>
                        </a:rPr>
                        <a:t>Photo d’illustration d’un article sur la fraude</a:t>
                      </a:r>
                    </a:p>
                  </a:txBody>
                  <a:tcPr>
                    <a:solidFill>
                      <a:srgbClr val="F5F5FE"/>
                    </a:solidFill>
                  </a:tcPr>
                </a:tc>
                <a:tc>
                  <a:txBody>
                    <a:bodyPr/>
                    <a:lstStyle/>
                    <a:p>
                      <a:pPr algn="l">
                        <a:lnSpc>
                          <a:spcPct val="125000"/>
                        </a:lnSpc>
                      </a:pPr>
                      <a:r>
                        <a:rPr lang="fr-FR" sz="1400" b="0" i="0">
                          <a:solidFill>
                            <a:srgbClr val="161616"/>
                          </a:solidFill>
                          <a:latin typeface="Marianne"/>
                        </a:rPr>
                        <a:t>alt="image"</a:t>
                      </a:r>
                    </a:p>
                  </a:txBody>
                  <a:tcPr>
                    <a:solidFill>
                      <a:srgbClr val="F5F5FE"/>
                    </a:solidFill>
                  </a:tcPr>
                </a:tc>
                <a:tc>
                  <a:txBody>
                    <a:bodyPr/>
                    <a:lstStyle/>
                    <a:p>
                      <a:pPr algn="l">
                        <a:lnSpc>
                          <a:spcPct val="125000"/>
                        </a:lnSpc>
                      </a:pPr>
                      <a:r>
                        <a:rPr lang="fr-FR" sz="1400" b="0" i="0">
                          <a:solidFill>
                            <a:srgbClr val="161616"/>
                          </a:solidFill>
                          <a:latin typeface="Marianne"/>
                        </a:rPr>
                        <a:t>KO - aucune information</a:t>
                      </a:r>
                    </a:p>
                  </a:txBody>
                  <a:tcPr>
                    <a:solidFill>
                      <a:srgbClr val="F5F5FE"/>
                    </a:solidFill>
                  </a:tcPr>
                </a:tc>
                <a:extLst>
                  <a:ext uri="{0D108BD9-81ED-4DB2-BD59-A6C34878D82A}">
                    <a16:rowId xmlns:a16="http://schemas.microsoft.com/office/drawing/2014/main" val="10002"/>
                  </a:ext>
                </a:extLst>
              </a:tr>
              <a:tr h="566928">
                <a:tc>
                  <a:txBody>
                    <a:bodyPr/>
                    <a:lstStyle/>
                    <a:p>
                      <a:pPr algn="l">
                        <a:lnSpc>
                          <a:spcPct val="125000"/>
                        </a:lnSpc>
                      </a:pPr>
                      <a:r>
                        <a:rPr lang="fr-FR" sz="1400" b="0" i="0">
                          <a:solidFill>
                            <a:srgbClr val="161616"/>
                          </a:solidFill>
                          <a:latin typeface="Marianne"/>
                        </a:rPr>
                        <a:t>Séparateur graphique entre deux sections</a:t>
                      </a:r>
                    </a:p>
                  </a:txBody>
                  <a:tcPr>
                    <a:solidFill>
                      <a:srgbClr val="FFFFFF"/>
                    </a:solidFill>
                  </a:tcPr>
                </a:tc>
                <a:tc>
                  <a:txBody>
                    <a:bodyPr/>
                    <a:lstStyle/>
                    <a:p>
                      <a:pPr algn="l">
                        <a:lnSpc>
                          <a:spcPct val="125000"/>
                        </a:lnSpc>
                      </a:pPr>
                      <a:r>
                        <a:rPr lang="fr-FR" sz="1400" b="0" i="0">
                          <a:solidFill>
                            <a:srgbClr val="161616"/>
                          </a:solidFill>
                          <a:latin typeface="Marianne"/>
                        </a:rPr>
                        <a:t>alt=""</a:t>
                      </a:r>
                    </a:p>
                  </a:txBody>
                  <a:tcPr>
                    <a:solidFill>
                      <a:srgbClr val="FFFFFF"/>
                    </a:solidFill>
                  </a:tcPr>
                </a:tc>
                <a:tc>
                  <a:txBody>
                    <a:bodyPr/>
                    <a:lstStyle/>
                    <a:p>
                      <a:pPr algn="l">
                        <a:lnSpc>
                          <a:spcPct val="125000"/>
                        </a:lnSpc>
                      </a:pPr>
                      <a:r>
                        <a:rPr lang="fr-FR" sz="1400" b="0" i="0">
                          <a:solidFill>
                            <a:srgbClr val="161616"/>
                          </a:solidFill>
                          <a:latin typeface="Marianne"/>
                        </a:rPr>
                        <a:t>OK - décorative, alt vide</a:t>
                      </a:r>
                    </a:p>
                  </a:txBody>
                  <a:tcPr>
                    <a:solidFill>
                      <a:srgbClr val="FFFFFF"/>
                    </a:solidFill>
                  </a:tcPr>
                </a:tc>
                <a:extLst>
                  <a:ext uri="{0D108BD9-81ED-4DB2-BD59-A6C34878D82A}">
                    <a16:rowId xmlns:a16="http://schemas.microsoft.com/office/drawing/2014/main" val="10003"/>
                  </a:ext>
                </a:extLst>
              </a:tr>
              <a:tr h="566928">
                <a:tc>
                  <a:txBody>
                    <a:bodyPr/>
                    <a:lstStyle/>
                    <a:p>
                      <a:pPr algn="l">
                        <a:lnSpc>
                          <a:spcPct val="125000"/>
                        </a:lnSpc>
                      </a:pPr>
                      <a:r>
                        <a:rPr lang="fr-FR" sz="1400" b="0" i="0">
                          <a:solidFill>
                            <a:srgbClr val="161616"/>
                          </a:solidFill>
                          <a:latin typeface="Marianne"/>
                        </a:rPr>
                        <a:t>Graphique de répartition budgétaire</a:t>
                      </a:r>
                    </a:p>
                  </a:txBody>
                  <a:tcPr>
                    <a:solidFill>
                      <a:srgbClr val="F5F5FE"/>
                    </a:solidFill>
                  </a:tcPr>
                </a:tc>
                <a:tc>
                  <a:txBody>
                    <a:bodyPr/>
                    <a:lstStyle/>
                    <a:p>
                      <a:pPr algn="l">
                        <a:lnSpc>
                          <a:spcPct val="125000"/>
                        </a:lnSpc>
                      </a:pPr>
                      <a:r>
                        <a:rPr lang="fr-FR" sz="1400" b="0" i="0">
                          <a:solidFill>
                            <a:srgbClr val="161616"/>
                          </a:solidFill>
                          <a:latin typeface="Marianne"/>
                        </a:rPr>
                        <a:t>alt="graphique montrant la répartition du budget 2026, voir détail ci-dessous"</a:t>
                      </a:r>
                    </a:p>
                  </a:txBody>
                  <a:tcPr>
                    <a:solidFill>
                      <a:srgbClr val="F5F5FE"/>
                    </a:solidFill>
                  </a:tcPr>
                </a:tc>
                <a:tc>
                  <a:txBody>
                    <a:bodyPr/>
                    <a:lstStyle/>
                    <a:p>
                      <a:pPr algn="l">
                        <a:lnSpc>
                          <a:spcPct val="125000"/>
                        </a:lnSpc>
                      </a:pPr>
                      <a:r>
                        <a:rPr lang="fr-FR" sz="1400" b="0" i="0">
                          <a:solidFill>
                            <a:srgbClr val="161616"/>
                          </a:solidFill>
                          <a:latin typeface="Marianne"/>
                        </a:rPr>
                        <a:t>OK - alt court + renvoi au détail</a:t>
                      </a:r>
                    </a:p>
                  </a:txBody>
                  <a:tcPr>
                    <a:solidFill>
                      <a:srgbClr val="F5F5FE"/>
                    </a:solidFill>
                  </a:tcPr>
                </a:tc>
                <a:extLst>
                  <a:ext uri="{0D108BD9-81ED-4DB2-BD59-A6C34878D82A}">
                    <a16:rowId xmlns:a16="http://schemas.microsoft.com/office/drawing/2014/main" val="10004"/>
                  </a:ext>
                </a:extLst>
              </a:tr>
              <a:tr h="566928">
                <a:tc>
                  <a:txBody>
                    <a:bodyPr/>
                    <a:lstStyle/>
                    <a:p>
                      <a:pPr algn="l">
                        <a:lnSpc>
                          <a:spcPct val="125000"/>
                        </a:lnSpc>
                      </a:pPr>
                      <a:r>
                        <a:rPr lang="fr-FR" sz="1400" b="0" i="0">
                          <a:solidFill>
                            <a:srgbClr val="161616"/>
                          </a:solidFill>
                          <a:latin typeface="Marianne"/>
                        </a:rPr>
                        <a:t>Icône loupe dans un bouton de recherche</a:t>
                      </a:r>
                    </a:p>
                  </a:txBody>
                  <a:tcPr>
                    <a:solidFill>
                      <a:srgbClr val="FFFFFF"/>
                    </a:solidFill>
                  </a:tcPr>
                </a:tc>
                <a:tc>
                  <a:txBody>
                    <a:bodyPr/>
                    <a:lstStyle/>
                    <a:p>
                      <a:pPr algn="l">
                        <a:lnSpc>
                          <a:spcPct val="125000"/>
                        </a:lnSpc>
                      </a:pPr>
                      <a:r>
                        <a:rPr lang="fr-FR" sz="1400" b="0" i="0">
                          <a:solidFill>
                            <a:srgbClr val="161616"/>
                          </a:solidFill>
                          <a:latin typeface="Marianne"/>
                        </a:rPr>
                        <a:t>alt="loupe"</a:t>
                      </a:r>
                    </a:p>
                  </a:txBody>
                  <a:tcPr>
                    <a:solidFill>
                      <a:srgbClr val="FFFFFF"/>
                    </a:solidFill>
                  </a:tcPr>
                </a:tc>
                <a:tc>
                  <a:txBody>
                    <a:bodyPr/>
                    <a:lstStyle/>
                    <a:p>
                      <a:pPr algn="l">
                        <a:lnSpc>
                          <a:spcPct val="125000"/>
                        </a:lnSpc>
                      </a:pPr>
                      <a:r>
                        <a:rPr lang="fr-FR" sz="1400" b="0" i="0">
                          <a:solidFill>
                            <a:srgbClr val="161616"/>
                          </a:solidFill>
                          <a:latin typeface="Marianne"/>
                        </a:rPr>
                        <a:t>KO - décrit l’image, pas l’action (devrait être « Rechercher »)</a:t>
                      </a:r>
                    </a:p>
                  </a:txBody>
                  <a:tcPr>
                    <a:solidFill>
                      <a:srgbClr val="FFFFFF"/>
                    </a:solidFill>
                  </a:tcPr>
                </a:tc>
                <a:extLst>
                  <a:ext uri="{0D108BD9-81ED-4DB2-BD59-A6C34878D82A}">
                    <a16:rowId xmlns:a16="http://schemas.microsoft.com/office/drawing/2014/main" val="10005"/>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Texte alternatif des images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Titre de page : l’étiquette qui oriente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2967228"/>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Chaque page a un titre unique, différent des autres pages du site</a:t>
            </a:r>
          </a:p>
          <a:p>
            <a:pPr algn="l">
              <a:lnSpc>
                <a:spcPct val="125000"/>
              </a:lnSpc>
            </a:pPr>
            <a:r>
              <a:rPr lang="fr-FR" sz="1400">
                <a:solidFill>
                  <a:srgbClr val="161616"/>
                </a:solidFill>
                <a:latin typeface="Marianne"/>
              </a:rPr>
              <a:t>• </a:t>
            </a:r>
            <a:r>
              <a:rPr lang="fr-FR" sz="1400" b="0">
                <a:solidFill>
                  <a:srgbClr val="161616"/>
                </a:solidFill>
                <a:latin typeface="Marianne"/>
              </a:rPr>
              <a:t>Le titre décrit le contenu puis le nom du site (« Déclarer - impots.gouv.fr »)</a:t>
            </a:r>
          </a:p>
          <a:p>
            <a:pPr algn="l">
              <a:lnSpc>
                <a:spcPct val="125000"/>
              </a:lnSpc>
            </a:pPr>
            <a:r>
              <a:rPr lang="fr-FR" sz="1400">
                <a:solidFill>
                  <a:srgbClr val="161616"/>
                </a:solidFill>
                <a:latin typeface="Marianne"/>
              </a:rPr>
              <a:t>• </a:t>
            </a:r>
            <a:r>
              <a:rPr lang="fr-FR" sz="1400" b="0">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672583"/>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OK : « Résultats de recherche : accessibilité - Ministère de la Culture »</a:t>
            </a:r>
          </a:p>
          <a:p>
            <a:pPr algn="l">
              <a:lnSpc>
                <a:spcPct val="150000"/>
              </a:lnSpc>
            </a:pPr>
            <a:r>
              <a:rPr lang="fr-FR" sz="1400">
                <a:solidFill>
                  <a:srgbClr val="161616"/>
                </a:solidFill>
                <a:latin typeface="Marianne"/>
              </a:rPr>
              <a:t>• </a:t>
            </a:r>
            <a:r>
              <a:rPr lang="fr-FR" sz="1400" b="0">
                <a:solidFill>
                  <a:srgbClr val="161616"/>
                </a:solidFill>
                <a:latin typeface="Marianne"/>
              </a:rPr>
              <a:t>KO : « Accueil » sur chaque page du site</a:t>
            </a:r>
          </a:p>
          <a:p>
            <a:pPr algn="l">
              <a:lnSpc>
                <a:spcPct val="150000"/>
              </a:lnSpc>
            </a:pPr>
            <a:r>
              <a:rPr lang="fr-FR" sz="1400">
                <a:solidFill>
                  <a:srgbClr val="161616"/>
                </a:solidFill>
                <a:latin typeface="Marianne"/>
              </a:rPr>
              <a:t>• </a:t>
            </a:r>
            <a:r>
              <a:rPr lang="fr-FR" sz="1400" b="0">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Titre de page</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Titres : la hiérarchie qui structure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4061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Un seul H1 par page, qui reprend le sujet principal</a:t>
            </a:r>
          </a:p>
          <a:p>
            <a:pPr algn="l">
              <a:lnSpc>
                <a:spcPct val="125000"/>
              </a:lnSpc>
            </a:pPr>
            <a:r>
              <a:rPr lang="fr-FR" sz="1400">
                <a:solidFill>
                  <a:srgbClr val="161616"/>
                </a:solidFill>
                <a:latin typeface="Marianne"/>
              </a:rPr>
              <a:t>• </a:t>
            </a:r>
            <a:r>
              <a:rPr lang="fr-FR" sz="1400" b="0">
                <a:solidFill>
                  <a:srgbClr val="161616"/>
                </a:solidFill>
                <a:latin typeface="Marianne"/>
              </a:rPr>
              <a:t>Les niveaux s’emboîtent sans saut : H1 → H2 → H3, jamais H2 → H4</a:t>
            </a:r>
          </a:p>
          <a:p>
            <a:pPr algn="l">
              <a:lnSpc>
                <a:spcPct val="125000"/>
              </a:lnSpc>
            </a:pPr>
            <a:r>
              <a:rPr lang="fr-FR" sz="1400">
                <a:solidFill>
                  <a:srgbClr val="161616"/>
                </a:solidFill>
                <a:latin typeface="Marianne"/>
              </a:rPr>
              <a:t>• </a:t>
            </a:r>
            <a:r>
              <a:rPr lang="fr-FR" sz="1400" b="0">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Titres et hiérarchie</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Titres : 3 façons de vérifier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80</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4096512">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685800">
                <a:tc>
                  <a:txBody>
                    <a:bodyPr/>
                    <a:lstStyle/>
                    <a:p>
                      <a:pPr algn="l">
                        <a:lnSpc>
                          <a:spcPct val="125000"/>
                        </a:lnSpc>
                      </a:pPr>
                      <a:r>
                        <a:rPr lang="fr-FR" sz="1400" b="1" i="0">
                          <a:solidFill>
                            <a:srgbClr val="FFFFFF"/>
                          </a:solidFill>
                          <a:latin typeface="Marianne"/>
                        </a:rPr>
                        <a:t>Méthode</a:t>
                      </a:r>
                    </a:p>
                  </a:txBody>
                  <a:tcPr>
                    <a:solidFill>
                      <a:srgbClr val="000091"/>
                    </a:solidFill>
                  </a:tcPr>
                </a:tc>
                <a:tc>
                  <a:txBody>
                    <a:bodyPr/>
                    <a:lstStyle/>
                    <a:p>
                      <a:pPr algn="l">
                        <a:lnSpc>
                          <a:spcPct val="125000"/>
                        </a:lnSpc>
                      </a:pPr>
                      <a:r>
                        <a:rPr lang="fr-FR" sz="1400" b="1" i="0">
                          <a:solidFill>
                            <a:srgbClr val="FFFFFF"/>
                          </a:solidFill>
                          <a:latin typeface="Marianne"/>
                        </a:rPr>
                        <a:t>Comment faire</a:t>
                      </a:r>
                    </a:p>
                  </a:txBody>
                  <a:tcPr>
                    <a:solidFill>
                      <a:srgbClr val="000091"/>
                    </a:solidFill>
                  </a:tcPr>
                </a:tc>
                <a:tc>
                  <a:txBody>
                    <a:bodyPr/>
                    <a:lstStyle/>
                    <a:p>
                      <a:pPr algn="l">
                        <a:lnSpc>
                          <a:spcPct val="125000"/>
                        </a:lnSpc>
                      </a:pPr>
                      <a:r>
                        <a:rPr lang="fr-FR" sz="1400" b="1" i="0">
                          <a:solidFill>
                            <a:srgbClr val="FFFFFF"/>
                          </a:solidFill>
                          <a:latin typeface="Marianne"/>
                        </a:rPr>
                        <a:t>Ce que vous cherchez</a:t>
                      </a:r>
                    </a:p>
                  </a:txBody>
                  <a:tcPr>
                    <a:solidFill>
                      <a:srgbClr val="000091"/>
                    </a:solidFill>
                  </a:tcPr>
                </a:tc>
                <a:extLst>
                  <a:ext uri="{0D108BD9-81ED-4DB2-BD59-A6C34878D82A}">
                    <a16:rowId xmlns:a16="http://schemas.microsoft.com/office/drawing/2014/main" val="10000"/>
                  </a:ext>
                </a:extLst>
              </a:tr>
              <a:tr h="685800">
                <a:tc>
                  <a:txBody>
                    <a:bodyPr/>
                    <a:lstStyle/>
                    <a:p>
                      <a:pPr algn="l">
                        <a:lnSpc>
                          <a:spcPct val="125000"/>
                        </a:lnSpc>
                      </a:pPr>
                      <a:r>
                        <a:rPr lang="fr-FR" sz="1400" b="0" i="0">
                          <a:solidFill>
                            <a:srgbClr val="161616"/>
                          </a:solidFill>
                          <a:latin typeface="Marianne"/>
                        </a:rPr>
                        <a:t>Extension HeadingsMap</a:t>
                      </a:r>
                    </a:p>
                  </a:txBody>
                  <a:tcPr>
                    <a:solidFill>
                      <a:srgbClr val="FFFFFF"/>
                    </a:solidFill>
                  </a:tcPr>
                </a:tc>
                <a:tc>
                  <a:txBody>
                    <a:bodyPr/>
                    <a:lstStyle/>
                    <a:p>
                      <a:pPr algn="l">
                        <a:lnSpc>
                          <a:spcPct val="125000"/>
                        </a:lnSpc>
                      </a:pPr>
                      <a:r>
                        <a:rPr lang="fr-FR" sz="1400" b="0" i="0">
                          <a:solidFill>
                            <a:srgbClr val="161616"/>
                          </a:solidFill>
                          <a:latin typeface="Marianne"/>
                        </a:rPr>
                        <a:t>Installer l’extension, ouvrir le panneau latéral.</a:t>
                      </a:r>
                    </a:p>
                  </a:txBody>
                  <a:tcPr>
                    <a:solidFill>
                      <a:srgbClr val="FFFFFF"/>
                    </a:solidFill>
                  </a:tcPr>
                </a:tc>
                <a:tc>
                  <a:txBody>
                    <a:bodyPr/>
                    <a:lstStyle/>
                    <a:p>
                      <a:pPr algn="l">
                        <a:lnSpc>
                          <a:spcPct val="125000"/>
                        </a:lnSpc>
                      </a:pPr>
                      <a:r>
                        <a:rPr lang="fr-FR" sz="1400" b="0" i="0">
                          <a:solidFill>
                            <a:srgbClr val="161616"/>
                          </a:solidFill>
                          <a:latin typeface="Marianne"/>
                        </a:rPr>
                        <a:t>L’arbre complet des titres s’affiche, les anomalies en rouge.</a:t>
                      </a:r>
                    </a:p>
                  </a:txBody>
                  <a:tcPr>
                    <a:solidFill>
                      <a:srgbClr val="FFFFFF"/>
                    </a:solidFill>
                  </a:tcPr>
                </a:tc>
                <a:extLst>
                  <a:ext uri="{0D108BD9-81ED-4DB2-BD59-A6C34878D82A}">
                    <a16:rowId xmlns:a16="http://schemas.microsoft.com/office/drawing/2014/main" val="10001"/>
                  </a:ext>
                </a:extLst>
              </a:tr>
              <a:tr h="685800">
                <a:tc>
                  <a:txBody>
                    <a:bodyPr/>
                    <a:lstStyle/>
                    <a:p>
                      <a:pPr algn="l">
                        <a:lnSpc>
                          <a:spcPct val="125000"/>
                        </a:lnSpc>
                      </a:pPr>
                      <a:r>
                        <a:rPr lang="fr-FR" sz="1400" b="0" i="0">
                          <a:solidFill>
                            <a:srgbClr val="161616"/>
                          </a:solidFill>
                          <a:latin typeface="Marianne"/>
                        </a:rPr>
                        <a:t>Plan de document</a:t>
                      </a:r>
                    </a:p>
                  </a:txBody>
                  <a:tcPr>
                    <a:solidFill>
                      <a:srgbClr val="F5F5FE"/>
                    </a:solidFill>
                  </a:tcPr>
                </a:tc>
                <a:tc>
                  <a:txBody>
                    <a:bodyPr/>
                    <a:lstStyle/>
                    <a:p>
                      <a:pPr algn="l">
                        <a:lnSpc>
                          <a:spcPct val="125000"/>
                        </a:lnSpc>
                      </a:pPr>
                      <a:r>
                        <a:rPr lang="fr-FR" sz="1400" b="0" i="0">
                          <a:solidFill>
                            <a:srgbClr val="161616"/>
                          </a:solidFill>
                          <a:latin typeface="Marianne"/>
                        </a:rPr>
                        <a:t>Extension Web Developer → Information → View Document Outline.</a:t>
                      </a:r>
                    </a:p>
                  </a:txBody>
                  <a:tcPr>
                    <a:solidFill>
                      <a:srgbClr val="F5F5FE"/>
                    </a:solidFill>
                  </a:tcPr>
                </a:tc>
                <a:tc>
                  <a:txBody>
                    <a:bodyPr/>
                    <a:lstStyle/>
                    <a:p>
                      <a:pPr algn="l">
                        <a:lnSpc>
                          <a:spcPct val="125000"/>
                        </a:lnSpc>
                      </a:pPr>
                      <a:r>
                        <a:rPr lang="fr-FR" sz="1400" b="0" i="0">
                          <a:solidFill>
                            <a:srgbClr val="161616"/>
                          </a:solidFill>
                          <a:latin typeface="Marianne"/>
                        </a:rPr>
                        <a:t>Le plan liste les titres réels et signale les niveaux manquants.</a:t>
                      </a:r>
                    </a:p>
                  </a:txBody>
                  <a:tcPr>
                    <a:solidFill>
                      <a:srgbClr val="F5F5FE"/>
                    </a:solidFill>
                  </a:tcPr>
                </a:tc>
                <a:extLst>
                  <a:ext uri="{0D108BD9-81ED-4DB2-BD59-A6C34878D82A}">
                    <a16:rowId xmlns:a16="http://schemas.microsoft.com/office/drawing/2014/main" val="10002"/>
                  </a:ext>
                </a:extLst>
              </a:tr>
              <a:tr h="685800">
                <a:tc>
                  <a:txBody>
                    <a:bodyPr/>
                    <a:lstStyle/>
                    <a:p>
                      <a:pPr algn="l">
                        <a:lnSpc>
                          <a:spcPct val="125000"/>
                        </a:lnSpc>
                      </a:pPr>
                      <a:r>
                        <a:rPr lang="fr-FR" sz="1400" b="0" i="0">
                          <a:solidFill>
                            <a:srgbClr val="161616"/>
                          </a:solidFill>
                          <a:latin typeface="Marianne"/>
                        </a:rPr>
                        <a:t>Clic droit « Inspecter »</a:t>
                      </a:r>
                    </a:p>
                  </a:txBody>
                  <a:tcPr>
                    <a:solidFill>
                      <a:srgbClr val="FFFFFF"/>
                    </a:solidFill>
                  </a:tcPr>
                </a:tc>
                <a:tc>
                  <a:txBody>
                    <a:bodyPr/>
                    <a:lstStyle/>
                    <a:p>
                      <a:pPr algn="l">
                        <a:lnSpc>
                          <a:spcPct val="125000"/>
                        </a:lnSpc>
                      </a:pPr>
                      <a:r>
                        <a:rPr lang="fr-FR" sz="1400" b="0" i="0">
                          <a:solidFill>
                            <a:srgbClr val="161616"/>
                          </a:solidFill>
                          <a:latin typeface="Marianne"/>
                        </a:rPr>
                        <a:t>Rechercher `h1`, `h2`, `h3` dans l’onglet Éléments.</a:t>
                      </a:r>
                    </a:p>
                  </a:txBody>
                  <a:tcPr>
                    <a:solidFill>
                      <a:srgbClr val="FFFFFF"/>
                    </a:solidFill>
                  </a:tcPr>
                </a:tc>
                <a:tc>
                  <a:txBody>
                    <a:bodyPr/>
                    <a:lstStyle/>
                    <a:p>
                      <a:pPr algn="l">
                        <a:lnSpc>
                          <a:spcPct val="125000"/>
                        </a:lnSpc>
                      </a:pPr>
                      <a:r>
                        <a:rPr lang="fr-FR" sz="1400" b="0" i="0">
                          <a:solidFill>
                            <a:srgbClr val="161616"/>
                          </a:solidFill>
                          <a:latin typeface="Marianne"/>
                        </a:rPr>
                        <a:t>Un seul &lt;h1&gt;, pas de saut, pas de titre factice (&lt;div class="titre"&gt;).</a:t>
                      </a:r>
                    </a:p>
                  </a:txBody>
                  <a:tcPr>
                    <a:solidFill>
                      <a:srgbClr val="FFFFFF"/>
                    </a:solidFill>
                  </a:tcPr>
                </a:tc>
                <a:extLst>
                  <a:ext uri="{0D108BD9-81ED-4DB2-BD59-A6C34878D82A}">
                    <a16:rowId xmlns:a16="http://schemas.microsoft.com/office/drawing/2014/main" val="10003"/>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Titres et hiérarchie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Contraste : un seuil chiffré, pas une opinion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callout-titre"/>
          <p:cNvSpPr txBox="1"/>
          <p:nvPr/>
        </p:nvSpPr>
        <p:spPr>
          <a:xfrm>
            <a:off x="704088" y="475487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Le rapport entre la couleur du texte et celle du fond (ou l’arrière-plan visible)</a:t>
            </a:r>
          </a:p>
          <a:p>
            <a:pPr algn="l">
              <a:lnSpc>
                <a:spcPct val="125000"/>
              </a:lnSpc>
            </a:pPr>
            <a:r>
              <a:rPr lang="fr-FR" sz="1400">
                <a:solidFill>
                  <a:srgbClr val="161616"/>
                </a:solidFill>
                <a:latin typeface="Marianne"/>
              </a:rPr>
              <a:t>• </a:t>
            </a:r>
            <a:r>
              <a:rPr lang="fr-FR" sz="1400" b="0">
                <a:solidFill>
                  <a:srgbClr val="161616"/>
                </a:solidFill>
                <a:latin typeface="Marianne"/>
              </a:rPr>
              <a:t>Sur un dégradé ou une image, mesurer à l’endroit le moins contrasté</a:t>
            </a:r>
          </a:p>
          <a:p>
            <a:pPr algn="l">
              <a:lnSpc>
                <a:spcPct val="125000"/>
              </a:lnSpc>
            </a:pPr>
            <a:r>
              <a:rPr lang="fr-FR" sz="1400">
                <a:solidFill>
                  <a:srgbClr val="161616"/>
                </a:solidFill>
                <a:latin typeface="Marianne"/>
              </a:rPr>
              <a:t>• </a:t>
            </a:r>
            <a:r>
              <a:rPr lang="fr-FR" sz="1400" b="0">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Contraste des couleurs</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ccent-decoratif"/>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Contraste : 3 outils à avoir sous la main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82</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4187952">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658368">
                <a:tc>
                  <a:txBody>
                    <a:bodyPr/>
                    <a:lstStyle/>
                    <a:p>
                      <a:pPr algn="l">
                        <a:lnSpc>
                          <a:spcPct val="125000"/>
                        </a:lnSpc>
                      </a:pPr>
                      <a:r>
                        <a:rPr lang="fr-FR" sz="1400" b="1" i="0">
                          <a:solidFill>
                            <a:srgbClr val="FFFFFF"/>
                          </a:solidFill>
                          <a:latin typeface="Marianne"/>
                        </a:rPr>
                        <a:t>Outil</a:t>
                      </a:r>
                    </a:p>
                  </a:txBody>
                  <a:tcPr>
                    <a:solidFill>
                      <a:srgbClr val="000091"/>
                    </a:solidFill>
                  </a:tcPr>
                </a:tc>
                <a:tc>
                  <a:txBody>
                    <a:bodyPr/>
                    <a:lstStyle/>
                    <a:p>
                      <a:pPr algn="l">
                        <a:lnSpc>
                          <a:spcPct val="125000"/>
                        </a:lnSpc>
                      </a:pPr>
                      <a:r>
                        <a:rPr lang="fr-FR" sz="1400" b="1" i="0">
                          <a:solidFill>
                            <a:srgbClr val="FFFFFF"/>
                          </a:solidFill>
                          <a:latin typeface="Marianne"/>
                        </a:rPr>
                        <a:t>Usage</a:t>
                      </a:r>
                    </a:p>
                  </a:txBody>
                  <a:tcPr>
                    <a:solidFill>
                      <a:srgbClr val="000091"/>
                    </a:solidFill>
                  </a:tcPr>
                </a:tc>
                <a:tc>
                  <a:txBody>
                    <a:bodyPr/>
                    <a:lstStyle/>
                    <a:p>
                      <a:pPr algn="l">
                        <a:lnSpc>
                          <a:spcPct val="125000"/>
                        </a:lnSpc>
                      </a:pPr>
                      <a:r>
                        <a:rPr lang="fr-FR" sz="1400" b="1" i="0">
                          <a:solidFill>
                            <a:srgbClr val="FFFFFF"/>
                          </a:solidFill>
                          <a:latin typeface="Marianne"/>
                        </a:rPr>
                        <a:t>Quand l’utiliser</a:t>
                      </a:r>
                    </a:p>
                  </a:txBody>
                  <a:tcPr>
                    <a:solidFill>
                      <a:srgbClr val="000091"/>
                    </a:solidFill>
                  </a:tcPr>
                </a:tc>
                <a:extLst>
                  <a:ext uri="{0D108BD9-81ED-4DB2-BD59-A6C34878D82A}">
                    <a16:rowId xmlns:a16="http://schemas.microsoft.com/office/drawing/2014/main" val="10000"/>
                  </a:ext>
                </a:extLst>
              </a:tr>
              <a:tr h="658368">
                <a:tc>
                  <a:txBody>
                    <a:bodyPr/>
                    <a:lstStyle/>
                    <a:p>
                      <a:pPr algn="l">
                        <a:lnSpc>
                          <a:spcPct val="125000"/>
                        </a:lnSpc>
                      </a:pPr>
                      <a:r>
                        <a:rPr lang="fr-FR" sz="1400" b="0" i="0">
                          <a:solidFill>
                            <a:srgbClr val="161616"/>
                          </a:solidFill>
                          <a:latin typeface="Marianne"/>
                        </a:rPr>
                        <a:t>DevTools Chrome / Firefox</a:t>
                      </a:r>
                    </a:p>
                  </a:txBody>
                  <a:tcPr>
                    <a:solidFill>
                      <a:srgbClr val="FFFFFF"/>
                    </a:solidFill>
                  </a:tcPr>
                </a:tc>
                <a:tc>
                  <a:txBody>
                    <a:bodyPr/>
                    <a:lstStyle/>
                    <a:p>
                      <a:pPr algn="l">
                        <a:lnSpc>
                          <a:spcPct val="125000"/>
                        </a:lnSpc>
                      </a:pPr>
                      <a:r>
                        <a:rPr lang="fr-FR" sz="1400" b="0" i="0">
                          <a:solidFill>
                            <a:srgbClr val="161616"/>
                          </a:solidFill>
                          <a:latin typeface="Marianne"/>
                        </a:rPr>
                        <a:t>Clic droit sur un texte → Inspecter → pastille de couleur.</a:t>
                      </a:r>
                    </a:p>
                  </a:txBody>
                  <a:tcPr>
                    <a:solidFill>
                      <a:srgbClr val="FFFFFF"/>
                    </a:solidFill>
                  </a:tcPr>
                </a:tc>
                <a:tc>
                  <a:txBody>
                    <a:bodyPr/>
                    <a:lstStyle/>
                    <a:p>
                      <a:pPr algn="l">
                        <a:lnSpc>
                          <a:spcPct val="125000"/>
                        </a:lnSpc>
                      </a:pPr>
                      <a:r>
                        <a:rPr lang="fr-FR" sz="1400" b="0" i="0">
                          <a:solidFill>
                            <a:srgbClr val="161616"/>
                          </a:solidFill>
                          <a:latin typeface="Marianne"/>
                        </a:rPr>
                        <a:t>Mesure ponctuelle pendant la rédaction ou la relecture.</a:t>
                      </a:r>
                    </a:p>
                  </a:txBody>
                  <a:tcPr>
                    <a:solidFill>
                      <a:srgbClr val="FFFFFF"/>
                    </a:solidFill>
                  </a:tcPr>
                </a:tc>
                <a:extLst>
                  <a:ext uri="{0D108BD9-81ED-4DB2-BD59-A6C34878D82A}">
                    <a16:rowId xmlns:a16="http://schemas.microsoft.com/office/drawing/2014/main" val="10001"/>
                  </a:ext>
                </a:extLst>
              </a:tr>
              <a:tr h="658368">
                <a:tc>
                  <a:txBody>
                    <a:bodyPr/>
                    <a:lstStyle/>
                    <a:p>
                      <a:pPr algn="l">
                        <a:lnSpc>
                          <a:spcPct val="125000"/>
                        </a:lnSpc>
                      </a:pPr>
                      <a:r>
                        <a:rPr lang="fr-FR" sz="1400" b="0" i="0">
                          <a:solidFill>
                            <a:srgbClr val="161616"/>
                          </a:solidFill>
                          <a:latin typeface="Marianne"/>
                        </a:rPr>
                        <a:t>WebAIM Contrast Checker</a:t>
                      </a:r>
                    </a:p>
                  </a:txBody>
                  <a:tcPr>
                    <a:solidFill>
                      <a:srgbClr val="F5F5FE"/>
                    </a:solidFill>
                  </a:tcPr>
                </a:tc>
                <a:tc>
                  <a:txBody>
                    <a:bodyPr/>
                    <a:lstStyle/>
                    <a:p>
                      <a:pPr algn="l">
                        <a:lnSpc>
                          <a:spcPct val="125000"/>
                        </a:lnSpc>
                      </a:pPr>
                      <a:r>
                        <a:rPr lang="fr-FR" sz="1400" b="0" i="0">
                          <a:solidFill>
                            <a:srgbClr val="161616"/>
                          </a:solidFill>
                          <a:latin typeface="Marianne"/>
                        </a:rPr>
                        <a:t>webaim.org/resources/contrastchecker - coller les deux couleurs hex.</a:t>
                      </a:r>
                    </a:p>
                  </a:txBody>
                  <a:tcPr>
                    <a:solidFill>
                      <a:srgbClr val="F5F5FE"/>
                    </a:solidFill>
                  </a:tcPr>
                </a:tc>
                <a:tc>
                  <a:txBody>
                    <a:bodyPr/>
                    <a:lstStyle/>
                    <a:p>
                      <a:pPr algn="l">
                        <a:lnSpc>
                          <a:spcPct val="125000"/>
                        </a:lnSpc>
                      </a:pPr>
                      <a:r>
                        <a:rPr lang="fr-FR" sz="1400" b="0" i="0">
                          <a:solidFill>
                            <a:srgbClr val="161616"/>
                          </a:solidFill>
                          <a:latin typeface="Marianne"/>
                        </a:rPr>
                        <a:t>Avant de choisir une charte graphique ou un thème.</a:t>
                      </a:r>
                    </a:p>
                  </a:txBody>
                  <a:tcPr>
                    <a:solidFill>
                      <a:srgbClr val="F5F5FE"/>
                    </a:solidFill>
                  </a:tcPr>
                </a:tc>
                <a:extLst>
                  <a:ext uri="{0D108BD9-81ED-4DB2-BD59-A6C34878D82A}">
                    <a16:rowId xmlns:a16="http://schemas.microsoft.com/office/drawing/2014/main" val="10002"/>
                  </a:ext>
                </a:extLst>
              </a:tr>
              <a:tr h="658368">
                <a:tc>
                  <a:txBody>
                    <a:bodyPr/>
                    <a:lstStyle/>
                    <a:p>
                      <a:pPr algn="l">
                        <a:lnSpc>
                          <a:spcPct val="125000"/>
                        </a:lnSpc>
                      </a:pPr>
                      <a:r>
                        <a:rPr lang="fr-FR" sz="1400" b="0" i="0">
                          <a:solidFill>
                            <a:srgbClr val="161616"/>
                          </a:solidFill>
                          <a:latin typeface="Marianne"/>
                        </a:rPr>
                        <a:t>Colour Contrast Analyser (CCA)</a:t>
                      </a:r>
                    </a:p>
                  </a:txBody>
                  <a:tcPr>
                    <a:solidFill>
                      <a:srgbClr val="FFFFFF"/>
                    </a:solidFill>
                  </a:tcPr>
                </a:tc>
                <a:tc>
                  <a:txBody>
                    <a:bodyPr/>
                    <a:lstStyle/>
                    <a:p>
                      <a:pPr algn="l">
                        <a:lnSpc>
                          <a:spcPct val="125000"/>
                        </a:lnSpc>
                      </a:pPr>
                      <a:r>
                        <a:rPr lang="fr-FR" sz="1400" b="0" i="0">
                          <a:solidFill>
                            <a:srgbClr val="161616"/>
                          </a:solidFill>
                          <a:latin typeface="Marianne"/>
                        </a:rPr>
                        <a:t>App desktop - pipette qui mesure n’importe quelle zone d’écran.</a:t>
                      </a:r>
                    </a:p>
                  </a:txBody>
                  <a:tcPr>
                    <a:solidFill>
                      <a:srgbClr val="FFFFFF"/>
                    </a:solidFill>
                  </a:tcPr>
                </a:tc>
                <a:tc>
                  <a:txBody>
                    <a:bodyPr/>
                    <a:lstStyle/>
                    <a:p>
                      <a:pPr algn="l">
                        <a:lnSpc>
                          <a:spcPct val="125000"/>
                        </a:lnSpc>
                      </a:pPr>
                      <a:r>
                        <a:rPr lang="fr-FR" sz="1400" b="0" i="0">
                          <a:solidFill>
                            <a:srgbClr val="161616"/>
                          </a:solidFill>
                          <a:latin typeface="Marianne"/>
                        </a:rPr>
                        <a:t>Tester des maquettes Figma, des captures d’écran, des PDF.</a:t>
                      </a:r>
                    </a:p>
                  </a:txBody>
                  <a:tcPr>
                    <a:solidFill>
                      <a:srgbClr val="FFFFFF"/>
                    </a:solidFill>
                  </a:tcPr>
                </a:tc>
                <a:extLst>
                  <a:ext uri="{0D108BD9-81ED-4DB2-BD59-A6C34878D82A}">
                    <a16:rowId xmlns:a16="http://schemas.microsoft.com/office/drawing/2014/main" val="10003"/>
                  </a:ext>
                </a:extLst>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warning-titre"/>
          <p:cNvSpPr txBox="1"/>
          <p:nvPr/>
        </p:nvSpPr>
        <p:spPr>
          <a:xfrm>
            <a:off x="704088" y="46634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Texte gris clair sur fond blanc (#999 sur #FFF) : 2,85:1 - échec même en texte large</a:t>
            </a:r>
          </a:p>
          <a:p>
            <a:pPr algn="l">
              <a:lnSpc>
                <a:spcPct val="150000"/>
              </a:lnSpc>
            </a:pPr>
            <a:r>
              <a:rPr lang="fr-FR" sz="1400">
                <a:solidFill>
                  <a:srgbClr val="161616"/>
                </a:solidFill>
                <a:latin typeface="Marianne"/>
              </a:rPr>
              <a:t>• </a:t>
            </a:r>
            <a:r>
              <a:rPr lang="fr-FR" sz="1400" b="0">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Contraste des couleurs</a:t>
            </a:r>
          </a:p>
        </p:txBody>
      </p:sp>
      <p:sp>
        <p:nvSpPr>
          <p:cNvPr id="9" name="DSFR-accent-decoratif"/>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Lien d’évitement : le raccourci vers le contenu</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83</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6781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Le premier lien interactif permet d’aller directement au contenu principal</a:t>
            </a:r>
          </a:p>
          <a:p>
            <a:pPr algn="l">
              <a:lnSpc>
                <a:spcPct val="125000"/>
              </a:lnSpc>
            </a:pPr>
            <a:r>
              <a:rPr lang="fr-FR" sz="1400">
                <a:solidFill>
                  <a:srgbClr val="161616"/>
                </a:solidFill>
                <a:latin typeface="Marianne"/>
              </a:rPr>
              <a:t>• </a:t>
            </a:r>
            <a:r>
              <a:rPr lang="fr-FR" sz="1400" b="0">
                <a:solidFill>
                  <a:srgbClr val="161616"/>
                </a:solidFill>
                <a:latin typeface="Marianne"/>
              </a:rPr>
              <a:t>Il devient visible dès qu’il a le focus, même s’il était masqué</a:t>
            </a:r>
          </a:p>
          <a:p>
            <a:pPr algn="l">
              <a:lnSpc>
                <a:spcPct val="125000"/>
              </a:lnSpc>
            </a:pPr>
            <a:r>
              <a:rPr lang="fr-FR" sz="1400">
                <a:solidFill>
                  <a:srgbClr val="161616"/>
                </a:solidFill>
                <a:latin typeface="Marianne"/>
              </a:rPr>
              <a:t>• </a:t>
            </a:r>
            <a:r>
              <a:rPr lang="fr-FR" sz="1400" b="0">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success-titre"/>
          <p:cNvSpPr txBox="1"/>
          <p:nvPr/>
        </p:nvSpPr>
        <p:spPr>
          <a:xfrm>
            <a:off x="704088" y="4828031"/>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Ouvrez gouvernement.fr et appuyez Tab : le lien « Contenu » apparaît en haut</a:t>
            </a:r>
          </a:p>
          <a:p>
            <a:pPr algn="l">
              <a:lnSpc>
                <a:spcPct val="150000"/>
              </a:lnSpc>
            </a:pPr>
            <a:r>
              <a:rPr lang="fr-FR" sz="1400">
                <a:solidFill>
                  <a:srgbClr val="161616"/>
                </a:solidFill>
                <a:latin typeface="Marianne"/>
              </a:rPr>
              <a:t>• </a:t>
            </a:r>
            <a:r>
              <a:rPr lang="fr-FR" sz="1400" b="0">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Lien d’évitement</a:t>
            </a:r>
          </a:p>
        </p:txBody>
      </p:sp>
      <p:sp>
        <p:nvSpPr>
          <p:cNvPr id="8" name="DSFR-accent-decoratif"/>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Naviguer sans souris : le test qui change tout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4061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Utiliser 5 touches pour tester n’importe quelle page</a:t>
            </a:r>
          </a:p>
          <a:p>
            <a:pPr algn="l">
              <a:lnSpc>
                <a:spcPct val="125000"/>
              </a:lnSpc>
            </a:pPr>
            <a:r>
              <a:rPr lang="fr-FR" sz="1400">
                <a:solidFill>
                  <a:srgbClr val="161616"/>
                </a:solidFill>
                <a:latin typeface="Marianne"/>
              </a:rPr>
              <a:t>• </a:t>
            </a:r>
            <a:r>
              <a:rPr lang="fr-FR" sz="1400" b="0">
                <a:solidFill>
                  <a:srgbClr val="161616"/>
                </a:solidFill>
                <a:latin typeface="Marianne"/>
              </a:rPr>
              <a:t>Repérer 3 signaux qui trahissent un défaut d’accessibilité</a:t>
            </a:r>
          </a:p>
          <a:p>
            <a:pPr algn="l">
              <a:lnSpc>
                <a:spcPct val="125000"/>
              </a:lnSpc>
            </a:pPr>
            <a:r>
              <a:rPr lang="fr-FR" sz="1400">
                <a:solidFill>
                  <a:srgbClr val="161616"/>
                </a:solidFill>
                <a:latin typeface="Marianne"/>
              </a:rPr>
              <a:t>• </a:t>
            </a:r>
            <a:r>
              <a:rPr lang="fr-FR" sz="1400" b="0">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Focus et navigation clavier</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5 touches, 3 intentions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5102352">
                  <a:extLst>
                    <a:ext uri="{9D8B030D-6E8A-4147-A177-3AD203B41FA5}">
                      <a16:colId xmlns:a16="http://schemas.microsoft.com/office/drawing/2014/main" val="20002"/>
                    </a:ext>
                  </a:extLst>
                </a:gridCol>
              </a:tblGrid>
              <a:tr h="475488">
                <a:tc>
                  <a:txBody>
                    <a:bodyPr/>
                    <a:lstStyle/>
                    <a:p>
                      <a:pPr algn="l">
                        <a:lnSpc>
                          <a:spcPct val="125000"/>
                        </a:lnSpc>
                      </a:pPr>
                      <a:r>
                        <a:rPr lang="fr-FR" sz="1400" b="1" i="0">
                          <a:solidFill>
                            <a:srgbClr val="FFFFFF"/>
                          </a:solidFill>
                          <a:latin typeface="Marianne"/>
                        </a:rPr>
                        <a:t>Touche</a:t>
                      </a:r>
                    </a:p>
                  </a:txBody>
                  <a:tcPr>
                    <a:solidFill>
                      <a:srgbClr val="000091"/>
                    </a:solidFill>
                  </a:tcPr>
                </a:tc>
                <a:tc>
                  <a:txBody>
                    <a:bodyPr/>
                    <a:lstStyle/>
                    <a:p>
                      <a:pPr algn="l">
                        <a:lnSpc>
                          <a:spcPct val="125000"/>
                        </a:lnSpc>
                      </a:pPr>
                      <a:r>
                        <a:rPr lang="fr-FR" sz="1400" b="1" i="0">
                          <a:solidFill>
                            <a:srgbClr val="FFFFFF"/>
                          </a:solidFill>
                          <a:latin typeface="Marianne"/>
                        </a:rPr>
                        <a:t>À quoi elle sert</a:t>
                      </a:r>
                    </a:p>
                  </a:txBody>
                  <a:tcPr>
                    <a:solidFill>
                      <a:srgbClr val="000091"/>
                    </a:solidFill>
                  </a:tcPr>
                </a:tc>
                <a:tc>
                  <a:txBody>
                    <a:bodyPr/>
                    <a:lstStyle/>
                    <a:p>
                      <a:pPr algn="l">
                        <a:lnSpc>
                          <a:spcPct val="125000"/>
                        </a:lnSpc>
                      </a:pPr>
                      <a:r>
                        <a:rPr lang="fr-FR" sz="1400" b="1" i="0">
                          <a:solidFill>
                            <a:srgbClr val="FFFFFF"/>
                          </a:solidFill>
                          <a:latin typeface="Marianne"/>
                        </a:rPr>
                        <a:t>Ce qu’il faut vérifier</a:t>
                      </a:r>
                    </a:p>
                  </a:txBody>
                  <a:tcPr>
                    <a:solidFill>
                      <a:srgbClr val="000091"/>
                    </a:solidFill>
                  </a:tcPr>
                </a:tc>
                <a:extLst>
                  <a:ext uri="{0D108BD9-81ED-4DB2-BD59-A6C34878D82A}">
                    <a16:rowId xmlns:a16="http://schemas.microsoft.com/office/drawing/2014/main" val="10000"/>
                  </a:ext>
                </a:extLst>
              </a:tr>
              <a:tr h="475488">
                <a:tc>
                  <a:txBody>
                    <a:bodyPr/>
                    <a:lstStyle/>
                    <a:p>
                      <a:pPr algn="l">
                        <a:lnSpc>
                          <a:spcPct val="125000"/>
                        </a:lnSpc>
                      </a:pPr>
                      <a:r>
                        <a:rPr lang="fr-FR" sz="1400" b="0" i="0">
                          <a:solidFill>
                            <a:srgbClr val="161616"/>
                          </a:solidFill>
                          <a:latin typeface="Marianne"/>
                        </a:rPr>
                        <a:t>Tab</a:t>
                      </a:r>
                    </a:p>
                  </a:txBody>
                  <a:tcPr>
                    <a:solidFill>
                      <a:srgbClr val="FFFFFF"/>
                    </a:solidFill>
                  </a:tcPr>
                </a:tc>
                <a:tc>
                  <a:txBody>
                    <a:bodyPr/>
                    <a:lstStyle/>
                    <a:p>
                      <a:pPr algn="l">
                        <a:lnSpc>
                          <a:spcPct val="125000"/>
                        </a:lnSpc>
                      </a:pPr>
                      <a:r>
                        <a:rPr lang="fr-FR" sz="1400" b="0" i="0">
                          <a:solidFill>
                            <a:srgbClr val="161616"/>
                          </a:solidFill>
                          <a:latin typeface="Marianne"/>
                        </a:rPr>
                        <a:t>Avancer sur l’élément interactif suivant (lien, bouton, champ).</a:t>
                      </a:r>
                    </a:p>
                  </a:txBody>
                  <a:tcPr>
                    <a:solidFill>
                      <a:srgbClr val="FFFFFF"/>
                    </a:solidFill>
                  </a:tcPr>
                </a:tc>
                <a:tc>
                  <a:txBody>
                    <a:bodyPr/>
                    <a:lstStyle/>
                    <a:p>
                      <a:pPr algn="l">
                        <a:lnSpc>
                          <a:spcPct val="125000"/>
                        </a:lnSpc>
                      </a:pPr>
                      <a:r>
                        <a:rPr lang="fr-FR" sz="1400" b="0" i="0">
                          <a:solidFill>
                            <a:srgbClr val="161616"/>
                          </a:solidFill>
                          <a:latin typeface="Marianne"/>
                        </a:rPr>
                        <a:t>Le focus se déplace et reste visible à chaque étape.</a:t>
                      </a:r>
                    </a:p>
                  </a:txBody>
                  <a:tcPr>
                    <a:solidFill>
                      <a:srgbClr val="FFFFFF"/>
                    </a:solidFill>
                  </a:tcPr>
                </a:tc>
                <a:extLst>
                  <a:ext uri="{0D108BD9-81ED-4DB2-BD59-A6C34878D82A}">
                    <a16:rowId xmlns:a16="http://schemas.microsoft.com/office/drawing/2014/main" val="10001"/>
                  </a:ext>
                </a:extLst>
              </a:tr>
              <a:tr h="475488">
                <a:tc>
                  <a:txBody>
                    <a:bodyPr/>
                    <a:lstStyle/>
                    <a:p>
                      <a:pPr algn="l">
                        <a:lnSpc>
                          <a:spcPct val="125000"/>
                        </a:lnSpc>
                      </a:pPr>
                      <a:r>
                        <a:rPr lang="fr-FR" sz="1400" b="0" i="0">
                          <a:solidFill>
                            <a:srgbClr val="161616"/>
                          </a:solidFill>
                          <a:latin typeface="Marianne"/>
                        </a:rPr>
                        <a:t>Shift + Tab</a:t>
                      </a:r>
                    </a:p>
                  </a:txBody>
                  <a:tcPr>
                    <a:solidFill>
                      <a:srgbClr val="F5F5FE"/>
                    </a:solidFill>
                  </a:tcPr>
                </a:tc>
                <a:tc>
                  <a:txBody>
                    <a:bodyPr/>
                    <a:lstStyle/>
                    <a:p>
                      <a:pPr algn="l">
                        <a:lnSpc>
                          <a:spcPct val="125000"/>
                        </a:lnSpc>
                      </a:pPr>
                      <a:r>
                        <a:rPr lang="fr-FR" sz="1400" b="0" i="0">
                          <a:solidFill>
                            <a:srgbClr val="161616"/>
                          </a:solidFill>
                          <a:latin typeface="Marianne"/>
                        </a:rPr>
                        <a:t>Reculer sur l’élément interactif précédent.</a:t>
                      </a:r>
                    </a:p>
                  </a:txBody>
                  <a:tcPr>
                    <a:solidFill>
                      <a:srgbClr val="F5F5FE"/>
                    </a:solidFill>
                  </a:tcPr>
                </a:tc>
                <a:tc>
                  <a:txBody>
                    <a:bodyPr/>
                    <a:lstStyle/>
                    <a:p>
                      <a:pPr algn="l">
                        <a:lnSpc>
                          <a:spcPct val="125000"/>
                        </a:lnSpc>
                      </a:pPr>
                      <a:r>
                        <a:rPr lang="fr-FR" sz="1400" b="0" i="0">
                          <a:solidFill>
                            <a:srgbClr val="161616"/>
                          </a:solidFill>
                          <a:latin typeface="Marianne"/>
                        </a:rPr>
                        <a:t>L’ordre inverse est logique, sans saut imprévu.</a:t>
                      </a:r>
                    </a:p>
                  </a:txBody>
                  <a:tcPr>
                    <a:solidFill>
                      <a:srgbClr val="F5F5FE"/>
                    </a:solidFill>
                  </a:tcPr>
                </a:tc>
                <a:extLst>
                  <a:ext uri="{0D108BD9-81ED-4DB2-BD59-A6C34878D82A}">
                    <a16:rowId xmlns:a16="http://schemas.microsoft.com/office/drawing/2014/main" val="10002"/>
                  </a:ext>
                </a:extLst>
              </a:tr>
              <a:tr h="475488">
                <a:tc>
                  <a:txBody>
                    <a:bodyPr/>
                    <a:lstStyle/>
                    <a:p>
                      <a:pPr algn="l">
                        <a:lnSpc>
                          <a:spcPct val="125000"/>
                        </a:lnSpc>
                      </a:pPr>
                      <a:r>
                        <a:rPr lang="fr-FR" sz="1400" b="0" i="0">
                          <a:solidFill>
                            <a:srgbClr val="161616"/>
                          </a:solidFill>
                          <a:latin typeface="Marianne"/>
                        </a:rPr>
                        <a:t>Entrée</a:t>
                      </a:r>
                    </a:p>
                  </a:txBody>
                  <a:tcPr>
                    <a:solidFill>
                      <a:srgbClr val="FFFFFF"/>
                    </a:solidFill>
                  </a:tcPr>
                </a:tc>
                <a:tc>
                  <a:txBody>
                    <a:bodyPr/>
                    <a:lstStyle/>
                    <a:p>
                      <a:pPr algn="l">
                        <a:lnSpc>
                          <a:spcPct val="125000"/>
                        </a:lnSpc>
                      </a:pPr>
                      <a:r>
                        <a:rPr lang="fr-FR" sz="1400" b="0" i="0">
                          <a:solidFill>
                            <a:srgbClr val="161616"/>
                          </a:solidFill>
                          <a:latin typeface="Marianne"/>
                        </a:rPr>
                        <a:t>Activer un lien ou soumettre un formulaire.</a:t>
                      </a:r>
                    </a:p>
                  </a:txBody>
                  <a:tcPr>
                    <a:solidFill>
                      <a:srgbClr val="FFFFFF"/>
                    </a:solidFill>
                  </a:tcPr>
                </a:tc>
                <a:tc>
                  <a:txBody>
                    <a:bodyPr/>
                    <a:lstStyle/>
                    <a:p>
                      <a:pPr algn="l">
                        <a:lnSpc>
                          <a:spcPct val="125000"/>
                        </a:lnSpc>
                      </a:pPr>
                      <a:r>
                        <a:rPr lang="fr-FR" sz="1400" b="0" i="0">
                          <a:solidFill>
                            <a:srgbClr val="161616"/>
                          </a:solidFill>
                          <a:latin typeface="Marianne"/>
                        </a:rPr>
                        <a:t>L’action attendue se déclenche immédiatement.</a:t>
                      </a:r>
                    </a:p>
                  </a:txBody>
                  <a:tcPr>
                    <a:solidFill>
                      <a:srgbClr val="FFFFFF"/>
                    </a:solidFill>
                  </a:tcPr>
                </a:tc>
                <a:extLst>
                  <a:ext uri="{0D108BD9-81ED-4DB2-BD59-A6C34878D82A}">
                    <a16:rowId xmlns:a16="http://schemas.microsoft.com/office/drawing/2014/main" val="10003"/>
                  </a:ext>
                </a:extLst>
              </a:tr>
              <a:tr h="475488">
                <a:tc>
                  <a:txBody>
                    <a:bodyPr/>
                    <a:lstStyle/>
                    <a:p>
                      <a:pPr algn="l">
                        <a:lnSpc>
                          <a:spcPct val="125000"/>
                        </a:lnSpc>
                      </a:pPr>
                      <a:r>
                        <a:rPr lang="fr-FR" sz="1400" b="0" i="0">
                          <a:solidFill>
                            <a:srgbClr val="161616"/>
                          </a:solidFill>
                          <a:latin typeface="Marianne"/>
                        </a:rPr>
                        <a:t>Barre d’espace</a:t>
                      </a:r>
                    </a:p>
                  </a:txBody>
                  <a:tcPr>
                    <a:solidFill>
                      <a:srgbClr val="F5F5FE"/>
                    </a:solidFill>
                  </a:tcPr>
                </a:tc>
                <a:tc>
                  <a:txBody>
                    <a:bodyPr/>
                    <a:lstStyle/>
                    <a:p>
                      <a:pPr algn="l">
                        <a:lnSpc>
                          <a:spcPct val="125000"/>
                        </a:lnSpc>
                      </a:pPr>
                      <a:r>
                        <a:rPr lang="fr-FR" sz="1400" b="0" i="0">
                          <a:solidFill>
                            <a:srgbClr val="161616"/>
                          </a:solidFill>
                          <a:latin typeface="Marianne"/>
                        </a:rPr>
                        <a:t>Cocher, décocher, sélectionner un bouton radio.</a:t>
                      </a:r>
                    </a:p>
                  </a:txBody>
                  <a:tcPr>
                    <a:solidFill>
                      <a:srgbClr val="F5F5FE"/>
                    </a:solidFill>
                  </a:tcPr>
                </a:tc>
                <a:tc>
                  <a:txBody>
                    <a:bodyPr/>
                    <a:lstStyle/>
                    <a:p>
                      <a:pPr algn="l">
                        <a:lnSpc>
                          <a:spcPct val="125000"/>
                        </a:lnSpc>
                      </a:pPr>
                      <a:r>
                        <a:rPr lang="fr-FR" sz="1400" b="0" i="0">
                          <a:solidFill>
                            <a:srgbClr val="161616"/>
                          </a:solidFill>
                          <a:latin typeface="Marianne"/>
                        </a:rPr>
                        <a:t>L’état coché / non coché est annoncé vocalement.</a:t>
                      </a:r>
                    </a:p>
                  </a:txBody>
                  <a:tcPr>
                    <a:solidFill>
                      <a:srgbClr val="F5F5FE"/>
                    </a:solidFill>
                  </a:tcPr>
                </a:tc>
                <a:extLst>
                  <a:ext uri="{0D108BD9-81ED-4DB2-BD59-A6C34878D82A}">
                    <a16:rowId xmlns:a16="http://schemas.microsoft.com/office/drawing/2014/main" val="10004"/>
                  </a:ext>
                </a:extLst>
              </a:tr>
              <a:tr h="475488">
                <a:tc>
                  <a:txBody>
                    <a:bodyPr/>
                    <a:lstStyle/>
                    <a:p>
                      <a:pPr algn="l">
                        <a:lnSpc>
                          <a:spcPct val="125000"/>
                        </a:lnSpc>
                      </a:pPr>
                      <a:r>
                        <a:rPr lang="fr-FR" sz="1400" b="0" i="0">
                          <a:solidFill>
                            <a:srgbClr val="161616"/>
                          </a:solidFill>
                          <a:latin typeface="Marianne"/>
                        </a:rPr>
                        <a:t>Flèches ↑ ↓</a:t>
                      </a:r>
                    </a:p>
                  </a:txBody>
                  <a:tcPr>
                    <a:solidFill>
                      <a:srgbClr val="FFFFFF"/>
                    </a:solidFill>
                  </a:tcPr>
                </a:tc>
                <a:tc>
                  <a:txBody>
                    <a:bodyPr/>
                    <a:lstStyle/>
                    <a:p>
                      <a:pPr algn="l">
                        <a:lnSpc>
                          <a:spcPct val="125000"/>
                        </a:lnSpc>
                      </a:pPr>
                      <a:r>
                        <a:rPr lang="fr-FR" sz="1400" b="0" i="0">
                          <a:solidFill>
                            <a:srgbClr val="161616"/>
                          </a:solidFill>
                          <a:latin typeface="Marianne"/>
                        </a:rPr>
                        <a:t>Lire le contenu ligne par ligne avec un lecteur d’écran.</a:t>
                      </a:r>
                    </a:p>
                  </a:txBody>
                  <a:tcPr>
                    <a:solidFill>
                      <a:srgbClr val="FFFFFF"/>
                    </a:solidFill>
                  </a:tcPr>
                </a:tc>
                <a:tc>
                  <a:txBody>
                    <a:bodyPr/>
                    <a:lstStyle/>
                    <a:p>
                      <a:pPr algn="l">
                        <a:lnSpc>
                          <a:spcPct val="125000"/>
                        </a:lnSpc>
                      </a:pPr>
                      <a:r>
                        <a:rPr lang="fr-FR" sz="1400" b="0" i="0">
                          <a:solidFill>
                            <a:srgbClr val="161616"/>
                          </a:solidFill>
                          <a:latin typeface="Marianne"/>
                        </a:rPr>
                        <a:t>Le texte alternatif des images est lu à haute voix.</a:t>
                      </a:r>
                    </a:p>
                  </a:txBody>
                  <a:tcPr>
                    <a:solidFill>
                      <a:srgbClr val="FFFFFF"/>
                    </a:solidFill>
                  </a:tcPr>
                </a:tc>
                <a:extLst>
                  <a:ext uri="{0D108BD9-81ED-4DB2-BD59-A6C34878D82A}">
                    <a16:rowId xmlns:a16="http://schemas.microsoft.com/office/drawing/2014/main" val="10005"/>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Focus et navigation clavier</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3 signaux qui trahissent un défaut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86</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3017520"/>
            <a:ext cx="3172968"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4544568" y="3017520"/>
            <a:ext cx="3172968"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8385048" y="3017520"/>
            <a:ext cx="3172968"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8" name="DSFR-accent-decoratif"/>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Votre mission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Cachez votre souris derrière l’écran</a:t>
            </a:r>
          </a:p>
          <a:p>
            <a:pPr algn="l">
              <a:lnSpc>
                <a:spcPct val="125000"/>
              </a:lnSpc>
            </a:pPr>
            <a:r>
              <a:rPr lang="fr-FR" sz="1400">
                <a:solidFill>
                  <a:srgbClr val="161616"/>
                </a:solidFill>
                <a:latin typeface="Marianne"/>
              </a:rPr>
              <a:t>• </a:t>
            </a:r>
            <a:r>
              <a:rPr lang="fr-FR" sz="1400" b="0">
                <a:solidFill>
                  <a:srgbClr val="161616"/>
                </a:solidFill>
                <a:latin typeface="Marianne"/>
              </a:rPr>
              <a:t>Tabulez 10 fois et notez chaque fois que le focus disparaît</a:t>
            </a:r>
          </a:p>
          <a:p>
            <a:pPr algn="l">
              <a:lnSpc>
                <a:spcPct val="125000"/>
              </a:lnSpc>
            </a:pPr>
            <a:r>
              <a:rPr lang="fr-FR" sz="1400">
                <a:solidFill>
                  <a:srgbClr val="161616"/>
                </a:solidFill>
                <a:latin typeface="Marianne"/>
              </a:rPr>
              <a:t>• </a:t>
            </a:r>
            <a:r>
              <a:rPr lang="fr-FR" sz="1400" b="0">
                <a:solidFill>
                  <a:srgbClr val="161616"/>
                </a:solidFill>
                <a:latin typeface="Marianne"/>
              </a:rPr>
              <a:t>Essayez Entrée sur un bouton, Espace sur une case à cocher</a:t>
            </a:r>
          </a:p>
          <a:p>
            <a:pPr algn="l">
              <a:lnSpc>
                <a:spcPct val="125000"/>
              </a:lnSpc>
            </a:pPr>
            <a:r>
              <a:rPr lang="fr-FR" sz="1400">
                <a:solidFill>
                  <a:srgbClr val="161616"/>
                </a:solidFill>
                <a:latin typeface="Marianne"/>
              </a:rPr>
              <a:t>• </a:t>
            </a:r>
            <a:r>
              <a:rPr lang="fr-FR" sz="1400" b="0">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704088" y="439826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1 signal détecté = vous avez l’œil</a:t>
            </a:r>
          </a:p>
          <a:p>
            <a:pPr algn="l">
              <a:lnSpc>
                <a:spcPct val="150000"/>
              </a:lnSpc>
            </a:pPr>
            <a:r>
              <a:rPr lang="fr-FR" sz="1400">
                <a:solidFill>
                  <a:srgbClr val="161616"/>
                </a:solidFill>
                <a:latin typeface="Marianne"/>
              </a:rPr>
              <a:t>• </a:t>
            </a:r>
            <a:r>
              <a:rPr lang="fr-FR" sz="1400" b="0">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Focus et navigation clavier</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Langue de la page : l’accent juste du lecteur d’écran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6781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La balise &lt;html&gt; porte un attribut lang (ex. lang="fr")</a:t>
            </a:r>
          </a:p>
          <a:p>
            <a:pPr algn="l">
              <a:lnSpc>
                <a:spcPct val="125000"/>
              </a:lnSpc>
            </a:pPr>
            <a:r>
              <a:rPr lang="fr-FR" sz="1400">
                <a:solidFill>
                  <a:srgbClr val="161616"/>
                </a:solidFill>
                <a:latin typeface="Marianne"/>
              </a:rPr>
              <a:t>• </a:t>
            </a:r>
            <a:r>
              <a:rPr lang="fr-FR" sz="1400" b="0">
                <a:solidFill>
                  <a:srgbClr val="161616"/>
                </a:solidFill>
                <a:latin typeface="Marianne"/>
              </a:rPr>
              <a:t>Les passages dans une autre langue sont balisés : &lt;span lang="en"&gt;workshop&lt;/span&gt;</a:t>
            </a:r>
          </a:p>
          <a:p>
            <a:pPr algn="l">
              <a:lnSpc>
                <a:spcPct val="125000"/>
              </a:lnSpc>
            </a:pPr>
            <a:r>
              <a:rPr lang="fr-FR" sz="1400">
                <a:solidFill>
                  <a:srgbClr val="161616"/>
                </a:solidFill>
                <a:latin typeface="Marianne"/>
              </a:rPr>
              <a:t>• </a:t>
            </a:r>
            <a:r>
              <a:rPr lang="fr-FR" sz="1400" b="0">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828031"/>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Clic droit → Afficher le code source → regarder la 1ʳᵉ ligne &lt;html lang="…"&gt;</a:t>
            </a:r>
          </a:p>
          <a:p>
            <a:pPr algn="l">
              <a:lnSpc>
                <a:spcPct val="150000"/>
              </a:lnSpc>
            </a:pPr>
            <a:r>
              <a:rPr lang="fr-FR" sz="1400">
                <a:solidFill>
                  <a:srgbClr val="161616"/>
                </a:solidFill>
                <a:latin typeface="Marianne"/>
              </a:rPr>
              <a:t>• </a:t>
            </a:r>
            <a:r>
              <a:rPr lang="fr-FR" sz="1400" b="0">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Langue de la page</a:t>
            </a:r>
          </a:p>
        </p:txBody>
      </p:sp>
      <p:sp>
        <p:nvSpPr>
          <p:cNvPr id="8" name="DSFR-accent-decoratif"/>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Zoom à 200 % : tout doit rester lisible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6781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À 200 % de zoom, aucun texte n’est coupé ni superposé</a:t>
            </a:r>
          </a:p>
          <a:p>
            <a:pPr algn="l">
              <a:lnSpc>
                <a:spcPct val="125000"/>
              </a:lnSpc>
            </a:pPr>
            <a:r>
              <a:rPr lang="fr-FR" sz="1400">
                <a:solidFill>
                  <a:srgbClr val="161616"/>
                </a:solidFill>
                <a:latin typeface="Marianne"/>
              </a:rPr>
              <a:t>• </a:t>
            </a:r>
            <a:r>
              <a:rPr lang="fr-FR" sz="1400" b="0">
                <a:solidFill>
                  <a:srgbClr val="161616"/>
                </a:solidFill>
                <a:latin typeface="Marianne"/>
              </a:rPr>
              <a:t>Pas d’apparition d’un défilement horizontal sur une page classique</a:t>
            </a:r>
          </a:p>
          <a:p>
            <a:pPr algn="l">
              <a:lnSpc>
                <a:spcPct val="125000"/>
              </a:lnSpc>
            </a:pPr>
            <a:r>
              <a:rPr lang="fr-FR" sz="1400">
                <a:solidFill>
                  <a:srgbClr val="161616"/>
                </a:solidFill>
                <a:latin typeface="Marianne"/>
              </a:rPr>
              <a:t>• </a:t>
            </a:r>
            <a:r>
              <a:rPr lang="fr-FR" sz="1400" b="0">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828031"/>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Ctrl + (ou Cmd + sur Mac) pour zoomer jusqu’à 200 % - répéter 4 fois depuis 100 %</a:t>
            </a:r>
          </a:p>
          <a:p>
            <a:pPr algn="l">
              <a:lnSpc>
                <a:spcPct val="150000"/>
              </a:lnSpc>
            </a:pPr>
            <a:r>
              <a:rPr lang="fr-FR" sz="1400">
                <a:solidFill>
                  <a:srgbClr val="161616"/>
                </a:solidFill>
                <a:latin typeface="Marianne"/>
              </a:rPr>
              <a:t>• </a:t>
            </a:r>
            <a:r>
              <a:rPr lang="fr-FR" sz="1400" b="0">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Zoom à 200 %</a:t>
            </a:r>
          </a:p>
        </p:txBody>
      </p:sp>
      <p:sp>
        <p:nvSpPr>
          <p:cNvPr id="8" name="DSFR-accent-decoratif"/>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Sous-titres : le son que tout le monde lit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4061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La vidéo propose des sous-titres synchronisés (pas seulement une transcription)</a:t>
            </a:r>
          </a:p>
          <a:p>
            <a:pPr algn="l">
              <a:lnSpc>
                <a:spcPct val="115000"/>
              </a:lnSpc>
            </a:pPr>
            <a:r>
              <a:rPr lang="fr-FR" sz="1400">
                <a:solidFill>
                  <a:srgbClr val="161616"/>
                </a:solidFill>
                <a:latin typeface="Marianne"/>
              </a:rPr>
              <a:t>• </a:t>
            </a:r>
            <a:r>
              <a:rPr lang="fr-FR" sz="1400" b="0">
                <a:solidFill>
                  <a:srgbClr val="161616"/>
                </a:solidFill>
                <a:latin typeface="Marianne"/>
              </a:rPr>
              <a:t>Les sous-titres incluent les paroles ET les informations sonores importantes : « (rires) », « (sonnerie) »</a:t>
            </a:r>
          </a:p>
          <a:p>
            <a:pPr algn="l">
              <a:lnSpc>
                <a:spcPct val="115000"/>
              </a:lnSpc>
            </a:pPr>
            <a:r>
              <a:rPr lang="fr-FR" sz="1400">
                <a:solidFill>
                  <a:srgbClr val="161616"/>
                </a:solidFill>
                <a:latin typeface="Marianne"/>
              </a:rPr>
              <a:t>• </a:t>
            </a:r>
            <a:r>
              <a:rPr lang="fr-FR" sz="1400" b="0">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Sous-titres vidéo</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Sous-titres auto : brouillon utile, livrable à relire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91</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Les sous-titres automatiques peuvent déformer les mots, surtout les noms propres et acronymes</a:t>
            </a:r>
          </a:p>
          <a:p>
            <a:pPr algn="l">
              <a:lnSpc>
                <a:spcPct val="125000"/>
              </a:lnSpc>
            </a:pPr>
            <a:r>
              <a:rPr lang="fr-FR" sz="1400">
                <a:solidFill>
                  <a:srgbClr val="161616"/>
                </a:solidFill>
                <a:latin typeface="Marianne"/>
              </a:rPr>
              <a:t>• </a:t>
            </a:r>
            <a:r>
              <a:rPr lang="fr-FR" sz="1400" b="0">
                <a:solidFill>
                  <a:srgbClr val="161616"/>
                </a:solidFill>
                <a:latin typeface="Marianne"/>
              </a:rPr>
              <a:t>Noms propres, acronymes, chiffres : souvent mal reconnus</a:t>
            </a:r>
          </a:p>
          <a:p>
            <a:pPr algn="l">
              <a:lnSpc>
                <a:spcPct val="125000"/>
              </a:lnSpc>
            </a:pPr>
            <a:r>
              <a:rPr lang="fr-FR" sz="1400">
                <a:solidFill>
                  <a:srgbClr val="161616"/>
                </a:solidFill>
                <a:latin typeface="Marianne"/>
              </a:rPr>
              <a:t>• </a:t>
            </a:r>
            <a:r>
              <a:rPr lang="fr-FR" sz="1400" b="0">
                <a:solidFill>
                  <a:srgbClr val="161616"/>
                </a:solidFill>
                <a:latin typeface="Marianne"/>
              </a:rPr>
              <a:t>Ponctuation absente : « on mange les enfants » vs « on mange, les enfants »</a:t>
            </a:r>
          </a:p>
          <a:p>
            <a:pPr algn="l">
              <a:lnSpc>
                <a:spcPct val="125000"/>
              </a:lnSpc>
            </a:pPr>
            <a:r>
              <a:rPr lang="fr-FR" sz="1400">
                <a:solidFill>
                  <a:srgbClr val="161616"/>
                </a:solidFill>
                <a:latin typeface="Marianne"/>
              </a:rPr>
              <a:t>• </a:t>
            </a:r>
            <a:r>
              <a:rPr lang="fr-FR" sz="1400" b="0">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704088" y="46863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Générer l’auto (YouTube, Whisper, outil interne) pour accélérer le brouillon</a:t>
            </a:r>
          </a:p>
          <a:p>
            <a:pPr algn="l">
              <a:lnSpc>
                <a:spcPct val="115000"/>
              </a:lnSpc>
            </a:pPr>
            <a:r>
              <a:rPr lang="fr-FR" sz="1400">
                <a:solidFill>
                  <a:srgbClr val="161616"/>
                </a:solidFill>
                <a:latin typeface="Marianne"/>
              </a:rPr>
              <a:t>• </a:t>
            </a:r>
            <a:r>
              <a:rPr lang="fr-FR" sz="1400" b="0">
                <a:solidFill>
                  <a:srgbClr val="161616"/>
                </a:solidFill>
                <a:latin typeface="Marianne"/>
              </a:rPr>
              <a:t>Relire : noms, chiffres, ponctuation et [indications sonores]</a:t>
            </a:r>
          </a:p>
          <a:p>
            <a:pPr algn="l">
              <a:lnSpc>
                <a:spcPct val="115000"/>
              </a:lnSpc>
            </a:pPr>
            <a:r>
              <a:rPr lang="fr-FR" sz="1400">
                <a:solidFill>
                  <a:srgbClr val="161616"/>
                </a:solidFill>
                <a:latin typeface="Marianne"/>
              </a:rPr>
              <a:t>• </a:t>
            </a:r>
            <a:r>
              <a:rPr lang="fr-FR" sz="1400" b="0">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Sous-titres vidéo</a:t>
            </a:r>
          </a:p>
        </p:txBody>
      </p:sp>
      <p:sp>
        <p:nvSpPr>
          <p:cNvPr id="8" name="DSFR-accent-decoratif"/>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Transcription : la version texte qui accompagne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2967228"/>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Toute vidéo / audio propose un lien visible « Lire la transcription »</a:t>
            </a:r>
          </a:p>
          <a:p>
            <a:pPr algn="l">
              <a:lnSpc>
                <a:spcPct val="125000"/>
              </a:lnSpc>
            </a:pPr>
            <a:r>
              <a:rPr lang="fr-FR" sz="1400">
                <a:solidFill>
                  <a:srgbClr val="161616"/>
                </a:solidFill>
                <a:latin typeface="Marianne"/>
              </a:rPr>
              <a:t>• </a:t>
            </a:r>
            <a:r>
              <a:rPr lang="fr-FR" sz="1400" b="0">
                <a:solidFill>
                  <a:srgbClr val="161616"/>
                </a:solidFill>
                <a:latin typeface="Marianne"/>
              </a:rPr>
              <a:t>La transcription est complète : paroles + informations sonores essentielles</a:t>
            </a:r>
          </a:p>
          <a:p>
            <a:pPr algn="l">
              <a:lnSpc>
                <a:spcPct val="125000"/>
              </a:lnSpc>
            </a:pPr>
            <a:r>
              <a:rPr lang="fr-FR" sz="1400">
                <a:solidFill>
                  <a:srgbClr val="161616"/>
                </a:solidFill>
                <a:latin typeface="Marianne"/>
              </a:rPr>
              <a:t>• </a:t>
            </a:r>
            <a:r>
              <a:rPr lang="fr-FR" sz="1400" b="0">
                <a:solidFill>
                  <a:srgbClr val="161616"/>
                </a:solidFill>
                <a:latin typeface="Marianne"/>
              </a:rPr>
              <a:t>Elle est sur la même page ou à un clic, pas cachée à deux étages de menu</a:t>
            </a:r>
          </a:p>
          <a:p>
            <a:pPr algn="l">
              <a:lnSpc>
                <a:spcPct val="125000"/>
              </a:lnSpc>
            </a:pPr>
            <a:r>
              <a:rPr lang="fr-FR" sz="1400">
                <a:solidFill>
                  <a:srgbClr val="161616"/>
                </a:solidFill>
                <a:latin typeface="Marianne"/>
              </a:rPr>
              <a:t>• </a:t>
            </a:r>
            <a:r>
              <a:rPr lang="fr-FR" sz="1400" b="0">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96062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 transcription rend le contenu plus facile à retrouver, relire et citer</a:t>
            </a:r>
          </a:p>
          <a:p>
            <a:pPr algn="l">
              <a:lnSpc>
                <a:spcPct val="150000"/>
              </a:lnSpc>
            </a:pPr>
            <a:r>
              <a:rPr lang="fr-FR" sz="1400">
                <a:solidFill>
                  <a:srgbClr val="161616"/>
                </a:solidFill>
                <a:latin typeface="Marianne"/>
              </a:rPr>
              <a:t>• </a:t>
            </a:r>
            <a:r>
              <a:rPr lang="fr-FR" sz="1400" b="0">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Transcriptions audio et vidéo</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Audiodescription : la voix qui montre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2232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634739"/>
            <a:ext cx="10908792" cy="1241298"/>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La vidéo propose une piste audiodécrite activable (bouton AD)</a:t>
            </a:r>
          </a:p>
          <a:p>
            <a:pPr algn="l">
              <a:lnSpc>
                <a:spcPct val="115000"/>
              </a:lnSpc>
            </a:pPr>
            <a:r>
              <a:rPr lang="fr-FR" sz="1400">
                <a:solidFill>
                  <a:srgbClr val="161616"/>
                </a:solidFill>
                <a:latin typeface="Marianne"/>
              </a:rPr>
              <a:t>• </a:t>
            </a:r>
            <a:r>
              <a:rPr lang="fr-FR" sz="1400" b="0">
                <a:solidFill>
                  <a:srgbClr val="161616"/>
                </a:solidFill>
                <a:latin typeface="Marianne"/>
              </a:rPr>
              <a:t>L’audiodescription décrit les éléments visuels essentiels à la compréhension</a:t>
            </a:r>
          </a:p>
          <a:p>
            <a:pPr algn="l">
              <a:lnSpc>
                <a:spcPct val="115000"/>
              </a:lnSpc>
            </a:pPr>
            <a:r>
              <a:rPr lang="fr-FR" sz="1400">
                <a:solidFill>
                  <a:srgbClr val="161616"/>
                </a:solidFill>
                <a:latin typeface="Marianne"/>
              </a:rPr>
              <a:t>• </a:t>
            </a:r>
            <a:r>
              <a:rPr lang="fr-FR" sz="1400" b="0">
                <a:solidFill>
                  <a:srgbClr val="161616"/>
                </a:solidFill>
                <a:latin typeface="Marianne"/>
              </a:rPr>
              <a:t>Elle s’intercale dans les silences, sans couvrir les dialogues</a:t>
            </a:r>
          </a:p>
          <a:p>
            <a:pPr algn="l">
              <a:lnSpc>
                <a:spcPct val="115000"/>
              </a:lnSpc>
            </a:pPr>
            <a:r>
              <a:rPr lang="fr-FR" sz="1400">
                <a:solidFill>
                  <a:srgbClr val="161616"/>
                </a:solidFill>
                <a:latin typeface="Marianne"/>
              </a:rPr>
              <a:t>• </a:t>
            </a:r>
            <a:r>
              <a:rPr lang="fr-FR" sz="1400" b="0">
                <a:solidFill>
                  <a:srgbClr val="161616"/>
                </a:solidFill>
                <a:latin typeface="Marianne"/>
              </a:rPr>
              <a:t>Pour une vidéo sans dialogue essentiel : une description textuelle synchronisée suffit</a:t>
            </a:r>
          </a:p>
        </p:txBody>
      </p:sp>
      <p:sp>
        <p:nvSpPr>
          <p:cNvPr id="16" name="DSFR-box"/>
          <p:cNvSpPr/>
          <p:nvPr/>
        </p:nvSpPr>
        <p:spPr>
          <a:xfrm>
            <a:off x="548640" y="510418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quote-texte"/>
          <p:cNvSpPr txBox="1"/>
          <p:nvPr/>
        </p:nvSpPr>
        <p:spPr>
          <a:xfrm>
            <a:off x="749808" y="5241340"/>
            <a:ext cx="10863072" cy="731520"/>
          </a:xfrm>
          <a:prstGeom prst="rect">
            <a:avLst/>
          </a:prstGeom>
          <a:noFill/>
        </p:spPr>
        <p:txBody>
          <a:bodyPr wrap="square" lIns="73152" rIns="73152" anchor="t">
            <a:spAutoFit/>
          </a:bodyPr>
          <a:lstStyle/>
          <a:p>
            <a:pPr algn="l">
              <a:lnSpc>
                <a:spcPct val="125000"/>
              </a:lnSpc>
            </a:pPr>
            <a:r>
              <a:rPr lang="fr-FR" sz="1600" b="0" i="1">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927140"/>
            <a:ext cx="10863072" cy="3657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Audiodescription</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1318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510418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Bonus médias : toujours 2 accès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2209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Image, schéma ou plan -&gt; description ou texte alternatif</a:t>
            </a:r>
          </a:p>
          <a:p>
            <a:pPr algn="l">
              <a:lnSpc>
                <a:spcPct val="120000"/>
              </a:lnSpc>
            </a:pPr>
            <a:r>
              <a:rPr lang="fr-FR" sz="1400">
                <a:solidFill>
                  <a:srgbClr val="161616"/>
                </a:solidFill>
                <a:latin typeface="Marianne"/>
              </a:rPr>
              <a:t>• </a:t>
            </a:r>
            <a:r>
              <a:rPr lang="fr-FR" sz="1400" b="0">
                <a:solidFill>
                  <a:srgbClr val="161616"/>
                </a:solidFill>
                <a:latin typeface="Marianne"/>
              </a:rPr>
              <a:t>Vidéo -&gt; sous-titres + informations visuelles essentielles</a:t>
            </a:r>
          </a:p>
          <a:p>
            <a:pPr algn="l">
              <a:lnSpc>
                <a:spcPct val="120000"/>
              </a:lnSpc>
            </a:pPr>
            <a:r>
              <a:rPr lang="fr-FR" sz="1400">
                <a:solidFill>
                  <a:srgbClr val="161616"/>
                </a:solidFill>
                <a:latin typeface="Marianne"/>
              </a:rPr>
              <a:t>• </a:t>
            </a:r>
            <a:r>
              <a:rPr lang="fr-FR" sz="1400" b="0">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2209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Sous-titres lisibles : contraste fort, bandeau si besoin</a:t>
            </a:r>
          </a:p>
          <a:p>
            <a:pPr algn="l">
              <a:lnSpc>
                <a:spcPct val="120000"/>
              </a:lnSpc>
            </a:pPr>
            <a:r>
              <a:rPr lang="fr-FR" sz="1400">
                <a:solidFill>
                  <a:srgbClr val="161616"/>
                </a:solidFill>
                <a:latin typeface="Marianne"/>
              </a:rPr>
              <a:t>• </a:t>
            </a:r>
            <a:r>
              <a:rPr lang="fr-FR" sz="1400" b="0">
                <a:solidFill>
                  <a:srgbClr val="161616"/>
                </a:solidFill>
                <a:latin typeface="Marianne"/>
              </a:rPr>
              <a:t>Format réseau social : sous-titres non masqués par l'interface</a:t>
            </a:r>
          </a:p>
          <a:p>
            <a:pPr algn="l">
              <a:lnSpc>
                <a:spcPct val="120000"/>
              </a:lnSpc>
            </a:pPr>
            <a:r>
              <a:rPr lang="fr-FR" sz="1400">
                <a:solidFill>
                  <a:srgbClr val="161616"/>
                </a:solidFill>
                <a:latin typeface="Marianne"/>
              </a:rPr>
              <a:t>• </a:t>
            </a:r>
            <a:r>
              <a:rPr lang="fr-FR" sz="1400" b="0">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Bonus médias</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Bonus médias : VSME et transcriptions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03804"/>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Dialogues visibles et hors champ</a:t>
            </a:r>
          </a:p>
          <a:p>
            <a:pPr algn="l">
              <a:lnSpc>
                <a:spcPct val="115000"/>
              </a:lnSpc>
            </a:pPr>
            <a:r>
              <a:rPr lang="fr-FR" sz="1400">
                <a:solidFill>
                  <a:srgbClr val="161616"/>
                </a:solidFill>
                <a:latin typeface="Marianne"/>
              </a:rPr>
              <a:t>• </a:t>
            </a:r>
            <a:r>
              <a:rPr lang="fr-FR" sz="1400" b="0">
                <a:solidFill>
                  <a:srgbClr val="161616"/>
                </a:solidFill>
                <a:latin typeface="Marianne"/>
              </a:rPr>
              <a:t>Bruits utiles, effets sonores et musique</a:t>
            </a:r>
          </a:p>
          <a:p>
            <a:pPr algn="l">
              <a:lnSpc>
                <a:spcPct val="115000"/>
              </a:lnSpc>
            </a:pPr>
            <a:r>
              <a:rPr lang="fr-FR" sz="1400">
                <a:solidFill>
                  <a:srgbClr val="161616"/>
                </a:solidFill>
                <a:latin typeface="Marianne"/>
              </a:rPr>
              <a:t>• </a:t>
            </a:r>
            <a:r>
              <a:rPr lang="fr-FR" sz="1400" b="0">
                <a:solidFill>
                  <a:srgbClr val="161616"/>
                </a:solidFill>
                <a:latin typeface="Marianne"/>
              </a:rPr>
              <a:t>Voix off, narration, pensée intérieure</a:t>
            </a:r>
          </a:p>
          <a:p>
            <a:pPr algn="l">
              <a:lnSpc>
                <a:spcPct val="115000"/>
              </a:lnSpc>
            </a:pPr>
            <a:r>
              <a:rPr lang="fr-FR" sz="1400">
                <a:solidFill>
                  <a:srgbClr val="161616"/>
                </a:solidFill>
                <a:latin typeface="Marianne"/>
              </a:rPr>
              <a:t>• </a:t>
            </a:r>
            <a:r>
              <a:rPr lang="fr-FR" sz="1400" b="0">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03804"/>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Semi-intégrale : résumé détaillé + citations</a:t>
            </a:r>
          </a:p>
          <a:p>
            <a:pPr algn="l">
              <a:lnSpc>
                <a:spcPct val="115000"/>
              </a:lnSpc>
            </a:pPr>
            <a:r>
              <a:rPr lang="fr-FR" sz="1400">
                <a:solidFill>
                  <a:srgbClr val="161616"/>
                </a:solidFill>
                <a:latin typeface="Marianne"/>
              </a:rPr>
              <a:t>• </a:t>
            </a:r>
            <a:r>
              <a:rPr lang="fr-FR" sz="1400" b="0">
                <a:solidFill>
                  <a:srgbClr val="161616"/>
                </a:solidFill>
                <a:latin typeface="Marianne"/>
              </a:rPr>
              <a:t>Intégrale éditée : texte complet, corrigé et lisible</a:t>
            </a:r>
          </a:p>
          <a:p>
            <a:pPr algn="l">
              <a:lnSpc>
                <a:spcPct val="115000"/>
              </a:lnSpc>
            </a:pPr>
            <a:r>
              <a:rPr lang="fr-FR" sz="1400">
                <a:solidFill>
                  <a:srgbClr val="161616"/>
                </a:solidFill>
                <a:latin typeface="Marianne"/>
              </a:rPr>
              <a:t>• </a:t>
            </a:r>
            <a:r>
              <a:rPr lang="fr-FR" sz="1400" b="0">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highlight"/>
          <p:cNvSpPr txBox="1"/>
          <p:nvPr/>
        </p:nvSpPr>
        <p:spPr>
          <a:xfrm>
            <a:off x="749808" y="5206593"/>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Bonus médias</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Étiquettes : chaque champ a un nom</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4061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Chaque champ (texte, case, menu déroulant) a une étiquette visible à côté</a:t>
            </a:r>
          </a:p>
          <a:p>
            <a:pPr algn="l">
              <a:lnSpc>
                <a:spcPct val="125000"/>
              </a:lnSpc>
            </a:pPr>
            <a:r>
              <a:rPr lang="fr-FR" sz="1400">
                <a:solidFill>
                  <a:srgbClr val="161616"/>
                </a:solidFill>
                <a:latin typeface="Marianne"/>
              </a:rPr>
              <a:t>• </a:t>
            </a:r>
            <a:r>
              <a:rPr lang="fr-FR" sz="1400" b="0">
                <a:solidFill>
                  <a:srgbClr val="161616"/>
                </a:solidFill>
                <a:latin typeface="Marianne"/>
              </a:rPr>
              <a:t>L’étiquette reste affichée quand on commence à saisir - elle ne disparaît pas</a:t>
            </a:r>
          </a:p>
          <a:p>
            <a:pPr algn="l">
              <a:lnSpc>
                <a:spcPct val="125000"/>
              </a:lnSpc>
            </a:pPr>
            <a:r>
              <a:rPr lang="fr-FR" sz="1400">
                <a:solidFill>
                  <a:srgbClr val="161616"/>
                </a:solidFill>
                <a:latin typeface="Marianne"/>
              </a:rPr>
              <a:t>• </a:t>
            </a:r>
            <a:r>
              <a:rPr lang="fr-FR" sz="1400" b="0">
                <a:solidFill>
                  <a:srgbClr val="161616"/>
                </a:solidFill>
                <a:latin typeface="Marianne"/>
              </a:rPr>
              <a:t>Cliquer sur l’étiquette déplace le focus dans le champ (test rapide et décisif)</a:t>
            </a:r>
          </a:p>
          <a:p>
            <a:pPr algn="l">
              <a:lnSpc>
                <a:spcPct val="125000"/>
              </a:lnSpc>
            </a:pPr>
            <a:r>
              <a:rPr lang="fr-FR" sz="1400">
                <a:solidFill>
                  <a:srgbClr val="161616"/>
                </a:solidFill>
                <a:latin typeface="Marianne"/>
              </a:rPr>
              <a:t>• </a:t>
            </a:r>
            <a:r>
              <a:rPr lang="fr-FR" sz="1400" b="0">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Étiquettes de formulaire</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Placeholder ≠ étiquette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Il disparaît dès qu’on commence à saisir - on oublie ce qu’on remplit</a:t>
            </a:r>
          </a:p>
          <a:p>
            <a:pPr algn="l">
              <a:lnSpc>
                <a:spcPct val="125000"/>
              </a:lnSpc>
            </a:pPr>
            <a:r>
              <a:rPr lang="fr-FR" sz="1400">
                <a:solidFill>
                  <a:srgbClr val="161616"/>
                </a:solidFill>
                <a:latin typeface="Marianne"/>
              </a:rPr>
              <a:t>• </a:t>
            </a:r>
            <a:r>
              <a:rPr lang="fr-FR" sz="1400" b="0">
                <a:solidFill>
                  <a:srgbClr val="161616"/>
                </a:solidFill>
                <a:latin typeface="Marianne"/>
              </a:rPr>
              <a:t>Son contraste est souvent trop faible pour passer le check 4</a:t>
            </a:r>
          </a:p>
          <a:p>
            <a:pPr algn="l">
              <a:lnSpc>
                <a:spcPct val="125000"/>
              </a:lnSpc>
            </a:pPr>
            <a:r>
              <a:rPr lang="fr-FR" sz="1400">
                <a:solidFill>
                  <a:srgbClr val="161616"/>
                </a:solidFill>
                <a:latin typeface="Marianne"/>
              </a:rPr>
              <a:t>• </a:t>
            </a:r>
            <a:r>
              <a:rPr lang="fr-FR" sz="1400" b="0">
                <a:solidFill>
                  <a:srgbClr val="161616"/>
                </a:solidFill>
                <a:latin typeface="Marianne"/>
              </a:rPr>
              <a:t>Il peut être annoncé comme exemple, pas comme nom fiable du champ</a:t>
            </a:r>
          </a:p>
          <a:p>
            <a:pPr algn="l">
              <a:lnSpc>
                <a:spcPct val="125000"/>
              </a:lnSpc>
            </a:pPr>
            <a:r>
              <a:rPr lang="fr-FR" sz="1400">
                <a:solidFill>
                  <a:srgbClr val="161616"/>
                </a:solidFill>
                <a:latin typeface="Marianne"/>
              </a:rPr>
              <a:t>• </a:t>
            </a:r>
            <a:r>
              <a:rPr lang="fr-FR" sz="1400" b="0">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704088" y="439826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Étiquette visible au-dessus du champ (ou à gauche)</a:t>
            </a:r>
          </a:p>
          <a:p>
            <a:pPr algn="l">
              <a:lnSpc>
                <a:spcPct val="150000"/>
              </a:lnSpc>
            </a:pPr>
            <a:r>
              <a:rPr lang="fr-FR" sz="1400">
                <a:solidFill>
                  <a:srgbClr val="161616"/>
                </a:solidFill>
                <a:latin typeface="Marianne"/>
              </a:rPr>
              <a:t>• </a:t>
            </a:r>
            <a:r>
              <a:rPr lang="fr-FR" sz="1400" b="0">
                <a:solidFill>
                  <a:srgbClr val="161616"/>
                </a:solidFill>
                <a:latin typeface="Marianne"/>
              </a:rPr>
              <a:t>Placeholder optionnel, pour donner un exemple de format : « JJ/MM/AAAA »</a:t>
            </a:r>
          </a:p>
          <a:p>
            <a:pPr algn="l">
              <a:lnSpc>
                <a:spcPct val="150000"/>
              </a:lnSpc>
            </a:pPr>
            <a:r>
              <a:rPr lang="fr-FR" sz="1400">
                <a:solidFill>
                  <a:srgbClr val="161616"/>
                </a:solidFill>
                <a:latin typeface="Marianne"/>
              </a:rPr>
              <a:t>• </a:t>
            </a:r>
            <a:r>
              <a:rPr lang="fr-FR" sz="1400" b="0">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Étiquettes de formulaire</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Groupes de champs : l’étiquette commune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98</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2860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Plusieurs boutons radio qui répondent à la même question (« Civilité : M / Mme / autre »)</a:t>
            </a:r>
          </a:p>
          <a:p>
            <a:pPr algn="l">
              <a:lnSpc>
                <a:spcPct val="125000"/>
              </a:lnSpc>
            </a:pPr>
            <a:r>
              <a:rPr lang="fr-FR" sz="1400">
                <a:solidFill>
                  <a:srgbClr val="161616"/>
                </a:solidFill>
                <a:latin typeface="Marianne"/>
              </a:rPr>
              <a:t>• </a:t>
            </a:r>
            <a:r>
              <a:rPr lang="fr-FR" sz="1400" b="0">
                <a:solidFill>
                  <a:srgbClr val="161616"/>
                </a:solidFill>
                <a:latin typeface="Marianne"/>
              </a:rPr>
              <a:t>Plusieurs cases à cocher qui partagent un thème (« Jours travaillés »)</a:t>
            </a:r>
          </a:p>
          <a:p>
            <a:pPr algn="l">
              <a:lnSpc>
                <a:spcPct val="125000"/>
              </a:lnSpc>
            </a:pPr>
            <a:r>
              <a:rPr lang="fr-FR" sz="1400">
                <a:solidFill>
                  <a:srgbClr val="161616"/>
                </a:solidFill>
                <a:latin typeface="Marianne"/>
              </a:rPr>
              <a:t>• </a:t>
            </a:r>
            <a:r>
              <a:rPr lang="fr-FR" sz="1400" b="0">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4187952">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777240">
                <a:tc>
                  <a:txBody>
                    <a:bodyPr/>
                    <a:lstStyle/>
                    <a:p>
                      <a:pPr algn="l">
                        <a:lnSpc>
                          <a:spcPct val="125000"/>
                        </a:lnSpc>
                      </a:pPr>
                      <a:r>
                        <a:rPr lang="fr-FR" sz="1400" b="1" i="0">
                          <a:solidFill>
                            <a:srgbClr val="FFFFFF"/>
                          </a:solidFill>
                          <a:latin typeface="Marianne"/>
                        </a:rPr>
                        <a:t>Cas</a:t>
                      </a:r>
                    </a:p>
                  </a:txBody>
                  <a:tcPr>
                    <a:solidFill>
                      <a:srgbClr val="000091"/>
                    </a:solidFill>
                  </a:tcPr>
                </a:tc>
                <a:tc>
                  <a:txBody>
                    <a:bodyPr/>
                    <a:lstStyle/>
                    <a:p>
                      <a:pPr algn="l">
                        <a:lnSpc>
                          <a:spcPct val="125000"/>
                        </a:lnSpc>
                      </a:pPr>
                      <a:r>
                        <a:rPr lang="fr-FR" sz="1400" b="1" i="0">
                          <a:solidFill>
                            <a:srgbClr val="FFFFFF"/>
                          </a:solidFill>
                          <a:latin typeface="Marianne"/>
                        </a:rPr>
                        <a:t>Code vérifié</a:t>
                      </a:r>
                    </a:p>
                  </a:txBody>
                  <a:tcPr>
                    <a:solidFill>
                      <a:srgbClr val="000091"/>
                    </a:solidFill>
                  </a:tcPr>
                </a:tc>
                <a:tc>
                  <a:txBody>
                    <a:bodyPr/>
                    <a:lstStyle/>
                    <a:p>
                      <a:pPr algn="l">
                        <a:lnSpc>
                          <a:spcPct val="125000"/>
                        </a:lnSpc>
                      </a:pPr>
                      <a:r>
                        <a:rPr lang="fr-FR" sz="1400" b="1" i="0">
                          <a:solidFill>
                            <a:srgbClr val="FFFFFF"/>
                          </a:solidFill>
                          <a:latin typeface="Marianne"/>
                        </a:rPr>
                        <a:t>Verdict lecteur d’écran</a:t>
                      </a:r>
                    </a:p>
                  </a:txBody>
                  <a:tcPr>
                    <a:solidFill>
                      <a:srgbClr val="000091"/>
                    </a:solidFill>
                  </a:tcPr>
                </a:tc>
                <a:extLst>
                  <a:ext uri="{0D108BD9-81ED-4DB2-BD59-A6C34878D82A}">
                    <a16:rowId xmlns:a16="http://schemas.microsoft.com/office/drawing/2014/main" val="10000"/>
                  </a:ext>
                </a:extLst>
              </a:tr>
              <a:tr h="777240">
                <a:tc>
                  <a:txBody>
                    <a:bodyPr/>
                    <a:lstStyle/>
                    <a:p>
                      <a:pPr algn="l">
                        <a:lnSpc>
                          <a:spcPct val="125000"/>
                        </a:lnSpc>
                      </a:pPr>
                      <a:r>
                        <a:rPr lang="fr-FR" sz="1400" b="0" i="0">
                          <a:solidFill>
                            <a:srgbClr val="161616"/>
                          </a:solidFill>
                          <a:latin typeface="Marianne"/>
                        </a:rPr>
                        <a:t>3 radios « Civilité » sans regroupement</a:t>
                      </a:r>
                    </a:p>
                  </a:txBody>
                  <a:tcPr>
                    <a:solidFill>
                      <a:srgbClr val="FFFFFF"/>
                    </a:solidFill>
                  </a:tcPr>
                </a:tc>
                <a:tc>
                  <a:txBody>
                    <a:bodyPr/>
                    <a:lstStyle/>
                    <a:p>
                      <a:pPr algn="l">
                        <a:lnSpc>
                          <a:spcPct val="125000"/>
                        </a:lnSpc>
                      </a:pPr>
                      <a:r>
                        <a:rPr lang="fr-FR" sz="1400" b="0" i="0">
                          <a:solidFill>
                            <a:srgbClr val="161616"/>
                          </a:solidFill>
                          <a:latin typeface="Marianne"/>
                        </a:rPr>
                        <a:t>Chaque radio a son label seul</a:t>
                      </a:r>
                    </a:p>
                  </a:txBody>
                  <a:tcPr>
                    <a:solidFill>
                      <a:srgbClr val="FFFFFF"/>
                    </a:solidFill>
                  </a:tcPr>
                </a:tc>
                <a:tc>
                  <a:txBody>
                    <a:bodyPr/>
                    <a:lstStyle/>
                    <a:p>
                      <a:pPr algn="l">
                        <a:lnSpc>
                          <a:spcPct val="125000"/>
                        </a:lnSpc>
                      </a:pPr>
                      <a:r>
                        <a:rPr lang="fr-FR" sz="1400" b="0" i="0">
                          <a:solidFill>
                            <a:srgbClr val="161616"/>
                          </a:solidFill>
                          <a:latin typeface="Marianne"/>
                        </a:rPr>
                        <a:t>« M, bouton radio » - question perdue</a:t>
                      </a:r>
                    </a:p>
                  </a:txBody>
                  <a:tcPr>
                    <a:solidFill>
                      <a:srgbClr val="FFFFFF"/>
                    </a:solidFill>
                  </a:tcPr>
                </a:tc>
                <a:extLst>
                  <a:ext uri="{0D108BD9-81ED-4DB2-BD59-A6C34878D82A}">
                    <a16:rowId xmlns:a16="http://schemas.microsoft.com/office/drawing/2014/main" val="10001"/>
                  </a:ext>
                </a:extLst>
              </a:tr>
              <a:tr h="777240">
                <a:tc>
                  <a:txBody>
                    <a:bodyPr/>
                    <a:lstStyle/>
                    <a:p>
                      <a:pPr algn="l">
                        <a:lnSpc>
                          <a:spcPct val="125000"/>
                        </a:lnSpc>
                      </a:pPr>
                      <a:r>
                        <a:rPr lang="fr-FR" sz="1400" b="0" i="0">
                          <a:solidFill>
                            <a:srgbClr val="161616"/>
                          </a:solidFill>
                          <a:latin typeface="Marianne"/>
                        </a:rPr>
                        <a:t>3 radios dans un &lt;fieldset&gt; avec &lt;legend&gt;</a:t>
                      </a:r>
                    </a:p>
                  </a:txBody>
                  <a:tcPr>
                    <a:solidFill>
                      <a:srgbClr val="F5F5FE"/>
                    </a:solidFill>
                  </a:tcPr>
                </a:tc>
                <a:tc>
                  <a:txBody>
                    <a:bodyPr/>
                    <a:lstStyle/>
                    <a:p>
                      <a:pPr algn="l">
                        <a:lnSpc>
                          <a:spcPct val="125000"/>
                        </a:lnSpc>
                      </a:pPr>
                      <a:r>
                        <a:rPr lang="fr-FR" sz="1400" b="0" i="0">
                          <a:solidFill>
                            <a:srgbClr val="161616"/>
                          </a:solidFill>
                          <a:latin typeface="Marianne"/>
                        </a:rPr>
                        <a:t>&lt;fieldset&gt;&lt;legend&gt;Civilité&lt;/legend&gt;… &lt;input type="radio"&gt;…</a:t>
                      </a:r>
                    </a:p>
                  </a:txBody>
                  <a:tcPr>
                    <a:solidFill>
                      <a:srgbClr val="F5F5FE"/>
                    </a:solidFill>
                  </a:tcPr>
                </a:tc>
                <a:tc>
                  <a:txBody>
                    <a:bodyPr/>
                    <a:lstStyle/>
                    <a:p>
                      <a:pPr algn="l">
                        <a:lnSpc>
                          <a:spcPct val="125000"/>
                        </a:lnSpc>
                      </a:pPr>
                      <a:r>
                        <a:rPr lang="fr-FR" sz="1400" b="0" i="0">
                          <a:solidFill>
                            <a:srgbClr val="161616"/>
                          </a:solidFill>
                          <a:latin typeface="Marianne"/>
                        </a:rPr>
                        <a:t>« Civilité, M, bouton radio » - question claire</a:t>
                      </a:r>
                    </a:p>
                  </a:txBody>
                  <a:tcPr>
                    <a:solidFill>
                      <a:srgbClr val="F5F5FE"/>
                    </a:solidFill>
                  </a:tcPr>
                </a:tc>
                <a:extLst>
                  <a:ext uri="{0D108BD9-81ED-4DB2-BD59-A6C34878D82A}">
                    <a16:rowId xmlns:a16="http://schemas.microsoft.com/office/drawing/2014/main" val="10002"/>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Étiquettes de formulaire</a:t>
            </a:r>
          </a:p>
        </p:txBody>
      </p:sp>
      <p:sp>
        <p:nvSpPr>
          <p:cNvPr id="8" name="DSFR-accent-decoratif"/>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Champs obligatoires : prévenir puis guider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99</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874519"/>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283921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Obligation écrite : « obligatoire » ou règle « tous sauf téléphone »</a:t>
            </a:r>
          </a:p>
          <a:p>
            <a:pPr algn="l">
              <a:lnSpc>
                <a:spcPct val="125000"/>
              </a:lnSpc>
            </a:pPr>
            <a:r>
              <a:rPr lang="fr-FR" sz="1400">
                <a:solidFill>
                  <a:srgbClr val="161616"/>
                </a:solidFill>
                <a:latin typeface="Marianne"/>
              </a:rPr>
              <a:t>• </a:t>
            </a:r>
            <a:r>
              <a:rPr lang="fr-FR" sz="1400" b="0">
                <a:solidFill>
                  <a:srgbClr val="161616"/>
                </a:solidFill>
                <a:latin typeface="Marianne"/>
              </a:rPr>
              <a:t>Astérisque expliqué s'il est utilisé</a:t>
            </a:r>
          </a:p>
          <a:p>
            <a:pPr algn="l">
              <a:lnSpc>
                <a:spcPct val="125000"/>
              </a:lnSpc>
            </a:pPr>
            <a:r>
              <a:rPr lang="fr-FR" sz="1400">
                <a:solidFill>
                  <a:srgbClr val="161616"/>
                </a:solidFill>
                <a:latin typeface="Marianne"/>
              </a:rPr>
              <a:t>• </a:t>
            </a:r>
            <a:r>
              <a:rPr lang="fr-FR" sz="1400" b="0">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50799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Aucune erreur ne doit apparaître avant l'envoi</a:t>
            </a:r>
          </a:p>
          <a:p>
            <a:pPr algn="l">
              <a:lnSpc>
                <a:spcPct val="125000"/>
              </a:lnSpc>
            </a:pPr>
            <a:r>
              <a:rPr lang="fr-FR" sz="1400">
                <a:solidFill>
                  <a:srgbClr val="161616"/>
                </a:solidFill>
                <a:latin typeface="Marianne"/>
              </a:rPr>
              <a:t>• </a:t>
            </a:r>
            <a:r>
              <a:rPr lang="fr-FR" sz="1400" b="0">
                <a:solidFill>
                  <a:srgbClr val="161616"/>
                </a:solidFill>
                <a:latin typeface="Marianne"/>
              </a:rPr>
              <a:t>Message précis relié au champ, avec aria-invalid si erreur</a:t>
            </a:r>
          </a:p>
          <a:p>
            <a:pPr algn="l">
              <a:lnSpc>
                <a:spcPct val="125000"/>
              </a:lnSpc>
            </a:pPr>
            <a:r>
              <a:rPr lang="fr-FR" sz="1400">
                <a:solidFill>
                  <a:srgbClr val="161616"/>
                </a:solidFill>
                <a:latin typeface="Marianne"/>
              </a:rPr>
              <a:t>• </a:t>
            </a:r>
            <a:r>
              <a:rPr lang="fr-FR" sz="1400" b="0">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Champs obligatoires et erreurs</a:t>
            </a:r>
          </a:p>
        </p:txBody>
      </p:sp>
      <p:sp>
        <p:nvSpPr>
          <p:cNvPr id="8" name="DSFR-accent-decoratif"/>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Ce qu’on remonte dans la grille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100</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5513832">
                  <a:extLst>
                    <a:ext uri="{9D8B030D-6E8A-4147-A177-3AD203B41FA5}">
                      <a16:colId xmlns:a16="http://schemas.microsoft.com/office/drawing/2014/main" val="20002"/>
                    </a:ext>
                  </a:extLst>
                </a:gridCol>
              </a:tblGrid>
              <a:tr h="502920">
                <a:tc>
                  <a:txBody>
                    <a:bodyPr/>
                    <a:lstStyle/>
                    <a:p>
                      <a:pPr algn="l">
                        <a:lnSpc>
                          <a:spcPct val="125000"/>
                        </a:lnSpc>
                      </a:pPr>
                      <a:r>
                        <a:rPr lang="fr-FR" sz="1400" b="1" i="0">
                          <a:solidFill>
                            <a:srgbClr val="FFFFFF"/>
                          </a:solidFill>
                          <a:latin typeface="Marianne"/>
                        </a:rPr>
                        <a:t>Champ</a:t>
                      </a:r>
                    </a:p>
                  </a:txBody>
                  <a:tcPr>
                    <a:solidFill>
                      <a:srgbClr val="000091"/>
                    </a:solidFill>
                  </a:tcPr>
                </a:tc>
                <a:tc>
                  <a:txBody>
                    <a:bodyPr/>
                    <a:lstStyle/>
                    <a:p>
                      <a:pPr algn="l">
                        <a:lnSpc>
                          <a:spcPct val="125000"/>
                        </a:lnSpc>
                      </a:pPr>
                      <a:r>
                        <a:rPr lang="fr-FR" sz="1400" b="1" i="0">
                          <a:solidFill>
                            <a:srgbClr val="FFFFFF"/>
                          </a:solidFill>
                          <a:latin typeface="Marianne"/>
                        </a:rPr>
                        <a:t>Ce qu’il faut écrire</a:t>
                      </a:r>
                    </a:p>
                  </a:txBody>
                  <a:tcPr>
                    <a:solidFill>
                      <a:srgbClr val="000091"/>
                    </a:solidFill>
                  </a:tcPr>
                </a:tc>
                <a:tc>
                  <a:txBody>
                    <a:bodyPr/>
                    <a:lstStyle/>
                    <a:p>
                      <a:pPr algn="l">
                        <a:lnSpc>
                          <a:spcPct val="125000"/>
                        </a:lnSpc>
                      </a:pPr>
                      <a:r>
                        <a:rPr lang="fr-FR" sz="1400" b="1" i="0">
                          <a:solidFill>
                            <a:srgbClr val="FFFFFF"/>
                          </a:solidFill>
                          <a:latin typeface="Marianne"/>
                        </a:rPr>
                        <a:t>Exemple court</a:t>
                      </a:r>
                    </a:p>
                  </a:txBody>
                  <a:tcPr>
                    <a:solidFill>
                      <a:srgbClr val="000091"/>
                    </a:solidFill>
                  </a:tcPr>
                </a:tc>
                <a:extLst>
                  <a:ext uri="{0D108BD9-81ED-4DB2-BD59-A6C34878D82A}">
                    <a16:rowId xmlns:a16="http://schemas.microsoft.com/office/drawing/2014/main" val="10000"/>
                  </a:ext>
                </a:extLst>
              </a:tr>
              <a:tr h="502920">
                <a:tc>
                  <a:txBody>
                    <a:bodyPr/>
                    <a:lstStyle/>
                    <a:p>
                      <a:pPr algn="l">
                        <a:lnSpc>
                          <a:spcPct val="125000"/>
                        </a:lnSpc>
                      </a:pPr>
                      <a:r>
                        <a:rPr lang="fr-FR" sz="1400" b="0" i="0">
                          <a:solidFill>
                            <a:srgbClr val="161616"/>
                          </a:solidFill>
                          <a:latin typeface="Marianne"/>
                        </a:rPr>
                        <a:t>Verdict</a:t>
                      </a:r>
                    </a:p>
                  </a:txBody>
                  <a:tcPr>
                    <a:solidFill>
                      <a:srgbClr val="FFFFFF"/>
                    </a:solidFill>
                  </a:tcPr>
                </a:tc>
                <a:tc>
                  <a:txBody>
                    <a:bodyPr/>
                    <a:lstStyle/>
                    <a:p>
                      <a:pPr algn="l">
                        <a:lnSpc>
                          <a:spcPct val="125000"/>
                        </a:lnSpc>
                      </a:pPr>
                      <a:r>
                        <a:rPr lang="fr-FR" sz="1400" b="0" i="0">
                          <a:solidFill>
                            <a:srgbClr val="161616"/>
                          </a:solidFill>
                          <a:latin typeface="Marianne"/>
                        </a:rPr>
                        <a:t>C, NC ou NA</a:t>
                      </a:r>
                    </a:p>
                  </a:txBody>
                  <a:tcPr>
                    <a:solidFill>
                      <a:srgbClr val="FFFFFF"/>
                    </a:solidFill>
                  </a:tcPr>
                </a:tc>
                <a:tc>
                  <a:txBody>
                    <a:bodyPr/>
                    <a:lstStyle/>
                    <a:p>
                      <a:pPr algn="l">
                        <a:lnSpc>
                          <a:spcPct val="125000"/>
                        </a:lnSpc>
                      </a:pPr>
                      <a:r>
                        <a:rPr lang="fr-FR" sz="1400" b="0" i="0">
                          <a:solidFill>
                            <a:srgbClr val="161616"/>
                          </a:solidFill>
                          <a:latin typeface="Marianne"/>
                        </a:rPr>
                        <a:t>NC</a:t>
                      </a:r>
                    </a:p>
                  </a:txBody>
                  <a:tcPr>
                    <a:solidFill>
                      <a:srgbClr val="FFFFFF"/>
                    </a:solidFill>
                  </a:tcPr>
                </a:tc>
                <a:extLst>
                  <a:ext uri="{0D108BD9-81ED-4DB2-BD59-A6C34878D82A}">
                    <a16:rowId xmlns:a16="http://schemas.microsoft.com/office/drawing/2014/main" val="10001"/>
                  </a:ext>
                </a:extLst>
              </a:tr>
              <a:tr h="502920">
                <a:tc>
                  <a:txBody>
                    <a:bodyPr/>
                    <a:lstStyle/>
                    <a:p>
                      <a:pPr algn="l">
                        <a:lnSpc>
                          <a:spcPct val="125000"/>
                        </a:lnSpc>
                      </a:pPr>
                      <a:r>
                        <a:rPr lang="fr-FR" sz="1400" b="0" i="0">
                          <a:solidFill>
                            <a:srgbClr val="161616"/>
                          </a:solidFill>
                          <a:latin typeface="Marianne"/>
                        </a:rPr>
                        <a:t>Sévérité</a:t>
                      </a:r>
                    </a:p>
                  </a:txBody>
                  <a:tcPr>
                    <a:solidFill>
                      <a:srgbClr val="F5F5FE"/>
                    </a:solidFill>
                  </a:tcPr>
                </a:tc>
                <a:tc>
                  <a:txBody>
                    <a:bodyPr/>
                    <a:lstStyle/>
                    <a:p>
                      <a:pPr algn="l">
                        <a:lnSpc>
                          <a:spcPct val="125000"/>
                        </a:lnSpc>
                      </a:pPr>
                      <a:r>
                        <a:rPr lang="fr-FR" sz="1400" b="0" i="0">
                          <a:solidFill>
                            <a:srgbClr val="161616"/>
                          </a:solidFill>
                          <a:latin typeface="Marianne"/>
                        </a:rPr>
                        <a:t>Bloquant, gênant, mineur ou info</a:t>
                      </a:r>
                    </a:p>
                  </a:txBody>
                  <a:tcPr>
                    <a:solidFill>
                      <a:srgbClr val="F5F5FE"/>
                    </a:solidFill>
                  </a:tcPr>
                </a:tc>
                <a:tc>
                  <a:txBody>
                    <a:bodyPr/>
                    <a:lstStyle/>
                    <a:p>
                      <a:pPr algn="l">
                        <a:lnSpc>
                          <a:spcPct val="125000"/>
                        </a:lnSpc>
                      </a:pPr>
                      <a:r>
                        <a:rPr lang="fr-FR" sz="1400" b="0" i="0">
                          <a:solidFill>
                            <a:srgbClr val="161616"/>
                          </a:solidFill>
                          <a:latin typeface="Marianne"/>
                        </a:rPr>
                        <a:t>Gênant</a:t>
                      </a:r>
                    </a:p>
                  </a:txBody>
                  <a:tcPr>
                    <a:solidFill>
                      <a:srgbClr val="F5F5FE"/>
                    </a:solidFill>
                  </a:tcPr>
                </a:tc>
                <a:extLst>
                  <a:ext uri="{0D108BD9-81ED-4DB2-BD59-A6C34878D82A}">
                    <a16:rowId xmlns:a16="http://schemas.microsoft.com/office/drawing/2014/main" val="10002"/>
                  </a:ext>
                </a:extLst>
              </a:tr>
              <a:tr h="502920">
                <a:tc>
                  <a:txBody>
                    <a:bodyPr/>
                    <a:lstStyle/>
                    <a:p>
                      <a:pPr algn="l">
                        <a:lnSpc>
                          <a:spcPct val="125000"/>
                        </a:lnSpc>
                      </a:pPr>
                      <a:r>
                        <a:rPr lang="fr-FR" sz="1400" b="0" i="0">
                          <a:solidFill>
                            <a:srgbClr val="161616"/>
                          </a:solidFill>
                          <a:latin typeface="Marianne"/>
                        </a:rPr>
                        <a:t>Constat</a:t>
                      </a:r>
                    </a:p>
                  </a:txBody>
                  <a:tcPr>
                    <a:solidFill>
                      <a:srgbClr val="FFFFFF"/>
                    </a:solidFill>
                  </a:tcPr>
                </a:tc>
                <a:tc>
                  <a:txBody>
                    <a:bodyPr/>
                    <a:lstStyle/>
                    <a:p>
                      <a:pPr algn="l">
                        <a:lnSpc>
                          <a:spcPct val="125000"/>
                        </a:lnSpc>
                      </a:pPr>
                      <a:r>
                        <a:rPr lang="fr-FR" sz="1400" b="0" i="0">
                          <a:solidFill>
                            <a:srgbClr val="161616"/>
                          </a:solidFill>
                          <a:latin typeface="Marianne"/>
                        </a:rPr>
                        <a:t>Ce que vous observez concrètement</a:t>
                      </a:r>
                    </a:p>
                  </a:txBody>
                  <a:tcPr>
                    <a:solidFill>
                      <a:srgbClr val="FFFFFF"/>
                    </a:solidFill>
                  </a:tcPr>
                </a:tc>
                <a:tc>
                  <a:txBody>
                    <a:bodyPr/>
                    <a:lstStyle/>
                    <a:p>
                      <a:pPr algn="l">
                        <a:lnSpc>
                          <a:spcPct val="125000"/>
                        </a:lnSpc>
                      </a:pPr>
                      <a:r>
                        <a:rPr lang="fr-FR" sz="1400" b="0" i="0">
                          <a:solidFill>
                            <a:srgbClr val="161616"/>
                          </a:solidFill>
                          <a:latin typeface="Marianne"/>
                        </a:rPr>
                        <a:t>Le lien d’évitement n’apparaît pas au focus.</a:t>
                      </a:r>
                    </a:p>
                  </a:txBody>
                  <a:tcPr>
                    <a:solidFill>
                      <a:srgbClr val="FFFFFF"/>
                    </a:solidFill>
                  </a:tcPr>
                </a:tc>
                <a:extLst>
                  <a:ext uri="{0D108BD9-81ED-4DB2-BD59-A6C34878D82A}">
                    <a16:rowId xmlns:a16="http://schemas.microsoft.com/office/drawing/2014/main" val="10003"/>
                  </a:ext>
                </a:extLst>
              </a:tr>
              <a:tr h="502920">
                <a:tc>
                  <a:txBody>
                    <a:bodyPr/>
                    <a:lstStyle/>
                    <a:p>
                      <a:pPr algn="l">
                        <a:lnSpc>
                          <a:spcPct val="125000"/>
                        </a:lnSpc>
                      </a:pPr>
                      <a:r>
                        <a:rPr lang="fr-FR" sz="1400" b="0" i="0">
                          <a:solidFill>
                            <a:srgbClr val="161616"/>
                          </a:solidFill>
                          <a:latin typeface="Marianne"/>
                        </a:rPr>
                        <a:t>Correctif</a:t>
                      </a:r>
                    </a:p>
                  </a:txBody>
                  <a:tcPr>
                    <a:solidFill>
                      <a:srgbClr val="F5F5FE"/>
                    </a:solidFill>
                  </a:tcPr>
                </a:tc>
                <a:tc>
                  <a:txBody>
                    <a:bodyPr/>
                    <a:lstStyle/>
                    <a:p>
                      <a:pPr algn="l">
                        <a:lnSpc>
                          <a:spcPct val="125000"/>
                        </a:lnSpc>
                      </a:pPr>
                      <a:r>
                        <a:rPr lang="fr-FR" sz="1400" b="0" i="0">
                          <a:solidFill>
                            <a:srgbClr val="161616"/>
                          </a:solidFill>
                          <a:latin typeface="Marianne"/>
                        </a:rPr>
                        <a:t>Ce que l’équipe doit corriger</a:t>
                      </a:r>
                    </a:p>
                  </a:txBody>
                  <a:tcPr>
                    <a:solidFill>
                      <a:srgbClr val="F5F5FE"/>
                    </a:solidFill>
                  </a:tcPr>
                </a:tc>
                <a:tc>
                  <a:txBody>
                    <a:bodyPr/>
                    <a:lstStyle/>
                    <a:p>
                      <a:pPr algn="l">
                        <a:lnSpc>
                          <a:spcPct val="125000"/>
                        </a:lnSpc>
                      </a:pPr>
                      <a:r>
                        <a:rPr lang="fr-FR" sz="1400" b="0" i="0">
                          <a:solidFill>
                            <a:srgbClr val="161616"/>
                          </a:solidFill>
                          <a:latin typeface="Marianne"/>
                        </a:rPr>
                        <a:t>Rendre le lien visible et cibler #contenu.</a:t>
                      </a:r>
                    </a:p>
                  </a:txBody>
                  <a:tcPr>
                    <a:solidFill>
                      <a:srgbClr val="F5F5FE"/>
                    </a:solidFill>
                  </a:tcPr>
                </a:tc>
                <a:extLst>
                  <a:ext uri="{0D108BD9-81ED-4DB2-BD59-A6C34878D82A}">
                    <a16:rowId xmlns:a16="http://schemas.microsoft.com/office/drawing/2014/main" val="10004"/>
                  </a:ext>
                </a:extLst>
              </a:tr>
              <a:tr h="502920">
                <a:tc>
                  <a:txBody>
                    <a:bodyPr/>
                    <a:lstStyle/>
                    <a:p>
                      <a:pPr algn="l">
                        <a:lnSpc>
                          <a:spcPct val="125000"/>
                        </a:lnSpc>
                      </a:pPr>
                      <a:r>
                        <a:rPr lang="fr-FR" sz="1400" b="0" i="0">
                          <a:solidFill>
                            <a:srgbClr val="161616"/>
                          </a:solidFill>
                          <a:latin typeface="Marianne"/>
                        </a:rPr>
                        <a:t>Preuve</a:t>
                      </a:r>
                    </a:p>
                  </a:txBody>
                  <a:tcPr>
                    <a:solidFill>
                      <a:srgbClr val="FFFFFF"/>
                    </a:solidFill>
                  </a:tcPr>
                </a:tc>
                <a:tc>
                  <a:txBody>
                    <a:bodyPr/>
                    <a:lstStyle/>
                    <a:p>
                      <a:pPr algn="l">
                        <a:lnSpc>
                          <a:spcPct val="125000"/>
                        </a:lnSpc>
                      </a:pPr>
                      <a:r>
                        <a:rPr lang="fr-FR" sz="1400" b="0" i="0">
                          <a:solidFill>
                            <a:srgbClr val="161616"/>
                          </a:solidFill>
                          <a:latin typeface="Marianne"/>
                        </a:rPr>
                        <a:t>URL, capture, sélecteur ou extrait</a:t>
                      </a:r>
                    </a:p>
                  </a:txBody>
                  <a:tcPr>
                    <a:solidFill>
                      <a:srgbClr val="FFFFFF"/>
                    </a:solidFill>
                  </a:tcPr>
                </a:tc>
                <a:tc>
                  <a:txBody>
                    <a:bodyPr/>
                    <a:lstStyle/>
                    <a:p>
                      <a:pPr algn="l">
                        <a:lnSpc>
                          <a:spcPct val="125000"/>
                        </a:lnSpc>
                      </a:pPr>
                      <a:r>
                        <a:rPr lang="fr-FR" sz="1400" b="0" i="0">
                          <a:solidFill>
                            <a:srgbClr val="161616"/>
                          </a:solidFill>
                          <a:latin typeface="Marianne"/>
                        </a:rPr>
                        <a:t>/actualites - premier appui sur Tab</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704088" y="507492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Un défaut sans preuve est difficile à traiter.</a:t>
            </a:r>
          </a:p>
          <a:p>
            <a:pPr algn="l">
              <a:lnSpc>
                <a:spcPct val="115000"/>
              </a:lnSpc>
            </a:pPr>
            <a:r>
              <a:rPr lang="fr-FR" sz="1400">
                <a:solidFill>
                  <a:srgbClr val="161616"/>
                </a:solidFill>
                <a:latin typeface="Marianne"/>
              </a:rPr>
              <a:t>• </a:t>
            </a:r>
            <a:r>
              <a:rPr lang="fr-FR" sz="1400" b="0">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Grille</a:t>
            </a:r>
          </a:p>
        </p:txBody>
      </p:sp>
      <p:sp>
        <p:nvSpPr>
          <p:cNvPr id="9" name="DSFR-accent-decoratif"/>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Bonus site web : liens et PDF à repérer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101</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101727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27538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Éviter les pages saturées de liens sans hiérarchie</a:t>
            </a:r>
          </a:p>
          <a:p>
            <a:pPr algn="l">
              <a:lnSpc>
                <a:spcPct val="120000"/>
              </a:lnSpc>
            </a:pPr>
            <a:r>
              <a:rPr lang="fr-FR" sz="1400">
                <a:solidFill>
                  <a:srgbClr val="161616"/>
                </a:solidFill>
                <a:latin typeface="Marianne"/>
              </a:rPr>
              <a:t>• </a:t>
            </a:r>
            <a:r>
              <a:rPr lang="fr-FR" sz="1400" b="0">
                <a:solidFill>
                  <a:srgbClr val="161616"/>
                </a:solidFill>
                <a:latin typeface="Marianne"/>
              </a:rPr>
              <a:t>Libellé explicite : « programme de l'exposition photo »</a:t>
            </a:r>
          </a:p>
          <a:p>
            <a:pPr algn="l">
              <a:lnSpc>
                <a:spcPct val="120000"/>
              </a:lnSpc>
            </a:pPr>
            <a:r>
              <a:rPr lang="fr-FR" sz="1400">
                <a:solidFill>
                  <a:srgbClr val="161616"/>
                </a:solidFill>
                <a:latin typeface="Marianne"/>
              </a:rPr>
              <a:t>• </a:t>
            </a:r>
            <a:r>
              <a:rPr lang="fr-FR" sz="1400" b="0">
                <a:solidFill>
                  <a:srgbClr val="161616"/>
                </a:solidFill>
                <a:latin typeface="Marianne"/>
              </a:rPr>
              <a:t>Éviter « cliquez ici », « en savoir plus », « programme » seul</a:t>
            </a:r>
          </a:p>
          <a:p>
            <a:pPr algn="l">
              <a:lnSpc>
                <a:spcPct val="120000"/>
              </a:lnSpc>
            </a:pPr>
            <a:r>
              <a:rPr lang="fr-FR" sz="1400">
                <a:solidFill>
                  <a:srgbClr val="161616"/>
                </a:solidFill>
                <a:latin typeface="Marianne"/>
              </a:rPr>
              <a:t>• </a:t>
            </a:r>
            <a:r>
              <a:rPr lang="fr-FR" sz="1400" b="0">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27538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Texte sélectionnable : pas de PDF image ou scanné non navigable</a:t>
            </a:r>
          </a:p>
          <a:p>
            <a:pPr algn="l">
              <a:lnSpc>
                <a:spcPct val="120000"/>
              </a:lnSpc>
            </a:pPr>
            <a:r>
              <a:rPr lang="fr-FR" sz="1400">
                <a:solidFill>
                  <a:srgbClr val="161616"/>
                </a:solidFill>
                <a:latin typeface="Marianne"/>
              </a:rPr>
              <a:t>• </a:t>
            </a:r>
            <a:r>
              <a:rPr lang="fr-FR" sz="1400" b="0">
                <a:solidFill>
                  <a:srgbClr val="161616"/>
                </a:solidFill>
                <a:latin typeface="Marianne"/>
              </a:rPr>
              <a:t>Structure : titres, sommaire et liens internes si le document est long</a:t>
            </a:r>
          </a:p>
          <a:p>
            <a:pPr algn="l">
              <a:lnSpc>
                <a:spcPct val="120000"/>
              </a:lnSpc>
            </a:pPr>
            <a:r>
              <a:rPr lang="fr-FR" sz="1400">
                <a:solidFill>
                  <a:srgbClr val="161616"/>
                </a:solidFill>
                <a:latin typeface="Marianne"/>
              </a:rPr>
              <a:t>• </a:t>
            </a:r>
            <a:r>
              <a:rPr lang="fr-FR" sz="1400" b="0">
                <a:solidFill>
                  <a:srgbClr val="161616"/>
                </a:solidFill>
                <a:latin typeface="Marianne"/>
              </a:rPr>
              <a:t>Images avec texte alternatif</a:t>
            </a:r>
          </a:p>
          <a:p>
            <a:pPr algn="l">
              <a:lnSpc>
                <a:spcPct val="120000"/>
              </a:lnSpc>
            </a:pPr>
            <a:r>
              <a:rPr lang="fr-FR" sz="1400">
                <a:solidFill>
                  <a:srgbClr val="161616"/>
                </a:solidFill>
                <a:latin typeface="Marianne"/>
              </a:rPr>
              <a:t>• </a:t>
            </a:r>
            <a:r>
              <a:rPr lang="fr-FR" sz="1400" b="0">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Bonus web</a:t>
            </a:r>
          </a:p>
        </p:txBody>
      </p:sp>
      <p:sp>
        <p:nvSpPr>
          <p:cNvPr id="8" name="DSFR-accent-decoratif"/>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Votre mission : audit en binôme (30 min)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Choisissez quelques points avec votre binôme : vous n’avez pas à tout couvrir</a:t>
            </a:r>
          </a:p>
          <a:p>
            <a:pPr algn="l">
              <a:lnSpc>
                <a:spcPct val="125000"/>
              </a:lnSpc>
            </a:pPr>
            <a:r>
              <a:rPr lang="fr-FR" sz="1400">
                <a:solidFill>
                  <a:srgbClr val="161616"/>
                </a:solidFill>
                <a:latin typeface="Marianne"/>
              </a:rPr>
              <a:t>• </a:t>
            </a:r>
            <a:r>
              <a:rPr lang="fr-FR" sz="1400" b="0">
                <a:solidFill>
                  <a:srgbClr val="161616"/>
                </a:solidFill>
                <a:latin typeface="Marianne"/>
              </a:rPr>
              <a:t>Une seule NC prouvée suffit à invalider le critère</a:t>
            </a:r>
          </a:p>
          <a:p>
            <a:pPr algn="l">
              <a:lnSpc>
                <a:spcPct val="125000"/>
              </a:lnSpc>
            </a:pPr>
            <a:r>
              <a:rPr lang="fr-FR" sz="1400">
                <a:solidFill>
                  <a:srgbClr val="161616"/>
                </a:solidFill>
                <a:latin typeface="Marianne"/>
              </a:rPr>
              <a:t>• </a:t>
            </a:r>
            <a:r>
              <a:rPr lang="fr-FR" sz="1400" b="0">
                <a:solidFill>
                  <a:srgbClr val="161616"/>
                </a:solidFill>
                <a:latin typeface="Marianne"/>
              </a:rPr>
              <a:t>Certains binômes commencent au début, d’autres par la fin</a:t>
            </a:r>
          </a:p>
          <a:p>
            <a:pPr algn="l">
              <a:lnSpc>
                <a:spcPct val="125000"/>
              </a:lnSpc>
            </a:pPr>
            <a:r>
              <a:rPr lang="fr-FR" sz="1400">
                <a:solidFill>
                  <a:srgbClr val="161616"/>
                </a:solidFill>
                <a:latin typeface="Marianne"/>
              </a:rPr>
              <a:t>• </a:t>
            </a:r>
            <a:r>
              <a:rPr lang="fr-FR" sz="1400" b="0">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Mission</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stepper-connecteur-1-decoratif"/>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stepper-connecteur-2-decoratif"/>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stepper-connecteur-3-decoratif"/>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Module 4</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Pourquoi l'accessibilité sur les réseaux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104</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874519"/>
            <a:ext cx="10863072" cy="101727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212287"/>
            <a:ext cx="5143500"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12 millions de personnes en situation de handicap en France (INSEE 2021)</a:t>
            </a:r>
          </a:p>
          <a:p>
            <a:pPr algn="l">
              <a:lnSpc>
                <a:spcPct val="120000"/>
              </a:lnSpc>
            </a:pPr>
            <a:r>
              <a:rPr lang="fr-FR" sz="1400">
                <a:solidFill>
                  <a:srgbClr val="161616"/>
                </a:solidFill>
                <a:latin typeface="Marianne"/>
              </a:rPr>
              <a:t>• </a:t>
            </a:r>
            <a:r>
              <a:rPr lang="fr-FR" sz="1400" b="0">
                <a:solidFill>
                  <a:srgbClr val="161616"/>
                </a:solidFill>
                <a:latin typeface="Marianne"/>
              </a:rPr>
              <a:t>Utilisateurs en contexte défavorable : faible luminosité, connexion lente, bruit</a:t>
            </a:r>
          </a:p>
          <a:p>
            <a:pPr algn="l">
              <a:lnSpc>
                <a:spcPct val="120000"/>
              </a:lnSpc>
            </a:pPr>
            <a:r>
              <a:rPr lang="fr-FR" sz="1400">
                <a:solidFill>
                  <a:srgbClr val="161616"/>
                </a:solidFill>
                <a:latin typeface="Marianne"/>
              </a:rPr>
              <a:t>• </a:t>
            </a:r>
            <a:r>
              <a:rPr lang="fr-FR" sz="1400" b="0">
                <a:solidFill>
                  <a:srgbClr val="161616"/>
                </a:solidFill>
                <a:latin typeface="Marianne"/>
              </a:rPr>
              <a:t>Moteurs de recherche et outils d'IA qui analysent vos contenus</a:t>
            </a:r>
          </a:p>
          <a:p>
            <a:pPr algn="l">
              <a:lnSpc>
                <a:spcPct val="120000"/>
              </a:lnSpc>
            </a:pPr>
            <a:r>
              <a:rPr lang="fr-FR" sz="1400">
                <a:solidFill>
                  <a:srgbClr val="161616"/>
                </a:solidFill>
                <a:latin typeface="Marianne"/>
              </a:rPr>
              <a:t>• </a:t>
            </a:r>
            <a:r>
              <a:rPr lang="fr-FR" sz="1400" b="0">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success-titre"/>
          <p:cNvSpPr txBox="1"/>
          <p:nvPr/>
        </p:nvSpPr>
        <p:spPr>
          <a:xfrm>
            <a:off x="6469379" y="3212287"/>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Geste 1 - Texte alternatif : décrire chaque image en 1 phrase</a:t>
            </a:r>
          </a:p>
          <a:p>
            <a:pPr algn="l">
              <a:lnSpc>
                <a:spcPct val="120000"/>
              </a:lnSpc>
            </a:pPr>
            <a:r>
              <a:rPr lang="fr-FR" sz="1400">
                <a:solidFill>
                  <a:srgbClr val="161616"/>
                </a:solidFill>
                <a:latin typeface="Marianne"/>
              </a:rPr>
              <a:t>• </a:t>
            </a:r>
            <a:r>
              <a:rPr lang="fr-FR" sz="1400" b="0">
                <a:solidFill>
                  <a:srgbClr val="161616"/>
                </a:solidFill>
                <a:latin typeface="Marianne"/>
              </a:rPr>
              <a:t>Geste 2 - Émojis : 1 ou 2 maximum, en fin de message</a:t>
            </a:r>
          </a:p>
          <a:p>
            <a:pPr algn="l">
              <a:lnSpc>
                <a:spcPct val="120000"/>
              </a:lnSpc>
            </a:pPr>
            <a:r>
              <a:rPr lang="fr-FR" sz="1400">
                <a:solidFill>
                  <a:srgbClr val="161616"/>
                </a:solidFill>
                <a:latin typeface="Marianne"/>
              </a:rPr>
              <a:t>• </a:t>
            </a:r>
            <a:r>
              <a:rPr lang="fr-FR" sz="1400" b="0">
                <a:solidFill>
                  <a:srgbClr val="161616"/>
                </a:solidFill>
                <a:latin typeface="Marianne"/>
              </a:rPr>
              <a:t>Geste 3 - Hashtags : CamelCase et regroupés en fin de post</a:t>
            </a:r>
          </a:p>
          <a:p>
            <a:pPr algn="l">
              <a:lnSpc>
                <a:spcPct val="120000"/>
              </a:lnSpc>
            </a:pPr>
            <a:r>
              <a:rPr lang="fr-FR" sz="1400">
                <a:solidFill>
                  <a:srgbClr val="161616"/>
                </a:solidFill>
                <a:latin typeface="Marianne"/>
              </a:rPr>
              <a:t>• </a:t>
            </a:r>
            <a:r>
              <a:rPr lang="fr-FR" sz="1400" b="0">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4</a:t>
            </a:r>
          </a:p>
        </p:txBody>
      </p:sp>
      <p:sp>
        <p:nvSpPr>
          <p:cNvPr id="8" name="DSFR-accent-decoratif"/>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Regardez ce tweet - qu'est-ce qui ne va pas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105</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info-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Identifiez le maximum de problèmes d'accessibilité</a:t>
            </a:r>
          </a:p>
          <a:p>
            <a:pPr algn="l">
              <a:lnSpc>
                <a:spcPct val="150000"/>
              </a:lnSpc>
            </a:pPr>
            <a:r>
              <a:rPr lang="fr-FR" sz="1400">
                <a:solidFill>
                  <a:srgbClr val="161616"/>
                </a:solidFill>
                <a:latin typeface="Marianne"/>
              </a:rPr>
              <a:t>• </a:t>
            </a:r>
            <a:r>
              <a:rPr lang="fr-FR" sz="1400" b="0">
                <a:solidFill>
                  <a:srgbClr val="161616"/>
                </a:solidFill>
                <a:latin typeface="Marianne"/>
              </a:rPr>
              <a:t>Ne lisez pas le tweet à voix haute</a:t>
            </a:r>
          </a:p>
          <a:p>
            <a:pPr algn="l">
              <a:lnSpc>
                <a:spcPct val="150000"/>
              </a:lnSpc>
            </a:pPr>
            <a:r>
              <a:rPr lang="fr-FR" sz="1400">
                <a:solidFill>
                  <a:srgbClr val="161616"/>
                </a:solidFill>
                <a:latin typeface="Marianne"/>
              </a:rPr>
              <a:t>• </a:t>
            </a:r>
            <a:r>
              <a:rPr lang="fr-FR" sz="1400" b="0">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Ce que vous voyez ≠ ce qui est lu</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106</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Lavez-vous les 👐 avec du 🧼 &amp; de l'💦.</a:t>
            </a:r>
          </a:p>
          <a:p>
            <a:pPr algn="l">
              <a:lnSpc>
                <a:spcPct val="125000"/>
              </a:lnSpc>
            </a:pPr>
            <a:r>
              <a:rPr lang="fr-FR" sz="1400">
                <a:solidFill>
                  <a:srgbClr val="161616"/>
                </a:solidFill>
                <a:latin typeface="Marianne"/>
              </a:rPr>
              <a:t>• </a:t>
            </a:r>
            <a:r>
              <a:rPr lang="fr-FR" sz="1400" b="0">
                <a:solidFill>
                  <a:srgbClr val="161616"/>
                </a:solidFill>
                <a:latin typeface="Marianne"/>
              </a:rPr>
              <a:t>Quand vous toussez ou 🤧 couvrez votre 👄.</a:t>
            </a:r>
          </a:p>
          <a:p>
            <a:pPr algn="l">
              <a:lnSpc>
                <a:spcPct val="125000"/>
              </a:lnSpc>
            </a:pPr>
            <a:r>
              <a:rPr lang="fr-FR" sz="1400">
                <a:solidFill>
                  <a:srgbClr val="161616"/>
                </a:solidFill>
                <a:latin typeface="Marianne"/>
              </a:rPr>
              <a:t>• </a:t>
            </a:r>
            <a:r>
              <a:rPr lang="fr-FR" sz="1400" b="0">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Lavez-vous les mains ouvertes avec du savon et éclaboussures de sueur.</a:t>
            </a:r>
          </a:p>
          <a:p>
            <a:pPr algn="l">
              <a:lnSpc>
                <a:spcPct val="150000"/>
              </a:lnSpc>
            </a:pPr>
            <a:r>
              <a:rPr lang="fr-FR" sz="1400">
                <a:solidFill>
                  <a:srgbClr val="161616"/>
                </a:solidFill>
                <a:latin typeface="Marianne"/>
              </a:rPr>
              <a:t>• </a:t>
            </a:r>
            <a:r>
              <a:rPr lang="fr-FR" sz="1400" b="0">
                <a:solidFill>
                  <a:srgbClr val="161616"/>
                </a:solidFill>
                <a:latin typeface="Marianne"/>
              </a:rPr>
              <a:t>Quand vous toussez ou visage qui éternue couvrez votre bouche.</a:t>
            </a:r>
          </a:p>
          <a:p>
            <a:pPr algn="l">
              <a:lnSpc>
                <a:spcPct val="150000"/>
              </a:lnSpc>
            </a:pPr>
            <a:r>
              <a:rPr lang="fr-FR" sz="1400">
                <a:solidFill>
                  <a:srgbClr val="161616"/>
                </a:solidFill>
                <a:latin typeface="Marianne"/>
              </a:rPr>
              <a:t>• </a:t>
            </a:r>
            <a:r>
              <a:rPr lang="fr-FR" sz="1400" b="0">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882896"/>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3 changements, 0 perte de sens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107</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error-titre"/>
          <p:cNvSpPr txBox="1"/>
          <p:nvPr/>
        </p:nvSpPr>
        <p:spPr>
          <a:xfrm>
            <a:off x="704088" y="201168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Lavez-vous les 👐 avec 1 désinfectant à base d'alcool, du 🧼 &amp; de l'💦.</a:t>
            </a:r>
          </a:p>
          <a:p>
            <a:pPr algn="l">
              <a:lnSpc>
                <a:spcPct val="150000"/>
              </a:lnSpc>
            </a:pPr>
            <a:r>
              <a:rPr lang="fr-FR" sz="1400">
                <a:solidFill>
                  <a:srgbClr val="161616"/>
                </a:solidFill>
                <a:latin typeface="Marianne"/>
              </a:rPr>
              <a:t>• </a:t>
            </a:r>
            <a:r>
              <a:rPr lang="fr-FR" sz="1400" b="0">
                <a:solidFill>
                  <a:srgbClr val="161616"/>
                </a:solidFill>
                <a:latin typeface="Marianne"/>
              </a:rPr>
              <a:t>Quand vous toussez ou 🤧 couvrez votre 👄 &amp; le 👃🏻.</a:t>
            </a:r>
          </a:p>
          <a:p>
            <a:pPr algn="l">
              <a:lnSpc>
                <a:spcPct val="150000"/>
              </a:lnSpc>
            </a:pPr>
            <a:r>
              <a:rPr lang="fr-FR" sz="1400">
                <a:solidFill>
                  <a:srgbClr val="161616"/>
                </a:solidFill>
                <a:latin typeface="Marianne"/>
              </a:rPr>
              <a:t>• </a:t>
            </a:r>
            <a:r>
              <a:rPr lang="fr-FR" sz="1400" b="0">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6469379" y="201168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Protégez-vous du #COVID19 - trois gestes essentiels :</a:t>
            </a:r>
          </a:p>
          <a:p>
            <a:pPr algn="l">
              <a:lnSpc>
                <a:spcPct val="125000"/>
              </a:lnSpc>
            </a:pPr>
            <a:r>
              <a:rPr lang="fr-FR" sz="1400">
                <a:solidFill>
                  <a:srgbClr val="161616"/>
                </a:solidFill>
                <a:latin typeface="Marianne"/>
              </a:rPr>
              <a:t>• </a:t>
            </a:r>
            <a:r>
              <a:rPr lang="fr-FR" sz="1400" b="0">
                <a:solidFill>
                  <a:srgbClr val="161616"/>
                </a:solidFill>
                <a:latin typeface="Marianne"/>
              </a:rPr>
              <a:t>1. Lavez-vous régulièrement les mains avec du savon et de l'eau 🧼</a:t>
            </a:r>
          </a:p>
          <a:p>
            <a:pPr algn="l">
              <a:lnSpc>
                <a:spcPct val="125000"/>
              </a:lnSpc>
            </a:pPr>
            <a:r>
              <a:rPr lang="fr-FR" sz="1400">
                <a:solidFill>
                  <a:srgbClr val="161616"/>
                </a:solidFill>
                <a:latin typeface="Marianne"/>
              </a:rPr>
              <a:t>• </a:t>
            </a:r>
            <a:r>
              <a:rPr lang="fr-FR" sz="1400" b="0">
                <a:solidFill>
                  <a:srgbClr val="161616"/>
                </a:solidFill>
                <a:latin typeface="Marianne"/>
              </a:rPr>
              <a:t>2. Quand vous toussez, couvrez-vous avec le pli du coude</a:t>
            </a:r>
          </a:p>
          <a:p>
            <a:pPr algn="l">
              <a:lnSpc>
                <a:spcPct val="125000"/>
              </a:lnSpc>
            </a:pPr>
            <a:r>
              <a:rPr lang="fr-FR" sz="1400">
                <a:solidFill>
                  <a:srgbClr val="161616"/>
                </a:solidFill>
                <a:latin typeface="Marianne"/>
              </a:rPr>
              <a:t>• </a:t>
            </a:r>
            <a:r>
              <a:rPr lang="fr-FR" sz="1400" b="0">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lert-success-titre"/>
          <p:cNvSpPr txBox="1"/>
          <p:nvPr/>
        </p:nvSpPr>
        <p:spPr>
          <a:xfrm>
            <a:off x="704088" y="4901183"/>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Émojis réduits à 1, placé en fin de phrase - le message tient sans eux</a:t>
            </a:r>
          </a:p>
          <a:p>
            <a:pPr algn="l">
              <a:lnSpc>
                <a:spcPct val="115000"/>
              </a:lnSpc>
            </a:pPr>
            <a:r>
              <a:rPr lang="fr-FR" sz="1400">
                <a:solidFill>
                  <a:srgbClr val="161616"/>
                </a:solidFill>
                <a:latin typeface="Marianne"/>
              </a:rPr>
              <a:t>• </a:t>
            </a:r>
            <a:r>
              <a:rPr lang="fr-FR" sz="1400" b="0">
                <a:solidFill>
                  <a:srgbClr val="161616"/>
                </a:solidFill>
                <a:latin typeface="Marianne"/>
              </a:rPr>
              <a:t>Structure numérotée - navigation facile pour tous les utilisateurs</a:t>
            </a:r>
          </a:p>
          <a:p>
            <a:pPr algn="l">
              <a:lnSpc>
                <a:spcPct val="115000"/>
              </a:lnSpc>
            </a:pPr>
            <a:r>
              <a:rPr lang="fr-FR" sz="1400">
                <a:solidFill>
                  <a:srgbClr val="161616"/>
                </a:solidFill>
                <a:latin typeface="Marianne"/>
              </a:rPr>
              <a:t>• </a:t>
            </a:r>
            <a:r>
              <a:rPr lang="fr-FR" sz="1400" b="0">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Démonstration NVDA - le lecteur d'écran en direct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108</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alert-info-titre"/>
          <p:cNvSpPr txBox="1"/>
          <p:nvPr/>
        </p:nvSpPr>
        <p:spPr>
          <a:xfrm>
            <a:off x="704088" y="425195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Fermez les yeux ou regardez ailleurs - écoutez uniquement</a:t>
            </a:r>
          </a:p>
          <a:p>
            <a:pPr algn="l">
              <a:lnSpc>
                <a:spcPct val="150000"/>
              </a:lnSpc>
            </a:pPr>
            <a:r>
              <a:rPr lang="fr-FR" sz="1400">
                <a:solidFill>
                  <a:srgbClr val="161616"/>
                </a:solidFill>
                <a:latin typeface="Marianne"/>
              </a:rPr>
              <a:t>• </a:t>
            </a:r>
            <a:r>
              <a:rPr lang="fr-FR" sz="1400" b="0">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9" name="DSFR-stepper-connecteur-1-decoratif"/>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3-decoratif"/>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4 réflexes, puis une checklist complète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109</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Décrire chaque image en 1 à 2 phrases</a:t>
            </a:r>
          </a:p>
          <a:p>
            <a:pPr algn="l">
              <a:lnSpc>
                <a:spcPct val="150000"/>
              </a:lnSpc>
            </a:pPr>
            <a:r>
              <a:rPr lang="fr-FR" sz="1400">
                <a:solidFill>
                  <a:srgbClr val="161616"/>
                </a:solidFill>
                <a:latin typeface="Marianne"/>
              </a:rPr>
              <a:t>• </a:t>
            </a:r>
            <a:r>
              <a:rPr lang="fr-FR" sz="1400" b="0">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6469379"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1 ou 2 maximum, en fin de message uniquement</a:t>
            </a:r>
          </a:p>
          <a:p>
            <a:pPr algn="l">
              <a:lnSpc>
                <a:spcPct val="150000"/>
              </a:lnSpc>
            </a:pPr>
            <a:r>
              <a:rPr lang="fr-FR" sz="1400">
                <a:solidFill>
                  <a:srgbClr val="161616"/>
                </a:solidFill>
                <a:latin typeface="Marianne"/>
              </a:rPr>
              <a:t>• </a:t>
            </a:r>
            <a:r>
              <a:rPr lang="fr-FR" sz="1400" b="0">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704088" y="486917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#ServicePublic pas #servicepublic</a:t>
            </a:r>
          </a:p>
          <a:p>
            <a:pPr algn="l">
              <a:lnSpc>
                <a:spcPct val="150000"/>
              </a:lnSpc>
            </a:pPr>
            <a:r>
              <a:rPr lang="fr-FR" sz="1400">
                <a:solidFill>
                  <a:srgbClr val="161616"/>
                </a:solidFill>
                <a:latin typeface="Marianne"/>
              </a:rPr>
              <a:t>• </a:t>
            </a:r>
            <a:r>
              <a:rPr lang="fr-FR" sz="1400" b="0">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card-titre"/>
          <p:cNvSpPr txBox="1"/>
          <p:nvPr/>
        </p:nvSpPr>
        <p:spPr>
          <a:xfrm>
            <a:off x="6469379" y="486917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Jamais de faux gras ou faux italique (InstaFont ...)</a:t>
            </a:r>
          </a:p>
          <a:p>
            <a:pPr algn="l">
              <a:lnSpc>
                <a:spcPct val="150000"/>
              </a:lnSpc>
            </a:pPr>
            <a:r>
              <a:rPr lang="fr-FR" sz="1400">
                <a:solidFill>
                  <a:srgbClr val="161616"/>
                </a:solidFill>
                <a:latin typeface="Marianne"/>
              </a:rPr>
              <a:t>• </a:t>
            </a:r>
            <a:r>
              <a:rPr lang="fr-FR" sz="1400" b="0">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texte alternatif : votre sous-titre d'image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21868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Personnes aveugles ou malvoyantes (lecteur d'écran)</a:t>
            </a:r>
          </a:p>
          <a:p>
            <a:pPr algn="l">
              <a:lnSpc>
                <a:spcPct val="115000"/>
              </a:lnSpc>
            </a:pPr>
            <a:r>
              <a:rPr lang="fr-FR" sz="1400">
                <a:solidFill>
                  <a:srgbClr val="161616"/>
                </a:solidFill>
                <a:latin typeface="Marianne"/>
              </a:rPr>
              <a:t>• </a:t>
            </a:r>
            <a:r>
              <a:rPr lang="fr-FR" sz="1400" b="0">
                <a:solidFill>
                  <a:srgbClr val="161616"/>
                </a:solidFill>
                <a:latin typeface="Marianne"/>
              </a:rPr>
              <a:t>Connexion lente ou image non chargée</a:t>
            </a:r>
          </a:p>
          <a:p>
            <a:pPr algn="l">
              <a:lnSpc>
                <a:spcPct val="115000"/>
              </a:lnSpc>
            </a:pPr>
            <a:r>
              <a:rPr lang="fr-FR" sz="1400">
                <a:solidFill>
                  <a:srgbClr val="161616"/>
                </a:solidFill>
                <a:latin typeface="Marianne"/>
              </a:rPr>
              <a:t>• </a:t>
            </a:r>
            <a:r>
              <a:rPr lang="fr-FR" sz="1400" b="0">
                <a:solidFill>
                  <a:srgbClr val="161616"/>
                </a:solidFill>
                <a:latin typeface="Marianne"/>
              </a:rPr>
              <a:t>Moteurs de recherche (Google indexe via l'alt text)</a:t>
            </a:r>
          </a:p>
          <a:p>
            <a:pPr algn="l">
              <a:lnSpc>
                <a:spcPct val="115000"/>
              </a:lnSpc>
            </a:pPr>
            <a:r>
              <a:rPr lang="fr-FR" sz="1400">
                <a:solidFill>
                  <a:srgbClr val="161616"/>
                </a:solidFill>
                <a:latin typeface="Marianne"/>
              </a:rPr>
              <a:t>• </a:t>
            </a:r>
            <a:r>
              <a:rPr lang="fr-FR" sz="1400" b="0">
                <a:solidFill>
                  <a:srgbClr val="161616"/>
                </a:solidFill>
                <a:latin typeface="Marianne"/>
              </a:rPr>
              <a:t>IA et outils d'analyse d'image</a:t>
            </a:r>
          </a:p>
          <a:p>
            <a:pPr algn="l">
              <a:lnSpc>
                <a:spcPct val="115000"/>
              </a:lnSpc>
            </a:pPr>
            <a:r>
              <a:rPr lang="fr-FR" sz="1400">
                <a:solidFill>
                  <a:srgbClr val="161616"/>
                </a:solidFill>
                <a:latin typeface="Marianne"/>
              </a:rPr>
              <a:t>• </a:t>
            </a:r>
            <a:r>
              <a:rPr lang="fr-FR" sz="1400" b="0">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21868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LinkedIn : Modifier → Texte alternatif</a:t>
            </a:r>
          </a:p>
          <a:p>
            <a:pPr algn="l">
              <a:lnSpc>
                <a:spcPct val="115000"/>
              </a:lnSpc>
            </a:pPr>
            <a:r>
              <a:rPr lang="fr-FR" sz="1400">
                <a:solidFill>
                  <a:srgbClr val="161616"/>
                </a:solidFill>
                <a:latin typeface="Marianne"/>
              </a:rPr>
              <a:t>• </a:t>
            </a:r>
            <a:r>
              <a:rPr lang="fr-FR" sz="1400" b="0">
                <a:solidFill>
                  <a:srgbClr val="161616"/>
                </a:solidFill>
                <a:latin typeface="Marianne"/>
              </a:rPr>
              <a:t>Facebook : Modifier l'image → Alt text</a:t>
            </a:r>
          </a:p>
          <a:p>
            <a:pPr algn="l">
              <a:lnSpc>
                <a:spcPct val="115000"/>
              </a:lnSpc>
            </a:pPr>
            <a:r>
              <a:rPr lang="fr-FR" sz="1400">
                <a:solidFill>
                  <a:srgbClr val="161616"/>
                </a:solidFill>
                <a:latin typeface="Marianne"/>
              </a:rPr>
              <a:t>• </a:t>
            </a:r>
            <a:r>
              <a:rPr lang="fr-FR" sz="1400" b="0">
                <a:solidFill>
                  <a:srgbClr val="161616"/>
                </a:solidFill>
                <a:latin typeface="Marianne"/>
              </a:rPr>
              <a:t>Twitter/X : intégré à la publication</a:t>
            </a:r>
          </a:p>
          <a:p>
            <a:pPr algn="l">
              <a:lnSpc>
                <a:spcPct val="115000"/>
              </a:lnSpc>
            </a:pPr>
            <a:r>
              <a:rPr lang="fr-FR" sz="1400">
                <a:solidFill>
                  <a:srgbClr val="161616"/>
                </a:solidFill>
                <a:latin typeface="Marianne"/>
              </a:rPr>
              <a:t>• </a:t>
            </a:r>
            <a:r>
              <a:rPr lang="fr-FR" sz="1400" b="0">
                <a:solidFill>
                  <a:srgbClr val="161616"/>
                </a:solidFill>
                <a:latin typeface="Marianne"/>
              </a:rPr>
              <a:t>Instagram : Paramètres avancés → Alt text</a:t>
            </a:r>
          </a:p>
          <a:p>
            <a:pPr algn="l">
              <a:lnSpc>
                <a:spcPct val="115000"/>
              </a:lnSpc>
            </a:pPr>
            <a:r>
              <a:rPr lang="fr-FR" sz="1400">
                <a:solidFill>
                  <a:srgbClr val="161616"/>
                </a:solidFill>
                <a:latin typeface="Marianne"/>
              </a:rPr>
              <a:t>• </a:t>
            </a:r>
            <a:r>
              <a:rPr lang="fr-FR" sz="1400" b="0">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Comment rédiger un bon texte alternatif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111</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error-titre"/>
          <p:cNvSpPr txBox="1"/>
          <p:nvPr/>
        </p:nvSpPr>
        <p:spPr>
          <a:xfrm>
            <a:off x="704088" y="21031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"image.jpg" - nom de fichier, aucun sens</a:t>
            </a:r>
          </a:p>
          <a:p>
            <a:pPr algn="l">
              <a:lnSpc>
                <a:spcPct val="150000"/>
              </a:lnSpc>
            </a:pPr>
            <a:r>
              <a:rPr lang="fr-FR" sz="1400">
                <a:solidFill>
                  <a:srgbClr val="161616"/>
                </a:solidFill>
                <a:latin typeface="Marianne"/>
              </a:rPr>
              <a:t>• </a:t>
            </a:r>
            <a:r>
              <a:rPr lang="fr-FR" sz="1400" b="0">
                <a:solidFill>
                  <a:srgbClr val="161616"/>
                </a:solidFill>
                <a:latin typeface="Marianne"/>
              </a:rPr>
              <a:t>"Photo" - trop vague, aucune information</a:t>
            </a:r>
          </a:p>
          <a:p>
            <a:pPr algn="l">
              <a:lnSpc>
                <a:spcPct val="150000"/>
              </a:lnSpc>
            </a:pPr>
            <a:r>
              <a:rPr lang="fr-FR" sz="1400">
                <a:solidFill>
                  <a:srgbClr val="161616"/>
                </a:solidFill>
                <a:latin typeface="Marianne"/>
              </a:rPr>
              <a:t>• </a:t>
            </a:r>
            <a:r>
              <a:rPr lang="fr-FR" sz="1400" b="0">
                <a:solidFill>
                  <a:srgbClr val="161616"/>
                </a:solidFill>
                <a:latin typeface="Marianne"/>
              </a:rPr>
              <a:t>"Image de la réunion du 12 mars 2026" - date inutile sans contexte</a:t>
            </a:r>
          </a:p>
          <a:p>
            <a:pPr algn="l">
              <a:lnSpc>
                <a:spcPct val="150000"/>
              </a:lnSpc>
            </a:pPr>
            <a:r>
              <a:rPr lang="fr-FR" sz="1400">
                <a:solidFill>
                  <a:srgbClr val="161616"/>
                </a:solidFill>
                <a:latin typeface="Marianne"/>
              </a:rPr>
              <a:t>• </a:t>
            </a:r>
            <a:r>
              <a:rPr lang="fr-FR" sz="1400" b="0">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6469379" y="21031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"Trois agents discutent autour d'une table, documents ouverts"</a:t>
            </a:r>
          </a:p>
          <a:p>
            <a:pPr algn="l">
              <a:lnSpc>
                <a:spcPct val="125000"/>
              </a:lnSpc>
            </a:pPr>
            <a:r>
              <a:rPr lang="fr-FR" sz="1400">
                <a:solidFill>
                  <a:srgbClr val="161616"/>
                </a:solidFill>
                <a:latin typeface="Marianne"/>
              </a:rPr>
              <a:t>• </a:t>
            </a:r>
            <a:r>
              <a:rPr lang="fr-FR" sz="1400" b="0">
                <a:solidFill>
                  <a:srgbClr val="161616"/>
                </a:solidFill>
                <a:latin typeface="Marianne"/>
              </a:rPr>
              <a:t>"Logo DINUM - bleu avec texte blanc"</a:t>
            </a:r>
          </a:p>
          <a:p>
            <a:pPr algn="l">
              <a:lnSpc>
                <a:spcPct val="125000"/>
              </a:lnSpc>
            </a:pPr>
            <a:r>
              <a:rPr lang="fr-FR" sz="1400">
                <a:solidFill>
                  <a:srgbClr val="161616"/>
                </a:solidFill>
                <a:latin typeface="Marianne"/>
              </a:rPr>
              <a:t>• </a:t>
            </a:r>
            <a:r>
              <a:rPr lang="fr-FR" sz="1400" b="0">
                <a:solidFill>
                  <a:srgbClr val="161616"/>
                </a:solidFill>
                <a:latin typeface="Marianne"/>
              </a:rPr>
              <a:t>"Graphique : le taux d'accessibilité passe de 45 à 78 % entre 2023 et 2025"</a:t>
            </a:r>
          </a:p>
          <a:p>
            <a:pPr algn="l">
              <a:lnSpc>
                <a:spcPct val="125000"/>
              </a:lnSpc>
            </a:pPr>
            <a:r>
              <a:rPr lang="fr-FR" sz="1400">
                <a:solidFill>
                  <a:srgbClr val="161616"/>
                </a:solidFill>
                <a:latin typeface="Marianne"/>
              </a:rPr>
              <a:t>• </a:t>
            </a:r>
            <a:r>
              <a:rPr lang="fr-FR" sz="1400" b="0">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5276088"/>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Alt text : où le trouver sur chaque plateforme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112</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l">
                        <a:lnSpc>
                          <a:spcPct val="125000"/>
                        </a:lnSpc>
                      </a:pPr>
                      <a:r>
                        <a:rPr lang="fr-FR" sz="1400" b="1" i="0">
                          <a:solidFill>
                            <a:srgbClr val="FFFFFF"/>
                          </a:solidFill>
                          <a:latin typeface="Marianne"/>
                        </a:rPr>
                        <a:t>Plateforme</a:t>
                      </a:r>
                    </a:p>
                  </a:txBody>
                  <a:tcPr>
                    <a:solidFill>
                      <a:srgbClr val="000091"/>
                    </a:solidFill>
                  </a:tcPr>
                </a:tc>
                <a:tc>
                  <a:txBody>
                    <a:bodyPr/>
                    <a:lstStyle/>
                    <a:p>
                      <a:pPr algn="l">
                        <a:lnSpc>
                          <a:spcPct val="125000"/>
                        </a:lnSpc>
                      </a:pPr>
                      <a:r>
                        <a:rPr lang="fr-FR" sz="1400" b="1" i="0">
                          <a:solidFill>
                            <a:srgbClr val="FFFFFF"/>
                          </a:solidFill>
                          <a:latin typeface="Marianne"/>
                        </a:rPr>
                        <a:t>Accès</a:t>
                      </a:r>
                    </a:p>
                  </a:txBody>
                  <a:tcPr>
                    <a:solidFill>
                      <a:srgbClr val="000091"/>
                    </a:solidFill>
                  </a:tcPr>
                </a:tc>
                <a:tc>
                  <a:txBody>
                    <a:bodyPr/>
                    <a:lstStyle/>
                    <a:p>
                      <a:pPr algn="l">
                        <a:lnSpc>
                          <a:spcPct val="125000"/>
                        </a:lnSpc>
                      </a:pPr>
                      <a:r>
                        <a:rPr lang="fr-FR" sz="1400" b="1" i="0">
                          <a:solidFill>
                            <a:srgbClr val="FFFFFF"/>
                          </a:solidFill>
                          <a:latin typeface="Marianne"/>
                        </a:rPr>
                        <a:t>Moment</a:t>
                      </a:r>
                    </a:p>
                  </a:txBody>
                  <a:tcPr>
                    <a:solidFill>
                      <a:srgbClr val="000091"/>
                    </a:solidFill>
                  </a:tcPr>
                </a:tc>
                <a:extLst>
                  <a:ext uri="{0D108BD9-81ED-4DB2-BD59-A6C34878D82A}">
                    <a16:rowId xmlns:a16="http://schemas.microsoft.com/office/drawing/2014/main" val="10000"/>
                  </a:ext>
                </a:extLst>
              </a:tr>
              <a:tr h="365760">
                <a:tc>
                  <a:txBody>
                    <a:bodyPr/>
                    <a:lstStyle/>
                    <a:p>
                      <a:pPr algn="l">
                        <a:lnSpc>
                          <a:spcPct val="125000"/>
                        </a:lnSpc>
                      </a:pPr>
                      <a:r>
                        <a:rPr lang="fr-FR" sz="1400" b="0" i="0">
                          <a:solidFill>
                            <a:srgbClr val="161616"/>
                          </a:solidFill>
                          <a:latin typeface="Marianne"/>
                        </a:rPr>
                        <a:t>LinkedIn</a:t>
                      </a:r>
                    </a:p>
                  </a:txBody>
                  <a:tcPr>
                    <a:solidFill>
                      <a:srgbClr val="FFFFFF"/>
                    </a:solidFill>
                  </a:tcPr>
                </a:tc>
                <a:tc>
                  <a:txBody>
                    <a:bodyPr/>
                    <a:lstStyle/>
                    <a:p>
                      <a:pPr algn="l">
                        <a:lnSpc>
                          <a:spcPct val="125000"/>
                        </a:lnSpc>
                      </a:pPr>
                      <a:r>
                        <a:rPr lang="fr-FR" sz="1400" b="0" i="0">
                          <a:solidFill>
                            <a:srgbClr val="161616"/>
                          </a:solidFill>
                          <a:latin typeface="Marianne"/>
                        </a:rPr>
                        <a:t>Modifier la publication &gt; modifier l'image &gt; Ajouter du texte alternatif</a:t>
                      </a:r>
                    </a:p>
                  </a:txBody>
                  <a:tcPr>
                    <a:solidFill>
                      <a:srgbClr val="FFFFFF"/>
                    </a:solidFill>
                  </a:tcPr>
                </a:tc>
                <a:tc>
                  <a:txBody>
                    <a:bodyPr/>
                    <a:lstStyle/>
                    <a:p>
                      <a:pPr algn="l">
                        <a:lnSpc>
                          <a:spcPct val="125000"/>
                        </a:lnSpc>
                      </a:pPr>
                      <a:r>
                        <a:rPr lang="fr-FR" sz="1400" b="0" i="0">
                          <a:solidFill>
                            <a:srgbClr val="161616"/>
                          </a:solidFill>
                          <a:latin typeface="Marianne"/>
                        </a:rPr>
                        <a:t>À la publication ou après</a:t>
                      </a:r>
                    </a:p>
                  </a:txBody>
                  <a:tcPr>
                    <a:solidFill>
                      <a:srgbClr val="FFFFFF"/>
                    </a:solidFill>
                  </a:tcPr>
                </a:tc>
                <a:extLst>
                  <a:ext uri="{0D108BD9-81ED-4DB2-BD59-A6C34878D82A}">
                    <a16:rowId xmlns:a16="http://schemas.microsoft.com/office/drawing/2014/main" val="10001"/>
                  </a:ext>
                </a:extLst>
              </a:tr>
              <a:tr h="365760">
                <a:tc>
                  <a:txBody>
                    <a:bodyPr/>
                    <a:lstStyle/>
                    <a:p>
                      <a:pPr algn="l">
                        <a:lnSpc>
                          <a:spcPct val="125000"/>
                        </a:lnSpc>
                      </a:pPr>
                      <a:r>
                        <a:rPr lang="fr-FR" sz="1400" b="0" i="0">
                          <a:solidFill>
                            <a:srgbClr val="161616"/>
                          </a:solidFill>
                          <a:latin typeface="Marianne"/>
                        </a:rPr>
                        <a:t>Facebook</a:t>
                      </a:r>
                    </a:p>
                  </a:txBody>
                  <a:tcPr>
                    <a:solidFill>
                      <a:srgbClr val="F5F5FE"/>
                    </a:solidFill>
                  </a:tcPr>
                </a:tc>
                <a:tc>
                  <a:txBody>
                    <a:bodyPr/>
                    <a:lstStyle/>
                    <a:p>
                      <a:pPr algn="l">
                        <a:lnSpc>
                          <a:spcPct val="125000"/>
                        </a:lnSpc>
                      </a:pPr>
                      <a:r>
                        <a:rPr lang="fr-FR" sz="1400" b="0" i="0">
                          <a:solidFill>
                            <a:srgbClr val="161616"/>
                          </a:solidFill>
                          <a:latin typeface="Marianne"/>
                        </a:rPr>
                        <a:t>Modifier la photo &gt; Texte alternatif</a:t>
                      </a:r>
                    </a:p>
                  </a:txBody>
                  <a:tcPr>
                    <a:solidFill>
                      <a:srgbClr val="F5F5FE"/>
                    </a:solidFill>
                  </a:tcPr>
                </a:tc>
                <a:tc>
                  <a:txBody>
                    <a:bodyPr/>
                    <a:lstStyle/>
                    <a:p>
                      <a:pPr algn="l">
                        <a:lnSpc>
                          <a:spcPct val="125000"/>
                        </a:lnSpc>
                      </a:pPr>
                      <a:r>
                        <a:rPr lang="fr-FR" sz="1400" b="0" i="0">
                          <a:solidFill>
                            <a:srgbClr val="161616"/>
                          </a:solidFill>
                          <a:latin typeface="Marianne"/>
                        </a:rPr>
                        <a:t>À la publication ou après</a:t>
                      </a:r>
                    </a:p>
                  </a:txBody>
                  <a:tcPr>
                    <a:solidFill>
                      <a:srgbClr val="F5F5FE"/>
                    </a:solidFill>
                  </a:tcPr>
                </a:tc>
                <a:extLst>
                  <a:ext uri="{0D108BD9-81ED-4DB2-BD59-A6C34878D82A}">
                    <a16:rowId xmlns:a16="http://schemas.microsoft.com/office/drawing/2014/main" val="10002"/>
                  </a:ext>
                </a:extLst>
              </a:tr>
              <a:tr h="365760">
                <a:tc>
                  <a:txBody>
                    <a:bodyPr/>
                    <a:lstStyle/>
                    <a:p>
                      <a:pPr algn="l">
                        <a:lnSpc>
                          <a:spcPct val="125000"/>
                        </a:lnSpc>
                      </a:pPr>
                      <a:r>
                        <a:rPr lang="fr-FR" sz="1400" b="0" i="0">
                          <a:solidFill>
                            <a:srgbClr val="161616"/>
                          </a:solidFill>
                          <a:latin typeface="Marianne"/>
                        </a:rPr>
                        <a:t>X (Twitter)</a:t>
                      </a:r>
                    </a:p>
                  </a:txBody>
                  <a:tcPr>
                    <a:solidFill>
                      <a:srgbClr val="FFFFFF"/>
                    </a:solidFill>
                  </a:tcPr>
                </a:tc>
                <a:tc>
                  <a:txBody>
                    <a:bodyPr/>
                    <a:lstStyle/>
                    <a:p>
                      <a:pPr algn="l">
                        <a:lnSpc>
                          <a:spcPct val="125000"/>
                        </a:lnSpc>
                      </a:pPr>
                      <a:r>
                        <a:rPr lang="fr-FR" sz="1400" b="0" i="0">
                          <a:solidFill>
                            <a:srgbClr val="161616"/>
                          </a:solidFill>
                          <a:latin typeface="Marianne"/>
                        </a:rPr>
                        <a:t>Ajouter une description (icône Accessibilité sous l'image)</a:t>
                      </a:r>
                    </a:p>
                  </a:txBody>
                  <a:tcPr>
                    <a:solidFill>
                      <a:srgbClr val="FFFFFF"/>
                    </a:solidFill>
                  </a:tcPr>
                </a:tc>
                <a:tc>
                  <a:txBody>
                    <a:bodyPr/>
                    <a:lstStyle/>
                    <a:p>
                      <a:pPr algn="l">
                        <a:lnSpc>
                          <a:spcPct val="125000"/>
                        </a:lnSpc>
                      </a:pPr>
                      <a:r>
                        <a:rPr lang="fr-FR" sz="1400" b="0" i="0">
                          <a:solidFill>
                            <a:srgbClr val="161616"/>
                          </a:solidFill>
                          <a:latin typeface="Marianne"/>
                        </a:rPr>
                        <a:t>Avant publication uniquement</a:t>
                      </a:r>
                    </a:p>
                  </a:txBody>
                  <a:tcPr>
                    <a:solidFill>
                      <a:srgbClr val="FFFFFF"/>
                    </a:solidFill>
                  </a:tcPr>
                </a:tc>
                <a:extLst>
                  <a:ext uri="{0D108BD9-81ED-4DB2-BD59-A6C34878D82A}">
                    <a16:rowId xmlns:a16="http://schemas.microsoft.com/office/drawing/2014/main" val="10003"/>
                  </a:ext>
                </a:extLst>
              </a:tr>
              <a:tr h="365760">
                <a:tc>
                  <a:txBody>
                    <a:bodyPr/>
                    <a:lstStyle/>
                    <a:p>
                      <a:pPr algn="l">
                        <a:lnSpc>
                          <a:spcPct val="125000"/>
                        </a:lnSpc>
                      </a:pPr>
                      <a:r>
                        <a:rPr lang="fr-FR" sz="1400" b="0" i="0">
                          <a:solidFill>
                            <a:srgbClr val="161616"/>
                          </a:solidFill>
                          <a:latin typeface="Marianne"/>
                        </a:rPr>
                        <a:t>Instagram</a:t>
                      </a:r>
                    </a:p>
                  </a:txBody>
                  <a:tcPr>
                    <a:solidFill>
                      <a:srgbClr val="F5F5FE"/>
                    </a:solidFill>
                  </a:tcPr>
                </a:tc>
                <a:tc>
                  <a:txBody>
                    <a:bodyPr/>
                    <a:lstStyle/>
                    <a:p>
                      <a:pPr algn="l">
                        <a:lnSpc>
                          <a:spcPct val="125000"/>
                        </a:lnSpc>
                      </a:pPr>
                      <a:r>
                        <a:rPr lang="fr-FR" sz="1400" b="0" i="0">
                          <a:solidFill>
                            <a:srgbClr val="161616"/>
                          </a:solidFill>
                          <a:latin typeface="Marianne"/>
                        </a:rPr>
                        <a:t>Paramètres avancés &gt; Accessibilité &gt; Écrire le texte alternatif</a:t>
                      </a:r>
                    </a:p>
                  </a:txBody>
                  <a:tcPr>
                    <a:solidFill>
                      <a:srgbClr val="F5F5FE"/>
                    </a:solidFill>
                  </a:tcPr>
                </a:tc>
                <a:tc>
                  <a:txBody>
                    <a:bodyPr/>
                    <a:lstStyle/>
                    <a:p>
                      <a:pPr algn="l">
                        <a:lnSpc>
                          <a:spcPct val="125000"/>
                        </a:lnSpc>
                      </a:pPr>
                      <a:r>
                        <a:rPr lang="fr-FR" sz="1400" b="0" i="0">
                          <a:solidFill>
                            <a:srgbClr val="161616"/>
                          </a:solidFill>
                          <a:latin typeface="Marianne"/>
                        </a:rPr>
                        <a:t>Avant publication uniquement</a:t>
                      </a:r>
                    </a:p>
                  </a:txBody>
                  <a:tcPr>
                    <a:solidFill>
                      <a:srgbClr val="F5F5FE"/>
                    </a:solidFill>
                  </a:tcPr>
                </a:tc>
                <a:extLst>
                  <a:ext uri="{0D108BD9-81ED-4DB2-BD59-A6C34878D82A}">
                    <a16:rowId xmlns:a16="http://schemas.microsoft.com/office/drawing/2014/main" val="10004"/>
                  </a:ext>
                </a:extLst>
              </a:tr>
              <a:tr h="365760">
                <a:tc>
                  <a:txBody>
                    <a:bodyPr/>
                    <a:lstStyle/>
                    <a:p>
                      <a:pPr algn="l">
                        <a:lnSpc>
                          <a:spcPct val="125000"/>
                        </a:lnSpc>
                      </a:pPr>
                      <a:r>
                        <a:rPr lang="fr-FR" sz="1400" b="0" i="0">
                          <a:solidFill>
                            <a:srgbClr val="161616"/>
                          </a:solidFill>
                          <a:latin typeface="Marianne"/>
                        </a:rPr>
                        <a:t>Canva</a:t>
                      </a:r>
                    </a:p>
                  </a:txBody>
                  <a:tcPr>
                    <a:solidFill>
                      <a:srgbClr val="FFFFFF"/>
                    </a:solidFill>
                  </a:tcPr>
                </a:tc>
                <a:tc>
                  <a:txBody>
                    <a:bodyPr/>
                    <a:lstStyle/>
                    <a:p>
                      <a:pPr algn="l">
                        <a:lnSpc>
                          <a:spcPct val="125000"/>
                        </a:lnSpc>
                      </a:pPr>
                      <a:r>
                        <a:rPr lang="fr-FR" sz="1400" b="0" i="0">
                          <a:solidFill>
                            <a:srgbClr val="161616"/>
                          </a:solidFill>
                          <a:latin typeface="Marianne"/>
                        </a:rPr>
                        <a:t>Clic droit sur l'image &gt; Texte alternatif</a:t>
                      </a:r>
                    </a:p>
                  </a:txBody>
                  <a:tcPr>
                    <a:solidFill>
                      <a:srgbClr val="FFFFFF"/>
                    </a:solidFill>
                  </a:tcPr>
                </a:tc>
                <a:tc>
                  <a:txBody>
                    <a:bodyPr/>
                    <a:lstStyle/>
                    <a:p>
                      <a:pPr algn="l">
                        <a:lnSpc>
                          <a:spcPct val="125000"/>
                        </a:lnSpc>
                      </a:pPr>
                      <a:r>
                        <a:rPr lang="fr-FR" sz="1400" b="0" i="0">
                          <a:solidFill>
                            <a:srgbClr val="161616"/>
                          </a:solidFill>
                          <a:latin typeface="Marianne"/>
                        </a:rPr>
                        <a:t>Pendant la création</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success-titre"/>
          <p:cNvSpPr txBox="1"/>
          <p:nvPr/>
        </p:nvSpPr>
        <p:spPr>
          <a:xfrm>
            <a:off x="704088" y="458114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LinkedIn et Instagram proposent un rappel si vous oubliez l'alt text</a:t>
            </a:r>
          </a:p>
          <a:p>
            <a:pPr algn="l">
              <a:lnSpc>
                <a:spcPct val="150000"/>
              </a:lnSpc>
            </a:pPr>
            <a:r>
              <a:rPr lang="fr-FR" sz="1400">
                <a:solidFill>
                  <a:srgbClr val="161616"/>
                </a:solidFill>
                <a:latin typeface="Marianne"/>
              </a:rPr>
              <a:t>• </a:t>
            </a:r>
            <a:r>
              <a:rPr lang="fr-FR" sz="1400" b="0">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9" name="DSFR-accent-decoratif"/>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Émojis : 3 règles simples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113</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82880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alert-info-titre"/>
          <p:cNvSpPr txBox="1"/>
          <p:nvPr/>
        </p:nvSpPr>
        <p:spPr>
          <a:xfrm>
            <a:off x="704088" y="474116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Retirez tous les émojis du texte</a:t>
            </a:r>
          </a:p>
          <a:p>
            <a:pPr algn="l">
              <a:lnSpc>
                <a:spcPct val="120000"/>
              </a:lnSpc>
            </a:pPr>
            <a:r>
              <a:rPr lang="fr-FR" sz="1400">
                <a:solidFill>
                  <a:srgbClr val="161616"/>
                </a:solidFill>
                <a:latin typeface="Marianne"/>
              </a:rPr>
              <a:t>• </a:t>
            </a:r>
            <a:r>
              <a:rPr lang="fr-FR" sz="1400" b="0">
                <a:solidFill>
                  <a:srgbClr val="161616"/>
                </a:solidFill>
                <a:latin typeface="Marianne"/>
              </a:rPr>
              <a:t>Le message est-il toujours clair et complet ? Si oui : bon signe</a:t>
            </a:r>
          </a:p>
          <a:p>
            <a:pPr algn="l">
              <a:lnSpc>
                <a:spcPct val="120000"/>
              </a:lnSpc>
            </a:pPr>
            <a:r>
              <a:rPr lang="fr-FR" sz="1400">
                <a:solidFill>
                  <a:srgbClr val="161616"/>
                </a:solidFill>
                <a:latin typeface="Marianne"/>
              </a:rPr>
              <a:t>• </a:t>
            </a:r>
            <a:r>
              <a:rPr lang="fr-FR" sz="1400" b="0">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1-decoratif"/>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2-decoratif"/>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Ce que ça donne avec trop d'émojis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114</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031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6469379" y="21031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5276088"/>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Hashtags : le CamelCase qui change tout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115</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#ServicePublic : les mots sont séparés naturellement</a:t>
            </a:r>
          </a:p>
          <a:p>
            <a:pPr algn="l">
              <a:lnSpc>
                <a:spcPct val="115000"/>
              </a:lnSpc>
            </a:pPr>
            <a:r>
              <a:rPr lang="fr-FR" sz="1400">
                <a:solidFill>
                  <a:srgbClr val="161616"/>
                </a:solidFill>
                <a:latin typeface="Marianne"/>
              </a:rPr>
              <a:t>• </a:t>
            </a:r>
            <a:r>
              <a:rPr lang="fr-FR" sz="1400" b="0">
                <a:solidFill>
                  <a:srgbClr val="161616"/>
                </a:solidFill>
                <a:latin typeface="Marianne"/>
              </a:rPr>
              <a:t>#servicepublic : un seul bloc, plus difficile à comprendre</a:t>
            </a:r>
          </a:p>
          <a:p>
            <a:pPr algn="l">
              <a:lnSpc>
                <a:spcPct val="115000"/>
              </a:lnSpc>
            </a:pPr>
            <a:r>
              <a:rPr lang="fr-FR" sz="1400">
                <a:solidFill>
                  <a:srgbClr val="161616"/>
                </a:solidFill>
                <a:latin typeface="Marianne"/>
              </a:rPr>
              <a:t>• </a:t>
            </a:r>
            <a:r>
              <a:rPr lang="fr-FR" sz="1400" b="0">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6469379"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Majuscule au début de chaque mot</a:t>
            </a:r>
          </a:p>
          <a:p>
            <a:pPr algn="l">
              <a:lnSpc>
                <a:spcPct val="115000"/>
              </a:lnSpc>
            </a:pPr>
            <a:r>
              <a:rPr lang="fr-FR" sz="1400">
                <a:solidFill>
                  <a:srgbClr val="161616"/>
                </a:solidFill>
                <a:latin typeface="Marianne"/>
              </a:rPr>
              <a:t>• </a:t>
            </a:r>
            <a:r>
              <a:rPr lang="fr-FR" sz="1400" b="0">
                <a:solidFill>
                  <a:srgbClr val="161616"/>
                </a:solidFill>
                <a:latin typeface="Marianne"/>
              </a:rPr>
              <a:t>Hashtags regroupés à la fin du post</a:t>
            </a:r>
          </a:p>
          <a:p>
            <a:pPr algn="l">
              <a:lnSpc>
                <a:spcPct val="115000"/>
              </a:lnSpc>
            </a:pPr>
            <a:r>
              <a:rPr lang="fr-FR" sz="1400">
                <a:solidFill>
                  <a:srgbClr val="161616"/>
                </a:solidFill>
                <a:latin typeface="Marianne"/>
              </a:rPr>
              <a:t>• </a:t>
            </a:r>
            <a:r>
              <a:rPr lang="fr-FR" sz="1400" b="0">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133087"/>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Faux gras et caractères Unicode : le piège invisible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116</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error-titre"/>
          <p:cNvSpPr txBox="1"/>
          <p:nvPr/>
        </p:nvSpPr>
        <p:spPr>
          <a:xfrm>
            <a:off x="704088"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InstaFont, LingoJam ... transforment les lettres en symboles</a:t>
            </a:r>
          </a:p>
          <a:p>
            <a:pPr algn="l">
              <a:lnSpc>
                <a:spcPct val="115000"/>
              </a:lnSpc>
            </a:pPr>
            <a:r>
              <a:rPr lang="fr-FR" sz="1400">
                <a:solidFill>
                  <a:srgbClr val="161616"/>
                </a:solidFill>
                <a:latin typeface="Marianne"/>
              </a:rPr>
              <a:t>• </a:t>
            </a:r>
            <a:r>
              <a:rPr lang="fr-FR" sz="1400" b="0">
                <a:solidFill>
                  <a:srgbClr val="161616"/>
                </a:solidFill>
                <a:latin typeface="Marianne"/>
              </a:rPr>
              <a:t>Le lecteur d'écran peut épeler, déformer ou ignorer le message</a:t>
            </a:r>
          </a:p>
          <a:p>
            <a:pPr algn="l">
              <a:lnSpc>
                <a:spcPct val="115000"/>
              </a:lnSpc>
            </a:pPr>
            <a:r>
              <a:rPr lang="fr-FR" sz="1400">
                <a:solidFill>
                  <a:srgbClr val="161616"/>
                </a:solidFill>
                <a:latin typeface="Marianne"/>
              </a:rPr>
              <a:t>• </a:t>
            </a:r>
            <a:r>
              <a:rPr lang="fr-FR" sz="1400" b="0">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6469379"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Utiliser le gras natif de la plateforme quand il existe</a:t>
            </a:r>
          </a:p>
          <a:p>
            <a:pPr algn="l">
              <a:lnSpc>
                <a:spcPct val="115000"/>
              </a:lnSpc>
            </a:pPr>
            <a:r>
              <a:rPr lang="fr-FR" sz="1400">
                <a:solidFill>
                  <a:srgbClr val="161616"/>
                </a:solidFill>
                <a:latin typeface="Marianne"/>
              </a:rPr>
              <a:t>• </a:t>
            </a:r>
            <a:r>
              <a:rPr lang="fr-FR" sz="1400" b="0">
                <a:solidFill>
                  <a:srgbClr val="161616"/>
                </a:solidFill>
                <a:latin typeface="Marianne"/>
              </a:rPr>
              <a:t>Sinon : écrire en texte simple</a:t>
            </a:r>
          </a:p>
          <a:p>
            <a:pPr algn="l">
              <a:lnSpc>
                <a:spcPct val="115000"/>
              </a:lnSpc>
            </a:pPr>
            <a:r>
              <a:rPr lang="fr-FR" sz="1400">
                <a:solidFill>
                  <a:srgbClr val="161616"/>
                </a:solidFill>
                <a:latin typeface="Marianne"/>
              </a:rPr>
              <a:t>• </a:t>
            </a:r>
            <a:r>
              <a:rPr lang="fr-FR" sz="1400" b="0">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114800"/>
            <a:ext cx="10863072" cy="708660"/>
          </a:xfrm>
          <a:prstGeom prst="rect">
            <a:avLst/>
          </a:prstGeom>
          <a:noFill/>
        </p:spPr>
        <p:txBody>
          <a:bodyPr wrap="square" lIns="73152" rIns="73152" anchor="ctr">
            <a:spAutoFit/>
          </a:bodyPr>
          <a:lstStyle/>
          <a:p>
            <a:pPr algn="l">
              <a:lnSpc>
                <a:spcPct val="125000"/>
              </a:lnSpc>
            </a:pPr>
            <a:r>
              <a:rPr lang="fr-FR" sz="1800" b="0" i="0" u="sng">
                <a:solidFill>
                  <a:srgbClr val="000091"/>
                </a:solidFill>
                <a:latin typeface="Marianne"/>
                <a:hlinkClick r:id="rId3"/>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Communication inclusive : les représentations comptent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1294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Qui est visible dans cette communication ?</a:t>
            </a:r>
          </a:p>
          <a:p>
            <a:pPr algn="l">
              <a:lnSpc>
                <a:spcPct val="115000"/>
              </a:lnSpc>
            </a:pPr>
            <a:r>
              <a:rPr lang="fr-FR" sz="1400">
                <a:solidFill>
                  <a:srgbClr val="161616"/>
                </a:solidFill>
                <a:latin typeface="Marianne"/>
              </a:rPr>
              <a:t>• </a:t>
            </a:r>
            <a:r>
              <a:rPr lang="fr-FR" sz="1400" b="0">
                <a:solidFill>
                  <a:srgbClr val="161616"/>
                </a:solidFill>
                <a:latin typeface="Marianne"/>
              </a:rPr>
              <a:t>Qui est absent ou toujours montré en marge ?</a:t>
            </a:r>
          </a:p>
          <a:p>
            <a:pPr algn="l">
              <a:lnSpc>
                <a:spcPct val="115000"/>
              </a:lnSpc>
            </a:pPr>
            <a:r>
              <a:rPr lang="fr-FR" sz="1400">
                <a:solidFill>
                  <a:srgbClr val="161616"/>
                </a:solidFill>
                <a:latin typeface="Marianne"/>
              </a:rPr>
              <a:t>• </a:t>
            </a:r>
            <a:r>
              <a:rPr lang="fr-FR" sz="1400" b="0">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1294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Les personnes concernées peuvent se sentir attendues</a:t>
            </a:r>
          </a:p>
          <a:p>
            <a:pPr algn="l">
              <a:lnSpc>
                <a:spcPct val="115000"/>
              </a:lnSpc>
            </a:pPr>
            <a:r>
              <a:rPr lang="fr-FR" sz="1400">
                <a:solidFill>
                  <a:srgbClr val="161616"/>
                </a:solidFill>
                <a:latin typeface="Marianne"/>
              </a:rPr>
              <a:t>• </a:t>
            </a:r>
            <a:r>
              <a:rPr lang="fr-FR" sz="1400" b="0">
                <a:solidFill>
                  <a:srgbClr val="161616"/>
                </a:solidFill>
                <a:latin typeface="Marianne"/>
              </a:rPr>
              <a:t>La communication évite de reconduire une seule norme</a:t>
            </a:r>
          </a:p>
          <a:p>
            <a:pPr algn="l">
              <a:lnSpc>
                <a:spcPct val="115000"/>
              </a:lnSpc>
            </a:pPr>
            <a:r>
              <a:rPr lang="fr-FR" sz="1400">
                <a:solidFill>
                  <a:srgbClr val="161616"/>
                </a:solidFill>
                <a:latin typeface="Marianne"/>
              </a:rPr>
              <a:t>• </a:t>
            </a:r>
            <a:r>
              <a:rPr lang="fr-FR" sz="1400" b="0">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Représenter sans faire vitrine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118</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Diversité montrée dans des situations ordinaires</a:t>
            </a:r>
          </a:p>
          <a:p>
            <a:pPr algn="l">
              <a:lnSpc>
                <a:spcPct val="115000"/>
              </a:lnSpc>
            </a:pPr>
            <a:r>
              <a:rPr lang="fr-FR" sz="1400">
                <a:solidFill>
                  <a:srgbClr val="161616"/>
                </a:solidFill>
                <a:latin typeface="Marianne"/>
              </a:rPr>
              <a:t>• </a:t>
            </a:r>
            <a:r>
              <a:rPr lang="fr-FR" sz="1400" b="0">
                <a:solidFill>
                  <a:srgbClr val="161616"/>
                </a:solidFill>
                <a:latin typeface="Marianne"/>
              </a:rPr>
              <a:t>Personnes concernées en rôle actif, pas seulement décoratif</a:t>
            </a:r>
          </a:p>
          <a:p>
            <a:pPr algn="l">
              <a:lnSpc>
                <a:spcPct val="115000"/>
              </a:lnSpc>
            </a:pPr>
            <a:r>
              <a:rPr lang="fr-FR" sz="1400">
                <a:solidFill>
                  <a:srgbClr val="161616"/>
                </a:solidFill>
                <a:latin typeface="Marianne"/>
              </a:rPr>
              <a:t>• </a:t>
            </a:r>
            <a:r>
              <a:rPr lang="fr-FR" sz="1400" b="0">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6469379"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Image symbolique sans réalité derrière</a:t>
            </a:r>
          </a:p>
          <a:p>
            <a:pPr algn="l">
              <a:lnSpc>
                <a:spcPct val="115000"/>
              </a:lnSpc>
            </a:pPr>
            <a:r>
              <a:rPr lang="fr-FR" sz="1400">
                <a:solidFill>
                  <a:srgbClr val="161616"/>
                </a:solidFill>
                <a:latin typeface="Marianne"/>
              </a:rPr>
              <a:t>• </a:t>
            </a:r>
            <a:r>
              <a:rPr lang="fr-FR" sz="1400" b="0">
                <a:solidFill>
                  <a:srgbClr val="161616"/>
                </a:solidFill>
                <a:latin typeface="Marianne"/>
              </a:rPr>
              <a:t>Personne réduite à son handicap ou à son identité</a:t>
            </a:r>
          </a:p>
          <a:p>
            <a:pPr algn="l">
              <a:lnSpc>
                <a:spcPct val="115000"/>
              </a:lnSpc>
            </a:pPr>
            <a:r>
              <a:rPr lang="fr-FR" sz="1400">
                <a:solidFill>
                  <a:srgbClr val="161616"/>
                </a:solidFill>
                <a:latin typeface="Marianne"/>
              </a:rPr>
              <a:t>• </a:t>
            </a:r>
            <a:r>
              <a:rPr lang="fr-FR" sz="1400" b="0">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133087"/>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Langage inclusif : clarté d'abord</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119</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184708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Formules épicènes : 'Nous vous convions', 'les personnes concernées'</a:t>
            </a:r>
          </a:p>
          <a:p>
            <a:pPr algn="l">
              <a:lnSpc>
                <a:spcPct val="120000"/>
              </a:lnSpc>
            </a:pPr>
            <a:r>
              <a:rPr lang="fr-FR" sz="1400">
                <a:solidFill>
                  <a:srgbClr val="161616"/>
                </a:solidFill>
                <a:latin typeface="Marianne"/>
              </a:rPr>
              <a:t>• </a:t>
            </a:r>
            <a:r>
              <a:rPr lang="fr-FR" sz="1400" b="0">
                <a:solidFill>
                  <a:srgbClr val="161616"/>
                </a:solidFill>
                <a:latin typeface="Marianne"/>
              </a:rPr>
              <a:t>Mots collectifs : 'le public', 'l'équipe', 'la clientèle'</a:t>
            </a:r>
          </a:p>
          <a:p>
            <a:pPr algn="l">
              <a:lnSpc>
                <a:spcPct val="120000"/>
              </a:lnSpc>
            </a:pPr>
            <a:r>
              <a:rPr lang="fr-FR" sz="1400">
                <a:solidFill>
                  <a:srgbClr val="161616"/>
                </a:solidFill>
                <a:latin typeface="Marianne"/>
              </a:rPr>
              <a:t>• </a:t>
            </a:r>
            <a:r>
              <a:rPr lang="fr-FR" sz="1400" b="0">
                <a:solidFill>
                  <a:srgbClr val="161616"/>
                </a:solidFill>
                <a:latin typeface="Marianne"/>
              </a:rPr>
              <a:t>Double flexion si nécessaire : 'les utilisateurs et utilisatrices'</a:t>
            </a:r>
          </a:p>
          <a:p>
            <a:pPr algn="l">
              <a:lnSpc>
                <a:spcPct val="120000"/>
              </a:lnSpc>
            </a:pPr>
            <a:r>
              <a:rPr lang="fr-FR" sz="1400">
                <a:solidFill>
                  <a:srgbClr val="161616"/>
                </a:solidFill>
                <a:latin typeface="Marianne"/>
              </a:rPr>
              <a:t>• </a:t>
            </a:r>
            <a:r>
              <a:rPr lang="fr-FR" sz="1400" b="0">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6469379" y="184708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Point médian ou ponctuation répétée quand cela gêne la lecture</a:t>
            </a:r>
          </a:p>
          <a:p>
            <a:pPr algn="l">
              <a:lnSpc>
                <a:spcPct val="120000"/>
              </a:lnSpc>
            </a:pPr>
            <a:r>
              <a:rPr lang="fr-FR" sz="1400">
                <a:solidFill>
                  <a:srgbClr val="161616"/>
                </a:solidFill>
                <a:latin typeface="Marianne"/>
              </a:rPr>
              <a:t>• </a:t>
            </a:r>
            <a:r>
              <a:rPr lang="fr-FR" sz="1400" b="0">
                <a:solidFill>
                  <a:srgbClr val="161616"/>
                </a:solidFill>
                <a:latin typeface="Marianne"/>
              </a:rPr>
              <a:t>Formes trop compressées : elles ralentissent aussi la lecture visuelle</a:t>
            </a:r>
          </a:p>
          <a:p>
            <a:pPr algn="l">
              <a:lnSpc>
                <a:spcPct val="120000"/>
              </a:lnSpc>
            </a:pPr>
            <a:r>
              <a:rPr lang="fr-FR" sz="1400">
                <a:solidFill>
                  <a:srgbClr val="161616"/>
                </a:solidFill>
                <a:latin typeface="Marianne"/>
              </a:rPr>
              <a:t>• </a:t>
            </a:r>
            <a:r>
              <a:rPr lang="fr-FR" sz="1400" b="0">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517136"/>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Exercice en binôme : passez la checklist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120</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5740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3" name="DSFR-stepper-texte-1"/>
          <p:cNvSpPr txBox="1"/>
          <p:nvPr/>
        </p:nvSpPr>
        <p:spPr>
          <a:xfrm>
            <a:off x="475488" y="3698748"/>
            <a:ext cx="2580894" cy="8686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Choisir 1 publication</a:t>
            </a:r>
          </a:p>
        </p:txBody>
      </p:sp>
      <p:sp>
        <p:nvSpPr>
          <p:cNvPr id="14" name="DSFR-stepper-pastille-2"/>
          <p:cNvSpPr/>
          <p:nvPr/>
        </p:nvSpPr>
        <p:spPr>
          <a:xfrm>
            <a:off x="4328541"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6" name="DSFR-stepper-texte-2"/>
          <p:cNvSpPr txBox="1"/>
          <p:nvPr/>
        </p:nvSpPr>
        <p:spPr>
          <a:xfrm>
            <a:off x="3358134" y="3698748"/>
            <a:ext cx="2580894" cy="8686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Cocher Anticiper / Rédiger / Publier</a:t>
            </a:r>
          </a:p>
        </p:txBody>
      </p:sp>
      <p:sp>
        <p:nvSpPr>
          <p:cNvPr id="17" name="DSFR-stepper-pastille-3"/>
          <p:cNvSpPr/>
          <p:nvPr/>
        </p:nvSpPr>
        <p:spPr>
          <a:xfrm>
            <a:off x="7211186"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9" name="DSFR-stepper-texte-3"/>
          <p:cNvSpPr txBox="1"/>
          <p:nvPr/>
        </p:nvSpPr>
        <p:spPr>
          <a:xfrm>
            <a:off x="6240779" y="3698748"/>
            <a:ext cx="2580894" cy="8686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Retenir 2 risques prioritaires</a:t>
            </a:r>
          </a:p>
        </p:txBody>
      </p:sp>
      <p:sp>
        <p:nvSpPr>
          <p:cNvPr id="20" name="DSFR-stepper-pastille-4"/>
          <p:cNvSpPr/>
          <p:nvPr/>
        </p:nvSpPr>
        <p:spPr>
          <a:xfrm>
            <a:off x="10093832"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21" name="DSFR-stepper-texte-4"/>
          <p:cNvSpPr txBox="1"/>
          <p:nvPr/>
        </p:nvSpPr>
        <p:spPr>
          <a:xfrm>
            <a:off x="9123426" y="3698748"/>
            <a:ext cx="2580894" cy="8686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Préparer 1 min de restitution</a:t>
            </a:r>
          </a:p>
        </p:txBody>
      </p:sp>
      <p:sp>
        <p:nvSpPr>
          <p:cNvPr id="23" name="DSFR-box"/>
          <p:cNvSpPr/>
          <p:nvPr/>
        </p:nvSpPr>
        <p:spPr>
          <a:xfrm>
            <a:off x="548640" y="4677156"/>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SFR-alert-info-titre"/>
          <p:cNvSpPr txBox="1"/>
          <p:nvPr/>
        </p:nvSpPr>
        <p:spPr>
          <a:xfrm>
            <a:off x="704088" y="4768596"/>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Déroulé</a:t>
            </a:r>
          </a:p>
        </p:txBody>
      </p:sp>
      <p:sp>
        <p:nvSpPr>
          <p:cNvPr id="25" name="DSFR-alert-info-body"/>
          <p:cNvSpPr txBox="1"/>
          <p:nvPr/>
        </p:nvSpPr>
        <p:spPr>
          <a:xfrm>
            <a:off x="704088" y="5180076"/>
            <a:ext cx="5143500" cy="799642"/>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3 min : choisir le post et le contexte</a:t>
            </a:r>
          </a:p>
          <a:p>
            <a:pPr algn="l">
              <a:lnSpc>
                <a:spcPct val="115000"/>
              </a:lnSpc>
            </a:pPr>
            <a:r>
              <a:rPr lang="fr-FR" sz="1400">
                <a:solidFill>
                  <a:srgbClr val="161616"/>
                </a:solidFill>
                <a:latin typeface="Marianne"/>
              </a:rPr>
              <a:t>• </a:t>
            </a:r>
            <a:r>
              <a:rPr lang="fr-FR" sz="1400" b="0">
                <a:solidFill>
                  <a:srgbClr val="161616"/>
                </a:solidFill>
                <a:latin typeface="Marianne"/>
              </a:rPr>
              <a:t>8 min : passer les 3 checklists</a:t>
            </a:r>
          </a:p>
          <a:p>
            <a:pPr algn="l">
              <a:lnSpc>
                <a:spcPct val="115000"/>
              </a:lnSpc>
            </a:pPr>
            <a:r>
              <a:rPr lang="fr-FR" sz="1400">
                <a:solidFill>
                  <a:srgbClr val="161616"/>
                </a:solidFill>
                <a:latin typeface="Marianne"/>
              </a:rPr>
              <a:t>• </a:t>
            </a:r>
            <a:r>
              <a:rPr lang="fr-FR" sz="1400" b="0">
                <a:solidFill>
                  <a:srgbClr val="161616"/>
                </a:solidFill>
                <a:latin typeface="Marianne"/>
              </a:rPr>
              <a:t>4 min : formuler 2 corrections</a:t>
            </a:r>
          </a:p>
        </p:txBody>
      </p:sp>
      <p:sp>
        <p:nvSpPr>
          <p:cNvPr id="27" name="DSFR-box"/>
          <p:cNvSpPr/>
          <p:nvPr/>
        </p:nvSpPr>
        <p:spPr>
          <a:xfrm>
            <a:off x="6313931" y="4603089"/>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SFR-alert-success-titre"/>
          <p:cNvSpPr txBox="1"/>
          <p:nvPr/>
        </p:nvSpPr>
        <p:spPr>
          <a:xfrm>
            <a:off x="6469379" y="4694529"/>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restituer</a:t>
            </a:r>
          </a:p>
        </p:txBody>
      </p:sp>
      <p:sp>
        <p:nvSpPr>
          <p:cNvPr id="29" name="DSFR-alert-success-body"/>
          <p:cNvSpPr txBox="1"/>
          <p:nvPr/>
        </p:nvSpPr>
        <p:spPr>
          <a:xfrm>
            <a:off x="6469379" y="5106009"/>
            <a:ext cx="5143500" cy="1020470"/>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Le point le plus bloquant</a:t>
            </a:r>
          </a:p>
          <a:p>
            <a:pPr algn="l">
              <a:lnSpc>
                <a:spcPct val="115000"/>
              </a:lnSpc>
            </a:pPr>
            <a:r>
              <a:rPr lang="fr-FR" sz="1400">
                <a:solidFill>
                  <a:srgbClr val="161616"/>
                </a:solidFill>
                <a:latin typeface="Marianne"/>
              </a:rPr>
              <a:t>• </a:t>
            </a:r>
            <a:r>
              <a:rPr lang="fr-FR" sz="1400" b="0">
                <a:solidFill>
                  <a:srgbClr val="161616"/>
                </a:solidFill>
                <a:latin typeface="Marianne"/>
              </a:rPr>
              <a:t>La correction proposée</a:t>
            </a:r>
          </a:p>
          <a:p>
            <a:pPr algn="l">
              <a:lnSpc>
                <a:spcPct val="115000"/>
              </a:lnSpc>
            </a:pPr>
            <a:r>
              <a:rPr lang="fr-FR" sz="1400">
                <a:solidFill>
                  <a:srgbClr val="161616"/>
                </a:solidFill>
                <a:latin typeface="Marianne"/>
              </a:rPr>
              <a:t>• </a:t>
            </a:r>
            <a:r>
              <a:rPr lang="fr-FR" sz="1400" b="0">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1-decoratif"/>
          <p:cNvSpPr/>
          <p:nvPr/>
        </p:nvSpPr>
        <p:spPr>
          <a:xfrm>
            <a:off x="2085975"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2-decoratif"/>
          <p:cNvSpPr/>
          <p:nvPr/>
        </p:nvSpPr>
        <p:spPr>
          <a:xfrm>
            <a:off x="4968621"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stepper-connecteur-3-decoratif"/>
          <p:cNvSpPr/>
          <p:nvPr/>
        </p:nvSpPr>
        <p:spPr>
          <a:xfrm>
            <a:off x="7851267"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SFR-accent-decoratif"/>
          <p:cNvSpPr/>
          <p:nvPr/>
        </p:nvSpPr>
        <p:spPr>
          <a:xfrm>
            <a:off x="475488" y="4677156"/>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accent-decoratif"/>
          <p:cNvSpPr/>
          <p:nvPr/>
        </p:nvSpPr>
        <p:spPr>
          <a:xfrm>
            <a:off x="6240779" y="4603089"/>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réseaux sociaux : anticiper (1/3)</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121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Média prévu ? image = alt text, audio = transcription, vidéo = sous-titres</a:t>
            </a:r>
          </a:p>
          <a:p>
            <a:pPr algn="l">
              <a:lnSpc>
                <a:spcPct val="150000"/>
              </a:lnSpc>
            </a:pPr>
            <a:r>
              <a:rPr lang="fr-FR" sz="1800" b="1">
                <a:solidFill>
                  <a:srgbClr val="000091"/>
                </a:solidFill>
                <a:latin typeface="Marianne"/>
              </a:rPr>
              <a:t>☐  </a:t>
            </a:r>
            <a:r>
              <a:rPr lang="fr-FR" sz="1400">
                <a:solidFill>
                  <a:srgbClr val="161616"/>
                </a:solidFill>
                <a:latin typeface="Marianne"/>
              </a:rPr>
              <a:t>Visuels : représentations diverses et cohérentes avec la réalité accessible</a:t>
            </a:r>
          </a:p>
          <a:p>
            <a:pPr algn="l">
              <a:lnSpc>
                <a:spcPct val="150000"/>
              </a:lnSpc>
            </a:pPr>
            <a:r>
              <a:rPr lang="fr-FR" sz="1800" b="1">
                <a:solidFill>
                  <a:srgbClr val="000091"/>
                </a:solidFill>
                <a:latin typeface="Marianne"/>
              </a:rPr>
              <a:t>☐  </a:t>
            </a:r>
            <a:r>
              <a:rPr lang="fr-FR" sz="1400">
                <a:solidFill>
                  <a:srgbClr val="161616"/>
                </a:solidFill>
                <a:latin typeface="Marianne"/>
              </a:rPr>
              <a:t>Visuel très chargé ? prévoir une version complète en ligne ou dans le post</a:t>
            </a:r>
          </a:p>
          <a:p>
            <a:pPr algn="l">
              <a:lnSpc>
                <a:spcPct val="150000"/>
              </a:lnSpc>
            </a:pPr>
            <a:r>
              <a:rPr lang="fr-FR" sz="1800" b="1">
                <a:solidFill>
                  <a:srgbClr val="000091"/>
                </a:solidFill>
                <a:latin typeface="Marianne"/>
              </a:rPr>
              <a:t>☐  </a:t>
            </a:r>
            <a:r>
              <a:rPr lang="fr-FR" sz="1400">
                <a:solidFill>
                  <a:srgbClr val="161616"/>
                </a:solidFill>
                <a:latin typeface="Marianne"/>
              </a:rPr>
              <a:t>Police lisible, sans fantaisie, assez épaisse pour un écran mobile</a:t>
            </a:r>
          </a:p>
          <a:p>
            <a:pPr algn="l">
              <a:lnSpc>
                <a:spcPct val="150000"/>
              </a:lnSpc>
            </a:pPr>
            <a:r>
              <a:rPr lang="fr-FR" sz="1800" b="1">
                <a:solidFill>
                  <a:srgbClr val="000091"/>
                </a:solidFill>
                <a:latin typeface="Marianne"/>
              </a:rPr>
              <a:t>☐  </a:t>
            </a:r>
            <a:r>
              <a:rPr lang="fr-FR" sz="1400">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réseaux sociaux : rédiger (2/3)</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122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Informations essentielles écrites dans le texte du post</a:t>
            </a:r>
          </a:p>
          <a:p>
            <a:pPr algn="l">
              <a:lnSpc>
                <a:spcPct val="150000"/>
              </a:lnSpc>
            </a:pPr>
            <a:r>
              <a:rPr lang="fr-FR" sz="1800" b="1">
                <a:solidFill>
                  <a:srgbClr val="000091"/>
                </a:solidFill>
                <a:latin typeface="Marianne"/>
              </a:rPr>
              <a:t>☐  </a:t>
            </a:r>
            <a:r>
              <a:rPr lang="fr-FR" sz="1400">
                <a:solidFill>
                  <a:srgbClr val="161616"/>
                </a:solidFill>
                <a:latin typeface="Marianne"/>
              </a:rPr>
              <a:t>Paragraphes courts, texte natif, pas de faux gras Unicode</a:t>
            </a:r>
          </a:p>
          <a:p>
            <a:pPr algn="l">
              <a:lnSpc>
                <a:spcPct val="150000"/>
              </a:lnSpc>
            </a:pPr>
            <a:r>
              <a:rPr lang="fr-FR" sz="1800" b="1">
                <a:solidFill>
                  <a:srgbClr val="000091"/>
                </a:solidFill>
                <a:latin typeface="Marianne"/>
              </a:rPr>
              <a:t>☐  </a:t>
            </a:r>
            <a:r>
              <a:rPr lang="fr-FR" sz="1400">
                <a:solidFill>
                  <a:srgbClr val="161616"/>
                </a:solidFill>
                <a:latin typeface="Marianne"/>
              </a:rPr>
              <a:t>Émojis : 1 ou 2, en fin de message, sens vérifié</a:t>
            </a:r>
          </a:p>
          <a:p>
            <a:pPr algn="l">
              <a:lnSpc>
                <a:spcPct val="150000"/>
              </a:lnSpc>
            </a:pPr>
            <a:r>
              <a:rPr lang="fr-FR" sz="1800" b="1">
                <a:solidFill>
                  <a:srgbClr val="000091"/>
                </a:solidFill>
                <a:latin typeface="Marianne"/>
              </a:rPr>
              <a:t>☐  </a:t>
            </a:r>
            <a:r>
              <a:rPr lang="fr-FR" sz="1400">
                <a:solidFill>
                  <a:srgbClr val="161616"/>
                </a:solidFill>
                <a:latin typeface="Marianne"/>
              </a:rPr>
              <a:t>Hashtags : CamelCase, courts, regroupés à la fin, 2 ou 3 maximum</a:t>
            </a:r>
          </a:p>
          <a:p>
            <a:pPr algn="l">
              <a:lnSpc>
                <a:spcPct val="150000"/>
              </a:lnSpc>
            </a:pPr>
            <a:r>
              <a:rPr lang="fr-FR" sz="1800" b="1">
                <a:solidFill>
                  <a:srgbClr val="000091"/>
                </a:solidFill>
                <a:latin typeface="Marianne"/>
              </a:rPr>
              <a:t>☐  </a:t>
            </a:r>
            <a:r>
              <a:rPr lang="fr-FR" sz="1400">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réseaux sociaux : publier (3/3)</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123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Alt text clair et unique pour chaque image informative</a:t>
            </a:r>
          </a:p>
          <a:p>
            <a:pPr algn="l">
              <a:lnSpc>
                <a:spcPct val="150000"/>
              </a:lnSpc>
            </a:pPr>
            <a:r>
              <a:rPr lang="fr-FR" sz="1800" b="1">
                <a:solidFill>
                  <a:srgbClr val="000091"/>
                </a:solidFill>
                <a:latin typeface="Marianne"/>
              </a:rPr>
              <a:t>☐  </a:t>
            </a:r>
            <a:r>
              <a:rPr lang="fr-FR" sz="1400">
                <a:solidFill>
                  <a:srgbClr val="161616"/>
                </a:solidFill>
                <a:latin typeface="Marianne"/>
              </a:rPr>
              <a:t>Infographie ou carrousel : chiffres et messages clés repris dans le post</a:t>
            </a:r>
          </a:p>
          <a:p>
            <a:pPr algn="l">
              <a:lnSpc>
                <a:spcPct val="150000"/>
              </a:lnSpc>
            </a:pPr>
            <a:r>
              <a:rPr lang="fr-FR" sz="1800" b="1">
                <a:solidFill>
                  <a:srgbClr val="000091"/>
                </a:solidFill>
                <a:latin typeface="Marianne"/>
              </a:rPr>
              <a:t>☐  </a:t>
            </a:r>
            <a:r>
              <a:rPr lang="fr-FR" sz="1400">
                <a:solidFill>
                  <a:srgbClr val="161616"/>
                </a:solidFill>
                <a:latin typeface="Marianne"/>
              </a:rPr>
              <a:t>Audio : transcription écrite jointe ou lien visible</a:t>
            </a:r>
          </a:p>
          <a:p>
            <a:pPr algn="l">
              <a:lnSpc>
                <a:spcPct val="150000"/>
              </a:lnSpc>
            </a:pPr>
            <a:r>
              <a:rPr lang="fr-FR" sz="1800" b="1">
                <a:solidFill>
                  <a:srgbClr val="000091"/>
                </a:solidFill>
                <a:latin typeface="Marianne"/>
              </a:rPr>
              <a:t>☐  </a:t>
            </a:r>
            <a:r>
              <a:rPr lang="fr-FR" sz="1400">
                <a:solidFill>
                  <a:srgbClr val="161616"/>
                </a:solidFill>
                <a:latin typeface="Marianne"/>
              </a:rPr>
              <a:t>Vidéo : sous-titres relus, transcription si nécessaire</a:t>
            </a:r>
          </a:p>
          <a:p>
            <a:pPr algn="l">
              <a:lnSpc>
                <a:spcPct val="150000"/>
              </a:lnSpc>
            </a:pPr>
            <a:r>
              <a:rPr lang="fr-FR" sz="1800" b="1">
                <a:solidFill>
                  <a:srgbClr val="000091"/>
                </a:solidFill>
                <a:latin typeface="Marianne"/>
              </a:rPr>
              <a:t>☐  </a:t>
            </a:r>
            <a:r>
              <a:rPr lang="fr-FR" sz="1400">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Quiz : vrai ou faux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124</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3317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6469379" y="23317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704088" y="4123944"/>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card-titre"/>
          <p:cNvSpPr txBox="1"/>
          <p:nvPr/>
        </p:nvSpPr>
        <p:spPr>
          <a:xfrm>
            <a:off x="6469379" y="4123944"/>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DSFR-highlight"/>
          <p:cNvSpPr txBox="1"/>
          <p:nvPr/>
        </p:nvSpPr>
        <p:spPr>
          <a:xfrm>
            <a:off x="749808" y="530352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SFR-accent-decoratif"/>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Que faites-vous demain matin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125</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Avant votre prochain post : passez la checklist Anticiper / Rédiger / Publier</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Relisez votre dernière publication : qui est représenté, qui est absent ?</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Vérifiez un post avec QR code : lien visible + « Scannez-moi ! »</a:t>
            </a:r>
          </a:p>
        </p:txBody>
      </p:sp>
      <p:sp>
        <p:nvSpPr>
          <p:cNvPr id="17" name="DSFR-box"/>
          <p:cNvSpPr/>
          <p:nvPr/>
        </p:nvSpPr>
        <p:spPr>
          <a:xfrm>
            <a:off x="548640" y="406908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lert-success-titre"/>
          <p:cNvSpPr txBox="1"/>
          <p:nvPr/>
        </p:nvSpPr>
        <p:spPr>
          <a:xfrm>
            <a:off x="704088" y="41605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Dans 7 jours</a:t>
            </a:r>
          </a:p>
        </p:txBody>
      </p:sp>
      <p:sp>
        <p:nvSpPr>
          <p:cNvPr id="19" name="DSFR-alert-success-body"/>
          <p:cNvSpPr txBox="1"/>
          <p:nvPr/>
        </p:nvSpPr>
        <p:spPr>
          <a:xfrm>
            <a:off x="704088" y="4572000"/>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Publiez un post en appliquant les 3 temps de la checklist</a:t>
            </a:r>
          </a:p>
          <a:p>
            <a:pPr algn="l">
              <a:lnSpc>
                <a:spcPct val="115000"/>
              </a:lnSpc>
            </a:pPr>
            <a:r>
              <a:rPr lang="fr-FR" sz="1400">
                <a:solidFill>
                  <a:srgbClr val="161616"/>
                </a:solidFill>
                <a:latin typeface="Marianne"/>
              </a:rPr>
              <a:t>• </a:t>
            </a:r>
            <a:r>
              <a:rPr lang="fr-FR" sz="1400" b="0">
                <a:solidFill>
                  <a:srgbClr val="161616"/>
                </a:solidFill>
                <a:latin typeface="Marianne"/>
              </a:rPr>
              <a:t>Faites relire une publication par un binôme avant mise en ligne</a:t>
            </a:r>
          </a:p>
          <a:p>
            <a:pPr algn="l">
              <a:lnSpc>
                <a:spcPct val="115000"/>
              </a:lnSpc>
            </a:pPr>
            <a:r>
              <a:rPr lang="fr-FR" sz="1400">
                <a:solidFill>
                  <a:srgbClr val="161616"/>
                </a:solidFill>
                <a:latin typeface="Marianne"/>
              </a:rPr>
              <a:t>• </a:t>
            </a:r>
            <a:r>
              <a:rPr lang="fr-FR" sz="1400" b="0">
                <a:solidFill>
                  <a:srgbClr val="161616"/>
                </a:solidFill>
                <a:latin typeface="Marianne"/>
              </a:rPr>
              <a:t>Partagez le mémo à votre équipe de communication</a:t>
            </a:r>
          </a:p>
        </p:txBody>
      </p:sp>
      <p:sp>
        <p:nvSpPr>
          <p:cNvPr id="21" name="DSFR-box"/>
          <p:cNvSpPr/>
          <p:nvPr/>
        </p:nvSpPr>
        <p:spPr>
          <a:xfrm>
            <a:off x="6313931" y="416143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SFR-alert-info-titre"/>
          <p:cNvSpPr txBox="1"/>
          <p:nvPr/>
        </p:nvSpPr>
        <p:spPr>
          <a:xfrm>
            <a:off x="6469379" y="4252874"/>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Mémo : les 3 temps</a:t>
            </a:r>
          </a:p>
        </p:txBody>
      </p:sp>
      <p:sp>
        <p:nvSpPr>
          <p:cNvPr id="23" name="DSFR-alert-info-body"/>
          <p:cNvSpPr txBox="1"/>
          <p:nvPr/>
        </p:nvSpPr>
        <p:spPr>
          <a:xfrm>
            <a:off x="6469379" y="4664354"/>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Anticiper : médias, représentations, contraste</a:t>
            </a:r>
          </a:p>
          <a:p>
            <a:pPr algn="l">
              <a:lnSpc>
                <a:spcPct val="115000"/>
              </a:lnSpc>
            </a:pPr>
            <a:r>
              <a:rPr lang="fr-FR" sz="1400">
                <a:solidFill>
                  <a:srgbClr val="161616"/>
                </a:solidFill>
                <a:latin typeface="Marianne"/>
              </a:rPr>
              <a:t>• </a:t>
            </a:r>
            <a:r>
              <a:rPr lang="fr-FR" sz="1400" b="0">
                <a:solidFill>
                  <a:srgbClr val="161616"/>
                </a:solidFill>
                <a:latin typeface="Marianne"/>
              </a:rPr>
              <a:t>Rédiger : texte natif, émojis, hashtags, langage inclusif</a:t>
            </a:r>
          </a:p>
          <a:p>
            <a:pPr algn="l">
              <a:lnSpc>
                <a:spcPct val="115000"/>
              </a:lnSpc>
            </a:pPr>
            <a:r>
              <a:rPr lang="fr-FR" sz="1400">
                <a:solidFill>
                  <a:srgbClr val="161616"/>
                </a:solidFill>
                <a:latin typeface="Marianne"/>
              </a:rPr>
              <a:t>• </a:t>
            </a:r>
            <a:r>
              <a:rPr lang="fr-FR" sz="1400" b="0">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9" name="DSFR-stepper-connecteur-1-decoratif"/>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06908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SFR-accent-decoratif"/>
          <p:cNvSpPr/>
          <p:nvPr/>
        </p:nvSpPr>
        <p:spPr>
          <a:xfrm>
            <a:off x="6240779" y="416143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20433</Words>
  <Application>Microsoft Macintosh PowerPoint</Application>
  <PresentationFormat>Grand écran</PresentationFormat>
  <Paragraphs>2270</Paragraphs>
  <Slides>125</Slides>
  <Notes>125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125</vt:i4>
      </vt:variant>
    </vt:vector>
  </HeadingPairs>
  <TitlesOfParts>
    <vt:vector size="129" baseType="lpstr">
      <vt:lpstr>Arial</vt:lpstr>
      <vt:lpstr>Calibri</vt:lpstr>
      <vt:lpstr>Marianne</vt:lpstr>
      <vt:lpstr>GOUVERNEMENT</vt:lpstr>
      <vt:lpstr>Présentation PowerPoint</vt:lpstr>
      <vt:lpstr>Présentation PowerPoint</vt:lpstr>
      <vt:lpstr>Programme de la journée</vt:lpstr>
      <vt:lpstr>Bertrand Matge</vt:lpstr>
      <vt:lpstr>Alexandra Guiderdoni</vt:lpstr>
      <vt:lpstr>Présentez-vous</vt:lpstr>
      <vt:lpstr>Organisation des activités</vt:lpstr>
      <vt:lpstr>Ensemble, faisons tomber les préjugés !</vt:lpstr>
      <vt:lpstr>Idée reçue 1 / 6</vt:lpstr>
      <vt:lpstr>Idée reçue 2 / 6</vt:lpstr>
      <vt:lpstr>Idée reçue 3 / 6</vt:lpstr>
      <vt:lpstr>Idée reçue 4 / 6</vt:lpstr>
      <vt:lpstr>Idée reçue 5 / 6</vt:lpstr>
      <vt:lpstr>Idée reçue 6 / 6</vt:lpstr>
      <vt:lpstr>Présentation PowerPoint</vt:lpstr>
      <vt:lpstr>L'accessibilité numérique, c'est quoi ?</vt:lpstr>
      <vt:lpstr>Point sur l'accessibilité numérique</vt:lpstr>
      <vt:lpstr>Présentation PowerPoint</vt:lpstr>
      <vt:lpstr>C'est pour qui ? 4 familles de besoins</vt:lpstr>
      <vt:lpstr>Anaïs, gestionnaire RH - malvoyance</vt:lpstr>
      <vt:lpstr>Justine, chargée de communication - surdité</vt:lpstr>
      <vt:lpstr>Agathe, chargée de mission - déficience motrice</vt:lpstr>
      <vt:lpstr>Handicap : sortir de l'angle mort</vt:lpstr>
      <vt:lpstr>Déficience n'est pas situation de handicap</vt:lpstr>
      <vt:lpstr>Le spectre du handicap</vt:lpstr>
      <vt:lpstr>Présentation PowerPoint</vt:lpstr>
      <vt:lpstr>Le cadre légal : de 2005 à aujourd'hui</vt:lpstr>
      <vt:lpstr>Le cadre européen</vt:lpstr>
      <vt:lpstr>RGAA : 13 thèmes, 3 niveaux de conformité</vt:lpstr>
      <vt:lpstr>Quelles obligations pour votre structure ?</vt:lpstr>
      <vt:lpstr>La déclaration d'accessibilité</vt:lpstr>
      <vt:lpstr>Présentation PowerPoint</vt:lpstr>
      <vt:lpstr>Pourquoi agir ?</vt:lpstr>
      <vt:lpstr>Accessibiliser sa communication : de quoi parle-t-on ?</vt:lpstr>
      <vt:lpstr>Présentation PowerPoint</vt:lpstr>
      <vt:lpstr>Des outils déjà intégrés à vos postes</vt:lpstr>
      <vt:lpstr>Règles transversales : texte, contraste, QR</vt:lpstr>
      <vt:lpstr>FALC et langage clair</vt:lpstr>
      <vt:lpstr>Comment s'y mettre ?</vt:lpstr>
      <vt:lpstr>L'accessibilité dès la conception</vt:lpstr>
      <vt:lpstr>Module 1 - ce que vous retenez</vt:lpstr>
      <vt:lpstr>Présentation PowerPoint</vt:lpstr>
      <vt:lpstr>Le lecteur d'écran en action</vt:lpstr>
      <vt:lpstr>Quiz - lequel de ces deux documents est accessible ?</vt:lpstr>
      <vt:lpstr>Pourquoi ça vous concerne</vt:lpstr>
      <vt:lpstr>5 thèmes, 21 critères</vt:lpstr>
      <vt:lpstr>Les styles de titre : le fondement de tout</vt:lpstr>
      <vt:lpstr>Listes natives</vt:lpstr>
      <vt:lpstr>Tableaux et objets flottants</vt:lpstr>
      <vt:lpstr>Contraste : un seuil chiffré, pas une opinion</vt:lpstr>
      <vt:lpstr>La couleur ne doit pas porter l'information à elle seule</vt:lpstr>
      <vt:lpstr>Texte alternatif sur les images</vt:lpstr>
      <vt:lpstr>Liens et informations essentielles</vt:lpstr>
      <vt:lpstr>Exercice : les erreurs de Sami</vt:lpstr>
      <vt:lpstr>Langue, majuscules et lisibilité</vt:lpstr>
      <vt:lpstr>Espaces et objets clignotants</vt:lpstr>
      <vt:lpstr>Avant de publier : 5 vérifications en 2 minutes</vt:lpstr>
      <vt:lpstr>Le vérificateur d'accessibilité Word</vt:lpstr>
      <vt:lpstr>Exporter Word vers PDF sans perdre l'accessibilité</vt:lpstr>
      <vt:lpstr>Retour sur le document de Sami</vt:lpstr>
      <vt:lpstr>Par où commencer ?</vt:lpstr>
      <vt:lpstr>Quiz final : saurez-vous trouver les 5 erreurs ?</vt:lpstr>
      <vt:lpstr>Correction : les 5 erreurs et leurs solutions</vt:lpstr>
      <vt:lpstr>Faites le point</vt:lpstr>
      <vt:lpstr>Faites le point : les réponses</vt:lpstr>
      <vt:lpstr>Dès demain, vos trois premiers réflexes</vt:lpstr>
      <vt:lpstr>Checklist : pratiqué dans l'exercice (1/2)</vt:lpstr>
      <vt:lpstr>Checklist : pratiqué dans l'exercice (2/2)</vt:lpstr>
      <vt:lpstr>Checklist : autres critères essentiels (1/2)</vt:lpstr>
      <vt:lpstr>Checklist : autres critères essentiels (2/2)</vt:lpstr>
      <vt:lpstr>À vous de jouer</vt:lpstr>
      <vt:lpstr>Présentation PowerPoint</vt:lpstr>
      <vt:lpstr>WebAIM Million 2026 : le constat</vt:lpstr>
      <vt:lpstr>Six erreurs qui justifient les points de contrôle rapides</vt:lpstr>
      <vt:lpstr>Texte alternatif : 4 types d’images, 4 décisions</vt:lpstr>
      <vt:lpstr>Rédiger un texte alternatif qui sert vraiment</vt:lpstr>
      <vt:lpstr>Texte alternatif : passe ou échoue ?</vt:lpstr>
      <vt:lpstr>Titre de page : l’étiquette qui oriente</vt:lpstr>
      <vt:lpstr>Titres : la hiérarchie qui structure</vt:lpstr>
      <vt:lpstr>Titres : 3 façons de vérifier</vt:lpstr>
      <vt:lpstr>Contraste : un seuil chiffré, pas une opinion</vt:lpstr>
      <vt:lpstr>Contraste : 3 outils à avoir sous la main</vt:lpstr>
      <vt:lpstr>Lien d’évitement : le raccourci vers le contenu</vt:lpstr>
      <vt:lpstr>Naviguer sans souris : le test qui change tout</vt:lpstr>
      <vt:lpstr>5 touches, 3 intentions</vt:lpstr>
      <vt:lpstr>3 signaux qui trahissent un défaut</vt:lpstr>
      <vt:lpstr>Votre mission</vt:lpstr>
      <vt:lpstr>Langue de la page : l’accent juste du lecteur d’écran</vt:lpstr>
      <vt:lpstr>Zoom à 200 % : tout doit rester lisible</vt:lpstr>
      <vt:lpstr>Sous-titres : le son que tout le monde lit</vt:lpstr>
      <vt:lpstr>Sous-titres auto : brouillon utile, livrable à relire</vt:lpstr>
      <vt:lpstr>Transcription : la version texte qui accompagne</vt:lpstr>
      <vt:lpstr>Audiodescription : la voix qui montre</vt:lpstr>
      <vt:lpstr>Bonus médias : toujours 2 accès</vt:lpstr>
      <vt:lpstr>Bonus médias : VSME et transcriptions</vt:lpstr>
      <vt:lpstr>Étiquettes : chaque champ a un nom</vt:lpstr>
      <vt:lpstr>Placeholder ≠ étiquette</vt:lpstr>
      <vt:lpstr>Groupes de champs : l’étiquette commune</vt:lpstr>
      <vt:lpstr>Champs obligatoires : prévenir puis guider</vt:lpstr>
      <vt:lpstr>Ce qu’on remonte dans la grille</vt:lpstr>
      <vt:lpstr>Bonus site web : liens et PDF à repérer</vt:lpstr>
      <vt:lpstr>Votre mission : audit en binôme (30 min)</vt:lpstr>
      <vt:lpstr>Présentation PowerPoint</vt:lpstr>
      <vt:lpstr>Pourquoi l'accessibilité sur les réseaux ?</vt:lpstr>
      <vt:lpstr>Regardez ce tweet - qu'est-ce qui ne va pas ?</vt:lpstr>
      <vt:lpstr>Ce que vous voyez ≠ ce qui est lu</vt:lpstr>
      <vt:lpstr>3 changements, 0 perte de sens</vt:lpstr>
      <vt:lpstr>Démonstration NVDA - le lecteur d'écran en direct</vt:lpstr>
      <vt:lpstr>4 réflexes, puis une checklist complète</vt:lpstr>
      <vt:lpstr>Le texte alternatif : votre sous-titre d'image</vt:lpstr>
      <vt:lpstr>Comment rédiger un bon texte alternatif ?</vt:lpstr>
      <vt:lpstr>Alt text : où le trouver sur chaque plateforme ?</vt:lpstr>
      <vt:lpstr>Émojis : 3 règles simples</vt:lpstr>
      <vt:lpstr>Ce que ça donne avec trop d'émojis</vt:lpstr>
      <vt:lpstr>Hashtags : le CamelCase qui change tout</vt:lpstr>
      <vt:lpstr>Faux gras et caractères Unicode : le piège invisible</vt:lpstr>
      <vt:lpstr>Communication inclusive : les représentations comptent</vt:lpstr>
      <vt:lpstr>Représenter sans faire vitrine</vt:lpstr>
      <vt:lpstr>Langage inclusif : clarté d'abord</vt:lpstr>
      <vt:lpstr>Exercice en binôme : passez la checklist</vt:lpstr>
      <vt:lpstr>Checklist réseaux sociaux : anticiper (1/3)</vt:lpstr>
      <vt:lpstr>Checklist réseaux sociaux : rédiger (2/3)</vt:lpstr>
      <vt:lpstr>Checklist réseaux sociaux : publier (3/3)</vt:lpstr>
      <vt:lpstr>Quiz : vrai ou faux ?</vt:lpstr>
      <vt:lpstr>Que faites-vous demain matin ?</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alex</cp:lastModifiedBy>
  <cp:revision>15</cp:revision>
  <dcterms:created xsi:type="dcterms:W3CDTF">2020-03-06T09:47:41Z</dcterms:created>
  <dcterms:modified xsi:type="dcterms:W3CDTF">2026-05-16T13:45:12Z</dcterms:modified>
  <dc:language>fr-FR</dc:language>
</cp:coreProperties>
</file>