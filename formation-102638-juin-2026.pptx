
<file path=[Content_Types].xml><?xml version="1.0" encoding="utf-8"?>
<Types xmlns="http://schemas.openxmlformats.org/package/2006/content-types">
  <Default Extension="jpeg" ContentType="image/jpeg"/>
  <Default Extension="jp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handoutMasters/handoutMaster1.xml" ContentType="application/vnd.openxmlformats-officedocument.presentationml.handoutMaster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theme/theme2.xml" ContentType="application/vnd.openxmlformats-officedocument.theme+xml"/>
  <Override PartName="/ppt/theme/theme3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67" r:id="rId1"/>
  </p:sldMasterIdLst>
  <p:notesMasterIdLst>
    <p:notesMasterId r:id="rId18"/>
  </p:notesMasterIdLst>
  <p:handoutMasterIdLst>
    <p:handoutMasterId r:id="rId19"/>
  </p:handoutMasterIdLst>
  <p:sldIdLst>
    <p:sldId id="256" r:id="rId8"/>
  </p:sldIdLst>
  <p:sldSz cx="12191969" cy="6858000" type="screen16x9"/>
  <p:notesSz cx="6858000" cy="9144000"/>
  <p:defaultTextStyle>
    <a:defPPr>
      <a:defRPr lang="fr-FR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Exemple" id="{1B2C009F-958F-4730-953E-C3BCDF6DEDF4}">
          <p14:sldIdLst>
            <p14:sldId id="342"/>
            <p14:sldId id="335"/>
            <p14:sldId id="336"/>
            <p14:sldId id="337"/>
            <p14:sldId id="348"/>
            <p14:sldId id="344"/>
            <p14:sldId id="347"/>
          </p14:sldIdLst>
        </p14:section>
        <p14:section name="IGPDE" id="{0B896E98-F45E-4768-8620-EDDF394BE181}">
          <p14:sldIdLst>
            <p14:sldId id="332"/>
            <p14:sldId id="331"/>
            <p14:sldId id="327"/>
            <p14:sldId id="340"/>
            <p14:sldId id="329"/>
            <p14:sldId id="330"/>
          </p14:sldIdLst>
        </p14:section>
        <p14:section name="MÉTHODOLOGIE" id="{EB03BDE6-D677-4574-A7BF-9721F91BDEB8}">
          <p14:sldIdLst>
            <p14:sldId id="319"/>
            <p14:sldId id="323"/>
            <p14:sldId id="324"/>
          </p14:sldIdLst>
        </p14:section>
      </p14:sectionLst>
    </p:ext>
    <p:ext uri="{EFAFB233-063F-42B5-8137-9DF3F51BA10A}">
      <p15:sldGuideLst xmlns:p15="http://schemas.microsoft.com/office/powerpoint/2012/main">
        <p15:guide id="1" orient="horz" pos="1620">
          <p15:clr>
            <a:srgbClr val="A4A3A4"/>
          </p15:clr>
        </p15:guide>
        <p15:guide id="2" orient="horz" pos="191">
          <p15:clr>
            <a:srgbClr val="A4A3A4"/>
          </p15:clr>
        </p15:guide>
        <p15:guide id="3" orient="horz" pos="854">
          <p15:clr>
            <a:srgbClr val="A4A3A4"/>
          </p15:clr>
        </p15:guide>
        <p15:guide id="4" orient="horz" pos="821">
          <p15:clr>
            <a:srgbClr val="A4A3A4"/>
          </p15:clr>
        </p15:guide>
        <p15:guide id="5" orient="horz" pos="3049">
          <p15:clr>
            <a:srgbClr val="A4A3A4"/>
          </p15:clr>
        </p15:guide>
        <p15:guide id="6" orient="horz" pos="3151">
          <p15:clr>
            <a:srgbClr val="A4A3A4"/>
          </p15:clr>
        </p15:guide>
        <p15:guide id="7" pos="2880">
          <p15:clr>
            <a:srgbClr val="A4A3A4"/>
          </p15:clr>
        </p15:guide>
        <p15:guide id="8" pos="476">
          <p15:clr>
            <a:srgbClr val="A4A3A4"/>
          </p15:clr>
        </p15:guide>
        <p15:guide id="9" pos="5193">
          <p15:clr>
            <a:srgbClr val="A4A3A4"/>
          </p15:clr>
        </p15:guide>
        <p15:guide id="10" pos="5465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7984" autoAdjust="0"/>
    <p:restoredTop sz="96224" autoAdjust="0"/>
  </p:normalViewPr>
  <p:slideViewPr>
    <p:cSldViewPr showGuides="1">
      <p:cViewPr varScale="1">
        <p:scale>
          <a:sx n="135" d="100"/>
          <a:sy n="135" d="100"/>
        </p:scale>
        <p:origin x="120" y="114"/>
      </p:cViewPr>
      <p:guideLst>
        <p:guide orient="horz" pos="1620"/>
        <p:guide orient="horz" pos="191"/>
        <p:guide orient="horz" pos="854"/>
        <p:guide orient="horz" pos="821"/>
        <p:guide orient="horz" pos="3049"/>
        <p:guide orient="horz" pos="3151"/>
        <p:guide pos="2880"/>
        <p:guide pos="476"/>
        <p:guide pos="5193"/>
        <p:guide pos="5465"/>
      </p:guideLst>
    </p:cSldViewPr>
  </p:slideViewPr>
  <p:outlineViewPr>
    <p:cViewPr>
      <p:scale>
        <a:sx n="33" d="100"/>
        <a:sy n="33" d="100"/>
      </p:scale>
      <p:origin x="0" y="-2562"/>
    </p:cViewPr>
  </p:outlineViewPr>
  <p:notesTextViewPr>
    <p:cViewPr>
      <p:scale>
        <a:sx n="100" d="100"/>
        <a:sy n="100" d="100"/>
      </p:scale>
      <p:origin x="0" y="0"/>
    </p:cViewPr>
  </p:notesTextViewPr>
  <p:sorterViewPr>
    <p:cViewPr>
      <p:scale>
        <a:sx n="172" d="100"/>
        <a:sy n="172" d="100"/>
      </p:scale>
      <p:origin x="0" y="-3540"/>
    </p:cViewPr>
  </p:sorterViewPr>
  <p:notesViewPr>
    <p:cSldViewPr showGuides="1">
      <p:cViewPr varScale="1">
        <p:scale>
          <a:sx n="83" d="100"/>
          <a:sy n="83" d="100"/>
        </p:scale>
        <p:origin x="3132" y="84"/>
      </p:cViewPr>
      <p:guideLst/>
    </p:cSldViewPr>
  </p:notesViewPr>
  <p:gridSpacing cx="72008" cy="72008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8" Type="http://schemas.openxmlformats.org/officeDocument/2006/relationships/slide" Target="slides/slide1.xml"/><Relationship Id="rId18" Type="http://schemas.openxmlformats.org/officeDocument/2006/relationships/notesMaster" Target="notesMasters/notesMaster1.xml"/><Relationship Id="rId19" Type="http://schemas.openxmlformats.org/officeDocument/2006/relationships/handoutMaster" Target="handoutMasters/handoutMaster1.xml"/><Relationship Id="rId20" Type="http://schemas.openxmlformats.org/officeDocument/2006/relationships/presProps" Target="presProps.xml"/><Relationship Id="rId21" Type="http://schemas.openxmlformats.org/officeDocument/2006/relationships/viewProps" Target="viewProps.xml"/><Relationship Id="rId22" Type="http://schemas.openxmlformats.org/officeDocument/2006/relationships/theme" Target="theme/theme1.xml"/><Relationship Id="rId23" Type="http://schemas.openxmlformats.org/officeDocument/2006/relationships/tableStyles" Target="tableStyles.xml"/></Relationships>
</file>

<file path=ppt/handoutMasters/_rels/handout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3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quarter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DADB2658-7BE8-4FC5-8F36-ABC54AD38E15}" type="datetimeFigureOut">
              <a:rPr lang="fr-FR" smtClean="0"/>
              <a:t>06/09/2024</a:t>
            </a:fld>
            <a:endParaRPr lang="fr-FR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2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fr-FR"/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3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823471C-61B7-441C-A48C-C1E234DDF525}" type="slidenum">
              <a:rPr lang="fr-FR" smtClean="0"/>
              <a:t>‹N°›</a:t>
            </a:fld>
            <a:endParaRPr lang="fr-FR"/>
          </a:p>
        </p:txBody>
      </p:sp>
    </p:spTree>
    <p:extLst>
      <p:ext uri="{BB962C8B-B14F-4D97-AF65-F5344CB8AC3E}">
        <p14:creationId xmlns:p14="http://schemas.microsoft.com/office/powerpoint/2010/main" val="2306693801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e l'en-tête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3" name="Espace réservé de la date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D680E798-53FF-4C51-A981-953463752515}" type="datetimeFigureOut">
              <a:rPr lang="fr-FR" smtClean="0"/>
              <a:pPr/>
              <a:t>06/09/2024</a:t>
            </a:fld>
            <a:endParaRPr lang="fr-FR" dirty="0"/>
          </a:p>
        </p:txBody>
      </p:sp>
      <p:sp>
        <p:nvSpPr>
          <p:cNvPr id="4" name="Espace réservé de l'image des diapositives 3"/>
          <p:cNvSpPr>
            <a:spLocks noGrp="1" noRot="1" noChangeAspect="1"/>
          </p:cNvSpPr>
          <p:nvPr>
            <p:ph type="sldImg" idx="2"/>
          </p:nvPr>
        </p:nvSpPr>
        <p:spPr>
          <a:xfrm>
            <a:off x="381000" y="685800"/>
            <a:ext cx="6096000" cy="34290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fr-FR" dirty="0"/>
          </a:p>
        </p:txBody>
      </p:sp>
      <p:sp>
        <p:nvSpPr>
          <p:cNvPr id="5" name="Espace réservé des commentaires 4"/>
          <p:cNvSpPr>
            <a:spLocks noGrp="1"/>
          </p:cNvSpPr>
          <p:nvPr>
            <p:ph type="body" sz="quarter" idx="3"/>
          </p:nvPr>
        </p:nvSpPr>
        <p:spPr>
          <a:xfrm>
            <a:off x="685800" y="4343400"/>
            <a:ext cx="5486400" cy="41148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fr-FR" dirty="0"/>
              <a:t>Cliquez pour modifier les styles du texte du masque</a:t>
            </a:r>
          </a:p>
          <a:p>
            <a:pPr lvl="1"/>
            <a:r>
              <a:rPr lang="fr-FR" dirty="0"/>
              <a:t>Deuxième niveau</a:t>
            </a:r>
          </a:p>
          <a:p>
            <a:pPr lvl="2"/>
            <a:r>
              <a:rPr lang="fr-FR" dirty="0"/>
              <a:t>Troisième niveau</a:t>
            </a:r>
          </a:p>
          <a:p>
            <a:pPr lvl="3"/>
            <a:r>
              <a:rPr lang="fr-FR" dirty="0"/>
              <a:t>Quatrième niveau</a:t>
            </a:r>
          </a:p>
          <a:p>
            <a:pPr lvl="4"/>
            <a:r>
              <a:rPr lang="fr-FR" dirty="0"/>
              <a:t>Cinquième niveau</a:t>
            </a:r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>
                <a:latin typeface="Arial" pitchFamily="34" charset="0"/>
              </a:defRPr>
            </a:lvl1pPr>
          </a:lstStyle>
          <a:p>
            <a:endParaRPr lang="fr-FR" dirty="0"/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7200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>
                <a:latin typeface="Arial" pitchFamily="34" charset="0"/>
              </a:defRPr>
            </a:lvl1pPr>
          </a:lstStyle>
          <a:p>
            <a:fld id="{1B06CD8F-B7ED-4A05-9FB1-A01CC0EF02CC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411662696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Arial" pitchFamily="34" charset="0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notesSlide1.xml><?xml version="1.0" encoding="utf-8"?>
<p:notes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3" sz="quarter"/>
          </p:nvPr>
        </p:nvSpPr>
        <p:spPr/>
        <p:txBody>
          <a:bodyPr/>
          <a:lstStyle/>
          <a:p>
            <a:r>
              <a:rPr lang="fr-FR"/>
              <a:t>Quiz à main levée - poser chaque question, laisser les réponses s'exprimer avant de révéler.</a:t>
            </a:r>
          </a:p>
          <a:p>
            <a:r>
              <a:rPr lang="fr-FR"/>
              <a:t>La slide doit rester une slide-question, sans correction visible.</a:t>
            </a:r>
          </a:p>
          <a:p>
            <a:r>
              <a:rPr lang="fr-FR"/>
              <a:t>Interleaving (R14 neuropédagogie) : les 4 questions couvrent la rédaction, les alternatives, les QR codes et la communication inclusive.</a:t>
            </a:r>
          </a:p>
          <a:p>
            <a:r>
              <a:rPr lang="fr-FR"/>
              <a:t>Si des stagiaires se trompent sur Q3 (alt vide) : c'est normal, c'est le point le plus contre-intuitif.</a:t>
            </a:r>
          </a:p>
          <a:p>
            <a:r>
              <a:rPr lang="fr-FR"/>
              <a:t>Prendre 1 minute pour expliquer la distinction image décorative vs informative.</a:t>
            </a:r>
          </a:p>
          <a:p>
            <a:r>
              <a:rPr lang="fr-FR"/>
              <a:t>Pour Q2, rappeler que le QR code aide, mais ne peut jamais être le seul accès.</a:t>
            </a:r>
          </a:p>
          <a:p>
            <a:r>
              <a:rPr lang="fr-FR"/>
              <a:t>Pour Q4, rappeler qu'une représentation inclusive doit être cohérente avec les espaces, événements et pratiques réels.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 sz="quarter"/>
          </p:nvPr>
        </p:nvSpPr>
        <p:spPr/>
      </p:sp>
    </p:spTree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jpg"/><Relationship Id="rId3" Type="http://schemas.openxmlformats.org/officeDocument/2006/relationships/image" Target="../media/image3.png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Couver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Espace réservé de la date 3"/>
          <p:cNvSpPr>
            <a:spLocks noGrp="1"/>
          </p:cNvSpPr>
          <p:nvPr>
            <p:ph type="dt" sz="half" idx="10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/>
              <a:t>XX/XX/XXXX</a:t>
            </a:r>
            <a:endParaRPr lang="fr-FR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11"/>
          </p:nvPr>
        </p:nvSpPr>
        <p:spPr bwMode="gray">
          <a:xfrm>
            <a:off x="959997" y="5226516"/>
            <a:ext cx="4319989" cy="1199997"/>
          </a:xfrm>
        </p:spPr>
        <p:txBody>
          <a:bodyPr anchor="b" anchorCtr="0"/>
          <a:lstStyle>
            <a:lvl1pPr>
              <a:defRPr sz="1150"/>
            </a:lvl1pPr>
          </a:lstStyle>
          <a:p>
            <a:r>
              <a:rPr lang="fr-FR" dirty="0"/>
              <a:t>Institut de la Gestion publique </a:t>
            </a:r>
            <a:br>
              <a:rPr lang="fr-FR" dirty="0"/>
            </a:br>
            <a:r>
              <a:rPr lang="fr-FR" dirty="0"/>
              <a:t>et du Développement économique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12"/>
          </p:nvPr>
        </p:nvSpPr>
        <p:spPr bwMode="gray">
          <a:xfrm>
            <a:off x="0" y="6617983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fld id="{10C140CD-8AED-46FF-A9A2-77308F3F39AE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pic>
        <p:nvPicPr>
          <p:cNvPr id="8" name="Image 7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431369" y="260647"/>
            <a:ext cx="4579487" cy="4149096"/>
          </a:xfrm>
          <a:prstGeom prst="rect">
            <a:avLst/>
          </a:prstGeom>
        </p:spPr>
      </p:pic>
      <p:pic>
        <p:nvPicPr>
          <p:cNvPr id="9" name="Image 8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78299" y="776635"/>
            <a:ext cx="3132658" cy="3132658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432610956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  <p15:guide id="3" orient="horz" pos="386" userDrawn="1">
          <p15:clr>
            <a:srgbClr val="FBAE40"/>
          </p15:clr>
        </p15:guide>
        <p15:guide id="4" pos="443" userDrawn="1">
          <p15:clr>
            <a:srgbClr val="FBAE40"/>
          </p15:clr>
        </p15:guide>
        <p15:guide id="5" orient="horz" pos="3038" userDrawn="1">
          <p15:clr>
            <a:srgbClr val="FBAE40"/>
          </p15:clr>
        </p15:guide>
      </p15:sldGuideLst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showMasterSp="0" preserve="1" userDrawn="1">
  <p:cSld name="Titre et sous-t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" name="Titre 6"/>
          <p:cNvSpPr>
            <a:spLocks noGrp="1"/>
          </p:cNvSpPr>
          <p:nvPr>
            <p:ph type="title" hasCustomPrompt="1"/>
          </p:nvPr>
        </p:nvSpPr>
        <p:spPr bwMode="gray">
          <a:xfrm>
            <a:off x="0" y="0"/>
            <a:ext cx="239999" cy="239999"/>
          </a:xfrm>
          <a:ln>
            <a:solidFill>
              <a:schemeClr val="tx1">
                <a:alpha val="0"/>
              </a:schemeClr>
            </a:solidFill>
          </a:ln>
        </p:spPr>
        <p:txBody>
          <a:bodyPr/>
          <a:lstStyle>
            <a:lvl1pPr>
              <a:defRPr sz="100">
                <a:solidFill>
                  <a:schemeClr val="tx1">
                    <a:alpha val="0"/>
                  </a:schemeClr>
                </a:solidFill>
              </a:defRPr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2" name="Espace réservé de la date 1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8" name="Espace réservé du numéro de diapositive 7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1" name="Espace réservé du texte 10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8" y="3128053"/>
            <a:ext cx="11231971" cy="2769593"/>
          </a:xfrm>
        </p:spPr>
        <p:txBody>
          <a:bodyPr/>
          <a:lstStyle>
            <a:lvl1pPr>
              <a:lnSpc>
                <a:spcPct val="90000"/>
              </a:lnSpc>
              <a:spcAft>
                <a:spcPts val="0"/>
              </a:spcAft>
              <a:defRPr sz="3250" b="1" cap="all" baseline="0"/>
            </a:lvl1pPr>
            <a:lvl2pPr marL="0" indent="0">
              <a:spcBef>
                <a:spcPts val="500"/>
              </a:spcBef>
              <a:spcAft>
                <a:spcPts val="0"/>
              </a:spcAft>
              <a:buNone/>
              <a:defRPr sz="18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cxnSp>
        <p:nvCxnSpPr>
          <p:cNvPr id="12" name="Connecteur droit 11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2227" y="212775"/>
            <a:ext cx="2143038" cy="1941631"/>
          </a:xfrm>
          <a:prstGeom prst="rect">
            <a:avLst/>
          </a:prstGeom>
        </p:spPr>
      </p:pic>
      <p:pic>
        <p:nvPicPr>
          <p:cNvPr id="10" name="Image 9"/>
          <p:cNvPicPr>
            <a:picLocks noChangeAspect="1"/>
          </p:cNvPicPr>
          <p:nvPr userDrawn="1"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0204467" y="465665"/>
            <a:ext cx="1464915" cy="1464915"/>
          </a:xfrm>
          <a:prstGeom prst="rect">
            <a:avLst/>
          </a:prstGeom>
        </p:spPr>
      </p:pic>
      <p:sp>
        <p:nvSpPr>
          <p:cNvPr id="13" name="Espace réservé du pied de page 4">
            <a:extLst>
              <a:ext uri="{FF2B5EF4-FFF2-40B4-BE49-F238E27FC236}">
                <a16:creationId xmlns:a16="http://schemas.microsoft.com/office/drawing/2014/main" id="{1877CCD8-58D1-4121-82F0-FFD6288F90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</a:t>
            </a:r>
          </a:p>
        </p:txBody>
      </p:sp>
    </p:spTree>
    <p:extLst>
      <p:ext uri="{BB962C8B-B14F-4D97-AF65-F5344CB8AC3E}">
        <p14:creationId xmlns:p14="http://schemas.microsoft.com/office/powerpoint/2010/main" val="348390452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Sommai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8" name="Espace réservé du texte 7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79996" y="2522617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9" name="Espace réservé du texte 7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415988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  <p:sp>
        <p:nvSpPr>
          <p:cNvPr id="10" name="Espace réservé du texte 7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8351977" y="2524793"/>
            <a:ext cx="3359991" cy="3374391"/>
          </a:xfrm>
        </p:spPr>
        <p:txBody>
          <a:bodyPr/>
          <a:lstStyle>
            <a:lvl1pPr marL="144000" indent="-144000">
              <a:spcBef>
                <a:spcPts val="400"/>
              </a:spcBef>
              <a:spcAft>
                <a:spcPts val="800"/>
              </a:spcAft>
              <a:buFont typeface="+mj-lt"/>
              <a:buAutoNum type="arabicPeriod"/>
              <a:defRPr b="1"/>
            </a:lvl1pPr>
            <a:lvl2pPr marL="324000" indent="-144000">
              <a:spcBef>
                <a:spcPts val="600"/>
              </a:spcBef>
              <a:spcAft>
                <a:spcPts val="800"/>
              </a:spcAft>
              <a:buFont typeface="+mj-lt"/>
              <a:buAutoNum type="alphaLcPeriod"/>
              <a:defRPr/>
            </a:lvl2pPr>
          </a:lstStyle>
          <a:p>
            <a:pPr lvl="0"/>
            <a:r>
              <a:rPr lang="fr-FR" dirty="0"/>
              <a:t>Titre de la partie</a:t>
            </a:r>
          </a:p>
          <a:p>
            <a:pPr lvl="1"/>
            <a:r>
              <a:rPr lang="fr-FR" dirty="0"/>
              <a:t>Deuxième niveau</a:t>
            </a:r>
          </a:p>
        </p:txBody>
      </p:sp>
    </p:spTree>
    <p:extLst>
      <p:ext uri="{BB962C8B-B14F-4D97-AF65-F5344CB8AC3E}">
        <p14:creationId xmlns:p14="http://schemas.microsoft.com/office/powerpoint/2010/main" val="164103043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Chapit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" name="Espace réservé pour une image  7"/>
          <p:cNvSpPr>
            <a:spLocks noGrp="1"/>
          </p:cNvSpPr>
          <p:nvPr>
            <p:ph type="pic" sz="quarter" idx="13" hasCustomPrompt="1"/>
          </p:nvPr>
        </p:nvSpPr>
        <p:spPr bwMode="gray">
          <a:xfrm>
            <a:off x="0" y="983997"/>
            <a:ext cx="12191969" cy="5875185"/>
          </a:xfrm>
          <a:solidFill>
            <a:schemeClr val="bg1">
              <a:lumMod val="85000"/>
            </a:schemeClr>
          </a:solidFill>
        </p:spPr>
        <p:txBody>
          <a:bodyPr tIns="1080000" anchor="ctr" anchorCtr="0"/>
          <a:lstStyle>
            <a:lvl1pPr algn="ctr">
              <a:defRPr cap="all" baseline="0"/>
            </a:lvl1pPr>
          </a:lstStyle>
          <a:p>
            <a:r>
              <a:rPr lang="fr-FR" dirty="0"/>
              <a:t>Sélectionner l’icône pour insérer une image, </a:t>
            </a:r>
            <a:br>
              <a:rPr lang="fr-FR" dirty="0"/>
            </a:br>
            <a:r>
              <a:rPr lang="fr-FR" dirty="0"/>
              <a:t>puis disposer l’image en arrière plan </a:t>
            </a:r>
            <a:br>
              <a:rPr lang="fr-FR" dirty="0"/>
            </a:br>
            <a:r>
              <a:rPr lang="fr-FR" dirty="0"/>
              <a:t>(Sélectionner l’image avec le bouton droit de la souris / </a:t>
            </a:r>
            <a:br>
              <a:rPr lang="fr-FR" dirty="0"/>
            </a:br>
            <a:r>
              <a:rPr lang="fr-FR" dirty="0"/>
              <a:t>Mettre à l’arrière plan)</a:t>
            </a:r>
          </a:p>
        </p:txBody>
      </p:sp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983997"/>
            <a:ext cx="11231971" cy="5395186"/>
          </a:xfrm>
          <a:custGeom>
            <a:avLst/>
            <a:gdLst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8424000 w 8424000"/>
              <a:gd name="connsiteY2" fmla="*/ 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  <a:gd name="connsiteX2" fmla="*/ 0 w 8424000"/>
              <a:gd name="connsiteY2" fmla="*/ 40 h 4046400"/>
              <a:gd name="connsiteX3" fmla="*/ 8424000 w 8424000"/>
              <a:gd name="connsiteY3" fmla="*/ 0 h 4046400"/>
              <a:gd name="connsiteX4" fmla="*/ 8424000 w 8424000"/>
              <a:gd name="connsiteY4" fmla="*/ 4046400 h 4046400"/>
              <a:gd name="connsiteX0" fmla="*/ 8424000 w 8424000"/>
              <a:gd name="connsiteY0" fmla="*/ 4046400 h 4046400"/>
              <a:gd name="connsiteX1" fmla="*/ 0 w 8424000"/>
              <a:gd name="connsiteY1" fmla="*/ 4046360 h 4046400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</a:cxnLst>
            <a:rect l="l" t="t" r="r" b="b"/>
            <a:pathLst>
              <a:path w="8424000" h="4046400" stroke="0" extrusionOk="0">
                <a:moveTo>
                  <a:pt x="8424000" y="4046400"/>
                </a:moveTo>
                <a:lnTo>
                  <a:pt x="0" y="4046360"/>
                </a:lnTo>
                <a:lnTo>
                  <a:pt x="0" y="40"/>
                </a:lnTo>
                <a:cubicBezTo>
                  <a:pt x="0" y="18"/>
                  <a:pt x="3771553" y="0"/>
                  <a:pt x="8424000" y="0"/>
                </a:cubicBezTo>
                <a:lnTo>
                  <a:pt x="8424000" y="4046400"/>
                </a:lnTo>
                <a:close/>
              </a:path>
              <a:path w="8424000" h="4046400" fill="none">
                <a:moveTo>
                  <a:pt x="8424000" y="4046400"/>
                </a:moveTo>
                <a:lnTo>
                  <a:pt x="0" y="4046360"/>
                </a:lnTo>
              </a:path>
            </a:pathLst>
          </a:custGeom>
          <a:ln w="10160">
            <a:solidFill>
              <a:schemeClr val="tx1"/>
            </a:solidFill>
          </a:ln>
        </p:spPr>
        <p:txBody>
          <a:bodyPr lIns="0" bIns="360000" anchor="ctr" anchorCtr="0"/>
          <a:lstStyle>
            <a:lvl1pPr marL="396000" indent="-396000">
              <a:buFont typeface="+mj-lt"/>
              <a:buAutoNum type="arabicPeriod"/>
              <a:defRPr sz="3250"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</p:spTree>
    <p:extLst>
      <p:ext uri="{BB962C8B-B14F-4D97-AF65-F5344CB8AC3E}">
        <p14:creationId xmlns:p14="http://schemas.microsoft.com/office/powerpoint/2010/main" val="1908596888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 userDrawn="1">
  <p:cSld name="Titre et textes 3 colonnes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re 1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>
            <a:lvl1pPr>
              <a:defRPr/>
            </a:lvl1pPr>
          </a:lstStyle>
          <a:p>
            <a:r>
              <a:rPr lang="fr-FR" dirty="0"/>
              <a:t>Titre</a:t>
            </a:r>
          </a:p>
        </p:txBody>
      </p:sp>
      <p:sp>
        <p:nvSpPr>
          <p:cNvPr id="3" name="Espace réservé de la date 2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4" name="Espace réservé du pied de page 3"/>
          <p:cNvSpPr>
            <a:spLocks noGrp="1"/>
          </p:cNvSpPr>
          <p:nvPr>
            <p:ph type="ftr" sz="quarter" idx="11"/>
          </p:nvPr>
        </p:nvSpPr>
        <p:spPr bwMode="gray"/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5" name="Espace réservé du numéro de diapositive 4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10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  <p:sp>
        <p:nvSpPr>
          <p:cNvPr id="12" name="Espace réservé du texte 11"/>
          <p:cNvSpPr>
            <a:spLocks noGrp="1"/>
          </p:cNvSpPr>
          <p:nvPr>
            <p:ph type="body" sz="quarter" idx="14" hasCustomPrompt="1"/>
          </p:nvPr>
        </p:nvSpPr>
        <p:spPr bwMode="gray">
          <a:xfrm>
            <a:off x="479997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3" name="Espace réservé du texte 11"/>
          <p:cNvSpPr>
            <a:spLocks noGrp="1"/>
          </p:cNvSpPr>
          <p:nvPr>
            <p:ph type="body" sz="quarter" idx="15" hasCustomPrompt="1"/>
          </p:nvPr>
        </p:nvSpPr>
        <p:spPr bwMode="gray">
          <a:xfrm>
            <a:off x="4415988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4" name="Espace réservé du texte 11"/>
          <p:cNvSpPr>
            <a:spLocks noGrp="1"/>
          </p:cNvSpPr>
          <p:nvPr>
            <p:ph type="body" sz="quarter" idx="16" hasCustomPrompt="1"/>
          </p:nvPr>
        </p:nvSpPr>
        <p:spPr bwMode="gray">
          <a:xfrm>
            <a:off x="8351979" y="2447993"/>
            <a:ext cx="335999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 baseline="0"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</p:spTree>
    <p:extLst>
      <p:ext uri="{BB962C8B-B14F-4D97-AF65-F5344CB8AC3E}">
        <p14:creationId xmlns:p14="http://schemas.microsoft.com/office/powerpoint/2010/main" val="3840454991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Titre et contenu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re 3"/>
          <p:cNvSpPr>
            <a:spLocks noGrp="1"/>
          </p:cNvSpPr>
          <p:nvPr>
            <p:ph type="title" hasCustomPrompt="1"/>
          </p:nvPr>
        </p:nvSpPr>
        <p:spPr bwMode="gray">
          <a:xfrm>
            <a:off x="479997" y="1199997"/>
            <a:ext cx="11231971" cy="959997"/>
          </a:xfrm>
        </p:spPr>
        <p:txBody>
          <a:bodyPr/>
          <a:lstStyle/>
          <a:p>
            <a:r>
              <a:rPr lang="fr-FR" noProof="0" dirty="0"/>
              <a:t>Titre</a:t>
            </a:r>
            <a:endParaRPr lang="fr-FR" dirty="0"/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/>
          <a:lstStyle/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/>
          <a:lstStyle/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/>
          <a:lstStyle/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sp>
        <p:nvSpPr>
          <p:cNvPr id="9" name="Espace réservé du contenu 8"/>
          <p:cNvSpPr>
            <a:spLocks noGrp="1"/>
          </p:cNvSpPr>
          <p:nvPr>
            <p:ph sz="quarter" idx="14" hasCustomPrompt="1"/>
          </p:nvPr>
        </p:nvSpPr>
        <p:spPr bwMode="gray">
          <a:xfrm>
            <a:off x="479996" y="2447993"/>
            <a:ext cx="11231971" cy="3431991"/>
          </a:xfrm>
        </p:spPr>
        <p:txBody>
          <a:bodyPr/>
          <a:lstStyle>
            <a:lvl1pPr>
              <a:defRPr/>
            </a:lvl1pPr>
            <a:lvl2pPr>
              <a:defRPr/>
            </a:lvl2pPr>
            <a:lvl3pPr>
              <a:defRPr/>
            </a:lvl3pPr>
            <a:lvl4pPr>
              <a:defRPr/>
            </a:lvl4pPr>
            <a:lvl5pPr>
              <a:defRPr/>
            </a:lvl5pPr>
          </a:lstStyle>
          <a:p>
            <a:pPr lvl="0"/>
            <a:r>
              <a:rPr lang="fr-FR" dirty="0"/>
              <a:t>Texte de niveau 1</a:t>
            </a:r>
          </a:p>
          <a:p>
            <a:pPr lvl="1"/>
            <a:r>
              <a:rPr lang="fr-FR" dirty="0"/>
              <a:t>Texte de niveau 2</a:t>
            </a:r>
          </a:p>
          <a:p>
            <a:pPr lvl="2"/>
            <a:r>
              <a:rPr lang="fr-FR" dirty="0"/>
              <a:t>Texte de niveau 3</a:t>
            </a:r>
          </a:p>
          <a:p>
            <a:pPr lvl="3"/>
            <a:r>
              <a:rPr lang="fr-FR" dirty="0"/>
              <a:t>Texte de niveau 4</a:t>
            </a:r>
          </a:p>
          <a:p>
            <a:pPr lvl="4"/>
            <a:r>
              <a:rPr lang="fr-FR" dirty="0"/>
              <a:t>Texte de niveau 5</a:t>
            </a:r>
          </a:p>
        </p:txBody>
      </p:sp>
      <p:sp>
        <p:nvSpPr>
          <p:cNvPr id="15" name="Espace réservé du texte 9"/>
          <p:cNvSpPr>
            <a:spLocks noGrp="1"/>
          </p:cNvSpPr>
          <p:nvPr>
            <p:ph type="body" sz="quarter" idx="13" hasCustomPrompt="1"/>
          </p:nvPr>
        </p:nvSpPr>
        <p:spPr bwMode="gray">
          <a:xfrm>
            <a:off x="4415988" y="239999"/>
            <a:ext cx="7295981" cy="479998"/>
          </a:xfrm>
        </p:spPr>
        <p:txBody>
          <a:bodyPr/>
          <a:lstStyle>
            <a:lvl1pPr marL="108000" indent="-108000" algn="r">
              <a:spcAft>
                <a:spcPts val="0"/>
              </a:spcAft>
              <a:buFont typeface="+mj-lt"/>
              <a:buAutoNum type="arabicPeriod"/>
              <a:defRPr sz="750" b="1"/>
            </a:lvl1pPr>
            <a:lvl2pPr marL="108000" indent="-108000" algn="r">
              <a:spcBef>
                <a:spcPts val="0"/>
              </a:spcBef>
              <a:spcAft>
                <a:spcPts val="0"/>
              </a:spcAft>
              <a:buFont typeface="+mj-lt"/>
              <a:buAutoNum type="alphaLcPeriod"/>
              <a:defRPr sz="750"/>
            </a:lvl2pPr>
          </a:lstStyle>
          <a:p>
            <a:pPr lvl="0"/>
            <a:r>
              <a:rPr lang="fr-FR" dirty="0"/>
              <a:t>Titre</a:t>
            </a:r>
          </a:p>
          <a:p>
            <a:pPr lvl="1"/>
            <a:r>
              <a:rPr lang="fr-FR" dirty="0"/>
              <a:t>Sous-titre</a:t>
            </a:r>
          </a:p>
        </p:txBody>
      </p:sp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theme" Target="../theme/theme1.xml"/><Relationship Id="rId8" Type="http://schemas.openxmlformats.org/officeDocument/2006/relationships/image" Target="../media/image1.jpg"/><Relationship Id="rId9" Type="http://schemas.openxmlformats.org/officeDocument/2006/relationships/image" Target="../media/image2.jpg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Espace réservé du titre 1"/>
          <p:cNvSpPr>
            <a:spLocks noGrp="1"/>
          </p:cNvSpPr>
          <p:nvPr>
            <p:ph type="title"/>
          </p:nvPr>
        </p:nvSpPr>
        <p:spPr bwMode="gray">
          <a:xfrm>
            <a:off x="479997" y="1199997"/>
            <a:ext cx="11231971" cy="959997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r>
              <a:rPr lang="fr-FR" noProof="0" dirty="0"/>
              <a:t>Titre</a:t>
            </a:r>
          </a:p>
        </p:txBody>
      </p:sp>
      <p:sp>
        <p:nvSpPr>
          <p:cNvPr id="3" name="Espace réservé du texte 2"/>
          <p:cNvSpPr>
            <a:spLocks noGrp="1"/>
          </p:cNvSpPr>
          <p:nvPr>
            <p:ph type="body" idx="1"/>
          </p:nvPr>
        </p:nvSpPr>
        <p:spPr bwMode="gray">
          <a:xfrm>
            <a:off x="479997" y="2447993"/>
            <a:ext cx="11231971" cy="3431991"/>
          </a:xfrm>
          <a:prstGeom prst="rect">
            <a:avLst/>
          </a:prstGeom>
        </p:spPr>
        <p:txBody>
          <a:bodyPr vert="horz" lIns="0" tIns="0" rIns="0" bIns="0" rtlCol="0" anchor="t" anchorCtr="0">
            <a:noAutofit/>
          </a:bodyPr>
          <a:lstStyle/>
          <a:p>
            <a:pPr lvl="0"/>
            <a:r>
              <a:rPr lang="fr-FR" noProof="0" dirty="0"/>
              <a:t>Texte de niveau 1</a:t>
            </a:r>
          </a:p>
          <a:p>
            <a:pPr lvl="1"/>
            <a:r>
              <a:rPr lang="fr-FR" noProof="0" dirty="0"/>
              <a:t>Texte de niveau 2</a:t>
            </a:r>
          </a:p>
          <a:p>
            <a:pPr lvl="2"/>
            <a:r>
              <a:rPr lang="fr-FR" noProof="0" dirty="0"/>
              <a:t>Texte de niveau 3</a:t>
            </a:r>
          </a:p>
          <a:p>
            <a:pPr lvl="3"/>
            <a:r>
              <a:rPr lang="fr-FR" noProof="0" dirty="0"/>
              <a:t>Texte de niveau 4</a:t>
            </a:r>
          </a:p>
          <a:p>
            <a:pPr lvl="4"/>
            <a:r>
              <a:rPr lang="fr-FR" noProof="0" dirty="0"/>
              <a:t>Texte de niveau 5</a:t>
            </a:r>
          </a:p>
        </p:txBody>
      </p:sp>
      <p:sp>
        <p:nvSpPr>
          <p:cNvPr id="4" name="Espace réservé de la date 3"/>
          <p:cNvSpPr>
            <a:spLocks noGrp="1"/>
          </p:cNvSpPr>
          <p:nvPr>
            <p:ph type="dt" sz="half" idx="2"/>
          </p:nvPr>
        </p:nvSpPr>
        <p:spPr bwMode="gray">
          <a:xfrm>
            <a:off x="10151974" y="6377984"/>
            <a:ext cx="1559996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ctr">
              <a:defRPr sz="750" b="1">
                <a:solidFill>
                  <a:schemeClr val="tx1"/>
                </a:solidFill>
              </a:defRPr>
            </a:lvl1pPr>
          </a:lstStyle>
          <a:p>
            <a:pPr algn="r"/>
            <a:r>
              <a:rPr lang="fr-FR" cap="all"/>
              <a:t>XX/XX/XXXX</a:t>
            </a:r>
            <a:endParaRPr lang="fr-FR" cap="all" dirty="0"/>
          </a:p>
        </p:txBody>
      </p:sp>
      <p:sp>
        <p:nvSpPr>
          <p:cNvPr id="5" name="Espace réservé du pied de page 4"/>
          <p:cNvSpPr>
            <a:spLocks noGrp="1"/>
          </p:cNvSpPr>
          <p:nvPr>
            <p:ph type="ftr" sz="quarter" idx="3"/>
          </p:nvPr>
        </p:nvSpPr>
        <p:spPr bwMode="gray">
          <a:xfrm>
            <a:off x="479998" y="6377984"/>
            <a:ext cx="7871980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l">
              <a:defRPr sz="750" b="1">
                <a:solidFill>
                  <a:schemeClr val="tx1"/>
                </a:solidFill>
              </a:defRPr>
            </a:lvl1pPr>
          </a:lstStyle>
          <a:p>
            <a:r>
              <a:rPr lang="fr-FR" dirty="0"/>
              <a:t>Institut de la Gestion publique et du Développement économique / titre du diaporama</a:t>
            </a:r>
          </a:p>
        </p:txBody>
      </p:sp>
      <p:sp>
        <p:nvSpPr>
          <p:cNvPr id="6" name="Espace réservé du numéro de diapositive 5"/>
          <p:cNvSpPr>
            <a:spLocks noGrp="1"/>
          </p:cNvSpPr>
          <p:nvPr>
            <p:ph type="sldNum" sz="quarter" idx="4"/>
          </p:nvPr>
        </p:nvSpPr>
        <p:spPr bwMode="gray">
          <a:xfrm>
            <a:off x="8351979" y="6377984"/>
            <a:ext cx="1799995" cy="479998"/>
          </a:xfrm>
          <a:prstGeom prst="rect">
            <a:avLst/>
          </a:prstGeom>
        </p:spPr>
        <p:txBody>
          <a:bodyPr vert="horz" lIns="0" tIns="0" rIns="0" bIns="0" rtlCol="0" anchor="ctr" anchorCtr="0">
            <a:noAutofit/>
          </a:bodyPr>
          <a:lstStyle>
            <a:lvl1pPr algn="r">
              <a:defRPr sz="750" b="1">
                <a:solidFill>
                  <a:schemeClr val="tx1"/>
                </a:solidFill>
              </a:defRPr>
            </a:lvl1pPr>
          </a:lstStyle>
          <a:p>
            <a:fld id="{733122C9-A0B9-462F-8757-0847AD287B63}" type="slidenum">
              <a:rPr lang="fr-FR" smtClean="0"/>
              <a:pPr/>
              <a:t>‹N°›</a:t>
            </a:fld>
            <a:endParaRPr lang="fr-FR" dirty="0"/>
          </a:p>
        </p:txBody>
      </p:sp>
      <p:cxnSp>
        <p:nvCxnSpPr>
          <p:cNvPr id="10" name="Connecteur droit 9"/>
          <p:cNvCxnSpPr/>
          <p:nvPr userDrawn="1"/>
        </p:nvCxnSpPr>
        <p:spPr bwMode="gray">
          <a:xfrm>
            <a:off x="479998" y="6379184"/>
            <a:ext cx="11231971" cy="0"/>
          </a:xfrm>
          <a:prstGeom prst="line">
            <a:avLst/>
          </a:prstGeom>
          <a:ln w="10160">
            <a:solidFill>
              <a:schemeClr val="tx1"/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Image 8"/>
          <p:cNvPicPr>
            <a:picLocks noChangeAspect="1"/>
          </p:cNvPicPr>
          <p:nvPr userDrawn="1"/>
        </p:nvPicPr>
        <p:blipFill>
          <a:blip r:embed="rId8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385976" y="147038"/>
            <a:ext cx="737074" cy="667800"/>
          </a:xfrm>
          <a:prstGeom prst="rect">
            <a:avLst/>
          </a:prstGeom>
        </p:spPr>
      </p:pic>
      <p:pic>
        <p:nvPicPr>
          <p:cNvPr id="11" name="Image 10"/>
          <p:cNvPicPr>
            <a:picLocks noChangeAspect="1"/>
          </p:cNvPicPr>
          <p:nvPr userDrawn="1"/>
        </p:nvPicPr>
        <p:blipFill>
          <a:blip r:embed="rId9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533961" y="243271"/>
            <a:ext cx="477928" cy="477928"/>
          </a:xfrm>
          <a:prstGeom prst="rect">
            <a:avLst/>
          </a:prstGeom>
        </p:spPr>
      </p:pic>
    </p:spTree>
  </p:cSld>
  <p:clrMap bg1="lt1" tx1="dk1" bg2="lt2" tx2="dk2" accent1="accent1" accent2="accent2" accent3="accent3" accent4="accent4" accent5="accent5" accent6="accent6" hlink="hlink" folHlink="folHlink"/>
  <p:sldLayoutIdLst>
    <p:sldLayoutId id="2147483808" r:id="rId1"/>
    <p:sldLayoutId id="2147483812" r:id="rId2"/>
    <p:sldLayoutId id="2147483810" r:id="rId3"/>
    <p:sldLayoutId id="2147483811" r:id="rId4"/>
    <p:sldLayoutId id="2147483809" r:id="rId5"/>
    <p:sldLayoutId id="2147483798" r:id="rId6"/>
  </p:sldLayoutIdLst>
  <p:hf hdr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255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00000"/>
        </a:lnSpc>
        <a:spcBef>
          <a:spcPts val="0"/>
        </a:spcBef>
        <a:spcAft>
          <a:spcPts val="500"/>
        </a:spcAft>
        <a:buFont typeface="Arial" pitchFamily="34" charset="0"/>
        <a:buNone/>
        <a:defRPr sz="1050" b="0" kern="1200">
          <a:solidFill>
            <a:schemeClr val="tx1"/>
          </a:solidFill>
          <a:latin typeface="+mn-lt"/>
          <a:ea typeface="+mn-ea"/>
          <a:cs typeface="+mn-cs"/>
        </a:defRPr>
      </a:lvl1pPr>
      <a:lvl2pPr marL="252000" indent="-72000" algn="l" defTabSz="914400" rtl="0" eaLnBrk="1" latinLnBrk="0" hangingPunct="1">
        <a:lnSpc>
          <a:spcPct val="100000"/>
        </a:lnSpc>
        <a:spcBef>
          <a:spcPts val="600"/>
        </a:spcBef>
        <a:spcAft>
          <a:spcPts val="600"/>
        </a:spcAft>
        <a:buFont typeface="Arial" pitchFamily="34" charset="0"/>
        <a:buChar char="•"/>
        <a:defRPr sz="950" kern="1200">
          <a:solidFill>
            <a:schemeClr val="tx1"/>
          </a:solidFill>
          <a:latin typeface="+mn-lt"/>
          <a:ea typeface="+mn-ea"/>
          <a:cs typeface="+mn-cs"/>
        </a:defRPr>
      </a:lvl2pPr>
      <a:lvl3pPr marL="43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850" kern="1200">
          <a:solidFill>
            <a:schemeClr val="tx1"/>
          </a:solidFill>
          <a:latin typeface="+mn-lt"/>
          <a:ea typeface="+mn-ea"/>
          <a:cs typeface="+mn-cs"/>
        </a:defRPr>
      </a:lvl3pPr>
      <a:lvl4pPr marL="612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50" kern="1200">
          <a:solidFill>
            <a:schemeClr val="tx1"/>
          </a:solidFill>
          <a:latin typeface="+mn-lt"/>
          <a:ea typeface="+mn-ea"/>
          <a:cs typeface="+mn-cs"/>
        </a:defRPr>
      </a:lvl4pPr>
      <a:lvl5pPr marL="828000" indent="-72000" algn="l" defTabSz="914400" rtl="0" eaLnBrk="1" latinLnBrk="0" hangingPunct="1">
        <a:lnSpc>
          <a:spcPct val="100000"/>
        </a:lnSpc>
        <a:spcBef>
          <a:spcPts val="100"/>
        </a:spcBef>
        <a:spcAft>
          <a:spcPts val="100"/>
        </a:spcAft>
        <a:buSzPct val="100000"/>
        <a:buFont typeface="Arial" pitchFamily="34" charset="0"/>
        <a:buChar char="•"/>
        <a:defRPr sz="7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fr-FR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6.xml"/><Relationship Id="rId2" Type="http://schemas.openxmlformats.org/officeDocument/2006/relationships/notesSlide" Target="../notesSlides/notesSlide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79997" y="1051560"/>
            <a:ext cx="11231971" cy="960120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2800" b="1" i="0" lang="fr-FR">
                <a:solidFill>
                  <a:srgbClr val="000091"/>
                </a:solidFill>
                <a:latin typeface="Marianne"/>
              </a:rPr>
              <a:t>Quiz : vrai ou faux ?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idx="13" sz="quarter"/>
          </p:nvPr>
        </p:nvSpPr>
        <p:spPr/>
        <p:txBody>
          <a:bodyPr wrap="square" anchor="t" lIns="73152" rIns="73152"/>
          <a:lstStyle/>
          <a:p>
            <a:pPr algn="r">
              <a:lnSpc>
                <a:spcPct val="125000"/>
              </a:lnSpc>
              <a:buNone/>
            </a:pPr>
            <a:r>
              <a:rPr sz="1100" b="0" i="0" lang="fr-FR">
                <a:solidFill>
                  <a:srgbClr val="666666"/>
                </a:solidFill>
                <a:latin typeface="Marianne"/>
              </a:rPr>
              <a:t>4. Réseaux sociaux | Quiz</a:t>
            </a:r>
          </a:p>
        </p:txBody>
      </p:sp>
      <p:sp>
        <p:nvSpPr>
          <p:cNvPr id="7" name="Espace réservé du numéro de diapositive 6"/>
          <p:cNvSpPr>
            <a:spLocks noGrp="1"/>
          </p:cNvSpPr>
          <p:nvPr>
            <p:ph type="sldNum" sz="quarter" idx="12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1</a:t>
            </a:r>
            <a:endParaRPr lang="fr-FR" dirty="0"/>
          </a:p>
        </p:txBody>
      </p:sp>
      <p:sp>
        <p:nvSpPr>
          <p:cNvPr id="9" name="DSFR-box"/>
          <p:cNvSpPr/>
          <p:nvPr/>
        </p:nvSpPr>
        <p:spPr>
          <a:xfrm>
            <a:off x="548640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DSFR-card-titre"/>
          <p:cNvSpPr txBox="1"/>
          <p:nvPr/>
        </p:nvSpPr>
        <p:spPr>
          <a:xfrm>
            <a:off x="704088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Émojis : 1 ou 2, en fin de message</a:t>
            </a:r>
          </a:p>
        </p:txBody>
      </p:sp>
      <p:sp>
        <p:nvSpPr>
          <p:cNvPr id="12" name="DSFR-card-contenu"/>
          <p:cNvSpPr txBox="1"/>
          <p:nvPr/>
        </p:nvSpPr>
        <p:spPr>
          <a:xfrm>
            <a:off x="704088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 ou faux ?</a:t>
            </a:r>
          </a:p>
        </p:txBody>
      </p:sp>
      <p:sp>
        <p:nvSpPr>
          <p:cNvPr id="14" name="DSFR-box"/>
          <p:cNvSpPr/>
          <p:nvPr/>
        </p:nvSpPr>
        <p:spPr>
          <a:xfrm>
            <a:off x="6313931" y="1645920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DSFR-card-titre"/>
          <p:cNvSpPr txBox="1"/>
          <p:nvPr/>
        </p:nvSpPr>
        <p:spPr>
          <a:xfrm>
            <a:off x="6469379" y="2331720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Un QR code peut remplacer le lien visible</a:t>
            </a:r>
          </a:p>
        </p:txBody>
      </p:sp>
      <p:sp>
        <p:nvSpPr>
          <p:cNvPr id="17" name="DSFR-card-contenu"/>
          <p:cNvSpPr txBox="1"/>
          <p:nvPr/>
        </p:nvSpPr>
        <p:spPr>
          <a:xfrm>
            <a:off x="6469379" y="2788920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 ou faux ?</a:t>
            </a:r>
          </a:p>
        </p:txBody>
      </p:sp>
      <p:sp>
        <p:nvSpPr>
          <p:cNvPr id="19" name="DSFR-box"/>
          <p:cNvSpPr/>
          <p:nvPr/>
        </p:nvSpPr>
        <p:spPr>
          <a:xfrm>
            <a:off x="548640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DSFR-card-titre"/>
          <p:cNvSpPr txBox="1"/>
          <p:nvPr/>
        </p:nvSpPr>
        <p:spPr>
          <a:xfrm>
            <a:off x="704088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Alt text vide = toujours une erreur</a:t>
            </a:r>
          </a:p>
        </p:txBody>
      </p:sp>
      <p:sp>
        <p:nvSpPr>
          <p:cNvPr id="22" name="DSFR-card-contenu"/>
          <p:cNvSpPr txBox="1"/>
          <p:nvPr/>
        </p:nvSpPr>
        <p:spPr>
          <a:xfrm>
            <a:off x="704088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 ou faux ?</a:t>
            </a:r>
          </a:p>
        </p:txBody>
      </p:sp>
      <p:sp>
        <p:nvSpPr>
          <p:cNvPr id="24" name="DSFR-box"/>
          <p:cNvSpPr/>
          <p:nvPr/>
        </p:nvSpPr>
        <p:spPr>
          <a:xfrm>
            <a:off x="6313931" y="3438144"/>
            <a:ext cx="5390388" cy="170307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DSFR-card-titre"/>
          <p:cNvSpPr txBox="1"/>
          <p:nvPr/>
        </p:nvSpPr>
        <p:spPr>
          <a:xfrm>
            <a:off x="6469379" y="4123944"/>
            <a:ext cx="5097779" cy="411480"/>
          </a:xfrm>
          <a:prstGeom prst="rect">
            <a:avLst/>
          </a:prstGeom>
          <a:noFill/>
        </p:spPr>
        <p:txBody>
          <a:bodyPr wrap="square" anchor="t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400" b="1" i="0" lang="fr-FR">
                <a:solidFill>
                  <a:srgbClr val="000091"/>
                </a:solidFill>
                <a:latin typeface="Marianne"/>
              </a:rPr>
              <a:t>Visuel inclusif = événement accessible</a:t>
            </a:r>
          </a:p>
        </p:txBody>
      </p:sp>
      <p:sp>
        <p:nvSpPr>
          <p:cNvPr id="27" name="DSFR-card-contenu"/>
          <p:cNvSpPr txBox="1"/>
          <p:nvPr/>
        </p:nvSpPr>
        <p:spPr>
          <a:xfrm>
            <a:off x="6469379" y="4581144"/>
            <a:ext cx="5097779" cy="422910"/>
          </a:xfrm>
          <a:prstGeom prst="rect">
            <a:avLst/>
          </a:prstGeom>
          <a:noFill/>
        </p:spPr>
        <p:txBody>
          <a:bodyPr wrap="square" lIns="73152" rIns="73152">
            <a:spAutoFit/>
          </a:bodyPr>
          <a:lstStyle/>
          <a:p>
            <a:pPr algn="l">
              <a:lnSpc>
                <a:spcPct val="150000"/>
              </a:lnSpc>
            </a:pPr>
            <a:r>
              <a:rPr sz="1400" lang="fr-FR">
                <a:solidFill>
                  <a:srgbClr val="161616"/>
                </a:solidFill>
                <a:latin typeface="Marianne"/>
              </a:rPr>
              <a:t>• </a:t>
            </a:r>
            <a:r>
              <a:rPr sz="1400" b="0" lang="fr-FR">
                <a:solidFill>
                  <a:srgbClr val="161616"/>
                </a:solidFill>
                <a:latin typeface="Marianne"/>
              </a:rPr>
              <a:t>Vrai ou faux ?</a:t>
            </a:r>
          </a:p>
        </p:txBody>
      </p:sp>
      <p:sp>
        <p:nvSpPr>
          <p:cNvPr id="29" name="DSFR-box"/>
          <p:cNvSpPr/>
          <p:nvPr/>
        </p:nvSpPr>
        <p:spPr>
          <a:xfrm>
            <a:off x="548640" y="5212080"/>
            <a:ext cx="11155680" cy="891540"/>
          </a:xfrm>
          <a:prstGeom prst="rect">
            <a:avLst/>
          </a:prstGeom>
          <a:solidFill>
            <a:srgbClr val="F6F6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DSFR-highlight"/>
          <p:cNvSpPr txBox="1"/>
          <p:nvPr/>
        </p:nvSpPr>
        <p:spPr>
          <a:xfrm>
            <a:off x="749808" y="5303520"/>
            <a:ext cx="10863072" cy="708660"/>
          </a:xfrm>
          <a:prstGeom prst="rect">
            <a:avLst/>
          </a:prstGeom>
          <a:noFill/>
        </p:spPr>
        <p:txBody>
          <a:bodyPr wrap="square" anchor="ctr" lIns="73152" rIns="73152">
            <a:spAutoFit/>
          </a:bodyPr>
          <a:lstStyle/>
          <a:p>
            <a:pPr algn="l">
              <a:lnSpc>
                <a:spcPct val="125000"/>
              </a:lnSpc>
            </a:pPr>
            <a:r>
              <a:rPr sz="1800" b="1" i="0" lang="fr-FR">
                <a:solidFill>
                  <a:srgbClr val="000091"/>
                </a:solidFill>
                <a:latin typeface="Marianne"/>
              </a:rPr>
              <a:t>Récupération active : vous testez les 3 temps de la checklist, pas seulement la dernière slide.</a:t>
            </a:r>
          </a:p>
        </p:txBody>
      </p:sp>
      <p:sp>
        <p:nvSpPr>
          <p:cNvPr id="5" name="Espace réservé de la date 4"/>
          <p:cNvSpPr>
            <a:spLocks noGrp="1"/>
          </p:cNvSpPr>
          <p:nvPr>
            <p:ph type="dt" sz="half" idx="10"/>
          </p:nvPr>
        </p:nvSpPr>
        <p:spPr bwMode="gray"/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4 juin 2026</a:t>
            </a:r>
            <a:endParaRPr lang="fr-FR" cap="all" dirty="0"/>
          </a:p>
        </p:txBody>
      </p:sp>
      <p:sp>
        <p:nvSpPr>
          <p:cNvPr id="6" name="Espace réservé du pied de page 5"/>
          <p:cNvSpPr>
            <a:spLocks noGrp="1"/>
          </p:cNvSpPr>
          <p:nvPr>
            <p:ph type="ftr" sz="quarter" idx="11"/>
          </p:nvPr>
        </p:nvSpPr>
        <p:spPr bwMode="gray">
          <a:xfrm>
            <a:off x="479998" y="6377984"/>
            <a:ext cx="7871980" cy="479998"/>
          </a:xfrm>
        </p:spPr>
        <p:txBody>
          <a:bodyPr wrap="square" anchor="t" lIns="73152" rIns="73152"/>
          <a:lstStyle/>
          <a:p>
            <a:pPr algn="l">
              <a:lnSpc>
                <a:spcPct val="125000"/>
              </a:lnSpc>
            </a:pPr>
            <a:r>
              <a:rPr sz="1000" b="0" i="0" lang="fr-FR">
                <a:solidFill>
                  <a:srgbClr val="666666"/>
                </a:solidFill>
                <a:latin typeface="Marianne"/>
              </a:rPr>
              <a:t>Formation 102638 / Réseaux sociaux</a:t>
            </a:r>
          </a:p>
        </p:txBody>
      </p:sp>
      <p:sp>
        <p:nvSpPr>
          <p:cNvPr id="10" name="DSFR-card-numero"/>
          <p:cNvSpPr/>
          <p:nvPr/>
        </p:nvSpPr>
        <p:spPr>
          <a:xfrm>
            <a:off x="704088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1</a:t>
            </a:r>
          </a:p>
        </p:txBody>
      </p:sp>
      <p:sp>
        <p:nvSpPr>
          <p:cNvPr id="15" name="DSFR-card-numero"/>
          <p:cNvSpPr/>
          <p:nvPr/>
        </p:nvSpPr>
        <p:spPr>
          <a:xfrm>
            <a:off x="6469379" y="1783080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2</a:t>
            </a:r>
          </a:p>
        </p:txBody>
      </p:sp>
      <p:sp>
        <p:nvSpPr>
          <p:cNvPr id="20" name="DSFR-card-numero"/>
          <p:cNvSpPr/>
          <p:nvPr/>
        </p:nvSpPr>
        <p:spPr>
          <a:xfrm>
            <a:off x="704088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3</a:t>
            </a:r>
          </a:p>
        </p:txBody>
      </p:sp>
      <p:sp>
        <p:nvSpPr>
          <p:cNvPr id="25" name="DSFR-card-numero"/>
          <p:cNvSpPr/>
          <p:nvPr/>
        </p:nvSpPr>
        <p:spPr>
          <a:xfrm>
            <a:off x="6469379" y="3575303"/>
            <a:ext cx="457200" cy="457200"/>
          </a:xfrm>
          <a:prstGeom prst="ellipse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/>
          <a:lstStyle/>
          <a:p>
            <a:pPr algn="ctr">
              <a:lnSpc>
                <a:spcPct val="125000"/>
              </a:lnSpc>
            </a:pPr>
            <a:r>
              <a:rPr sz="1600" b="1" i="0" lang="fr-FR">
                <a:solidFill>
                  <a:srgbClr val="FFFFFF"/>
                </a:solidFill>
                <a:latin typeface="Marianne"/>
              </a:rPr>
              <a:t>4</a:t>
            </a:r>
          </a:p>
        </p:txBody>
      </p:sp>
      <p:sp>
        <p:nvSpPr>
          <p:cNvPr id="8" name="DSFR-accent-decoratif" descr=""/>
          <p:cNvSpPr/>
          <p:nvPr/>
        </p:nvSpPr>
        <p:spPr>
          <a:xfrm>
            <a:off x="475488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DSFR-accent-decoratif" descr=""/>
          <p:cNvSpPr/>
          <p:nvPr/>
        </p:nvSpPr>
        <p:spPr>
          <a:xfrm>
            <a:off x="6240779" y="1645920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DSFR-accent-decoratif" descr=""/>
          <p:cNvSpPr/>
          <p:nvPr/>
        </p:nvSpPr>
        <p:spPr>
          <a:xfrm>
            <a:off x="475488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DSFR-accent-decoratif" descr=""/>
          <p:cNvSpPr/>
          <p:nvPr/>
        </p:nvSpPr>
        <p:spPr>
          <a:xfrm>
            <a:off x="6240779" y="3438144"/>
            <a:ext cx="73152" cy="170307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DSFR-accent-decoratif" descr=""/>
          <p:cNvSpPr/>
          <p:nvPr/>
        </p:nvSpPr>
        <p:spPr>
          <a:xfrm>
            <a:off x="475488" y="5212080"/>
            <a:ext cx="73152" cy="891540"/>
          </a:xfrm>
          <a:prstGeom prst="rect">
            <a:avLst/>
          </a:prstGeom>
          <a:solidFill>
            <a:srgbClr val="000091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GOUVERNEMENT">
  <a:themeElements>
    <a:clrScheme name="GOUVERNEMENT PPT">
      <a:dk1>
        <a:srgbClr val="000000"/>
      </a:dk1>
      <a:lt1>
        <a:srgbClr val="FFFFFF"/>
      </a:lt1>
      <a:dk2>
        <a:srgbClr val="000091"/>
      </a:dk2>
      <a:lt2>
        <a:srgbClr val="E1000F"/>
      </a:lt2>
      <a:accent1>
        <a:srgbClr val="005841"/>
      </a:accent1>
      <a:accent2>
        <a:srgbClr val="21215A"/>
      </a:accent2>
      <a:accent3>
        <a:srgbClr val="FFD500"/>
      </a:accent3>
      <a:accent4>
        <a:srgbClr val="EA5433"/>
      </a:accent4>
      <a:accent5>
        <a:srgbClr val="8C2237"/>
      </a:accent5>
      <a:accent6>
        <a:srgbClr val="49311F"/>
      </a:accent6>
      <a:hlink>
        <a:srgbClr val="000000"/>
      </a:hlink>
      <a:folHlink>
        <a:srgbClr val="000000"/>
      </a:folHlink>
    </a:clrScheme>
    <a:fontScheme name="Personnalisé 1">
      <a:majorFont>
        <a:latin typeface="Arial"/>
        <a:ea typeface=""/>
        <a:cs typeface=""/>
      </a:majorFont>
      <a:minorFont>
        <a:latin typeface="Arial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ppt_gouvernement_marianne" id="{307D1C89-B296-4882-8ECC-2BD1C6821949}" vid="{B53EA17D-A77A-459E-979D-FA962BE9015A}"/>
    </a:ext>
  </a:extLst>
</a:theme>
</file>

<file path=ppt/theme/theme2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ppt/theme/theme3.xml><?xml version="1.0" encoding="utf-8"?>
<a:theme xmlns:a="http://schemas.openxmlformats.org/drawingml/2006/main" name="Thème Offic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ppt_gouvernement_arial</Template>
  <TotalTime>200</TotalTime>
  <Words>1065</Words>
  <Application>Microsoft Office PowerPoint</Application>
  <PresentationFormat>Affichage à l'écran (16:9)</PresentationFormat>
  <Paragraphs>157</Paragraphs>
  <Slides>16</Slides>
  <Notes>1</Notes>
  <HiddenSlides>3</HiddenSlides>
  <MMClips>0</MMClips>
  <ScaleCrop>false</ScaleCrop>
  <HeadingPairs>
    <vt:vector size="6" baseType="variant">
      <vt:variant>
        <vt:lpstr>Polices utilisées</vt:lpstr>
      </vt:variant>
      <vt:variant>
        <vt:i4>4</vt:i4>
      </vt:variant>
      <vt:variant>
        <vt:lpstr>Thème</vt:lpstr>
      </vt:variant>
      <vt:variant>
        <vt:i4>1</vt:i4>
      </vt:variant>
      <vt:variant>
        <vt:lpstr>Titres des diapositives</vt:lpstr>
      </vt:variant>
      <vt:variant>
        <vt:i4>16</vt:i4>
      </vt:variant>
    </vt:vector>
  </HeadingPairs>
  <TitlesOfParts>
    <vt:vector size="21" baseType="lpstr">
      <vt:lpstr>Arial</vt:lpstr>
      <vt:lpstr>Calibri</vt:lpstr>
      <vt:lpstr>Verdana</vt:lpstr>
      <vt:lpstr>Wingdings</vt:lpstr>
      <vt:lpstr>GOUVERNEMENT</vt:lpstr>
      <vt:lpstr>XXXXX Libelle de la formation</vt:lpstr>
      <vt:lpstr>Présentation PowerPoint</vt:lpstr>
      <vt:lpstr>Le programme</vt:lpstr>
      <vt:lpstr>Présentation PowerPoint</vt:lpstr>
      <vt:lpstr>Sommaire</vt:lpstr>
      <vt:lpstr>Introduction aux réseaux informatiques</vt:lpstr>
      <vt:lpstr>Introduction </vt:lpstr>
      <vt:lpstr>Présentation PowerPoint</vt:lpstr>
      <vt:lpstr>Présentation PowerPoint</vt:lpstr>
      <vt:lpstr>Sommaire</vt:lpstr>
      <vt:lpstr>Titre de partie</vt:lpstr>
      <vt:lpstr>Lorem ipsum dolor  sit amet consectetur</vt:lpstr>
      <vt:lpstr>Lorem ipsum dolor  sit amet consectetur</vt:lpstr>
      <vt:lpstr>Réduire / Augmenter le niveau de liste</vt:lpstr>
      <vt:lpstr>Titre</vt:lpstr>
      <vt:lpstr>Copier / coller les textes</vt:lpstr>
    </vt:vector>
  </TitlesOfParts>
  <Manager>Client</Manager>
  <Company>Secrétariat Général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Formation 102638 - Accessibilité numérique</dc:title>
  <dc:subject>Support de formation IGPDE - DSFR accessible</dc:subject>
  <dc:creator>Alex Guiderdoni</dc:creator>
  <cp:lastModifiedBy>COUPLAN Carine</cp:lastModifiedBy>
  <cp:revision>15</cp:revision>
  <dcterms:created xsi:type="dcterms:W3CDTF">2020-03-06T09:47:41Z</dcterms:created>
  <dcterms:modified xsi:type="dcterms:W3CDTF">2024-09-06T15:21:48Z</dcterms:modified>
  <dc:language>fr-FR</dc:language>
</cp:coreProperties>
</file>