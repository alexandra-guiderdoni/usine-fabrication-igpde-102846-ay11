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7"/>
    <p:sldId id="267" r:id="rId6"/>
    <p:sldId id="268" r:id="rId5"/>
    <p:sldId id="269" r:id="rId4"/>
    <p:sldId id="270" r:id="rId3"/>
    <p:sldId id="271" r:id="rId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969" cy="68580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mple" id="{1B2C009F-958F-4730-953E-C3BCDF6DEDF4}">
          <p14:sldIdLst>
            <p14:sldId id="342"/>
            <p14:sldId id="335"/>
            <p14:sldId id="336"/>
            <p14:sldId id="337"/>
            <p14:sldId id="348"/>
            <p14:sldId id="344"/>
            <p14:sldId id="347"/>
          </p14:sldIdLst>
        </p14:section>
        <p14:section name="IGPDE" id="{0B896E98-F45E-4768-8620-EDDF394BE181}">
          <p14:sldIdLst>
            <p14:sldId id="332"/>
            <p14:sldId id="331"/>
            <p14:sldId id="327"/>
            <p14:sldId id="340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6224" autoAdjust="0"/>
  </p:normalViewPr>
  <p:slideViewPr>
    <p:cSldViewPr showGuides="1">
      <p:cViewPr varScale="1">
        <p:scale>
          <a:sx n="135" d="100"/>
          <a:sy n="135" d="100"/>
        </p:scale>
        <p:origin x="120" y="114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25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2" d="100"/>
        <a:sy n="172" d="100"/>
      </p:scale>
      <p:origin x="0" y="-3540"/>
    </p:cViewPr>
  </p:sorterViewPr>
  <p:notesViewPr>
    <p:cSldViewPr showGuides="1">
      <p:cViewPr varScale="1">
        <p:scale>
          <a:sx n="83" d="100"/>
          <a:sy n="83" d="100"/>
        </p:scale>
        <p:origin x="313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2658-7BE8-4FC5-8F36-ABC54AD38E15}" type="datetimeFigureOut">
              <a:rPr lang="fr-FR" smtClean="0"/>
              <a:t>06/09/2024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3471C-61B7-441C-A48C-C1E234DDF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93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Slide de couverture - accueil des stagiaires, tour de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Présenter les 4 objectifs, insister sur le caractère opérationnel.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Présenter l’enchaînement des 3 parties sur 2 journées.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Transition vers la partie 1,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R1 : comprendre les 4 principes WCAG.</a:t>
            </a:r>
          </a:p>
          <a:p>
            <a:r>
              <a:rPr lang="fr-FR"/>
              <a:t>R2 : ancrage pédagogique.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Source : Observatoire DINUM 2025.</a:t>
            </a:r>
          </a:p>
          <a:p>
            <a:r>
              <a:rPr lang="fr-FR"/>
              <a:t>Insister sur l’écart entre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R7 : chaque étape est séquentielle.</a:t>
            </a:r>
          </a:p>
          <a:p>
            <a:r>
              <a:rPr lang="fr-FR"/>
              <a:t>R12 : éviter de sauter des étapes.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R14 : outils gratuits et accessibles à tous.</a:t>
            </a:r>
          </a:p>
          <a:p>
            <a:r>
              <a:rPr lang="fr-FR"/>
              <a:t>Pas de barrière budgétaire.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R21 : comparer pratiques et pièges en miroir.</a:t>
            </a:r>
          </a:p>
          <a:p>
            <a:r>
              <a:rPr lang="fr-FR"/>
              <a:t>R25 : ancrage par opposition.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Transition vers la partie 2, bureautique 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Transition vers la partie 3, Easy Checks W3C.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Transition vers la partie 4, réseaux sociaux accessibles.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message unique à retenir, concept structurant.</a:t>
            </a:r>
          </a:p>
          <a:p>
            <a:r>
              <a:rPr lang="fr-FR"/>
              <a:t>Carte centrée pour focaliser l’attention.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comparaison en miroir, avant/après, deux approches.</a:t>
            </a:r>
          </a:p>
          <a:p>
            <a:r>
              <a:rPr lang="fr-FR"/>
              <a:t>R21 de la neuropédagogie : apprentissage par opposition.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triptyque (3 directions), séquence (3 étapes), triade conceptuelle.</a:t>
            </a:r>
          </a:p>
          <a:p>
            <a:r>
              <a:rPr lang="fr-FR"/>
              <a:t>Au-delà de 3 cartes, préférer un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carte = message principal, callout = renforcement ou implication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cartes = comparaison, callout = conclusion/synthèse qui relie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cartes = étapes d’un processus, callout = règle transverse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carte isolée sans numérotation - un concept, pas une étape de séquence.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deux approches équivalentes, pas de hiérarchie ni d’ordre implicite - pas de numérotation.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trois concepts juxtaposés sans ordre - triade, piliers, dimensions équivalentes.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carte sans numérotation + callout de renforcement.</a:t>
            </a:r>
          </a:p>
          <a:p>
            <a:r>
              <a:rPr lang="fr-FR"/>
              <a:t>Un concept unique relié à une implication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deux facettes équivalentes (pas d’ordre) + synthèse qui relie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triade équivalente + règle transverse qui englobe les trois.</a:t>
            </a:r>
          </a:p>
          <a:p>
            <a:r>
              <a:rPr lang="fr-FR"/>
              <a:t>Pas de séquence, pas de numérotation.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récap de critères, to-do post-formation.</a:t>
            </a:r>
          </a:p>
          <a:p>
            <a:r>
              <a:rPr lang="fr-FR"/>
              <a:t>Cases cochées = acquis, cases vides = à 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montrer la correction d’un défaut courant.</a:t>
            </a:r>
          </a:p>
          <a:p>
            <a:r>
              <a:rPr lang="fr-FR"/>
              <a:t>Rouge clair pour le défaut, vert clair pour la version 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Usage : ancrage pédagogique par opposition.</a:t>
            </a:r>
          </a:p>
          <a:p>
            <a:r>
              <a:rPr lang="fr-FR"/>
              <a:t>Icônes ✓ et ✗ signalent immédiatement la nature de chaque colonne.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fr-FR"/>
              <a:t>Slide de clôture : remerciements, contact formateur, rappel évaluation à chaud.</a:t>
            </a:r>
          </a:p>
          <a:p>
            <a:r>
              <a:rPr lang="fr-FR"/>
              <a:t>Pas de fil d’Ariane (fin de parcours).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59997" y="5226516"/>
            <a:ext cx="4319989" cy="1199997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Institut de la Gestion publique </a:t>
            </a:r>
            <a:br>
              <a:rPr lang="fr-FR" dirty="0"/>
            </a:br>
            <a:r>
              <a:rPr lang="fr-FR" dirty="0"/>
              <a:t>et du Développement économique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9" y="260647"/>
            <a:ext cx="4579487" cy="414909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299" y="776635"/>
            <a:ext cx="3132658" cy="31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386" userDrawn="1">
          <p15:clr>
            <a:srgbClr val="FBAE40"/>
          </p15:clr>
        </p15:guide>
        <p15:guide id="4" pos="443" userDrawn="1">
          <p15:clr>
            <a:srgbClr val="FBAE40"/>
          </p15:clr>
        </p15:guide>
        <p15:guide id="5" orient="horz" pos="3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8" y="3128053"/>
            <a:ext cx="11231971" cy="276959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7" y="212775"/>
            <a:ext cx="2143038" cy="194163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67" y="465665"/>
            <a:ext cx="1464915" cy="1464915"/>
          </a:xfrm>
          <a:prstGeom prst="rect">
            <a:avLst/>
          </a:prstGeom>
        </p:spPr>
      </p:pic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6" y="2522617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5988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77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3997"/>
            <a:ext cx="12191969" cy="5875185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983997"/>
            <a:ext cx="11231971" cy="539518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7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5988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1979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6" y="2447993"/>
            <a:ext cx="1123197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7" y="1199997"/>
            <a:ext cx="11231971" cy="9599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7" y="2447993"/>
            <a:ext cx="11231971" cy="34319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1974" y="6377984"/>
            <a:ext cx="1559996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79998" y="6377984"/>
            <a:ext cx="7871980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1979" y="6377984"/>
            <a:ext cx="1799995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" y="147038"/>
            <a:ext cx="737074" cy="6678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61" y="243271"/>
            <a:ext cx="477928" cy="477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8348472" y="6382512"/>
            <a:ext cx="1801368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</a:t>
            </a:r>
            <a:endParaRPr lang="fr-FR" dirty="0"/>
          </a:p>
        </p:txBody>
      </p:sp>
      <p:sp>
        <p:nvSpPr>
          <p:cNvPr id="8" name="Title-DSFR-couverture"/>
          <p:cNvSpPr txBox="1"/>
          <p:nvPr/>
        </p:nvSpPr>
        <p:spPr>
          <a:xfrm>
            <a:off x="5303520" y="4114800"/>
            <a:ext cx="64922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Accessibilité numérique</a:t>
            </a:r>
          </a:p>
        </p:txBody>
      </p:sp>
      <p:sp>
        <p:nvSpPr>
          <p:cNvPr id="9" name="DSFR-couverture-soustitre"/>
          <p:cNvSpPr txBox="1"/>
          <p:nvPr/>
        </p:nvSpPr>
        <p:spPr>
          <a:xfrm>
            <a:off x="5303520" y="4846320"/>
            <a:ext cx="649224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1" i="0" lang="fr-FR">
                <a:solidFill>
                  <a:srgbClr val="E1000F"/>
                </a:solidFill>
                <a:latin typeface="Marianne"/>
              </a:rPr>
              <a:t>Formation 102638 | Bureautique et web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10149840" y="6382512"/>
            <a:ext cx="1563624" cy="475488"/>
          </a:xfrm>
          <a:ln>
            <a:solidFill>
              <a:schemeClr val="tx1">
                <a:alpha val="0"/>
              </a:schemeClr>
            </a:solidFill>
          </a:ln>
        </p:spPr>
        <p:txBody>
          <a:bodyPr wrap="square" anchor="t" lIns="73152" rIns="73152"/>
          <a:lstStyle>
            <a:lvl1pPr>
              <a:defRPr sz="100" lang="fr-FR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475488" y="6382512"/>
            <a:ext cx="7872983" cy="475488"/>
          </a:xfrm>
        </p:spPr>
        <p:txBody>
          <a:bodyPr anchor="t" anchorCtr="0" wrap="square" lIns="73152" rIns="73152"/>
          <a:lstStyle>
            <a:lvl1pPr>
              <a:defRPr sz="1150" lang="fr-FR"/>
            </a:lvl1pPr>
          </a:lstStyle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Institut de la Gestion publique et du Développement économique</a:t>
            </a:r>
          </a:p>
        </p:txBody>
      </p:sp>
      <p:cxnSp>
        <p:nvCxnSpPr>
          <p:cNvPr id="7" name="IGPDE-footer-ligne-decoratif" descr=""/>
          <p:cNvCxnSpPr/>
          <p:nvPr/>
        </p:nvCxnSpPr>
        <p:spPr>
          <a:xfrm>
            <a:off x="475488" y="6373368"/>
            <a:ext cx="11228831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</a:t>
            </a:r>
            <a:endParaRPr lang="fr-FR" dirty="0"/>
          </a:p>
        </p:txBody>
      </p:sp>
      <p:sp>
        <p:nvSpPr>
          <p:cNvPr id="14" name="Title-DSFR-soustitre"/>
          <p:cNvSpPr txBox="1"/>
          <p:nvPr/>
        </p:nvSpPr>
        <p:spPr>
          <a:xfrm>
            <a:off x="475488" y="2286000"/>
            <a:ext cx="11228832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 lang="fr-FR">
                <a:solidFill>
                  <a:srgbClr val="000091"/>
                </a:solidFill>
                <a:latin typeface="Marianne"/>
              </a:rPr>
              <a:t>Objectifs pédagogiques</a:t>
            </a:r>
          </a:p>
        </p:txBody>
      </p:sp>
      <p:sp>
        <p:nvSpPr>
          <p:cNvPr id="16" name="DSFR-box"/>
          <p:cNvSpPr/>
          <p:nvPr/>
        </p:nvSpPr>
        <p:spPr>
          <a:xfrm>
            <a:off x="548640" y="3474720"/>
            <a:ext cx="11155680" cy="15544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FR-callout-titre"/>
          <p:cNvSpPr txBox="1"/>
          <p:nvPr/>
        </p:nvSpPr>
        <p:spPr>
          <a:xfrm>
            <a:off x="704088" y="35661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l’issue de cette formation, les stagiaires sauront :</a:t>
            </a:r>
          </a:p>
        </p:txBody>
      </p:sp>
      <p:sp>
        <p:nvSpPr>
          <p:cNvPr id="18" name="DSFR-callout-body"/>
          <p:cNvSpPr txBox="1"/>
          <p:nvPr/>
        </p:nvSpPr>
        <p:spPr>
          <a:xfrm>
            <a:off x="704088" y="3977639"/>
            <a:ext cx="10908792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Identifier les critères RGAA 4.1.2 applicables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Produire un document bureautique accessible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Auditer une page web avec les outils standards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Remédier aux non-conformités détectées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Objectifs</a:t>
            </a:r>
          </a:p>
        </p:txBody>
      </p:sp>
      <p:sp>
        <p:nvSpPr>
          <p:cNvPr id="15" name="DSFR-accent-decoratif" descr=""/>
          <p:cNvSpPr/>
          <p:nvPr/>
        </p:nvSpPr>
        <p:spPr>
          <a:xfrm>
            <a:off x="475488" y="347472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Sommaire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3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548640" y="2240280"/>
            <a:ext cx="3468623" cy="32918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FR-card-titre"/>
          <p:cNvSpPr txBox="1"/>
          <p:nvPr/>
        </p:nvSpPr>
        <p:spPr>
          <a:xfrm>
            <a:off x="704088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Cadre légal</a:t>
            </a:r>
          </a:p>
        </p:txBody>
      </p:sp>
      <p:sp>
        <p:nvSpPr>
          <p:cNvPr id="10" name="DSFR-card-contenu"/>
          <p:cNvSpPr txBox="1"/>
          <p:nvPr/>
        </p:nvSpPr>
        <p:spPr>
          <a:xfrm>
            <a:off x="704088" y="3383280"/>
            <a:ext cx="3176016" cy="2011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RGAA 4.1.2, décret 2019, obligations des administrations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240280"/>
            <a:ext cx="3468623" cy="32918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4547615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Bureautique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4547615" y="3383280"/>
            <a:ext cx="3176016" cy="2011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Word, Excel, PowerPoint accessibles : structure, styles, alt text</a:t>
            </a:r>
          </a:p>
        </p:txBody>
      </p:sp>
      <p:sp>
        <p:nvSpPr>
          <p:cNvPr id="17" name="DSFR-box"/>
          <p:cNvSpPr/>
          <p:nvPr/>
        </p:nvSpPr>
        <p:spPr>
          <a:xfrm>
            <a:off x="8235695" y="2240280"/>
            <a:ext cx="3468623" cy="32918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8391144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Web et réseaux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8391144" y="3383280"/>
            <a:ext cx="3176016" cy="2011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Easy Checks, tests clavier, réseaux sociaux accessibles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Sommaire</a:t>
            </a:r>
          </a:p>
        </p:txBody>
      </p:sp>
      <p:sp>
        <p:nvSpPr>
          <p:cNvPr id="8" name="DSFR-card-numero"/>
          <p:cNvSpPr/>
          <p:nvPr/>
        </p:nvSpPr>
        <p:spPr>
          <a:xfrm>
            <a:off x="704088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3" name="DSFR-card-numero"/>
          <p:cNvSpPr/>
          <p:nvPr/>
        </p:nvSpPr>
        <p:spPr>
          <a:xfrm>
            <a:off x="4547615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8" name="DSFR-card-numero"/>
          <p:cNvSpPr/>
          <p:nvPr/>
        </p:nvSpPr>
        <p:spPr>
          <a:xfrm>
            <a:off x="8391144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240280"/>
            <a:ext cx="73152" cy="3291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240280"/>
            <a:ext cx="73152" cy="3291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8162543" y="2240280"/>
            <a:ext cx="73152" cy="3291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1. Comprendre l’accessibilité numérique et son cadre légal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Partie 1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Les trois piliers de l’accessibilité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Cadre légal | Introduction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5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548640" y="2240280"/>
            <a:ext cx="3468623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FR-card-titre"/>
          <p:cNvSpPr txBox="1"/>
          <p:nvPr/>
        </p:nvSpPr>
        <p:spPr>
          <a:xfrm>
            <a:off x="704088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Perceptible</a:t>
            </a:r>
          </a:p>
        </p:txBody>
      </p:sp>
      <p:sp>
        <p:nvSpPr>
          <p:cNvPr id="10" name="DSFR-card-contenu"/>
          <p:cNvSpPr txBox="1"/>
          <p:nvPr/>
        </p:nvSpPr>
        <p:spPr>
          <a:xfrm>
            <a:off x="704088" y="3383280"/>
            <a:ext cx="3176016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Alternatives textuelles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Contrastes suffisants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Sous-titres</a:t>
            </a:r>
          </a:p>
        </p:txBody>
      </p:sp>
      <p:sp>
        <p:nvSpPr>
          <p:cNvPr id="12" name="DSFR-box"/>
          <p:cNvSpPr/>
          <p:nvPr/>
        </p:nvSpPr>
        <p:spPr>
          <a:xfrm>
            <a:off x="4392167" y="2240280"/>
            <a:ext cx="3468623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4547615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Utilisable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4547615" y="3383280"/>
            <a:ext cx="3176016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Navigation au clavier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Temps suffisant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Pas de clignotement</a:t>
            </a:r>
          </a:p>
        </p:txBody>
      </p:sp>
      <p:sp>
        <p:nvSpPr>
          <p:cNvPr id="17" name="DSFR-box"/>
          <p:cNvSpPr/>
          <p:nvPr/>
        </p:nvSpPr>
        <p:spPr>
          <a:xfrm>
            <a:off x="8235695" y="2240280"/>
            <a:ext cx="3468623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card-titre"/>
          <p:cNvSpPr txBox="1"/>
          <p:nvPr/>
        </p:nvSpPr>
        <p:spPr>
          <a:xfrm>
            <a:off x="8391144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Compréhensible</a:t>
            </a:r>
          </a:p>
        </p:txBody>
      </p:sp>
      <p:sp>
        <p:nvSpPr>
          <p:cNvPr id="20" name="DSFR-card-contenu"/>
          <p:cNvSpPr txBox="1"/>
          <p:nvPr/>
        </p:nvSpPr>
        <p:spPr>
          <a:xfrm>
            <a:off x="8391144" y="3383280"/>
            <a:ext cx="3176016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Langue identifiée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Texte lisible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Prévisibilité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Cadre légal</a:t>
            </a:r>
          </a:p>
        </p:txBody>
      </p:sp>
      <p:sp>
        <p:nvSpPr>
          <p:cNvPr id="8" name="DSFR-card-numero"/>
          <p:cNvSpPr/>
          <p:nvPr/>
        </p:nvSpPr>
        <p:spPr>
          <a:xfrm>
            <a:off x="704088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3" name="DSFR-card-numero"/>
          <p:cNvSpPr/>
          <p:nvPr/>
        </p:nvSpPr>
        <p:spPr>
          <a:xfrm>
            <a:off x="4547615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8" name="DSFR-card-numero"/>
          <p:cNvSpPr/>
          <p:nvPr/>
        </p:nvSpPr>
        <p:spPr>
          <a:xfrm>
            <a:off x="8391144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accent-decoratif" descr=""/>
          <p:cNvSpPr/>
          <p:nvPr/>
        </p:nvSpPr>
        <p:spPr>
          <a:xfrm>
            <a:off x="4319015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8162543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État de l’accessibilité dans les administrations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1. Cadre légal | Chiffres clés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6</a:t>
            </a:r>
            <a:endParaRPr lang="fr-FR" dirty="0"/>
          </a:p>
        </p:txBody>
      </p:sp>
      <p:sp>
        <p:nvSpPr>
          <p:cNvPr id="8" name="DSFR-kpi-pave"/>
          <p:cNvSpPr/>
          <p:nvPr/>
        </p:nvSpPr>
        <p:spPr>
          <a:xfrm>
            <a:off x="475488" y="2450592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43 %</a:t>
            </a:r>
          </a:p>
        </p:txBody>
      </p:sp>
      <p:sp>
        <p:nvSpPr>
          <p:cNvPr id="9" name="DSFR-kpi-label"/>
          <p:cNvSpPr txBox="1"/>
          <p:nvPr/>
        </p:nvSpPr>
        <p:spPr>
          <a:xfrm>
            <a:off x="475488" y="34107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Taux moyen RGAA (2025)</a:t>
            </a:r>
          </a:p>
        </p:txBody>
      </p:sp>
      <p:sp>
        <p:nvSpPr>
          <p:cNvPr id="10" name="DSFR-kpi-pave"/>
          <p:cNvSpPr/>
          <p:nvPr/>
        </p:nvSpPr>
        <p:spPr>
          <a:xfrm>
            <a:off x="4319015" y="2450592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96 %</a:t>
            </a:r>
          </a:p>
        </p:txBody>
      </p:sp>
      <p:sp>
        <p:nvSpPr>
          <p:cNvPr id="11" name="DSFR-kpi-label"/>
          <p:cNvSpPr txBox="1"/>
          <p:nvPr/>
        </p:nvSpPr>
        <p:spPr>
          <a:xfrm>
            <a:off x="4319015" y="34107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Meilleur taux (DGFiP)</a:t>
            </a:r>
          </a:p>
        </p:txBody>
      </p:sp>
      <p:sp>
        <p:nvSpPr>
          <p:cNvPr id="12" name="DSFR-kpi-pave"/>
          <p:cNvSpPr/>
          <p:nvPr/>
        </p:nvSpPr>
        <p:spPr>
          <a:xfrm>
            <a:off x="8162543" y="2450592"/>
            <a:ext cx="3541775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3200" b="1" i="0" lang="fr-FR">
                <a:solidFill>
                  <a:srgbClr val="FFFFFF"/>
                </a:solidFill>
                <a:latin typeface="Marianne"/>
              </a:rPr>
              <a:t>11</a:t>
            </a:r>
          </a:p>
        </p:txBody>
      </p:sp>
      <p:sp>
        <p:nvSpPr>
          <p:cNvPr id="13" name="DSFR-kpi-label"/>
          <p:cNvSpPr txBox="1"/>
          <p:nvPr/>
        </p:nvSpPr>
        <p:spPr>
          <a:xfrm>
            <a:off x="8162543" y="3410712"/>
            <a:ext cx="3541775" cy="41147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 lang="fr-FR">
                <a:solidFill>
                  <a:srgbClr val="161616"/>
                </a:solidFill>
                <a:latin typeface="Marianne"/>
              </a:rPr>
              <a:t>Non-conformités moyennes</a:t>
            </a:r>
          </a:p>
        </p:txBody>
      </p:sp>
      <p:sp>
        <p:nvSpPr>
          <p:cNvPr id="15" name="DSFR-box"/>
          <p:cNvSpPr/>
          <p:nvPr/>
        </p:nvSpPr>
        <p:spPr>
          <a:xfrm>
            <a:off x="548640" y="4096512"/>
            <a:ext cx="11155680" cy="13487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lert-info-titre"/>
          <p:cNvSpPr txBox="1"/>
          <p:nvPr/>
        </p:nvSpPr>
        <p:spPr>
          <a:xfrm>
            <a:off x="704088" y="4187952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retenir</a:t>
            </a:r>
          </a:p>
        </p:txBody>
      </p:sp>
      <p:sp>
        <p:nvSpPr>
          <p:cNvPr id="17" name="DSFR-alert-info-body"/>
          <p:cNvSpPr txBox="1"/>
          <p:nvPr/>
        </p:nvSpPr>
        <p:spPr>
          <a:xfrm>
            <a:off x="704088" y="4599432"/>
            <a:ext cx="10908792" cy="7543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L’audit doit être réalisé par un tiers qualifié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La déclaration d’accessibilité est obligatoire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Un plan pluriannuel doit être publié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Cadre légal</a:t>
            </a:r>
          </a:p>
        </p:txBody>
      </p:sp>
      <p:sp>
        <p:nvSpPr>
          <p:cNvPr id="14" name="DSFR-accent-decoratif" descr=""/>
          <p:cNvSpPr/>
          <p:nvPr/>
        </p:nvSpPr>
        <p:spPr>
          <a:xfrm>
            <a:off x="475488" y="4096512"/>
            <a:ext cx="73152" cy="13487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Démarche d’audit en 4 étapes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2. Bureautique | Méthodologie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7</a:t>
            </a:r>
            <a:endParaRPr lang="fr-FR" dirty="0"/>
          </a:p>
        </p:txBody>
      </p:sp>
      <p:sp>
        <p:nvSpPr>
          <p:cNvPr id="8" name="DSFR-stepper-pastille-1"/>
          <p:cNvSpPr/>
          <p:nvPr/>
        </p:nvSpPr>
        <p:spPr>
          <a:xfrm>
            <a:off x="1445894" y="2450592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0" name="DSFR-stepper-texte-1"/>
          <p:cNvSpPr txBox="1"/>
          <p:nvPr/>
        </p:nvSpPr>
        <p:spPr>
          <a:xfrm>
            <a:off x="475488" y="3182112"/>
            <a:ext cx="258089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Inventaire des pages et documents</a:t>
            </a:r>
          </a:p>
        </p:txBody>
      </p:sp>
      <p:sp>
        <p:nvSpPr>
          <p:cNvPr id="11" name="DSFR-stepper-pastille-2"/>
          <p:cNvSpPr/>
          <p:nvPr/>
        </p:nvSpPr>
        <p:spPr>
          <a:xfrm>
            <a:off x="4328541" y="2450592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3" name="DSFR-stepper-texte-2"/>
          <p:cNvSpPr txBox="1"/>
          <p:nvPr/>
        </p:nvSpPr>
        <p:spPr>
          <a:xfrm>
            <a:off x="3358134" y="3182112"/>
            <a:ext cx="258089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Tests automatisés (axe-core, Wave)</a:t>
            </a:r>
          </a:p>
        </p:txBody>
      </p:sp>
      <p:sp>
        <p:nvSpPr>
          <p:cNvPr id="14" name="DSFR-stepper-pastille-3"/>
          <p:cNvSpPr/>
          <p:nvPr/>
        </p:nvSpPr>
        <p:spPr>
          <a:xfrm>
            <a:off x="7211186" y="2450592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6" name="DSFR-stepper-texte-3"/>
          <p:cNvSpPr txBox="1"/>
          <p:nvPr/>
        </p:nvSpPr>
        <p:spPr>
          <a:xfrm>
            <a:off x="6240779" y="3182112"/>
            <a:ext cx="258089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Tests manuels (clavier, lecteur d’écran)</a:t>
            </a:r>
          </a:p>
        </p:txBody>
      </p:sp>
      <p:sp>
        <p:nvSpPr>
          <p:cNvPr id="17" name="DSFR-stepper-pastille-4"/>
          <p:cNvSpPr/>
          <p:nvPr/>
        </p:nvSpPr>
        <p:spPr>
          <a:xfrm>
            <a:off x="10093832" y="2450592"/>
            <a:ext cx="640080" cy="64008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800" b="1" i="0" lang="fr-FR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8" name="DSFR-stepper-texte-4"/>
          <p:cNvSpPr txBox="1"/>
          <p:nvPr/>
        </p:nvSpPr>
        <p:spPr>
          <a:xfrm>
            <a:off x="9123426" y="3182112"/>
            <a:ext cx="2580894" cy="18287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161616"/>
                </a:solidFill>
                <a:latin typeface="Marianne"/>
              </a:rPr>
              <a:t>Rédaction du rapport et plan d’action</a:t>
            </a:r>
          </a:p>
        </p:txBody>
      </p:sp>
      <p:sp>
        <p:nvSpPr>
          <p:cNvPr id="20" name="DSFR-box"/>
          <p:cNvSpPr/>
          <p:nvPr/>
        </p:nvSpPr>
        <p:spPr>
          <a:xfrm>
            <a:off x="548640" y="5193792"/>
            <a:ext cx="11155680" cy="8915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highlight"/>
          <p:cNvSpPr txBox="1"/>
          <p:nvPr/>
        </p:nvSpPr>
        <p:spPr>
          <a:xfrm>
            <a:off x="749808" y="5285231"/>
            <a:ext cx="10863072" cy="7086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La durée moyenne d’un audit complet est de 10 à 15 jours ouvrés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Bureautique</a:t>
            </a:r>
          </a:p>
        </p:txBody>
      </p:sp>
      <p:sp>
        <p:nvSpPr>
          <p:cNvPr id="9" name="DSFR-stepper-connecteur-1-decoratif" descr=""/>
          <p:cNvSpPr/>
          <p:nvPr/>
        </p:nvSpPr>
        <p:spPr>
          <a:xfrm>
            <a:off x="2085975" y="2752344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stepper-connecteur-2-decoratif" descr=""/>
          <p:cNvSpPr/>
          <p:nvPr/>
        </p:nvSpPr>
        <p:spPr>
          <a:xfrm>
            <a:off x="4968621" y="2752344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stepper-connecteur-3-decoratif" descr=""/>
          <p:cNvSpPr/>
          <p:nvPr/>
        </p:nvSpPr>
        <p:spPr>
          <a:xfrm>
            <a:off x="7851267" y="2752344"/>
            <a:ext cx="2242565" cy="36576"/>
          </a:xfrm>
          <a:prstGeom prst="rect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FR-accent-decoratif" descr=""/>
          <p:cNvSpPr/>
          <p:nvPr/>
        </p:nvSpPr>
        <p:spPr>
          <a:xfrm>
            <a:off x="475488" y="5193792"/>
            <a:ext cx="73152" cy="8915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Outils d’audit recommandés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Web | Outils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8</a:t>
            </a:r>
            <a:endParaRPr lang="fr-F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450592"/>
          <a:ext cx="1122882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943"/>
                <a:gridCol w="3742943"/>
                <a:gridCol w="3742943"/>
              </a:tblGrid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Outil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Usage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200" b="1" i="0" lang="fr-FR">
                          <a:solidFill>
                            <a:srgbClr val="FFFFFF"/>
                          </a:solidFill>
                          <a:latin typeface="Marianne"/>
                        </a:rPr>
                        <a:t>Coût</a:t>
                      </a:r>
                    </a:p>
                  </a:txBody>
                  <a:tcPr marL="91440" marR="91440" marT="45720" marB="45720">
                    <a:solidFill>
                      <a:srgbClr val="000091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axe-core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Tests automatisés navigateur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Gratuit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WAVE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Audit visuel WCAG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Gratuit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Lighthouse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Audit performance et accessibilité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Gratuit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NVDA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Lecteur d’écran Windows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Gratuit</a:t>
                      </a:r>
                    </a:p>
                  </a:txBody>
                  <a:tcPr marL="91440" marR="91440" marT="45720" marB="45720">
                    <a:solidFill>
                      <a:srgbClr val="F5F5FE"/>
                    </a:solidFill>
                  </a:tcPr>
                </a:tc>
              </a:tr>
              <a:tr h="411480"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VoiceOver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Lecteur d’écran macOS/iOS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00" b="0" i="0" lang="fr-FR">
                          <a:solidFill>
                            <a:srgbClr val="161616"/>
                          </a:solidFill>
                          <a:latin typeface="Marianne"/>
                        </a:rPr>
                        <a:t>Intégré 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FR-box"/>
          <p:cNvSpPr/>
          <p:nvPr/>
        </p:nvSpPr>
        <p:spPr>
          <a:xfrm>
            <a:off x="548640" y="5193792"/>
            <a:ext cx="11155680" cy="128016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quote-texte"/>
          <p:cNvSpPr txBox="1"/>
          <p:nvPr/>
        </p:nvSpPr>
        <p:spPr>
          <a:xfrm>
            <a:off x="749808" y="5330952"/>
            <a:ext cx="10863072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lang="fr-FR">
                <a:solidFill>
                  <a:srgbClr val="161616"/>
                </a:solidFill>
                <a:latin typeface="Marianne"/>
              </a:rPr>
              <a:t>“ L’accessibilité n’est pas un coût, c’est un investissement dans la qualité du service public. ”</a:t>
            </a:r>
          </a:p>
        </p:txBody>
      </p:sp>
      <p:sp>
        <p:nvSpPr>
          <p:cNvPr id="12" name="DSFR-quote-auteur"/>
          <p:cNvSpPr txBox="1"/>
          <p:nvPr/>
        </p:nvSpPr>
        <p:spPr>
          <a:xfrm>
            <a:off x="749808" y="6016752"/>
            <a:ext cx="1086307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lang="fr-FR">
                <a:solidFill>
                  <a:srgbClr val="000091"/>
                </a:solidFill>
                <a:latin typeface="Marianne"/>
              </a:rPr>
              <a:t>- Circulaire DINUM 2024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Web</a:t>
            </a:r>
          </a:p>
        </p:txBody>
      </p:sp>
      <p:sp>
        <p:nvSpPr>
          <p:cNvPr id="9" name="DSFR-accent-decoratif" descr=""/>
          <p:cNvSpPr/>
          <p:nvPr/>
        </p:nvSpPr>
        <p:spPr>
          <a:xfrm>
            <a:off x="475488" y="5193792"/>
            <a:ext cx="73152" cy="128016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Bonnes pratiques et pièges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3. Web | Récapitulatif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450592"/>
            <a:ext cx="5390388" cy="176022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llout-titre"/>
          <p:cNvSpPr txBox="1"/>
          <p:nvPr/>
        </p:nvSpPr>
        <p:spPr>
          <a:xfrm>
            <a:off x="704088" y="2542032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Bonnes pratiques</a:t>
            </a:r>
          </a:p>
        </p:txBody>
      </p:sp>
      <p:sp>
        <p:nvSpPr>
          <p:cNvPr id="11" name="DSFR-callout-body"/>
          <p:cNvSpPr txBox="1"/>
          <p:nvPr/>
        </p:nvSpPr>
        <p:spPr>
          <a:xfrm>
            <a:off x="704088" y="2953512"/>
            <a:ext cx="5143500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Structurer le document avec des styles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Ajouter un alt text à chaque image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Vérifier le contraste (≥ 4.5:1)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Tester au clavier avant livraison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450592"/>
            <a:ext cx="5390388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warning-titre"/>
          <p:cNvSpPr txBox="1"/>
          <p:nvPr/>
        </p:nvSpPr>
        <p:spPr>
          <a:xfrm>
            <a:off x="6469379" y="2542032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Pièges à éviter</a:t>
            </a:r>
          </a:p>
        </p:txBody>
      </p:sp>
      <p:sp>
        <p:nvSpPr>
          <p:cNvPr id="15" name="DSFR-alert-warning-body"/>
          <p:cNvSpPr txBox="1"/>
          <p:nvPr/>
        </p:nvSpPr>
        <p:spPr>
          <a:xfrm>
            <a:off x="6469379" y="2953512"/>
            <a:ext cx="5143500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 de tableau pour la mise en page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 de capture d’écran de texte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 de justification (alignement gauche)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Pas d’acronyme sans explicitation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Récapitulatif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450592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450592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10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2. Créer des documents bureautiques accessibles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Partie 2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11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3. Pratiquer les évaluations rapides d’accessibilité web (Easy Checks)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Partie 3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12</a:t>
            </a:r>
            <a:endParaRPr lang="fr-FR" dirty="0"/>
          </a:p>
        </p:txBody>
      </p:sp>
      <p:sp>
        <p:nvSpPr>
          <p:cNvPr id="7" name="DSFR-box"/>
          <p:cNvSpPr/>
          <p:nvPr/>
        </p:nvSpPr>
        <p:spPr>
          <a:xfrm>
            <a:off x="621792" y="2743200"/>
            <a:ext cx="11082528" cy="16459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FR-section-titre"/>
          <p:cNvSpPr txBox="1"/>
          <p:nvPr/>
        </p:nvSpPr>
        <p:spPr>
          <a:xfrm>
            <a:off x="886968" y="2880360"/>
            <a:ext cx="10680192" cy="13716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lang="fr-FR">
                <a:solidFill>
                  <a:srgbClr val="000091"/>
                </a:solidFill>
                <a:latin typeface="Marianne"/>
              </a:rPr>
              <a:t>4. Améliorer l’accessibilité numérique des publications sur les réseaux sociaux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Partie 4</a:t>
            </a:r>
          </a:p>
        </p:txBody>
      </p:sp>
      <p:sp>
        <p:nvSpPr>
          <p:cNvPr id="6" name="DSFR-accent-decoratif" descr=""/>
          <p:cNvSpPr/>
          <p:nvPr/>
        </p:nvSpPr>
        <p:spPr>
          <a:xfrm>
            <a:off x="475488" y="2743200"/>
            <a:ext cx="146304" cy="1645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Layout une carte - message central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1 carte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11155680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926080"/>
            <a:ext cx="10863072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Principe fondamental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383280"/>
            <a:ext cx="10863072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Une information doit être perceptible,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utilisable, compréhensible et robuste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(acronyme POUR de WCAG 2.2).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Layout deux cartes - comparer ou opposer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2 cartes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92608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Audit automatique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383280"/>
            <a:ext cx="5097779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Rapide (quelques minutes)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Couvre 30 % des critères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Outils : axe-core, WAVE, Lighthouse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240280"/>
            <a:ext cx="5390388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6469379" y="292608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Audit manuel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6469379" y="3383280"/>
            <a:ext cx="5097779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Long (journées à semaines)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Couvre 100 % des critères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Tests clavier, lecteur d’écran, contraste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6469379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Layout trois cartes - triptyque ou séquence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3 cartes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15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3468623" cy="2743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Analyser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383280"/>
            <a:ext cx="3176016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Identifier les points de blocage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Prioriser par impact utilisateur</a:t>
            </a:r>
          </a:p>
        </p:txBody>
      </p:sp>
      <p:sp>
        <p:nvSpPr>
          <p:cNvPr id="14" name="DSFR-box"/>
          <p:cNvSpPr/>
          <p:nvPr/>
        </p:nvSpPr>
        <p:spPr>
          <a:xfrm>
            <a:off x="4392167" y="2240280"/>
            <a:ext cx="3468623" cy="2743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4547615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Corriger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4547615" y="3383280"/>
            <a:ext cx="3176016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Appliquer les remédiations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Documenter les écarts restants</a:t>
            </a:r>
          </a:p>
        </p:txBody>
      </p:sp>
      <p:sp>
        <p:nvSpPr>
          <p:cNvPr id="19" name="DSFR-box"/>
          <p:cNvSpPr/>
          <p:nvPr/>
        </p:nvSpPr>
        <p:spPr>
          <a:xfrm>
            <a:off x="8235695" y="2240280"/>
            <a:ext cx="3468623" cy="2743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8391144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Vérifier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8391144" y="3383280"/>
            <a:ext cx="3176016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Tester sur le terrain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Mesurer la progression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4547615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8391144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27432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4319015" y="2240280"/>
            <a:ext cx="73152" cy="27432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8162543" y="2240280"/>
            <a:ext cx="73152" cy="27432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Une carte + callout - accroche et renforcement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1 carte + callout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11155680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926080"/>
            <a:ext cx="10863072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Principe fondamental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383280"/>
            <a:ext cx="10863072" cy="8229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Une information doit être perceptible,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utilisable, compréhensible et robuste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(acronyme POUR de WCAG 2.2).</a:t>
            </a:r>
          </a:p>
        </p:txBody>
      </p:sp>
      <p:sp>
        <p:nvSpPr>
          <p:cNvPr id="14" name="DSFR-box"/>
          <p:cNvSpPr/>
          <p:nvPr/>
        </p:nvSpPr>
        <p:spPr>
          <a:xfrm>
            <a:off x="548640" y="4617720"/>
            <a:ext cx="11155680" cy="11430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FR-callout-titre"/>
          <p:cNvSpPr txBox="1"/>
          <p:nvPr/>
        </p:nvSpPr>
        <p:spPr>
          <a:xfrm>
            <a:off x="704088" y="47091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Point d’attention</a:t>
            </a:r>
          </a:p>
        </p:txBody>
      </p:sp>
      <p:sp>
        <p:nvSpPr>
          <p:cNvPr id="16" name="DSFR-callout-body"/>
          <p:cNvSpPr txBox="1"/>
          <p:nvPr/>
        </p:nvSpPr>
        <p:spPr>
          <a:xfrm>
            <a:off x="704088" y="51206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Ces 4 principes structurent l’ensemble des 50 critères RGAA 4.1.2.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Les retenir facilite la lecture du référentiel.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475488" y="46177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Deux cartes + callout - comparaison et synthèse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2 cartes + callout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92608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Audit automatique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383280"/>
            <a:ext cx="5097779" cy="8229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Rapide (quelques minutes)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Couvre 30 % des critères</a:t>
            </a:r>
          </a:p>
        </p:txBody>
      </p:sp>
      <p:sp>
        <p:nvSpPr>
          <p:cNvPr id="14" name="DSFR-box"/>
          <p:cNvSpPr/>
          <p:nvPr/>
        </p:nvSpPr>
        <p:spPr>
          <a:xfrm>
            <a:off x="6313931" y="2240280"/>
            <a:ext cx="5390388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6469379" y="292608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Audit manuel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6469379" y="3383280"/>
            <a:ext cx="5097779" cy="8229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Long (journées à semaines)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Couvre 100 % des critères</a:t>
            </a:r>
          </a:p>
        </p:txBody>
      </p:sp>
      <p:sp>
        <p:nvSpPr>
          <p:cNvPr id="19" name="DSFR-box"/>
          <p:cNvSpPr/>
          <p:nvPr/>
        </p:nvSpPr>
        <p:spPr>
          <a:xfrm>
            <a:off x="548640" y="4617720"/>
            <a:ext cx="11155680" cy="11430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callout-titre"/>
          <p:cNvSpPr txBox="1"/>
          <p:nvPr/>
        </p:nvSpPr>
        <p:spPr>
          <a:xfrm>
            <a:off x="704088" y="470915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retenir</a:t>
            </a:r>
          </a:p>
        </p:txBody>
      </p:sp>
      <p:sp>
        <p:nvSpPr>
          <p:cNvPr id="21" name="DSFR-callout-body"/>
          <p:cNvSpPr txBox="1"/>
          <p:nvPr/>
        </p:nvSpPr>
        <p:spPr>
          <a:xfrm>
            <a:off x="704088" y="51206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Les deux approches sont complémentaires :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automatique pour détecter, manuel pour qualifier.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6469379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6240779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475488" y="46177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Trois cartes + callout - processus et rappel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3 cartes + callout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3468623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FR-card-titre"/>
          <p:cNvSpPr txBox="1"/>
          <p:nvPr/>
        </p:nvSpPr>
        <p:spPr>
          <a:xfrm>
            <a:off x="704088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Analyser</a:t>
            </a:r>
          </a:p>
        </p:txBody>
      </p:sp>
      <p:sp>
        <p:nvSpPr>
          <p:cNvPr id="12" name="DSFR-card-contenu"/>
          <p:cNvSpPr txBox="1"/>
          <p:nvPr/>
        </p:nvSpPr>
        <p:spPr>
          <a:xfrm>
            <a:off x="704088" y="3383280"/>
            <a:ext cx="3176016" cy="8229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Identifier les blocages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Prioriser par impact</a:t>
            </a:r>
          </a:p>
        </p:txBody>
      </p:sp>
      <p:sp>
        <p:nvSpPr>
          <p:cNvPr id="14" name="DSFR-box"/>
          <p:cNvSpPr/>
          <p:nvPr/>
        </p:nvSpPr>
        <p:spPr>
          <a:xfrm>
            <a:off x="4392167" y="2240280"/>
            <a:ext cx="3468623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card-titre"/>
          <p:cNvSpPr txBox="1"/>
          <p:nvPr/>
        </p:nvSpPr>
        <p:spPr>
          <a:xfrm>
            <a:off x="4547615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Corriger</a:t>
            </a:r>
          </a:p>
        </p:txBody>
      </p:sp>
      <p:sp>
        <p:nvSpPr>
          <p:cNvPr id="17" name="DSFR-card-contenu"/>
          <p:cNvSpPr txBox="1"/>
          <p:nvPr/>
        </p:nvSpPr>
        <p:spPr>
          <a:xfrm>
            <a:off x="4547615" y="3383280"/>
            <a:ext cx="3176016" cy="8229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Appliquer les remédiations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Documenter les écarts</a:t>
            </a:r>
          </a:p>
        </p:txBody>
      </p:sp>
      <p:sp>
        <p:nvSpPr>
          <p:cNvPr id="19" name="DSFR-box"/>
          <p:cNvSpPr/>
          <p:nvPr/>
        </p:nvSpPr>
        <p:spPr>
          <a:xfrm>
            <a:off x="8235695" y="2240280"/>
            <a:ext cx="3468623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FR-card-titre"/>
          <p:cNvSpPr txBox="1"/>
          <p:nvPr/>
        </p:nvSpPr>
        <p:spPr>
          <a:xfrm>
            <a:off x="8391144" y="292608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Vérifier</a:t>
            </a:r>
          </a:p>
        </p:txBody>
      </p:sp>
      <p:sp>
        <p:nvSpPr>
          <p:cNvPr id="22" name="DSFR-card-contenu"/>
          <p:cNvSpPr txBox="1"/>
          <p:nvPr/>
        </p:nvSpPr>
        <p:spPr>
          <a:xfrm>
            <a:off x="8391144" y="3383280"/>
            <a:ext cx="3176016" cy="8229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Tester sur le terrain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Mesurer la progression</a:t>
            </a:r>
          </a:p>
        </p:txBody>
      </p:sp>
      <p:sp>
        <p:nvSpPr>
          <p:cNvPr id="24" name="DSFR-box"/>
          <p:cNvSpPr/>
          <p:nvPr/>
        </p:nvSpPr>
        <p:spPr>
          <a:xfrm>
            <a:off x="548640" y="4617720"/>
            <a:ext cx="11155680" cy="11430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FR-callout-titre"/>
          <p:cNvSpPr txBox="1"/>
          <p:nvPr/>
        </p:nvSpPr>
        <p:spPr>
          <a:xfrm>
            <a:off x="704088" y="470915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Règle d’or</a:t>
            </a:r>
          </a:p>
        </p:txBody>
      </p:sp>
      <p:sp>
        <p:nvSpPr>
          <p:cNvPr id="26" name="DSFR-callout-body"/>
          <p:cNvSpPr txBox="1"/>
          <p:nvPr/>
        </p:nvSpPr>
        <p:spPr>
          <a:xfrm>
            <a:off x="704088" y="51206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Un cycle Analyser-Corriger-Vérifier dure 2 à 3 semaines.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répéter tant qu’il reste des non-conformités bloquantes.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10" name="DSFR-card-numero"/>
          <p:cNvSpPr/>
          <p:nvPr/>
        </p:nvSpPr>
        <p:spPr>
          <a:xfrm>
            <a:off x="704088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15" name="DSFR-card-numero"/>
          <p:cNvSpPr/>
          <p:nvPr/>
        </p:nvSpPr>
        <p:spPr>
          <a:xfrm>
            <a:off x="4547615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20" name="DSFR-card-numero"/>
          <p:cNvSpPr/>
          <p:nvPr/>
        </p:nvSpPr>
        <p:spPr>
          <a:xfrm>
            <a:off x="8391144" y="2377440"/>
            <a:ext cx="457200" cy="45720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25000"/>
              </a:lnSpc>
            </a:pPr>
            <a:r>
              <a:rPr sz="1600" b="1" i="0" lang="fr-FR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FR-accent-decoratif" descr=""/>
          <p:cNvSpPr/>
          <p:nvPr/>
        </p:nvSpPr>
        <p:spPr>
          <a:xfrm>
            <a:off x="4319015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accent-decoratif" descr=""/>
          <p:cNvSpPr/>
          <p:nvPr/>
        </p:nvSpPr>
        <p:spPr>
          <a:xfrm>
            <a:off x="8162543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FR-accent-decoratif" descr=""/>
          <p:cNvSpPr/>
          <p:nvPr/>
        </p:nvSpPr>
        <p:spPr>
          <a:xfrm>
            <a:off x="475488" y="46177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Une carte sans numéro - message sans séquence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1 carte sans n°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19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11155680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377440"/>
            <a:ext cx="10863072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Principe fondamental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34640"/>
            <a:ext cx="10863072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Une information doit être perceptible,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utilisable, compréhensible et robuste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(acronyme POUR de WCAG 2.2).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Deux cartes sans numéro - deux facettes équivalentes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2 cartes sans n°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20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37744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Audit automatique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34640"/>
            <a:ext cx="5097779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Rapide (quelques minutes)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Couvre 30 % des critères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Outils : axe-core, WAVE, Lighthouse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40280"/>
            <a:ext cx="5390388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6469379" y="237744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Audit manuel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6469379" y="2834640"/>
            <a:ext cx="5097779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Long (journées à semaines)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Couvre 100 % des critères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Tests clavier, lecteur d’écran, contraste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Trois cartes sans numéro - triade de concepts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3 cartes sans n°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21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3468623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37744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Perceptible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34640"/>
            <a:ext cx="3176016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Alternatives textuelles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Contrastes suffisants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Sous-titres</a:t>
            </a:r>
          </a:p>
        </p:txBody>
      </p:sp>
      <p:sp>
        <p:nvSpPr>
          <p:cNvPr id="13" name="DSFR-box"/>
          <p:cNvSpPr/>
          <p:nvPr/>
        </p:nvSpPr>
        <p:spPr>
          <a:xfrm>
            <a:off x="4392167" y="2240280"/>
            <a:ext cx="3468623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4547615" y="237744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Utilisable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4547615" y="2834640"/>
            <a:ext cx="3176016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Navigation au clavier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Temps suffisant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Pas de clignotement</a:t>
            </a:r>
          </a:p>
        </p:txBody>
      </p:sp>
      <p:sp>
        <p:nvSpPr>
          <p:cNvPr id="17" name="DSFR-box"/>
          <p:cNvSpPr/>
          <p:nvPr/>
        </p:nvSpPr>
        <p:spPr>
          <a:xfrm>
            <a:off x="8235695" y="2240280"/>
            <a:ext cx="3468623" cy="3200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rd-titre"/>
          <p:cNvSpPr txBox="1"/>
          <p:nvPr/>
        </p:nvSpPr>
        <p:spPr>
          <a:xfrm>
            <a:off x="8391144" y="237744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Compréhensible</a:t>
            </a:r>
          </a:p>
        </p:txBody>
      </p:sp>
      <p:sp>
        <p:nvSpPr>
          <p:cNvPr id="19" name="DSFR-card-contenu"/>
          <p:cNvSpPr txBox="1"/>
          <p:nvPr/>
        </p:nvSpPr>
        <p:spPr>
          <a:xfrm>
            <a:off x="8391144" y="2834640"/>
            <a:ext cx="3176016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Langue identifiée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Texte lisible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Prévisibilité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319015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8162543" y="224028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Une carte sans numéro + callout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1 carte sans n° + callout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22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11155680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377440"/>
            <a:ext cx="10863072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Principe fondamental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34640"/>
            <a:ext cx="1086307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Une information doit être perceptible,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utilisable, compréhensible et robuste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(acronyme POUR de WCAG 2.2).</a:t>
            </a:r>
          </a:p>
        </p:txBody>
      </p:sp>
      <p:sp>
        <p:nvSpPr>
          <p:cNvPr id="13" name="DSFR-box"/>
          <p:cNvSpPr/>
          <p:nvPr/>
        </p:nvSpPr>
        <p:spPr>
          <a:xfrm>
            <a:off x="548640" y="4617720"/>
            <a:ext cx="11155680" cy="11430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llout-titre"/>
          <p:cNvSpPr txBox="1"/>
          <p:nvPr/>
        </p:nvSpPr>
        <p:spPr>
          <a:xfrm>
            <a:off x="704088" y="4709160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Point d’attention</a:t>
            </a:r>
          </a:p>
        </p:txBody>
      </p:sp>
      <p:sp>
        <p:nvSpPr>
          <p:cNvPr id="15" name="DSFR-callout-body"/>
          <p:cNvSpPr txBox="1"/>
          <p:nvPr/>
        </p:nvSpPr>
        <p:spPr>
          <a:xfrm>
            <a:off x="704088" y="51206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Ces 4 principes structurent l’ensemble des 50 critères RGAA 4.1.2.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Les retenir facilite la lecture du référentiel.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75488" y="46177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Deux cartes sans numéro + callout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2 cartes sans n° + callout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23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37744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Audit automatique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34640"/>
            <a:ext cx="5097779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Rapide (quelques minutes)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Couvre 30 % des critères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40280"/>
            <a:ext cx="5390388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6469379" y="2377440"/>
            <a:ext cx="509777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Audit manuel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6469379" y="2834640"/>
            <a:ext cx="5097779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Long (journées à semaines)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Couvre 100 % des critères</a:t>
            </a:r>
          </a:p>
        </p:txBody>
      </p:sp>
      <p:sp>
        <p:nvSpPr>
          <p:cNvPr id="17" name="DSFR-box"/>
          <p:cNvSpPr/>
          <p:nvPr/>
        </p:nvSpPr>
        <p:spPr>
          <a:xfrm>
            <a:off x="548640" y="4617720"/>
            <a:ext cx="11155680" cy="11430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llout-titre"/>
          <p:cNvSpPr txBox="1"/>
          <p:nvPr/>
        </p:nvSpPr>
        <p:spPr>
          <a:xfrm>
            <a:off x="704088" y="470915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À retenir</a:t>
            </a:r>
          </a:p>
        </p:txBody>
      </p:sp>
      <p:sp>
        <p:nvSpPr>
          <p:cNvPr id="19" name="DSFR-callout-body"/>
          <p:cNvSpPr txBox="1"/>
          <p:nvPr/>
        </p:nvSpPr>
        <p:spPr>
          <a:xfrm>
            <a:off x="704088" y="51206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Les deux approches sont complémentaires :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automatique pour détecter, manuel pour qualifier.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475488" y="46177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Trois cartes sans numéro + callout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3 cartes sans n° + callout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24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3468623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card-titre"/>
          <p:cNvSpPr txBox="1"/>
          <p:nvPr/>
        </p:nvSpPr>
        <p:spPr>
          <a:xfrm>
            <a:off x="704088" y="237744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Perceptible</a:t>
            </a:r>
          </a:p>
        </p:txBody>
      </p:sp>
      <p:sp>
        <p:nvSpPr>
          <p:cNvPr id="11" name="DSFR-card-contenu"/>
          <p:cNvSpPr txBox="1"/>
          <p:nvPr/>
        </p:nvSpPr>
        <p:spPr>
          <a:xfrm>
            <a:off x="704088" y="2834640"/>
            <a:ext cx="3176016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Alternatives textuelles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Contrastes suffisants</a:t>
            </a:r>
          </a:p>
        </p:txBody>
      </p:sp>
      <p:sp>
        <p:nvSpPr>
          <p:cNvPr id="13" name="DSFR-box"/>
          <p:cNvSpPr/>
          <p:nvPr/>
        </p:nvSpPr>
        <p:spPr>
          <a:xfrm>
            <a:off x="4392167" y="2240280"/>
            <a:ext cx="3468623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card-titre"/>
          <p:cNvSpPr txBox="1"/>
          <p:nvPr/>
        </p:nvSpPr>
        <p:spPr>
          <a:xfrm>
            <a:off x="4547615" y="237744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Utilisable</a:t>
            </a:r>
          </a:p>
        </p:txBody>
      </p:sp>
      <p:sp>
        <p:nvSpPr>
          <p:cNvPr id="15" name="DSFR-card-contenu"/>
          <p:cNvSpPr txBox="1"/>
          <p:nvPr/>
        </p:nvSpPr>
        <p:spPr>
          <a:xfrm>
            <a:off x="4547615" y="2834640"/>
            <a:ext cx="3176016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Navigation au clavier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Temps suffisant</a:t>
            </a:r>
          </a:p>
        </p:txBody>
      </p:sp>
      <p:sp>
        <p:nvSpPr>
          <p:cNvPr id="17" name="DSFR-box"/>
          <p:cNvSpPr/>
          <p:nvPr/>
        </p:nvSpPr>
        <p:spPr>
          <a:xfrm>
            <a:off x="8235695" y="2240280"/>
            <a:ext cx="3468623" cy="2103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FR-card-titre"/>
          <p:cNvSpPr txBox="1"/>
          <p:nvPr/>
        </p:nvSpPr>
        <p:spPr>
          <a:xfrm>
            <a:off x="8391144" y="2377440"/>
            <a:ext cx="3176016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Compréhensible</a:t>
            </a:r>
          </a:p>
        </p:txBody>
      </p:sp>
      <p:sp>
        <p:nvSpPr>
          <p:cNvPr id="19" name="DSFR-card-contenu"/>
          <p:cNvSpPr txBox="1"/>
          <p:nvPr/>
        </p:nvSpPr>
        <p:spPr>
          <a:xfrm>
            <a:off x="8391144" y="2834640"/>
            <a:ext cx="3176016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Langue identifiée</a:t>
            </a:r>
          </a:p>
          <a:p>
            <a:pPr algn="l">
              <a:lnSpc>
                <a:spcPct val="125000"/>
              </a:lnSpc>
            </a:pPr>
            <a:r>
              <a:rPr sz="1100" lang="fr-FR">
                <a:solidFill>
                  <a:srgbClr val="161616"/>
                </a:solidFill>
                <a:latin typeface="Marianne"/>
              </a:rPr>
              <a:t>• Texte lisible</a:t>
            </a:r>
          </a:p>
        </p:txBody>
      </p:sp>
      <p:sp>
        <p:nvSpPr>
          <p:cNvPr id="21" name="DSFR-box"/>
          <p:cNvSpPr/>
          <p:nvPr/>
        </p:nvSpPr>
        <p:spPr>
          <a:xfrm>
            <a:off x="548640" y="4617720"/>
            <a:ext cx="11155680" cy="114300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FR-callout-titre"/>
          <p:cNvSpPr txBox="1"/>
          <p:nvPr/>
        </p:nvSpPr>
        <p:spPr>
          <a:xfrm>
            <a:off x="704088" y="4709159"/>
            <a:ext cx="10908792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Règle d’or</a:t>
            </a:r>
          </a:p>
        </p:txBody>
      </p:sp>
      <p:sp>
        <p:nvSpPr>
          <p:cNvPr id="23" name="DSFR-callout-body"/>
          <p:cNvSpPr txBox="1"/>
          <p:nvPr/>
        </p:nvSpPr>
        <p:spPr>
          <a:xfrm>
            <a:off x="704088" y="5120640"/>
            <a:ext cx="109087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Les 4 principes POUR couvrent 100 % des exigences WCAG.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Tout critère se rattache à l’un d’eux.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4319015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FR-accent-decoratif" descr=""/>
          <p:cNvSpPr/>
          <p:nvPr/>
        </p:nvSpPr>
        <p:spPr>
          <a:xfrm>
            <a:off x="8162543" y="2240280"/>
            <a:ext cx="73152" cy="21031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FR-accent-decoratif" descr=""/>
          <p:cNvSpPr/>
          <p:nvPr/>
        </p:nvSpPr>
        <p:spPr>
          <a:xfrm>
            <a:off x="475488" y="4617720"/>
            <a:ext cx="73152" cy="1143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Checklist - préparer un document accessible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Checklist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25</a:t>
            </a:r>
            <a:endParaRPr lang="fr-FR" dirty="0"/>
          </a:p>
        </p:txBody>
      </p:sp>
      <p:sp>
        <p:nvSpPr>
          <p:cNvPr id="8" name="DSFR-checklist"/>
          <p:cNvSpPr txBox="1"/>
          <p:nvPr/>
        </p:nvSpPr>
        <p:spPr>
          <a:xfrm>
            <a:off x="475488" y="2240280"/>
            <a:ext cx="11228832" cy="3154679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18753C"/>
                </a:solidFill>
                <a:latin typeface="Marianne"/>
              </a:rPr>
              <a:t>☑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Styles hiérarchiques appliqués (Titre 1, Titre 2, Titre 3)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18753C"/>
                </a:solidFill>
                <a:latin typeface="Marianne"/>
              </a:rPr>
              <a:t>☑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Alt text renseigné sur toutes les images informatives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Contrastes vérifiés (≥ 4,5:1 pour le texte courant)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18753C"/>
                </a:solidFill>
                <a:latin typeface="Marianne"/>
              </a:rPr>
              <a:t>☑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Tableaux avec en-têtes de colonne identifiés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Liens avec texte descriptif (pas « cliquer ici »)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18753C"/>
                </a:solidFill>
                <a:latin typeface="Marianne"/>
              </a:rPr>
              <a:t>☑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Langue du document définie (fr-FR)</a:t>
            </a:r>
          </a:p>
          <a:p>
            <a:pPr algn="l">
              <a:lnSpc>
                <a:spcPct val="150000"/>
              </a:lnSpc>
            </a:pPr>
            <a:r>
              <a:rPr sz="1800" b="1" lang="fr-FR">
                <a:solidFill>
                  <a:srgbClr val="000091"/>
                </a:solidFill>
                <a:latin typeface="Marianne"/>
              </a:rPr>
              <a:t>☐  </a:t>
            </a:r>
            <a:r>
              <a:rPr sz="1400" lang="fr-FR">
                <a:solidFill>
                  <a:srgbClr val="161616"/>
                </a:solidFill>
                <a:latin typeface="Marianne"/>
              </a:rPr>
              <a:t>Pas de justification - alignement à gauche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Avant / après - un lien accessible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Avant et après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26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15544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error-titre"/>
          <p:cNvSpPr txBox="1"/>
          <p:nvPr/>
        </p:nvSpPr>
        <p:spPr>
          <a:xfrm>
            <a:off x="704088" y="233172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Avant</a:t>
            </a:r>
          </a:p>
        </p:txBody>
      </p:sp>
      <p:sp>
        <p:nvSpPr>
          <p:cNvPr id="11" name="DSFR-alert-error-body"/>
          <p:cNvSpPr txBox="1"/>
          <p:nvPr/>
        </p:nvSpPr>
        <p:spPr>
          <a:xfrm>
            <a:off x="704088" y="2743200"/>
            <a:ext cx="514350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« Cliquez ici pour en savoir plus »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Hors contexte, le lecteur ne sait pas où il arrive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Échec du critère RGAA 6.1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40280"/>
            <a:ext cx="5390388" cy="15544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success-titre"/>
          <p:cNvSpPr txBox="1"/>
          <p:nvPr/>
        </p:nvSpPr>
        <p:spPr>
          <a:xfrm>
            <a:off x="6469379" y="233172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Après</a:t>
            </a:r>
          </a:p>
        </p:txBody>
      </p:sp>
      <p:sp>
        <p:nvSpPr>
          <p:cNvPr id="15" name="DSFR-alert-success-body"/>
          <p:cNvSpPr txBox="1"/>
          <p:nvPr/>
        </p:nvSpPr>
        <p:spPr>
          <a:xfrm>
            <a:off x="6469379" y="2743200"/>
            <a:ext cx="514350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« Consulter le rapport d’audit 2025 »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Le texte du lien décrit sa destination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Conforme au critère RGAA 6.1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4028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Exemple et contre-exemple - alt text d’image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73152" rIns="73152"/>
          <a:lstStyle/>
          <a:p>
            <a:pPr algn="r">
              <a:lnSpc>
                <a:spcPct val="125000"/>
              </a:lnSpc>
              <a:buNone/>
            </a:pPr>
            <a:r>
              <a:rPr sz="1100" b="0" i="0" lang="fr-FR">
                <a:solidFill>
                  <a:srgbClr val="666666"/>
                </a:solidFill>
                <a:latin typeface="Marianne"/>
              </a:rPr>
              <a:t>Démo | Bon et mauvais exemple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27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240280"/>
            <a:ext cx="5390388" cy="17602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alert-success-titre"/>
          <p:cNvSpPr txBox="1"/>
          <p:nvPr/>
        </p:nvSpPr>
        <p:spPr>
          <a:xfrm>
            <a:off x="704088" y="233172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✓  À faire</a:t>
            </a:r>
          </a:p>
        </p:txBody>
      </p:sp>
      <p:sp>
        <p:nvSpPr>
          <p:cNvPr id="11" name="DSFR-alert-success-body"/>
          <p:cNvSpPr txBox="1"/>
          <p:nvPr/>
        </p:nvSpPr>
        <p:spPr>
          <a:xfrm>
            <a:off x="704088" y="2743200"/>
            <a:ext cx="5143500" cy="11658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alt="Graphique en barres : progression 2020-2025"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Description concise et informative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Rend l’image compréhensible sans la voir</a:t>
            </a:r>
          </a:p>
        </p:txBody>
      </p:sp>
      <p:sp>
        <p:nvSpPr>
          <p:cNvPr id="13" name="DSFR-box"/>
          <p:cNvSpPr/>
          <p:nvPr/>
        </p:nvSpPr>
        <p:spPr>
          <a:xfrm>
            <a:off x="6313931" y="2240280"/>
            <a:ext cx="5390388" cy="15544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FR-alert-error-titre"/>
          <p:cNvSpPr txBox="1"/>
          <p:nvPr/>
        </p:nvSpPr>
        <p:spPr>
          <a:xfrm>
            <a:off x="6469379" y="2331720"/>
            <a:ext cx="51435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lang="fr-FR">
                <a:solidFill>
                  <a:srgbClr val="000091"/>
                </a:solidFill>
                <a:latin typeface="Marianne"/>
              </a:rPr>
              <a:t>✗  À éviter</a:t>
            </a:r>
          </a:p>
        </p:txBody>
      </p:sp>
      <p:sp>
        <p:nvSpPr>
          <p:cNvPr id="15" name="DSFR-alert-error-body"/>
          <p:cNvSpPr txBox="1"/>
          <p:nvPr/>
        </p:nvSpPr>
        <p:spPr>
          <a:xfrm>
            <a:off x="6469379" y="2743200"/>
            <a:ext cx="514350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alt="image" ou alt="image1.png"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Texte sans valeur informative</a:t>
            </a:r>
          </a:p>
          <a:p>
            <a:pPr algn="l">
              <a:lnSpc>
                <a:spcPct val="125000"/>
              </a:lnSpc>
            </a:pPr>
            <a:r>
              <a:rPr sz="1200" lang="fr-FR">
                <a:solidFill>
                  <a:srgbClr val="161616"/>
                </a:solidFill>
                <a:latin typeface="Marianne"/>
              </a:rPr>
              <a:t>• alt="" sur une image porteuse d’information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Démo composants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240280"/>
            <a:ext cx="73152" cy="17602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FR-accent-decoratif" descr=""/>
          <p:cNvSpPr/>
          <p:nvPr/>
        </p:nvSpPr>
        <p:spPr>
          <a:xfrm>
            <a:off x="6240779" y="224028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997" y="1051560"/>
            <a:ext cx="11231971" cy="960120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2800" b="1" i="0" lang="fr-FR">
                <a:solidFill>
                  <a:srgbClr val="000091"/>
                </a:solidFill>
                <a:latin typeface="Marianne"/>
              </a:rPr>
              <a:t>Merci pour votre attention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28</a:t>
            </a:r>
            <a:endParaRPr lang="fr-FR" dirty="0"/>
          </a:p>
        </p:txBody>
      </p:sp>
      <p:sp>
        <p:nvSpPr>
          <p:cNvPr id="9" name="DSFR-box"/>
          <p:cNvSpPr/>
          <p:nvPr/>
        </p:nvSpPr>
        <p:spPr>
          <a:xfrm>
            <a:off x="548640" y="2926080"/>
            <a:ext cx="1115568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FR-highlight"/>
          <p:cNvSpPr txBox="1"/>
          <p:nvPr/>
        </p:nvSpPr>
        <p:spPr>
          <a:xfrm>
            <a:off x="749808" y="3017520"/>
            <a:ext cx="10863072" cy="457199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lang="fr-FR">
                <a:solidFill>
                  <a:srgbClr val="000091"/>
                </a:solidFill>
                <a:latin typeface="Marianne"/>
              </a:rPr>
              <a:t>Pour toute question : formation-igpde@finances.gouv.fr</a:t>
            </a:r>
          </a:p>
        </p:txBody>
      </p:sp>
      <p:sp>
        <p:nvSpPr>
          <p:cNvPr id="11" name="DSFR-texte-libre"/>
          <p:cNvSpPr txBox="1"/>
          <p:nvPr/>
        </p:nvSpPr>
        <p:spPr>
          <a:xfrm>
            <a:off x="475488" y="4206240"/>
            <a:ext cx="11228832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 lang="fr-FR">
                <a:solidFill>
                  <a:srgbClr val="000091"/>
                </a:solidFill>
                <a:latin typeface="Marianne"/>
              </a:rPr>
              <a:t>Retrouvez les supports sur l’espace Alizé de l’IGPDE</a:t>
            </a:r>
          </a:p>
        </p:txBody>
      </p:sp>
      <p:sp>
        <p:nvSpPr>
          <p:cNvPr id="12" name="DSFR-texte-libre"/>
          <p:cNvSpPr txBox="1"/>
          <p:nvPr/>
        </p:nvSpPr>
        <p:spPr>
          <a:xfrm>
            <a:off x="475488" y="4846320"/>
            <a:ext cx="11228832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fr-FR">
                <a:solidFill>
                  <a:srgbClr val="F6F6F6"/>
                </a:solidFill>
                <a:latin typeface="Marianne"/>
              </a:rPr>
              <a:t>Merci de répondre à l’évaluation à chaud en sortant de salle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4 juin 2026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 wrap="square" anchor="t" lIns="73152" rIns="73152"/>
          <a:lstStyle/>
          <a:p>
            <a:pPr algn="l">
              <a:lnSpc>
                <a:spcPct val="125000"/>
              </a:lnSpc>
            </a:pPr>
            <a:r>
              <a:rPr sz="1000" b="0" i="0" lang="fr-FR">
                <a:solidFill>
                  <a:srgbClr val="666666"/>
                </a:solidFill>
                <a:latin typeface="Marianne"/>
              </a:rPr>
              <a:t>Formation 102638 / Clôture</a:t>
            </a:r>
          </a:p>
        </p:txBody>
      </p:sp>
      <p:sp>
        <p:nvSpPr>
          <p:cNvPr id="8" name="DSFR-accent-decoratif" descr=""/>
          <p:cNvSpPr/>
          <p:nvPr/>
        </p:nvSpPr>
        <p:spPr>
          <a:xfrm>
            <a:off x="475488" y="2926080"/>
            <a:ext cx="73152" cy="6400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200</TotalTime>
  <Words>1065</Words>
  <Application>Microsoft Office PowerPoint</Application>
  <PresentationFormat>Affichage à l'écran (16:9)</PresentationFormat>
  <Paragraphs>157</Paragraphs>
  <Slides>16</Slides>
  <Notes>1</Notes>
  <HiddenSlides>3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GOUVERNEMENT</vt:lpstr>
      <vt:lpstr>XXXXX Libelle de la formation</vt:lpstr>
      <vt:lpstr>Présentation PowerPoint</vt:lpstr>
      <vt:lpstr>Le programme</vt:lpstr>
      <vt:lpstr>Présentation PowerPoint</vt:lpstr>
      <vt:lpstr>Sommaire</vt:lpstr>
      <vt:lpstr>Introduction aux réseaux informatiques</vt:lpstr>
      <vt:lpstr>Introduction </vt:lpstr>
      <vt:lpstr>Présentation PowerPoint</vt:lpstr>
      <vt:lpstr>Présentation PowerPoint</vt:lpstr>
      <vt:lpstr>Sommaire</vt:lpstr>
      <vt:lpstr>Titre de partie</vt:lpstr>
      <vt:lpstr>Lorem ipsum dolor  sit amet consectetur</vt:lpstr>
      <vt:lpstr>Lorem ipsum dolor  sit amet consectetur</vt:lpstr>
      <vt:lpstr>Réduire / Augmenter le niveau de liste</vt:lpstr>
      <vt:lpstr>Titre</vt:lpstr>
      <vt:lpstr>Copier / coller les textes</vt:lpstr>
    </vt:vector>
  </TitlesOfParts>
  <Manager>Client</Manager>
  <Company>Secrétariat Général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IGPDE-DSFR - démonstration</dc:title>
  <dc:subject>Démonstration des composants DSFR sur template IGPDE</dc:subject>
  <dc:creator>Alex Guiderdoni</dc:creator>
  <cp:lastModifiedBy>COUPLAN Carine</cp:lastModifiedBy>
  <cp:revision>15</cp:revision>
  <dcterms:created xsi:type="dcterms:W3CDTF">2020-03-06T09:47:41Z</dcterms:created>
  <dcterms:modified xsi:type="dcterms:W3CDTF">2024-09-06T15:21:48Z</dcterms:modified>
  <dc:language>fr-FR</dc:language>
</cp:coreProperties>
</file>