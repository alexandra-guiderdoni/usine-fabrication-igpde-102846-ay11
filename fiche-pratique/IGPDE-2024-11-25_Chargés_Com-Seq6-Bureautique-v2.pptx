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GoogleSlidesCustomDataVersion2">
      <go:slidesCustomData xmlns:go="http://customooxmlschemas.google.com/" r:id="rId63" roundtripDataSignature="AMtx7miEdj9qNFsaPQjvJVSbCQk+agy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91" orient="horz"/>
        <p:guide pos="854" orient="horz"/>
        <p:guide pos="821" orient="horz"/>
        <p:guide pos="3049" orient="horz"/>
        <p:guide pos="3151" orient="horz"/>
        <p:guide pos="2880"/>
        <p:guide pos="476"/>
        <p:guide pos="5193"/>
        <p:guide pos="54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naguru.com/pac-comprendre-et-corriger-les-erreurs-daccessibilite/"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9" name="Google Shape;139;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6" name="Google Shape;15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6" name="Google Shape;16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8" name="Google Shape;17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r-FR"/>
              <a:t>Remarque : Attention à la reprise d’anciens documents avec potentiellement un « Titre » inadéquat.</a:t>
            </a:r>
            <a:endParaRPr/>
          </a:p>
        </p:txBody>
      </p:sp>
      <p:sp>
        <p:nvSpPr>
          <p:cNvPr id="201" name="Google Shape;20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7" name="Google Shape;21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7" name="Google Shape;22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9" name="Google Shape;23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3" name="Google Shape;25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3" name="Google Shape;26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75" name="Google Shape;27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7" name="Google Shape;28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4" name="Google Shape;30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3" name="Google Shape;32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37" name="Google Shape;33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53" name="Google Shape;353;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68" name="Google Shape;36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1" name="Google Shape;39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3" name="Google Shape;40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27" name="Google Shape;427;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45" name="Google Shape;44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57" name="Google Shape;457;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69" name="Google Shape;469;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5" name="Google Shape;48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5" name="Google Shape;495;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07" name="Google Shape;50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20" name="Google Shape;52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36" name="Google Shape;536;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48" name="Google Shape;548;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2" name="Google Shape;562;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79" name="Google Shape;579;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91" name="Google Shape;59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1" name="Google Shape;60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r-FR"/>
              <a:t>Limites de fonctionnement sous Word et Writer :</a:t>
            </a:r>
            <a:endParaRPr/>
          </a:p>
          <a:p>
            <a:pPr indent="0" lvl="0" marL="0" rtl="0" algn="l">
              <a:spcBef>
                <a:spcPts val="1200"/>
              </a:spcBef>
              <a:spcAft>
                <a:spcPts val="0"/>
              </a:spcAft>
              <a:buNone/>
            </a:pPr>
            <a:r>
              <a:rPr b="1" lang="fr-FR"/>
              <a:t>Sous Word :</a:t>
            </a:r>
            <a:endParaRPr/>
          </a:p>
          <a:p>
            <a:pPr indent="0" lvl="0" marL="0" rtl="0" algn="l">
              <a:spcBef>
                <a:spcPts val="600"/>
              </a:spcBef>
              <a:spcAft>
                <a:spcPts val="0"/>
              </a:spcAft>
              <a:buNone/>
            </a:pPr>
            <a:r>
              <a:rPr lang="fr-FR"/>
              <a:t>Affichage du texte de la note au survol, mais pas de restitution au lecteur d'écran.</a:t>
            </a:r>
            <a:endParaRPr/>
          </a:p>
          <a:p>
            <a:pPr indent="0" lvl="0" marL="0" rtl="0" algn="l">
              <a:spcBef>
                <a:spcPts val="600"/>
              </a:spcBef>
              <a:spcAft>
                <a:spcPts val="0"/>
              </a:spcAft>
              <a:buNone/>
            </a:pPr>
            <a:r>
              <a:rPr lang="fr-FR"/>
              <a:t>Le lien permet d'atteindre la note à la souris mais pas au clavier. Pas de lien pour le retour au point de départ.</a:t>
            </a:r>
            <a:endParaRPr/>
          </a:p>
          <a:p>
            <a:pPr indent="0" lvl="0" marL="0" rtl="0" algn="l">
              <a:spcBef>
                <a:spcPts val="1800"/>
              </a:spcBef>
              <a:spcAft>
                <a:spcPts val="0"/>
              </a:spcAft>
              <a:buNone/>
            </a:pPr>
            <a:r>
              <a:rPr b="1" lang="fr-FR"/>
              <a:t>Sous Writer :</a:t>
            </a:r>
            <a:endParaRPr/>
          </a:p>
          <a:p>
            <a:pPr indent="0" lvl="0" marL="0" rtl="0" algn="l">
              <a:spcBef>
                <a:spcPts val="1200"/>
              </a:spcBef>
              <a:spcAft>
                <a:spcPts val="0"/>
              </a:spcAft>
              <a:buNone/>
            </a:pPr>
            <a:r>
              <a:rPr lang="fr-FR"/>
              <a:t>Un lien permet d’atteindre la note. Celle-ci même contient un lien permettant de revenir au point de départ. </a:t>
            </a:r>
            <a:endParaRPr/>
          </a:p>
          <a:p>
            <a:pPr indent="0" lvl="0" marL="0" rtl="0" algn="l">
              <a:spcBef>
                <a:spcPts val="1200"/>
              </a:spcBef>
              <a:spcAft>
                <a:spcPts val="0"/>
              </a:spcAft>
              <a:buNone/>
            </a:pPr>
            <a:r>
              <a:rPr lang="fr-FR"/>
              <a:t>Le fonctionnement est bon à la souris mais pas au clavier.</a:t>
            </a:r>
            <a:endParaRPr/>
          </a:p>
        </p:txBody>
      </p:sp>
      <p:sp>
        <p:nvSpPr>
          <p:cNvPr id="614" name="Google Shape;614;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31" name="Google Shape;631;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3" name="Google Shape;64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55" name="Google Shape;655;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67" name="Google Shape;66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77" name="Google Shape;677;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91" name="Google Shape;69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4" name="Google Shape;70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Clr>
                <a:srgbClr val="000000"/>
              </a:buClr>
              <a:buSzPts val="1400"/>
              <a:buFont typeface="Arial"/>
              <a:buChar char="•"/>
            </a:pPr>
            <a:r>
              <a:rPr b="0" i="0" lang="fr-FR" sz="1400" u="none" strike="noStrike">
                <a:solidFill>
                  <a:srgbClr val="000000"/>
                </a:solidFill>
                <a:latin typeface="Arial"/>
                <a:ea typeface="Arial"/>
                <a:cs typeface="Arial"/>
                <a:sym typeface="Arial"/>
              </a:rPr>
              <a:t>Éviter les combinaisons de couleurs difficiles à distinguer ou trop similaire (rouge / vert).</a:t>
            </a:r>
            <a:endParaRPr/>
          </a:p>
          <a:p>
            <a:pPr indent="-285750" lvl="0" marL="285750" rtl="0" algn="l">
              <a:spcBef>
                <a:spcPts val="600"/>
              </a:spcBef>
              <a:spcAft>
                <a:spcPts val="0"/>
              </a:spcAft>
              <a:buClr>
                <a:srgbClr val="000000"/>
              </a:buClr>
              <a:buSzPts val="1400"/>
              <a:buFont typeface="Arial"/>
              <a:buChar char="•"/>
            </a:pPr>
            <a:r>
              <a:rPr b="0" i="0" lang="fr-FR" sz="1400" u="none" strike="noStrike">
                <a:solidFill>
                  <a:srgbClr val="000000"/>
                </a:solidFill>
                <a:latin typeface="Arial"/>
                <a:ea typeface="Arial"/>
                <a:cs typeface="Arial"/>
                <a:sym typeface="Arial"/>
              </a:rPr>
              <a:t>Limiter l’utilisation des couleurs vives et saturées :</a:t>
            </a:r>
            <a:endParaRPr/>
          </a:p>
          <a:p>
            <a:pPr indent="-285750" lvl="1" marL="742950" rtl="0" algn="l">
              <a:spcBef>
                <a:spcPts val="0"/>
              </a:spcBef>
              <a:spcAft>
                <a:spcPts val="0"/>
              </a:spcAft>
              <a:buClr>
                <a:srgbClr val="000000"/>
              </a:buClr>
              <a:buSzPts val="1400"/>
              <a:buFont typeface="Arial"/>
              <a:buChar char="•"/>
            </a:pPr>
            <a:r>
              <a:rPr b="0" i="0" lang="fr-FR" sz="1400" u="none" strike="noStrike">
                <a:solidFill>
                  <a:srgbClr val="000000"/>
                </a:solidFill>
                <a:latin typeface="Arial"/>
                <a:ea typeface="Arial"/>
                <a:cs typeface="Arial"/>
                <a:sym typeface="Arial"/>
              </a:rPr>
              <a:t>Fatigue oculaire ;</a:t>
            </a:r>
            <a:endParaRPr/>
          </a:p>
          <a:p>
            <a:pPr indent="-285750" lvl="1" marL="742950" rtl="0" algn="l">
              <a:spcBef>
                <a:spcPts val="0"/>
              </a:spcBef>
              <a:spcAft>
                <a:spcPts val="0"/>
              </a:spcAft>
              <a:buClr>
                <a:srgbClr val="000000"/>
              </a:buClr>
              <a:buSzPts val="1400"/>
              <a:buFont typeface="Arial"/>
              <a:buChar char="•"/>
            </a:pPr>
            <a:r>
              <a:rPr b="0" i="0" lang="fr-FR" sz="1400" u="none" strike="noStrike">
                <a:solidFill>
                  <a:srgbClr val="000000"/>
                </a:solidFill>
                <a:latin typeface="Arial"/>
                <a:ea typeface="Arial"/>
                <a:cs typeface="Arial"/>
                <a:sym typeface="Arial"/>
              </a:rPr>
              <a:t>Lecture pénible.</a:t>
            </a:r>
            <a:endParaRPr/>
          </a:p>
          <a:p>
            <a:pPr indent="-285750" lvl="0" marL="285750" rtl="0" algn="l">
              <a:spcBef>
                <a:spcPts val="600"/>
              </a:spcBef>
              <a:spcAft>
                <a:spcPts val="0"/>
              </a:spcAft>
              <a:buClr>
                <a:srgbClr val="000000"/>
              </a:buClr>
              <a:buSzPts val="1400"/>
              <a:buFont typeface="Arial"/>
              <a:buChar char="•"/>
            </a:pPr>
            <a:r>
              <a:rPr b="0" i="0" lang="fr-FR" sz="1400" u="none" strike="noStrike">
                <a:solidFill>
                  <a:srgbClr val="000000"/>
                </a:solidFill>
                <a:latin typeface="Arial"/>
                <a:ea typeface="Arial"/>
                <a:cs typeface="Arial"/>
                <a:sym typeface="Arial"/>
              </a:rPr>
              <a:t>Prévoir des styles (de paragraphe ou de caractère) spécifiques pour les textes en couleurs.</a:t>
            </a:r>
            <a:endParaRPr/>
          </a:p>
        </p:txBody>
      </p:sp>
      <p:sp>
        <p:nvSpPr>
          <p:cNvPr id="724" name="Google Shape;724;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39" name="Google Shape;73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51" name="Google Shape;751;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r-FR" sz="1300"/>
              <a:t>Remarque : une image lien est forcément une image porteuse d’information car si on retire l’image, on retire le lien.</a:t>
            </a:r>
            <a:endParaRPr/>
          </a:p>
          <a:p>
            <a:pPr indent="0" lvl="0" marL="0" rtl="0" algn="l">
              <a:spcBef>
                <a:spcPts val="0"/>
              </a:spcBef>
              <a:spcAft>
                <a:spcPts val="0"/>
              </a:spcAft>
              <a:buNone/>
            </a:pPr>
            <a:r>
              <a:rPr lang="fr-FR" sz="1300"/>
              <a:t>Pour un lien, la pertinence de l’alternative se définie par la destination du lien en priorité.</a:t>
            </a:r>
            <a:endParaRPr/>
          </a:p>
        </p:txBody>
      </p:sp>
      <p:sp>
        <p:nvSpPr>
          <p:cNvPr id="761" name="Google Shape;761;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79" name="Google Shape;779;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r-FR" sz="1300"/>
              <a:t>La </a:t>
            </a:r>
            <a:r>
              <a:rPr b="1" lang="fr-FR" sz="1300"/>
              <a:t>description détaillée </a:t>
            </a:r>
            <a:r>
              <a:rPr lang="fr-FR" sz="1300"/>
              <a:t>pourrait être un lien vers une annexe, voire un document tiers.</a:t>
            </a:r>
            <a:endParaRPr/>
          </a:p>
          <a:p>
            <a:pPr indent="0" lvl="0" marL="0" rtl="0" algn="l">
              <a:spcBef>
                <a:spcPts val="600"/>
              </a:spcBef>
              <a:spcAft>
                <a:spcPts val="0"/>
              </a:spcAft>
              <a:buNone/>
            </a:pPr>
            <a:r>
              <a:rPr lang="fr-FR" sz="1300"/>
              <a:t>Concernant les </a:t>
            </a:r>
            <a:r>
              <a:rPr b="1" lang="fr-FR" sz="1300"/>
              <a:t>graphiques</a:t>
            </a:r>
            <a:r>
              <a:rPr lang="fr-FR" sz="1300"/>
              <a:t>, l’insertion directement d’un graphe issu d’un tableur ne permet pas une restitution cohérente. En effet, le lecteur d’écran lira tous les textes disponibles, ici les ordonnées, les abscises puis la légende (0 %, 10 %, 20%, jusqu’à 80 %, puis projet 1, projet 2) sans pour autant restituer les valeurs représentées par le graphe.</a:t>
            </a:r>
            <a:endParaRPr/>
          </a:p>
          <a:p>
            <a:pPr indent="0" lvl="0" marL="0" rtl="0" algn="l">
              <a:spcBef>
                <a:spcPts val="0"/>
              </a:spcBef>
              <a:spcAft>
                <a:spcPts val="0"/>
              </a:spcAft>
              <a:buNone/>
            </a:pPr>
            <a:r>
              <a:rPr lang="fr-FR" sz="1300"/>
              <a:t>Par conséquent, il faudra copier le graphique en tant que image et valoriser son alternative textuelle (voire sa description également pour Writer).</a:t>
            </a:r>
            <a:endParaRPr/>
          </a:p>
        </p:txBody>
      </p:sp>
      <p:sp>
        <p:nvSpPr>
          <p:cNvPr id="793" name="Google Shape;793;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fr-FR"/>
              <a:t>Word</a:t>
            </a:r>
            <a:endParaRPr/>
          </a:p>
          <a:p>
            <a:pPr indent="0" lvl="0" marL="0" rtl="0" algn="l">
              <a:spcBef>
                <a:spcPts val="0"/>
              </a:spcBef>
              <a:spcAft>
                <a:spcPts val="0"/>
              </a:spcAft>
              <a:buNone/>
            </a:pPr>
            <a:r>
              <a:rPr lang="fr-FR"/>
              <a:t>Ne jamais utiliser la génération automatique de description car celle est pratiquement jamais pertinente.</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a:t>Writer</a:t>
            </a:r>
            <a:endParaRPr/>
          </a:p>
          <a:p>
            <a:pPr indent="0" lvl="0" marL="0" rtl="0" algn="l">
              <a:spcBef>
                <a:spcPts val="0"/>
              </a:spcBef>
              <a:spcAft>
                <a:spcPts val="0"/>
              </a:spcAft>
              <a:buNone/>
            </a:pPr>
            <a:r>
              <a:rPr lang="fr-FR"/>
              <a:t>LibreOffice ne propose pas d’option pour indiquer qu’une image est purement décorative ;</a:t>
            </a:r>
            <a:endParaRPr/>
          </a:p>
          <a:p>
            <a:pPr indent="0" lvl="0" marL="0" rtl="0" algn="l">
              <a:spcBef>
                <a:spcPts val="0"/>
              </a:spcBef>
              <a:spcAft>
                <a:spcPts val="0"/>
              </a:spcAft>
              <a:buNone/>
            </a:pPr>
            <a:r>
              <a:rPr lang="fr-FR"/>
              <a:t>Si la diffusion est uniquement au format « .doc » ou « .odt » il peut être pertinent de valoriser l’alternative par « sans objet » ou « décorative » pour informer les lecteurs qu’il n’y a pas d’oubli de valorisation (car quoiqu’il en soit la présence d’une image sera mentionnée).</a:t>
            </a:r>
            <a:endParaRPr/>
          </a:p>
          <a:p>
            <a:pPr indent="0" lvl="0" marL="0" rtl="0" algn="l">
              <a:spcBef>
                <a:spcPts val="0"/>
              </a:spcBef>
              <a:spcAft>
                <a:spcPts val="0"/>
              </a:spcAft>
              <a:buNone/>
            </a:pPr>
            <a:r>
              <a:rPr lang="fr-FR"/>
              <a:t>En cas de diffusion au format PDF, laisser l’alternative vide. Acrobat Reader ignorera alors les images sans alternative, même si lors de la génération ces images seront indiquées par le vérificateur d’accessibilité comme alternative manquante.</a:t>
            </a:r>
            <a:endParaRPr/>
          </a:p>
        </p:txBody>
      </p:sp>
      <p:sp>
        <p:nvSpPr>
          <p:cNvPr id="808" name="Google Shape;808;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5" name="Google Shape;82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26" name="Google Shape;826;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36" name="Google Shape;836;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9" name="Google Shape;849;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50" name="Google Shape;850;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fr-FR"/>
              <a:t>Sous </a:t>
            </a:r>
            <a:r>
              <a:rPr b="1" lang="fr-FR"/>
              <a:t>Writer</a:t>
            </a:r>
            <a:r>
              <a:rPr lang="fr-FR"/>
              <a:t>, l’outil de vérification de l’accessibilité se lance automatiquement lors d’un export en PDF « accessible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FR"/>
              <a:t>Word et Writer</a:t>
            </a:r>
            <a:endParaRPr/>
          </a:p>
          <a:p>
            <a:pPr indent="0" lvl="0" marL="0" rtl="0" algn="l">
              <a:spcBef>
                <a:spcPts val="600"/>
              </a:spcBef>
              <a:spcAft>
                <a:spcPts val="0"/>
              </a:spcAft>
              <a:buNone/>
            </a:pPr>
            <a:r>
              <a:rPr lang="fr-FR"/>
              <a:t>L’outil de vérification d’accessibilité est une aide, ou un guide, mais ne remplace pas une analyse humaine. Il peut par exemple indiquer un contraste insuffisant, ou une hiérarchie de titre incohérent (un titre 4 après un titre 2) mais pas si un élément aurait dû être un titre. Pour cela, il est préférable de vérifier que ce dernier figure bien dans le volet « Navigateur » ou après export dans la liste des signets.</a:t>
            </a:r>
            <a:endParaRPr/>
          </a:p>
        </p:txBody>
      </p:sp>
      <p:sp>
        <p:nvSpPr>
          <p:cNvPr id="860" name="Google Shape;860;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fr-FR" sz="1400"/>
              <a:t>Word</a:t>
            </a:r>
            <a:r>
              <a:rPr lang="fr-FR" sz="1300"/>
              <a:t> </a:t>
            </a:r>
            <a:endParaRPr/>
          </a:p>
          <a:p>
            <a:pPr indent="0" lvl="0" marL="0" rtl="0" algn="l">
              <a:spcBef>
                <a:spcPts val="0"/>
              </a:spcBef>
              <a:spcAft>
                <a:spcPts val="0"/>
              </a:spcAft>
              <a:buNone/>
            </a:pPr>
            <a:r>
              <a:rPr lang="fr-FR" sz="1300"/>
              <a:t>« Activer le balisage avancé » facilite les retouches notamment avec Acrobat Pro.</a:t>
            </a:r>
            <a:endParaRPr/>
          </a:p>
          <a:p>
            <a:pPr indent="0" lvl="0" marL="0" rtl="0" algn="l">
              <a:spcBef>
                <a:spcPts val="300"/>
              </a:spcBef>
              <a:spcAft>
                <a:spcPts val="0"/>
              </a:spcAft>
              <a:buNone/>
            </a:pPr>
            <a:r>
              <a:rPr lang="fr-FR" sz="1300"/>
              <a:t>Attention : La fonctionnalité Acrobat Maker ne permet pas d’enregistrer certaines propriétés du document, notamment le titre enregistré dans Fichier → Informations.</a:t>
            </a:r>
            <a:endParaRPr sz="1300"/>
          </a:p>
          <a:p>
            <a:pPr indent="0" lvl="0" marL="0" rtl="0" algn="l">
              <a:spcBef>
                <a:spcPts val="1200"/>
              </a:spcBef>
              <a:spcAft>
                <a:spcPts val="0"/>
              </a:spcAft>
              <a:buNone/>
            </a:pPr>
            <a:r>
              <a:rPr b="1" lang="fr-FR" sz="1400"/>
              <a:t>Writer</a:t>
            </a:r>
            <a:endParaRPr/>
          </a:p>
          <a:p>
            <a:pPr indent="0" lvl="0" marL="0" rtl="0" algn="l">
              <a:spcBef>
                <a:spcPts val="0"/>
              </a:spcBef>
              <a:spcAft>
                <a:spcPts val="0"/>
              </a:spcAft>
              <a:buNone/>
            </a:pPr>
            <a:r>
              <a:rPr lang="fr-FR" sz="1300"/>
              <a:t>Cocher « Accessibilité Universelle (PDF/UA) » coche automatiquement la case « PDF marqué ».</a:t>
            </a:r>
            <a:endParaRPr/>
          </a:p>
          <a:p>
            <a:pPr indent="0" lvl="0" marL="0" rtl="0" algn="l">
              <a:spcBef>
                <a:spcPts val="300"/>
              </a:spcBef>
              <a:spcAft>
                <a:spcPts val="0"/>
              </a:spcAft>
              <a:buNone/>
            </a:pPr>
            <a:r>
              <a:rPr lang="fr-FR" sz="1300"/>
              <a:t>L’export en PDF avec les options d’accessibilité lance automatiquement le vérificateur d’accessibilité.</a:t>
            </a:r>
            <a:endParaRPr/>
          </a:p>
          <a:p>
            <a:pPr indent="0" lvl="0" marL="0" rtl="0" algn="l">
              <a:spcBef>
                <a:spcPts val="1200"/>
              </a:spcBef>
              <a:spcAft>
                <a:spcPts val="0"/>
              </a:spcAft>
              <a:buNone/>
            </a:pPr>
            <a:r>
              <a:rPr b="1" lang="fr-FR" sz="1400"/>
              <a:t>Word et Writer</a:t>
            </a:r>
            <a:endParaRPr/>
          </a:p>
          <a:p>
            <a:pPr indent="0" lvl="0" marL="0" rtl="0" algn="l">
              <a:spcBef>
                <a:spcPts val="0"/>
              </a:spcBef>
              <a:spcAft>
                <a:spcPts val="0"/>
              </a:spcAft>
              <a:buNone/>
            </a:pPr>
            <a:r>
              <a:rPr lang="fr-FR" sz="1300"/>
              <a:t>« Créer des signets » ou « Exporter le plan et autres éléments de structure » peuvent être considérés comme optionnel si un sommaire est déjà présent dans le document, mais restent conseillés.</a:t>
            </a:r>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a:p>
        </p:txBody>
      </p:sp>
      <p:sp>
        <p:nvSpPr>
          <p:cNvPr id="876" name="Google Shape;876;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fr-FR" sz="1400">
                <a:latin typeface="Arial"/>
                <a:ea typeface="Arial"/>
                <a:cs typeface="Arial"/>
                <a:sym typeface="Arial"/>
              </a:rPr>
              <a:t>Avec un lecteur d’écran</a:t>
            </a:r>
            <a:endParaRPr/>
          </a:p>
          <a:p>
            <a:pPr indent="0" lvl="0" marL="0" rtl="0" algn="l">
              <a:spcBef>
                <a:spcPts val="600"/>
              </a:spcBef>
              <a:spcAft>
                <a:spcPts val="0"/>
              </a:spcAft>
              <a:buNone/>
            </a:pPr>
            <a:r>
              <a:rPr lang="fr-FR" sz="1300">
                <a:latin typeface="Arial"/>
                <a:ea typeface="Arial"/>
                <a:cs typeface="Arial"/>
                <a:sym typeface="Arial"/>
              </a:rPr>
              <a:t>Le lecteur d’écran n’est pas un outil de test mais peut aider à vérifier la compréhension d’ensemble et la restitution des éléments (ordre, sémantique…). </a:t>
            </a:r>
            <a:endParaRPr/>
          </a:p>
          <a:p>
            <a:pPr indent="0" lvl="0" marL="0" rtl="0" algn="l">
              <a:spcBef>
                <a:spcPts val="0"/>
              </a:spcBef>
              <a:spcAft>
                <a:spcPts val="0"/>
              </a:spcAft>
              <a:buNone/>
            </a:pPr>
            <a:r>
              <a:rPr lang="fr-FR" sz="1300">
                <a:latin typeface="Arial"/>
                <a:ea typeface="Arial"/>
                <a:cs typeface="Arial"/>
                <a:sym typeface="Arial"/>
              </a:rPr>
              <a:t>Il ne vise toutefois que les personnes ayant besoin d’un lecteur d’écran et ne fournit pas de retour, par exemple, sur le contraste ou d’autres aspects purement visuels.</a:t>
            </a:r>
            <a:endParaRPr sz="1300">
              <a:latin typeface="Arial"/>
              <a:ea typeface="Arial"/>
              <a:cs typeface="Arial"/>
              <a:sym typeface="Arial"/>
            </a:endParaRPr>
          </a:p>
          <a:p>
            <a:pPr indent="0" lvl="0" marL="0" rtl="0" algn="l">
              <a:spcBef>
                <a:spcPts val="1200"/>
              </a:spcBef>
              <a:spcAft>
                <a:spcPts val="0"/>
              </a:spcAft>
              <a:buNone/>
            </a:pPr>
            <a:r>
              <a:rPr b="1" lang="fr-FR" sz="1400">
                <a:latin typeface="Arial"/>
                <a:ea typeface="Arial"/>
                <a:cs typeface="Arial"/>
                <a:sym typeface="Arial"/>
              </a:rPr>
              <a:t>PAC : PDF Accessibility Checker</a:t>
            </a:r>
            <a:endParaRPr/>
          </a:p>
          <a:p>
            <a:pPr indent="0" lvl="0" marL="0" rtl="0" algn="l">
              <a:spcBef>
                <a:spcPts val="600"/>
              </a:spcBef>
              <a:spcAft>
                <a:spcPts val="0"/>
              </a:spcAft>
              <a:buNone/>
            </a:pPr>
            <a:r>
              <a:rPr lang="fr-FR" sz="1300">
                <a:latin typeface="Arial"/>
                <a:ea typeface="Arial"/>
                <a:cs typeface="Arial"/>
                <a:sym typeface="Arial"/>
              </a:rPr>
              <a:t>La société Tanaguru a publié un guide pour PAC, intitulé « </a:t>
            </a:r>
            <a:r>
              <a:rPr i="1" lang="fr-FR" sz="1300" u="sng">
                <a:solidFill>
                  <a:srgbClr val="800000"/>
                </a:solidFill>
                <a:latin typeface="Arial"/>
                <a:ea typeface="Arial"/>
                <a:cs typeface="Arial"/>
                <a:sym typeface="Arial"/>
                <a:hlinkClick r:id="rId2">
                  <a:extLst>
                    <a:ext uri="{A12FA001-AC4F-418D-AE19-62706E023703}">
                      <ahyp:hlinkClr val="tx"/>
                    </a:ext>
                  </a:extLst>
                </a:hlinkClick>
              </a:rPr>
              <a:t>PAC, comprendre et corriger les erreurs d’accessibilité</a:t>
            </a:r>
            <a:r>
              <a:rPr lang="fr-FR" sz="1300">
                <a:latin typeface="Arial"/>
                <a:ea typeface="Arial"/>
                <a:cs typeface="Arial"/>
                <a:sym typeface="Arial"/>
              </a:rPr>
              <a:t> ». Les corrections sont proposées uniquement via l’utilisation de « Acrobat Pro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a:p>
            <a:pPr indent="0" lvl="0" marL="0" rtl="0" algn="l">
              <a:spcBef>
                <a:spcPts val="0"/>
              </a:spcBef>
              <a:spcAft>
                <a:spcPts val="0"/>
              </a:spcAft>
              <a:buNone/>
            </a:pPr>
            <a:r>
              <a:t/>
            </a:r>
            <a:endParaRPr sz="1300">
              <a:latin typeface="Arial"/>
              <a:ea typeface="Arial"/>
              <a:cs typeface="Arial"/>
              <a:sym typeface="Arial"/>
            </a:endParaRPr>
          </a:p>
        </p:txBody>
      </p:sp>
      <p:sp>
        <p:nvSpPr>
          <p:cNvPr id="892" name="Google Shape;892;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09" name="Google Shape;909;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jp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jp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avec titre">
  <p:cSld name="Couverture avec titre">
    <p:spTree>
      <p:nvGrpSpPr>
        <p:cNvPr id="18" name="Shape 18"/>
        <p:cNvGrpSpPr/>
        <p:nvPr/>
      </p:nvGrpSpPr>
      <p:grpSpPr>
        <a:xfrm>
          <a:off x="0" y="0"/>
          <a:ext cx="0" cy="0"/>
          <a:chOff x="0" y="0"/>
          <a:chExt cx="0" cy="0"/>
        </a:xfrm>
      </p:grpSpPr>
      <p:sp>
        <p:nvSpPr>
          <p:cNvPr id="19" name="Google Shape;19;p59"/>
          <p:cNvSpPr txBox="1"/>
          <p:nvPr>
            <p:ph type="title"/>
          </p:nvPr>
        </p:nvSpPr>
        <p:spPr>
          <a:xfrm>
            <a:off x="611560" y="483518"/>
            <a:ext cx="3074584"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55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 name="Google Shape;20;p59"/>
          <p:cNvPicPr preferRelativeResize="0"/>
          <p:nvPr/>
        </p:nvPicPr>
        <p:blipFill rotWithShape="1">
          <a:blip r:embed="rId2">
            <a:alphaModFix/>
          </a:blip>
          <a:srcRect b="0" l="0" r="0" t="0"/>
          <a:stretch/>
        </p:blipFill>
        <p:spPr>
          <a:xfrm>
            <a:off x="6133740" y="582478"/>
            <a:ext cx="2349500" cy="2349500"/>
          </a:xfrm>
          <a:prstGeom prst="rect">
            <a:avLst/>
          </a:prstGeom>
          <a:noFill/>
          <a:ln>
            <a:noFill/>
          </a:ln>
        </p:spPr>
      </p:pic>
      <p:pic>
        <p:nvPicPr>
          <p:cNvPr id="21" name="Google Shape;21;p59"/>
          <p:cNvPicPr preferRelativeResize="0"/>
          <p:nvPr/>
        </p:nvPicPr>
        <p:blipFill rotWithShape="1">
          <a:blip r:embed="rId3">
            <a:alphaModFix/>
          </a:blip>
          <a:srcRect b="0" l="0" r="0" t="0"/>
          <a:stretch/>
        </p:blipFill>
        <p:spPr>
          <a:xfrm>
            <a:off x="251520" y="51470"/>
            <a:ext cx="3434624" cy="3111830"/>
          </a:xfrm>
          <a:prstGeom prst="rect">
            <a:avLst/>
          </a:prstGeom>
          <a:noFill/>
          <a:ln>
            <a:noFill/>
          </a:ln>
        </p:spPr>
      </p:pic>
      <p:sp>
        <p:nvSpPr>
          <p:cNvPr id="22" name="Google Shape;22;p59"/>
          <p:cNvSpPr/>
          <p:nvPr/>
        </p:nvSpPr>
        <p:spPr>
          <a:xfrm>
            <a:off x="251520" y="4659982"/>
            <a:ext cx="8640960" cy="21602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Google Shape;23;p59"/>
          <p:cNvSpPr txBox="1"/>
          <p:nvPr>
            <p:ph idx="11" type="ftr"/>
          </p:nvPr>
        </p:nvSpPr>
        <p:spPr>
          <a:xfrm>
            <a:off x="720000" y="3919897"/>
            <a:ext cx="3240000" cy="900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1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e avec Titre">
  <p:cSld name="Partie avec Titre">
    <p:spTree>
      <p:nvGrpSpPr>
        <p:cNvPr id="24" name="Shape 24"/>
        <p:cNvGrpSpPr/>
        <p:nvPr/>
      </p:nvGrpSpPr>
      <p:grpSpPr>
        <a:xfrm>
          <a:off x="0" y="0"/>
          <a:ext cx="0" cy="0"/>
          <a:chOff x="0" y="0"/>
          <a:chExt cx="0" cy="0"/>
        </a:xfrm>
      </p:grpSpPr>
      <p:sp>
        <p:nvSpPr>
          <p:cNvPr id="25" name="Google Shape;25;p6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28" name="Google Shape;28;p60"/>
          <p:cNvSpPr txBox="1"/>
          <p:nvPr>
            <p:ph type="title"/>
          </p:nvPr>
        </p:nvSpPr>
        <p:spPr>
          <a:xfrm>
            <a:off x="359999" y="2355726"/>
            <a:ext cx="8424000" cy="1152128"/>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0"/>
          <p:cNvSpPr txBox="1"/>
          <p:nvPr>
            <p:ph idx="1" type="body"/>
          </p:nvPr>
        </p:nvSpPr>
        <p:spPr>
          <a:xfrm>
            <a:off x="360363" y="3578969"/>
            <a:ext cx="8423275" cy="10090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2000"/>
              <a:buNone/>
              <a:defRPr b="1" sz="20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30" name="Google Shape;30;p60"/>
          <p:cNvPicPr preferRelativeResize="0"/>
          <p:nvPr/>
        </p:nvPicPr>
        <p:blipFill rotWithShape="1">
          <a:blip r:embed="rId2">
            <a:alphaModFix/>
          </a:blip>
          <a:srcRect b="0" l="0" r="0" t="0"/>
          <a:stretch/>
        </p:blipFill>
        <p:spPr>
          <a:xfrm>
            <a:off x="159171" y="159582"/>
            <a:ext cx="1607283" cy="1456227"/>
          </a:xfrm>
          <a:prstGeom prst="rect">
            <a:avLst/>
          </a:prstGeom>
          <a:noFill/>
          <a:ln>
            <a:noFill/>
          </a:ln>
        </p:spPr>
      </p:pic>
      <p:pic>
        <p:nvPicPr>
          <p:cNvPr id="31" name="Google Shape;31;p60"/>
          <p:cNvPicPr preferRelativeResize="0"/>
          <p:nvPr/>
        </p:nvPicPr>
        <p:blipFill rotWithShape="1">
          <a:blip r:embed="rId3">
            <a:alphaModFix/>
          </a:blip>
          <a:srcRect b="0" l="0" r="0" t="0"/>
          <a:stretch/>
        </p:blipFill>
        <p:spPr>
          <a:xfrm>
            <a:off x="7653370" y="349250"/>
            <a:ext cx="1098689" cy="109868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itre">
  <p:cSld name="Chapitre">
    <p:spTree>
      <p:nvGrpSpPr>
        <p:cNvPr id="32" name="Shape 32"/>
        <p:cNvGrpSpPr/>
        <p:nvPr/>
      </p:nvGrpSpPr>
      <p:grpSpPr>
        <a:xfrm>
          <a:off x="0" y="0"/>
          <a:ext cx="0" cy="0"/>
          <a:chOff x="0" y="0"/>
          <a:chExt cx="0" cy="0"/>
        </a:xfrm>
      </p:grpSpPr>
      <p:sp>
        <p:nvSpPr>
          <p:cNvPr id="33" name="Google Shape;33;p61"/>
          <p:cNvSpPr/>
          <p:nvPr>
            <p:ph idx="2" type="pic"/>
          </p:nvPr>
        </p:nvSpPr>
        <p:spPr>
          <a:xfrm>
            <a:off x="0" y="738000"/>
            <a:ext cx="9144000" cy="4406400"/>
          </a:xfrm>
          <a:prstGeom prst="rect">
            <a:avLst/>
          </a:prstGeom>
          <a:solidFill>
            <a:srgbClr val="D8D8D8"/>
          </a:solidFill>
          <a:ln>
            <a:noFill/>
          </a:ln>
        </p:spPr>
      </p:sp>
      <p:sp>
        <p:nvSpPr>
          <p:cNvPr id="34" name="Google Shape;34;p61"/>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lvl1pPr lvl="0" algn="l">
              <a:lnSpc>
                <a:spcPct val="90000"/>
              </a:lnSpc>
              <a:spcBef>
                <a:spcPts val="0"/>
              </a:spcBef>
              <a:spcAft>
                <a:spcPts val="0"/>
              </a:spcAft>
              <a:buClr>
                <a:schemeClr val="dk1"/>
              </a:buClr>
              <a:buSzPts val="3250"/>
              <a:buFont typeface="Arial"/>
              <a:buNone/>
              <a:defRPr sz="32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simple">
  <p:cSld name="Contenu simple">
    <p:spTree>
      <p:nvGrpSpPr>
        <p:cNvPr id="38" name="Shape 38"/>
        <p:cNvGrpSpPr/>
        <p:nvPr/>
      </p:nvGrpSpPr>
      <p:grpSpPr>
        <a:xfrm>
          <a:off x="0" y="0"/>
          <a:ext cx="0" cy="0"/>
          <a:chOff x="0" y="0"/>
          <a:chExt cx="0" cy="0"/>
        </a:xfrm>
      </p:grpSpPr>
      <p:sp>
        <p:nvSpPr>
          <p:cNvPr id="39" name="Google Shape;39;p6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42" name="Google Shape;42;p62"/>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 name="Google Shape;43;p62"/>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sz="1800"/>
            </a:lvl1pPr>
            <a:lvl2pPr indent="-330200" lvl="1" marL="914400" algn="l">
              <a:lnSpc>
                <a:spcPct val="100000"/>
              </a:lnSpc>
              <a:spcBef>
                <a:spcPts val="600"/>
              </a:spcBef>
              <a:spcAft>
                <a:spcPts val="0"/>
              </a:spcAft>
              <a:buClr>
                <a:schemeClr val="dk1"/>
              </a:buClr>
              <a:buSzPts val="1600"/>
              <a:buChar char="•"/>
              <a:defRPr sz="1600"/>
            </a:lvl2pPr>
            <a:lvl3pPr indent="-317500" lvl="2" marL="1371600" algn="l">
              <a:lnSpc>
                <a:spcPct val="100000"/>
              </a:lnSpc>
              <a:spcBef>
                <a:spcPts val="600"/>
              </a:spcBef>
              <a:spcAft>
                <a:spcPts val="0"/>
              </a:spcAft>
              <a:buClr>
                <a:schemeClr val="dk1"/>
              </a:buClr>
              <a:buSzPts val="1400"/>
              <a:buChar char="•"/>
              <a:defRPr sz="1400"/>
            </a:lvl3pPr>
            <a:lvl4pPr indent="-311150" lvl="3" marL="1828800" algn="l">
              <a:lnSpc>
                <a:spcPct val="100000"/>
              </a:lnSpc>
              <a:spcBef>
                <a:spcPts val="100"/>
              </a:spcBef>
              <a:spcAft>
                <a:spcPts val="0"/>
              </a:spcAft>
              <a:buClr>
                <a:schemeClr val="dk1"/>
              </a:buClr>
              <a:buSzPts val="1300"/>
              <a:buChar char="•"/>
              <a:defRPr sz="1300"/>
            </a:lvl4pPr>
            <a:lvl5pPr indent="-304800" lvl="4" marL="2286000" algn="l">
              <a:lnSpc>
                <a:spcPct val="100000"/>
              </a:lnSpc>
              <a:spcBef>
                <a:spcPts val="10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6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2"/>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2000"/>
              <a:buNone/>
              <a:defRPr b="1" sz="20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illustré 1/3">
  <p:cSld name="Contenu illustré 1/3">
    <p:spTree>
      <p:nvGrpSpPr>
        <p:cNvPr id="46" name="Shape 46"/>
        <p:cNvGrpSpPr/>
        <p:nvPr/>
      </p:nvGrpSpPr>
      <p:grpSpPr>
        <a:xfrm>
          <a:off x="0" y="0"/>
          <a:ext cx="0" cy="0"/>
          <a:chOff x="0" y="0"/>
          <a:chExt cx="0" cy="0"/>
        </a:xfrm>
      </p:grpSpPr>
      <p:sp>
        <p:nvSpPr>
          <p:cNvPr id="47" name="Google Shape;47;p6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50" name="Google Shape;50;p63"/>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6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63"/>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2000"/>
              <a:buNone/>
              <a:defRPr b="1" sz="20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 name="Google Shape;53;p63"/>
          <p:cNvSpPr txBox="1"/>
          <p:nvPr>
            <p:ph idx="3" type="body"/>
          </p:nvPr>
        </p:nvSpPr>
        <p:spPr>
          <a:xfrm>
            <a:off x="359998" y="1835999"/>
            <a:ext cx="5472001"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sz="1800"/>
            </a:lvl1pPr>
            <a:lvl2pPr indent="-330200" lvl="1" marL="914400" algn="l">
              <a:lnSpc>
                <a:spcPct val="100000"/>
              </a:lnSpc>
              <a:spcBef>
                <a:spcPts val="600"/>
              </a:spcBef>
              <a:spcAft>
                <a:spcPts val="0"/>
              </a:spcAft>
              <a:buClr>
                <a:schemeClr val="dk1"/>
              </a:buClr>
              <a:buSzPts val="1600"/>
              <a:buChar char="•"/>
              <a:defRPr sz="1600"/>
            </a:lvl2pPr>
            <a:lvl3pPr indent="-317500" lvl="2" marL="1371600" algn="l">
              <a:lnSpc>
                <a:spcPct val="100000"/>
              </a:lnSpc>
              <a:spcBef>
                <a:spcPts val="600"/>
              </a:spcBef>
              <a:spcAft>
                <a:spcPts val="0"/>
              </a:spcAft>
              <a:buClr>
                <a:schemeClr val="dk1"/>
              </a:buClr>
              <a:buSzPts val="1400"/>
              <a:buChar char="•"/>
              <a:defRPr sz="1400"/>
            </a:lvl3pPr>
            <a:lvl4pPr indent="-276225" lvl="3" marL="1828800" algn="l">
              <a:lnSpc>
                <a:spcPct val="100000"/>
              </a:lnSpc>
              <a:spcBef>
                <a:spcPts val="100"/>
              </a:spcBef>
              <a:spcAft>
                <a:spcPts val="0"/>
              </a:spcAft>
              <a:buClr>
                <a:schemeClr val="dk1"/>
              </a:buClr>
              <a:buSzPts val="750"/>
              <a:buChar char="•"/>
              <a:defRPr/>
            </a:lvl4pPr>
            <a:lvl5pPr indent="-304800" lvl="4" marL="2286000" algn="l">
              <a:lnSpc>
                <a:spcPct val="100000"/>
              </a:lnSpc>
              <a:spcBef>
                <a:spcPts val="10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 name="Google Shape;54;p63"/>
          <p:cNvSpPr txBox="1"/>
          <p:nvPr>
            <p:ph idx="4" type="body"/>
          </p:nvPr>
        </p:nvSpPr>
        <p:spPr>
          <a:xfrm>
            <a:off x="6012160" y="1836738"/>
            <a:ext cx="2771478"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sz="1800"/>
            </a:lvl1pPr>
            <a:lvl2pPr indent="-330200" lvl="1" marL="914400" algn="l">
              <a:lnSpc>
                <a:spcPct val="100000"/>
              </a:lnSpc>
              <a:spcBef>
                <a:spcPts val="600"/>
              </a:spcBef>
              <a:spcAft>
                <a:spcPts val="0"/>
              </a:spcAft>
              <a:buClr>
                <a:schemeClr val="dk1"/>
              </a:buClr>
              <a:buSzPts val="1600"/>
              <a:buChar char="•"/>
              <a:defRPr sz="1600"/>
            </a:lvl2pPr>
            <a:lvl3pPr indent="-317500" lvl="2" marL="1371600" algn="l">
              <a:lnSpc>
                <a:spcPct val="100000"/>
              </a:lnSpc>
              <a:spcBef>
                <a:spcPts val="600"/>
              </a:spcBef>
              <a:spcAft>
                <a:spcPts val="0"/>
              </a:spcAft>
              <a:buClr>
                <a:schemeClr val="dk1"/>
              </a:buClr>
              <a:buSzPts val="1400"/>
              <a:buChar char="•"/>
              <a:defRPr sz="1400"/>
            </a:lvl3pPr>
            <a:lvl4pPr indent="-317500" lvl="3" marL="1828800" algn="l">
              <a:lnSpc>
                <a:spcPct val="100000"/>
              </a:lnSpc>
              <a:spcBef>
                <a:spcPts val="100"/>
              </a:spcBef>
              <a:spcAft>
                <a:spcPts val="0"/>
              </a:spcAft>
              <a:buClr>
                <a:schemeClr val="dk1"/>
              </a:buClr>
              <a:buSzPts val="1400"/>
              <a:buChar char="•"/>
              <a:defRPr sz="1400"/>
            </a:lvl4pPr>
            <a:lvl5pPr indent="-304800" lvl="4" marL="2286000" algn="l">
              <a:lnSpc>
                <a:spcPct val="100000"/>
              </a:lnSpc>
              <a:spcBef>
                <a:spcPts val="10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2 cases non hierarchisé">
  <p:cSld name="Contenu 2 cases non hierarchisé">
    <p:spTree>
      <p:nvGrpSpPr>
        <p:cNvPr id="55" name="Shape 55"/>
        <p:cNvGrpSpPr/>
        <p:nvPr/>
      </p:nvGrpSpPr>
      <p:grpSpPr>
        <a:xfrm>
          <a:off x="0" y="0"/>
          <a:ext cx="0" cy="0"/>
          <a:chOff x="0" y="0"/>
          <a:chExt cx="0" cy="0"/>
        </a:xfrm>
      </p:grpSpPr>
      <p:sp>
        <p:nvSpPr>
          <p:cNvPr id="56" name="Google Shape;56;p64"/>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sz="1800"/>
            </a:lvl1pPr>
            <a:lvl2pPr indent="-330200" lvl="1" marL="914400" algn="l">
              <a:lnSpc>
                <a:spcPct val="100000"/>
              </a:lnSpc>
              <a:spcBef>
                <a:spcPts val="600"/>
              </a:spcBef>
              <a:spcAft>
                <a:spcPts val="0"/>
              </a:spcAft>
              <a:buClr>
                <a:schemeClr val="dk1"/>
              </a:buClr>
              <a:buSzPts val="1600"/>
              <a:buChar char="•"/>
              <a:defRPr sz="1600"/>
            </a:lvl2pPr>
            <a:lvl3pPr indent="-317500" lvl="2" marL="1371600" algn="l">
              <a:lnSpc>
                <a:spcPct val="100000"/>
              </a:lnSpc>
              <a:spcBef>
                <a:spcPts val="600"/>
              </a:spcBef>
              <a:spcAft>
                <a:spcPts val="0"/>
              </a:spcAft>
              <a:buClr>
                <a:schemeClr val="dk1"/>
              </a:buClr>
              <a:buSzPts val="1400"/>
              <a:buChar char="•"/>
              <a:defRPr sz="1400"/>
            </a:lvl3pPr>
            <a:lvl4pPr indent="-311150" lvl="3" marL="1828800" algn="l">
              <a:lnSpc>
                <a:spcPct val="100000"/>
              </a:lnSpc>
              <a:spcBef>
                <a:spcPts val="100"/>
              </a:spcBef>
              <a:spcAft>
                <a:spcPts val="0"/>
              </a:spcAft>
              <a:buClr>
                <a:schemeClr val="dk1"/>
              </a:buClr>
              <a:buSzPts val="1300"/>
              <a:buChar char="•"/>
              <a:defRPr sz="1300"/>
            </a:lvl4pPr>
            <a:lvl5pPr indent="-304800" lvl="4" marL="2286000" algn="l">
              <a:lnSpc>
                <a:spcPct val="100000"/>
              </a:lnSpc>
              <a:spcBef>
                <a:spcPts val="10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64"/>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64"/>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2000"/>
              <a:buNone/>
              <a:defRPr b="1" sz="20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64"/>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sz="1800"/>
            </a:lvl1pPr>
            <a:lvl2pPr indent="-330200" lvl="1" marL="914400" algn="l">
              <a:lnSpc>
                <a:spcPct val="100000"/>
              </a:lnSpc>
              <a:spcBef>
                <a:spcPts val="600"/>
              </a:spcBef>
              <a:spcAft>
                <a:spcPts val="0"/>
              </a:spcAft>
              <a:buClr>
                <a:schemeClr val="dk1"/>
              </a:buClr>
              <a:buSzPts val="1600"/>
              <a:buChar char="•"/>
              <a:defRPr sz="1600"/>
            </a:lvl2pPr>
            <a:lvl3pPr indent="-317500" lvl="2" marL="1371600" algn="l">
              <a:lnSpc>
                <a:spcPct val="100000"/>
              </a:lnSpc>
              <a:spcBef>
                <a:spcPts val="600"/>
              </a:spcBef>
              <a:spcAft>
                <a:spcPts val="0"/>
              </a:spcAft>
              <a:buClr>
                <a:schemeClr val="dk1"/>
              </a:buClr>
              <a:buSzPts val="1400"/>
              <a:buChar char="•"/>
              <a:defRPr sz="1400"/>
            </a:lvl3pPr>
            <a:lvl4pPr indent="-311150" lvl="3" marL="1828800" algn="l">
              <a:lnSpc>
                <a:spcPct val="100000"/>
              </a:lnSpc>
              <a:spcBef>
                <a:spcPts val="100"/>
              </a:spcBef>
              <a:spcAft>
                <a:spcPts val="0"/>
              </a:spcAft>
              <a:buClr>
                <a:schemeClr val="dk1"/>
              </a:buClr>
              <a:buSzPts val="1300"/>
              <a:buChar char="•"/>
              <a:defRPr sz="1300"/>
            </a:lvl4pPr>
            <a:lvl5pPr indent="-304800" lvl="4" marL="2286000" algn="l">
              <a:lnSpc>
                <a:spcPct val="100000"/>
              </a:lnSpc>
              <a:spcBef>
                <a:spcPts val="10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6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63" name="Google Shape;63;p64"/>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showMasterSp="0">
  <p:cSld name="Couverture">
    <p:spTree>
      <p:nvGrpSpPr>
        <p:cNvPr id="64" name="Shape 64"/>
        <p:cNvGrpSpPr/>
        <p:nvPr/>
      </p:nvGrpSpPr>
      <p:grpSpPr>
        <a:xfrm>
          <a:off x="0" y="0"/>
          <a:ext cx="0" cy="0"/>
          <a:chOff x="0" y="0"/>
          <a:chExt cx="0" cy="0"/>
        </a:xfrm>
      </p:grpSpPr>
      <p:sp>
        <p:nvSpPr>
          <p:cNvPr id="65" name="Google Shape;65;p65"/>
          <p:cNvSpPr txBox="1"/>
          <p:nvPr>
            <p:ph idx="10" type="dt"/>
          </p:nvPr>
        </p:nvSpPr>
        <p:spPr>
          <a:xfrm>
            <a:off x="0" y="496350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ctr" bIns="0" lIns="0" spcFirstLastPara="1" rIns="0" wrap="square" tIns="0">
            <a:noAutofit/>
          </a:bodyPr>
          <a:lstStyle>
            <a:lvl1pPr lvl="0" algn="ctr">
              <a:spcBef>
                <a:spcPts val="0"/>
              </a:spcBef>
              <a:spcAft>
                <a:spcPts val="0"/>
              </a:spcAft>
              <a:buSzPts val="1400"/>
              <a:buNone/>
              <a:defRPr sz="1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5"/>
          <p:cNvSpPr txBox="1"/>
          <p:nvPr>
            <p:ph idx="11" type="ftr"/>
          </p:nvPr>
        </p:nvSpPr>
        <p:spPr>
          <a:xfrm>
            <a:off x="720000" y="3919897"/>
            <a:ext cx="3240000" cy="9000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15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5"/>
          <p:cNvSpPr txBox="1"/>
          <p:nvPr>
            <p:ph idx="12" type="sldNum"/>
          </p:nvPr>
        </p:nvSpPr>
        <p:spPr>
          <a:xfrm>
            <a:off x="0" y="496350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ctr" bIns="0" lIns="0" spcFirstLastPara="1" rIns="0" wrap="square" tIns="0">
            <a:noAutofit/>
          </a:bodyPr>
          <a:lstStyle>
            <a:lvl1pPr indent="0" lvl="0" marL="0" algn="r">
              <a:spcBef>
                <a:spcPts val="0"/>
              </a:spcBef>
              <a:buNone/>
              <a:defRPr b="1" sz="100">
                <a:solidFill>
                  <a:schemeClr val="dk1"/>
                </a:solidFill>
                <a:latin typeface="Arial"/>
                <a:ea typeface="Arial"/>
                <a:cs typeface="Arial"/>
                <a:sym typeface="Arial"/>
              </a:defRPr>
            </a:lvl1pPr>
            <a:lvl2pPr indent="0" lvl="1" marL="0" algn="r">
              <a:spcBef>
                <a:spcPts val="0"/>
              </a:spcBef>
              <a:buNone/>
              <a:defRPr b="1" sz="100">
                <a:solidFill>
                  <a:schemeClr val="dk1"/>
                </a:solidFill>
                <a:latin typeface="Arial"/>
                <a:ea typeface="Arial"/>
                <a:cs typeface="Arial"/>
                <a:sym typeface="Arial"/>
              </a:defRPr>
            </a:lvl2pPr>
            <a:lvl3pPr indent="0" lvl="2" marL="0" algn="r">
              <a:spcBef>
                <a:spcPts val="0"/>
              </a:spcBef>
              <a:buNone/>
              <a:defRPr b="1" sz="100">
                <a:solidFill>
                  <a:schemeClr val="dk1"/>
                </a:solidFill>
                <a:latin typeface="Arial"/>
                <a:ea typeface="Arial"/>
                <a:cs typeface="Arial"/>
                <a:sym typeface="Arial"/>
              </a:defRPr>
            </a:lvl3pPr>
            <a:lvl4pPr indent="0" lvl="3" marL="0" algn="r">
              <a:spcBef>
                <a:spcPts val="0"/>
              </a:spcBef>
              <a:buNone/>
              <a:defRPr b="1" sz="100">
                <a:solidFill>
                  <a:schemeClr val="dk1"/>
                </a:solidFill>
                <a:latin typeface="Arial"/>
                <a:ea typeface="Arial"/>
                <a:cs typeface="Arial"/>
                <a:sym typeface="Arial"/>
              </a:defRPr>
            </a:lvl4pPr>
            <a:lvl5pPr indent="0" lvl="4" marL="0" algn="r">
              <a:spcBef>
                <a:spcPts val="0"/>
              </a:spcBef>
              <a:buNone/>
              <a:defRPr b="1" sz="100">
                <a:solidFill>
                  <a:schemeClr val="dk1"/>
                </a:solidFill>
                <a:latin typeface="Arial"/>
                <a:ea typeface="Arial"/>
                <a:cs typeface="Arial"/>
                <a:sym typeface="Arial"/>
              </a:defRPr>
            </a:lvl5pPr>
            <a:lvl6pPr indent="0" lvl="5" marL="0" algn="r">
              <a:spcBef>
                <a:spcPts val="0"/>
              </a:spcBef>
              <a:buNone/>
              <a:defRPr b="1" sz="100">
                <a:solidFill>
                  <a:schemeClr val="dk1"/>
                </a:solidFill>
                <a:latin typeface="Arial"/>
                <a:ea typeface="Arial"/>
                <a:cs typeface="Arial"/>
                <a:sym typeface="Arial"/>
              </a:defRPr>
            </a:lvl6pPr>
            <a:lvl7pPr indent="0" lvl="6" marL="0" algn="r">
              <a:spcBef>
                <a:spcPts val="0"/>
              </a:spcBef>
              <a:buNone/>
              <a:defRPr b="1" sz="100">
                <a:solidFill>
                  <a:schemeClr val="dk1"/>
                </a:solidFill>
                <a:latin typeface="Arial"/>
                <a:ea typeface="Arial"/>
                <a:cs typeface="Arial"/>
                <a:sym typeface="Arial"/>
              </a:defRPr>
            </a:lvl7pPr>
            <a:lvl8pPr indent="0" lvl="7" marL="0" algn="r">
              <a:spcBef>
                <a:spcPts val="0"/>
              </a:spcBef>
              <a:buNone/>
              <a:defRPr b="1" sz="100">
                <a:solidFill>
                  <a:schemeClr val="dk1"/>
                </a:solidFill>
                <a:latin typeface="Arial"/>
                <a:ea typeface="Arial"/>
                <a:cs typeface="Arial"/>
                <a:sym typeface="Arial"/>
              </a:defRPr>
            </a:lvl8pPr>
            <a:lvl9pPr indent="0" lvl="8" marL="0" algn="r">
              <a:spcBef>
                <a:spcPts val="0"/>
              </a:spcBef>
              <a:buNone/>
              <a:defRPr b="1" sz="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
        <p:nvSpPr>
          <p:cNvPr id="68" name="Google Shape;68;p65"/>
          <p:cNvSpPr txBox="1"/>
          <p:nvPr>
            <p:ph type="title"/>
          </p:nvPr>
        </p:nvSpPr>
        <p:spPr>
          <a:xfrm>
            <a:off x="0" y="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00"/>
              <a:buFont typeface="Arial"/>
              <a:buNone/>
              <a:defRPr sz="1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9" name="Google Shape;69;p65"/>
          <p:cNvPicPr preferRelativeResize="0"/>
          <p:nvPr/>
        </p:nvPicPr>
        <p:blipFill rotWithShape="1">
          <a:blip r:embed="rId2">
            <a:alphaModFix/>
          </a:blip>
          <a:srcRect b="0" l="0" r="0" t="0"/>
          <a:stretch/>
        </p:blipFill>
        <p:spPr>
          <a:xfrm>
            <a:off x="323528" y="195486"/>
            <a:ext cx="3434624" cy="3111830"/>
          </a:xfrm>
          <a:prstGeom prst="rect">
            <a:avLst/>
          </a:prstGeom>
          <a:noFill/>
          <a:ln>
            <a:noFill/>
          </a:ln>
        </p:spPr>
      </p:pic>
      <p:pic>
        <p:nvPicPr>
          <p:cNvPr id="70" name="Google Shape;70;p65"/>
          <p:cNvPicPr preferRelativeResize="0"/>
          <p:nvPr/>
        </p:nvPicPr>
        <p:blipFill rotWithShape="1">
          <a:blip r:embed="rId3">
            <a:alphaModFix/>
          </a:blip>
          <a:srcRect b="0" l="0" r="0" t="0"/>
          <a:stretch/>
        </p:blipFill>
        <p:spPr>
          <a:xfrm>
            <a:off x="6133740" y="582478"/>
            <a:ext cx="2349500" cy="2349500"/>
          </a:xfrm>
          <a:prstGeom prst="rect">
            <a:avLst/>
          </a:prstGeom>
          <a:noFill/>
          <a:ln>
            <a:noFill/>
          </a:ln>
        </p:spPr>
      </p:pic>
      <p:sp>
        <p:nvSpPr>
          <p:cNvPr id="71" name="Google Shape;71;p65"/>
          <p:cNvSpPr txBox="1"/>
          <p:nvPr/>
        </p:nvSpPr>
        <p:spPr>
          <a:xfrm>
            <a:off x="2821372" y="2566847"/>
            <a:ext cx="3312368" cy="447614"/>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2500"/>
              <a:buFont typeface="Arial"/>
              <a:buNone/>
            </a:pPr>
            <a:r>
              <a:rPr b="0" lang="fr-FR" sz="2500">
                <a:solidFill>
                  <a:srgbClr val="000000"/>
                </a:solidFill>
                <a:latin typeface="Arial"/>
                <a:ea typeface="Arial"/>
                <a:cs typeface="Arial"/>
                <a:sym typeface="Arial"/>
              </a:rPr>
              <a:t>Formation IGPDE</a:t>
            </a:r>
            <a:endParaRPr b="1" sz="2500">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386">
          <p15:clr>
            <a:srgbClr val="FBAE40"/>
          </p15:clr>
        </p15:guide>
        <p15:guide id="4" pos="443">
          <p15:clr>
            <a:srgbClr val="FBAE40"/>
          </p15:clr>
        </p15:guide>
        <p15:guide id="5" orient="horz" pos="30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e" showMasterSp="0">
  <p:cSld name="Partie">
    <p:spTree>
      <p:nvGrpSpPr>
        <p:cNvPr id="72" name="Shape 72"/>
        <p:cNvGrpSpPr/>
        <p:nvPr/>
      </p:nvGrpSpPr>
      <p:grpSpPr>
        <a:xfrm>
          <a:off x="0" y="0"/>
          <a:ext cx="0" cy="0"/>
          <a:chOff x="0" y="0"/>
          <a:chExt cx="0" cy="0"/>
        </a:xfrm>
      </p:grpSpPr>
      <p:sp>
        <p:nvSpPr>
          <p:cNvPr id="73" name="Google Shape;73;p66"/>
          <p:cNvSpPr txBox="1"/>
          <p:nvPr>
            <p:ph type="title"/>
          </p:nvPr>
        </p:nvSpPr>
        <p:spPr>
          <a:xfrm>
            <a:off x="0" y="0"/>
            <a:ext cx="180000" cy="180000"/>
          </a:xfrm>
          <a:prstGeom prst="rect">
            <a:avLst/>
          </a:prstGeom>
          <a:noFill/>
          <a:ln cap="flat" cmpd="sng" w="9525">
            <a:solidFill>
              <a:schemeClr val="dk1">
                <a:alpha val="0"/>
              </a:schemeClr>
            </a:solidFill>
            <a:prstDash val="solid"/>
            <a:round/>
            <a:headEnd len="sm" w="sm" type="none"/>
            <a:tailEnd len="sm" w="sm" type="none"/>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00"/>
              <a:buFont typeface="Arial"/>
              <a:buNone/>
              <a:defRPr sz="1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76" name="Google Shape;76;p66"/>
          <p:cNvSpPr txBox="1"/>
          <p:nvPr>
            <p:ph idx="1" type="body"/>
          </p:nvPr>
        </p:nvSpPr>
        <p:spPr>
          <a:xfrm>
            <a:off x="360000" y="2346046"/>
            <a:ext cx="8424000" cy="1181646"/>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3250"/>
              <a:buNone/>
              <a:defRPr b="1" sz="3250" cap="none"/>
            </a:lvl1pPr>
            <a:lvl2pPr indent="-228600" lvl="1" marL="914400" algn="l">
              <a:lnSpc>
                <a:spcPct val="100000"/>
              </a:lnSpc>
              <a:spcBef>
                <a:spcPts val="500"/>
              </a:spcBef>
              <a:spcAft>
                <a:spcPts val="0"/>
              </a:spcAft>
              <a:buClr>
                <a:schemeClr val="dk1"/>
              </a:buClr>
              <a:buSzPts val="1850"/>
              <a:buNone/>
              <a:defRPr sz="18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77" name="Google Shape;77;p66"/>
          <p:cNvCxnSpPr/>
          <p:nvPr/>
        </p:nvCxnSpPr>
        <p:spPr>
          <a:xfrm>
            <a:off x="360000" y="4784400"/>
            <a:ext cx="8424000" cy="0"/>
          </a:xfrm>
          <a:prstGeom prst="straightConnector1">
            <a:avLst/>
          </a:prstGeom>
          <a:noFill/>
          <a:ln cap="flat" cmpd="sng" w="10150">
            <a:solidFill>
              <a:schemeClr val="dk1"/>
            </a:solidFill>
            <a:prstDash val="solid"/>
            <a:round/>
            <a:headEnd len="sm" w="sm" type="none"/>
            <a:tailEnd len="sm" w="sm" type="none"/>
          </a:ln>
        </p:spPr>
      </p:cxnSp>
      <p:pic>
        <p:nvPicPr>
          <p:cNvPr id="78" name="Google Shape;78;p66"/>
          <p:cNvPicPr preferRelativeResize="0"/>
          <p:nvPr/>
        </p:nvPicPr>
        <p:blipFill rotWithShape="1">
          <a:blip r:embed="rId2">
            <a:alphaModFix/>
          </a:blip>
          <a:srcRect b="0" l="0" r="0" t="0"/>
          <a:stretch/>
        </p:blipFill>
        <p:spPr>
          <a:xfrm>
            <a:off x="159171" y="159582"/>
            <a:ext cx="1607283" cy="1456227"/>
          </a:xfrm>
          <a:prstGeom prst="rect">
            <a:avLst/>
          </a:prstGeom>
          <a:noFill/>
          <a:ln>
            <a:noFill/>
          </a:ln>
        </p:spPr>
      </p:pic>
      <p:pic>
        <p:nvPicPr>
          <p:cNvPr id="79" name="Google Shape;79;p66"/>
          <p:cNvPicPr preferRelativeResize="0"/>
          <p:nvPr/>
        </p:nvPicPr>
        <p:blipFill rotWithShape="1">
          <a:blip r:embed="rId3">
            <a:alphaModFix/>
          </a:blip>
          <a:srcRect b="0" l="0" r="0" t="0"/>
          <a:stretch/>
        </p:blipFill>
        <p:spPr>
          <a:xfrm>
            <a:off x="7653370" y="349250"/>
            <a:ext cx="1098689" cy="1098689"/>
          </a:xfrm>
          <a:prstGeom prst="rect">
            <a:avLst/>
          </a:prstGeom>
          <a:noFill/>
          <a:ln>
            <a:noFill/>
          </a:ln>
        </p:spPr>
      </p:pic>
      <p:sp>
        <p:nvSpPr>
          <p:cNvPr id="80" name="Google Shape;80;p6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6"/>
          <p:cNvSpPr txBox="1"/>
          <p:nvPr>
            <p:ph idx="2" type="body"/>
          </p:nvPr>
        </p:nvSpPr>
        <p:spPr>
          <a:xfrm>
            <a:off x="360363" y="3579861"/>
            <a:ext cx="8423275" cy="10080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illustré 2/3">
  <p:cSld name="Contenu illustré 2/3">
    <p:spTree>
      <p:nvGrpSpPr>
        <p:cNvPr id="82" name="Shape 82"/>
        <p:cNvGrpSpPr/>
        <p:nvPr/>
      </p:nvGrpSpPr>
      <p:grpSpPr>
        <a:xfrm>
          <a:off x="0" y="0"/>
          <a:ext cx="0" cy="0"/>
          <a:chOff x="0" y="0"/>
          <a:chExt cx="0" cy="0"/>
        </a:xfrm>
      </p:grpSpPr>
      <p:sp>
        <p:nvSpPr>
          <p:cNvPr id="83" name="Google Shape;83;p6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86" name="Google Shape;86;p67"/>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6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67"/>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67"/>
          <p:cNvSpPr txBox="1"/>
          <p:nvPr>
            <p:ph idx="3" type="body"/>
          </p:nvPr>
        </p:nvSpPr>
        <p:spPr>
          <a:xfrm>
            <a:off x="359999" y="1835999"/>
            <a:ext cx="2520000"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0" name="Google Shape;90;p67"/>
          <p:cNvSpPr txBox="1"/>
          <p:nvPr>
            <p:ph idx="4" type="body"/>
          </p:nvPr>
        </p:nvSpPr>
        <p:spPr>
          <a:xfrm>
            <a:off x="2987675" y="1836738"/>
            <a:ext cx="5795963" cy="28225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leine page horizontal">
  <p:cSld name="Contenu pleine page horizontal">
    <p:spTree>
      <p:nvGrpSpPr>
        <p:cNvPr id="91" name="Shape 91"/>
        <p:cNvGrpSpPr/>
        <p:nvPr/>
      </p:nvGrpSpPr>
      <p:grpSpPr>
        <a:xfrm>
          <a:off x="0" y="0"/>
          <a:ext cx="0" cy="0"/>
          <a:chOff x="0" y="0"/>
          <a:chExt cx="0" cy="0"/>
        </a:xfrm>
      </p:grpSpPr>
      <p:sp>
        <p:nvSpPr>
          <p:cNvPr id="92" name="Google Shape;92;p6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6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95" name="Google Shape;95;p68"/>
          <p:cNvSpPr txBox="1"/>
          <p:nvPr>
            <p:ph idx="1" type="body"/>
          </p:nvPr>
        </p:nvSpPr>
        <p:spPr>
          <a:xfrm>
            <a:off x="1761561" y="124187"/>
            <a:ext cx="7020312" cy="360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2550"/>
              <a:buFont typeface="Arial"/>
              <a:buNone/>
              <a:defRPr b="1" sz="2550"/>
            </a:lvl1pPr>
            <a:lvl2pPr indent="-228600" lvl="1" marL="914400" algn="l">
              <a:lnSpc>
                <a:spcPct val="100000"/>
              </a:lnSpc>
              <a:spcBef>
                <a:spcPts val="0"/>
              </a:spcBef>
              <a:spcAft>
                <a:spcPts val="0"/>
              </a:spcAft>
              <a:buClr>
                <a:schemeClr val="dk1"/>
              </a:buClr>
              <a:buSzPts val="1050"/>
              <a:buFont typeface="Arial"/>
              <a:buNone/>
              <a:defRPr sz="10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6" name="Google Shape;96;p68"/>
          <p:cNvSpPr txBox="1"/>
          <p:nvPr>
            <p:ph idx="2" type="body"/>
          </p:nvPr>
        </p:nvSpPr>
        <p:spPr>
          <a:xfrm>
            <a:off x="1761561" y="586755"/>
            <a:ext cx="7020312" cy="18479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68"/>
          <p:cNvSpPr txBox="1"/>
          <p:nvPr>
            <p:ph idx="3" type="body"/>
          </p:nvPr>
        </p:nvSpPr>
        <p:spPr>
          <a:xfrm>
            <a:off x="359639" y="900000"/>
            <a:ext cx="8423999" cy="375931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leine page vertical">
  <p:cSld name="Contenu pleine page vertical">
    <p:spTree>
      <p:nvGrpSpPr>
        <p:cNvPr id="98" name="Shape 98"/>
        <p:cNvGrpSpPr/>
        <p:nvPr/>
      </p:nvGrpSpPr>
      <p:grpSpPr>
        <a:xfrm>
          <a:off x="0" y="0"/>
          <a:ext cx="0" cy="0"/>
          <a:chOff x="0" y="0"/>
          <a:chExt cx="0" cy="0"/>
        </a:xfrm>
      </p:grpSpPr>
      <p:sp>
        <p:nvSpPr>
          <p:cNvPr id="99" name="Google Shape;99;p69"/>
          <p:cNvSpPr txBox="1"/>
          <p:nvPr>
            <p:ph idx="11" type="ftr"/>
          </p:nvPr>
        </p:nvSpPr>
        <p:spPr>
          <a:xfrm>
            <a:off x="360000" y="4783500"/>
            <a:ext cx="2555596"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69"/>
          <p:cNvSpPr txBox="1"/>
          <p:nvPr>
            <p:ph idx="1" type="body"/>
          </p:nvPr>
        </p:nvSpPr>
        <p:spPr>
          <a:xfrm>
            <a:off x="359999" y="2571750"/>
            <a:ext cx="2555597" cy="194421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69"/>
          <p:cNvSpPr txBox="1"/>
          <p:nvPr>
            <p:ph type="title"/>
          </p:nvPr>
        </p:nvSpPr>
        <p:spPr>
          <a:xfrm>
            <a:off x="359999" y="900000"/>
            <a:ext cx="2555817" cy="95167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69"/>
          <p:cNvSpPr txBox="1"/>
          <p:nvPr>
            <p:ph idx="2" type="body"/>
          </p:nvPr>
        </p:nvSpPr>
        <p:spPr>
          <a:xfrm>
            <a:off x="360219" y="1948398"/>
            <a:ext cx="2555597"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69"/>
          <p:cNvSpPr/>
          <p:nvPr/>
        </p:nvSpPr>
        <p:spPr>
          <a:xfrm>
            <a:off x="2922959" y="4768136"/>
            <a:ext cx="5897513" cy="16451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69"/>
          <p:cNvSpPr txBox="1"/>
          <p:nvPr>
            <p:ph idx="3" type="body"/>
          </p:nvPr>
        </p:nvSpPr>
        <p:spPr>
          <a:xfrm>
            <a:off x="3276600" y="180000"/>
            <a:ext cx="5256213" cy="491203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 name="Google Shape;105;p69"/>
          <p:cNvSpPr txBox="1"/>
          <p:nvPr>
            <p:ph idx="10" type="dt"/>
          </p:nvPr>
        </p:nvSpPr>
        <p:spPr>
          <a:xfrm>
            <a:off x="8532812" y="4423500"/>
            <a:ext cx="611187"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69"/>
          <p:cNvSpPr txBox="1"/>
          <p:nvPr>
            <p:ph idx="12" type="sldNum"/>
          </p:nvPr>
        </p:nvSpPr>
        <p:spPr>
          <a:xfrm>
            <a:off x="8676456" y="4783500"/>
            <a:ext cx="467544"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3 cases non hierarchisé">
  <p:cSld name="Contenu 3 cases non hierarchisé">
    <p:spTree>
      <p:nvGrpSpPr>
        <p:cNvPr id="107" name="Shape 107"/>
        <p:cNvGrpSpPr/>
        <p:nvPr/>
      </p:nvGrpSpPr>
      <p:grpSpPr>
        <a:xfrm>
          <a:off x="0" y="0"/>
          <a:ext cx="0" cy="0"/>
          <a:chOff x="0" y="0"/>
          <a:chExt cx="0" cy="0"/>
        </a:xfrm>
      </p:grpSpPr>
      <p:sp>
        <p:nvSpPr>
          <p:cNvPr id="108" name="Google Shape;108;p7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7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11" name="Google Shape;111;p70"/>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2" name="Google Shape;112;p70"/>
          <p:cNvSpPr txBox="1"/>
          <p:nvPr>
            <p:ph idx="2" type="body"/>
          </p:nvPr>
        </p:nvSpPr>
        <p:spPr>
          <a:xfrm>
            <a:off x="359999"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3" name="Google Shape;113;p70"/>
          <p:cNvSpPr txBox="1"/>
          <p:nvPr>
            <p:ph idx="3" type="body"/>
          </p:nvPr>
        </p:nvSpPr>
        <p:spPr>
          <a:xfrm>
            <a:off x="3312000"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4" name="Google Shape;114;p70"/>
          <p:cNvSpPr txBox="1"/>
          <p:nvPr>
            <p:ph idx="4" type="body"/>
          </p:nvPr>
        </p:nvSpPr>
        <p:spPr>
          <a:xfrm>
            <a:off x="6264000" y="1836000"/>
            <a:ext cx="2520000" cy="2574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050"/>
              <a:buNone/>
              <a:defRPr/>
            </a:lvl1pPr>
            <a:lvl2pPr indent="-288925" lvl="1" marL="914400" algn="l">
              <a:lnSpc>
                <a:spcPct val="100000"/>
              </a:lnSpc>
              <a:spcBef>
                <a:spcPts val="600"/>
              </a:spcBef>
              <a:spcAft>
                <a:spcPts val="0"/>
              </a:spcAft>
              <a:buClr>
                <a:schemeClr val="dk1"/>
              </a:buClr>
              <a:buSzPts val="950"/>
              <a:buChar char="•"/>
              <a:defRPr/>
            </a:lvl2pPr>
            <a:lvl3pPr indent="-282575" lvl="2" marL="1371600" algn="l">
              <a:lnSpc>
                <a:spcPct val="100000"/>
              </a:lnSpc>
              <a:spcBef>
                <a:spcPts val="600"/>
              </a:spcBef>
              <a:spcAft>
                <a:spcPts val="0"/>
              </a:spcAft>
              <a:buClr>
                <a:schemeClr val="dk1"/>
              </a:buClr>
              <a:buSzPts val="850"/>
              <a:buChar char="•"/>
              <a:defRPr/>
            </a:lvl3pPr>
            <a:lvl4pPr indent="-276225" lvl="3" marL="1828800" algn="l">
              <a:lnSpc>
                <a:spcPct val="100000"/>
              </a:lnSpc>
              <a:spcBef>
                <a:spcPts val="100"/>
              </a:spcBef>
              <a:spcAft>
                <a:spcPts val="0"/>
              </a:spcAft>
              <a:buClr>
                <a:schemeClr val="dk1"/>
              </a:buClr>
              <a:buSzPts val="750"/>
              <a:buChar char="•"/>
              <a:defRPr/>
            </a:lvl4pPr>
            <a:lvl5pPr indent="-273050" lvl="4" marL="2286000" algn="l">
              <a:lnSpc>
                <a:spcPct val="100000"/>
              </a:lnSpc>
              <a:spcBef>
                <a:spcPts val="100"/>
              </a:spcBef>
              <a:spcAft>
                <a:spcPts val="0"/>
              </a:spcAft>
              <a:buClr>
                <a:schemeClr val="dk1"/>
              </a:buClr>
              <a:buSzPts val="7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5" name="Google Shape;115;p70"/>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70"/>
          <p:cNvSpPr txBox="1"/>
          <p:nvPr>
            <p:ph idx="5"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3 cases hierarchisé">
  <p:cSld name="Contenu 3 cases hierarchisé">
    <p:spTree>
      <p:nvGrpSpPr>
        <p:cNvPr id="117" name="Shape 117"/>
        <p:cNvGrpSpPr/>
        <p:nvPr/>
      </p:nvGrpSpPr>
      <p:grpSpPr>
        <a:xfrm>
          <a:off x="0" y="0"/>
          <a:ext cx="0" cy="0"/>
          <a:chOff x="0" y="0"/>
          <a:chExt cx="0" cy="0"/>
        </a:xfrm>
      </p:grpSpPr>
      <p:sp>
        <p:nvSpPr>
          <p:cNvPr id="118" name="Google Shape;118;p71"/>
          <p:cNvSpPr txBox="1"/>
          <p:nvPr>
            <p:ph idx="1" type="body"/>
          </p:nvPr>
        </p:nvSpPr>
        <p:spPr>
          <a:xfrm>
            <a:off x="359998"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7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7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22" name="Google Shape;122;p71"/>
          <p:cNvSpPr txBox="1"/>
          <p:nvPr>
            <p:ph idx="2" type="body"/>
          </p:nvPr>
        </p:nvSpPr>
        <p:spPr>
          <a:xfrm>
            <a:off x="3312000"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3" name="Google Shape;123;p71"/>
          <p:cNvSpPr txBox="1"/>
          <p:nvPr>
            <p:ph idx="3" type="body"/>
          </p:nvPr>
        </p:nvSpPr>
        <p:spPr>
          <a:xfrm>
            <a:off x="6263999" y="1836000"/>
            <a:ext cx="2520000"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4" name="Google Shape;124;p71"/>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71"/>
          <p:cNvSpPr txBox="1"/>
          <p:nvPr>
            <p:ph idx="4"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6" name="Google Shape;126;p71"/>
          <p:cNvSpPr txBox="1"/>
          <p:nvPr>
            <p:ph idx="5"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b="1" sz="750">
                <a:solidFill>
                  <a:schemeClr val="dk1"/>
                </a:solidFill>
                <a:latin typeface="Arial"/>
                <a:ea typeface="Arial"/>
                <a:cs typeface="Arial"/>
                <a:sym typeface="Arial"/>
              </a:defRPr>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2 cases hierarchisé">
  <p:cSld name="Contenu 2 cases hierarchisé">
    <p:spTree>
      <p:nvGrpSpPr>
        <p:cNvPr id="127" name="Shape 127"/>
        <p:cNvGrpSpPr/>
        <p:nvPr/>
      </p:nvGrpSpPr>
      <p:grpSpPr>
        <a:xfrm>
          <a:off x="0" y="0"/>
          <a:ext cx="0" cy="0"/>
          <a:chOff x="0" y="0"/>
          <a:chExt cx="0" cy="0"/>
        </a:xfrm>
      </p:grpSpPr>
      <p:sp>
        <p:nvSpPr>
          <p:cNvPr id="128" name="Google Shape;128;p7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7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7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131" name="Google Shape;131;p72"/>
          <p:cNvSpPr txBox="1"/>
          <p:nvPr>
            <p:ph idx="1" type="body"/>
          </p:nvPr>
        </p:nvSpPr>
        <p:spPr>
          <a:xfrm>
            <a:off x="4788021" y="1836000"/>
            <a:ext cx="3995978"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2" name="Google Shape;132;p7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72"/>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rgbClr val="595959"/>
              </a:buClr>
              <a:buSzPts val="1100"/>
              <a:buNone/>
              <a:defRPr b="1" sz="1100">
                <a:solidFill>
                  <a:srgbClr val="595959"/>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4" name="Google Shape;134;p72"/>
          <p:cNvSpPr txBox="1"/>
          <p:nvPr>
            <p:ph idx="3" type="body"/>
          </p:nvPr>
        </p:nvSpPr>
        <p:spPr>
          <a:xfrm>
            <a:off x="3312000" y="180000"/>
            <a:ext cx="5472000" cy="3600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750"/>
              <a:buFont typeface="Arial"/>
              <a:buNone/>
              <a:defRPr b="1" sz="750"/>
            </a:lvl1pPr>
            <a:lvl2pPr indent="-228600" lvl="1" marL="914400" algn="r">
              <a:lnSpc>
                <a:spcPct val="100000"/>
              </a:lnSpc>
              <a:spcBef>
                <a:spcPts val="0"/>
              </a:spcBef>
              <a:spcAft>
                <a:spcPts val="0"/>
              </a:spcAft>
              <a:buClr>
                <a:schemeClr val="dk1"/>
              </a:buClr>
              <a:buSzPts val="750"/>
              <a:buFont typeface="Arial"/>
              <a:buNone/>
              <a:defRPr sz="750"/>
            </a:lvl2pPr>
            <a:lvl3pPr indent="-342900" lvl="2" marL="1371600" algn="l">
              <a:lnSpc>
                <a:spcPct val="100000"/>
              </a:lnSpc>
              <a:spcBef>
                <a:spcPts val="1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72"/>
          <p:cNvSpPr txBox="1"/>
          <p:nvPr>
            <p:ph idx="4" type="body"/>
          </p:nvPr>
        </p:nvSpPr>
        <p:spPr>
          <a:xfrm>
            <a:off x="359998" y="1836000"/>
            <a:ext cx="3995978" cy="2574000"/>
          </a:xfrm>
          <a:prstGeom prst="rect">
            <a:avLst/>
          </a:prstGeom>
          <a:noFill/>
          <a:ln>
            <a:noFill/>
          </a:ln>
        </p:spPr>
        <p:txBody>
          <a:bodyPr anchorCtr="0" anchor="t" bIns="0" lIns="0" spcFirstLastPara="1" rIns="0" wrap="square" tIns="0">
            <a:noAutofit/>
          </a:bodyPr>
          <a:lstStyle>
            <a:lvl1pPr indent="-295275" lvl="0" marL="457200" algn="l">
              <a:lnSpc>
                <a:spcPct val="100000"/>
              </a:lnSpc>
              <a:spcBef>
                <a:spcPts val="400"/>
              </a:spcBef>
              <a:spcAft>
                <a:spcPts val="0"/>
              </a:spcAft>
              <a:buClr>
                <a:schemeClr val="dk1"/>
              </a:buClr>
              <a:buSzPts val="1050"/>
              <a:buFont typeface="Arial"/>
              <a:buAutoNum type="arabicPeriod"/>
              <a:defRPr b="1"/>
            </a:lvl1pPr>
            <a:lvl2pPr indent="-288925" lvl="1" marL="914400" algn="l">
              <a:lnSpc>
                <a:spcPct val="100000"/>
              </a:lnSpc>
              <a:spcBef>
                <a:spcPts val="800"/>
              </a:spcBef>
              <a:spcAft>
                <a:spcPts val="0"/>
              </a:spcAft>
              <a:buClr>
                <a:schemeClr val="dk1"/>
              </a:buClr>
              <a:buSzPts val="950"/>
              <a:buFont typeface="Arial"/>
              <a:buAutoNum type="alphaLcPeriod"/>
              <a:defRPr/>
            </a:lvl2pPr>
            <a:lvl3pPr indent="-342900" lvl="2" marL="1371600" algn="l">
              <a:lnSpc>
                <a:spcPct val="100000"/>
              </a:lnSpc>
              <a:spcBef>
                <a:spcPts val="800"/>
              </a:spcBef>
              <a:spcAft>
                <a:spcPts val="0"/>
              </a:spcAft>
              <a:buClr>
                <a:schemeClr val="dk1"/>
              </a:buClr>
              <a:buSzPts val="1800"/>
              <a:buChar char="•"/>
              <a:defRPr/>
            </a:lvl3pPr>
            <a:lvl4pPr indent="-342900" lvl="3" marL="1828800" algn="l">
              <a:lnSpc>
                <a:spcPct val="100000"/>
              </a:lnSpc>
              <a:spcBef>
                <a:spcPts val="100"/>
              </a:spcBef>
              <a:spcAft>
                <a:spcPts val="0"/>
              </a:spcAft>
              <a:buClr>
                <a:schemeClr val="dk1"/>
              </a:buClr>
              <a:buSzPts val="1800"/>
              <a:buChar char="•"/>
              <a:defRPr/>
            </a:lvl4pPr>
            <a:lvl5pPr indent="-342900" lvl="4" marL="2286000" algn="l">
              <a:lnSpc>
                <a:spcPct val="100000"/>
              </a:lnSpc>
              <a:spcBef>
                <a:spcPts val="10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2.jp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2.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8"/>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550"/>
              <a:buFont typeface="Arial"/>
              <a:buNone/>
              <a:defRPr b="1" i="0" sz="255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p:nvPr>
            <p:ph idx="1" type="body"/>
          </p:nvPr>
        </p:nvSpPr>
        <p:spPr>
          <a:xfrm>
            <a:off x="359999" y="1836000"/>
            <a:ext cx="8424000" cy="25740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50"/>
              <a:buFont typeface="Arial"/>
              <a:buNone/>
              <a:defRPr b="0" i="0" sz="1050" u="none" cap="none" strike="noStrike">
                <a:solidFill>
                  <a:schemeClr val="dk1"/>
                </a:solidFill>
                <a:latin typeface="Arial"/>
                <a:ea typeface="Arial"/>
                <a:cs typeface="Arial"/>
                <a:sym typeface="Arial"/>
              </a:defRPr>
            </a:lvl1pPr>
            <a:lvl2pPr indent="-288925" lvl="1" marL="914400" marR="0" rtl="0" algn="l">
              <a:lnSpc>
                <a:spcPct val="100000"/>
              </a:lnSpc>
              <a:spcBef>
                <a:spcPts val="600"/>
              </a:spcBef>
              <a:spcAft>
                <a:spcPts val="0"/>
              </a:spcAft>
              <a:buClr>
                <a:schemeClr val="dk1"/>
              </a:buClr>
              <a:buSzPts val="950"/>
              <a:buFont typeface="Arial"/>
              <a:buChar char="•"/>
              <a:defRPr b="0" i="0" sz="950" u="none" cap="none" strike="noStrike">
                <a:solidFill>
                  <a:schemeClr val="dk1"/>
                </a:solidFill>
                <a:latin typeface="Arial"/>
                <a:ea typeface="Arial"/>
                <a:cs typeface="Arial"/>
                <a:sym typeface="Arial"/>
              </a:defRPr>
            </a:lvl2pPr>
            <a:lvl3pPr indent="-282575" lvl="2" marL="1371600" marR="0" rtl="0" algn="l">
              <a:lnSpc>
                <a:spcPct val="100000"/>
              </a:lnSpc>
              <a:spcBef>
                <a:spcPts val="600"/>
              </a:spcBef>
              <a:spcAft>
                <a:spcPts val="0"/>
              </a:spcAft>
              <a:buClr>
                <a:schemeClr val="dk1"/>
              </a:buClr>
              <a:buSzPts val="850"/>
              <a:buFont typeface="Arial"/>
              <a:buChar char="•"/>
              <a:defRPr b="0" i="0" sz="850" u="none" cap="none" strike="noStrike">
                <a:solidFill>
                  <a:schemeClr val="dk1"/>
                </a:solidFill>
                <a:latin typeface="Arial"/>
                <a:ea typeface="Arial"/>
                <a:cs typeface="Arial"/>
                <a:sym typeface="Arial"/>
              </a:defRPr>
            </a:lvl3pPr>
            <a:lvl4pPr indent="-276225" lvl="3" marL="1828800" marR="0" rtl="0" algn="l">
              <a:lnSpc>
                <a:spcPct val="100000"/>
              </a:lnSpc>
              <a:spcBef>
                <a:spcPts val="100"/>
              </a:spcBef>
              <a:spcAft>
                <a:spcPts val="0"/>
              </a:spcAft>
              <a:buClr>
                <a:schemeClr val="dk1"/>
              </a:buClr>
              <a:buSzPts val="750"/>
              <a:buFont typeface="Arial"/>
              <a:buChar char="•"/>
              <a:defRPr b="0" i="0" sz="750" u="none" cap="none" strike="noStrike">
                <a:solidFill>
                  <a:schemeClr val="dk1"/>
                </a:solidFill>
                <a:latin typeface="Arial"/>
                <a:ea typeface="Arial"/>
                <a:cs typeface="Arial"/>
                <a:sym typeface="Arial"/>
              </a:defRPr>
            </a:lvl4pPr>
            <a:lvl5pPr indent="-273050" lvl="4" marL="2286000" marR="0" rtl="0" algn="l">
              <a:lnSpc>
                <a:spcPct val="100000"/>
              </a:lnSpc>
              <a:spcBef>
                <a:spcPts val="100"/>
              </a:spcBef>
              <a:spcAft>
                <a:spcPts val="0"/>
              </a:spcAft>
              <a:buClr>
                <a:schemeClr val="dk1"/>
              </a:buClr>
              <a:buSzPts val="700"/>
              <a:buFont typeface="Arial"/>
              <a:buChar char="•"/>
              <a:defRPr b="0" i="0" sz="7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5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lvl1pPr lvl="0" marR="0" rtl="0" algn="ctr">
              <a:spcBef>
                <a:spcPts val="0"/>
              </a:spcBef>
              <a:spcAft>
                <a:spcPts val="0"/>
              </a:spcAft>
              <a:buSzPts val="1400"/>
              <a:buNone/>
              <a:defRPr b="1" i="0" sz="600" u="none" cap="none" strike="noStrike">
                <a:solidFill>
                  <a:srgbClr val="7F7F7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5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1" i="0" sz="75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1" i="0" sz="600" u="none" cap="none" strike="noStrike">
                <a:solidFill>
                  <a:srgbClr val="7F7F7F"/>
                </a:solidFill>
                <a:latin typeface="Arial"/>
                <a:ea typeface="Arial"/>
                <a:cs typeface="Arial"/>
                <a:sym typeface="Arial"/>
              </a:defRPr>
            </a:lvl1pPr>
            <a:lvl2pPr indent="0" lvl="1" marL="0" marR="0" rtl="0" algn="r">
              <a:spcBef>
                <a:spcPts val="0"/>
              </a:spcBef>
              <a:buNone/>
              <a:defRPr b="1" i="0" sz="600" u="none" cap="none" strike="noStrike">
                <a:solidFill>
                  <a:srgbClr val="7F7F7F"/>
                </a:solidFill>
                <a:latin typeface="Arial"/>
                <a:ea typeface="Arial"/>
                <a:cs typeface="Arial"/>
                <a:sym typeface="Arial"/>
              </a:defRPr>
            </a:lvl2pPr>
            <a:lvl3pPr indent="0" lvl="2" marL="0" marR="0" rtl="0" algn="r">
              <a:spcBef>
                <a:spcPts val="0"/>
              </a:spcBef>
              <a:buNone/>
              <a:defRPr b="1" i="0" sz="600" u="none" cap="none" strike="noStrike">
                <a:solidFill>
                  <a:srgbClr val="7F7F7F"/>
                </a:solidFill>
                <a:latin typeface="Arial"/>
                <a:ea typeface="Arial"/>
                <a:cs typeface="Arial"/>
                <a:sym typeface="Arial"/>
              </a:defRPr>
            </a:lvl3pPr>
            <a:lvl4pPr indent="0" lvl="3" marL="0" marR="0" rtl="0" algn="r">
              <a:spcBef>
                <a:spcPts val="0"/>
              </a:spcBef>
              <a:buNone/>
              <a:defRPr b="1" i="0" sz="600" u="none" cap="none" strike="noStrike">
                <a:solidFill>
                  <a:srgbClr val="7F7F7F"/>
                </a:solidFill>
                <a:latin typeface="Arial"/>
                <a:ea typeface="Arial"/>
                <a:cs typeface="Arial"/>
                <a:sym typeface="Arial"/>
              </a:defRPr>
            </a:lvl4pPr>
            <a:lvl5pPr indent="0" lvl="4" marL="0" marR="0" rtl="0" algn="r">
              <a:spcBef>
                <a:spcPts val="0"/>
              </a:spcBef>
              <a:buNone/>
              <a:defRPr b="1" i="0" sz="600" u="none" cap="none" strike="noStrike">
                <a:solidFill>
                  <a:srgbClr val="7F7F7F"/>
                </a:solidFill>
                <a:latin typeface="Arial"/>
                <a:ea typeface="Arial"/>
                <a:cs typeface="Arial"/>
                <a:sym typeface="Arial"/>
              </a:defRPr>
            </a:lvl5pPr>
            <a:lvl6pPr indent="0" lvl="5" marL="0" marR="0" rtl="0" algn="r">
              <a:spcBef>
                <a:spcPts val="0"/>
              </a:spcBef>
              <a:buNone/>
              <a:defRPr b="1" i="0" sz="600" u="none" cap="none" strike="noStrike">
                <a:solidFill>
                  <a:srgbClr val="7F7F7F"/>
                </a:solidFill>
                <a:latin typeface="Arial"/>
                <a:ea typeface="Arial"/>
                <a:cs typeface="Arial"/>
                <a:sym typeface="Arial"/>
              </a:defRPr>
            </a:lvl6pPr>
            <a:lvl7pPr indent="0" lvl="6" marL="0" marR="0" rtl="0" algn="r">
              <a:spcBef>
                <a:spcPts val="0"/>
              </a:spcBef>
              <a:buNone/>
              <a:defRPr b="1" i="0" sz="600" u="none" cap="none" strike="noStrike">
                <a:solidFill>
                  <a:srgbClr val="7F7F7F"/>
                </a:solidFill>
                <a:latin typeface="Arial"/>
                <a:ea typeface="Arial"/>
                <a:cs typeface="Arial"/>
                <a:sym typeface="Arial"/>
              </a:defRPr>
            </a:lvl7pPr>
            <a:lvl8pPr indent="0" lvl="7" marL="0" marR="0" rtl="0" algn="r">
              <a:spcBef>
                <a:spcPts val="0"/>
              </a:spcBef>
              <a:buNone/>
              <a:defRPr b="1" i="0" sz="600" u="none" cap="none" strike="noStrike">
                <a:solidFill>
                  <a:srgbClr val="7F7F7F"/>
                </a:solidFill>
                <a:latin typeface="Arial"/>
                <a:ea typeface="Arial"/>
                <a:cs typeface="Arial"/>
                <a:sym typeface="Arial"/>
              </a:defRPr>
            </a:lvl8pPr>
            <a:lvl9pPr indent="0" lvl="8" marL="0" marR="0" rtl="0" algn="r">
              <a:spcBef>
                <a:spcPts val="0"/>
              </a:spcBef>
              <a:buNone/>
              <a:defRPr b="1"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cxnSp>
        <p:nvCxnSpPr>
          <p:cNvPr id="15" name="Google Shape;15;p58"/>
          <p:cNvCxnSpPr/>
          <p:nvPr/>
        </p:nvCxnSpPr>
        <p:spPr>
          <a:xfrm>
            <a:off x="360000" y="4784400"/>
            <a:ext cx="8424000" cy="0"/>
          </a:xfrm>
          <a:prstGeom prst="straightConnector1">
            <a:avLst/>
          </a:prstGeom>
          <a:noFill/>
          <a:ln cap="flat" cmpd="sng" w="10150">
            <a:solidFill>
              <a:schemeClr val="dk1"/>
            </a:solidFill>
            <a:prstDash val="solid"/>
            <a:round/>
            <a:headEnd len="sm" w="sm" type="none"/>
            <a:tailEnd len="sm" w="sm" type="none"/>
          </a:ln>
        </p:spPr>
      </p:cxnSp>
      <p:pic>
        <p:nvPicPr>
          <p:cNvPr id="16" name="Google Shape;16;p58"/>
          <p:cNvPicPr preferRelativeResize="0"/>
          <p:nvPr/>
        </p:nvPicPr>
        <p:blipFill rotWithShape="1">
          <a:blip r:embed="rId1">
            <a:alphaModFix/>
          </a:blip>
          <a:srcRect b="0" l="0" r="0" t="0"/>
          <a:stretch/>
        </p:blipFill>
        <p:spPr>
          <a:xfrm>
            <a:off x="289483" y="110279"/>
            <a:ext cx="552807" cy="500852"/>
          </a:xfrm>
          <a:prstGeom prst="rect">
            <a:avLst/>
          </a:prstGeom>
          <a:noFill/>
          <a:ln>
            <a:noFill/>
          </a:ln>
        </p:spPr>
      </p:pic>
      <p:pic>
        <p:nvPicPr>
          <p:cNvPr id="17" name="Google Shape;17;p58"/>
          <p:cNvPicPr preferRelativeResize="0"/>
          <p:nvPr/>
        </p:nvPicPr>
        <p:blipFill rotWithShape="1">
          <a:blip r:embed="rId2">
            <a:alphaModFix/>
          </a:blip>
          <a:srcRect b="0" l="0" r="0" t="0"/>
          <a:stretch/>
        </p:blipFill>
        <p:spPr>
          <a:xfrm>
            <a:off x="1150474" y="182454"/>
            <a:ext cx="358447" cy="35844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accessibilite.numerique.gouv.fr/methode/criteres-et-tests/#13.3" TargetMode="External"/><Relationship Id="rId4" Type="http://schemas.openxmlformats.org/officeDocument/2006/relationships/hyperlink" Target="https://accessibilite.numerique.gouv.fr/methode/criteres-et-tests/#13.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21.png"/><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6.png"/><Relationship Id="rId9"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2.png"/><Relationship Id="rId8"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5.png"/><Relationship Id="rId9" Type="http://schemas.openxmlformats.org/officeDocument/2006/relationships/image" Target="../media/image34.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43.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5.png"/><Relationship Id="rId4" Type="http://schemas.openxmlformats.org/officeDocument/2006/relationships/image" Target="../media/image47.png"/><Relationship Id="rId5"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54.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hyperlink" Target="https://www.impots.gouv.fr/accueil" TargetMode="External"/><Relationship Id="rId4" Type="http://schemas.openxmlformats.org/officeDocument/2006/relationships/hyperlink" Target="https://www.impots.gouv.fr/accueil" TargetMode="External"/><Relationship Id="rId5" Type="http://schemas.openxmlformats.org/officeDocument/2006/relationships/hyperlink" Target="https://www.impots.gouv.fr/accuei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44.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5.png"/><Relationship Id="rId6" Type="http://schemas.openxmlformats.org/officeDocument/2006/relationships/image" Target="../media/image5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61.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image" Target="../media/image64.png"/><Relationship Id="rId4" Type="http://schemas.openxmlformats.org/officeDocument/2006/relationships/image" Target="../media/image58.png"/><Relationship Id="rId5" Type="http://schemas.openxmlformats.org/officeDocument/2006/relationships/image" Target="../media/image60.png"/><Relationship Id="rId6" Type="http://schemas.openxmlformats.org/officeDocument/2006/relationships/image" Target="../media/image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62.png"/><Relationship Id="rId4" Type="http://schemas.openxmlformats.org/officeDocument/2006/relationships/image" Target="../media/image6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63.png"/><Relationship Id="rId4" Type="http://schemas.openxmlformats.org/officeDocument/2006/relationships/image" Target="../media/image70.png"/></Relationships>
</file>

<file path=ppt/slides/_rels/slide56.xml.rels><?xml version="1.0" encoding="UTF-8" standalone="yes"?><Relationships xmlns="http://schemas.openxmlformats.org/package/2006/relationships"><Relationship Id="rId11" Type="http://schemas.openxmlformats.org/officeDocument/2006/relationships/image" Target="../media/image67.png"/><Relationship Id="rId10" Type="http://schemas.openxmlformats.org/officeDocument/2006/relationships/image" Target="../media/image72.png"/><Relationship Id="rId12" Type="http://schemas.openxmlformats.org/officeDocument/2006/relationships/image" Target="../media/image65.png"/><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hyperlink" Target="https://www.tanaguru.com/pac-comprendre-et-corriger-les-erreurs-daccessibilite/" TargetMode="External"/><Relationship Id="rId4" Type="http://schemas.openxmlformats.org/officeDocument/2006/relationships/hyperlink" Target="https://www.tanaguru.com/pac-comprendre-et-corriger-les-erreurs-daccessibilite/" TargetMode="External"/><Relationship Id="rId9" Type="http://schemas.openxmlformats.org/officeDocument/2006/relationships/hyperlink" Target="https://www.tanaguru.com/pac-comprendre-et-corriger-les-erreurs-daccessibilite/" TargetMode="External"/><Relationship Id="rId5" Type="http://schemas.openxmlformats.org/officeDocument/2006/relationships/hyperlink" Target="https://www.tanaguru.com/pac-comprendre-et-corriger-les-erreurs-daccessibilite/" TargetMode="External"/><Relationship Id="rId6" Type="http://schemas.openxmlformats.org/officeDocument/2006/relationships/hyperlink" Target="https://www.tanaguru.com/pac-comprendre-et-corriger-les-erreurs-daccessibilite/" TargetMode="External"/><Relationship Id="rId7" Type="http://schemas.openxmlformats.org/officeDocument/2006/relationships/hyperlink" Target="https://www.tanaguru.com/pac-comprendre-et-corriger-les-erreurs-daccessibilite/" TargetMode="External"/><Relationship Id="rId8" Type="http://schemas.openxmlformats.org/officeDocument/2006/relationships/hyperlink" Target="https://www.tanaguru.com/pac-comprendre-et-corriger-les-erreurs-daccessibilite/"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title"/>
          </p:nvPr>
        </p:nvSpPr>
        <p:spPr>
          <a:xfrm>
            <a:off x="1835696" y="411510"/>
            <a:ext cx="4464496" cy="57606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3600"/>
              <a:buFont typeface="Arial"/>
              <a:buNone/>
            </a:pPr>
            <a:r>
              <a:rPr lang="fr-FR" sz="3600">
                <a:solidFill>
                  <a:schemeClr val="lt1"/>
                </a:solidFill>
              </a:rPr>
              <a:t>Formation IGPDE</a:t>
            </a:r>
            <a:endParaRPr/>
          </a:p>
        </p:txBody>
      </p:sp>
      <p:sp>
        <p:nvSpPr>
          <p:cNvPr id="142" name="Google Shape;142;p1"/>
          <p:cNvSpPr txBox="1"/>
          <p:nvPr>
            <p:ph idx="11" type="ftr"/>
          </p:nvPr>
        </p:nvSpPr>
        <p:spPr>
          <a:xfrm>
            <a:off x="720000" y="3919897"/>
            <a:ext cx="3240000" cy="900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149" name="Google Shape;149;p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150" name="Google Shape;150;p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51" name="Google Shape;151;p2"/>
          <p:cNvSpPr txBox="1"/>
          <p:nvPr>
            <p:ph type="title"/>
          </p:nvPr>
        </p:nvSpPr>
        <p:spPr>
          <a:xfrm>
            <a:off x="359999" y="2355726"/>
            <a:ext cx="8424000" cy="115212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400"/>
              <a:buFont typeface="Arial"/>
              <a:buNone/>
            </a:pPr>
            <a:r>
              <a:rPr lang="fr-FR" sz="2400"/>
              <a:t>Séquence 6 : Créer des documents bureautiques accessibles avec la suite Office et la suite LibreOffice</a:t>
            </a:r>
            <a:endParaRPr/>
          </a:p>
        </p:txBody>
      </p:sp>
      <p:sp>
        <p:nvSpPr>
          <p:cNvPr id="152" name="Google Shape;152;p2"/>
          <p:cNvSpPr txBox="1"/>
          <p:nvPr>
            <p:ph idx="1" type="body"/>
          </p:nvPr>
        </p:nvSpPr>
        <p:spPr>
          <a:xfrm>
            <a:off x="359638" y="3075807"/>
            <a:ext cx="8424000" cy="151216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(14h05 - 14h35 + 14h45 - 15h30)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p:nvPr>
            <p:ph idx="2" type="pic"/>
          </p:nvPr>
        </p:nvSpPr>
        <p:spPr>
          <a:xfrm>
            <a:off x="0" y="738000"/>
            <a:ext cx="9144000" cy="4406400"/>
          </a:xfrm>
          <a:prstGeom prst="rect">
            <a:avLst/>
          </a:prstGeom>
          <a:solidFill>
            <a:srgbClr val="D8D8D8"/>
          </a:solidFill>
          <a:ln>
            <a:noFill/>
          </a:ln>
        </p:spPr>
      </p:sp>
      <p:sp>
        <p:nvSpPr>
          <p:cNvPr id="159" name="Google Shape;159;p3"/>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RGAA et documents bureautiques</a:t>
            </a:r>
            <a:endParaRPr/>
          </a:p>
        </p:txBody>
      </p:sp>
      <p:sp>
        <p:nvSpPr>
          <p:cNvPr id="160" name="Google Shape;160;p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161" name="Google Shape;161;p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162" name="Google Shape;162;p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169" name="Google Shape;169;p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170" name="Google Shape;170;p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71" name="Google Shape;171;p4"/>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172" name="Google Shape;172;p4"/>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00000"/>
              </a:buClr>
              <a:buSzPts val="2500"/>
              <a:buFont typeface="Arial"/>
              <a:buNone/>
            </a:pPr>
            <a:r>
              <a:rPr b="0" i="0" lang="fr-FR" sz="2500" u="none" strike="noStrike">
                <a:solidFill>
                  <a:srgbClr val="000000"/>
                </a:solidFill>
                <a:latin typeface="Arial"/>
                <a:ea typeface="Arial"/>
                <a:cs typeface="Arial"/>
                <a:sym typeface="Arial"/>
              </a:rPr>
              <a:t>RGAA : Critères / bureautiques</a:t>
            </a:r>
            <a:endParaRPr sz="2500">
              <a:latin typeface="Arial"/>
              <a:ea typeface="Arial"/>
              <a:cs typeface="Arial"/>
              <a:sym typeface="Arial"/>
            </a:endParaRPr>
          </a:p>
        </p:txBody>
      </p:sp>
      <p:sp>
        <p:nvSpPr>
          <p:cNvPr id="173" name="Google Shape;173;p4"/>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800"/>
              <a:buNone/>
            </a:pPr>
            <a:r>
              <a:rPr b="0" i="0" lang="fr-FR" sz="1800" u="sng" strike="noStrike">
                <a:solidFill>
                  <a:srgbClr val="000000"/>
                </a:solidFill>
                <a:latin typeface="Arial"/>
                <a:ea typeface="Arial"/>
                <a:cs typeface="Arial"/>
                <a:sym typeface="Arial"/>
                <a:hlinkClick r:id="rId3">
                  <a:extLst>
                    <a:ext uri="{A12FA001-AC4F-418D-AE19-62706E023703}">
                      <ahyp:hlinkClr val="tx"/>
                    </a:ext>
                  </a:extLst>
                </a:hlinkClick>
              </a:rPr>
              <a:t>Critère 13.3 </a:t>
            </a:r>
            <a:r>
              <a:rPr b="0" i="0" lang="fr-FR" sz="1800" u="none" strike="noStrike">
                <a:solidFill>
                  <a:srgbClr val="000000"/>
                </a:solidFill>
                <a:latin typeface="Arial"/>
                <a:ea typeface="Arial"/>
                <a:cs typeface="Arial"/>
                <a:sym typeface="Arial"/>
              </a:rPr>
              <a:t>et </a:t>
            </a:r>
            <a:r>
              <a:rPr b="0" i="0" lang="fr-FR" sz="1800" u="sng" strike="noStrike">
                <a:solidFill>
                  <a:srgbClr val="000000"/>
                </a:solidFill>
                <a:latin typeface="Arial"/>
                <a:ea typeface="Arial"/>
                <a:cs typeface="Arial"/>
                <a:sym typeface="Arial"/>
                <a:hlinkClick r:id="rId4">
                  <a:extLst>
                    <a:ext uri="{A12FA001-AC4F-418D-AE19-62706E023703}">
                      <ahyp:hlinkClr val="tx"/>
                    </a:ext>
                  </a:extLst>
                </a:hlinkClick>
              </a:rPr>
              <a:t>Critère 13.4</a:t>
            </a:r>
            <a:endParaRPr b="0" i="0" sz="1800" u="none" strike="noStrike">
              <a:solidFill>
                <a:srgbClr val="000000"/>
              </a:solidFill>
              <a:latin typeface="Lucida Sans"/>
              <a:ea typeface="Lucida Sans"/>
              <a:cs typeface="Lucida Sans"/>
              <a:sym typeface="Lucida Sans"/>
            </a:endParaRPr>
          </a:p>
          <a:p>
            <a:pPr indent="0" lvl="0" marL="0" rtl="0" algn="l">
              <a:lnSpc>
                <a:spcPct val="100000"/>
              </a:lnSpc>
              <a:spcBef>
                <a:spcPts val="500"/>
              </a:spcBef>
              <a:spcAft>
                <a:spcPts val="0"/>
              </a:spcAft>
              <a:buClr>
                <a:srgbClr val="595959"/>
              </a:buClr>
              <a:buSzPts val="2000"/>
              <a:buNone/>
            </a:pPr>
            <a:r>
              <a:t/>
            </a:r>
            <a:endParaRPr/>
          </a:p>
        </p:txBody>
      </p:sp>
      <p:sp>
        <p:nvSpPr>
          <p:cNvPr id="174" name="Google Shape;174;p4"/>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Chaque </a:t>
            </a:r>
            <a:r>
              <a:rPr b="1" lang="fr-FR"/>
              <a:t>document bureautique en téléchargement</a:t>
            </a:r>
            <a:r>
              <a:rPr lang="fr-FR"/>
              <a:t> doit :</a:t>
            </a:r>
            <a:endParaRPr/>
          </a:p>
          <a:p>
            <a:pPr indent="-101600" lvl="1" marL="252000" rtl="0" algn="l">
              <a:lnSpc>
                <a:spcPct val="100000"/>
              </a:lnSpc>
              <a:spcBef>
                <a:spcPts val="1100"/>
              </a:spcBef>
              <a:spcAft>
                <a:spcPts val="0"/>
              </a:spcAft>
              <a:buClr>
                <a:schemeClr val="dk1"/>
              </a:buClr>
              <a:buSzPts val="1600"/>
              <a:buChar char="•"/>
            </a:pPr>
            <a:r>
              <a:rPr lang="fr-FR"/>
              <a:t>être compatible avec </a:t>
            </a:r>
            <a:r>
              <a:rPr b="1" lang="fr-FR"/>
              <a:t>l’accessibilité</a:t>
            </a:r>
            <a:r>
              <a:rPr lang="fr-FR"/>
              <a:t> ;</a:t>
            </a:r>
            <a:endParaRPr/>
          </a:p>
          <a:p>
            <a:pPr indent="-101600" lvl="1" marL="252000" rtl="0" algn="l">
              <a:lnSpc>
                <a:spcPct val="100000"/>
              </a:lnSpc>
              <a:spcBef>
                <a:spcPts val="1200"/>
              </a:spcBef>
              <a:spcAft>
                <a:spcPts val="0"/>
              </a:spcAft>
              <a:buClr>
                <a:schemeClr val="dk1"/>
              </a:buClr>
              <a:buSzPts val="1600"/>
              <a:buChar char="•"/>
            </a:pPr>
            <a:r>
              <a:rPr lang="fr-FR"/>
              <a:t>posséder une version alternative au format bureautique ou HTML, accessible et  offrant une information équivalente.</a:t>
            </a:r>
            <a:endParaRPr/>
          </a:p>
          <a:p>
            <a:pPr indent="0" lvl="0" marL="0" rtl="0" algn="l">
              <a:lnSpc>
                <a:spcPct val="100000"/>
              </a:lnSpc>
              <a:spcBef>
                <a:spcPts val="600"/>
              </a:spcBef>
              <a:spcAft>
                <a:spcPts val="0"/>
              </a:spcAft>
              <a:buClr>
                <a:schemeClr val="dk1"/>
              </a:buClr>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p:nvPr>
            <p:ph idx="2" type="pic"/>
          </p:nvPr>
        </p:nvSpPr>
        <p:spPr>
          <a:xfrm>
            <a:off x="0" y="738000"/>
            <a:ext cx="9144000" cy="4406400"/>
          </a:xfrm>
          <a:prstGeom prst="rect">
            <a:avLst/>
          </a:prstGeom>
          <a:solidFill>
            <a:srgbClr val="D8D8D8"/>
          </a:solidFill>
          <a:ln>
            <a:noFill/>
          </a:ln>
        </p:spPr>
      </p:sp>
      <p:sp>
        <p:nvSpPr>
          <p:cNvPr id="181" name="Google Shape;181;p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182" name="Google Shape;182;p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183" name="Google Shape;183;p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84" name="Google Shape;184;p5"/>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Titre identifiant le document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191" name="Google Shape;191;p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192" name="Google Shape;192;p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93" name="Google Shape;193;p6"/>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194" name="Google Shape;194;p6"/>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Identification du document</a:t>
            </a:r>
            <a:endParaRPr/>
          </a:p>
        </p:txBody>
      </p:sp>
      <p:sp>
        <p:nvSpPr>
          <p:cNvPr id="195" name="Google Shape;195;p6"/>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Les métadonnées</a:t>
            </a:r>
            <a:endParaRPr/>
          </a:p>
        </p:txBody>
      </p:sp>
      <p:sp>
        <p:nvSpPr>
          <p:cNvPr id="196" name="Google Shape;196;p6"/>
          <p:cNvSpPr txBox="1"/>
          <p:nvPr>
            <p:ph idx="3" type="body"/>
          </p:nvPr>
        </p:nvSpPr>
        <p:spPr>
          <a:xfrm>
            <a:off x="359998" y="1835999"/>
            <a:ext cx="5472001"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lang="fr-FR" sz="1600"/>
              <a:t>Les lecteurs d’écran n’identifient pas le « Titre » (Word) ou « Titre principal » (Writer) comme le titre de document.</a:t>
            </a:r>
            <a:endParaRPr/>
          </a:p>
          <a:p>
            <a:pPr indent="0" lvl="0" marL="0" rtl="0" algn="l">
              <a:lnSpc>
                <a:spcPct val="100000"/>
              </a:lnSpc>
              <a:spcBef>
                <a:spcPts val="500"/>
              </a:spcBef>
              <a:spcAft>
                <a:spcPts val="0"/>
              </a:spcAft>
              <a:buClr>
                <a:schemeClr val="dk1"/>
              </a:buClr>
              <a:buSzPts val="1600"/>
              <a:buNone/>
            </a:pPr>
            <a:r>
              <a:rPr lang="fr-FR" sz="1600"/>
              <a:t>Ils restituent le « Titre » indiqué dans les métadonnées du document ou à défaut, le nom du fichier (pas toujours pertinent).</a:t>
            </a:r>
            <a:endParaRPr/>
          </a:p>
          <a:p>
            <a:pPr indent="0" lvl="0" marL="0" rtl="0" algn="l">
              <a:lnSpc>
                <a:spcPct val="100000"/>
              </a:lnSpc>
              <a:spcBef>
                <a:spcPts val="500"/>
              </a:spcBef>
              <a:spcAft>
                <a:spcPts val="0"/>
              </a:spcAft>
              <a:buClr>
                <a:schemeClr val="dk1"/>
              </a:buClr>
              <a:buSzPts val="1800"/>
              <a:buNone/>
            </a:pPr>
            <a:r>
              <a:t/>
            </a:r>
            <a:endParaRPr/>
          </a:p>
        </p:txBody>
      </p:sp>
      <p:sp>
        <p:nvSpPr>
          <p:cNvPr id="197" name="Google Shape;197;p6"/>
          <p:cNvSpPr txBox="1"/>
          <p:nvPr>
            <p:ph idx="4" type="body"/>
          </p:nvPr>
        </p:nvSpPr>
        <p:spPr>
          <a:xfrm>
            <a:off x="6012160" y="1836738"/>
            <a:ext cx="2771478"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Raccourcis clavier </a:t>
            </a:r>
            <a:r>
              <a:rPr b="1" lang="fr-FR"/>
              <a:t>NVDA</a:t>
            </a:r>
            <a:r>
              <a:rPr lang="fr-FR"/>
              <a:t> pour restituer le « Titre » du document PDF : </a:t>
            </a:r>
            <a:endParaRPr/>
          </a:p>
          <a:p>
            <a:pPr indent="0" lvl="0" marL="0" rtl="0" algn="ctr">
              <a:lnSpc>
                <a:spcPct val="100000"/>
              </a:lnSpc>
              <a:spcBef>
                <a:spcPts val="500"/>
              </a:spcBef>
              <a:spcAft>
                <a:spcPts val="0"/>
              </a:spcAft>
              <a:buClr>
                <a:schemeClr val="dk1"/>
              </a:buClr>
              <a:buSzPts val="1800"/>
              <a:buNone/>
            </a:pPr>
            <a:r>
              <a:rPr lang="fr-FR">
                <a:highlight>
                  <a:srgbClr val="00FFFF"/>
                </a:highlight>
              </a:rPr>
              <a:t>NVDA</a:t>
            </a:r>
            <a:r>
              <a:rPr lang="fr-FR"/>
              <a:t> + </a:t>
            </a:r>
            <a:r>
              <a:rPr lang="fr-FR">
                <a:highlight>
                  <a:srgbClr val="00FFFF"/>
                </a:highlight>
              </a:rPr>
              <a:t>T</a:t>
            </a:r>
            <a:endParaRPr/>
          </a:p>
          <a:p>
            <a:pPr indent="0" lvl="1" marL="180000" rtl="0" algn="l">
              <a:lnSpc>
                <a:spcPct val="100000"/>
              </a:lnSpc>
              <a:spcBef>
                <a:spcPts val="1100"/>
              </a:spcBef>
              <a:spcAft>
                <a:spcPts val="0"/>
              </a:spcAft>
              <a:buClr>
                <a:schemeClr val="dk1"/>
              </a:buClr>
              <a:buSzPts val="1600"/>
              <a:buNone/>
            </a:pPr>
            <a:r>
              <a:rPr lang="fr-FR"/>
              <a:t>Tester avec :</a:t>
            </a:r>
            <a:endParaRPr/>
          </a:p>
          <a:p>
            <a:pPr indent="-88900" lvl="2" marL="432000" rtl="0" algn="l">
              <a:lnSpc>
                <a:spcPct val="100000"/>
              </a:lnSpc>
              <a:spcBef>
                <a:spcPts val="700"/>
              </a:spcBef>
              <a:spcAft>
                <a:spcPts val="0"/>
              </a:spcAft>
              <a:buClr>
                <a:schemeClr val="dk1"/>
              </a:buClr>
              <a:buSzPts val="1400"/>
              <a:buChar char="•"/>
            </a:pPr>
            <a:r>
              <a:rPr lang="fr-FR"/>
              <a:t>test-1-1.pdf</a:t>
            </a:r>
            <a:endParaRPr/>
          </a:p>
          <a:p>
            <a:pPr indent="-88900" lvl="2" marL="432000" rtl="0" algn="l">
              <a:lnSpc>
                <a:spcPct val="100000"/>
              </a:lnSpc>
              <a:spcBef>
                <a:spcPts val="200"/>
              </a:spcBef>
              <a:spcAft>
                <a:spcPts val="0"/>
              </a:spcAft>
              <a:buClr>
                <a:schemeClr val="dk1"/>
              </a:buClr>
              <a:buSzPts val="1400"/>
              <a:buChar char="•"/>
            </a:pPr>
            <a:r>
              <a:rPr lang="fr-FR"/>
              <a:t>test-1-2.pdf</a:t>
            </a:r>
            <a:endParaRPr/>
          </a:p>
          <a:p>
            <a:pPr indent="0" lvl="0" marL="0" rtl="0" algn="l">
              <a:lnSpc>
                <a:spcPct val="100000"/>
              </a:lnSpc>
              <a:spcBef>
                <a:spcPts val="1300"/>
              </a:spcBef>
              <a:spcAft>
                <a:spcPts val="0"/>
              </a:spcAft>
              <a:buClr>
                <a:schemeClr val="dk1"/>
              </a:buClr>
              <a:buSzPts val="1400"/>
              <a:buNone/>
            </a:pPr>
            <a:r>
              <a:rPr lang="fr-FR" sz="1400"/>
              <a:t>Par défaut (desktop) la touche NVDA est </a:t>
            </a:r>
            <a:r>
              <a:rPr lang="fr-FR" sz="1400">
                <a:highlight>
                  <a:srgbClr val="2CFFC8"/>
                </a:highlight>
              </a:rPr>
              <a:t>Inser</a:t>
            </a:r>
            <a:r>
              <a:rPr lang="fr-FR" sz="1400"/>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04" name="Google Shape;204;p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05" name="Google Shape;205;p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06" name="Google Shape;206;p7"/>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07" name="Google Shape;207;p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Titre du document</a:t>
            </a:r>
            <a:endParaRPr/>
          </a:p>
        </p:txBody>
      </p:sp>
      <p:sp>
        <p:nvSpPr>
          <p:cNvPr id="208" name="Google Shape;208;p7"/>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Exercice 1 : Ajouter un titre au </a:t>
            </a:r>
            <a:r>
              <a:rPr lang="fr-FR" sz="2000">
                <a:latin typeface="Arial"/>
                <a:ea typeface="Arial"/>
                <a:cs typeface="Arial"/>
                <a:sym typeface="Arial"/>
              </a:rPr>
              <a:t>« Document-texte-non_accessible »</a:t>
            </a:r>
            <a:endParaRPr/>
          </a:p>
          <a:p>
            <a:pPr indent="0" lvl="0" marL="0" rtl="0" algn="l">
              <a:lnSpc>
                <a:spcPct val="100000"/>
              </a:lnSpc>
              <a:spcBef>
                <a:spcPts val="500"/>
              </a:spcBef>
              <a:spcAft>
                <a:spcPts val="0"/>
              </a:spcAft>
              <a:buClr>
                <a:srgbClr val="595959"/>
              </a:buClr>
              <a:buSzPts val="2000"/>
              <a:buNone/>
            </a:pPr>
            <a:r>
              <a:t/>
            </a:r>
            <a:endParaRPr/>
          </a:p>
          <a:p>
            <a:pPr indent="0" lvl="0" marL="0" rtl="0" algn="l">
              <a:lnSpc>
                <a:spcPct val="100000"/>
              </a:lnSpc>
              <a:spcBef>
                <a:spcPts val="500"/>
              </a:spcBef>
              <a:spcAft>
                <a:spcPts val="0"/>
              </a:spcAft>
              <a:buClr>
                <a:srgbClr val="595959"/>
              </a:buClr>
              <a:buSzPts val="2000"/>
              <a:buNone/>
            </a:pPr>
            <a:r>
              <a:t/>
            </a:r>
            <a:endParaRPr/>
          </a:p>
        </p:txBody>
      </p:sp>
      <p:sp>
        <p:nvSpPr>
          <p:cNvPr id="209" name="Google Shape;209;p7"/>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800"/>
              <a:buNone/>
            </a:pPr>
            <a:r>
              <a:rPr lang="fr-FR">
                <a:solidFill>
                  <a:srgbClr val="00006C"/>
                </a:solidFill>
              </a:rPr>
              <a:t>Fichier</a:t>
            </a:r>
            <a:r>
              <a:rPr b="0" i="0" lang="fr-FR" sz="1800" u="none" strike="noStrike">
                <a:solidFill>
                  <a:srgbClr val="000000"/>
                </a:solidFill>
                <a:latin typeface="Arial"/>
                <a:ea typeface="Arial"/>
                <a:cs typeface="Arial"/>
                <a:sym typeface="Arial"/>
              </a:rPr>
              <a:t> → </a:t>
            </a:r>
            <a:r>
              <a:rPr lang="fr-FR">
                <a:solidFill>
                  <a:srgbClr val="00006C"/>
                </a:solidFill>
              </a:rPr>
              <a:t>Informations</a:t>
            </a:r>
            <a:r>
              <a:rPr b="0" i="0" lang="fr-FR" sz="1800" u="none" strike="noStrike">
                <a:solidFill>
                  <a:srgbClr val="000000"/>
                </a:solidFill>
                <a:latin typeface="Arial"/>
                <a:ea typeface="Arial"/>
                <a:cs typeface="Arial"/>
                <a:sym typeface="Arial"/>
              </a:rPr>
              <a:t> → </a:t>
            </a:r>
            <a:r>
              <a:rPr lang="fr-FR">
                <a:solidFill>
                  <a:srgbClr val="00006C"/>
                </a:solidFill>
              </a:rPr>
              <a:t>Propriétés</a:t>
            </a:r>
            <a:r>
              <a:rPr b="0" i="0" lang="fr-FR" sz="1800" u="none" strike="noStrike">
                <a:solidFill>
                  <a:srgbClr val="000000"/>
                </a:solidFill>
                <a:latin typeface="Arial"/>
                <a:ea typeface="Arial"/>
                <a:cs typeface="Arial"/>
                <a:sym typeface="Arial"/>
              </a:rPr>
              <a:t> → </a:t>
            </a:r>
            <a:r>
              <a:rPr lang="fr-FR">
                <a:solidFill>
                  <a:srgbClr val="00006C"/>
                </a:solidFill>
              </a:rPr>
              <a:t>Titre</a:t>
            </a:r>
            <a:r>
              <a:rPr lang="fr-FR"/>
              <a:t> : </a:t>
            </a:r>
            <a:r>
              <a:rPr lang="fr-FR">
                <a:solidFill>
                  <a:srgbClr val="00006C"/>
                </a:solidFill>
              </a:rPr>
              <a:t>Ajouter un titre</a:t>
            </a:r>
            <a:endParaRPr/>
          </a:p>
          <a:p>
            <a:pPr indent="0" lvl="0" marL="0" rtl="0" algn="ctr">
              <a:lnSpc>
                <a:spcPct val="100000"/>
              </a:lnSpc>
              <a:spcBef>
                <a:spcPts val="5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p:txBody>
      </p:sp>
      <p:pic>
        <p:nvPicPr>
          <p:cNvPr id="210" name="Google Shape;210;p7"/>
          <p:cNvPicPr preferRelativeResize="0"/>
          <p:nvPr/>
        </p:nvPicPr>
        <p:blipFill rotWithShape="1">
          <a:blip r:embed="rId3">
            <a:alphaModFix/>
          </a:blip>
          <a:srcRect b="0" l="0" r="0" t="0"/>
          <a:stretch/>
        </p:blipFill>
        <p:spPr>
          <a:xfrm>
            <a:off x="1115616" y="2863059"/>
            <a:ext cx="2575783" cy="1508891"/>
          </a:xfrm>
          <a:prstGeom prst="rect">
            <a:avLst/>
          </a:prstGeom>
          <a:noFill/>
          <a:ln>
            <a:noFill/>
          </a:ln>
        </p:spPr>
      </p:pic>
      <p:cxnSp>
        <p:nvCxnSpPr>
          <p:cNvPr id="211" name="Google Shape;211;p7"/>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212" name="Google Shape;212;p7"/>
          <p:cNvSpPr txBox="1"/>
          <p:nvPr/>
        </p:nvSpPr>
        <p:spPr>
          <a:xfrm>
            <a:off x="4787900" y="1836738"/>
            <a:ext cx="3995738" cy="257333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6C"/>
              </a:buClr>
              <a:buSzPts val="1800"/>
              <a:buFont typeface="Arial"/>
              <a:buNone/>
            </a:pPr>
            <a:r>
              <a:rPr b="0" i="0" lang="fr-FR" sz="1800" u="none" cap="none" strike="noStrike">
                <a:solidFill>
                  <a:srgbClr val="00006C"/>
                </a:solidFill>
                <a:latin typeface="Arial"/>
                <a:ea typeface="Arial"/>
                <a:cs typeface="Arial"/>
                <a:sym typeface="Arial"/>
              </a:rPr>
              <a:t>Fichier</a:t>
            </a:r>
            <a:r>
              <a:rPr b="0" i="0" lang="fr-FR" sz="1800" u="none" cap="none" strike="noStrike">
                <a:solidFill>
                  <a:srgbClr val="000000"/>
                </a:solidFill>
                <a:latin typeface="Arial"/>
                <a:ea typeface="Arial"/>
                <a:cs typeface="Arial"/>
                <a:sym typeface="Arial"/>
              </a:rPr>
              <a:t> → </a:t>
            </a:r>
            <a:r>
              <a:rPr b="0" i="0" lang="fr-FR" sz="1800" u="none" cap="none" strike="noStrike">
                <a:solidFill>
                  <a:srgbClr val="00006C"/>
                </a:solidFill>
                <a:latin typeface="Arial"/>
                <a:ea typeface="Arial"/>
                <a:cs typeface="Arial"/>
                <a:sym typeface="Arial"/>
              </a:rPr>
              <a:t>Propriétés</a:t>
            </a:r>
            <a:r>
              <a:rPr b="0" i="0" lang="fr-FR" sz="1800" u="none" cap="none" strike="noStrike">
                <a:solidFill>
                  <a:srgbClr val="000000"/>
                </a:solidFill>
                <a:latin typeface="Arial"/>
                <a:ea typeface="Arial"/>
                <a:cs typeface="Arial"/>
                <a:sym typeface="Arial"/>
              </a:rPr>
              <a:t> → </a:t>
            </a:r>
            <a:r>
              <a:rPr b="0" i="0" lang="fr-FR" sz="1800" u="none" cap="none" strike="noStrike">
                <a:solidFill>
                  <a:srgbClr val="00006C"/>
                </a:solidFill>
                <a:latin typeface="Arial"/>
                <a:ea typeface="Arial"/>
                <a:cs typeface="Arial"/>
                <a:sym typeface="Arial"/>
              </a:rPr>
              <a:t>Description</a:t>
            </a:r>
            <a:r>
              <a:rPr b="0" i="0" lang="fr-FR" sz="1800" u="none" cap="none" strike="noStrike">
                <a:solidFill>
                  <a:srgbClr val="000000"/>
                </a:solidFill>
                <a:latin typeface="Arial"/>
                <a:ea typeface="Arial"/>
                <a:cs typeface="Arial"/>
                <a:sym typeface="Arial"/>
              </a:rPr>
              <a:t> →</a:t>
            </a:r>
            <a:endParaRPr b="0" i="0" sz="1800" u="none" cap="none" strike="noStrike">
              <a:solidFill>
                <a:srgbClr val="000000"/>
              </a:solidFill>
              <a:latin typeface="Lucida Sans"/>
              <a:ea typeface="Lucida Sans"/>
              <a:cs typeface="Lucida Sans"/>
              <a:sym typeface="Lucida Sans"/>
            </a:endParaRPr>
          </a:p>
          <a:p>
            <a:pPr indent="0" lvl="0" marL="0" marR="0" rtl="0" algn="l">
              <a:lnSpc>
                <a:spcPct val="100000"/>
              </a:lnSpc>
              <a:spcBef>
                <a:spcPts val="500"/>
              </a:spcBef>
              <a:spcAft>
                <a:spcPts val="0"/>
              </a:spcAft>
              <a:buClr>
                <a:srgbClr val="00006C"/>
              </a:buClr>
              <a:buSzPts val="1800"/>
              <a:buFont typeface="Arial"/>
              <a:buNone/>
            </a:pPr>
            <a:r>
              <a:rPr b="0" i="0" lang="fr-FR" sz="1800" u="none" cap="none" strike="noStrike">
                <a:solidFill>
                  <a:srgbClr val="00006C"/>
                </a:solidFill>
                <a:latin typeface="Arial"/>
                <a:ea typeface="Arial"/>
                <a:cs typeface="Arial"/>
                <a:sym typeface="Arial"/>
              </a:rPr>
              <a:t>Titre</a:t>
            </a:r>
            <a:r>
              <a:rPr b="0" i="0" lang="fr-FR" sz="1800" u="none" cap="none" strike="noStrike">
                <a:solidFill>
                  <a:schemeClr val="dk1"/>
                </a:solidFill>
                <a:latin typeface="Arial"/>
                <a:ea typeface="Arial"/>
                <a:cs typeface="Arial"/>
                <a:sym typeface="Arial"/>
              </a:rPr>
              <a:t> :</a:t>
            </a:r>
            <a:endParaRPr/>
          </a:p>
        </p:txBody>
      </p:sp>
      <p:pic>
        <p:nvPicPr>
          <p:cNvPr id="213" name="Google Shape;213;p7"/>
          <p:cNvPicPr preferRelativeResize="0"/>
          <p:nvPr/>
        </p:nvPicPr>
        <p:blipFill rotWithShape="1">
          <a:blip r:embed="rId4">
            <a:alphaModFix/>
          </a:blip>
          <a:srcRect b="0" l="0" r="0" t="0"/>
          <a:stretch/>
        </p:blipFill>
        <p:spPr>
          <a:xfrm>
            <a:off x="5220072" y="2834952"/>
            <a:ext cx="3168352" cy="160900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8"/>
          <p:cNvSpPr/>
          <p:nvPr>
            <p:ph idx="2" type="pic"/>
          </p:nvPr>
        </p:nvSpPr>
        <p:spPr>
          <a:xfrm>
            <a:off x="0" y="738000"/>
            <a:ext cx="9144000" cy="4406400"/>
          </a:xfrm>
          <a:prstGeom prst="rect">
            <a:avLst/>
          </a:prstGeom>
          <a:solidFill>
            <a:srgbClr val="D8D8D8"/>
          </a:solidFill>
          <a:ln>
            <a:noFill/>
          </a:ln>
        </p:spPr>
      </p:sp>
      <p:sp>
        <p:nvSpPr>
          <p:cNvPr id="220" name="Google Shape;220;p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21" name="Google Shape;221;p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22" name="Google Shape;222;p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23" name="Google Shape;223;p8"/>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Les styles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9"/>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30" name="Google Shape;230;p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31" name="Google Shape;231;p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32" name="Google Shape;232;p9"/>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33" name="Google Shape;233;p9"/>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Utilisation des styles</a:t>
            </a:r>
            <a:endParaRPr/>
          </a:p>
        </p:txBody>
      </p:sp>
      <p:sp>
        <p:nvSpPr>
          <p:cNvPr id="234" name="Google Shape;234;p9"/>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Intérêt des styles :</a:t>
            </a:r>
            <a:endParaRPr/>
          </a:p>
        </p:txBody>
      </p:sp>
      <p:sp>
        <p:nvSpPr>
          <p:cNvPr id="235" name="Google Shape;235;p9"/>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285750" lvl="0" marL="285750" rtl="0" algn="l">
              <a:lnSpc>
                <a:spcPct val="100000"/>
              </a:lnSpc>
              <a:spcBef>
                <a:spcPts val="0"/>
              </a:spcBef>
              <a:spcAft>
                <a:spcPts val="0"/>
              </a:spcAft>
              <a:buClr>
                <a:schemeClr val="dk1"/>
              </a:buClr>
              <a:buSzPts val="1800"/>
              <a:buFont typeface="Arial"/>
              <a:buChar char="•"/>
            </a:pPr>
            <a:r>
              <a:rPr lang="fr-FR"/>
              <a:t>Uniformisation de la mise en forme ;</a:t>
            </a:r>
            <a:endParaRPr/>
          </a:p>
          <a:p>
            <a:pPr indent="-285750" lvl="0" marL="285750" rtl="0" algn="l">
              <a:lnSpc>
                <a:spcPct val="100000"/>
              </a:lnSpc>
              <a:spcBef>
                <a:spcPts val="500"/>
              </a:spcBef>
              <a:spcAft>
                <a:spcPts val="0"/>
              </a:spcAft>
              <a:buClr>
                <a:schemeClr val="dk1"/>
              </a:buClr>
              <a:buSzPts val="1800"/>
              <a:buFont typeface="Arial"/>
              <a:buChar char="•"/>
            </a:pPr>
            <a:r>
              <a:rPr lang="fr-FR"/>
              <a:t>Gain de temps ;</a:t>
            </a:r>
            <a:endParaRPr/>
          </a:p>
          <a:p>
            <a:pPr indent="-285750" lvl="0" marL="285750" rtl="0" algn="l">
              <a:lnSpc>
                <a:spcPct val="100000"/>
              </a:lnSpc>
              <a:spcBef>
                <a:spcPts val="500"/>
              </a:spcBef>
              <a:spcAft>
                <a:spcPts val="0"/>
              </a:spcAft>
              <a:buClr>
                <a:schemeClr val="dk1"/>
              </a:buClr>
              <a:buSzPts val="1800"/>
              <a:buFont typeface="Arial"/>
              <a:buChar char="•"/>
            </a:pPr>
            <a:r>
              <a:rPr lang="fr-FR"/>
              <a:t>Mise à jour facilitée ;</a:t>
            </a:r>
            <a:endParaRPr/>
          </a:p>
          <a:p>
            <a:pPr indent="-285750" lvl="0" marL="285750" rtl="0" algn="l">
              <a:lnSpc>
                <a:spcPct val="100000"/>
              </a:lnSpc>
              <a:spcBef>
                <a:spcPts val="500"/>
              </a:spcBef>
              <a:spcAft>
                <a:spcPts val="0"/>
              </a:spcAft>
              <a:buClr>
                <a:schemeClr val="dk1"/>
              </a:buClr>
              <a:buSzPts val="1800"/>
              <a:buFont typeface="Arial"/>
              <a:buChar char="•"/>
            </a:pPr>
            <a:r>
              <a:rPr lang="fr-FR"/>
              <a:t>Génération de tables de sommaire (document ou export PDF)</a:t>
            </a:r>
            <a:endParaRPr/>
          </a:p>
          <a:p>
            <a:pPr indent="-285750" lvl="0" marL="285750" rtl="0" algn="l">
              <a:lnSpc>
                <a:spcPct val="100000"/>
              </a:lnSpc>
              <a:spcBef>
                <a:spcPts val="500"/>
              </a:spcBef>
              <a:spcAft>
                <a:spcPts val="0"/>
              </a:spcAft>
              <a:buClr>
                <a:schemeClr val="dk1"/>
              </a:buClr>
              <a:buSzPts val="1800"/>
              <a:buFont typeface="Arial"/>
              <a:buChar char="•"/>
            </a:pPr>
            <a:r>
              <a:rPr b="1" lang="fr-FR"/>
              <a:t>Accessibilité</a:t>
            </a:r>
            <a:r>
              <a:rPr lang="fr-FR"/>
              <a:t> (notamment pour les utilisateurs) : </a:t>
            </a:r>
            <a:endParaRPr/>
          </a:p>
          <a:p>
            <a:pPr indent="-285749" lvl="1" marL="537750" rtl="0" algn="l">
              <a:lnSpc>
                <a:spcPct val="100000"/>
              </a:lnSpc>
              <a:spcBef>
                <a:spcPts val="1100"/>
              </a:spcBef>
              <a:spcAft>
                <a:spcPts val="0"/>
              </a:spcAft>
              <a:buClr>
                <a:schemeClr val="dk1"/>
              </a:buClr>
              <a:buSzPts val="1600"/>
              <a:buChar char="•"/>
            </a:pPr>
            <a:r>
              <a:rPr lang="fr-FR"/>
              <a:t>Identification de la sémantique des éléments (titre, liste..) ;</a:t>
            </a:r>
            <a:endParaRPr/>
          </a:p>
          <a:p>
            <a:pPr indent="-285749" lvl="1" marL="537750" rtl="0" algn="l">
              <a:lnSpc>
                <a:spcPct val="100000"/>
              </a:lnSpc>
              <a:spcBef>
                <a:spcPts val="1200"/>
              </a:spcBef>
              <a:spcAft>
                <a:spcPts val="0"/>
              </a:spcAft>
              <a:buClr>
                <a:schemeClr val="dk1"/>
              </a:buClr>
              <a:buSzPts val="1600"/>
              <a:buChar char="•"/>
            </a:pPr>
            <a:r>
              <a:rPr lang="fr-FR"/>
              <a:t>Navigation facilitée.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42" name="Google Shape;242;p1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43" name="Google Shape;243;p1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44" name="Google Shape;244;p10"/>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45" name="Google Shape;245;p10"/>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Utilisation des styles (suite)</a:t>
            </a:r>
            <a:endParaRPr/>
          </a:p>
        </p:txBody>
      </p:sp>
      <p:sp>
        <p:nvSpPr>
          <p:cNvPr id="246" name="Google Shape;246;p10"/>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Affichage et utilisation</a:t>
            </a:r>
            <a:endParaRPr/>
          </a:p>
        </p:txBody>
      </p:sp>
      <p:sp>
        <p:nvSpPr>
          <p:cNvPr id="247" name="Google Shape;247;p10"/>
          <p:cNvSpPr txBox="1"/>
          <p:nvPr>
            <p:ph idx="1" type="body"/>
          </p:nvPr>
        </p:nvSpPr>
        <p:spPr>
          <a:xfrm>
            <a:off x="359998" y="1836000"/>
            <a:ext cx="3995978" cy="2823982"/>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chemeClr val="dk1"/>
              </a:buClr>
              <a:buSzPts val="1800"/>
              <a:buNone/>
            </a:pPr>
            <a:r>
              <a:rPr lang="fr-FR"/>
              <a:t>Ouverture du volet de styles :</a:t>
            </a:r>
            <a:endParaRPr/>
          </a:p>
          <a:p>
            <a:pPr indent="-101600" lvl="1" marL="252000" rtl="0" algn="l">
              <a:lnSpc>
                <a:spcPct val="100000"/>
              </a:lnSpc>
              <a:spcBef>
                <a:spcPts val="500"/>
              </a:spcBef>
              <a:spcAft>
                <a:spcPts val="0"/>
              </a:spcAft>
              <a:buClr>
                <a:srgbClr val="00006C"/>
              </a:buClr>
              <a:buSzPts val="1600"/>
              <a:buChar char="•"/>
            </a:pPr>
            <a:r>
              <a:rPr lang="fr-FR">
                <a:solidFill>
                  <a:srgbClr val="00006C"/>
                </a:solidFill>
              </a:rPr>
              <a:t>Accueil</a:t>
            </a:r>
            <a:r>
              <a:rPr lang="fr-FR"/>
              <a:t> → </a:t>
            </a:r>
            <a:r>
              <a:rPr lang="fr-FR">
                <a:solidFill>
                  <a:srgbClr val="00006C"/>
                </a:solidFill>
              </a:rPr>
              <a:t>Styles</a:t>
            </a:r>
            <a:endParaRPr/>
          </a:p>
          <a:p>
            <a:pPr indent="0" lvl="0" marL="0" rtl="0" algn="l">
              <a:lnSpc>
                <a:spcPct val="100000"/>
              </a:lnSpc>
              <a:spcBef>
                <a:spcPts val="1200"/>
              </a:spcBef>
              <a:spcAft>
                <a:spcPts val="0"/>
              </a:spcAft>
              <a:buClr>
                <a:schemeClr val="dk1"/>
              </a:buClr>
              <a:buSzPts val="1800"/>
              <a:buNone/>
            </a:pPr>
            <a:r>
              <a:rPr lang="fr-FR"/>
              <a:t>Créer/Modifier un style :</a:t>
            </a:r>
            <a:endParaRPr/>
          </a:p>
          <a:p>
            <a:pPr indent="-101600" lvl="1" marL="252000" rtl="0" algn="l">
              <a:lnSpc>
                <a:spcPct val="100000"/>
              </a:lnSpc>
              <a:spcBef>
                <a:spcPts val="500"/>
              </a:spcBef>
              <a:spcAft>
                <a:spcPts val="0"/>
              </a:spcAft>
              <a:buClr>
                <a:schemeClr val="dk1"/>
              </a:buClr>
              <a:buSzPts val="1600"/>
              <a:buChar char="•"/>
            </a:pPr>
            <a:r>
              <a:rPr lang="fr-FR"/>
              <a:t>Bouton sous le volet de style</a:t>
            </a:r>
            <a:endParaRPr/>
          </a:p>
          <a:p>
            <a:pPr indent="0" lvl="0" marL="0" rtl="0" algn="l">
              <a:lnSpc>
                <a:spcPct val="100000"/>
              </a:lnSpc>
              <a:spcBef>
                <a:spcPts val="1200"/>
              </a:spcBef>
              <a:spcAft>
                <a:spcPts val="0"/>
              </a:spcAft>
              <a:buClr>
                <a:schemeClr val="dk1"/>
              </a:buClr>
              <a:buSzPts val="1800"/>
              <a:buNone/>
            </a:pPr>
            <a:r>
              <a:rPr lang="fr-FR"/>
              <a:t>Appliquer un style depuis :</a:t>
            </a:r>
            <a:endParaRPr/>
          </a:p>
          <a:p>
            <a:pPr indent="-101600" lvl="1" marL="252000" rtl="0" algn="l">
              <a:lnSpc>
                <a:spcPct val="100000"/>
              </a:lnSpc>
              <a:spcBef>
                <a:spcPts val="500"/>
              </a:spcBef>
              <a:spcAft>
                <a:spcPts val="0"/>
              </a:spcAft>
              <a:buClr>
                <a:schemeClr val="dk1"/>
              </a:buClr>
              <a:buSzPts val="1600"/>
              <a:buChar char="•"/>
            </a:pPr>
            <a:r>
              <a:rPr lang="fr-FR"/>
              <a:t>la barre de « Accueil »</a:t>
            </a:r>
            <a:endParaRPr/>
          </a:p>
          <a:p>
            <a:pPr indent="-101600" lvl="1" marL="252000" rtl="0" algn="l">
              <a:lnSpc>
                <a:spcPct val="100000"/>
              </a:lnSpc>
              <a:spcBef>
                <a:spcPts val="600"/>
              </a:spcBef>
              <a:spcAft>
                <a:spcPts val="0"/>
              </a:spcAft>
              <a:buClr>
                <a:schemeClr val="dk1"/>
              </a:buClr>
              <a:buSzPts val="1600"/>
              <a:buChar char="•"/>
            </a:pPr>
            <a:r>
              <a:rPr lang="fr-FR"/>
              <a:t>le volet de « Styles »</a:t>
            </a:r>
            <a:endParaRPr/>
          </a:p>
          <a:p>
            <a:pPr indent="0" lvl="0" marL="0" rtl="0" algn="l">
              <a:lnSpc>
                <a:spcPct val="100000"/>
              </a:lnSpc>
              <a:spcBef>
                <a:spcPts val="600"/>
              </a:spcBef>
              <a:spcAft>
                <a:spcPts val="0"/>
              </a:spcAft>
              <a:buClr>
                <a:schemeClr val="dk1"/>
              </a:buClr>
              <a:buSzPts val="1800"/>
              <a:buNone/>
            </a:pPr>
            <a:r>
              <a:t/>
            </a:r>
            <a:endParaRPr/>
          </a:p>
        </p:txBody>
      </p:sp>
      <p:cxnSp>
        <p:nvCxnSpPr>
          <p:cNvPr id="248" name="Google Shape;248;p10"/>
          <p:cNvCxnSpPr/>
          <p:nvPr/>
        </p:nvCxnSpPr>
        <p:spPr>
          <a:xfrm>
            <a:off x="4283968" y="1908008"/>
            <a:ext cx="0" cy="2823982"/>
          </a:xfrm>
          <a:prstGeom prst="straightConnector1">
            <a:avLst/>
          </a:prstGeom>
          <a:noFill/>
          <a:ln cap="flat" cmpd="sng" w="9525">
            <a:solidFill>
              <a:schemeClr val="dk1"/>
            </a:solidFill>
            <a:prstDash val="solid"/>
            <a:round/>
            <a:headEnd len="sm" w="sm" type="none"/>
            <a:tailEnd len="sm" w="sm" type="none"/>
          </a:ln>
        </p:spPr>
      </p:cxnSp>
      <p:sp>
        <p:nvSpPr>
          <p:cNvPr id="249" name="Google Shape;249;p10"/>
          <p:cNvSpPr txBox="1"/>
          <p:nvPr>
            <p:ph idx="3" type="body"/>
          </p:nvPr>
        </p:nvSpPr>
        <p:spPr>
          <a:xfrm>
            <a:off x="4780104" y="1832930"/>
            <a:ext cx="3995978" cy="289906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Writer</a:t>
            </a:r>
            <a:endParaRPr/>
          </a:p>
          <a:p>
            <a:pPr indent="0" lvl="0" marL="0" rtl="0" algn="l">
              <a:lnSpc>
                <a:spcPct val="100000"/>
              </a:lnSpc>
              <a:spcBef>
                <a:spcPts val="500"/>
              </a:spcBef>
              <a:spcAft>
                <a:spcPts val="0"/>
              </a:spcAft>
              <a:buClr>
                <a:schemeClr val="dk1"/>
              </a:buClr>
              <a:buSzPts val="1800"/>
              <a:buNone/>
            </a:pPr>
            <a:r>
              <a:rPr lang="fr-FR"/>
              <a:t>Ouverture du volet de styles :</a:t>
            </a:r>
            <a:endParaRPr/>
          </a:p>
          <a:p>
            <a:pPr indent="-101600" lvl="1" marL="252000" rtl="0" algn="l">
              <a:lnSpc>
                <a:spcPct val="100000"/>
              </a:lnSpc>
              <a:spcBef>
                <a:spcPts val="500"/>
              </a:spcBef>
              <a:spcAft>
                <a:spcPts val="0"/>
              </a:spcAft>
              <a:buClr>
                <a:srgbClr val="00006C"/>
              </a:buClr>
              <a:buSzPts val="1600"/>
              <a:buChar char="•"/>
            </a:pPr>
            <a:r>
              <a:rPr lang="fr-FR">
                <a:solidFill>
                  <a:srgbClr val="00006C"/>
                </a:solidFill>
              </a:rPr>
              <a:t>Styles</a:t>
            </a:r>
            <a:r>
              <a:rPr lang="fr-FR"/>
              <a:t> → </a:t>
            </a:r>
            <a:r>
              <a:rPr lang="fr-FR">
                <a:solidFill>
                  <a:srgbClr val="00006C"/>
                </a:solidFill>
              </a:rPr>
              <a:t>Gérer les styles </a:t>
            </a:r>
            <a:r>
              <a:rPr lang="fr-FR"/>
              <a:t>(ou </a:t>
            </a:r>
            <a:r>
              <a:rPr lang="fr-FR">
                <a:highlight>
                  <a:srgbClr val="2CFFC8"/>
                </a:highlight>
              </a:rPr>
              <a:t>F11</a:t>
            </a:r>
            <a:r>
              <a:rPr lang="fr-FR"/>
              <a:t>)</a:t>
            </a:r>
            <a:endParaRPr/>
          </a:p>
          <a:p>
            <a:pPr indent="0" lvl="0" marL="0" rtl="0" algn="l">
              <a:lnSpc>
                <a:spcPct val="100000"/>
              </a:lnSpc>
              <a:spcBef>
                <a:spcPts val="1200"/>
              </a:spcBef>
              <a:spcAft>
                <a:spcPts val="0"/>
              </a:spcAft>
              <a:buClr>
                <a:schemeClr val="dk1"/>
              </a:buClr>
              <a:buSzPts val="1800"/>
              <a:buNone/>
            </a:pPr>
            <a:r>
              <a:rPr lang="fr-FR"/>
              <a:t>Créer/Modifier un style :</a:t>
            </a:r>
            <a:endParaRPr/>
          </a:p>
          <a:p>
            <a:pPr indent="-101600" lvl="1" marL="252000" rtl="0" algn="l">
              <a:lnSpc>
                <a:spcPct val="100000"/>
              </a:lnSpc>
              <a:spcBef>
                <a:spcPts val="500"/>
              </a:spcBef>
              <a:spcAft>
                <a:spcPts val="0"/>
              </a:spcAft>
              <a:buClr>
                <a:schemeClr val="dk1"/>
              </a:buClr>
              <a:buSzPts val="1600"/>
              <a:buChar char="•"/>
            </a:pPr>
            <a:r>
              <a:rPr lang="fr-FR"/>
              <a:t>Clic droit sur le style à modifier</a:t>
            </a:r>
            <a:endParaRPr/>
          </a:p>
          <a:p>
            <a:pPr indent="0" lvl="0" marL="0" rtl="0" algn="l">
              <a:lnSpc>
                <a:spcPct val="100000"/>
              </a:lnSpc>
              <a:spcBef>
                <a:spcPts val="1200"/>
              </a:spcBef>
              <a:spcAft>
                <a:spcPts val="0"/>
              </a:spcAft>
              <a:buClr>
                <a:schemeClr val="dk1"/>
              </a:buClr>
              <a:buSzPts val="1800"/>
              <a:buNone/>
            </a:pPr>
            <a:r>
              <a:rPr lang="fr-FR"/>
              <a:t>Appliquer un style depuis :</a:t>
            </a:r>
            <a:endParaRPr/>
          </a:p>
          <a:p>
            <a:pPr indent="-101600" lvl="1" marL="252000" rtl="0" algn="l">
              <a:lnSpc>
                <a:spcPct val="100000"/>
              </a:lnSpc>
              <a:spcBef>
                <a:spcPts val="500"/>
              </a:spcBef>
              <a:spcAft>
                <a:spcPts val="0"/>
              </a:spcAft>
              <a:buClr>
                <a:schemeClr val="dk1"/>
              </a:buClr>
              <a:buSzPts val="1600"/>
              <a:buChar char="•"/>
            </a:pPr>
            <a:r>
              <a:rPr lang="fr-FR"/>
              <a:t>la barre de « Formatage »</a:t>
            </a:r>
            <a:endParaRPr/>
          </a:p>
          <a:p>
            <a:pPr indent="-101600" lvl="1" marL="252000" rtl="0" algn="l">
              <a:lnSpc>
                <a:spcPct val="100000"/>
              </a:lnSpc>
              <a:spcBef>
                <a:spcPts val="600"/>
              </a:spcBef>
              <a:spcAft>
                <a:spcPts val="0"/>
              </a:spcAft>
              <a:buClr>
                <a:schemeClr val="dk1"/>
              </a:buClr>
              <a:buSzPts val="1600"/>
              <a:buChar char="•"/>
            </a:pPr>
            <a:r>
              <a:rPr lang="fr-FR"/>
              <a:t>le volet de « Styles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1"/>
          <p:cNvSpPr/>
          <p:nvPr>
            <p:ph idx="2" type="pic"/>
          </p:nvPr>
        </p:nvSpPr>
        <p:spPr>
          <a:xfrm>
            <a:off x="0" y="738000"/>
            <a:ext cx="9144000" cy="4406400"/>
          </a:xfrm>
          <a:prstGeom prst="rect">
            <a:avLst/>
          </a:prstGeom>
          <a:solidFill>
            <a:srgbClr val="D8D8D8"/>
          </a:solidFill>
          <a:ln>
            <a:noFill/>
          </a:ln>
        </p:spPr>
      </p:sp>
      <p:sp>
        <p:nvSpPr>
          <p:cNvPr id="256" name="Google Shape;256;p1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57" name="Google Shape;257;p1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58" name="Google Shape;258;p1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59" name="Google Shape;259;p11"/>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Éléments de structure et mise en forme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66" name="Google Shape;266;p1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67" name="Google Shape;267;p1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68" name="Google Shape;268;p12"/>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69" name="Google Shape;269;p1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Titres et hiérarchisation</a:t>
            </a:r>
            <a:endParaRPr/>
          </a:p>
        </p:txBody>
      </p:sp>
      <p:sp>
        <p:nvSpPr>
          <p:cNvPr id="270" name="Google Shape;270;p12"/>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Intérêts</a:t>
            </a:r>
            <a:endParaRPr/>
          </a:p>
        </p:txBody>
      </p:sp>
      <p:sp>
        <p:nvSpPr>
          <p:cNvPr id="271" name="Google Shape;271;p12"/>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285750" lvl="0" marL="285750" rtl="0" algn="l">
              <a:lnSpc>
                <a:spcPct val="100000"/>
              </a:lnSpc>
              <a:spcBef>
                <a:spcPts val="0"/>
              </a:spcBef>
              <a:spcAft>
                <a:spcPts val="0"/>
              </a:spcAft>
              <a:buClr>
                <a:schemeClr val="dk1"/>
              </a:buClr>
              <a:buSzPts val="1800"/>
              <a:buFont typeface="Arial"/>
              <a:buChar char="•"/>
            </a:pPr>
            <a:r>
              <a:rPr lang="fr-FR" cap="none"/>
              <a:t>É</a:t>
            </a:r>
            <a:r>
              <a:rPr lang="fr-FR"/>
              <a:t>léments en exergue ;</a:t>
            </a:r>
            <a:endParaRPr/>
          </a:p>
          <a:p>
            <a:pPr indent="-285750" lvl="0" marL="285750" rtl="0" algn="l">
              <a:lnSpc>
                <a:spcPct val="100000"/>
              </a:lnSpc>
              <a:spcBef>
                <a:spcPts val="500"/>
              </a:spcBef>
              <a:spcAft>
                <a:spcPts val="0"/>
              </a:spcAft>
              <a:buClr>
                <a:schemeClr val="dk1"/>
              </a:buClr>
              <a:buSzPts val="1800"/>
              <a:buFont typeface="Arial"/>
              <a:buChar char="•"/>
            </a:pPr>
            <a:r>
              <a:rPr lang="fr-FR"/>
              <a:t>Points de repères dans le document (chapitres) ;</a:t>
            </a:r>
            <a:endParaRPr/>
          </a:p>
          <a:p>
            <a:pPr indent="-285750" lvl="0" marL="285750" rtl="0" algn="l">
              <a:lnSpc>
                <a:spcPct val="100000"/>
              </a:lnSpc>
              <a:spcBef>
                <a:spcPts val="500"/>
              </a:spcBef>
              <a:spcAft>
                <a:spcPts val="0"/>
              </a:spcAft>
              <a:buClr>
                <a:schemeClr val="dk1"/>
              </a:buClr>
              <a:buSzPts val="1800"/>
              <a:buFont typeface="Arial"/>
              <a:buChar char="•"/>
            </a:pPr>
            <a:r>
              <a:rPr lang="fr-FR"/>
              <a:t>Éléments permettant de construire un sommaire ;</a:t>
            </a:r>
            <a:endParaRPr/>
          </a:p>
          <a:p>
            <a:pPr indent="-285750" lvl="0" marL="285750" rtl="0" algn="l">
              <a:lnSpc>
                <a:spcPct val="100000"/>
              </a:lnSpc>
              <a:spcBef>
                <a:spcPts val="1100"/>
              </a:spcBef>
              <a:spcAft>
                <a:spcPts val="0"/>
              </a:spcAft>
              <a:buClr>
                <a:schemeClr val="dk1"/>
              </a:buClr>
              <a:buSzPts val="1800"/>
              <a:buFont typeface="Arial"/>
              <a:buChar char="•"/>
            </a:pPr>
            <a:r>
              <a:rPr b="1" lang="fr-FR"/>
              <a:t>Accessibilité</a:t>
            </a:r>
            <a:r>
              <a:rPr lang="fr-FR"/>
              <a:t> (aveugles tout particulièrement) : </a:t>
            </a:r>
            <a:endParaRPr/>
          </a:p>
          <a:p>
            <a:pPr indent="-285749" lvl="1" marL="537750" rtl="0" algn="l">
              <a:lnSpc>
                <a:spcPct val="100000"/>
              </a:lnSpc>
              <a:spcBef>
                <a:spcPts val="600"/>
              </a:spcBef>
              <a:spcAft>
                <a:spcPts val="0"/>
              </a:spcAft>
              <a:buClr>
                <a:schemeClr val="dk1"/>
              </a:buClr>
              <a:buSzPts val="1600"/>
              <a:buChar char="•"/>
            </a:pPr>
            <a:r>
              <a:rPr lang="fr-FR"/>
              <a:t>Compréhension de la structure du document ;</a:t>
            </a:r>
            <a:endParaRPr/>
          </a:p>
          <a:p>
            <a:pPr indent="-285749" lvl="1" marL="537750" rtl="0" algn="l">
              <a:lnSpc>
                <a:spcPct val="100000"/>
              </a:lnSpc>
              <a:spcBef>
                <a:spcPts val="600"/>
              </a:spcBef>
              <a:spcAft>
                <a:spcPts val="0"/>
              </a:spcAft>
              <a:buClr>
                <a:schemeClr val="dk1"/>
              </a:buClr>
              <a:buSzPts val="1600"/>
              <a:buChar char="•"/>
            </a:pPr>
            <a:r>
              <a:rPr lang="fr-FR"/>
              <a:t>Facilitation de la navigation : </a:t>
            </a:r>
            <a:endParaRPr/>
          </a:p>
          <a:p>
            <a:pPr indent="-285750" lvl="2" marL="717750" rtl="0" algn="l">
              <a:lnSpc>
                <a:spcPct val="100000"/>
              </a:lnSpc>
              <a:spcBef>
                <a:spcPts val="700"/>
              </a:spcBef>
              <a:spcAft>
                <a:spcPts val="0"/>
              </a:spcAft>
              <a:buClr>
                <a:schemeClr val="dk1"/>
              </a:buClr>
              <a:buSzPts val="1400"/>
              <a:buChar char="•"/>
            </a:pPr>
            <a:r>
              <a:rPr lang="fr-FR"/>
              <a:t>Exemple : </a:t>
            </a:r>
            <a:r>
              <a:rPr lang="fr-FR">
                <a:highlight>
                  <a:srgbClr val="2CFFC8"/>
                </a:highlight>
              </a:rPr>
              <a:t>h</a:t>
            </a:r>
            <a:r>
              <a:rPr lang="fr-FR"/>
              <a:t> pour naviguer de titre en titre dans le document PDF avec NVDA.</a:t>
            </a:r>
            <a:endParaRPr/>
          </a:p>
          <a:p>
            <a:pPr indent="-285750" lvl="3" marL="897750" rtl="0" algn="l">
              <a:lnSpc>
                <a:spcPct val="100000"/>
              </a:lnSpc>
              <a:spcBef>
                <a:spcPts val="200"/>
              </a:spcBef>
              <a:spcAft>
                <a:spcPts val="0"/>
              </a:spcAft>
              <a:buClr>
                <a:schemeClr val="dk1"/>
              </a:buClr>
              <a:buSzPts val="1300"/>
              <a:buChar char="•"/>
            </a:pPr>
            <a:r>
              <a:rPr lang="fr-FR"/>
              <a:t>Tester sur les fichiers test-1-1.pdf et test-1-2.pdf.</a:t>
            </a:r>
            <a:endParaRPr/>
          </a:p>
          <a:p>
            <a:pPr indent="-203200" lvl="3" marL="897750" rtl="0" algn="l">
              <a:lnSpc>
                <a:spcPct val="100000"/>
              </a:lnSpc>
              <a:spcBef>
                <a:spcPts val="200"/>
              </a:spcBef>
              <a:spcAft>
                <a:spcPts val="0"/>
              </a:spcAft>
              <a:buClr>
                <a:schemeClr val="dk1"/>
              </a:buClr>
              <a:buSzPts val="13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78" name="Google Shape;278;p1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79" name="Google Shape;279;p1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80" name="Google Shape;280;p13"/>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81" name="Google Shape;281;p1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Niveau de titre</a:t>
            </a:r>
            <a:endParaRPr/>
          </a:p>
        </p:txBody>
      </p:sp>
      <p:sp>
        <p:nvSpPr>
          <p:cNvPr id="282" name="Google Shape;282;p13"/>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Hiérarchie de titre par les styles</a:t>
            </a:r>
            <a:endParaRPr/>
          </a:p>
        </p:txBody>
      </p:sp>
      <p:sp>
        <p:nvSpPr>
          <p:cNvPr id="283" name="Google Shape;283;p13"/>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Différencier le titre principal du document (et sous-titre), « Titre » (Word), « Titre principal » (Writer) des titres de hiérarchisation du contenu (titre 1, titre2…</a:t>
            </a:r>
            <a:endParaRPr/>
          </a:p>
          <a:p>
            <a:pPr indent="0" lvl="0" marL="0" rtl="0" algn="l">
              <a:lnSpc>
                <a:spcPct val="100000"/>
              </a:lnSpc>
              <a:spcBef>
                <a:spcPts val="500"/>
              </a:spcBef>
              <a:spcAft>
                <a:spcPts val="0"/>
              </a:spcAft>
              <a:buClr>
                <a:schemeClr val="dk1"/>
              </a:buClr>
              <a:buSzPts val="1800"/>
              <a:buNone/>
            </a:pPr>
            <a:r>
              <a:rPr lang="fr-FR"/>
              <a:t>Commencer par un titre 1.</a:t>
            </a:r>
            <a:endParaRPr/>
          </a:p>
          <a:p>
            <a:pPr indent="0" lvl="0" marL="0" rtl="0" algn="l">
              <a:lnSpc>
                <a:spcPct val="100000"/>
              </a:lnSpc>
              <a:spcBef>
                <a:spcPts val="500"/>
              </a:spcBef>
              <a:spcAft>
                <a:spcPts val="0"/>
              </a:spcAft>
              <a:buClr>
                <a:schemeClr val="dk1"/>
              </a:buClr>
              <a:buSzPts val="1800"/>
              <a:buNone/>
            </a:pPr>
            <a:r>
              <a:rPr lang="fr-FR"/>
              <a:t>Éviter les sauts de titre (ex. : ne pas insérer un titre 4 après un titre 2).</a:t>
            </a:r>
            <a:endParaRPr/>
          </a:p>
          <a:p>
            <a:pPr indent="0" lvl="0" marL="0" rtl="0" algn="l">
              <a:lnSpc>
                <a:spcPct val="100000"/>
              </a:lnSpc>
              <a:spcBef>
                <a:spcPts val="500"/>
              </a:spcBef>
              <a:spcAft>
                <a:spcPts val="0"/>
              </a:spcAft>
              <a:buClr>
                <a:schemeClr val="dk1"/>
              </a:buClr>
              <a:buSzPts val="1800"/>
              <a:buNone/>
            </a:pPr>
            <a:r>
              <a:rPr lang="fr-FR"/>
              <a:t>Se limiter au titre de niveau 6 maximum. </a:t>
            </a:r>
            <a:endParaRPr/>
          </a:p>
          <a:p>
            <a:pPr indent="-101600" lvl="1" marL="252000" rtl="0" algn="l">
              <a:lnSpc>
                <a:spcPct val="100000"/>
              </a:lnSpc>
              <a:spcBef>
                <a:spcPts val="1100"/>
              </a:spcBef>
              <a:spcAft>
                <a:spcPts val="0"/>
              </a:spcAft>
              <a:buClr>
                <a:schemeClr val="dk1"/>
              </a:buClr>
              <a:buSzPts val="1600"/>
              <a:buChar char="•"/>
            </a:pPr>
            <a:r>
              <a:rPr lang="fr-FR"/>
              <a:t>Limitation liée à l’export des documents (PDF, HTML…).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290" name="Google Shape;290;p1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291" name="Google Shape;291;p1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92" name="Google Shape;292;p14"/>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293" name="Google Shape;293;p14"/>
          <p:cNvSpPr txBox="1"/>
          <p:nvPr>
            <p:ph type="title"/>
          </p:nvPr>
        </p:nvSpPr>
        <p:spPr>
          <a:xfrm>
            <a:off x="359999" y="843558"/>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Volet de navigation</a:t>
            </a:r>
            <a:endParaRPr/>
          </a:p>
        </p:txBody>
      </p:sp>
      <p:sp>
        <p:nvSpPr>
          <p:cNvPr id="294" name="Google Shape;294;p14"/>
          <p:cNvSpPr txBox="1"/>
          <p:nvPr>
            <p:ph idx="2" type="body"/>
          </p:nvPr>
        </p:nvSpPr>
        <p:spPr>
          <a:xfrm>
            <a:off x="360363" y="1347614"/>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800"/>
              <a:buNone/>
            </a:pPr>
            <a:r>
              <a:rPr lang="fr-FR" sz="1800"/>
              <a:t>Exercice 2 : Appliquer les titres et les visualiser dans le Volet de navigation</a:t>
            </a:r>
            <a:endParaRPr/>
          </a:p>
          <a:p>
            <a:pPr indent="0" lvl="0" marL="0" rtl="0" algn="l">
              <a:lnSpc>
                <a:spcPct val="100000"/>
              </a:lnSpc>
              <a:spcBef>
                <a:spcPts val="500"/>
              </a:spcBef>
              <a:spcAft>
                <a:spcPts val="0"/>
              </a:spcAft>
              <a:buClr>
                <a:srgbClr val="595959"/>
              </a:buClr>
              <a:buSzPts val="2000"/>
              <a:buNone/>
            </a:pPr>
            <a:r>
              <a:t/>
            </a:r>
            <a:endParaRPr/>
          </a:p>
        </p:txBody>
      </p:sp>
      <p:sp>
        <p:nvSpPr>
          <p:cNvPr id="295" name="Google Shape;295;p14"/>
          <p:cNvSpPr txBox="1"/>
          <p:nvPr>
            <p:ph idx="1" type="body"/>
          </p:nvPr>
        </p:nvSpPr>
        <p:spPr>
          <a:xfrm>
            <a:off x="359998"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800"/>
              <a:buNone/>
            </a:pPr>
            <a:r>
              <a:rPr lang="fr-FR">
                <a:solidFill>
                  <a:srgbClr val="00006C"/>
                </a:solidFill>
              </a:rPr>
              <a:t>Affichage</a:t>
            </a:r>
            <a:r>
              <a:rPr b="0" i="0" lang="fr-FR" sz="1800" u="none" strike="noStrike">
                <a:solidFill>
                  <a:srgbClr val="000000"/>
                </a:solidFill>
                <a:latin typeface="Arial"/>
                <a:ea typeface="Arial"/>
                <a:cs typeface="Arial"/>
                <a:sym typeface="Arial"/>
              </a:rPr>
              <a:t> → </a:t>
            </a:r>
            <a:r>
              <a:rPr lang="fr-FR"/>
              <a:t>(case à cocher)</a:t>
            </a:r>
            <a:endParaRPr/>
          </a:p>
          <a:p>
            <a:pPr indent="0" lvl="0" marL="0" rtl="0" algn="l">
              <a:lnSpc>
                <a:spcPct val="100000"/>
              </a:lnSpc>
              <a:spcBef>
                <a:spcPts val="500"/>
              </a:spcBef>
              <a:spcAft>
                <a:spcPts val="0"/>
              </a:spcAft>
              <a:buClr>
                <a:srgbClr val="00006C"/>
              </a:buClr>
              <a:buSzPts val="1800"/>
              <a:buNone/>
            </a:pPr>
            <a:r>
              <a:rPr lang="fr-FR">
                <a:solidFill>
                  <a:srgbClr val="00006C"/>
                </a:solidFill>
              </a:rPr>
              <a:t>Volet de navigation </a:t>
            </a:r>
            <a:r>
              <a:rPr b="0" i="0" lang="fr-FR" sz="1800" u="none" strike="noStrike">
                <a:solidFill>
                  <a:srgbClr val="000000"/>
                </a:solidFill>
                <a:latin typeface="Arial"/>
                <a:ea typeface="Arial"/>
                <a:cs typeface="Arial"/>
                <a:sym typeface="Arial"/>
              </a:rPr>
              <a:t> </a:t>
            </a:r>
            <a:br>
              <a:rPr b="0" i="0" lang="fr-FR" sz="1800" u="none" strike="noStrike">
                <a:solidFill>
                  <a:srgbClr val="000000"/>
                </a:solidFill>
                <a:latin typeface="Arial"/>
                <a:ea typeface="Arial"/>
                <a:cs typeface="Arial"/>
                <a:sym typeface="Arial"/>
              </a:rPr>
            </a:br>
            <a:r>
              <a:rPr b="0" i="0" lang="fr-FR" sz="1800" u="none" strike="noStrike">
                <a:solidFill>
                  <a:srgbClr val="000000"/>
                </a:solidFill>
                <a:latin typeface="Arial"/>
                <a:ea typeface="Arial"/>
                <a:cs typeface="Arial"/>
                <a:sym typeface="Arial"/>
              </a:rPr>
              <a:t>→ </a:t>
            </a:r>
            <a:r>
              <a:rPr lang="fr-FR"/>
              <a:t>Onglet </a:t>
            </a:r>
            <a:r>
              <a:rPr lang="fr-FR">
                <a:solidFill>
                  <a:srgbClr val="00006C"/>
                </a:solidFill>
              </a:rPr>
              <a:t>Titres</a:t>
            </a:r>
            <a:endParaRPr/>
          </a:p>
        </p:txBody>
      </p:sp>
      <p:pic>
        <p:nvPicPr>
          <p:cNvPr id="296" name="Google Shape;296;p14"/>
          <p:cNvPicPr preferRelativeResize="0"/>
          <p:nvPr/>
        </p:nvPicPr>
        <p:blipFill rotWithShape="1">
          <a:blip r:embed="rId3">
            <a:alphaModFix/>
          </a:blip>
          <a:srcRect b="0" l="0" r="0" t="0"/>
          <a:stretch/>
        </p:blipFill>
        <p:spPr>
          <a:xfrm>
            <a:off x="2670068" y="2410291"/>
            <a:ext cx="1283863" cy="440182"/>
          </a:xfrm>
          <a:prstGeom prst="rect">
            <a:avLst/>
          </a:prstGeom>
          <a:noFill/>
          <a:ln>
            <a:noFill/>
          </a:ln>
        </p:spPr>
      </p:pic>
      <p:pic>
        <p:nvPicPr>
          <p:cNvPr id="297" name="Google Shape;297;p14"/>
          <p:cNvPicPr preferRelativeResize="0"/>
          <p:nvPr/>
        </p:nvPicPr>
        <p:blipFill rotWithShape="1">
          <a:blip r:embed="rId4">
            <a:alphaModFix/>
          </a:blip>
          <a:srcRect b="0" l="0" r="0" t="0"/>
          <a:stretch/>
        </p:blipFill>
        <p:spPr>
          <a:xfrm>
            <a:off x="2421469" y="2994654"/>
            <a:ext cx="1620075" cy="1677936"/>
          </a:xfrm>
          <a:prstGeom prst="rect">
            <a:avLst/>
          </a:prstGeom>
          <a:noFill/>
          <a:ln>
            <a:noFill/>
          </a:ln>
        </p:spPr>
      </p:pic>
      <p:cxnSp>
        <p:nvCxnSpPr>
          <p:cNvPr id="298" name="Google Shape;298;p14"/>
          <p:cNvCxnSpPr/>
          <p:nvPr/>
        </p:nvCxnSpPr>
        <p:spPr>
          <a:xfrm>
            <a:off x="4355976" y="1836000"/>
            <a:ext cx="0" cy="2823982"/>
          </a:xfrm>
          <a:prstGeom prst="straightConnector1">
            <a:avLst/>
          </a:prstGeom>
          <a:noFill/>
          <a:ln cap="flat" cmpd="sng" w="9525">
            <a:solidFill>
              <a:schemeClr val="dk1"/>
            </a:solidFill>
            <a:prstDash val="solid"/>
            <a:round/>
            <a:headEnd len="sm" w="sm" type="none"/>
            <a:tailEnd len="sm" w="sm" type="none"/>
          </a:ln>
        </p:spPr>
      </p:cxnSp>
      <p:sp>
        <p:nvSpPr>
          <p:cNvPr id="299" name="Google Shape;299;p14"/>
          <p:cNvSpPr txBox="1"/>
          <p:nvPr/>
        </p:nvSpPr>
        <p:spPr>
          <a:xfrm>
            <a:off x="4787900" y="1747177"/>
            <a:ext cx="3995738" cy="291280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6C"/>
              </a:buClr>
              <a:buSzPts val="1800"/>
              <a:buFont typeface="Arial"/>
              <a:buNone/>
            </a:pPr>
            <a:r>
              <a:rPr b="0" i="0" lang="fr-FR" sz="1800" u="none" cap="none" strike="noStrike">
                <a:solidFill>
                  <a:srgbClr val="00006C"/>
                </a:solidFill>
                <a:latin typeface="Arial"/>
                <a:ea typeface="Arial"/>
                <a:cs typeface="Arial"/>
                <a:sym typeface="Arial"/>
              </a:rPr>
              <a:t>Volet latéral  </a:t>
            </a:r>
            <a:r>
              <a:rPr b="0" i="0" lang="fr-FR" sz="1800" u="none" cap="none" strike="noStrike">
                <a:solidFill>
                  <a:srgbClr val="000000"/>
                </a:solidFill>
                <a:latin typeface="Arial"/>
                <a:ea typeface="Arial"/>
                <a:cs typeface="Arial"/>
                <a:sym typeface="Arial"/>
              </a:rPr>
              <a:t>→ </a:t>
            </a:r>
            <a:r>
              <a:rPr b="0" i="0" lang="fr-FR" sz="1800" u="none" cap="none" strike="noStrike">
                <a:solidFill>
                  <a:srgbClr val="00006C"/>
                </a:solidFill>
                <a:latin typeface="Arial"/>
                <a:ea typeface="Arial"/>
                <a:cs typeface="Arial"/>
                <a:sym typeface="Arial"/>
              </a:rPr>
              <a:t>Navigateur</a:t>
            </a:r>
            <a:endParaRPr/>
          </a:p>
          <a:p>
            <a:pPr indent="0" lvl="1" marL="180000" marR="0" rtl="0" algn="l">
              <a:lnSpc>
                <a:spcPct val="100000"/>
              </a:lnSpc>
              <a:spcBef>
                <a:spcPts val="13500"/>
              </a:spcBef>
              <a:spcAft>
                <a:spcPts val="0"/>
              </a:spcAft>
              <a:buClr>
                <a:schemeClr val="dk1"/>
              </a:buClr>
              <a:buSzPts val="1300"/>
              <a:buFont typeface="Arial"/>
              <a:buNone/>
            </a:pPr>
            <a:r>
              <a:rPr b="0" i="0" lang="fr-FR" sz="1300" u="none" cap="none" strike="noStrike">
                <a:solidFill>
                  <a:schemeClr val="dk1"/>
                </a:solidFill>
                <a:latin typeface="Arial"/>
                <a:ea typeface="Arial"/>
                <a:cs typeface="Arial"/>
                <a:sym typeface="Arial"/>
              </a:rPr>
              <a:t>Pour réafficher le volet latéral :</a:t>
            </a:r>
            <a:br>
              <a:rPr b="0" i="0" lang="fr-FR" sz="1300" u="none" cap="none" strike="noStrike">
                <a:solidFill>
                  <a:schemeClr val="dk1"/>
                </a:solidFill>
                <a:latin typeface="Arial"/>
                <a:ea typeface="Arial"/>
                <a:cs typeface="Arial"/>
                <a:sym typeface="Arial"/>
              </a:rPr>
            </a:br>
            <a:r>
              <a:rPr b="0" i="0" lang="fr-FR" sz="1300" u="none" cap="none" strike="noStrike">
                <a:solidFill>
                  <a:srgbClr val="00006C"/>
                </a:solidFill>
                <a:latin typeface="Arial"/>
                <a:ea typeface="Arial"/>
                <a:cs typeface="Arial"/>
                <a:sym typeface="Arial"/>
              </a:rPr>
              <a:t>Affichage</a:t>
            </a:r>
            <a:r>
              <a:rPr b="0" i="0" lang="fr-FR" sz="1300" u="none" cap="none" strike="noStrike">
                <a:solidFill>
                  <a:srgbClr val="000000"/>
                </a:solidFill>
                <a:latin typeface="Arial"/>
                <a:ea typeface="Arial"/>
                <a:cs typeface="Arial"/>
                <a:sym typeface="Arial"/>
              </a:rPr>
              <a:t> → </a:t>
            </a:r>
            <a:r>
              <a:rPr b="0" i="0" lang="fr-FR" sz="1300" u="none" cap="none" strike="noStrike">
                <a:solidFill>
                  <a:srgbClr val="00006C"/>
                </a:solidFill>
                <a:latin typeface="Arial"/>
                <a:ea typeface="Arial"/>
                <a:cs typeface="Arial"/>
                <a:sym typeface="Arial"/>
              </a:rPr>
              <a:t>Volet latéral </a:t>
            </a:r>
            <a:r>
              <a:rPr b="0" i="0" lang="fr-FR" sz="1300" u="none" cap="none" strike="noStrike">
                <a:solidFill>
                  <a:srgbClr val="000000"/>
                </a:solidFill>
                <a:latin typeface="Arial"/>
                <a:ea typeface="Arial"/>
                <a:cs typeface="Arial"/>
                <a:sym typeface="Arial"/>
              </a:rPr>
              <a:t>(ou </a:t>
            </a:r>
            <a:r>
              <a:rPr b="0" i="0" lang="fr-FR" sz="1300" u="none" cap="none" strike="noStrike">
                <a:solidFill>
                  <a:srgbClr val="000000"/>
                </a:solidFill>
                <a:highlight>
                  <a:srgbClr val="2CFFC8"/>
                </a:highlight>
                <a:latin typeface="Arial"/>
                <a:ea typeface="Arial"/>
                <a:cs typeface="Arial"/>
                <a:sym typeface="Arial"/>
              </a:rPr>
              <a:t>Ctrl</a:t>
            </a:r>
            <a:r>
              <a:rPr b="0" i="0" lang="fr-FR" sz="1300" u="none" cap="none" strike="noStrike">
                <a:solidFill>
                  <a:srgbClr val="000000"/>
                </a:solidFill>
                <a:latin typeface="Arial"/>
                <a:ea typeface="Arial"/>
                <a:cs typeface="Arial"/>
                <a:sym typeface="Arial"/>
              </a:rPr>
              <a:t> + </a:t>
            </a:r>
            <a:r>
              <a:rPr b="0" i="0" lang="fr-FR" sz="1300" u="none" cap="none" strike="noStrike">
                <a:solidFill>
                  <a:srgbClr val="000000"/>
                </a:solidFill>
                <a:highlight>
                  <a:srgbClr val="2CFFC8"/>
                </a:highlight>
                <a:latin typeface="Arial"/>
                <a:ea typeface="Arial"/>
                <a:cs typeface="Arial"/>
                <a:sym typeface="Arial"/>
              </a:rPr>
              <a:t>F5</a:t>
            </a:r>
            <a:r>
              <a:rPr b="0" i="0" lang="fr-FR" sz="1300" u="none" cap="none" strike="noStrike">
                <a:solidFill>
                  <a:srgbClr val="000000"/>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pic>
        <p:nvPicPr>
          <p:cNvPr id="300" name="Google Shape;300;p14"/>
          <p:cNvPicPr preferRelativeResize="0"/>
          <p:nvPr/>
        </p:nvPicPr>
        <p:blipFill rotWithShape="1">
          <a:blip r:embed="rId5">
            <a:alphaModFix/>
          </a:blip>
          <a:srcRect b="0" l="0" r="0" t="0"/>
          <a:stretch/>
        </p:blipFill>
        <p:spPr>
          <a:xfrm>
            <a:off x="5398965" y="2447953"/>
            <a:ext cx="2232853" cy="15241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07" name="Google Shape;307;p1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08" name="Google Shape;308;p1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09" name="Google Shape;309;p15"/>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10" name="Google Shape;310;p15"/>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Titres et numérotation des titres</a:t>
            </a:r>
            <a:endParaRPr/>
          </a:p>
        </p:txBody>
      </p:sp>
      <p:sp>
        <p:nvSpPr>
          <p:cNvPr id="311" name="Google Shape;311;p15"/>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Approfondissement : la numérotation des titres</a:t>
            </a:r>
            <a:endParaRPr/>
          </a:p>
          <a:p>
            <a:pPr indent="0" lvl="0" marL="0" rtl="0" algn="l">
              <a:lnSpc>
                <a:spcPct val="100000"/>
              </a:lnSpc>
              <a:spcBef>
                <a:spcPts val="500"/>
              </a:spcBef>
              <a:spcAft>
                <a:spcPts val="0"/>
              </a:spcAft>
              <a:buClr>
                <a:srgbClr val="595959"/>
              </a:buClr>
              <a:buSzPts val="2000"/>
              <a:buNone/>
            </a:pPr>
            <a:r>
              <a:t/>
            </a:r>
            <a:endParaRPr/>
          </a:p>
        </p:txBody>
      </p:sp>
      <p:sp>
        <p:nvSpPr>
          <p:cNvPr id="312" name="Google Shape;312;p15"/>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Accueil</a:t>
            </a:r>
            <a:r>
              <a:rPr b="0" i="0" lang="fr-FR" sz="1600" u="none" strike="noStrike">
                <a:solidFill>
                  <a:srgbClr val="000000"/>
                </a:solidFill>
              </a:rPr>
              <a:t> → </a:t>
            </a:r>
            <a:r>
              <a:rPr b="0" i="0" lang="fr-FR" sz="1600" u="none" strike="noStrike">
                <a:solidFill>
                  <a:srgbClr val="00006C"/>
                </a:solidFill>
              </a:rPr>
              <a:t>P</a:t>
            </a:r>
            <a:r>
              <a:rPr lang="fr-FR" sz="1600">
                <a:solidFill>
                  <a:srgbClr val="00006C"/>
                </a:solidFill>
              </a:rPr>
              <a:t>aragraphe</a:t>
            </a:r>
            <a:r>
              <a:rPr b="0" i="0" lang="fr-FR" sz="1600" u="none" strike="noStrike">
                <a:solidFill>
                  <a:srgbClr val="000000"/>
                </a:solidFill>
              </a:rPr>
              <a:t> → </a:t>
            </a:r>
            <a:r>
              <a:rPr lang="fr-FR" sz="1600">
                <a:solidFill>
                  <a:srgbClr val="00006C"/>
                </a:solidFill>
              </a:rPr>
              <a:t>Numérotation</a:t>
            </a:r>
            <a:endParaRPr/>
          </a:p>
          <a:p>
            <a:pPr indent="-76200" lvl="1" marL="252000" rtl="0" algn="l">
              <a:lnSpc>
                <a:spcPct val="100000"/>
              </a:lnSpc>
              <a:spcBef>
                <a:spcPts val="2500"/>
              </a:spcBef>
              <a:spcAft>
                <a:spcPts val="0"/>
              </a:spcAft>
              <a:buClr>
                <a:schemeClr val="dk1"/>
              </a:buClr>
              <a:buSzPts val="1200"/>
              <a:buChar char="•"/>
            </a:pPr>
            <a:r>
              <a:rPr lang="fr-FR" sz="1200"/>
              <a:t>Pour modifier le style : </a:t>
            </a:r>
            <a:endParaRPr/>
          </a:p>
          <a:p>
            <a:pPr indent="-76200" lvl="1" marL="252000" rtl="0" algn="l">
              <a:lnSpc>
                <a:spcPct val="100000"/>
              </a:lnSpc>
              <a:spcBef>
                <a:spcPts val="1200"/>
              </a:spcBef>
              <a:spcAft>
                <a:spcPts val="0"/>
              </a:spcAft>
              <a:buClr>
                <a:schemeClr val="dk1"/>
              </a:buClr>
              <a:buSzPts val="1200"/>
              <a:buChar char="•"/>
            </a:pPr>
            <a:r>
              <a:rPr lang="fr-FR" sz="1200"/>
              <a:t>Puis « Définir une nouvelle liste à plusieurs niveau… »</a:t>
            </a:r>
            <a:endParaRPr/>
          </a:p>
          <a:p>
            <a:pPr indent="0" lvl="0" marL="0" rtl="0" algn="ctr">
              <a:lnSpc>
                <a:spcPct val="100000"/>
              </a:lnSpc>
              <a:spcBef>
                <a:spcPts val="6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p:txBody>
      </p:sp>
      <p:pic>
        <p:nvPicPr>
          <p:cNvPr id="313" name="Google Shape;313;p15"/>
          <p:cNvPicPr preferRelativeResize="0"/>
          <p:nvPr/>
        </p:nvPicPr>
        <p:blipFill rotWithShape="1">
          <a:blip r:embed="rId3">
            <a:alphaModFix/>
          </a:blip>
          <a:srcRect b="0" l="0" r="0" t="0"/>
          <a:stretch/>
        </p:blipFill>
        <p:spPr>
          <a:xfrm>
            <a:off x="1398359" y="2457552"/>
            <a:ext cx="1661474" cy="207684"/>
          </a:xfrm>
          <a:prstGeom prst="rect">
            <a:avLst/>
          </a:prstGeom>
          <a:noFill/>
          <a:ln>
            <a:noFill/>
          </a:ln>
        </p:spPr>
      </p:pic>
      <p:pic>
        <p:nvPicPr>
          <p:cNvPr id="314" name="Google Shape;314;p15"/>
          <p:cNvPicPr preferRelativeResize="0"/>
          <p:nvPr/>
        </p:nvPicPr>
        <p:blipFill rotWithShape="1">
          <a:blip r:embed="rId4">
            <a:alphaModFix/>
          </a:blip>
          <a:srcRect b="0" l="0" r="0" t="0"/>
          <a:stretch/>
        </p:blipFill>
        <p:spPr>
          <a:xfrm>
            <a:off x="2357987" y="2715766"/>
            <a:ext cx="845861" cy="253758"/>
          </a:xfrm>
          <a:prstGeom prst="rect">
            <a:avLst/>
          </a:prstGeom>
          <a:noFill/>
          <a:ln>
            <a:noFill/>
          </a:ln>
        </p:spPr>
      </p:pic>
      <p:pic>
        <p:nvPicPr>
          <p:cNvPr id="315" name="Google Shape;315;p15"/>
          <p:cNvPicPr preferRelativeResize="0"/>
          <p:nvPr/>
        </p:nvPicPr>
        <p:blipFill rotWithShape="1">
          <a:blip r:embed="rId5">
            <a:alphaModFix/>
          </a:blip>
          <a:srcRect b="0" l="0" r="0" t="0"/>
          <a:stretch/>
        </p:blipFill>
        <p:spPr>
          <a:xfrm>
            <a:off x="1259632" y="3314891"/>
            <a:ext cx="2736304" cy="283066"/>
          </a:xfrm>
          <a:prstGeom prst="rect">
            <a:avLst/>
          </a:prstGeom>
          <a:noFill/>
          <a:ln>
            <a:noFill/>
          </a:ln>
        </p:spPr>
      </p:pic>
      <p:pic>
        <p:nvPicPr>
          <p:cNvPr descr="Illustration de la création d'un format de titre sous Word." id="316" name="Google Shape;316;p15"/>
          <p:cNvPicPr preferRelativeResize="0"/>
          <p:nvPr/>
        </p:nvPicPr>
        <p:blipFill rotWithShape="1">
          <a:blip r:embed="rId6">
            <a:alphaModFix/>
          </a:blip>
          <a:srcRect b="0" l="0" r="0" t="0"/>
          <a:stretch/>
        </p:blipFill>
        <p:spPr>
          <a:xfrm>
            <a:off x="1365093" y="3656273"/>
            <a:ext cx="2207663" cy="1099094"/>
          </a:xfrm>
          <a:prstGeom prst="rect">
            <a:avLst/>
          </a:prstGeom>
          <a:noFill/>
          <a:ln>
            <a:noFill/>
          </a:ln>
        </p:spPr>
      </p:pic>
      <p:cxnSp>
        <p:nvCxnSpPr>
          <p:cNvPr id="317" name="Google Shape;317;p15"/>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318" name="Google Shape;318;p15"/>
          <p:cNvSpPr txBox="1"/>
          <p:nvPr/>
        </p:nvSpPr>
        <p:spPr>
          <a:xfrm>
            <a:off x="4787900" y="1836738"/>
            <a:ext cx="3995738" cy="257333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6C"/>
              </a:buClr>
              <a:buSzPts val="1600"/>
              <a:buFont typeface="Arial"/>
              <a:buNone/>
            </a:pPr>
            <a:r>
              <a:rPr b="0" i="0" lang="fr-FR" sz="1600" u="none" cap="none" strike="noStrike">
                <a:solidFill>
                  <a:srgbClr val="00006C"/>
                </a:solidFill>
                <a:latin typeface="Arial"/>
                <a:ea typeface="Arial"/>
                <a:cs typeface="Arial"/>
                <a:sym typeface="Arial"/>
              </a:rPr>
              <a:t>Outils</a:t>
            </a:r>
            <a:r>
              <a:rPr b="0" i="0" lang="fr-FR" sz="1600" u="none" cap="none" strike="noStrike">
                <a:solidFill>
                  <a:srgbClr val="000000"/>
                </a:solidFill>
                <a:latin typeface="Arial"/>
                <a:ea typeface="Arial"/>
                <a:cs typeface="Arial"/>
                <a:sym typeface="Arial"/>
              </a:rPr>
              <a:t> → </a:t>
            </a:r>
            <a:r>
              <a:rPr b="0" i="0" lang="fr-FR" sz="1600" u="none" cap="none" strike="noStrike">
                <a:solidFill>
                  <a:srgbClr val="00006C"/>
                </a:solidFill>
                <a:latin typeface="Arial"/>
                <a:ea typeface="Arial"/>
                <a:cs typeface="Arial"/>
                <a:sym typeface="Arial"/>
              </a:rPr>
              <a:t>Numérotation des chapitres...</a:t>
            </a:r>
            <a:endParaRPr b="0" i="0" sz="1600" u="none" cap="none" strike="noStrike">
              <a:solidFill>
                <a:srgbClr val="00006C"/>
              </a:solidFill>
              <a:latin typeface="Arial"/>
              <a:ea typeface="Arial"/>
              <a:cs typeface="Arial"/>
              <a:sym typeface="Arial"/>
            </a:endParaRPr>
          </a:p>
        </p:txBody>
      </p:sp>
      <p:pic>
        <p:nvPicPr>
          <p:cNvPr descr="Illustration de la création d'un format de numéro de titre sous Writer." id="319" name="Google Shape;319;p15"/>
          <p:cNvPicPr preferRelativeResize="0"/>
          <p:nvPr/>
        </p:nvPicPr>
        <p:blipFill rotWithShape="1">
          <a:blip r:embed="rId7">
            <a:alphaModFix/>
          </a:blip>
          <a:srcRect b="0" l="0" r="0" t="0"/>
          <a:stretch/>
        </p:blipFill>
        <p:spPr>
          <a:xfrm>
            <a:off x="4860031" y="2499742"/>
            <a:ext cx="3959931" cy="19383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26" name="Google Shape;326;p1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27" name="Google Shape;327;p1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28" name="Google Shape;328;p16"/>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29" name="Google Shape;329;p16"/>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Sommaire du document bureautique</a:t>
            </a:r>
            <a:endParaRPr/>
          </a:p>
        </p:txBody>
      </p:sp>
      <p:sp>
        <p:nvSpPr>
          <p:cNvPr id="330" name="Google Shape;330;p16"/>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Table des matières et signets des PDF</a:t>
            </a:r>
            <a:endParaRPr/>
          </a:p>
          <a:p>
            <a:pPr indent="0" lvl="0" marL="0" rtl="0" algn="l">
              <a:lnSpc>
                <a:spcPct val="100000"/>
              </a:lnSpc>
              <a:spcBef>
                <a:spcPts val="500"/>
              </a:spcBef>
              <a:spcAft>
                <a:spcPts val="0"/>
              </a:spcAft>
              <a:buClr>
                <a:srgbClr val="595959"/>
              </a:buClr>
              <a:buSzPts val="2000"/>
              <a:buNone/>
            </a:pPr>
            <a:r>
              <a:t/>
            </a:r>
            <a:endParaRPr/>
          </a:p>
        </p:txBody>
      </p:sp>
      <p:sp>
        <p:nvSpPr>
          <p:cNvPr id="331" name="Google Shape;331;p16"/>
          <p:cNvSpPr txBox="1"/>
          <p:nvPr>
            <p:ph idx="2" type="body"/>
          </p:nvPr>
        </p:nvSpPr>
        <p:spPr>
          <a:xfrm>
            <a:off x="359998" y="1836000"/>
            <a:ext cx="8316458" cy="131181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Générer le sommaire automatiquement :</a:t>
            </a:r>
            <a:endParaRPr/>
          </a:p>
          <a:p>
            <a:pPr indent="-101600" lvl="1" marL="252000" rtl="0" algn="l">
              <a:lnSpc>
                <a:spcPct val="100000"/>
              </a:lnSpc>
              <a:spcBef>
                <a:spcPts val="500"/>
              </a:spcBef>
              <a:spcAft>
                <a:spcPts val="0"/>
              </a:spcAft>
              <a:buClr>
                <a:schemeClr val="dk1"/>
              </a:buClr>
              <a:buSzPts val="1600"/>
              <a:buChar char="•"/>
            </a:pPr>
            <a:r>
              <a:rPr lang="fr-FR"/>
              <a:t>Identification de la structure du document, de la densité de chaque partie ;</a:t>
            </a:r>
            <a:endParaRPr/>
          </a:p>
          <a:p>
            <a:pPr indent="-101600" lvl="1" marL="252000" rtl="0" algn="l">
              <a:lnSpc>
                <a:spcPct val="100000"/>
              </a:lnSpc>
              <a:spcBef>
                <a:spcPts val="600"/>
              </a:spcBef>
              <a:spcAft>
                <a:spcPts val="0"/>
              </a:spcAft>
              <a:buClr>
                <a:schemeClr val="dk1"/>
              </a:buClr>
              <a:buSzPts val="1600"/>
              <a:buChar char="•"/>
            </a:pPr>
            <a:r>
              <a:rPr lang="fr-FR"/>
              <a:t>Accès direct (liens) au chapitre souhaité ;</a:t>
            </a:r>
            <a:endParaRPr/>
          </a:p>
          <a:p>
            <a:pPr indent="-101600" lvl="1" marL="252000" rtl="0" algn="l">
              <a:lnSpc>
                <a:spcPct val="100000"/>
              </a:lnSpc>
              <a:spcBef>
                <a:spcPts val="600"/>
              </a:spcBef>
              <a:spcAft>
                <a:spcPts val="0"/>
              </a:spcAft>
              <a:buClr>
                <a:schemeClr val="dk1"/>
              </a:buClr>
              <a:buSzPts val="1600"/>
              <a:buChar char="•"/>
            </a:pPr>
            <a:r>
              <a:rPr lang="fr-FR"/>
              <a:t>Mise à jour simplifié en cas de modifications dans le document ;</a:t>
            </a:r>
            <a:endParaRPr/>
          </a:p>
          <a:p>
            <a:pPr indent="0" lvl="0" marL="0" rtl="0" algn="l">
              <a:lnSpc>
                <a:spcPct val="100000"/>
              </a:lnSpc>
              <a:spcBef>
                <a:spcPts val="600"/>
              </a:spcBef>
              <a:spcAft>
                <a:spcPts val="0"/>
              </a:spcAft>
              <a:buClr>
                <a:schemeClr val="dk1"/>
              </a:buClr>
              <a:buSzPts val="1800"/>
              <a:buNone/>
            </a:pPr>
            <a:r>
              <a:t/>
            </a:r>
            <a:endParaRPr/>
          </a:p>
        </p:txBody>
      </p:sp>
      <p:sp>
        <p:nvSpPr>
          <p:cNvPr id="332" name="Google Shape;332;p16"/>
          <p:cNvSpPr txBox="1"/>
          <p:nvPr/>
        </p:nvSpPr>
        <p:spPr>
          <a:xfrm>
            <a:off x="490092" y="3271415"/>
            <a:ext cx="3995978" cy="111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fr-FR" sz="1800" u="none" cap="none" strike="noStrike">
                <a:solidFill>
                  <a:schemeClr val="dk1"/>
                </a:solidFill>
                <a:latin typeface="Arial"/>
                <a:ea typeface="Arial"/>
                <a:cs typeface="Arial"/>
                <a:sym typeface="Arial"/>
              </a:rPr>
              <a:t>Export PDF avec « signets » :</a:t>
            </a:r>
            <a:endParaRPr/>
          </a:p>
          <a:p>
            <a:pPr indent="-101600" lvl="1" marL="252000" marR="0" rtl="0" algn="l">
              <a:lnSpc>
                <a:spcPct val="100000"/>
              </a:lnSpc>
              <a:spcBef>
                <a:spcPts val="1100"/>
              </a:spcBef>
              <a:spcAft>
                <a:spcPts val="0"/>
              </a:spcAft>
              <a:buClr>
                <a:schemeClr val="dk1"/>
              </a:buClr>
              <a:buSzPts val="1600"/>
              <a:buFont typeface="Arial"/>
              <a:buChar char="•"/>
            </a:pPr>
            <a:r>
              <a:rPr b="0" i="0" lang="fr-FR" sz="1600" u="none" cap="none" strike="noStrike">
                <a:solidFill>
                  <a:schemeClr val="dk1"/>
                </a:solidFill>
                <a:latin typeface="Arial"/>
                <a:ea typeface="Arial"/>
                <a:cs typeface="Arial"/>
                <a:sym typeface="Arial"/>
              </a:rPr>
              <a:t>Redondant avec le sommaire,</a:t>
            </a:r>
            <a:endParaRPr/>
          </a:p>
          <a:p>
            <a:pPr indent="-95250" lvl="2" marL="432000" marR="0" rtl="0" algn="l">
              <a:lnSpc>
                <a:spcPct val="100000"/>
              </a:lnSpc>
              <a:spcBef>
                <a:spcPts val="700"/>
              </a:spcBef>
              <a:spcAft>
                <a:spcPts val="0"/>
              </a:spcAft>
              <a:buClr>
                <a:schemeClr val="dk1"/>
              </a:buClr>
              <a:buSzPts val="1500"/>
              <a:buFont typeface="Arial"/>
              <a:buChar char="•"/>
            </a:pPr>
            <a:r>
              <a:rPr b="0" i="0" lang="fr-FR" sz="1500" u="none" cap="none" strike="noStrike">
                <a:solidFill>
                  <a:schemeClr val="dk1"/>
                </a:solidFill>
                <a:latin typeface="Arial"/>
                <a:ea typeface="Arial"/>
                <a:cs typeface="Arial"/>
                <a:sym typeface="Arial"/>
              </a:rPr>
              <a:t>Sauf pour impression.</a:t>
            </a:r>
            <a:endParaRPr/>
          </a:p>
          <a:p>
            <a:pPr indent="0" lvl="0" marL="0" marR="0" rtl="0" algn="l">
              <a:lnSpc>
                <a:spcPct val="100000"/>
              </a:lnSpc>
              <a:spcBef>
                <a:spcPts val="100"/>
              </a:spcBef>
              <a:spcAft>
                <a:spcPts val="0"/>
              </a:spcAft>
              <a:buClr>
                <a:schemeClr val="dk1"/>
              </a:buClr>
              <a:buSzPts val="1050"/>
              <a:buFont typeface="Arial"/>
              <a:buNone/>
            </a:pPr>
            <a:r>
              <a:t/>
            </a:r>
            <a:endParaRPr b="0" i="0" sz="1050" u="none" cap="none" strike="noStrike">
              <a:solidFill>
                <a:schemeClr val="dk1"/>
              </a:solidFill>
              <a:latin typeface="Arial"/>
              <a:ea typeface="Arial"/>
              <a:cs typeface="Arial"/>
              <a:sym typeface="Arial"/>
            </a:endParaRPr>
          </a:p>
        </p:txBody>
      </p:sp>
      <p:pic>
        <p:nvPicPr>
          <p:cNvPr descr="Signets avec la hiérarchie de titre." id="333" name="Google Shape;333;p16"/>
          <p:cNvPicPr preferRelativeResize="0"/>
          <p:nvPr/>
        </p:nvPicPr>
        <p:blipFill rotWithShape="1">
          <a:blip r:embed="rId3">
            <a:alphaModFix/>
          </a:blip>
          <a:srcRect b="0" l="0" r="0" t="0"/>
          <a:stretch/>
        </p:blipFill>
        <p:spPr>
          <a:xfrm>
            <a:off x="3970181" y="3176918"/>
            <a:ext cx="2293819" cy="157747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40" name="Google Shape;340;p1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41" name="Google Shape;341;p17"/>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42" name="Google Shape;342;p1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43" name="Google Shape;343;p17"/>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Génération de la table de matière automatique</a:t>
            </a:r>
            <a:endParaRPr/>
          </a:p>
        </p:txBody>
      </p:sp>
      <p:sp>
        <p:nvSpPr>
          <p:cNvPr id="344" name="Google Shape;344;p17"/>
          <p:cNvSpPr txBox="1"/>
          <p:nvPr>
            <p:ph idx="2" type="body"/>
          </p:nvPr>
        </p:nvSpPr>
        <p:spPr>
          <a:xfrm>
            <a:off x="360363" y="1275606"/>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Exercice 3 : Génération de la table des matières</a:t>
            </a:r>
            <a:endParaRPr/>
          </a:p>
          <a:p>
            <a:pPr indent="0" lvl="0" marL="0" rtl="0" algn="l">
              <a:lnSpc>
                <a:spcPct val="100000"/>
              </a:lnSpc>
              <a:spcBef>
                <a:spcPts val="500"/>
              </a:spcBef>
              <a:spcAft>
                <a:spcPts val="0"/>
              </a:spcAft>
              <a:buClr>
                <a:srgbClr val="595959"/>
              </a:buClr>
              <a:buSzPts val="2000"/>
              <a:buNone/>
            </a:pPr>
            <a:r>
              <a:t/>
            </a:r>
            <a:endParaRPr/>
          </a:p>
        </p:txBody>
      </p:sp>
      <p:sp>
        <p:nvSpPr>
          <p:cNvPr id="345" name="Google Shape;345;p17"/>
          <p:cNvSpPr txBox="1"/>
          <p:nvPr>
            <p:ph idx="1" type="body"/>
          </p:nvPr>
        </p:nvSpPr>
        <p:spPr>
          <a:xfrm>
            <a:off x="359998"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Références</a:t>
            </a:r>
            <a:r>
              <a:rPr b="0" i="0" lang="fr-FR" sz="1600" u="none" strike="noStrike">
                <a:solidFill>
                  <a:srgbClr val="000000"/>
                </a:solidFill>
              </a:rPr>
              <a:t> → </a:t>
            </a:r>
            <a:r>
              <a:rPr b="0" i="0" lang="fr-FR" sz="1600" u="none" strike="noStrike">
                <a:solidFill>
                  <a:srgbClr val="00006C"/>
                </a:solidFill>
              </a:rPr>
              <a:t>Table des matières </a:t>
            </a:r>
            <a:r>
              <a:rPr b="0" i="0" lang="fr-FR" sz="1600" u="none" strike="noStrike">
                <a:solidFill>
                  <a:srgbClr val="000000"/>
                </a:solidFill>
              </a:rPr>
              <a:t>→ </a:t>
            </a:r>
            <a:r>
              <a:rPr b="0" i="0" lang="fr-FR" sz="1400" u="none" strike="noStrike">
                <a:solidFill>
                  <a:srgbClr val="00006C"/>
                </a:solidFill>
              </a:rPr>
              <a:t>Table des matières personnalisées</a:t>
            </a:r>
            <a:endParaRPr sz="1400">
              <a:solidFill>
                <a:srgbClr val="00006C"/>
              </a:solidFill>
            </a:endParaRPr>
          </a:p>
          <a:p>
            <a:pPr indent="0" lvl="0" marL="0" rtl="0" algn="ctr">
              <a:lnSpc>
                <a:spcPct val="100000"/>
              </a:lnSpc>
              <a:spcBef>
                <a:spcPts val="5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p:txBody>
      </p:sp>
      <p:pic>
        <p:nvPicPr>
          <p:cNvPr descr="Fenêtre de paramétrage de la table des matières sous Word." id="346" name="Google Shape;346;p17"/>
          <p:cNvPicPr preferRelativeResize="0"/>
          <p:nvPr/>
        </p:nvPicPr>
        <p:blipFill rotWithShape="1">
          <a:blip r:embed="rId3">
            <a:alphaModFix/>
          </a:blip>
          <a:srcRect b="0" l="0" r="0" t="0"/>
          <a:stretch/>
        </p:blipFill>
        <p:spPr>
          <a:xfrm>
            <a:off x="971600" y="2538313"/>
            <a:ext cx="2475066" cy="2193677"/>
          </a:xfrm>
          <a:prstGeom prst="rect">
            <a:avLst/>
          </a:prstGeom>
          <a:noFill/>
          <a:ln>
            <a:noFill/>
          </a:ln>
        </p:spPr>
      </p:pic>
      <p:cxnSp>
        <p:nvCxnSpPr>
          <p:cNvPr id="347" name="Google Shape;347;p17"/>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348" name="Google Shape;348;p17"/>
          <p:cNvSpPr txBox="1"/>
          <p:nvPr/>
        </p:nvSpPr>
        <p:spPr>
          <a:xfrm>
            <a:off x="4787900" y="1635646"/>
            <a:ext cx="3995738" cy="257333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6C"/>
              </a:buClr>
              <a:buSzPts val="1600"/>
              <a:buFont typeface="Arial"/>
              <a:buNone/>
            </a:pPr>
            <a:r>
              <a:rPr b="0" i="0" lang="fr-FR" sz="1600" u="none" cap="none" strike="noStrike">
                <a:solidFill>
                  <a:srgbClr val="00006C"/>
                </a:solidFill>
                <a:latin typeface="Arial"/>
                <a:ea typeface="Arial"/>
                <a:cs typeface="Arial"/>
                <a:sym typeface="Arial"/>
              </a:rPr>
              <a:t>Insertion</a:t>
            </a:r>
            <a:r>
              <a:rPr b="0" i="0" lang="fr-FR" sz="1600" u="none" cap="none" strike="noStrike">
                <a:solidFill>
                  <a:srgbClr val="000000"/>
                </a:solidFill>
                <a:latin typeface="Arial"/>
                <a:ea typeface="Arial"/>
                <a:cs typeface="Arial"/>
                <a:sym typeface="Arial"/>
              </a:rPr>
              <a:t>  → </a:t>
            </a:r>
            <a:r>
              <a:rPr b="0" i="0" lang="fr-FR" sz="1600" u="none" cap="none" strike="noStrike">
                <a:solidFill>
                  <a:srgbClr val="00006C"/>
                </a:solidFill>
                <a:latin typeface="Arial"/>
                <a:ea typeface="Arial"/>
                <a:cs typeface="Arial"/>
                <a:sym typeface="Arial"/>
              </a:rPr>
              <a:t>Table des matières et index  </a:t>
            </a:r>
            <a:r>
              <a:rPr b="0" i="0" lang="fr-FR" sz="1600" u="none" cap="none" strike="noStrike">
                <a:solidFill>
                  <a:srgbClr val="000000"/>
                </a:solidFill>
                <a:latin typeface="Arial"/>
                <a:ea typeface="Arial"/>
                <a:cs typeface="Arial"/>
                <a:sym typeface="Arial"/>
              </a:rPr>
              <a:t>→ </a:t>
            </a:r>
            <a:r>
              <a:rPr b="0" i="0" lang="fr-FR" sz="1400" u="none" cap="none" strike="noStrike">
                <a:solidFill>
                  <a:srgbClr val="00006C"/>
                </a:solidFill>
                <a:latin typeface="Arial"/>
                <a:ea typeface="Arial"/>
                <a:cs typeface="Arial"/>
                <a:sym typeface="Arial"/>
              </a:rPr>
              <a:t>Table des matières, index ou bibliographie</a:t>
            </a:r>
            <a:endParaRPr b="0" i="0" sz="1400" u="none" cap="none" strike="noStrike">
              <a:solidFill>
                <a:srgbClr val="00006C"/>
              </a:solidFill>
              <a:latin typeface="Arial"/>
              <a:ea typeface="Arial"/>
              <a:cs typeface="Arial"/>
              <a:sym typeface="Arial"/>
            </a:endParaRPr>
          </a:p>
        </p:txBody>
      </p:sp>
      <p:pic>
        <p:nvPicPr>
          <p:cNvPr descr="Fenêtre de paramétrage de la table des matières sous Impress." id="349" name="Google Shape;349;p17"/>
          <p:cNvPicPr preferRelativeResize="0"/>
          <p:nvPr/>
        </p:nvPicPr>
        <p:blipFill rotWithShape="1">
          <a:blip r:embed="rId4">
            <a:alphaModFix/>
          </a:blip>
          <a:srcRect b="0" l="0" r="0" t="0"/>
          <a:stretch/>
        </p:blipFill>
        <p:spPr>
          <a:xfrm>
            <a:off x="6037609" y="2571750"/>
            <a:ext cx="2941073" cy="20485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8"/>
          <p:cNvSpPr txBox="1"/>
          <p:nvPr>
            <p:ph idx="1" type="body"/>
          </p:nvPr>
        </p:nvSpPr>
        <p:spPr>
          <a:xfrm>
            <a:off x="359998" y="1836000"/>
            <a:ext cx="8416084" cy="59173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Représentation structurée, claire, concise et facilement identifiable.</a:t>
            </a:r>
            <a:endParaRPr/>
          </a:p>
          <a:p>
            <a:pPr indent="0" lvl="0" marL="0" rtl="0" algn="l">
              <a:lnSpc>
                <a:spcPct val="100000"/>
              </a:lnSpc>
              <a:spcBef>
                <a:spcPts val="500"/>
              </a:spcBef>
              <a:spcAft>
                <a:spcPts val="0"/>
              </a:spcAft>
              <a:buClr>
                <a:schemeClr val="dk1"/>
              </a:buClr>
              <a:buSzPts val="1800"/>
              <a:buNone/>
            </a:pPr>
            <a:r>
              <a:rPr lang="fr-FR"/>
              <a:t>Restitution du nombre d’élément par les lecteurs d’écran.</a:t>
            </a:r>
            <a:endParaRPr/>
          </a:p>
          <a:p>
            <a:pPr indent="0" lvl="0" marL="0" rtl="0" algn="l">
              <a:lnSpc>
                <a:spcPct val="100000"/>
              </a:lnSpc>
              <a:spcBef>
                <a:spcPts val="500"/>
              </a:spcBef>
              <a:spcAft>
                <a:spcPts val="0"/>
              </a:spcAft>
              <a:buClr>
                <a:schemeClr val="dk1"/>
              </a:buClr>
              <a:buSzPts val="1800"/>
              <a:buNone/>
            </a:pPr>
            <a:r>
              <a:t/>
            </a:r>
            <a:endParaRPr/>
          </a:p>
        </p:txBody>
      </p:sp>
      <p:sp>
        <p:nvSpPr>
          <p:cNvPr id="356" name="Google Shape;356;p1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57" name="Google Shape;357;p1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58" name="Google Shape;358;p1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59" name="Google Shape;359;p18"/>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60" name="Google Shape;360;p18"/>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Les listes</a:t>
            </a:r>
            <a:endParaRPr/>
          </a:p>
        </p:txBody>
      </p:sp>
      <p:sp>
        <p:nvSpPr>
          <p:cNvPr id="361" name="Google Shape;361;p18"/>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Intérêt et types de listes</a:t>
            </a:r>
            <a:endParaRPr/>
          </a:p>
          <a:p>
            <a:pPr indent="0" lvl="0" marL="0" rtl="0" algn="l">
              <a:lnSpc>
                <a:spcPct val="100000"/>
              </a:lnSpc>
              <a:spcBef>
                <a:spcPts val="500"/>
              </a:spcBef>
              <a:spcAft>
                <a:spcPts val="0"/>
              </a:spcAft>
              <a:buClr>
                <a:srgbClr val="595959"/>
              </a:buClr>
              <a:buSzPts val="2000"/>
              <a:buNone/>
            </a:pPr>
            <a:r>
              <a:t/>
            </a:r>
            <a:endParaRPr/>
          </a:p>
        </p:txBody>
      </p:sp>
      <p:sp>
        <p:nvSpPr>
          <p:cNvPr id="362" name="Google Shape;362;p18"/>
          <p:cNvSpPr txBox="1"/>
          <p:nvPr>
            <p:ph idx="3" type="body"/>
          </p:nvPr>
        </p:nvSpPr>
        <p:spPr>
          <a:xfrm>
            <a:off x="367918" y="2803859"/>
            <a:ext cx="3995978" cy="1872208"/>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800"/>
              <a:buNone/>
            </a:pPr>
            <a:r>
              <a:rPr b="0" i="0" lang="fr-FR" sz="1800" u="none" strike="noStrike">
                <a:solidFill>
                  <a:srgbClr val="000000"/>
                </a:solidFill>
                <a:latin typeface="Arial"/>
                <a:ea typeface="Arial"/>
                <a:cs typeface="Arial"/>
                <a:sym typeface="Arial"/>
              </a:rPr>
              <a:t>Liste </a:t>
            </a:r>
            <a:r>
              <a:rPr b="1" i="0" lang="fr-FR" sz="1800" u="none" strike="noStrike">
                <a:solidFill>
                  <a:srgbClr val="000000"/>
                </a:solidFill>
                <a:latin typeface="Lucida Sans"/>
                <a:ea typeface="Lucida Sans"/>
                <a:cs typeface="Lucida Sans"/>
                <a:sym typeface="Lucida Sans"/>
              </a:rPr>
              <a:t>non ordonnée</a:t>
            </a:r>
            <a:r>
              <a:rPr b="0" i="0" lang="fr-FR" sz="1800" u="none" strike="noStrike">
                <a:solidFill>
                  <a:srgbClr val="000000"/>
                </a:solidFill>
                <a:latin typeface="Lucida Sans"/>
                <a:ea typeface="Lucida Sans"/>
                <a:cs typeface="Lucida Sans"/>
                <a:sym typeface="Lucida Sans"/>
              </a:rPr>
              <a:t> (à puces) :</a:t>
            </a:r>
            <a:endParaRPr/>
          </a:p>
          <a:p>
            <a:pPr indent="-144000" lvl="1" marL="252000" rtl="0" algn="l">
              <a:lnSpc>
                <a:spcPct val="100000"/>
              </a:lnSpc>
              <a:spcBef>
                <a:spcPts val="1100"/>
              </a:spcBef>
              <a:spcAft>
                <a:spcPts val="0"/>
              </a:spcAft>
              <a:buClr>
                <a:srgbClr val="000000"/>
              </a:buClr>
              <a:buSzPts val="1600"/>
              <a:buChar char="•"/>
            </a:pPr>
            <a:r>
              <a:rPr b="0" i="0" lang="fr-FR" u="none" strike="noStrike">
                <a:solidFill>
                  <a:srgbClr val="000000"/>
                </a:solidFill>
                <a:latin typeface="Arial"/>
                <a:ea typeface="Arial"/>
                <a:cs typeface="Arial"/>
                <a:sym typeface="Arial"/>
              </a:rPr>
              <a:t>Ordre sans importance </a:t>
            </a:r>
            <a:endParaRPr b="0" i="0" u="none" strike="noStrike">
              <a:solidFill>
                <a:srgbClr val="000000"/>
              </a:solidFill>
              <a:latin typeface="Lucida Sans"/>
              <a:ea typeface="Lucida Sans"/>
              <a:cs typeface="Lucida Sans"/>
              <a:sym typeface="Lucida Sans"/>
            </a:endParaRPr>
          </a:p>
          <a:p>
            <a:pPr indent="0" lvl="2" marL="360000" rtl="0" algn="l">
              <a:lnSpc>
                <a:spcPct val="100000"/>
              </a:lnSpc>
              <a:spcBef>
                <a:spcPts val="700"/>
              </a:spcBef>
              <a:spcAft>
                <a:spcPts val="0"/>
              </a:spcAft>
              <a:buClr>
                <a:schemeClr val="accent5"/>
              </a:buClr>
              <a:buSzPts val="1400"/>
              <a:buNone/>
            </a:pPr>
            <a:r>
              <a:rPr b="0" i="0" lang="fr-FR" u="none" strike="noStrike">
                <a:solidFill>
                  <a:schemeClr val="accent5"/>
                </a:solidFill>
                <a:latin typeface="Arial"/>
                <a:ea typeface="Arial"/>
                <a:cs typeface="Arial"/>
                <a:sym typeface="Arial"/>
              </a:rPr>
              <a:t>Liste de courses :</a:t>
            </a:r>
            <a:endParaRPr b="0" i="0" u="none" strike="noStrike">
              <a:solidFill>
                <a:schemeClr val="accent5"/>
              </a:solidFill>
              <a:latin typeface="Lucida Sans"/>
              <a:ea typeface="Lucida Sans"/>
              <a:cs typeface="Lucida Sans"/>
              <a:sym typeface="Lucida Sans"/>
            </a:endParaRPr>
          </a:p>
          <a:p>
            <a:pPr indent="-252000" lvl="3" marL="828000" rtl="0" algn="l">
              <a:lnSpc>
                <a:spcPct val="100000"/>
              </a:lnSpc>
              <a:spcBef>
                <a:spcPts val="100"/>
              </a:spcBef>
              <a:spcAft>
                <a:spcPts val="0"/>
              </a:spcAft>
              <a:buClr>
                <a:schemeClr val="accent5"/>
              </a:buClr>
              <a:buSzPts val="1400"/>
              <a:buChar char="•"/>
            </a:pPr>
            <a:r>
              <a:rPr b="0" i="0" lang="fr-FR" sz="1400" u="none" strike="noStrike">
                <a:solidFill>
                  <a:schemeClr val="accent5"/>
                </a:solidFill>
                <a:latin typeface="Arial"/>
                <a:ea typeface="Arial"/>
                <a:cs typeface="Arial"/>
                <a:sym typeface="Arial"/>
              </a:rPr>
              <a:t>Poires,</a:t>
            </a:r>
            <a:endParaRPr b="0" i="0" sz="1400" u="none" strike="noStrike">
              <a:solidFill>
                <a:schemeClr val="accent5"/>
              </a:solidFill>
              <a:latin typeface="Lucida Sans"/>
              <a:ea typeface="Lucida Sans"/>
              <a:cs typeface="Lucida Sans"/>
              <a:sym typeface="Lucida Sans"/>
            </a:endParaRPr>
          </a:p>
          <a:p>
            <a:pPr indent="-252000" lvl="3" marL="828000" rtl="0" algn="l">
              <a:lnSpc>
                <a:spcPct val="100000"/>
              </a:lnSpc>
              <a:spcBef>
                <a:spcPts val="100"/>
              </a:spcBef>
              <a:spcAft>
                <a:spcPts val="0"/>
              </a:spcAft>
              <a:buClr>
                <a:schemeClr val="accent5"/>
              </a:buClr>
              <a:buSzPts val="1400"/>
              <a:buChar char="•"/>
            </a:pPr>
            <a:r>
              <a:rPr b="0" i="0" lang="fr-FR" sz="1400" u="none" strike="noStrike">
                <a:solidFill>
                  <a:schemeClr val="accent5"/>
                </a:solidFill>
                <a:latin typeface="Arial"/>
                <a:ea typeface="Arial"/>
                <a:cs typeface="Arial"/>
                <a:sym typeface="Arial"/>
              </a:rPr>
              <a:t>Chocolat,</a:t>
            </a:r>
            <a:endParaRPr b="0" i="0" sz="1400" u="none" strike="noStrike">
              <a:solidFill>
                <a:schemeClr val="accent5"/>
              </a:solidFill>
              <a:latin typeface="Lucida Sans"/>
              <a:ea typeface="Lucida Sans"/>
              <a:cs typeface="Lucida Sans"/>
              <a:sym typeface="Lucida Sans"/>
            </a:endParaRPr>
          </a:p>
          <a:p>
            <a:pPr indent="-252000" lvl="3" marL="828000" rtl="0" algn="l">
              <a:lnSpc>
                <a:spcPct val="100000"/>
              </a:lnSpc>
              <a:spcBef>
                <a:spcPts val="100"/>
              </a:spcBef>
              <a:spcAft>
                <a:spcPts val="0"/>
              </a:spcAft>
              <a:buClr>
                <a:schemeClr val="accent5"/>
              </a:buClr>
              <a:buSzPts val="1400"/>
              <a:buChar char="•"/>
            </a:pPr>
            <a:r>
              <a:rPr b="0" i="0" lang="fr-FR" sz="1400" u="none" strike="noStrike">
                <a:solidFill>
                  <a:schemeClr val="accent5"/>
                </a:solidFill>
                <a:latin typeface="Arial"/>
                <a:ea typeface="Arial"/>
                <a:cs typeface="Arial"/>
                <a:sym typeface="Arial"/>
              </a:rPr>
              <a:t>Dentifrice.</a:t>
            </a:r>
            <a:endParaRPr b="0" i="0" sz="1400" u="none" strike="noStrike">
              <a:solidFill>
                <a:schemeClr val="accent5"/>
              </a:solidFill>
              <a:latin typeface="Lucida Sans"/>
              <a:ea typeface="Lucida Sans"/>
              <a:cs typeface="Lucida Sans"/>
              <a:sym typeface="Lucida Sans"/>
            </a:endParaRPr>
          </a:p>
        </p:txBody>
      </p:sp>
      <p:cxnSp>
        <p:nvCxnSpPr>
          <p:cNvPr id="363" name="Google Shape;363;p18"/>
          <p:cNvCxnSpPr/>
          <p:nvPr/>
        </p:nvCxnSpPr>
        <p:spPr>
          <a:xfrm>
            <a:off x="4211960" y="2931790"/>
            <a:ext cx="0" cy="1728192"/>
          </a:xfrm>
          <a:prstGeom prst="straightConnector1">
            <a:avLst/>
          </a:prstGeom>
          <a:noFill/>
          <a:ln cap="flat" cmpd="sng" w="9525">
            <a:solidFill>
              <a:schemeClr val="dk1"/>
            </a:solidFill>
            <a:prstDash val="solid"/>
            <a:round/>
            <a:headEnd len="sm" w="sm" type="none"/>
            <a:tailEnd len="sm" w="sm" type="none"/>
          </a:ln>
        </p:spPr>
      </p:cxnSp>
      <p:sp>
        <p:nvSpPr>
          <p:cNvPr id="364" name="Google Shape;364;p18"/>
          <p:cNvSpPr txBox="1"/>
          <p:nvPr/>
        </p:nvSpPr>
        <p:spPr>
          <a:xfrm>
            <a:off x="4608470" y="2807652"/>
            <a:ext cx="3995978" cy="1872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Arial"/>
                <a:ea typeface="Arial"/>
                <a:cs typeface="Arial"/>
                <a:sym typeface="Arial"/>
              </a:rPr>
              <a:t>Liste </a:t>
            </a:r>
            <a:r>
              <a:rPr b="1" i="0" lang="fr-FR" sz="1800" u="none" cap="none" strike="noStrike">
                <a:solidFill>
                  <a:srgbClr val="000000"/>
                </a:solidFill>
                <a:latin typeface="Arial"/>
                <a:ea typeface="Arial"/>
                <a:cs typeface="Arial"/>
                <a:sym typeface="Arial"/>
              </a:rPr>
              <a:t>o</a:t>
            </a:r>
            <a:r>
              <a:rPr b="1" i="0" lang="fr-FR" sz="1800" u="none" cap="none" strike="noStrike">
                <a:solidFill>
                  <a:srgbClr val="000000"/>
                </a:solidFill>
                <a:latin typeface="Lucida Sans"/>
                <a:ea typeface="Lucida Sans"/>
                <a:cs typeface="Lucida Sans"/>
                <a:sym typeface="Lucida Sans"/>
              </a:rPr>
              <a:t>rdonnée</a:t>
            </a:r>
            <a:r>
              <a:rPr b="0" i="0" lang="fr-FR" sz="1800" u="none" cap="none" strike="noStrike">
                <a:solidFill>
                  <a:srgbClr val="000000"/>
                </a:solidFill>
                <a:latin typeface="Lucida Sans"/>
                <a:ea typeface="Lucida Sans"/>
                <a:cs typeface="Lucida Sans"/>
                <a:sym typeface="Lucida Sans"/>
              </a:rPr>
              <a:t> (numérotée) :</a:t>
            </a:r>
            <a:endParaRPr/>
          </a:p>
          <a:p>
            <a:pPr indent="-144000" lvl="1" marL="252000" marR="0" rtl="0" algn="l">
              <a:lnSpc>
                <a:spcPct val="100000"/>
              </a:lnSpc>
              <a:spcBef>
                <a:spcPts val="1100"/>
              </a:spcBef>
              <a:spcAft>
                <a:spcPts val="0"/>
              </a:spcAft>
              <a:buClr>
                <a:srgbClr val="000000"/>
              </a:buClr>
              <a:buSzPts val="1600"/>
              <a:buFont typeface="Arial"/>
              <a:buChar char="•"/>
            </a:pPr>
            <a:r>
              <a:rPr b="0" i="0" lang="fr-FR" sz="1600" u="none" cap="none" strike="noStrike">
                <a:solidFill>
                  <a:srgbClr val="000000"/>
                </a:solidFill>
                <a:latin typeface="Arial"/>
                <a:ea typeface="Arial"/>
                <a:cs typeface="Arial"/>
                <a:sym typeface="Arial"/>
              </a:rPr>
              <a:t>Ordre important </a:t>
            </a:r>
            <a:endParaRPr b="0" i="0" sz="1600" u="none" cap="none" strike="noStrike">
              <a:solidFill>
                <a:srgbClr val="000000"/>
              </a:solidFill>
              <a:latin typeface="Lucida Sans"/>
              <a:ea typeface="Lucida Sans"/>
              <a:cs typeface="Lucida Sans"/>
              <a:sym typeface="Lucida Sans"/>
            </a:endParaRPr>
          </a:p>
          <a:p>
            <a:pPr indent="0" lvl="2" marL="360000" marR="0" rtl="0" algn="l">
              <a:lnSpc>
                <a:spcPct val="100000"/>
              </a:lnSpc>
              <a:spcBef>
                <a:spcPts val="700"/>
              </a:spcBef>
              <a:spcAft>
                <a:spcPts val="0"/>
              </a:spcAft>
              <a:buClr>
                <a:schemeClr val="accent5"/>
              </a:buClr>
              <a:buSzPts val="1400"/>
              <a:buFont typeface="Arial"/>
              <a:buNone/>
            </a:pPr>
            <a:r>
              <a:rPr b="0" i="0" lang="fr-FR" sz="1400" u="none" cap="none" strike="noStrike">
                <a:solidFill>
                  <a:schemeClr val="accent5"/>
                </a:solidFill>
                <a:latin typeface="Arial"/>
                <a:ea typeface="Arial"/>
                <a:cs typeface="Arial"/>
                <a:sym typeface="Arial"/>
              </a:rPr>
              <a:t>Procédure d’installation :</a:t>
            </a:r>
            <a:endParaRPr b="0" i="0" sz="1400" u="none" cap="none" strike="noStrike">
              <a:solidFill>
                <a:schemeClr val="accent5"/>
              </a:solidFill>
              <a:latin typeface="Lucida Sans"/>
              <a:ea typeface="Lucida Sans"/>
              <a:cs typeface="Lucida Sans"/>
              <a:sym typeface="Lucida Sans"/>
            </a:endParaRPr>
          </a:p>
          <a:p>
            <a:pPr indent="-252000" lvl="3" marL="828000" marR="0" rtl="0" algn="l">
              <a:lnSpc>
                <a:spcPct val="100000"/>
              </a:lnSpc>
              <a:spcBef>
                <a:spcPts val="100"/>
              </a:spcBef>
              <a:spcAft>
                <a:spcPts val="0"/>
              </a:spcAft>
              <a:buClr>
                <a:schemeClr val="accent5"/>
              </a:buClr>
              <a:buSzPts val="1400"/>
              <a:buFont typeface="Arial"/>
              <a:buAutoNum type="arabicPeriod"/>
            </a:pPr>
            <a:r>
              <a:rPr b="0" i="0" lang="fr-FR" sz="1400" u="none" cap="none" strike="noStrike">
                <a:solidFill>
                  <a:schemeClr val="accent5"/>
                </a:solidFill>
                <a:latin typeface="Arial"/>
                <a:ea typeface="Arial"/>
                <a:cs typeface="Arial"/>
                <a:sym typeface="Arial"/>
              </a:rPr>
              <a:t>Télécharger rgaa.exe ;</a:t>
            </a:r>
            <a:endParaRPr/>
          </a:p>
          <a:p>
            <a:pPr indent="-252000" lvl="3" marL="828000" marR="0" rtl="0" algn="l">
              <a:lnSpc>
                <a:spcPct val="100000"/>
              </a:lnSpc>
              <a:spcBef>
                <a:spcPts val="100"/>
              </a:spcBef>
              <a:spcAft>
                <a:spcPts val="0"/>
              </a:spcAft>
              <a:buClr>
                <a:schemeClr val="accent5"/>
              </a:buClr>
              <a:buSzPts val="1400"/>
              <a:buFont typeface="Arial"/>
              <a:buAutoNum type="arabicPeriod"/>
            </a:pPr>
            <a:r>
              <a:rPr b="0" i="0" lang="fr-FR" sz="1400" u="none" cap="none" strike="noStrike">
                <a:solidFill>
                  <a:schemeClr val="accent5"/>
                </a:solidFill>
                <a:latin typeface="Arial"/>
                <a:ea typeface="Arial"/>
                <a:cs typeface="Arial"/>
                <a:sym typeface="Arial"/>
              </a:rPr>
              <a:t>Lancer rgaa.exe ;</a:t>
            </a:r>
            <a:endParaRPr/>
          </a:p>
          <a:p>
            <a:pPr indent="-252000" lvl="3" marL="828000" marR="0" rtl="0" algn="l">
              <a:lnSpc>
                <a:spcPct val="100000"/>
              </a:lnSpc>
              <a:spcBef>
                <a:spcPts val="100"/>
              </a:spcBef>
              <a:spcAft>
                <a:spcPts val="0"/>
              </a:spcAft>
              <a:buClr>
                <a:schemeClr val="accent5"/>
              </a:buClr>
              <a:buSzPts val="1400"/>
              <a:buFont typeface="Arial"/>
              <a:buAutoNum type="arabicPeriod"/>
            </a:pPr>
            <a:r>
              <a:rPr b="0" i="0" lang="fr-FR" sz="1400" u="none" cap="none" strike="noStrike">
                <a:solidFill>
                  <a:schemeClr val="accent5"/>
                </a:solidFill>
                <a:latin typeface="Arial"/>
                <a:ea typeface="Arial"/>
                <a:cs typeface="Arial"/>
                <a:sym typeface="Arial"/>
              </a:rPr>
              <a:t>Suivre les consignes.</a:t>
            </a:r>
            <a:endParaRPr b="0" i="0" sz="1400" u="none" cap="none" strike="noStrike">
              <a:solidFill>
                <a:schemeClr val="accent5"/>
              </a:solidFill>
              <a:latin typeface="Lucida Sans"/>
              <a:ea typeface="Lucida Sans"/>
              <a:cs typeface="Lucida Sans"/>
              <a:sym typeface="Lucid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9"/>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71" name="Google Shape;371;p1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72" name="Google Shape;372;p1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73" name="Google Shape;373;p19"/>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74" name="Google Shape;374;p19"/>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00000"/>
              </a:buClr>
              <a:buSzPts val="2550"/>
              <a:buFont typeface="Arial"/>
              <a:buNone/>
            </a:pPr>
            <a:r>
              <a:rPr b="1" i="0" lang="fr-FR" sz="2550" u="none" cap="none" strike="noStrike">
                <a:solidFill>
                  <a:srgbClr val="000000"/>
                </a:solidFill>
                <a:latin typeface="Arial"/>
                <a:ea typeface="Arial"/>
                <a:cs typeface="Arial"/>
                <a:sym typeface="Arial"/>
              </a:rPr>
              <a:t>Utilisation des fonctionnalités de listes</a:t>
            </a:r>
            <a:endParaRPr/>
          </a:p>
        </p:txBody>
      </p:sp>
      <p:sp>
        <p:nvSpPr>
          <p:cNvPr id="375" name="Google Shape;375;p19"/>
          <p:cNvSpPr txBox="1"/>
          <p:nvPr>
            <p:ph idx="2" type="body"/>
          </p:nvPr>
        </p:nvSpPr>
        <p:spPr>
          <a:xfrm>
            <a:off x="360363" y="1275606"/>
            <a:ext cx="8423275" cy="2889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95959"/>
              </a:buClr>
              <a:buSzPts val="1800"/>
              <a:buFont typeface="Arial"/>
              <a:buNone/>
            </a:pPr>
            <a:r>
              <a:rPr b="1" i="0" lang="fr-FR" sz="1800" u="none" cap="none" strike="noStrike">
                <a:solidFill>
                  <a:srgbClr val="595959"/>
                </a:solidFill>
                <a:latin typeface="Arial"/>
                <a:ea typeface="Arial"/>
                <a:cs typeface="Arial"/>
                <a:sym typeface="Arial"/>
              </a:rPr>
              <a:t>Exercice 4 : Générer « correctement » les listes</a:t>
            </a:r>
            <a:endParaRPr b="1" i="0" sz="2000" u="none" cap="none" strike="noStrike">
              <a:solidFill>
                <a:srgbClr val="595959"/>
              </a:solidFill>
              <a:latin typeface="Arial"/>
              <a:ea typeface="Arial"/>
              <a:cs typeface="Arial"/>
              <a:sym typeface="Arial"/>
            </a:endParaRPr>
          </a:p>
          <a:p>
            <a:pPr indent="0" lvl="0" marL="0" rtl="0" algn="l">
              <a:lnSpc>
                <a:spcPct val="100000"/>
              </a:lnSpc>
              <a:spcBef>
                <a:spcPts val="500"/>
              </a:spcBef>
              <a:spcAft>
                <a:spcPts val="0"/>
              </a:spcAft>
              <a:buClr>
                <a:srgbClr val="595959"/>
              </a:buClr>
              <a:buSzPts val="2000"/>
              <a:buNone/>
            </a:pPr>
            <a:r>
              <a:t/>
            </a:r>
            <a:endParaRPr/>
          </a:p>
        </p:txBody>
      </p:sp>
      <p:sp>
        <p:nvSpPr>
          <p:cNvPr id="376" name="Google Shape;376;p19"/>
          <p:cNvSpPr txBox="1"/>
          <p:nvPr>
            <p:ph idx="1" type="body"/>
          </p:nvPr>
        </p:nvSpPr>
        <p:spPr>
          <a:xfrm>
            <a:off x="359998" y="1635646"/>
            <a:ext cx="3995978" cy="2574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Word</a:t>
            </a:r>
            <a:endParaRPr/>
          </a:p>
          <a:p>
            <a:pPr indent="0" lvl="0" marL="0" marR="0" rtl="0" algn="l">
              <a:lnSpc>
                <a:spcPct val="100000"/>
              </a:lnSpc>
              <a:spcBef>
                <a:spcPts val="500"/>
              </a:spcBef>
              <a:spcAft>
                <a:spcPts val="0"/>
              </a:spcAft>
              <a:buClr>
                <a:srgbClr val="000000"/>
              </a:buClr>
              <a:buSzPts val="1600"/>
              <a:buFont typeface="Arial"/>
              <a:buNone/>
            </a:pPr>
            <a:r>
              <a:rPr b="0" i="0" lang="fr-FR" sz="1600" u="none" cap="none" strike="noStrike">
                <a:solidFill>
                  <a:srgbClr val="000000"/>
                </a:solidFill>
                <a:latin typeface="Arial"/>
                <a:ea typeface="Arial"/>
                <a:cs typeface="Arial"/>
                <a:sym typeface="Arial"/>
              </a:rPr>
              <a:t>Sélection des paragraphes de la liste → </a:t>
            </a:r>
            <a:r>
              <a:rPr b="0" i="0" lang="fr-FR" sz="1600" u="none" cap="none" strike="noStrike">
                <a:solidFill>
                  <a:srgbClr val="00006C"/>
                </a:solidFill>
                <a:latin typeface="Arial"/>
                <a:ea typeface="Arial"/>
                <a:cs typeface="Arial"/>
                <a:sym typeface="Arial"/>
              </a:rPr>
              <a:t>Accueil</a:t>
            </a:r>
            <a:r>
              <a:rPr b="0" i="0" lang="fr-FR" sz="1600" u="none" cap="none" strike="noStrike">
                <a:solidFill>
                  <a:srgbClr val="000000"/>
                </a:solidFill>
                <a:latin typeface="Arial"/>
                <a:ea typeface="Arial"/>
                <a:cs typeface="Arial"/>
                <a:sym typeface="Arial"/>
              </a:rPr>
              <a:t> → Barre d’outils des listes </a:t>
            </a:r>
            <a:endParaRPr/>
          </a:p>
          <a:p>
            <a:pPr indent="0" lvl="0" marL="0" marR="0" rtl="0" algn="l">
              <a:lnSpc>
                <a:spcPct val="100000"/>
              </a:lnSpc>
              <a:spcBef>
                <a:spcPts val="2900"/>
              </a:spcBef>
              <a:spcAft>
                <a:spcPts val="0"/>
              </a:spcAft>
              <a:buClr>
                <a:srgbClr val="000000"/>
              </a:buClr>
              <a:buSzPts val="1800"/>
              <a:buFont typeface="Arial"/>
              <a:buNone/>
            </a:pPr>
            <a:r>
              <a:rPr b="0" i="0" lang="fr-FR" sz="1800" u="none" cap="none" strike="noStrike">
                <a:solidFill>
                  <a:srgbClr val="000000"/>
                </a:solidFill>
                <a:latin typeface="Arial"/>
                <a:ea typeface="Arial"/>
                <a:cs typeface="Arial"/>
                <a:sym typeface="Arial"/>
              </a:rPr>
              <a:t>→ </a:t>
            </a:r>
            <a:r>
              <a:rPr b="0" i="0" lang="fr-FR" sz="1400" u="none" cap="none" strike="noStrike">
                <a:solidFill>
                  <a:srgbClr val="00006C"/>
                </a:solidFill>
                <a:latin typeface="Arial"/>
                <a:ea typeface="Arial"/>
                <a:cs typeface="Arial"/>
                <a:sym typeface="Arial"/>
              </a:rPr>
              <a:t>Puces</a:t>
            </a:r>
            <a:r>
              <a:rPr b="0" i="0" lang="fr-FR" sz="1400" u="none" cap="none" strike="noStrike">
                <a:solidFill>
                  <a:srgbClr val="000000"/>
                </a:solidFill>
                <a:latin typeface="Arial"/>
                <a:ea typeface="Arial"/>
                <a:cs typeface="Arial"/>
                <a:sym typeface="Arial"/>
              </a:rPr>
              <a:t>	     /  </a:t>
            </a:r>
            <a:r>
              <a:rPr b="0" i="0" lang="fr-FR" sz="1400" u="none" cap="none" strike="noStrike">
                <a:solidFill>
                  <a:srgbClr val="00006C"/>
                </a:solidFill>
                <a:latin typeface="Arial"/>
                <a:ea typeface="Arial"/>
                <a:cs typeface="Arial"/>
                <a:sym typeface="Arial"/>
              </a:rPr>
              <a:t>Numérotation</a:t>
            </a:r>
            <a:r>
              <a:rPr b="0" i="0" lang="fr-FR" sz="1400" u="none" cap="none" strike="noStrike">
                <a:solidFill>
                  <a:srgbClr val="000000"/>
                </a:solidFill>
                <a:latin typeface="Arial"/>
                <a:ea typeface="Arial"/>
                <a:cs typeface="Arial"/>
                <a:sym typeface="Arial"/>
              </a:rPr>
              <a:t> 	    / </a:t>
            </a:r>
            <a:br>
              <a:rPr b="0" i="0" lang="fr-FR" sz="1400" u="none" cap="none" strike="noStrike">
                <a:solidFill>
                  <a:srgbClr val="000000"/>
                </a:solidFill>
                <a:latin typeface="Arial"/>
                <a:ea typeface="Arial"/>
                <a:cs typeface="Arial"/>
                <a:sym typeface="Arial"/>
              </a:rPr>
            </a:br>
            <a:r>
              <a:rPr b="0" i="0" lang="fr-FR" sz="1400" u="none" cap="none" strike="noStrike">
                <a:solidFill>
                  <a:srgbClr val="00006C"/>
                </a:solidFill>
                <a:latin typeface="Arial"/>
                <a:ea typeface="Arial"/>
                <a:cs typeface="Arial"/>
                <a:sym typeface="Arial"/>
              </a:rPr>
              <a:t>Liste à plusieurs niveau</a:t>
            </a:r>
            <a:r>
              <a:rPr b="0" i="0" lang="fr-FR" sz="1400" u="none" cap="none" strike="noStrike">
                <a:solidFill>
                  <a:srgbClr val="000000"/>
                </a:solidFill>
                <a:latin typeface="Arial"/>
                <a:ea typeface="Arial"/>
                <a:cs typeface="Arial"/>
                <a:sym typeface="Arial"/>
              </a:rPr>
              <a:t> </a:t>
            </a:r>
            <a:endParaRPr/>
          </a:p>
          <a:p>
            <a:pPr indent="0" lvl="1" marL="252000" rtl="0" algn="l">
              <a:lnSpc>
                <a:spcPct val="100000"/>
              </a:lnSpc>
              <a:spcBef>
                <a:spcPts val="1100"/>
              </a:spcBef>
              <a:spcAft>
                <a:spcPts val="0"/>
              </a:spcAft>
              <a:buClr>
                <a:srgbClr val="000000"/>
              </a:buClr>
              <a:buSzPts val="1300"/>
              <a:buNone/>
            </a:pPr>
            <a:r>
              <a:rPr b="0" i="0" lang="fr-FR" sz="1300" u="none" cap="none" strike="noStrike">
                <a:solidFill>
                  <a:srgbClr val="000000"/>
                </a:solidFill>
                <a:latin typeface="Arial"/>
                <a:ea typeface="Arial"/>
                <a:cs typeface="Arial"/>
                <a:sym typeface="Arial"/>
              </a:rPr>
              <a:t>Définir éventuellement le </a:t>
            </a:r>
            <a:br>
              <a:rPr b="0" i="0" lang="fr-FR" sz="1300" u="none" cap="none" strike="noStrike">
                <a:solidFill>
                  <a:srgbClr val="000000"/>
                </a:solidFill>
                <a:latin typeface="Arial"/>
                <a:ea typeface="Arial"/>
                <a:cs typeface="Arial"/>
                <a:sym typeface="Arial"/>
              </a:rPr>
            </a:br>
            <a:r>
              <a:rPr b="0" i="0" lang="fr-FR" sz="1300" u="none" cap="none" strike="noStrike">
                <a:solidFill>
                  <a:srgbClr val="000000"/>
                </a:solidFill>
                <a:latin typeface="Arial"/>
                <a:ea typeface="Arial"/>
                <a:cs typeface="Arial"/>
                <a:sym typeface="Arial"/>
              </a:rPr>
              <a:t>format attendu.</a:t>
            </a:r>
            <a:endParaRPr/>
          </a:p>
          <a:p>
            <a:pPr indent="0" lvl="0" marL="0" rtl="0" algn="l">
              <a:lnSpc>
                <a:spcPct val="100000"/>
              </a:lnSpc>
              <a:spcBef>
                <a:spcPts val="500"/>
              </a:spcBef>
              <a:spcAft>
                <a:spcPts val="0"/>
              </a:spcAft>
              <a:buClr>
                <a:schemeClr val="dk1"/>
              </a:buClr>
              <a:buSzPts val="1800"/>
              <a:buNone/>
            </a:pPr>
            <a:r>
              <a:t/>
            </a:r>
            <a:endParaRPr/>
          </a:p>
        </p:txBody>
      </p:sp>
      <p:pic>
        <p:nvPicPr>
          <p:cNvPr id="377" name="Google Shape;377;p19"/>
          <p:cNvPicPr preferRelativeResize="0"/>
          <p:nvPr/>
        </p:nvPicPr>
        <p:blipFill rotWithShape="1">
          <a:blip r:embed="rId3">
            <a:alphaModFix/>
          </a:blip>
          <a:srcRect b="0" l="0" r="0" t="0"/>
          <a:stretch/>
        </p:blipFill>
        <p:spPr>
          <a:xfrm>
            <a:off x="1331640" y="2499742"/>
            <a:ext cx="1912218" cy="302497"/>
          </a:xfrm>
          <a:prstGeom prst="rect">
            <a:avLst/>
          </a:prstGeom>
          <a:noFill/>
          <a:ln>
            <a:noFill/>
          </a:ln>
        </p:spPr>
      </p:pic>
      <p:pic>
        <p:nvPicPr>
          <p:cNvPr id="378" name="Google Shape;378;p19"/>
          <p:cNvPicPr preferRelativeResize="0"/>
          <p:nvPr/>
        </p:nvPicPr>
        <p:blipFill rotWithShape="1">
          <a:blip r:embed="rId4">
            <a:alphaModFix/>
          </a:blip>
          <a:srcRect b="0" l="0" r="0" t="0"/>
          <a:stretch/>
        </p:blipFill>
        <p:spPr>
          <a:xfrm>
            <a:off x="1141539" y="2885846"/>
            <a:ext cx="334404" cy="216911"/>
          </a:xfrm>
          <a:prstGeom prst="rect">
            <a:avLst/>
          </a:prstGeom>
          <a:noFill/>
          <a:ln>
            <a:noFill/>
          </a:ln>
        </p:spPr>
      </p:pic>
      <p:pic>
        <p:nvPicPr>
          <p:cNvPr id="379" name="Google Shape;379;p19"/>
          <p:cNvPicPr preferRelativeResize="0"/>
          <p:nvPr/>
        </p:nvPicPr>
        <p:blipFill rotWithShape="1">
          <a:blip r:embed="rId5">
            <a:alphaModFix/>
          </a:blip>
          <a:srcRect b="0" l="0" r="0" t="0"/>
          <a:stretch/>
        </p:blipFill>
        <p:spPr>
          <a:xfrm>
            <a:off x="2921842" y="2890568"/>
            <a:ext cx="353546" cy="206235"/>
          </a:xfrm>
          <a:prstGeom prst="rect">
            <a:avLst/>
          </a:prstGeom>
          <a:noFill/>
          <a:ln>
            <a:noFill/>
          </a:ln>
        </p:spPr>
      </p:pic>
      <p:pic>
        <p:nvPicPr>
          <p:cNvPr id="380" name="Google Shape;380;p19"/>
          <p:cNvPicPr preferRelativeResize="0"/>
          <p:nvPr/>
        </p:nvPicPr>
        <p:blipFill rotWithShape="1">
          <a:blip r:embed="rId6">
            <a:alphaModFix/>
          </a:blip>
          <a:srcRect b="0" l="0" r="0" t="0"/>
          <a:stretch/>
        </p:blipFill>
        <p:spPr>
          <a:xfrm>
            <a:off x="2373089" y="3134069"/>
            <a:ext cx="383191" cy="227844"/>
          </a:xfrm>
          <a:prstGeom prst="rect">
            <a:avLst/>
          </a:prstGeom>
          <a:noFill/>
          <a:ln>
            <a:noFill/>
          </a:ln>
        </p:spPr>
      </p:pic>
      <p:pic>
        <p:nvPicPr>
          <p:cNvPr descr="La flèche à droite du bouton donne accès à un menu contextuel proposant de définir plus précisément la liste (puce, type de numérotation…)." id="381" name="Google Shape;381;p19"/>
          <p:cNvPicPr preferRelativeResize="0"/>
          <p:nvPr/>
        </p:nvPicPr>
        <p:blipFill rotWithShape="1">
          <a:blip r:embed="rId7">
            <a:alphaModFix/>
          </a:blip>
          <a:srcRect b="0" l="0" r="0" t="0"/>
          <a:stretch/>
        </p:blipFill>
        <p:spPr>
          <a:xfrm>
            <a:off x="3465892" y="3215464"/>
            <a:ext cx="814740" cy="1410664"/>
          </a:xfrm>
          <a:prstGeom prst="rect">
            <a:avLst/>
          </a:prstGeom>
          <a:noFill/>
          <a:ln>
            <a:noFill/>
          </a:ln>
        </p:spPr>
      </p:pic>
      <p:cxnSp>
        <p:nvCxnSpPr>
          <p:cNvPr id="382" name="Google Shape;382;p19"/>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383" name="Google Shape;383;p19"/>
          <p:cNvSpPr txBox="1"/>
          <p:nvPr>
            <p:ph idx="3" type="body"/>
          </p:nvPr>
        </p:nvSpPr>
        <p:spPr>
          <a:xfrm>
            <a:off x="4780104" y="1635646"/>
            <a:ext cx="3995978" cy="302433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rgbClr val="000000"/>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00"/>
              </a:buClr>
              <a:buSzPts val="1600"/>
              <a:buFont typeface="Arial"/>
              <a:buNone/>
            </a:pPr>
            <a:r>
              <a:rPr b="0" i="0" lang="fr-FR" sz="1600" u="none" cap="none" strike="noStrike">
                <a:solidFill>
                  <a:srgbClr val="000000"/>
                </a:solidFill>
                <a:latin typeface="Arial"/>
                <a:ea typeface="Arial"/>
                <a:cs typeface="Arial"/>
                <a:sym typeface="Arial"/>
              </a:rPr>
              <a:t>Barre d’outils « </a:t>
            </a:r>
            <a:r>
              <a:rPr b="0" i="0" lang="fr-FR" sz="1600" u="none" cap="none" strike="noStrike">
                <a:solidFill>
                  <a:srgbClr val="00006C"/>
                </a:solidFill>
                <a:latin typeface="Arial"/>
                <a:ea typeface="Arial"/>
                <a:cs typeface="Arial"/>
                <a:sym typeface="Arial"/>
              </a:rPr>
              <a:t>Formatage</a:t>
            </a:r>
            <a:r>
              <a:rPr b="0" i="0" lang="fr-FR" sz="1600" u="none" cap="none" strike="noStrike">
                <a:solidFill>
                  <a:srgbClr val="000000"/>
                </a:solidFill>
                <a:latin typeface="Arial"/>
                <a:ea typeface="Arial"/>
                <a:cs typeface="Arial"/>
                <a:sym typeface="Arial"/>
              </a:rPr>
              <a:t> »  → Barre d’outils des listes  </a:t>
            </a:r>
            <a:endParaRPr/>
          </a:p>
          <a:p>
            <a:pPr indent="0" lvl="0" marL="0" marR="0" rtl="0" algn="l">
              <a:lnSpc>
                <a:spcPct val="100000"/>
              </a:lnSpc>
              <a:spcBef>
                <a:spcPts val="2900"/>
              </a:spcBef>
              <a:spcAft>
                <a:spcPts val="0"/>
              </a:spcAft>
              <a:buClr>
                <a:srgbClr val="000000"/>
              </a:buClr>
              <a:buSzPts val="1600"/>
              <a:buFont typeface="Arial"/>
              <a:buNone/>
            </a:pPr>
            <a:r>
              <a:rPr b="0" i="0" lang="fr-FR" sz="1600" u="none" cap="none" strike="noStrike">
                <a:solidFill>
                  <a:srgbClr val="000000"/>
                </a:solidFill>
                <a:latin typeface="Arial"/>
                <a:ea typeface="Arial"/>
                <a:cs typeface="Arial"/>
                <a:sym typeface="Arial"/>
              </a:rPr>
              <a:t>→</a:t>
            </a:r>
            <a:r>
              <a:rPr b="0" i="0" lang="fr-FR" sz="1600" u="none" cap="none" strike="noStrike">
                <a:solidFill>
                  <a:srgbClr val="00006C"/>
                </a:solidFill>
                <a:latin typeface="Arial"/>
                <a:ea typeface="Arial"/>
                <a:cs typeface="Arial"/>
                <a:sym typeface="Arial"/>
              </a:rPr>
              <a:t> </a:t>
            </a:r>
            <a:r>
              <a:rPr b="0" i="0" lang="fr-FR" sz="1400" u="none" cap="none" strike="noStrike">
                <a:solidFill>
                  <a:srgbClr val="00006C"/>
                </a:solidFill>
                <a:latin typeface="Arial"/>
                <a:ea typeface="Arial"/>
                <a:cs typeface="Arial"/>
                <a:sym typeface="Arial"/>
              </a:rPr>
              <a:t>Liste non ordonnée          </a:t>
            </a:r>
            <a:r>
              <a:rPr b="0" i="0" lang="fr-FR" sz="1400" u="none" cap="none" strike="noStrike">
                <a:solidFill>
                  <a:srgbClr val="000000"/>
                </a:solidFill>
                <a:latin typeface="Arial"/>
                <a:ea typeface="Arial"/>
                <a:cs typeface="Arial"/>
                <a:sym typeface="Arial"/>
              </a:rPr>
              <a:t>/ </a:t>
            </a:r>
            <a:r>
              <a:rPr b="0" i="0" lang="fr-FR" sz="1400" u="none" cap="none" strike="noStrike">
                <a:solidFill>
                  <a:srgbClr val="00006C"/>
                </a:solidFill>
                <a:latin typeface="Arial"/>
                <a:ea typeface="Arial"/>
                <a:cs typeface="Arial"/>
                <a:sym typeface="Arial"/>
              </a:rPr>
              <a:t>Liste ordonnée</a:t>
            </a:r>
            <a:endParaRPr/>
          </a:p>
          <a:p>
            <a:pPr indent="0" lvl="1" marL="252000" rtl="0" algn="l">
              <a:lnSpc>
                <a:spcPct val="100000"/>
              </a:lnSpc>
              <a:spcBef>
                <a:spcPts val="1100"/>
              </a:spcBef>
              <a:spcAft>
                <a:spcPts val="0"/>
              </a:spcAft>
              <a:buClr>
                <a:srgbClr val="000000"/>
              </a:buClr>
              <a:buSzPts val="1300"/>
              <a:buNone/>
            </a:pPr>
            <a:r>
              <a:rPr b="0" i="0" lang="fr-FR" sz="1300" u="none" cap="none" strike="noStrike">
                <a:solidFill>
                  <a:srgbClr val="000000"/>
                </a:solidFill>
                <a:latin typeface="Arial"/>
                <a:ea typeface="Arial"/>
                <a:cs typeface="Arial"/>
                <a:sym typeface="Arial"/>
              </a:rPr>
              <a:t>Définir éventuellement le format attendu.</a:t>
            </a:r>
            <a:endParaRPr/>
          </a:p>
          <a:p>
            <a:pPr indent="0" lvl="0" marL="0" marR="0" rtl="0" algn="l">
              <a:lnSpc>
                <a:spcPct val="100000"/>
              </a:lnSpc>
              <a:spcBef>
                <a:spcPts val="290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rtl="0" algn="l">
              <a:lnSpc>
                <a:spcPct val="100000"/>
              </a:lnSpc>
              <a:spcBef>
                <a:spcPts val="500"/>
              </a:spcBef>
              <a:spcAft>
                <a:spcPts val="0"/>
              </a:spcAft>
              <a:buClr>
                <a:schemeClr val="dk1"/>
              </a:buClr>
              <a:buSzPts val="1800"/>
              <a:buNone/>
            </a:pPr>
            <a:r>
              <a:t/>
            </a:r>
            <a:endParaRPr/>
          </a:p>
        </p:txBody>
      </p:sp>
      <p:pic>
        <p:nvPicPr>
          <p:cNvPr id="384" name="Google Shape;384;p19"/>
          <p:cNvPicPr preferRelativeResize="0"/>
          <p:nvPr/>
        </p:nvPicPr>
        <p:blipFill rotWithShape="1">
          <a:blip r:embed="rId8">
            <a:alphaModFix/>
          </a:blip>
          <a:srcRect b="0" l="0" r="0" t="0"/>
          <a:stretch/>
        </p:blipFill>
        <p:spPr>
          <a:xfrm>
            <a:off x="5580112" y="2499742"/>
            <a:ext cx="1832356" cy="265559"/>
          </a:xfrm>
          <a:prstGeom prst="rect">
            <a:avLst/>
          </a:prstGeom>
          <a:noFill/>
          <a:ln>
            <a:noFill/>
          </a:ln>
        </p:spPr>
      </p:pic>
      <p:pic>
        <p:nvPicPr>
          <p:cNvPr id="385" name="Google Shape;385;p19"/>
          <p:cNvPicPr preferRelativeResize="0"/>
          <p:nvPr/>
        </p:nvPicPr>
        <p:blipFill rotWithShape="1">
          <a:blip r:embed="rId9">
            <a:alphaModFix/>
          </a:blip>
          <a:srcRect b="0" l="0" r="0" t="0"/>
          <a:stretch/>
        </p:blipFill>
        <p:spPr>
          <a:xfrm>
            <a:off x="6737541" y="2858137"/>
            <a:ext cx="348552" cy="271095"/>
          </a:xfrm>
          <a:prstGeom prst="rect">
            <a:avLst/>
          </a:prstGeom>
          <a:noFill/>
          <a:ln>
            <a:noFill/>
          </a:ln>
        </p:spPr>
      </p:pic>
      <p:pic>
        <p:nvPicPr>
          <p:cNvPr id="386" name="Google Shape;386;p19"/>
          <p:cNvPicPr preferRelativeResize="0"/>
          <p:nvPr/>
        </p:nvPicPr>
        <p:blipFill rotWithShape="1">
          <a:blip r:embed="rId10">
            <a:alphaModFix/>
          </a:blip>
          <a:srcRect b="0" l="0" r="0" t="0"/>
          <a:stretch/>
        </p:blipFill>
        <p:spPr>
          <a:xfrm>
            <a:off x="8598605" y="2838747"/>
            <a:ext cx="370065" cy="264333"/>
          </a:xfrm>
          <a:prstGeom prst="rect">
            <a:avLst/>
          </a:prstGeom>
          <a:noFill/>
          <a:ln>
            <a:noFill/>
          </a:ln>
        </p:spPr>
      </p:pic>
      <p:pic>
        <p:nvPicPr>
          <p:cNvPr descr="La flèche à droite du bouton donne accès à un menu contextuel proposant de définir plus précisément la liste (puce, type de numérotation…)." id="387" name="Google Shape;387;p19"/>
          <p:cNvPicPr preferRelativeResize="0"/>
          <p:nvPr/>
        </p:nvPicPr>
        <p:blipFill rotWithShape="1">
          <a:blip r:embed="rId11">
            <a:alphaModFix/>
          </a:blip>
          <a:srcRect b="0" l="0" r="0" t="0"/>
          <a:stretch/>
        </p:blipFill>
        <p:spPr>
          <a:xfrm>
            <a:off x="6048000" y="3580223"/>
            <a:ext cx="2316681" cy="11126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394" name="Google Shape;394;p2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395" name="Google Shape;395;p2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96" name="Google Shape;396;p20"/>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397" name="Google Shape;397;p20"/>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Les tableaux</a:t>
            </a:r>
            <a:endParaRPr/>
          </a:p>
        </p:txBody>
      </p:sp>
      <p:sp>
        <p:nvSpPr>
          <p:cNvPr id="398" name="Google Shape;398;p20"/>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Difficultés et conseils d’utilisation</a:t>
            </a:r>
            <a:endParaRPr/>
          </a:p>
        </p:txBody>
      </p:sp>
      <p:sp>
        <p:nvSpPr>
          <p:cNvPr id="399" name="Google Shape;399;p20"/>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Les tableaux, même simples, sont des « défis » pour les utilisateurs :</a:t>
            </a:r>
            <a:endParaRPr/>
          </a:p>
          <a:p>
            <a:pPr indent="-101600" lvl="1" marL="252000" rtl="0" algn="l">
              <a:lnSpc>
                <a:spcPct val="100000"/>
              </a:lnSpc>
              <a:spcBef>
                <a:spcPts val="800"/>
              </a:spcBef>
              <a:spcAft>
                <a:spcPts val="0"/>
              </a:spcAft>
              <a:buClr>
                <a:schemeClr val="dk1"/>
              </a:buClr>
              <a:buSzPts val="1600"/>
              <a:buChar char="•"/>
            </a:pPr>
            <a:r>
              <a:rPr lang="fr-FR"/>
              <a:t>Proscrire les imbrication au sein du tableau (notamment imbrication de tableaux).</a:t>
            </a:r>
            <a:endParaRPr/>
          </a:p>
          <a:p>
            <a:pPr indent="-101600" lvl="1" marL="252000" rtl="0" algn="l">
              <a:lnSpc>
                <a:spcPct val="100000"/>
              </a:lnSpc>
              <a:spcBef>
                <a:spcPts val="900"/>
              </a:spcBef>
              <a:spcAft>
                <a:spcPts val="0"/>
              </a:spcAft>
              <a:buClr>
                <a:schemeClr val="dk1"/>
              </a:buClr>
              <a:buSzPts val="1600"/>
              <a:buChar char="•"/>
            </a:pPr>
            <a:r>
              <a:rPr lang="fr-FR"/>
              <a:t>Utiliser les tableaux pour présenter des données (pas pour une mise en forme).</a:t>
            </a:r>
            <a:endParaRPr/>
          </a:p>
          <a:p>
            <a:pPr indent="-101600" lvl="1" marL="252000" rtl="0" algn="l">
              <a:lnSpc>
                <a:spcPct val="100000"/>
              </a:lnSpc>
              <a:spcBef>
                <a:spcPts val="900"/>
              </a:spcBef>
              <a:spcAft>
                <a:spcPts val="0"/>
              </a:spcAft>
              <a:buClr>
                <a:schemeClr val="dk1"/>
              </a:buClr>
              <a:buSzPts val="1600"/>
              <a:buChar char="•"/>
            </a:pPr>
            <a:r>
              <a:rPr lang="fr-FR"/>
              <a:t>Identifier les en-têtes et les répéter en haut de chaque page si besoin.</a:t>
            </a:r>
            <a:endParaRPr/>
          </a:p>
          <a:p>
            <a:pPr indent="-101600" lvl="1" marL="252000" rtl="0" algn="l">
              <a:lnSpc>
                <a:spcPct val="100000"/>
              </a:lnSpc>
              <a:spcBef>
                <a:spcPts val="900"/>
              </a:spcBef>
              <a:spcAft>
                <a:spcPts val="0"/>
              </a:spcAft>
              <a:buClr>
                <a:schemeClr val="dk1"/>
              </a:buClr>
              <a:buSzPts val="1600"/>
              <a:buChar char="•"/>
            </a:pPr>
            <a:r>
              <a:rPr lang="fr-FR"/>
              <a:t>Privilégier les tableaux simples (éviter les cellules fusionnées si possible).</a:t>
            </a:r>
            <a:endParaRPr/>
          </a:p>
          <a:p>
            <a:pPr indent="-101600" lvl="1" marL="252000" rtl="0" algn="l">
              <a:lnSpc>
                <a:spcPct val="100000"/>
              </a:lnSpc>
              <a:spcBef>
                <a:spcPts val="900"/>
              </a:spcBef>
              <a:spcAft>
                <a:spcPts val="0"/>
              </a:spcAft>
              <a:buClr>
                <a:schemeClr val="dk1"/>
              </a:buClr>
              <a:buSzPts val="1600"/>
              <a:buChar char="•"/>
            </a:pPr>
            <a:r>
              <a:rPr lang="fr-FR"/>
              <a:t>Ne pas fractionner les lignes sur plusieurs pages (éviter que les lignes s’étendent sur plusieurs pages).</a:t>
            </a:r>
            <a:endParaRPr/>
          </a:p>
          <a:p>
            <a:pPr indent="-101600" lvl="1" marL="252000" rtl="0" algn="l">
              <a:lnSpc>
                <a:spcPct val="100000"/>
              </a:lnSpc>
              <a:spcBef>
                <a:spcPts val="900"/>
              </a:spcBef>
              <a:spcAft>
                <a:spcPts val="0"/>
              </a:spcAft>
              <a:buClr>
                <a:schemeClr val="dk1"/>
              </a:buClr>
              <a:buSzPts val="1600"/>
              <a:buChar char="•"/>
            </a:pPr>
            <a:r>
              <a:rPr lang="fr-FR"/>
              <a:t>Identifier les tableaux par un titre.</a:t>
            </a:r>
            <a:endParaRPr/>
          </a:p>
          <a:p>
            <a:pPr indent="0" lvl="1" marL="252000" rtl="0" algn="l">
              <a:lnSpc>
                <a:spcPct val="100000"/>
              </a:lnSpc>
              <a:spcBef>
                <a:spcPts val="1200"/>
              </a:spcBef>
              <a:spcAft>
                <a:spcPts val="0"/>
              </a:spcAft>
              <a:buClr>
                <a:schemeClr val="dk1"/>
              </a:buClr>
              <a:buSzPts val="16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1"/>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406" name="Google Shape;406;p2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07" name="Google Shape;407;p2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08" name="Google Shape;408;p2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09" name="Google Shape;409;p21"/>
          <p:cNvSpPr txBox="1"/>
          <p:nvPr>
            <p:ph type="title"/>
          </p:nvPr>
        </p:nvSpPr>
        <p:spPr>
          <a:xfrm>
            <a:off x="359999" y="699542"/>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Création d’un tableau de données accessible</a:t>
            </a:r>
            <a:endParaRPr/>
          </a:p>
        </p:txBody>
      </p:sp>
      <p:sp>
        <p:nvSpPr>
          <p:cNvPr id="410" name="Google Shape;410;p21"/>
          <p:cNvSpPr txBox="1"/>
          <p:nvPr>
            <p:ph idx="2" type="body"/>
          </p:nvPr>
        </p:nvSpPr>
        <p:spPr>
          <a:xfrm>
            <a:off x="360363" y="1203598"/>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800"/>
              <a:buNone/>
            </a:pPr>
            <a:r>
              <a:rPr lang="fr-FR" sz="1800"/>
              <a:t>Exercice 5.1 : Construire de vrais tableaux accessibles</a:t>
            </a:r>
            <a:endParaRPr/>
          </a:p>
          <a:p>
            <a:pPr indent="0" lvl="0" marL="0" rtl="0" algn="l">
              <a:lnSpc>
                <a:spcPct val="100000"/>
              </a:lnSpc>
              <a:spcBef>
                <a:spcPts val="500"/>
              </a:spcBef>
              <a:spcAft>
                <a:spcPts val="0"/>
              </a:spcAft>
              <a:buClr>
                <a:srgbClr val="595959"/>
              </a:buClr>
              <a:buSzPts val="2000"/>
              <a:buNone/>
            </a:pPr>
            <a:r>
              <a:t/>
            </a:r>
            <a:endParaRPr/>
          </a:p>
        </p:txBody>
      </p:sp>
      <p:sp>
        <p:nvSpPr>
          <p:cNvPr id="411" name="Google Shape;411;p21"/>
          <p:cNvSpPr txBox="1"/>
          <p:nvPr>
            <p:ph idx="1" type="body"/>
          </p:nvPr>
        </p:nvSpPr>
        <p:spPr>
          <a:xfrm>
            <a:off x="359998" y="1635646"/>
            <a:ext cx="3995978" cy="1311814"/>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Insertion</a:t>
            </a:r>
            <a:r>
              <a:rPr lang="fr-FR" sz="1600"/>
              <a:t> </a:t>
            </a:r>
            <a:r>
              <a:rPr lang="fr-FR" sz="1600">
                <a:solidFill>
                  <a:srgbClr val="000000"/>
                </a:solidFill>
              </a:rPr>
              <a:t>→ </a:t>
            </a:r>
            <a:r>
              <a:rPr lang="fr-FR" sz="1600">
                <a:solidFill>
                  <a:srgbClr val="00006C"/>
                </a:solidFill>
              </a:rPr>
              <a:t>Tableau</a:t>
            </a:r>
            <a:r>
              <a:rPr lang="fr-FR" sz="1600"/>
              <a:t> puis :</a:t>
            </a:r>
            <a:endParaRPr b="0" i="0" sz="1600" u="none" strike="noStrike">
              <a:solidFill>
                <a:srgbClr val="000000"/>
              </a:solidFill>
            </a:endParaRPr>
          </a:p>
          <a:p>
            <a:pPr indent="-88900" lvl="1" marL="252000" rtl="0" algn="l">
              <a:lnSpc>
                <a:spcPct val="100000"/>
              </a:lnSpc>
              <a:spcBef>
                <a:spcPts val="1100"/>
              </a:spcBef>
              <a:spcAft>
                <a:spcPts val="0"/>
              </a:spcAft>
              <a:buClr>
                <a:schemeClr val="dk1"/>
              </a:buClr>
              <a:buSzPts val="1400"/>
              <a:buChar char="•"/>
            </a:pPr>
            <a:r>
              <a:rPr lang="fr-FR" sz="1400"/>
              <a:t>Dans le tableau </a:t>
            </a:r>
            <a:r>
              <a:rPr lang="fr-FR" sz="1400">
                <a:solidFill>
                  <a:srgbClr val="000000"/>
                </a:solidFill>
              </a:rPr>
              <a:t>→ Clic droit</a:t>
            </a:r>
            <a:r>
              <a:rPr lang="fr-FR" sz="1400"/>
              <a:t>  </a:t>
            </a:r>
            <a:r>
              <a:rPr lang="fr-FR" sz="1400">
                <a:solidFill>
                  <a:srgbClr val="000000"/>
                </a:solidFill>
              </a:rPr>
              <a:t>→  </a:t>
            </a:r>
            <a:r>
              <a:rPr lang="fr-FR" sz="1400">
                <a:solidFill>
                  <a:srgbClr val="00006C"/>
                </a:solidFill>
              </a:rPr>
              <a:t>Propriétés du tableau… </a:t>
            </a:r>
            <a:r>
              <a:rPr lang="fr-FR" sz="1400">
                <a:solidFill>
                  <a:srgbClr val="000000"/>
                </a:solidFill>
              </a:rPr>
              <a:t>→ Onglet </a:t>
            </a:r>
            <a:r>
              <a:rPr lang="fr-FR" sz="1400">
                <a:solidFill>
                  <a:srgbClr val="00006C"/>
                </a:solidFill>
              </a:rPr>
              <a:t>Ligne</a:t>
            </a:r>
            <a:r>
              <a:rPr lang="fr-FR" sz="1400">
                <a:solidFill>
                  <a:srgbClr val="000000"/>
                </a:solidFill>
              </a:rPr>
              <a:t> :</a:t>
            </a:r>
            <a:endParaRPr/>
          </a:p>
        </p:txBody>
      </p:sp>
      <p:pic>
        <p:nvPicPr>
          <p:cNvPr descr="Décocher &quot;Autoriser le fractionnement des lignes sur plusieurs pages&quot;.&#10;Cocher &quot;Répéter en haut de chaque page en tant que ligne d'en-tête&quot;." id="412" name="Google Shape;412;p21"/>
          <p:cNvPicPr preferRelativeResize="0"/>
          <p:nvPr/>
        </p:nvPicPr>
        <p:blipFill rotWithShape="1">
          <a:blip r:embed="rId3">
            <a:alphaModFix/>
          </a:blip>
          <a:srcRect b="0" l="0" r="0" t="0"/>
          <a:stretch/>
        </p:blipFill>
        <p:spPr>
          <a:xfrm>
            <a:off x="1213204" y="2818436"/>
            <a:ext cx="2507197" cy="365792"/>
          </a:xfrm>
          <a:prstGeom prst="rect">
            <a:avLst/>
          </a:prstGeom>
          <a:noFill/>
          <a:ln>
            <a:noFill/>
          </a:ln>
        </p:spPr>
      </p:pic>
      <p:sp>
        <p:nvSpPr>
          <p:cNvPr id="413" name="Google Shape;413;p21"/>
          <p:cNvSpPr txBox="1"/>
          <p:nvPr/>
        </p:nvSpPr>
        <p:spPr>
          <a:xfrm>
            <a:off x="323528" y="3204152"/>
            <a:ext cx="3995978" cy="1311814"/>
          </a:xfrm>
          <a:prstGeom prst="rect">
            <a:avLst/>
          </a:prstGeom>
          <a:noFill/>
          <a:ln>
            <a:noFill/>
          </a:ln>
        </p:spPr>
        <p:txBody>
          <a:bodyPr anchorCtr="0" anchor="t" bIns="0" lIns="0" spcFirstLastPara="1" rIns="0" wrap="square" tIns="0">
            <a:noAutofit/>
          </a:bodyPr>
          <a:lstStyle/>
          <a:p>
            <a:pPr indent="-88900" lvl="1" marL="252000" marR="0" rtl="0" algn="l">
              <a:lnSpc>
                <a:spcPct val="100000"/>
              </a:lnSpc>
              <a:spcBef>
                <a:spcPts val="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Sélectionner tout le tableau </a:t>
            </a:r>
            <a:r>
              <a:rPr b="0" i="0" lang="fr-FR" sz="1400" u="none" cap="none" strike="noStrike">
                <a:solidFill>
                  <a:schemeClr val="dk1"/>
                </a:solidFill>
                <a:latin typeface="Arial"/>
                <a:ea typeface="Arial"/>
                <a:cs typeface="Arial"/>
                <a:sym typeface="Arial"/>
              </a:rPr>
              <a:t> </a:t>
            </a:r>
            <a:r>
              <a:rPr b="0" i="0" lang="fr-FR" sz="1400" u="none" cap="none" strike="noStrike">
                <a:solidFill>
                  <a:srgbClr val="000000"/>
                </a:solidFill>
                <a:latin typeface="Arial"/>
                <a:ea typeface="Arial"/>
                <a:cs typeface="Arial"/>
                <a:sym typeface="Arial"/>
              </a:rPr>
              <a:t>→ Clic droit</a:t>
            </a:r>
            <a:r>
              <a:rPr b="0" i="0" lang="fr-FR" sz="1400" u="none" cap="none" strike="noStrike">
                <a:solidFill>
                  <a:schemeClr val="dk1"/>
                </a:solidFill>
                <a:latin typeface="Arial"/>
                <a:ea typeface="Arial"/>
                <a:cs typeface="Arial"/>
                <a:sym typeface="Arial"/>
              </a:rPr>
              <a:t>  </a:t>
            </a:r>
            <a:r>
              <a:rPr b="0" i="0" lang="fr-FR" sz="1400" u="none" cap="none" strike="noStrike">
                <a:solidFill>
                  <a:srgbClr val="000000"/>
                </a:solidFill>
                <a:latin typeface="Arial"/>
                <a:ea typeface="Arial"/>
                <a:cs typeface="Arial"/>
                <a:sym typeface="Arial"/>
              </a:rPr>
              <a:t>→ </a:t>
            </a:r>
            <a:r>
              <a:rPr b="0" i="0" lang="fr-FR" sz="1400" u="none" cap="none" strike="noStrike">
                <a:solidFill>
                  <a:srgbClr val="00006C"/>
                </a:solidFill>
                <a:latin typeface="Arial"/>
                <a:ea typeface="Arial"/>
                <a:cs typeface="Arial"/>
                <a:sym typeface="Arial"/>
              </a:rPr>
              <a:t>Insérer une légende…</a:t>
            </a:r>
            <a:endParaRPr/>
          </a:p>
          <a:p>
            <a:pPr indent="0" lvl="1" marL="252000" marR="0" rtl="0" algn="l">
              <a:lnSpc>
                <a:spcPct val="100000"/>
              </a:lnSpc>
              <a:spcBef>
                <a:spcPts val="600"/>
              </a:spcBef>
              <a:spcAft>
                <a:spcPts val="0"/>
              </a:spcAft>
              <a:buClr>
                <a:srgbClr val="000000"/>
              </a:buClr>
              <a:buSzPts val="1400"/>
              <a:buFont typeface="Arial"/>
              <a:buNone/>
            </a:pPr>
            <a:r>
              <a:rPr b="0" i="0" lang="fr-FR" sz="1400" u="none" cap="none" strike="noStrike">
                <a:solidFill>
                  <a:srgbClr val="000000"/>
                </a:solidFill>
                <a:latin typeface="Arial"/>
                <a:ea typeface="Arial"/>
                <a:cs typeface="Arial"/>
                <a:sym typeface="Arial"/>
              </a:rPr>
              <a:t>Insérer la légende (au-dessus) puis la modifier dans le document.</a:t>
            </a:r>
            <a:endParaRPr b="0" i="0" sz="1400" u="none" cap="none" strike="noStrike">
              <a:solidFill>
                <a:schemeClr val="dk1"/>
              </a:solidFill>
              <a:latin typeface="Arial"/>
              <a:ea typeface="Arial"/>
              <a:cs typeface="Arial"/>
              <a:sym typeface="Arial"/>
            </a:endParaRPr>
          </a:p>
        </p:txBody>
      </p:sp>
      <p:pic>
        <p:nvPicPr>
          <p:cNvPr id="414" name="Google Shape;414;p21"/>
          <p:cNvPicPr preferRelativeResize="0"/>
          <p:nvPr/>
        </p:nvPicPr>
        <p:blipFill rotWithShape="1">
          <a:blip r:embed="rId4">
            <a:alphaModFix/>
          </a:blip>
          <a:srcRect b="0" l="0" r="0" t="0"/>
          <a:stretch/>
        </p:blipFill>
        <p:spPr>
          <a:xfrm>
            <a:off x="683568" y="4305694"/>
            <a:ext cx="1783235" cy="411516"/>
          </a:xfrm>
          <a:prstGeom prst="rect">
            <a:avLst/>
          </a:prstGeom>
          <a:noFill/>
          <a:ln>
            <a:noFill/>
          </a:ln>
        </p:spPr>
      </p:pic>
      <p:pic>
        <p:nvPicPr>
          <p:cNvPr id="415" name="Google Shape;415;p21"/>
          <p:cNvPicPr preferRelativeResize="0"/>
          <p:nvPr/>
        </p:nvPicPr>
        <p:blipFill rotWithShape="1">
          <a:blip r:embed="rId5">
            <a:alphaModFix/>
          </a:blip>
          <a:srcRect b="0" l="0" r="0" t="0"/>
          <a:stretch/>
        </p:blipFill>
        <p:spPr>
          <a:xfrm>
            <a:off x="2795936" y="4161268"/>
            <a:ext cx="1455546" cy="464860"/>
          </a:xfrm>
          <a:prstGeom prst="rect">
            <a:avLst/>
          </a:prstGeom>
          <a:noFill/>
          <a:ln>
            <a:noFill/>
          </a:ln>
        </p:spPr>
      </p:pic>
      <p:cxnSp>
        <p:nvCxnSpPr>
          <p:cNvPr id="416" name="Google Shape;416;p21"/>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417" name="Google Shape;417;p21"/>
          <p:cNvSpPr txBox="1"/>
          <p:nvPr>
            <p:ph idx="3" type="body"/>
          </p:nvPr>
        </p:nvSpPr>
        <p:spPr>
          <a:xfrm>
            <a:off x="4780104" y="1635646"/>
            <a:ext cx="3995978" cy="621907"/>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sz="1800"/>
              <a:t>Writer</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Tableau</a:t>
            </a:r>
            <a:r>
              <a:rPr lang="fr-FR" sz="1600"/>
              <a:t> </a:t>
            </a:r>
            <a:r>
              <a:rPr lang="fr-FR" sz="1600">
                <a:solidFill>
                  <a:srgbClr val="000000"/>
                </a:solidFill>
              </a:rPr>
              <a:t>→ </a:t>
            </a:r>
            <a:r>
              <a:rPr lang="fr-FR" sz="1600">
                <a:solidFill>
                  <a:srgbClr val="00006C"/>
                </a:solidFill>
              </a:rPr>
              <a:t>Insérer un tableau…</a:t>
            </a:r>
            <a:endParaRPr/>
          </a:p>
          <a:p>
            <a:pPr indent="0" lvl="0" marL="0" rtl="0" algn="l">
              <a:lnSpc>
                <a:spcPct val="100000"/>
              </a:lnSpc>
              <a:spcBef>
                <a:spcPts val="500"/>
              </a:spcBef>
              <a:spcAft>
                <a:spcPts val="0"/>
              </a:spcAft>
              <a:buClr>
                <a:schemeClr val="dk1"/>
              </a:buClr>
              <a:buSzPts val="1800"/>
              <a:buNone/>
            </a:pPr>
            <a:r>
              <a:t/>
            </a:r>
            <a:endParaRPr/>
          </a:p>
        </p:txBody>
      </p:sp>
      <p:pic>
        <p:nvPicPr>
          <p:cNvPr descr="Cocher les options &quot;En-tête&quot; et &quot;Répéter les lignes d'en-tête sur les nouvelles pages&quot;." id="418" name="Google Shape;418;p21"/>
          <p:cNvPicPr preferRelativeResize="0"/>
          <p:nvPr/>
        </p:nvPicPr>
        <p:blipFill rotWithShape="1">
          <a:blip r:embed="rId6">
            <a:alphaModFix/>
          </a:blip>
          <a:srcRect b="0" l="0" r="0" t="0"/>
          <a:stretch/>
        </p:blipFill>
        <p:spPr>
          <a:xfrm>
            <a:off x="5135567" y="2257553"/>
            <a:ext cx="2448272" cy="743779"/>
          </a:xfrm>
          <a:prstGeom prst="rect">
            <a:avLst/>
          </a:prstGeom>
          <a:noFill/>
          <a:ln>
            <a:noFill/>
          </a:ln>
        </p:spPr>
      </p:pic>
      <p:sp>
        <p:nvSpPr>
          <p:cNvPr id="419" name="Google Shape;419;p21"/>
          <p:cNvSpPr txBox="1"/>
          <p:nvPr/>
        </p:nvSpPr>
        <p:spPr>
          <a:xfrm>
            <a:off x="4648260" y="3096120"/>
            <a:ext cx="3995978" cy="1275830"/>
          </a:xfrm>
          <a:prstGeom prst="rect">
            <a:avLst/>
          </a:prstGeom>
          <a:noFill/>
          <a:ln>
            <a:noFill/>
          </a:ln>
        </p:spPr>
        <p:txBody>
          <a:bodyPr anchorCtr="0" anchor="t" bIns="0" lIns="0" spcFirstLastPara="1" rIns="0" wrap="square" tIns="0">
            <a:noAutofit/>
          </a:bodyPr>
          <a:lstStyle/>
          <a:p>
            <a:pPr indent="-82550" lvl="1" marL="252000" marR="0" rtl="0" algn="l">
              <a:lnSpc>
                <a:spcPct val="100000"/>
              </a:lnSpc>
              <a:spcBef>
                <a:spcPts val="0"/>
              </a:spcBef>
              <a:spcAft>
                <a:spcPts val="0"/>
              </a:spcAft>
              <a:buClr>
                <a:schemeClr val="dk1"/>
              </a:buClr>
              <a:buSzPts val="1300"/>
              <a:buFont typeface="Arial"/>
              <a:buChar char="•"/>
            </a:pPr>
            <a:r>
              <a:rPr b="0" i="0" lang="fr-FR" sz="1300" u="none" cap="none" strike="noStrike">
                <a:solidFill>
                  <a:schemeClr val="dk1"/>
                </a:solidFill>
                <a:latin typeface="Arial"/>
                <a:ea typeface="Arial"/>
                <a:cs typeface="Arial"/>
                <a:sym typeface="Arial"/>
              </a:rPr>
              <a:t>Dans le tableau </a:t>
            </a:r>
            <a:r>
              <a:rPr b="0" i="0" lang="fr-FR" sz="1300" u="none" cap="none" strike="noStrike">
                <a:solidFill>
                  <a:srgbClr val="000000"/>
                </a:solidFill>
                <a:latin typeface="Arial"/>
                <a:ea typeface="Arial"/>
                <a:cs typeface="Arial"/>
                <a:sym typeface="Arial"/>
              </a:rPr>
              <a:t>→ Clic droit</a:t>
            </a:r>
            <a:r>
              <a:rPr b="0" i="0" lang="fr-FR" sz="1300" u="none" cap="none" strike="noStrike">
                <a:solidFill>
                  <a:schemeClr val="dk1"/>
                </a:solidFill>
                <a:latin typeface="Arial"/>
                <a:ea typeface="Arial"/>
                <a:cs typeface="Arial"/>
                <a:sym typeface="Arial"/>
              </a:rPr>
              <a:t>  </a:t>
            </a:r>
            <a:r>
              <a:rPr b="0" i="0" lang="fr-FR" sz="1300" u="none" cap="none" strike="noStrike">
                <a:solidFill>
                  <a:srgbClr val="000000"/>
                </a:solidFill>
                <a:latin typeface="Arial"/>
                <a:ea typeface="Arial"/>
                <a:cs typeface="Arial"/>
                <a:sym typeface="Arial"/>
              </a:rPr>
              <a:t>→  </a:t>
            </a:r>
            <a:r>
              <a:rPr b="0" i="0" lang="fr-FR" sz="1300" u="none" cap="none" strike="noStrike">
                <a:solidFill>
                  <a:srgbClr val="00006C"/>
                </a:solidFill>
                <a:latin typeface="Arial"/>
                <a:ea typeface="Arial"/>
                <a:cs typeface="Arial"/>
                <a:sym typeface="Arial"/>
              </a:rPr>
              <a:t>Propriétés du tableau…</a:t>
            </a:r>
            <a:r>
              <a:rPr b="0" i="0" lang="fr-FR" sz="1200" u="none" cap="none" strike="noStrike">
                <a:solidFill>
                  <a:srgbClr val="00006C"/>
                </a:solidFill>
                <a:latin typeface="Arial"/>
                <a:ea typeface="Arial"/>
                <a:cs typeface="Arial"/>
                <a:sym typeface="Arial"/>
              </a:rPr>
              <a:t> </a:t>
            </a:r>
            <a:r>
              <a:rPr b="0" i="0" lang="fr-FR" sz="1200" u="none" cap="none" strike="noStrike">
                <a:solidFill>
                  <a:srgbClr val="000000"/>
                </a:solidFill>
                <a:latin typeface="Arial"/>
                <a:ea typeface="Arial"/>
                <a:cs typeface="Arial"/>
                <a:sym typeface="Arial"/>
              </a:rPr>
              <a:t>→ Onglet </a:t>
            </a:r>
            <a:r>
              <a:rPr b="0" i="0" lang="fr-FR" sz="1200" u="none" cap="none" strike="noStrike">
                <a:solidFill>
                  <a:srgbClr val="00006C"/>
                </a:solidFill>
                <a:latin typeface="Arial"/>
                <a:ea typeface="Arial"/>
                <a:cs typeface="Arial"/>
                <a:sym typeface="Arial"/>
              </a:rPr>
              <a:t>Enchaînements</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42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Dans les propriétés du  tableau, il est préférable de décocher &quot;Autoriser le fractionnement des lignes sur plusieurs pages&quot;." id="420" name="Google Shape;420;p21"/>
          <p:cNvPicPr preferRelativeResize="0"/>
          <p:nvPr/>
        </p:nvPicPr>
        <p:blipFill rotWithShape="1">
          <a:blip r:embed="rId7">
            <a:alphaModFix/>
          </a:blip>
          <a:srcRect b="0" l="0" r="0" t="0"/>
          <a:stretch/>
        </p:blipFill>
        <p:spPr>
          <a:xfrm>
            <a:off x="5205944" y="3555430"/>
            <a:ext cx="2880610" cy="213378"/>
          </a:xfrm>
          <a:prstGeom prst="rect">
            <a:avLst/>
          </a:prstGeom>
          <a:noFill/>
          <a:ln>
            <a:noFill/>
          </a:ln>
        </p:spPr>
      </p:pic>
      <p:sp>
        <p:nvSpPr>
          <p:cNvPr id="421" name="Google Shape;421;p21"/>
          <p:cNvSpPr txBox="1"/>
          <p:nvPr/>
        </p:nvSpPr>
        <p:spPr>
          <a:xfrm>
            <a:off x="4800660" y="3867894"/>
            <a:ext cx="3995978" cy="489494"/>
          </a:xfrm>
          <a:prstGeom prst="rect">
            <a:avLst/>
          </a:prstGeom>
          <a:noFill/>
          <a:ln>
            <a:noFill/>
          </a:ln>
        </p:spPr>
        <p:txBody>
          <a:bodyPr anchorCtr="0" anchor="t" bIns="0" lIns="0" spcFirstLastPara="1" rIns="0" wrap="square" tIns="0">
            <a:noAutofit/>
          </a:bodyPr>
          <a:lstStyle/>
          <a:p>
            <a:pPr indent="-76200" lvl="1" marL="252000" marR="0" rtl="0" algn="l">
              <a:lnSpc>
                <a:spcPct val="100000"/>
              </a:lnSpc>
              <a:spcBef>
                <a:spcPts val="0"/>
              </a:spcBef>
              <a:spcAft>
                <a:spcPts val="0"/>
              </a:spcAft>
              <a:buClr>
                <a:schemeClr val="dk1"/>
              </a:buClr>
              <a:buSzPts val="1200"/>
              <a:buFont typeface="Arial"/>
              <a:buChar char="•"/>
            </a:pPr>
            <a:r>
              <a:rPr b="0" i="0" lang="fr-FR" sz="1200" u="none" cap="none" strike="noStrike">
                <a:solidFill>
                  <a:schemeClr val="dk1"/>
                </a:solidFill>
                <a:latin typeface="Arial"/>
                <a:ea typeface="Arial"/>
                <a:cs typeface="Arial"/>
                <a:sym typeface="Arial"/>
              </a:rPr>
              <a:t>Dans le tableau </a:t>
            </a:r>
            <a:r>
              <a:rPr b="0" i="0" lang="fr-FR" sz="1200" u="none" cap="none" strike="noStrike">
                <a:solidFill>
                  <a:srgbClr val="000000"/>
                </a:solidFill>
                <a:latin typeface="Arial"/>
                <a:ea typeface="Arial"/>
                <a:cs typeface="Arial"/>
                <a:sym typeface="Arial"/>
              </a:rPr>
              <a:t>→ Clic droit</a:t>
            </a:r>
            <a:r>
              <a:rPr b="0" i="0" lang="fr-FR" sz="1200" u="none" cap="none" strike="noStrike">
                <a:solidFill>
                  <a:schemeClr val="dk1"/>
                </a:solidFill>
                <a:latin typeface="Arial"/>
                <a:ea typeface="Arial"/>
                <a:cs typeface="Arial"/>
                <a:sym typeface="Arial"/>
              </a:rPr>
              <a:t>  </a:t>
            </a:r>
            <a:r>
              <a:rPr b="0" i="0" lang="fr-FR" sz="1200" u="none" cap="none" strike="noStrike">
                <a:solidFill>
                  <a:srgbClr val="000000"/>
                </a:solidFill>
                <a:latin typeface="Arial"/>
                <a:ea typeface="Arial"/>
                <a:cs typeface="Arial"/>
                <a:sym typeface="Arial"/>
              </a:rPr>
              <a:t>→ </a:t>
            </a:r>
            <a:r>
              <a:rPr b="0" i="0" lang="fr-FR" sz="1200" u="none" cap="none" strike="noStrike">
                <a:solidFill>
                  <a:srgbClr val="00006C"/>
                </a:solidFill>
                <a:latin typeface="Arial"/>
                <a:ea typeface="Arial"/>
                <a:cs typeface="Arial"/>
                <a:sym typeface="Arial"/>
              </a:rPr>
              <a:t>Insérer une légende…</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42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Indiquer le titre du tableau dans le champ &quot;Légende&quot; " id="422" name="Google Shape;422;p21"/>
          <p:cNvPicPr preferRelativeResize="0"/>
          <p:nvPr/>
        </p:nvPicPr>
        <p:blipFill rotWithShape="1">
          <a:blip r:embed="rId8">
            <a:alphaModFix/>
          </a:blip>
          <a:srcRect b="0" l="0" r="0" t="0"/>
          <a:stretch/>
        </p:blipFill>
        <p:spPr>
          <a:xfrm>
            <a:off x="5333447" y="4288304"/>
            <a:ext cx="1242168" cy="464860"/>
          </a:xfrm>
          <a:prstGeom prst="rect">
            <a:avLst/>
          </a:prstGeom>
          <a:noFill/>
          <a:ln>
            <a:noFill/>
          </a:ln>
        </p:spPr>
      </p:pic>
      <p:pic>
        <p:nvPicPr>
          <p:cNvPr descr="et privilégier une position supra (au-dessus du tableau)." id="423" name="Google Shape;423;p21"/>
          <p:cNvPicPr preferRelativeResize="0"/>
          <p:nvPr/>
        </p:nvPicPr>
        <p:blipFill rotWithShape="1">
          <a:blip r:embed="rId9">
            <a:alphaModFix/>
          </a:blip>
          <a:srcRect b="0" l="0" r="0" t="0"/>
          <a:stretch/>
        </p:blipFill>
        <p:spPr>
          <a:xfrm>
            <a:off x="6694308" y="4295833"/>
            <a:ext cx="2126164" cy="2667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2"/>
          <p:cNvSpPr txBox="1"/>
          <p:nvPr>
            <p:ph idx="1" type="body"/>
          </p:nvPr>
        </p:nvSpPr>
        <p:spPr>
          <a:xfrm>
            <a:off x="359998"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chemeClr val="dk1"/>
              </a:buClr>
              <a:buSzPts val="1600"/>
              <a:buNone/>
            </a:pPr>
            <a:r>
              <a:rPr lang="fr-FR" sz="1600"/>
              <a:t>Sélectionner le texte </a:t>
            </a:r>
            <a:r>
              <a:rPr lang="fr-FR" sz="1600">
                <a:solidFill>
                  <a:srgbClr val="000000"/>
                </a:solidFill>
              </a:rPr>
              <a:t>→ </a:t>
            </a:r>
            <a:r>
              <a:rPr lang="fr-FR" sz="1600">
                <a:solidFill>
                  <a:srgbClr val="00006C"/>
                </a:solidFill>
              </a:rPr>
              <a:t>Mise en page </a:t>
            </a:r>
            <a:r>
              <a:rPr lang="fr-FR" sz="1600">
                <a:solidFill>
                  <a:srgbClr val="000000"/>
                </a:solidFill>
              </a:rPr>
              <a:t>→ </a:t>
            </a:r>
            <a:r>
              <a:rPr lang="fr-FR" sz="1600">
                <a:solidFill>
                  <a:srgbClr val="00006C"/>
                </a:solidFill>
              </a:rPr>
              <a:t>Colonnes…</a:t>
            </a:r>
            <a:endParaRPr b="0" i="0" sz="1600" u="none" strike="noStrike">
              <a:solidFill>
                <a:srgbClr val="00006C"/>
              </a:solidFill>
            </a:endParaRPr>
          </a:p>
          <a:p>
            <a:pPr indent="-88900" lvl="1" marL="252000" rtl="0" algn="l">
              <a:lnSpc>
                <a:spcPct val="100000"/>
              </a:lnSpc>
              <a:spcBef>
                <a:spcPts val="6500"/>
              </a:spcBef>
              <a:spcAft>
                <a:spcPts val="0"/>
              </a:spcAft>
              <a:buClr>
                <a:schemeClr val="dk1"/>
              </a:buClr>
              <a:buSzPts val="1400"/>
              <a:buChar char="•"/>
            </a:pPr>
            <a:r>
              <a:rPr lang="fr-FR" sz="1400"/>
              <a:t>Pour changer de colonne : </a:t>
            </a:r>
            <a:br>
              <a:rPr lang="fr-FR" sz="1400"/>
            </a:br>
            <a:r>
              <a:rPr lang="fr-FR" sz="1400">
                <a:solidFill>
                  <a:srgbClr val="00006C"/>
                </a:solidFill>
              </a:rPr>
              <a:t>Mise en page  </a:t>
            </a:r>
            <a:br>
              <a:rPr lang="fr-FR" sz="1400"/>
            </a:br>
            <a:r>
              <a:rPr lang="fr-FR" sz="1400">
                <a:solidFill>
                  <a:srgbClr val="000000"/>
                </a:solidFill>
              </a:rPr>
              <a:t>→ </a:t>
            </a:r>
            <a:r>
              <a:rPr lang="fr-FR" sz="1400">
                <a:solidFill>
                  <a:srgbClr val="00006C"/>
                </a:solidFill>
              </a:rPr>
              <a:t>Sauts de page </a:t>
            </a:r>
            <a:br>
              <a:rPr lang="fr-FR" sz="1400">
                <a:solidFill>
                  <a:srgbClr val="000000"/>
                </a:solidFill>
              </a:rPr>
            </a:br>
            <a:r>
              <a:rPr lang="fr-FR" sz="1400">
                <a:solidFill>
                  <a:srgbClr val="000000"/>
                </a:solidFill>
              </a:rPr>
              <a:t>→ </a:t>
            </a:r>
            <a:r>
              <a:rPr lang="fr-FR" sz="1400">
                <a:solidFill>
                  <a:srgbClr val="00006C"/>
                </a:solidFill>
              </a:rPr>
              <a:t>Colonne</a:t>
            </a:r>
            <a:endParaRPr/>
          </a:p>
          <a:p>
            <a:pPr indent="0" lvl="0" marL="0" rtl="0" algn="l">
              <a:lnSpc>
                <a:spcPct val="100000"/>
              </a:lnSpc>
              <a:spcBef>
                <a:spcPts val="600"/>
              </a:spcBef>
              <a:spcAft>
                <a:spcPts val="0"/>
              </a:spcAft>
              <a:buClr>
                <a:schemeClr val="dk1"/>
              </a:buClr>
              <a:buSzPts val="1800"/>
              <a:buNone/>
            </a:pPr>
            <a:r>
              <a:t/>
            </a:r>
            <a:endParaRPr/>
          </a:p>
        </p:txBody>
      </p:sp>
      <p:sp>
        <p:nvSpPr>
          <p:cNvPr id="430" name="Google Shape;430;p22"/>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Mise en forme via des colonnes</a:t>
            </a:r>
            <a:endParaRPr/>
          </a:p>
        </p:txBody>
      </p:sp>
      <p:sp>
        <p:nvSpPr>
          <p:cNvPr id="431" name="Google Shape;431;p22"/>
          <p:cNvSpPr txBox="1"/>
          <p:nvPr>
            <p:ph idx="2" type="body"/>
          </p:nvPr>
        </p:nvSpPr>
        <p:spPr>
          <a:xfrm>
            <a:off x="360363" y="1275606"/>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800"/>
              <a:buNone/>
            </a:pPr>
            <a:r>
              <a:rPr lang="fr-FR" sz="1800"/>
              <a:t>Exercice 5.2 : Remplacer le tableau de mise en forme par des « colonnes »</a:t>
            </a:r>
            <a:endParaRPr/>
          </a:p>
          <a:p>
            <a:pPr indent="0" lvl="0" marL="0" rtl="0" algn="l">
              <a:lnSpc>
                <a:spcPct val="100000"/>
              </a:lnSpc>
              <a:spcBef>
                <a:spcPts val="500"/>
              </a:spcBef>
              <a:spcAft>
                <a:spcPts val="0"/>
              </a:spcAft>
              <a:buClr>
                <a:srgbClr val="595959"/>
              </a:buClr>
              <a:buSzPts val="2000"/>
              <a:buNone/>
            </a:pPr>
            <a:r>
              <a:t/>
            </a:r>
            <a:endParaRPr/>
          </a:p>
        </p:txBody>
      </p:sp>
      <p:sp>
        <p:nvSpPr>
          <p:cNvPr id="432" name="Google Shape;432;p22"/>
          <p:cNvSpPr txBox="1"/>
          <p:nvPr>
            <p:ph idx="3" type="body"/>
          </p:nvPr>
        </p:nvSpPr>
        <p:spPr>
          <a:xfrm>
            <a:off x="4780104"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sz="1800"/>
              <a:t>Writer</a:t>
            </a:r>
            <a:endParaRPr/>
          </a:p>
          <a:p>
            <a:pPr indent="0" lvl="0" marL="0" rtl="0" algn="l">
              <a:lnSpc>
                <a:spcPct val="100000"/>
              </a:lnSpc>
              <a:spcBef>
                <a:spcPts val="500"/>
              </a:spcBef>
              <a:spcAft>
                <a:spcPts val="0"/>
              </a:spcAft>
              <a:buClr>
                <a:schemeClr val="dk1"/>
              </a:buClr>
              <a:buSzPts val="1600"/>
              <a:buNone/>
            </a:pPr>
            <a:r>
              <a:rPr lang="fr-FR" sz="1600"/>
              <a:t>Sélectionner le texte </a:t>
            </a:r>
            <a:r>
              <a:rPr lang="fr-FR" sz="1600">
                <a:solidFill>
                  <a:srgbClr val="000000"/>
                </a:solidFill>
              </a:rPr>
              <a:t>→ </a:t>
            </a:r>
            <a:r>
              <a:rPr lang="fr-FR" sz="1600">
                <a:solidFill>
                  <a:srgbClr val="00006C"/>
                </a:solidFill>
              </a:rPr>
              <a:t>Format</a:t>
            </a:r>
            <a:r>
              <a:rPr lang="fr-FR" sz="1600"/>
              <a:t> </a:t>
            </a:r>
            <a:r>
              <a:rPr lang="fr-FR" sz="1600">
                <a:solidFill>
                  <a:srgbClr val="000000"/>
                </a:solidFill>
              </a:rPr>
              <a:t>→ </a:t>
            </a:r>
            <a:r>
              <a:rPr lang="fr-FR" sz="1600">
                <a:solidFill>
                  <a:srgbClr val="00006C"/>
                </a:solidFill>
              </a:rPr>
              <a:t>Colonnes…</a:t>
            </a:r>
            <a:endParaRPr b="0" i="0" sz="1600" u="none" strike="noStrike">
              <a:solidFill>
                <a:srgbClr val="00006C"/>
              </a:solidFill>
            </a:endParaRPr>
          </a:p>
          <a:p>
            <a:pPr indent="-88900" lvl="1" marL="252000" rtl="0" algn="l">
              <a:lnSpc>
                <a:spcPct val="100000"/>
              </a:lnSpc>
              <a:spcBef>
                <a:spcPts val="7100"/>
              </a:spcBef>
              <a:spcAft>
                <a:spcPts val="0"/>
              </a:spcAft>
              <a:buClr>
                <a:schemeClr val="dk1"/>
              </a:buClr>
              <a:buSzPts val="1400"/>
              <a:buChar char="•"/>
            </a:pPr>
            <a:r>
              <a:rPr lang="fr-FR" sz="1400"/>
              <a:t>Pour passer à la colonne suivante : </a:t>
            </a:r>
            <a:r>
              <a:rPr lang="fr-FR" sz="1400">
                <a:solidFill>
                  <a:srgbClr val="00006C"/>
                </a:solidFill>
              </a:rPr>
              <a:t>Insertion</a:t>
            </a:r>
            <a:r>
              <a:rPr lang="fr-FR" sz="1400"/>
              <a:t> </a:t>
            </a:r>
            <a:r>
              <a:rPr lang="fr-FR" sz="1400">
                <a:solidFill>
                  <a:srgbClr val="000000"/>
                </a:solidFill>
              </a:rPr>
              <a:t>→ </a:t>
            </a:r>
            <a:r>
              <a:rPr lang="fr-FR" sz="1400">
                <a:solidFill>
                  <a:srgbClr val="00006C"/>
                </a:solidFill>
              </a:rPr>
              <a:t>Autres sauts → Insérer un saut de colonne</a:t>
            </a:r>
            <a:endParaRPr/>
          </a:p>
          <a:p>
            <a:pPr indent="0" lvl="0" marL="0" rtl="0" algn="l">
              <a:lnSpc>
                <a:spcPct val="100000"/>
              </a:lnSpc>
              <a:spcBef>
                <a:spcPts val="4200"/>
              </a:spcBef>
              <a:spcAft>
                <a:spcPts val="0"/>
              </a:spcAft>
              <a:buClr>
                <a:schemeClr val="dk1"/>
              </a:buClr>
              <a:buSzPts val="1400"/>
              <a:buNone/>
            </a:pPr>
            <a:r>
              <a:t/>
            </a:r>
            <a:endParaRPr sz="1400"/>
          </a:p>
          <a:p>
            <a:pPr indent="0" lvl="0" marL="0" rtl="0" algn="l">
              <a:lnSpc>
                <a:spcPct val="100000"/>
              </a:lnSpc>
              <a:spcBef>
                <a:spcPts val="500"/>
              </a:spcBef>
              <a:spcAft>
                <a:spcPts val="0"/>
              </a:spcAft>
              <a:buClr>
                <a:schemeClr val="dk1"/>
              </a:buClr>
              <a:buSzPts val="1800"/>
              <a:buNone/>
            </a:pPr>
            <a:r>
              <a:t/>
            </a:r>
            <a:endParaRPr/>
          </a:p>
        </p:txBody>
      </p:sp>
      <p:sp>
        <p:nvSpPr>
          <p:cNvPr id="433" name="Google Shape;433;p2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34" name="Google Shape;434;p2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35" name="Google Shape;435;p2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36" name="Google Shape;436;p22"/>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pic>
        <p:nvPicPr>
          <p:cNvPr id="437" name="Google Shape;437;p22"/>
          <p:cNvPicPr preferRelativeResize="0"/>
          <p:nvPr/>
        </p:nvPicPr>
        <p:blipFill rotWithShape="1">
          <a:blip r:embed="rId3">
            <a:alphaModFix/>
          </a:blip>
          <a:srcRect b="0" l="0" r="0" t="0"/>
          <a:stretch/>
        </p:blipFill>
        <p:spPr>
          <a:xfrm>
            <a:off x="1691680" y="2397567"/>
            <a:ext cx="2270957" cy="678239"/>
          </a:xfrm>
          <a:prstGeom prst="rect">
            <a:avLst/>
          </a:prstGeom>
          <a:noFill/>
          <a:ln>
            <a:noFill/>
          </a:ln>
        </p:spPr>
      </p:pic>
      <p:pic>
        <p:nvPicPr>
          <p:cNvPr id="438" name="Google Shape;438;p22"/>
          <p:cNvPicPr preferRelativeResize="0"/>
          <p:nvPr/>
        </p:nvPicPr>
        <p:blipFill rotWithShape="1">
          <a:blip r:embed="rId4">
            <a:alphaModFix/>
          </a:blip>
          <a:srcRect b="0" l="0" r="0" t="0"/>
          <a:stretch/>
        </p:blipFill>
        <p:spPr>
          <a:xfrm>
            <a:off x="3039155" y="3312582"/>
            <a:ext cx="1028789" cy="1364098"/>
          </a:xfrm>
          <a:prstGeom prst="rect">
            <a:avLst/>
          </a:prstGeom>
          <a:noFill/>
          <a:ln>
            <a:noFill/>
          </a:ln>
        </p:spPr>
      </p:pic>
      <p:pic>
        <p:nvPicPr>
          <p:cNvPr id="439" name="Google Shape;439;p22"/>
          <p:cNvPicPr preferRelativeResize="0"/>
          <p:nvPr/>
        </p:nvPicPr>
        <p:blipFill rotWithShape="1">
          <a:blip r:embed="rId5">
            <a:alphaModFix/>
          </a:blip>
          <a:srcRect b="0" l="0" r="0" t="0"/>
          <a:stretch/>
        </p:blipFill>
        <p:spPr>
          <a:xfrm>
            <a:off x="6192180" y="2417380"/>
            <a:ext cx="2520280" cy="946458"/>
          </a:xfrm>
          <a:prstGeom prst="rect">
            <a:avLst/>
          </a:prstGeom>
          <a:noFill/>
          <a:ln>
            <a:noFill/>
          </a:ln>
        </p:spPr>
      </p:pic>
      <p:pic>
        <p:nvPicPr>
          <p:cNvPr id="440" name="Google Shape;440;p22"/>
          <p:cNvPicPr preferRelativeResize="0"/>
          <p:nvPr/>
        </p:nvPicPr>
        <p:blipFill rotWithShape="1">
          <a:blip r:embed="rId6">
            <a:alphaModFix/>
          </a:blip>
          <a:srcRect b="0" l="0" r="0" t="0"/>
          <a:stretch/>
        </p:blipFill>
        <p:spPr>
          <a:xfrm>
            <a:off x="5577009" y="4104336"/>
            <a:ext cx="2916247" cy="610515"/>
          </a:xfrm>
          <a:prstGeom prst="rect">
            <a:avLst/>
          </a:prstGeom>
          <a:noFill/>
          <a:ln>
            <a:noFill/>
          </a:ln>
        </p:spPr>
      </p:pic>
      <p:cxnSp>
        <p:nvCxnSpPr>
          <p:cNvPr id="441" name="Google Shape;441;p22"/>
          <p:cNvCxnSpPr/>
          <p:nvPr/>
        </p:nvCxnSpPr>
        <p:spPr>
          <a:xfrm>
            <a:off x="4427984" y="1836000"/>
            <a:ext cx="0" cy="2823982"/>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48" name="Google Shape;448;p2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49" name="Google Shape;449;p2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50" name="Google Shape;450;p23"/>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451" name="Google Shape;451;p2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Style et gestion des « espaces »</a:t>
            </a:r>
            <a:endParaRPr/>
          </a:p>
        </p:txBody>
      </p:sp>
      <p:sp>
        <p:nvSpPr>
          <p:cNvPr id="452" name="Google Shape;452;p23"/>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Types de style « paragraphe » et « caractère »</a:t>
            </a:r>
            <a:endParaRPr/>
          </a:p>
        </p:txBody>
      </p:sp>
      <p:sp>
        <p:nvSpPr>
          <p:cNvPr id="453" name="Google Shape;453;p23"/>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b="1" lang="fr-FR"/>
              <a:t>Type de style « caractère » </a:t>
            </a:r>
            <a:r>
              <a:rPr lang="fr-FR"/>
              <a:t>:</a:t>
            </a:r>
            <a:endParaRPr/>
          </a:p>
          <a:p>
            <a:pPr indent="-101600" lvl="1" marL="252000" rtl="0" algn="l">
              <a:lnSpc>
                <a:spcPct val="100000"/>
              </a:lnSpc>
              <a:spcBef>
                <a:spcPts val="1100"/>
              </a:spcBef>
              <a:spcAft>
                <a:spcPts val="0"/>
              </a:spcAft>
              <a:buClr>
                <a:schemeClr val="dk1"/>
              </a:buClr>
              <a:buSzPts val="1600"/>
              <a:buChar char="•"/>
            </a:pPr>
            <a:r>
              <a:rPr lang="fr-FR"/>
              <a:t>Action sur la portion de texte choisie ;</a:t>
            </a:r>
            <a:endParaRPr/>
          </a:p>
          <a:p>
            <a:pPr indent="-101600" lvl="1" marL="252000" rtl="0" algn="l">
              <a:lnSpc>
                <a:spcPct val="100000"/>
              </a:lnSpc>
              <a:spcBef>
                <a:spcPts val="1200"/>
              </a:spcBef>
              <a:spcAft>
                <a:spcPts val="0"/>
              </a:spcAft>
              <a:buClr>
                <a:schemeClr val="dk1"/>
              </a:buClr>
              <a:buSzPts val="1600"/>
              <a:buChar char="•"/>
            </a:pPr>
            <a:r>
              <a:rPr lang="fr-FR"/>
              <a:t>N’intervient pas dans la gestion des espaces.</a:t>
            </a:r>
            <a:endParaRPr/>
          </a:p>
          <a:p>
            <a:pPr indent="0" lvl="0" marL="0" rtl="0" algn="l">
              <a:lnSpc>
                <a:spcPct val="100000"/>
              </a:lnSpc>
              <a:spcBef>
                <a:spcPts val="600"/>
              </a:spcBef>
              <a:spcAft>
                <a:spcPts val="0"/>
              </a:spcAft>
              <a:buClr>
                <a:schemeClr val="dk1"/>
              </a:buClr>
              <a:buSzPts val="1800"/>
              <a:buNone/>
            </a:pPr>
            <a:r>
              <a:rPr b="1" lang="fr-FR"/>
              <a:t>Type de style « paragraphe » </a:t>
            </a:r>
            <a:r>
              <a:rPr lang="fr-FR"/>
              <a:t>:</a:t>
            </a:r>
            <a:endParaRPr/>
          </a:p>
          <a:p>
            <a:pPr indent="-101600" lvl="1" marL="252000" rtl="0" algn="l">
              <a:lnSpc>
                <a:spcPct val="100000"/>
              </a:lnSpc>
              <a:spcBef>
                <a:spcPts val="1100"/>
              </a:spcBef>
              <a:spcAft>
                <a:spcPts val="0"/>
              </a:spcAft>
              <a:buClr>
                <a:schemeClr val="dk1"/>
              </a:buClr>
              <a:buSzPts val="1600"/>
              <a:buChar char="•"/>
            </a:pPr>
            <a:r>
              <a:rPr lang="fr-FR"/>
              <a:t>Action sur l’ensemble du paragraphe (texte entre 2 retours à la ligne) ;</a:t>
            </a:r>
            <a:endParaRPr/>
          </a:p>
          <a:p>
            <a:pPr indent="-101600" lvl="1" marL="252000" rtl="0" algn="l">
              <a:lnSpc>
                <a:spcPct val="100000"/>
              </a:lnSpc>
              <a:spcBef>
                <a:spcPts val="1200"/>
              </a:spcBef>
              <a:spcAft>
                <a:spcPts val="0"/>
              </a:spcAft>
              <a:buClr>
                <a:schemeClr val="dk1"/>
              </a:buClr>
              <a:buSzPts val="1600"/>
              <a:buChar char="•"/>
            </a:pPr>
            <a:r>
              <a:rPr lang="fr-FR"/>
              <a:t>Gestion des espaces avant (au-dessus) et après (sous) le paragraphe.</a:t>
            </a:r>
            <a:endParaRPr/>
          </a:p>
          <a:p>
            <a:pPr indent="0" lvl="0" marL="0" rtl="0" algn="l">
              <a:lnSpc>
                <a:spcPct val="100000"/>
              </a:lnSpc>
              <a:spcBef>
                <a:spcPts val="6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a:p>
            <a:pPr indent="0" lvl="1" marL="252000" rtl="0" algn="l">
              <a:lnSpc>
                <a:spcPct val="100000"/>
              </a:lnSpc>
              <a:spcBef>
                <a:spcPts val="1100"/>
              </a:spcBef>
              <a:spcAft>
                <a:spcPts val="0"/>
              </a:spcAft>
              <a:buClr>
                <a:schemeClr val="dk1"/>
              </a:buClr>
              <a:buSzPts val="16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60" name="Google Shape;460;p2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61" name="Google Shape;461;p2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62" name="Google Shape;462;p24"/>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463" name="Google Shape;463;p24"/>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Styles, espaces et lecteurs d’écran</a:t>
            </a:r>
            <a:endParaRPr/>
          </a:p>
        </p:txBody>
      </p:sp>
      <p:sp>
        <p:nvSpPr>
          <p:cNvPr id="464" name="Google Shape;464;p24"/>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Lecteurs d’écran et restitution</a:t>
            </a:r>
            <a:endParaRPr/>
          </a:p>
        </p:txBody>
      </p:sp>
      <p:sp>
        <p:nvSpPr>
          <p:cNvPr id="465" name="Google Shape;465;p24"/>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Les espaces et les sauts de paragraphe (</a:t>
            </a:r>
            <a:r>
              <a:rPr lang="fr-FR">
                <a:highlight>
                  <a:srgbClr val="2CFFC8"/>
                </a:highlight>
              </a:rPr>
              <a:t>Entrée</a:t>
            </a:r>
            <a:r>
              <a:rPr lang="fr-FR"/>
              <a:t>) sont interprétés par les lecteurs d’écran :</a:t>
            </a:r>
            <a:endParaRPr/>
          </a:p>
          <a:p>
            <a:pPr indent="-101600" lvl="1" marL="252000" rtl="0" algn="l">
              <a:lnSpc>
                <a:spcPct val="100000"/>
              </a:lnSpc>
              <a:spcBef>
                <a:spcPts val="500"/>
              </a:spcBef>
              <a:spcAft>
                <a:spcPts val="0"/>
              </a:spcAft>
              <a:buClr>
                <a:schemeClr val="dk1"/>
              </a:buClr>
              <a:buSzPts val="1600"/>
              <a:buChar char="•"/>
            </a:pPr>
            <a:r>
              <a:rPr lang="fr-FR"/>
              <a:t>les paragraphes vides et les successions d’espace sont à proscrire.</a:t>
            </a:r>
            <a:endParaRPr/>
          </a:p>
          <a:p>
            <a:pPr indent="0" lvl="0" marL="0" rtl="0" algn="l">
              <a:lnSpc>
                <a:spcPct val="100000"/>
              </a:lnSpc>
              <a:spcBef>
                <a:spcPts val="1200"/>
              </a:spcBef>
              <a:spcAft>
                <a:spcPts val="0"/>
              </a:spcAft>
              <a:buClr>
                <a:schemeClr val="dk1"/>
              </a:buClr>
              <a:buSzPts val="1800"/>
              <a:buNone/>
            </a:pPr>
            <a:r>
              <a:rPr lang="fr-FR"/>
              <a:t>Les « formatages » directs ne sont pas restitués par les lecteurs d’écran :</a:t>
            </a:r>
            <a:endParaRPr/>
          </a:p>
          <a:p>
            <a:pPr indent="-101600" lvl="1" marL="252000" rtl="0" algn="l">
              <a:lnSpc>
                <a:spcPct val="100000"/>
              </a:lnSpc>
              <a:spcBef>
                <a:spcPts val="500"/>
              </a:spcBef>
              <a:spcAft>
                <a:spcPts val="0"/>
              </a:spcAft>
              <a:buClr>
                <a:schemeClr val="dk1"/>
              </a:buClr>
              <a:buSzPts val="1600"/>
              <a:buChar char="•"/>
            </a:pPr>
            <a:r>
              <a:rPr lang="fr-FR"/>
              <a:t>Exemple : mise en gras, en italique, mise couleur :</a:t>
            </a:r>
            <a:endParaRPr/>
          </a:p>
          <a:p>
            <a:pPr indent="-88900" lvl="2" marL="432000" rtl="0" algn="l">
              <a:lnSpc>
                <a:spcPct val="100000"/>
              </a:lnSpc>
              <a:spcBef>
                <a:spcPts val="700"/>
              </a:spcBef>
              <a:spcAft>
                <a:spcPts val="0"/>
              </a:spcAft>
              <a:buClr>
                <a:schemeClr val="dk1"/>
              </a:buClr>
              <a:buSzPts val="1400"/>
              <a:buChar char="•"/>
            </a:pPr>
            <a:r>
              <a:rPr lang="fr-FR"/>
              <a:t>Y associer un style spécifique (de paragraphe ou de caractère selon les besoins).</a:t>
            </a:r>
            <a:endParaRPr/>
          </a:p>
          <a:p>
            <a:pPr indent="-101600" lvl="1" marL="252000" rtl="0" algn="l">
              <a:lnSpc>
                <a:spcPct val="100000"/>
              </a:lnSpc>
              <a:spcBef>
                <a:spcPts val="700"/>
              </a:spcBef>
              <a:spcAft>
                <a:spcPts val="0"/>
              </a:spcAft>
              <a:buClr>
                <a:schemeClr val="dk1"/>
              </a:buClr>
              <a:buSzPts val="1600"/>
              <a:buChar char="•"/>
            </a:pPr>
            <a:r>
              <a:rPr lang="fr-FR"/>
              <a:t>Le retour à la ligne par </a:t>
            </a:r>
            <a:r>
              <a:rPr lang="fr-FR">
                <a:highlight>
                  <a:srgbClr val="2CFFC8"/>
                </a:highlight>
              </a:rPr>
              <a:t>Maj</a:t>
            </a:r>
            <a:r>
              <a:rPr lang="fr-FR"/>
              <a:t> + </a:t>
            </a:r>
            <a:r>
              <a:rPr lang="fr-FR">
                <a:highlight>
                  <a:srgbClr val="2CFFC8"/>
                </a:highlight>
              </a:rPr>
              <a:t>Entrée</a:t>
            </a:r>
            <a:r>
              <a:rPr lang="fr-FR"/>
              <a:t> est ignoré par un lecteur d’écran</a:t>
            </a:r>
            <a:endParaRPr/>
          </a:p>
          <a:p>
            <a:pPr indent="-88900" lvl="2" marL="432000" rtl="0" algn="l">
              <a:lnSpc>
                <a:spcPct val="100000"/>
              </a:lnSpc>
              <a:spcBef>
                <a:spcPts val="700"/>
              </a:spcBef>
              <a:spcAft>
                <a:spcPts val="0"/>
              </a:spcAft>
              <a:buClr>
                <a:schemeClr val="dk1"/>
              </a:buClr>
              <a:buSzPts val="1400"/>
              <a:buChar char="•"/>
            </a:pPr>
            <a:r>
              <a:rPr lang="fr-FR"/>
              <a:t>Sans espace, le dernier mot de la première ligne et le premier de la suivante n’en font qu’un pour le lecteur d’écran.</a:t>
            </a:r>
            <a:endParaRPr/>
          </a:p>
          <a:p>
            <a:pPr indent="0" lvl="0" marL="0" rtl="0" algn="l">
              <a:lnSpc>
                <a:spcPct val="100000"/>
              </a:lnSpc>
              <a:spcBef>
                <a:spcPts val="1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a:p>
            <a:pPr indent="0" lvl="1" marL="252000" rtl="0" algn="l">
              <a:lnSpc>
                <a:spcPct val="100000"/>
              </a:lnSpc>
              <a:spcBef>
                <a:spcPts val="1100"/>
              </a:spcBef>
              <a:spcAft>
                <a:spcPts val="0"/>
              </a:spcAft>
              <a:buClr>
                <a:schemeClr val="dk1"/>
              </a:buClr>
              <a:buSzPts val="16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5"/>
          <p:cNvSpPr txBox="1"/>
          <p:nvPr>
            <p:ph idx="1" type="body"/>
          </p:nvPr>
        </p:nvSpPr>
        <p:spPr>
          <a:xfrm>
            <a:off x="359998"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Accueil</a:t>
            </a:r>
            <a:r>
              <a:rPr lang="fr-FR" sz="1600"/>
              <a:t> </a:t>
            </a:r>
            <a:r>
              <a:rPr lang="fr-FR" sz="1600">
                <a:solidFill>
                  <a:srgbClr val="000000"/>
                </a:solidFill>
              </a:rPr>
              <a:t>→ </a:t>
            </a:r>
            <a:r>
              <a:rPr lang="fr-FR" sz="1600">
                <a:solidFill>
                  <a:srgbClr val="00006C"/>
                </a:solidFill>
              </a:rPr>
              <a:t>Paragraphe</a:t>
            </a:r>
            <a:r>
              <a:rPr lang="fr-FR" sz="1600">
                <a:solidFill>
                  <a:srgbClr val="000000"/>
                </a:solidFill>
              </a:rPr>
              <a:t> → </a:t>
            </a:r>
            <a:r>
              <a:rPr lang="fr-FR" sz="1600">
                <a:solidFill>
                  <a:srgbClr val="00006C"/>
                </a:solidFill>
              </a:rPr>
              <a:t>Afficher tout</a:t>
            </a:r>
            <a:endParaRPr b="0" i="0" sz="1600" u="none" strike="noStrike">
              <a:solidFill>
                <a:srgbClr val="00006C"/>
              </a:solidFill>
            </a:endParaRPr>
          </a:p>
          <a:p>
            <a:pPr indent="-88900" lvl="1" marL="252000" rtl="0" algn="l">
              <a:lnSpc>
                <a:spcPct val="100000"/>
              </a:lnSpc>
              <a:spcBef>
                <a:spcPts val="3500"/>
              </a:spcBef>
              <a:spcAft>
                <a:spcPts val="0"/>
              </a:spcAft>
              <a:buClr>
                <a:schemeClr val="dk1"/>
              </a:buClr>
              <a:buSzPts val="1400"/>
              <a:buChar char="•"/>
            </a:pPr>
            <a:r>
              <a:rPr lang="fr-FR" sz="1400"/>
              <a:t>Identification des :</a:t>
            </a:r>
            <a:endParaRPr/>
          </a:p>
          <a:p>
            <a:pPr indent="-76200" lvl="2" marL="432000" rtl="0" algn="l">
              <a:lnSpc>
                <a:spcPct val="100000"/>
              </a:lnSpc>
              <a:spcBef>
                <a:spcPts val="600"/>
              </a:spcBef>
              <a:spcAft>
                <a:spcPts val="0"/>
              </a:spcAft>
              <a:buClr>
                <a:schemeClr val="dk1"/>
              </a:buClr>
              <a:buSzPts val="1200"/>
              <a:buChar char="•"/>
            </a:pPr>
            <a:r>
              <a:rPr lang="fr-FR" sz="1200"/>
              <a:t>Sauts : </a:t>
            </a:r>
            <a:r>
              <a:rPr b="1" lang="fr-FR" sz="1200">
                <a:solidFill>
                  <a:schemeClr val="accent6"/>
                </a:solidFill>
                <a:latin typeface="Arial"/>
                <a:ea typeface="Arial"/>
                <a:cs typeface="Arial"/>
                <a:sym typeface="Arial"/>
              </a:rPr>
              <a:t>¶</a:t>
            </a:r>
            <a:endParaRPr sz="1200">
              <a:solidFill>
                <a:schemeClr val="accent6"/>
              </a:solidFill>
            </a:endParaRPr>
          </a:p>
          <a:p>
            <a:pPr indent="-76200" lvl="2" marL="432000" rtl="0" algn="l">
              <a:lnSpc>
                <a:spcPct val="100000"/>
              </a:lnSpc>
              <a:spcBef>
                <a:spcPts val="700"/>
              </a:spcBef>
              <a:spcAft>
                <a:spcPts val="0"/>
              </a:spcAft>
              <a:buClr>
                <a:schemeClr val="dk1"/>
              </a:buClr>
              <a:buSzPts val="1200"/>
              <a:buChar char="•"/>
            </a:pPr>
            <a:r>
              <a:rPr lang="fr-FR" sz="1200"/>
              <a:t>Retour à la ligne : 	</a:t>
            </a:r>
            <a:r>
              <a:rPr lang="fr-FR" sz="1600">
                <a:solidFill>
                  <a:schemeClr val="accent6"/>
                </a:solidFill>
              </a:rPr>
              <a:t>↵</a:t>
            </a:r>
            <a:endParaRPr sz="1200">
              <a:solidFill>
                <a:schemeClr val="accent6"/>
              </a:solidFill>
            </a:endParaRPr>
          </a:p>
          <a:p>
            <a:pPr indent="-69850" lvl="3" marL="612000" rtl="0" algn="l">
              <a:lnSpc>
                <a:spcPct val="100000"/>
              </a:lnSpc>
              <a:spcBef>
                <a:spcPts val="700"/>
              </a:spcBef>
              <a:spcAft>
                <a:spcPts val="0"/>
              </a:spcAft>
              <a:buClr>
                <a:schemeClr val="dk1"/>
              </a:buClr>
              <a:buSzPts val="1100"/>
              <a:buChar char="•"/>
            </a:pPr>
            <a:r>
              <a:rPr lang="fr-FR" sz="1100"/>
              <a:t>Avec espace avant : </a:t>
            </a:r>
            <a:r>
              <a:rPr lang="fr-FR" sz="1400">
                <a:solidFill>
                  <a:schemeClr val="accent6"/>
                </a:solidFill>
                <a:latin typeface="Arial"/>
                <a:ea typeface="Arial"/>
                <a:cs typeface="Arial"/>
                <a:sym typeface="Arial"/>
              </a:rPr>
              <a:t>·</a:t>
            </a:r>
            <a:r>
              <a:rPr lang="fr-FR" sz="1400">
                <a:solidFill>
                  <a:schemeClr val="accent6"/>
                </a:solidFill>
              </a:rPr>
              <a:t>↵</a:t>
            </a:r>
            <a:endParaRPr sz="1100"/>
          </a:p>
          <a:p>
            <a:pPr indent="-76200" lvl="2" marL="432000" rtl="0" algn="l">
              <a:lnSpc>
                <a:spcPct val="100000"/>
              </a:lnSpc>
              <a:spcBef>
                <a:spcPts val="700"/>
              </a:spcBef>
              <a:spcAft>
                <a:spcPts val="0"/>
              </a:spcAft>
              <a:buClr>
                <a:schemeClr val="dk1"/>
              </a:buClr>
              <a:buSzPts val="1200"/>
              <a:buChar char="•"/>
            </a:pPr>
            <a:r>
              <a:rPr lang="fr-FR" sz="1200"/>
              <a:t>Tabulation : </a:t>
            </a:r>
            <a:r>
              <a:rPr lang="fr-FR" sz="1600"/>
              <a:t>→</a:t>
            </a:r>
            <a:endParaRPr sz="1200"/>
          </a:p>
          <a:p>
            <a:pPr indent="-76200" lvl="2" marL="432000" rtl="0" algn="l">
              <a:lnSpc>
                <a:spcPct val="100000"/>
              </a:lnSpc>
              <a:spcBef>
                <a:spcPts val="700"/>
              </a:spcBef>
              <a:spcAft>
                <a:spcPts val="0"/>
              </a:spcAft>
              <a:buClr>
                <a:schemeClr val="dk1"/>
              </a:buClr>
              <a:buSzPts val="1200"/>
              <a:buChar char="•"/>
            </a:pPr>
            <a:r>
              <a:rPr lang="fr-FR" sz="1200"/>
              <a:t>Espaces successifs : </a:t>
            </a:r>
            <a:r>
              <a:rPr lang="fr-FR" sz="1200">
                <a:solidFill>
                  <a:schemeClr val="accent6"/>
                </a:solidFill>
                <a:latin typeface="Arial"/>
                <a:ea typeface="Arial"/>
                <a:cs typeface="Arial"/>
                <a:sym typeface="Arial"/>
              </a:rPr>
              <a:t>····</a:t>
            </a:r>
            <a:endParaRPr sz="1200"/>
          </a:p>
          <a:p>
            <a:pPr indent="0" lvl="0" marL="0" rtl="0" algn="l">
              <a:lnSpc>
                <a:spcPct val="100000"/>
              </a:lnSpc>
              <a:spcBef>
                <a:spcPts val="100"/>
              </a:spcBef>
              <a:spcAft>
                <a:spcPts val="0"/>
              </a:spcAft>
              <a:buClr>
                <a:schemeClr val="dk1"/>
              </a:buClr>
              <a:buSzPts val="1800"/>
              <a:buNone/>
            </a:pPr>
            <a:r>
              <a:t/>
            </a:r>
            <a:endParaRPr/>
          </a:p>
        </p:txBody>
      </p:sp>
      <p:sp>
        <p:nvSpPr>
          <p:cNvPr id="472" name="Google Shape;472;p25"/>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Mise en forme et gestion des espaces</a:t>
            </a:r>
            <a:endParaRPr/>
          </a:p>
        </p:txBody>
      </p:sp>
      <p:sp>
        <p:nvSpPr>
          <p:cNvPr id="473" name="Google Shape;473;p25"/>
          <p:cNvSpPr txBox="1"/>
          <p:nvPr>
            <p:ph idx="2" type="body"/>
          </p:nvPr>
        </p:nvSpPr>
        <p:spPr>
          <a:xfrm>
            <a:off x="360363" y="1203598"/>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800"/>
              <a:buNone/>
            </a:pPr>
            <a:r>
              <a:rPr lang="fr-FR" sz="1800"/>
              <a:t>Exercice 6 : Activer les marques de formatage et gérer les espaces identifiés</a:t>
            </a:r>
            <a:endParaRPr/>
          </a:p>
          <a:p>
            <a:pPr indent="0" lvl="0" marL="0" rtl="0" algn="l">
              <a:lnSpc>
                <a:spcPct val="100000"/>
              </a:lnSpc>
              <a:spcBef>
                <a:spcPts val="500"/>
              </a:spcBef>
              <a:spcAft>
                <a:spcPts val="0"/>
              </a:spcAft>
              <a:buClr>
                <a:srgbClr val="595959"/>
              </a:buClr>
              <a:buSzPts val="2000"/>
              <a:buNone/>
            </a:pPr>
            <a:r>
              <a:t/>
            </a:r>
            <a:endParaRPr/>
          </a:p>
        </p:txBody>
      </p:sp>
      <p:sp>
        <p:nvSpPr>
          <p:cNvPr id="474" name="Google Shape;474;p25"/>
          <p:cNvSpPr txBox="1"/>
          <p:nvPr>
            <p:ph idx="3" type="body"/>
          </p:nvPr>
        </p:nvSpPr>
        <p:spPr>
          <a:xfrm>
            <a:off x="4780104" y="1707654"/>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sz="1800"/>
              <a:t>Writer</a:t>
            </a:r>
            <a:endParaRPr/>
          </a:p>
          <a:p>
            <a:pPr indent="0" lvl="0" marL="0" rtl="0" algn="l">
              <a:lnSpc>
                <a:spcPct val="100000"/>
              </a:lnSpc>
              <a:spcBef>
                <a:spcPts val="500"/>
              </a:spcBef>
              <a:spcAft>
                <a:spcPts val="0"/>
              </a:spcAft>
              <a:buClr>
                <a:srgbClr val="000000"/>
              </a:buClr>
              <a:buSzPts val="1800"/>
              <a:buNone/>
            </a:pPr>
            <a:r>
              <a:rPr b="0" i="0" lang="fr-FR" sz="1800" u="none" strike="noStrike">
                <a:solidFill>
                  <a:srgbClr val="000000"/>
                </a:solidFill>
                <a:latin typeface="Arial"/>
                <a:ea typeface="Arial"/>
                <a:cs typeface="Arial"/>
                <a:sym typeface="Arial"/>
              </a:rPr>
              <a:t>Activer les marques de formatage</a:t>
            </a:r>
            <a:endParaRPr b="0" i="0" sz="1800" u="none" strike="noStrike">
              <a:solidFill>
                <a:srgbClr val="000000"/>
              </a:solidFill>
              <a:latin typeface="Lucida Sans"/>
              <a:ea typeface="Lucida Sans"/>
              <a:cs typeface="Lucida Sans"/>
              <a:sym typeface="Lucida Sans"/>
            </a:endParaRPr>
          </a:p>
          <a:p>
            <a:pPr indent="-88900" lvl="1" marL="252000" rtl="0" algn="l">
              <a:lnSpc>
                <a:spcPct val="100000"/>
              </a:lnSpc>
              <a:spcBef>
                <a:spcPts val="3500"/>
              </a:spcBef>
              <a:spcAft>
                <a:spcPts val="0"/>
              </a:spcAft>
              <a:buClr>
                <a:schemeClr val="dk1"/>
              </a:buClr>
              <a:buSzPts val="1400"/>
              <a:buChar char="•"/>
            </a:pPr>
            <a:r>
              <a:rPr lang="fr-FR" sz="1400"/>
              <a:t>Identification des :</a:t>
            </a:r>
            <a:endParaRPr/>
          </a:p>
          <a:p>
            <a:pPr indent="-76200" lvl="2" marL="432000" rtl="0" algn="l">
              <a:lnSpc>
                <a:spcPct val="100000"/>
              </a:lnSpc>
              <a:spcBef>
                <a:spcPts val="600"/>
              </a:spcBef>
              <a:spcAft>
                <a:spcPts val="0"/>
              </a:spcAft>
              <a:buClr>
                <a:schemeClr val="dk1"/>
              </a:buClr>
              <a:buSzPts val="1200"/>
              <a:buChar char="•"/>
            </a:pPr>
            <a:r>
              <a:rPr lang="fr-FR" sz="1200"/>
              <a:t>Sauts : </a:t>
            </a:r>
            <a:r>
              <a:rPr b="1" lang="fr-FR" sz="1200">
                <a:solidFill>
                  <a:srgbClr val="268BD2"/>
                </a:solidFill>
                <a:latin typeface="Arial"/>
                <a:ea typeface="Arial"/>
                <a:cs typeface="Arial"/>
                <a:sym typeface="Arial"/>
              </a:rPr>
              <a:t>¶</a:t>
            </a:r>
            <a:endParaRPr sz="1200">
              <a:solidFill>
                <a:srgbClr val="268BD2"/>
              </a:solidFill>
            </a:endParaRPr>
          </a:p>
          <a:p>
            <a:pPr indent="-76200" lvl="2" marL="432000" rtl="0" algn="l">
              <a:lnSpc>
                <a:spcPct val="100000"/>
              </a:lnSpc>
              <a:spcBef>
                <a:spcPts val="700"/>
              </a:spcBef>
              <a:spcAft>
                <a:spcPts val="0"/>
              </a:spcAft>
              <a:buClr>
                <a:schemeClr val="dk1"/>
              </a:buClr>
              <a:buSzPts val="1200"/>
              <a:buChar char="•"/>
            </a:pPr>
            <a:r>
              <a:rPr lang="fr-FR" sz="1200"/>
              <a:t>Retour à la ligne : 	</a:t>
            </a:r>
            <a:r>
              <a:rPr lang="fr-FR" sz="1600">
                <a:solidFill>
                  <a:srgbClr val="268BD2"/>
                </a:solidFill>
              </a:rPr>
              <a:t>↵</a:t>
            </a:r>
            <a:endParaRPr sz="1200">
              <a:solidFill>
                <a:srgbClr val="268BD2"/>
              </a:solidFill>
            </a:endParaRPr>
          </a:p>
          <a:p>
            <a:pPr indent="-69850" lvl="3" marL="612000" rtl="0" algn="l">
              <a:lnSpc>
                <a:spcPct val="100000"/>
              </a:lnSpc>
              <a:spcBef>
                <a:spcPts val="700"/>
              </a:spcBef>
              <a:spcAft>
                <a:spcPts val="0"/>
              </a:spcAft>
              <a:buClr>
                <a:schemeClr val="dk1"/>
              </a:buClr>
              <a:buSzPts val="1100"/>
              <a:buChar char="•"/>
            </a:pPr>
            <a:r>
              <a:rPr lang="fr-FR" sz="1100"/>
              <a:t>Avec espace avant : </a:t>
            </a:r>
            <a:r>
              <a:rPr lang="fr-FR" sz="1400">
                <a:solidFill>
                  <a:srgbClr val="268BD2"/>
                </a:solidFill>
                <a:latin typeface="Arial"/>
                <a:ea typeface="Arial"/>
                <a:cs typeface="Arial"/>
                <a:sym typeface="Arial"/>
              </a:rPr>
              <a:t>·</a:t>
            </a:r>
            <a:r>
              <a:rPr lang="fr-FR" sz="1400">
                <a:solidFill>
                  <a:srgbClr val="268BD2"/>
                </a:solidFill>
              </a:rPr>
              <a:t>↵</a:t>
            </a:r>
            <a:endParaRPr sz="1100">
              <a:solidFill>
                <a:srgbClr val="268BD2"/>
              </a:solidFill>
            </a:endParaRPr>
          </a:p>
          <a:p>
            <a:pPr indent="-76200" lvl="2" marL="432000" rtl="0" algn="l">
              <a:lnSpc>
                <a:spcPct val="100000"/>
              </a:lnSpc>
              <a:spcBef>
                <a:spcPts val="700"/>
              </a:spcBef>
              <a:spcAft>
                <a:spcPts val="0"/>
              </a:spcAft>
              <a:buClr>
                <a:schemeClr val="dk1"/>
              </a:buClr>
              <a:buSzPts val="1200"/>
              <a:buChar char="•"/>
            </a:pPr>
            <a:r>
              <a:rPr lang="fr-FR" sz="1200"/>
              <a:t>Tabulation : </a:t>
            </a:r>
            <a:r>
              <a:rPr lang="fr-FR" sz="1600">
                <a:solidFill>
                  <a:srgbClr val="268BD2"/>
                </a:solidFill>
              </a:rPr>
              <a:t>→</a:t>
            </a:r>
            <a:endParaRPr sz="1200">
              <a:solidFill>
                <a:srgbClr val="268BD2"/>
              </a:solidFill>
            </a:endParaRPr>
          </a:p>
          <a:p>
            <a:pPr indent="-76200" lvl="2" marL="432000" rtl="0" algn="l">
              <a:lnSpc>
                <a:spcPct val="100000"/>
              </a:lnSpc>
              <a:spcBef>
                <a:spcPts val="700"/>
              </a:spcBef>
              <a:spcAft>
                <a:spcPts val="0"/>
              </a:spcAft>
              <a:buClr>
                <a:schemeClr val="dk1"/>
              </a:buClr>
              <a:buSzPts val="1200"/>
              <a:buChar char="•"/>
            </a:pPr>
            <a:r>
              <a:rPr lang="fr-FR" sz="1200"/>
              <a:t>Espaces successifs : </a:t>
            </a:r>
            <a:r>
              <a:rPr lang="fr-FR" sz="1200">
                <a:solidFill>
                  <a:srgbClr val="268BD2"/>
                </a:solidFill>
                <a:latin typeface="Arial"/>
                <a:ea typeface="Arial"/>
                <a:cs typeface="Arial"/>
                <a:sym typeface="Arial"/>
              </a:rPr>
              <a:t>····</a:t>
            </a:r>
            <a:endParaRPr sz="1400"/>
          </a:p>
          <a:p>
            <a:pPr indent="0" lvl="0" marL="0" rtl="0" algn="l">
              <a:lnSpc>
                <a:spcPct val="100000"/>
              </a:lnSpc>
              <a:spcBef>
                <a:spcPts val="100"/>
              </a:spcBef>
              <a:spcAft>
                <a:spcPts val="0"/>
              </a:spcAft>
              <a:buClr>
                <a:schemeClr val="dk1"/>
              </a:buClr>
              <a:buSzPts val="1800"/>
              <a:buNone/>
            </a:pPr>
            <a:r>
              <a:t/>
            </a:r>
            <a:endParaRPr/>
          </a:p>
        </p:txBody>
      </p:sp>
      <p:sp>
        <p:nvSpPr>
          <p:cNvPr id="475" name="Google Shape;475;p2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76" name="Google Shape;476;p2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77" name="Google Shape;477;p2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78" name="Google Shape;478;p25"/>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pic>
        <p:nvPicPr>
          <p:cNvPr id="479" name="Google Shape;479;p25"/>
          <p:cNvPicPr preferRelativeResize="0"/>
          <p:nvPr/>
        </p:nvPicPr>
        <p:blipFill rotWithShape="1">
          <a:blip r:embed="rId3">
            <a:alphaModFix/>
          </a:blip>
          <a:srcRect b="0" l="0" r="0" t="0"/>
          <a:stretch/>
        </p:blipFill>
        <p:spPr>
          <a:xfrm>
            <a:off x="1194955" y="2392276"/>
            <a:ext cx="1844200" cy="251482"/>
          </a:xfrm>
          <a:prstGeom prst="rect">
            <a:avLst/>
          </a:prstGeom>
          <a:noFill/>
          <a:ln>
            <a:noFill/>
          </a:ln>
        </p:spPr>
      </p:pic>
      <p:pic>
        <p:nvPicPr>
          <p:cNvPr id="480" name="Google Shape;480;p25"/>
          <p:cNvPicPr preferRelativeResize="0"/>
          <p:nvPr/>
        </p:nvPicPr>
        <p:blipFill rotWithShape="1">
          <a:blip r:embed="rId4">
            <a:alphaModFix/>
          </a:blip>
          <a:srcRect b="0" l="0" r="0" t="0"/>
          <a:stretch/>
        </p:blipFill>
        <p:spPr>
          <a:xfrm>
            <a:off x="6156176" y="2430380"/>
            <a:ext cx="960203" cy="213378"/>
          </a:xfrm>
          <a:prstGeom prst="rect">
            <a:avLst/>
          </a:prstGeom>
          <a:noFill/>
          <a:ln>
            <a:noFill/>
          </a:ln>
        </p:spPr>
      </p:pic>
      <p:cxnSp>
        <p:nvCxnSpPr>
          <p:cNvPr id="481" name="Google Shape;481;p25"/>
          <p:cNvCxnSpPr/>
          <p:nvPr/>
        </p:nvCxnSpPr>
        <p:spPr>
          <a:xfrm>
            <a:off x="4427984" y="1836000"/>
            <a:ext cx="0" cy="2823982"/>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6"/>
          <p:cNvSpPr/>
          <p:nvPr>
            <p:ph idx="2" type="pic"/>
          </p:nvPr>
        </p:nvSpPr>
        <p:spPr>
          <a:xfrm>
            <a:off x="0" y="738000"/>
            <a:ext cx="9144000" cy="4406400"/>
          </a:xfrm>
          <a:prstGeom prst="rect">
            <a:avLst/>
          </a:prstGeom>
          <a:solidFill>
            <a:srgbClr val="D8D8D8"/>
          </a:solidFill>
          <a:ln>
            <a:noFill/>
          </a:ln>
        </p:spPr>
      </p:sp>
      <p:sp>
        <p:nvSpPr>
          <p:cNvPr id="488" name="Google Shape;488;p2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89" name="Google Shape;489;p2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90" name="Google Shape;490;p2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491" name="Google Shape;491;p26"/>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Bonnes pratiques éditoriales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498" name="Google Shape;498;p27"/>
          <p:cNvSpPr txBox="1"/>
          <p:nvPr>
            <p:ph idx="11" type="ftr"/>
          </p:nvPr>
        </p:nvSpPr>
        <p:spPr>
          <a:xfrm>
            <a:off x="361403"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499" name="Google Shape;499;p2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00" name="Google Shape;500;p27"/>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01" name="Google Shape;501;p2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Lisibilité du texte</a:t>
            </a:r>
            <a:endParaRPr/>
          </a:p>
        </p:txBody>
      </p:sp>
      <p:sp>
        <p:nvSpPr>
          <p:cNvPr id="502" name="Google Shape;502;p27"/>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Conseils pour une bonne lisibilité</a:t>
            </a:r>
            <a:endParaRPr/>
          </a:p>
        </p:txBody>
      </p:sp>
      <p:sp>
        <p:nvSpPr>
          <p:cNvPr id="503" name="Google Shape;503;p27"/>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Des polices lisibles et clairement dessinées, sans empattement (Arial ou Verdana…).</a:t>
            </a:r>
            <a:endParaRPr/>
          </a:p>
          <a:p>
            <a:pPr indent="-101600" lvl="1" marL="252000" rtl="0" algn="l">
              <a:lnSpc>
                <a:spcPct val="100000"/>
              </a:lnSpc>
              <a:spcBef>
                <a:spcPts val="500"/>
              </a:spcBef>
              <a:spcAft>
                <a:spcPts val="0"/>
              </a:spcAft>
              <a:buClr>
                <a:schemeClr val="dk1"/>
              </a:buClr>
              <a:buSzPts val="1600"/>
              <a:buChar char="•"/>
            </a:pPr>
            <a:r>
              <a:rPr lang="fr-FR"/>
              <a:t>sauf contrainte particulière (Marianne).</a:t>
            </a:r>
            <a:endParaRPr/>
          </a:p>
          <a:p>
            <a:pPr indent="0" lvl="0" marL="0" rtl="0" algn="l">
              <a:lnSpc>
                <a:spcPct val="100000"/>
              </a:lnSpc>
              <a:spcBef>
                <a:spcPts val="600"/>
              </a:spcBef>
              <a:spcAft>
                <a:spcPts val="0"/>
              </a:spcAft>
              <a:buClr>
                <a:schemeClr val="dk1"/>
              </a:buClr>
              <a:buSzPts val="1800"/>
              <a:buNone/>
            </a:pPr>
            <a:r>
              <a:rPr lang="fr-FR"/>
              <a:t>Taille minimale de 12 pt.</a:t>
            </a:r>
            <a:endParaRPr/>
          </a:p>
          <a:p>
            <a:pPr indent="0" lvl="0" marL="0" rtl="0" algn="l">
              <a:lnSpc>
                <a:spcPct val="100000"/>
              </a:lnSpc>
              <a:spcBef>
                <a:spcPts val="500"/>
              </a:spcBef>
              <a:spcAft>
                <a:spcPts val="0"/>
              </a:spcAft>
              <a:buClr>
                <a:schemeClr val="dk1"/>
              </a:buClr>
              <a:buSzPts val="1800"/>
              <a:buNone/>
            </a:pPr>
            <a:r>
              <a:rPr lang="fr-FR"/>
              <a:t>Éviter l’interligne de 1 : 1,15 minimum voire 1,5.</a:t>
            </a:r>
            <a:endParaRPr/>
          </a:p>
          <a:p>
            <a:pPr indent="0" lvl="0" marL="0" rtl="0" algn="l">
              <a:lnSpc>
                <a:spcPct val="100000"/>
              </a:lnSpc>
              <a:spcBef>
                <a:spcPts val="500"/>
              </a:spcBef>
              <a:spcAft>
                <a:spcPts val="0"/>
              </a:spcAft>
              <a:buClr>
                <a:schemeClr val="dk1"/>
              </a:buClr>
              <a:buSzPts val="1800"/>
              <a:buNone/>
            </a:pPr>
            <a:r>
              <a:rPr lang="fr-FR"/>
              <a:t>Ne pas justifier le texte.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10" name="Google Shape;510;p28"/>
          <p:cNvSpPr txBox="1"/>
          <p:nvPr>
            <p:ph idx="11" type="ftr"/>
          </p:nvPr>
        </p:nvSpPr>
        <p:spPr>
          <a:xfrm>
            <a:off x="361403"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11" name="Google Shape;511;p2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12" name="Google Shape;512;p28"/>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13" name="Google Shape;513;p28"/>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Texte en majuscule</a:t>
            </a:r>
            <a:endParaRPr/>
          </a:p>
        </p:txBody>
      </p:sp>
      <p:sp>
        <p:nvSpPr>
          <p:cNvPr id="514" name="Google Shape;514;p28"/>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Interprétation et substitution</a:t>
            </a:r>
            <a:endParaRPr/>
          </a:p>
        </p:txBody>
      </p:sp>
      <p:sp>
        <p:nvSpPr>
          <p:cNvPr id="515" name="Google Shape;515;p28"/>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Difficile à lire pour les dyslexiques.</a:t>
            </a:r>
            <a:endParaRPr/>
          </a:p>
          <a:p>
            <a:pPr indent="0" lvl="0" marL="0" rtl="0" algn="l">
              <a:lnSpc>
                <a:spcPct val="100000"/>
              </a:lnSpc>
              <a:spcBef>
                <a:spcPts val="500"/>
              </a:spcBef>
              <a:spcAft>
                <a:spcPts val="0"/>
              </a:spcAft>
              <a:buClr>
                <a:schemeClr val="dk1"/>
              </a:buClr>
              <a:buSzPts val="1800"/>
              <a:buNone/>
            </a:pPr>
            <a:r>
              <a:rPr lang="fr-FR"/>
              <a:t>Agressif ?</a:t>
            </a:r>
            <a:endParaRPr/>
          </a:p>
          <a:p>
            <a:pPr indent="0" lvl="0" marL="0" rtl="0" algn="l">
              <a:lnSpc>
                <a:spcPct val="100000"/>
              </a:lnSpc>
              <a:spcBef>
                <a:spcPts val="1100"/>
              </a:spcBef>
              <a:spcAft>
                <a:spcPts val="0"/>
              </a:spcAft>
              <a:buClr>
                <a:schemeClr val="dk1"/>
              </a:buClr>
              <a:buSzPts val="1800"/>
              <a:buNone/>
            </a:pPr>
            <a:r>
              <a:rPr lang="fr-FR"/>
              <a:t>Majuscule sans accentuation ⇒ </a:t>
            </a:r>
            <a:endParaRPr/>
          </a:p>
          <a:p>
            <a:pPr indent="-101600" lvl="1" marL="252000" rtl="0" algn="l">
              <a:lnSpc>
                <a:spcPct val="100000"/>
              </a:lnSpc>
              <a:spcBef>
                <a:spcPts val="500"/>
              </a:spcBef>
              <a:spcAft>
                <a:spcPts val="0"/>
              </a:spcAft>
              <a:buClr>
                <a:schemeClr val="dk1"/>
              </a:buClr>
              <a:buSzPts val="1600"/>
              <a:buChar char="•"/>
            </a:pPr>
            <a:r>
              <a:rPr lang="fr-FR"/>
              <a:t>prononciation incertaine par les lecteurs d’écran ;</a:t>
            </a:r>
            <a:endParaRPr/>
          </a:p>
          <a:p>
            <a:pPr indent="-101600" lvl="1" marL="252000" rtl="0" algn="l">
              <a:lnSpc>
                <a:spcPct val="100000"/>
              </a:lnSpc>
              <a:spcBef>
                <a:spcPts val="600"/>
              </a:spcBef>
              <a:spcAft>
                <a:spcPts val="0"/>
              </a:spcAft>
              <a:buClr>
                <a:schemeClr val="dk1"/>
              </a:buClr>
              <a:buSzPts val="1600"/>
              <a:buChar char="•"/>
            </a:pPr>
            <a:r>
              <a:rPr lang="fr-FR"/>
              <a:t>Ambiguë : « UN INTERNE TUE ! ».</a:t>
            </a:r>
            <a:endParaRPr/>
          </a:p>
          <a:p>
            <a:pPr indent="0" lvl="0" marL="0" rtl="0" algn="l">
              <a:lnSpc>
                <a:spcPct val="100000"/>
              </a:lnSpc>
              <a:spcBef>
                <a:spcPts val="1200"/>
              </a:spcBef>
              <a:spcAft>
                <a:spcPts val="0"/>
              </a:spcAft>
              <a:buClr>
                <a:schemeClr val="dk1"/>
              </a:buClr>
              <a:buSzPts val="1800"/>
              <a:buNone/>
            </a:pPr>
            <a:r>
              <a:rPr lang="fr-FR"/>
              <a:t>A minima : écrire en minuscule et modifier le format :</a:t>
            </a:r>
            <a:endParaRPr/>
          </a:p>
          <a:p>
            <a:pPr indent="-101600" lvl="1" marL="252000" rtl="0" algn="l">
              <a:lnSpc>
                <a:spcPct val="100000"/>
              </a:lnSpc>
              <a:spcBef>
                <a:spcPts val="500"/>
              </a:spcBef>
              <a:spcAft>
                <a:spcPts val="0"/>
              </a:spcAft>
              <a:buClr>
                <a:schemeClr val="dk1"/>
              </a:buClr>
              <a:buSzPts val="1600"/>
              <a:buChar char="•"/>
            </a:pPr>
            <a:r>
              <a:rPr lang="fr-FR"/>
              <a:t>Word : </a:t>
            </a:r>
            <a:r>
              <a:rPr lang="fr-FR">
                <a:solidFill>
                  <a:srgbClr val="00006C"/>
                </a:solidFill>
              </a:rPr>
              <a:t>Accueil</a:t>
            </a:r>
            <a:r>
              <a:rPr lang="fr-FR"/>
              <a:t> → [Police] </a:t>
            </a:r>
            <a:r>
              <a:rPr lang="fr-FR">
                <a:solidFill>
                  <a:srgbClr val="00006C"/>
                </a:solidFill>
              </a:rPr>
              <a:t>Modifier la casse </a:t>
            </a:r>
            <a:r>
              <a:rPr lang="fr-FR"/>
              <a:t>→ MAJUSCULES ;</a:t>
            </a:r>
            <a:endParaRPr/>
          </a:p>
          <a:p>
            <a:pPr indent="-101600" lvl="1" marL="252000" rtl="0" algn="l">
              <a:lnSpc>
                <a:spcPct val="100000"/>
              </a:lnSpc>
              <a:spcBef>
                <a:spcPts val="600"/>
              </a:spcBef>
              <a:spcAft>
                <a:spcPts val="0"/>
              </a:spcAft>
              <a:buClr>
                <a:schemeClr val="dk1"/>
              </a:buClr>
              <a:buSzPts val="1600"/>
              <a:buChar char="•"/>
            </a:pPr>
            <a:r>
              <a:rPr lang="fr-FR"/>
              <a:t>Writer : </a:t>
            </a:r>
            <a:r>
              <a:rPr lang="fr-FR">
                <a:solidFill>
                  <a:srgbClr val="00006C"/>
                </a:solidFill>
              </a:rPr>
              <a:t>Format</a:t>
            </a:r>
            <a:r>
              <a:rPr lang="fr-FR"/>
              <a:t> →  </a:t>
            </a:r>
            <a:r>
              <a:rPr lang="fr-FR">
                <a:solidFill>
                  <a:srgbClr val="00006C"/>
                </a:solidFill>
              </a:rPr>
              <a:t>Texte</a:t>
            </a:r>
            <a:r>
              <a:rPr lang="fr-FR"/>
              <a:t> → </a:t>
            </a:r>
            <a:r>
              <a:rPr lang="fr-FR">
                <a:solidFill>
                  <a:srgbClr val="00006C"/>
                </a:solidFill>
              </a:rPr>
              <a:t>MAJUSCULES</a:t>
            </a:r>
            <a:r>
              <a:rPr lang="fr-FR"/>
              <a:t>.</a:t>
            </a:r>
            <a:endParaRPr/>
          </a:p>
        </p:txBody>
      </p:sp>
      <p:pic>
        <p:nvPicPr>
          <p:cNvPr id="516" name="Google Shape;516;p28"/>
          <p:cNvPicPr preferRelativeResize="0"/>
          <p:nvPr/>
        </p:nvPicPr>
        <p:blipFill rotWithShape="1">
          <a:blip r:embed="rId3">
            <a:alphaModFix/>
          </a:blip>
          <a:srcRect b="0" l="0" r="0" t="0"/>
          <a:stretch/>
        </p:blipFill>
        <p:spPr>
          <a:xfrm>
            <a:off x="6531294" y="3980998"/>
            <a:ext cx="815411" cy="24386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9"/>
          <p:cNvSpPr txBox="1"/>
          <p:nvPr>
            <p:ph idx="1" type="body"/>
          </p:nvPr>
        </p:nvSpPr>
        <p:spPr>
          <a:xfrm>
            <a:off x="359998" y="1635646"/>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6C"/>
              </a:buClr>
              <a:buSzPts val="1600"/>
              <a:buNone/>
            </a:pPr>
            <a:r>
              <a:rPr lang="fr-FR" sz="1600">
                <a:solidFill>
                  <a:srgbClr val="00006C"/>
                </a:solidFill>
              </a:rPr>
              <a:t>Fichier</a:t>
            </a:r>
            <a:r>
              <a:rPr lang="fr-FR" sz="1600"/>
              <a:t> </a:t>
            </a:r>
            <a:r>
              <a:rPr lang="fr-FR" sz="1600">
                <a:solidFill>
                  <a:srgbClr val="000000"/>
                </a:solidFill>
              </a:rPr>
              <a:t>→ </a:t>
            </a:r>
            <a:r>
              <a:rPr lang="fr-FR" sz="1600">
                <a:solidFill>
                  <a:srgbClr val="00006C"/>
                </a:solidFill>
              </a:rPr>
              <a:t>Autres</a:t>
            </a:r>
            <a:r>
              <a:rPr lang="fr-FR" sz="1600">
                <a:solidFill>
                  <a:srgbClr val="000000"/>
                </a:solidFill>
              </a:rPr>
              <a:t> → </a:t>
            </a:r>
            <a:r>
              <a:rPr lang="fr-FR" sz="1600">
                <a:solidFill>
                  <a:srgbClr val="00006C"/>
                </a:solidFill>
              </a:rPr>
              <a:t>Options</a:t>
            </a:r>
            <a:r>
              <a:rPr lang="fr-FR" sz="1600">
                <a:solidFill>
                  <a:srgbClr val="000000"/>
                </a:solidFill>
              </a:rPr>
              <a:t>  → </a:t>
            </a:r>
            <a:r>
              <a:rPr lang="fr-FR" sz="1600">
                <a:solidFill>
                  <a:srgbClr val="00006C"/>
                </a:solidFill>
              </a:rPr>
              <a:t>Vérification</a:t>
            </a:r>
            <a:r>
              <a:rPr lang="fr-FR" sz="1600">
                <a:solidFill>
                  <a:srgbClr val="000000"/>
                </a:solidFill>
              </a:rPr>
              <a:t> :</a:t>
            </a:r>
            <a:endParaRPr/>
          </a:p>
          <a:p>
            <a:pPr indent="-88900" lvl="1" marL="252000" rtl="0" algn="l">
              <a:lnSpc>
                <a:spcPct val="100000"/>
              </a:lnSpc>
              <a:spcBef>
                <a:spcPts val="500"/>
              </a:spcBef>
              <a:spcAft>
                <a:spcPts val="0"/>
              </a:spcAft>
              <a:buClr>
                <a:srgbClr val="000000"/>
              </a:buClr>
              <a:buSzPts val="1400"/>
              <a:buChar char="•"/>
            </a:pPr>
            <a:r>
              <a:rPr b="0" i="0" lang="fr-FR" sz="1400" u="none" strike="noStrike">
                <a:solidFill>
                  <a:srgbClr val="000000"/>
                </a:solidFill>
              </a:rPr>
              <a:t>Décocher : « </a:t>
            </a:r>
            <a:r>
              <a:rPr b="0" i="0" lang="fr-FR" sz="1400" u="none" strike="noStrike">
                <a:solidFill>
                  <a:srgbClr val="00006C"/>
                </a:solidFill>
              </a:rPr>
              <a:t>Ignorer les mots en MAJUSCULES </a:t>
            </a:r>
            <a:r>
              <a:rPr b="0" i="0" lang="fr-FR" sz="1400" u="none" strike="noStrike">
                <a:solidFill>
                  <a:srgbClr val="000000"/>
                </a:solidFill>
              </a:rPr>
              <a:t>» ;</a:t>
            </a:r>
            <a:endParaRPr/>
          </a:p>
          <a:p>
            <a:pPr indent="-88900" lvl="1" marL="252000" rtl="0" algn="l">
              <a:lnSpc>
                <a:spcPct val="100000"/>
              </a:lnSpc>
              <a:spcBef>
                <a:spcPts val="600"/>
              </a:spcBef>
              <a:spcAft>
                <a:spcPts val="0"/>
              </a:spcAft>
              <a:buClr>
                <a:srgbClr val="000000"/>
              </a:buClr>
              <a:buSzPts val="1400"/>
              <a:buChar char="•"/>
            </a:pPr>
            <a:r>
              <a:rPr b="0" i="0" lang="fr-FR" sz="1400" u="none" strike="noStrike">
                <a:solidFill>
                  <a:srgbClr val="000000"/>
                </a:solidFill>
              </a:rPr>
              <a:t>Cocher : « </a:t>
            </a:r>
            <a:r>
              <a:rPr b="0" i="0" lang="fr-FR" sz="1400" u="none" strike="noStrike">
                <a:solidFill>
                  <a:srgbClr val="00006C"/>
                </a:solidFill>
              </a:rPr>
              <a:t>Majuscules accentuées en français</a:t>
            </a:r>
            <a:r>
              <a:rPr b="0" i="0" lang="fr-FR" sz="1400" u="none" strike="noStrike">
                <a:solidFill>
                  <a:srgbClr val="000000"/>
                </a:solidFill>
              </a:rPr>
              <a:t> »</a:t>
            </a:r>
            <a:endParaRPr/>
          </a:p>
          <a:p>
            <a:pPr indent="0" lvl="0" marL="0" rtl="0" algn="l">
              <a:lnSpc>
                <a:spcPct val="100000"/>
              </a:lnSpc>
              <a:spcBef>
                <a:spcPts val="600"/>
              </a:spcBef>
              <a:spcAft>
                <a:spcPts val="0"/>
              </a:spcAft>
              <a:buClr>
                <a:schemeClr val="dk1"/>
              </a:buClr>
              <a:buSzPts val="1800"/>
              <a:buNone/>
            </a:pPr>
            <a:r>
              <a:t/>
            </a:r>
            <a:endParaRPr/>
          </a:p>
        </p:txBody>
      </p:sp>
      <p:sp>
        <p:nvSpPr>
          <p:cNvPr id="523" name="Google Shape;523;p29"/>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Mots en majuscules et vérification orthographique</a:t>
            </a:r>
            <a:endParaRPr/>
          </a:p>
        </p:txBody>
      </p:sp>
      <p:sp>
        <p:nvSpPr>
          <p:cNvPr id="524" name="Google Shape;524;p29"/>
          <p:cNvSpPr txBox="1"/>
          <p:nvPr>
            <p:ph idx="2" type="body"/>
          </p:nvPr>
        </p:nvSpPr>
        <p:spPr>
          <a:xfrm>
            <a:off x="360363" y="1203598"/>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800"/>
              <a:buNone/>
            </a:pPr>
            <a:r>
              <a:rPr lang="fr-FR" sz="1800"/>
              <a:t>Activer la vérification orthographique des mots en majuscules</a:t>
            </a:r>
            <a:endParaRPr/>
          </a:p>
          <a:p>
            <a:pPr indent="0" lvl="0" marL="0" rtl="0" algn="l">
              <a:lnSpc>
                <a:spcPct val="100000"/>
              </a:lnSpc>
              <a:spcBef>
                <a:spcPts val="500"/>
              </a:spcBef>
              <a:spcAft>
                <a:spcPts val="0"/>
              </a:spcAft>
              <a:buClr>
                <a:srgbClr val="595959"/>
              </a:buClr>
              <a:buSzPts val="2000"/>
              <a:buNone/>
            </a:pPr>
            <a:r>
              <a:t/>
            </a:r>
            <a:endParaRPr/>
          </a:p>
        </p:txBody>
      </p:sp>
      <p:sp>
        <p:nvSpPr>
          <p:cNvPr id="525" name="Google Shape;525;p29"/>
          <p:cNvSpPr txBox="1"/>
          <p:nvPr>
            <p:ph idx="3" type="body"/>
          </p:nvPr>
        </p:nvSpPr>
        <p:spPr>
          <a:xfrm>
            <a:off x="4780104" y="1635646"/>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sz="1800"/>
              <a:t>Writer</a:t>
            </a:r>
            <a:endParaRPr/>
          </a:p>
          <a:p>
            <a:pPr indent="0" lvl="0" marL="0" rtl="0" algn="l">
              <a:lnSpc>
                <a:spcPct val="100000"/>
              </a:lnSpc>
              <a:spcBef>
                <a:spcPts val="500"/>
              </a:spcBef>
              <a:spcAft>
                <a:spcPts val="0"/>
              </a:spcAft>
              <a:buClr>
                <a:srgbClr val="00006C"/>
              </a:buClr>
              <a:buSzPts val="1600"/>
              <a:buNone/>
            </a:pPr>
            <a:r>
              <a:rPr b="0" i="0" lang="fr-FR" sz="1600" u="none" strike="noStrike">
                <a:solidFill>
                  <a:srgbClr val="00006C"/>
                </a:solidFill>
                <a:latin typeface="Arial"/>
                <a:ea typeface="Arial"/>
                <a:cs typeface="Arial"/>
                <a:sym typeface="Arial"/>
              </a:rPr>
              <a:t>Outils</a:t>
            </a:r>
            <a:r>
              <a:rPr b="0" i="0" lang="fr-FR" sz="1600" u="none" strike="noStrike">
                <a:solidFill>
                  <a:srgbClr val="000000"/>
                </a:solidFill>
                <a:latin typeface="Arial"/>
                <a:ea typeface="Arial"/>
                <a:cs typeface="Arial"/>
                <a:sym typeface="Arial"/>
              </a:rPr>
              <a:t> </a:t>
            </a:r>
            <a:r>
              <a:rPr lang="fr-FR" sz="1600">
                <a:solidFill>
                  <a:srgbClr val="000000"/>
                </a:solidFill>
              </a:rPr>
              <a:t>→</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Options</a:t>
            </a:r>
            <a:r>
              <a:rPr b="0" i="0" lang="fr-FR" sz="1600" u="none" strike="noStrike">
                <a:solidFill>
                  <a:srgbClr val="000000"/>
                </a:solidFill>
                <a:latin typeface="Arial"/>
                <a:ea typeface="Arial"/>
                <a:cs typeface="Arial"/>
                <a:sym typeface="Arial"/>
              </a:rPr>
              <a:t> </a:t>
            </a:r>
            <a:r>
              <a:rPr lang="fr-FR" sz="1600">
                <a:solidFill>
                  <a:srgbClr val="000000"/>
                </a:solidFill>
              </a:rPr>
              <a:t>→</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Paramètres linguistiques</a:t>
            </a:r>
            <a:r>
              <a:rPr b="0" i="0" lang="fr-FR" sz="1600" u="none" strike="noStrike">
                <a:solidFill>
                  <a:srgbClr val="000000"/>
                </a:solidFill>
                <a:latin typeface="Arial"/>
                <a:ea typeface="Arial"/>
                <a:cs typeface="Arial"/>
                <a:sym typeface="Arial"/>
              </a:rPr>
              <a:t> </a:t>
            </a:r>
            <a:r>
              <a:rPr lang="fr-FR" sz="1600">
                <a:solidFill>
                  <a:srgbClr val="000000"/>
                </a:solidFill>
              </a:rPr>
              <a:t>→</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Linguistique</a:t>
            </a:r>
            <a:r>
              <a:rPr b="0" i="0" lang="fr-FR" sz="1600" u="none" strike="noStrike">
                <a:solidFill>
                  <a:srgbClr val="000000"/>
                </a:solidFill>
                <a:latin typeface="Arial"/>
                <a:ea typeface="Arial"/>
                <a:cs typeface="Arial"/>
                <a:sym typeface="Arial"/>
              </a:rPr>
              <a:t> </a:t>
            </a:r>
            <a:r>
              <a:rPr lang="fr-FR" sz="1600">
                <a:solidFill>
                  <a:srgbClr val="000000"/>
                </a:solidFill>
              </a:rPr>
              <a:t>→</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Options</a:t>
            </a:r>
            <a:endParaRPr/>
          </a:p>
          <a:p>
            <a:pPr indent="-88900" lvl="1" marL="252000" rtl="0" algn="l">
              <a:lnSpc>
                <a:spcPct val="100000"/>
              </a:lnSpc>
              <a:spcBef>
                <a:spcPts val="500"/>
              </a:spcBef>
              <a:spcAft>
                <a:spcPts val="0"/>
              </a:spcAft>
              <a:buClr>
                <a:srgbClr val="000000"/>
              </a:buClr>
              <a:buSzPts val="1400"/>
              <a:buChar char="•"/>
            </a:pPr>
            <a:r>
              <a:rPr b="0" i="0" lang="fr-FR" sz="1400" u="none" strike="noStrike">
                <a:solidFill>
                  <a:srgbClr val="000000"/>
                </a:solidFill>
              </a:rPr>
              <a:t>Cocher : « </a:t>
            </a:r>
            <a:r>
              <a:rPr b="0" i="0" lang="fr-FR" sz="1400" u="none" strike="noStrike">
                <a:solidFill>
                  <a:srgbClr val="00006C"/>
                </a:solidFill>
              </a:rPr>
              <a:t>Vérifier les mots en majuscules </a:t>
            </a:r>
            <a:r>
              <a:rPr b="0" i="0" lang="fr-FR" sz="1400" u="none" strike="noStrike">
                <a:solidFill>
                  <a:srgbClr val="000000"/>
                </a:solidFill>
              </a:rPr>
              <a:t>»</a:t>
            </a:r>
            <a:endParaRPr/>
          </a:p>
          <a:p>
            <a:pPr indent="0" lvl="0" marL="0" rtl="0" algn="l">
              <a:lnSpc>
                <a:spcPct val="100000"/>
              </a:lnSpc>
              <a:spcBef>
                <a:spcPts val="600"/>
              </a:spcBef>
              <a:spcAft>
                <a:spcPts val="0"/>
              </a:spcAft>
              <a:buClr>
                <a:schemeClr val="dk1"/>
              </a:buClr>
              <a:buSzPts val="1800"/>
              <a:buNone/>
            </a:pPr>
            <a:r>
              <a:t/>
            </a:r>
            <a:endParaRPr/>
          </a:p>
        </p:txBody>
      </p:sp>
      <p:sp>
        <p:nvSpPr>
          <p:cNvPr id="526" name="Google Shape;526;p29"/>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27" name="Google Shape;527;p2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28" name="Google Shape;528;p2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29" name="Google Shape;529;p29"/>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pic>
        <p:nvPicPr>
          <p:cNvPr id="530" name="Google Shape;530;p29"/>
          <p:cNvPicPr preferRelativeResize="0"/>
          <p:nvPr/>
        </p:nvPicPr>
        <p:blipFill rotWithShape="1">
          <a:blip r:embed="rId3">
            <a:alphaModFix/>
          </a:blip>
          <a:srcRect b="0" l="0" r="0" t="0"/>
          <a:stretch/>
        </p:blipFill>
        <p:spPr>
          <a:xfrm>
            <a:off x="1694719" y="3290285"/>
            <a:ext cx="2196269" cy="1493214"/>
          </a:xfrm>
          <a:prstGeom prst="rect">
            <a:avLst/>
          </a:prstGeom>
          <a:noFill/>
          <a:ln>
            <a:noFill/>
          </a:ln>
        </p:spPr>
      </p:pic>
      <p:pic>
        <p:nvPicPr>
          <p:cNvPr id="531" name="Google Shape;531;p29"/>
          <p:cNvPicPr preferRelativeResize="0"/>
          <p:nvPr/>
        </p:nvPicPr>
        <p:blipFill rotWithShape="1">
          <a:blip r:embed="rId4">
            <a:alphaModFix/>
          </a:blip>
          <a:srcRect b="0" l="0" r="0" t="0"/>
          <a:stretch/>
        </p:blipFill>
        <p:spPr>
          <a:xfrm>
            <a:off x="5505498" y="3016812"/>
            <a:ext cx="2560542" cy="1112616"/>
          </a:xfrm>
          <a:prstGeom prst="rect">
            <a:avLst/>
          </a:prstGeom>
          <a:noFill/>
          <a:ln>
            <a:noFill/>
          </a:ln>
        </p:spPr>
      </p:pic>
      <p:cxnSp>
        <p:nvCxnSpPr>
          <p:cNvPr id="532" name="Google Shape;532;p29"/>
          <p:cNvCxnSpPr/>
          <p:nvPr/>
        </p:nvCxnSpPr>
        <p:spPr>
          <a:xfrm>
            <a:off x="4355976" y="1836000"/>
            <a:ext cx="0" cy="2823982"/>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39" name="Google Shape;539;p30"/>
          <p:cNvSpPr txBox="1"/>
          <p:nvPr>
            <p:ph idx="11" type="ftr"/>
          </p:nvPr>
        </p:nvSpPr>
        <p:spPr>
          <a:xfrm>
            <a:off x="361403"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40" name="Google Shape;540;p3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41" name="Google Shape;541;p30"/>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42" name="Google Shape;542;p30"/>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Acronymes, sigles et abréviations</a:t>
            </a:r>
            <a:endParaRPr/>
          </a:p>
        </p:txBody>
      </p:sp>
      <p:sp>
        <p:nvSpPr>
          <p:cNvPr id="543" name="Google Shape;543;p30"/>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Expliciter les acronymes, sigles et abréviations</a:t>
            </a:r>
            <a:endParaRPr/>
          </a:p>
        </p:txBody>
      </p:sp>
      <p:sp>
        <p:nvSpPr>
          <p:cNvPr id="544" name="Google Shape;544;p30"/>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cap="none"/>
              <a:t>À</a:t>
            </a:r>
            <a:r>
              <a:rPr lang="fr-FR"/>
              <a:t> la première occurrence dans le document : </a:t>
            </a:r>
            <a:endParaRPr/>
          </a:p>
          <a:p>
            <a:pPr indent="-101600" lvl="1" marL="252000" rtl="0" algn="l">
              <a:lnSpc>
                <a:spcPct val="100000"/>
              </a:lnSpc>
              <a:spcBef>
                <a:spcPts val="1100"/>
              </a:spcBef>
              <a:spcAft>
                <a:spcPts val="0"/>
              </a:spcAft>
              <a:buClr>
                <a:schemeClr val="dk1"/>
              </a:buClr>
              <a:buSzPts val="1600"/>
              <a:buChar char="•"/>
            </a:pPr>
            <a:r>
              <a:rPr lang="fr-FR"/>
              <a:t>Exemple : DGFiP (Direction générale des finances publiques) ;</a:t>
            </a:r>
            <a:endParaRPr/>
          </a:p>
          <a:p>
            <a:pPr indent="0" lvl="0" marL="0" rtl="0" algn="l">
              <a:lnSpc>
                <a:spcPct val="100000"/>
              </a:lnSpc>
              <a:spcBef>
                <a:spcPts val="1200"/>
              </a:spcBef>
              <a:spcAft>
                <a:spcPts val="0"/>
              </a:spcAft>
              <a:buClr>
                <a:schemeClr val="dk1"/>
              </a:buClr>
              <a:buSzPts val="1800"/>
              <a:buNone/>
            </a:pPr>
            <a:r>
              <a:rPr lang="fr-FR"/>
              <a:t>Ou via un glossaire (en annexe par exemple).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51" name="Google Shape;551;p31"/>
          <p:cNvSpPr txBox="1"/>
          <p:nvPr>
            <p:ph idx="11" type="ftr"/>
          </p:nvPr>
        </p:nvSpPr>
        <p:spPr>
          <a:xfrm>
            <a:off x="361403"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52" name="Google Shape;552;p3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53" name="Google Shape;553;p31"/>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54" name="Google Shape;554;p31"/>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Langue</a:t>
            </a:r>
            <a:endParaRPr/>
          </a:p>
        </p:txBody>
      </p:sp>
      <p:sp>
        <p:nvSpPr>
          <p:cNvPr id="555" name="Google Shape;555;p31"/>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Intérêts de définir la langue du document</a:t>
            </a:r>
            <a:endParaRPr/>
          </a:p>
        </p:txBody>
      </p:sp>
      <p:sp>
        <p:nvSpPr>
          <p:cNvPr id="556" name="Google Shape;556;p31"/>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La langue indiquée détermine :</a:t>
            </a:r>
            <a:endParaRPr/>
          </a:p>
          <a:p>
            <a:pPr indent="-101600" lvl="1" marL="252000" rtl="0" algn="l">
              <a:lnSpc>
                <a:spcPct val="100000"/>
              </a:lnSpc>
              <a:spcBef>
                <a:spcPts val="800"/>
              </a:spcBef>
              <a:spcAft>
                <a:spcPts val="0"/>
              </a:spcAft>
              <a:buClr>
                <a:schemeClr val="dk1"/>
              </a:buClr>
              <a:buSzPts val="1600"/>
              <a:buChar char="•"/>
            </a:pPr>
            <a:r>
              <a:rPr lang="fr-FR"/>
              <a:t>la vérification orthographique ;</a:t>
            </a:r>
            <a:endParaRPr/>
          </a:p>
          <a:p>
            <a:pPr indent="-101600" lvl="1" marL="252000" rtl="0" algn="l">
              <a:lnSpc>
                <a:spcPct val="100000"/>
              </a:lnSpc>
              <a:spcBef>
                <a:spcPts val="900"/>
              </a:spcBef>
              <a:spcAft>
                <a:spcPts val="0"/>
              </a:spcAft>
              <a:buClr>
                <a:schemeClr val="dk1"/>
              </a:buClr>
              <a:buSzPts val="1600"/>
              <a:buChar char="•"/>
            </a:pPr>
            <a:r>
              <a:rPr lang="fr-FR"/>
              <a:t>la césure des mots ;</a:t>
            </a:r>
            <a:endParaRPr/>
          </a:p>
          <a:p>
            <a:pPr indent="-101600" lvl="1" marL="252000" rtl="0" algn="l">
              <a:lnSpc>
                <a:spcPct val="100000"/>
              </a:lnSpc>
              <a:spcBef>
                <a:spcPts val="900"/>
              </a:spcBef>
              <a:spcAft>
                <a:spcPts val="0"/>
              </a:spcAft>
              <a:buClr>
                <a:schemeClr val="dk1"/>
              </a:buClr>
              <a:buSzPts val="1600"/>
              <a:buChar char="•"/>
            </a:pPr>
            <a:r>
              <a:rPr lang="fr-FR"/>
              <a:t>les synonymes ;</a:t>
            </a:r>
            <a:endParaRPr/>
          </a:p>
          <a:p>
            <a:pPr indent="-101600" lvl="1" marL="252000" rtl="0" algn="l">
              <a:lnSpc>
                <a:spcPct val="100000"/>
              </a:lnSpc>
              <a:spcBef>
                <a:spcPts val="900"/>
              </a:spcBef>
              <a:spcAft>
                <a:spcPts val="0"/>
              </a:spcAft>
              <a:buClr>
                <a:schemeClr val="dk1"/>
              </a:buClr>
              <a:buSzPts val="1600"/>
              <a:buChar char="•"/>
            </a:pPr>
            <a:r>
              <a:rPr lang="fr-FR"/>
              <a:t>la </a:t>
            </a:r>
            <a:r>
              <a:rPr b="1" lang="fr-FR"/>
              <a:t>prononciation</a:t>
            </a:r>
            <a:r>
              <a:rPr lang="fr-FR"/>
              <a:t> du texte pas les </a:t>
            </a:r>
            <a:r>
              <a:rPr b="1" lang="fr-FR"/>
              <a:t>lecteurs d’écrans</a:t>
            </a:r>
            <a:r>
              <a:rPr lang="fr-FR"/>
              <a:t>.</a:t>
            </a:r>
            <a:endParaRPr/>
          </a:p>
          <a:p>
            <a:pPr indent="0" lvl="0" marL="0" rtl="0" algn="l">
              <a:lnSpc>
                <a:spcPct val="100000"/>
              </a:lnSpc>
              <a:spcBef>
                <a:spcPts val="1200"/>
              </a:spcBef>
              <a:spcAft>
                <a:spcPts val="0"/>
              </a:spcAft>
              <a:buClr>
                <a:schemeClr val="dk1"/>
              </a:buClr>
              <a:buSzPts val="1600"/>
              <a:buNone/>
            </a:pPr>
            <a:r>
              <a:rPr lang="fr-FR" sz="1600"/>
              <a:t>Remarque : la langue du document ou du texte sélectionné apparaît dans la barre d’état (en bas de la fenêtre).</a:t>
            </a:r>
            <a:endParaRPr/>
          </a:p>
        </p:txBody>
      </p:sp>
      <p:pic>
        <p:nvPicPr>
          <p:cNvPr id="557" name="Google Shape;557;p31"/>
          <p:cNvPicPr preferRelativeResize="0"/>
          <p:nvPr/>
        </p:nvPicPr>
        <p:blipFill rotWithShape="1">
          <a:blip r:embed="rId3">
            <a:alphaModFix/>
          </a:blip>
          <a:srcRect b="0" l="0" r="0" t="0"/>
          <a:stretch/>
        </p:blipFill>
        <p:spPr>
          <a:xfrm>
            <a:off x="1606465" y="4270276"/>
            <a:ext cx="1811999" cy="360000"/>
          </a:xfrm>
          <a:prstGeom prst="rect">
            <a:avLst/>
          </a:prstGeom>
          <a:noFill/>
          <a:ln>
            <a:noFill/>
          </a:ln>
        </p:spPr>
      </p:pic>
      <p:pic>
        <p:nvPicPr>
          <p:cNvPr id="558" name="Google Shape;558;p31"/>
          <p:cNvPicPr preferRelativeResize="0"/>
          <p:nvPr/>
        </p:nvPicPr>
        <p:blipFill rotWithShape="1">
          <a:blip r:embed="rId4">
            <a:alphaModFix/>
          </a:blip>
          <a:srcRect b="0" l="0" r="0" t="0"/>
          <a:stretch/>
        </p:blipFill>
        <p:spPr>
          <a:xfrm>
            <a:off x="4217404" y="4299942"/>
            <a:ext cx="3164512" cy="27186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65" name="Google Shape;565;p3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66" name="Google Shape;566;p3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67" name="Google Shape;567;p32"/>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68" name="Google Shape;568;p32"/>
          <p:cNvSpPr txBox="1"/>
          <p:nvPr>
            <p:ph type="title"/>
          </p:nvPr>
        </p:nvSpPr>
        <p:spPr>
          <a:xfrm>
            <a:off x="359999" y="77155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Mots en une autre langue</a:t>
            </a:r>
            <a:endParaRPr/>
          </a:p>
        </p:txBody>
      </p:sp>
      <p:sp>
        <p:nvSpPr>
          <p:cNvPr id="569" name="Google Shape;569;p32"/>
          <p:cNvSpPr txBox="1"/>
          <p:nvPr>
            <p:ph idx="2" type="body"/>
          </p:nvPr>
        </p:nvSpPr>
        <p:spPr>
          <a:xfrm>
            <a:off x="360363" y="1203598"/>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Modifier la langue d’un mot ou groupe de mots</a:t>
            </a:r>
            <a:endParaRPr/>
          </a:p>
          <a:p>
            <a:pPr indent="0" lvl="0" marL="0" rtl="0" algn="l">
              <a:lnSpc>
                <a:spcPct val="100000"/>
              </a:lnSpc>
              <a:spcBef>
                <a:spcPts val="500"/>
              </a:spcBef>
              <a:spcAft>
                <a:spcPts val="0"/>
              </a:spcAft>
              <a:buClr>
                <a:srgbClr val="595959"/>
              </a:buClr>
              <a:buSzPts val="2000"/>
              <a:buNone/>
            </a:pPr>
            <a:r>
              <a:t/>
            </a:r>
            <a:endParaRPr/>
          </a:p>
        </p:txBody>
      </p:sp>
      <p:sp>
        <p:nvSpPr>
          <p:cNvPr id="570" name="Google Shape;570;p32"/>
          <p:cNvSpPr txBox="1"/>
          <p:nvPr>
            <p:ph idx="1" type="body"/>
          </p:nvPr>
        </p:nvSpPr>
        <p:spPr>
          <a:xfrm>
            <a:off x="359998" y="1635646"/>
            <a:ext cx="3995978" cy="2755043"/>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chemeClr val="dk1"/>
              </a:buClr>
              <a:buSzPts val="1600"/>
              <a:buNone/>
            </a:pPr>
            <a:r>
              <a:rPr lang="fr-FR" sz="1600"/>
              <a:t>Sélectionner le texte dans une autre langue </a:t>
            </a:r>
            <a:r>
              <a:rPr lang="fr-FR" sz="1600">
                <a:solidFill>
                  <a:srgbClr val="000000"/>
                </a:solidFill>
              </a:rPr>
              <a:t>→ cliquer sur « Français » dans la barre d’état → Sélectionner la langue dans la fenêtre Langue.</a:t>
            </a:r>
            <a:endParaRPr/>
          </a:p>
        </p:txBody>
      </p:sp>
      <p:pic>
        <p:nvPicPr>
          <p:cNvPr id="571" name="Google Shape;571;p32"/>
          <p:cNvPicPr preferRelativeResize="0"/>
          <p:nvPr/>
        </p:nvPicPr>
        <p:blipFill rotWithShape="1">
          <a:blip r:embed="rId3">
            <a:alphaModFix/>
          </a:blip>
          <a:srcRect b="0" l="0" r="0" t="0"/>
          <a:stretch/>
        </p:blipFill>
        <p:spPr>
          <a:xfrm>
            <a:off x="914022" y="3147814"/>
            <a:ext cx="2438611" cy="1036410"/>
          </a:xfrm>
          <a:prstGeom prst="rect">
            <a:avLst/>
          </a:prstGeom>
          <a:noFill/>
          <a:ln>
            <a:noFill/>
          </a:ln>
        </p:spPr>
      </p:pic>
      <p:cxnSp>
        <p:nvCxnSpPr>
          <p:cNvPr id="572" name="Google Shape;572;p32"/>
          <p:cNvCxnSpPr/>
          <p:nvPr/>
        </p:nvCxnSpPr>
        <p:spPr>
          <a:xfrm>
            <a:off x="4499992" y="1836000"/>
            <a:ext cx="0" cy="2823982"/>
          </a:xfrm>
          <a:prstGeom prst="straightConnector1">
            <a:avLst/>
          </a:prstGeom>
          <a:noFill/>
          <a:ln cap="flat" cmpd="sng" w="9525">
            <a:solidFill>
              <a:schemeClr val="dk1"/>
            </a:solidFill>
            <a:prstDash val="solid"/>
            <a:round/>
            <a:headEnd len="sm" w="sm" type="none"/>
            <a:tailEnd len="sm" w="sm" type="none"/>
          </a:ln>
        </p:spPr>
      </p:cxnSp>
      <p:sp>
        <p:nvSpPr>
          <p:cNvPr id="573" name="Google Shape;573;p32"/>
          <p:cNvSpPr txBox="1"/>
          <p:nvPr/>
        </p:nvSpPr>
        <p:spPr>
          <a:xfrm>
            <a:off x="4787900" y="1635646"/>
            <a:ext cx="3995738" cy="275504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800"/>
              <a:buFont typeface="Arial"/>
              <a:buNone/>
            </a:pPr>
            <a:r>
              <a:rPr b="1" i="0" lang="fr-FR" sz="1800" u="none" cap="none" strike="noStrike">
                <a:solidFill>
                  <a:schemeClr val="dk1"/>
                </a:solidFill>
                <a:latin typeface="Arial"/>
                <a:ea typeface="Arial"/>
                <a:cs typeface="Arial"/>
                <a:sym typeface="Arial"/>
              </a:rPr>
              <a:t>Writer</a:t>
            </a:r>
            <a:endParaRPr/>
          </a:p>
          <a:p>
            <a:pPr indent="0" lvl="0" marL="0" marR="0" rtl="0" algn="l">
              <a:lnSpc>
                <a:spcPct val="100000"/>
              </a:lnSpc>
              <a:spcBef>
                <a:spcPts val="500"/>
              </a:spcBef>
              <a:spcAft>
                <a:spcPts val="0"/>
              </a:spcAft>
              <a:buClr>
                <a:srgbClr val="000000"/>
              </a:buClr>
              <a:buSzPts val="1600"/>
              <a:buFont typeface="Arial"/>
              <a:buNone/>
            </a:pPr>
            <a:r>
              <a:rPr b="0" i="0" lang="fr-FR" sz="1600" u="none" cap="none" strike="noStrike">
                <a:solidFill>
                  <a:srgbClr val="000000"/>
                </a:solidFill>
                <a:latin typeface="Arial"/>
                <a:ea typeface="Arial"/>
                <a:cs typeface="Arial"/>
                <a:sym typeface="Arial"/>
              </a:rPr>
              <a:t>Paragraphe entier dans un autre langue :</a:t>
            </a:r>
            <a:endParaRPr/>
          </a:p>
          <a:p>
            <a:pPr indent="-88900" lvl="1" marL="252000" marR="0" rtl="0" algn="l">
              <a:lnSpc>
                <a:spcPct val="100000"/>
              </a:lnSpc>
              <a:spcBef>
                <a:spcPts val="50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Se positionner sur le paragraphe → clic droit sur « Français » dans la barre d’état → Définir la langue pour le paragraphe →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3900"/>
              </a:spcBef>
              <a:spcAft>
                <a:spcPts val="0"/>
              </a:spcAft>
              <a:buClr>
                <a:srgbClr val="000000"/>
              </a:buClr>
              <a:buSzPts val="1600"/>
              <a:buFont typeface="Arial"/>
              <a:buNone/>
            </a:pPr>
            <a:r>
              <a:rPr b="0" i="0" lang="fr-FR" sz="1600" u="none" cap="none" strike="noStrike">
                <a:solidFill>
                  <a:srgbClr val="000000"/>
                </a:solidFill>
                <a:latin typeface="Arial"/>
                <a:ea typeface="Arial"/>
                <a:cs typeface="Arial"/>
                <a:sym typeface="Arial"/>
              </a:rPr>
              <a:t>Quelques mots au sein d’un paragraphe en français :</a:t>
            </a:r>
            <a:endParaRPr/>
          </a:p>
          <a:p>
            <a:pPr indent="-88900" lvl="1" marL="252000" marR="0" rtl="0" algn="l">
              <a:lnSpc>
                <a:spcPct val="100000"/>
              </a:lnSpc>
              <a:spcBef>
                <a:spcPts val="500"/>
              </a:spcBef>
              <a:spcAft>
                <a:spcPts val="0"/>
              </a:spcAft>
              <a:buClr>
                <a:srgbClr val="000000"/>
              </a:buClr>
              <a:buSzPts val="1400"/>
              <a:buFont typeface="Arial"/>
              <a:buChar char="•"/>
            </a:pPr>
            <a:r>
              <a:rPr b="0" i="0" lang="fr-FR" sz="1400" u="none" cap="none" strike="noStrike">
                <a:solidFill>
                  <a:srgbClr val="000000"/>
                </a:solidFill>
                <a:latin typeface="Arial"/>
                <a:ea typeface="Arial"/>
                <a:cs typeface="Arial"/>
                <a:sym typeface="Arial"/>
              </a:rPr>
              <a:t>Sélection du texte Format → Caractère…  → onglet Police → Champ « Langue ».</a:t>
            </a:r>
            <a:endParaRPr/>
          </a:p>
        </p:txBody>
      </p:sp>
      <p:pic>
        <p:nvPicPr>
          <p:cNvPr id="574" name="Google Shape;574;p32"/>
          <p:cNvPicPr preferRelativeResize="0"/>
          <p:nvPr/>
        </p:nvPicPr>
        <p:blipFill rotWithShape="1">
          <a:blip r:embed="rId4">
            <a:alphaModFix/>
          </a:blip>
          <a:srcRect b="0" l="0" r="0" t="0"/>
          <a:stretch/>
        </p:blipFill>
        <p:spPr>
          <a:xfrm>
            <a:off x="4139952" y="2961770"/>
            <a:ext cx="4945809" cy="381033"/>
          </a:xfrm>
          <a:prstGeom prst="rect">
            <a:avLst/>
          </a:prstGeom>
          <a:noFill/>
          <a:ln>
            <a:noFill/>
          </a:ln>
        </p:spPr>
      </p:pic>
      <p:pic>
        <p:nvPicPr>
          <p:cNvPr id="575" name="Google Shape;575;p32"/>
          <p:cNvPicPr preferRelativeResize="0"/>
          <p:nvPr/>
        </p:nvPicPr>
        <p:blipFill rotWithShape="1">
          <a:blip r:embed="rId5">
            <a:alphaModFix/>
          </a:blip>
          <a:srcRect b="0" l="0" r="0" t="0"/>
          <a:stretch/>
        </p:blipFill>
        <p:spPr>
          <a:xfrm>
            <a:off x="6362916" y="4396681"/>
            <a:ext cx="1867062" cy="33530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82" name="Google Shape;582;p3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83" name="Google Shape;583;p3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84" name="Google Shape;584;p33"/>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585" name="Google Shape;585;p3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Lisibilité (suite)</a:t>
            </a:r>
            <a:endParaRPr/>
          </a:p>
        </p:txBody>
      </p:sp>
      <p:sp>
        <p:nvSpPr>
          <p:cNvPr id="586" name="Google Shape;586;p33"/>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Exercice </a:t>
            </a:r>
            <a:r>
              <a:rPr lang="fr-FR"/>
              <a:t>7 : Bonnes pratiques éditoriales</a:t>
            </a:r>
            <a:endParaRPr/>
          </a:p>
          <a:p>
            <a:pPr indent="0" lvl="0" marL="0" rtl="0" algn="l">
              <a:lnSpc>
                <a:spcPct val="100000"/>
              </a:lnSpc>
              <a:spcBef>
                <a:spcPts val="500"/>
              </a:spcBef>
              <a:spcAft>
                <a:spcPts val="0"/>
              </a:spcAft>
              <a:buClr>
                <a:srgbClr val="595959"/>
              </a:buClr>
              <a:buSzPts val="2000"/>
              <a:buNone/>
            </a:pPr>
            <a:r>
              <a:t/>
            </a:r>
            <a:endParaRPr/>
          </a:p>
        </p:txBody>
      </p:sp>
      <p:sp>
        <p:nvSpPr>
          <p:cNvPr id="587" name="Google Shape;587;p33"/>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800"/>
              <a:buFont typeface="Arial"/>
              <a:buAutoNum type="arabicPeriod"/>
            </a:pPr>
            <a:r>
              <a:rPr lang="fr-FR" sz="1800"/>
              <a:t>Repérer les mots en majuscules et les remplacer par des solutions plus accessibles.</a:t>
            </a:r>
            <a:endParaRPr/>
          </a:p>
          <a:p>
            <a:pPr indent="-342899" lvl="1" marL="594900" rtl="0" algn="l">
              <a:lnSpc>
                <a:spcPct val="100000"/>
              </a:lnSpc>
              <a:spcBef>
                <a:spcPts val="1100"/>
              </a:spcBef>
              <a:spcAft>
                <a:spcPts val="0"/>
              </a:spcAft>
              <a:buClr>
                <a:schemeClr val="dk1"/>
              </a:buClr>
              <a:buSzPts val="1600"/>
              <a:buChar char="•"/>
            </a:pPr>
            <a:r>
              <a:rPr lang="fr-FR"/>
              <a:t>Différencier les acronymes des mots en majuscules et proposer des améliorations de présentation. </a:t>
            </a:r>
            <a:endParaRPr/>
          </a:p>
          <a:p>
            <a:pPr indent="-342900" lvl="0" marL="342900" rtl="0" algn="l">
              <a:lnSpc>
                <a:spcPct val="100000"/>
              </a:lnSpc>
              <a:spcBef>
                <a:spcPts val="1200"/>
              </a:spcBef>
              <a:spcAft>
                <a:spcPts val="0"/>
              </a:spcAft>
              <a:buClr>
                <a:schemeClr val="dk1"/>
              </a:buClr>
              <a:buSzPts val="1800"/>
              <a:buFont typeface="Arial"/>
              <a:buAutoNum type="arabicPeriod"/>
            </a:pPr>
            <a:r>
              <a:rPr lang="fr-FR" sz="1800"/>
              <a:t>Identifier les mots dans une langue étrangère et spécifier la langue si besoin. </a:t>
            </a:r>
            <a:endParaRPr/>
          </a:p>
          <a:p>
            <a:pPr indent="-342899" lvl="1" marL="594900" rtl="0" algn="l">
              <a:lnSpc>
                <a:spcPct val="100000"/>
              </a:lnSpc>
              <a:spcBef>
                <a:spcPts val="1100"/>
              </a:spcBef>
              <a:spcAft>
                <a:spcPts val="0"/>
              </a:spcAft>
              <a:buClr>
                <a:srgbClr val="4C216D"/>
              </a:buClr>
              <a:buSzPts val="1600"/>
              <a:buChar char="•"/>
            </a:pPr>
            <a:r>
              <a:rPr lang="fr-FR">
                <a:solidFill>
                  <a:srgbClr val="4C216D"/>
                </a:solidFill>
              </a:rPr>
              <a:t>Pour aller plus loin : Utiliser des styles pour améliorer la présentation (taille et police « Marianne », retrait, interligne, etc.).</a:t>
            </a:r>
            <a:endParaRPr/>
          </a:p>
          <a:p>
            <a:pPr indent="0" lvl="0" marL="0" rtl="0" algn="l">
              <a:lnSpc>
                <a:spcPct val="100000"/>
              </a:lnSpc>
              <a:spcBef>
                <a:spcPts val="600"/>
              </a:spcBef>
              <a:spcAft>
                <a:spcPts val="0"/>
              </a:spcAft>
              <a:buClr>
                <a:schemeClr val="dk1"/>
              </a:buClr>
              <a:buSzPts val="1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4"/>
          <p:cNvSpPr/>
          <p:nvPr>
            <p:ph idx="2" type="pic"/>
          </p:nvPr>
        </p:nvSpPr>
        <p:spPr>
          <a:xfrm>
            <a:off x="0" y="738000"/>
            <a:ext cx="9144000" cy="4406400"/>
          </a:xfrm>
          <a:prstGeom prst="rect">
            <a:avLst/>
          </a:prstGeom>
          <a:solidFill>
            <a:srgbClr val="D8D8D8"/>
          </a:solidFill>
          <a:ln>
            <a:noFill/>
          </a:ln>
        </p:spPr>
      </p:sp>
      <p:sp>
        <p:nvSpPr>
          <p:cNvPr id="594" name="Google Shape;594;p3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595" name="Google Shape;595;p3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596" name="Google Shape;596;p3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597" name="Google Shape;597;p34"/>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Éléments de navigation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04" name="Google Shape;604;p3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05" name="Google Shape;605;p35"/>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06" name="Google Shape;606;p3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07" name="Google Shape;607;p35"/>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Éléments de navigation internes / externes</a:t>
            </a:r>
            <a:endParaRPr/>
          </a:p>
        </p:txBody>
      </p:sp>
      <p:sp>
        <p:nvSpPr>
          <p:cNvPr id="608" name="Google Shape;608;p35"/>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Des liens</a:t>
            </a:r>
            <a:endParaRPr/>
          </a:p>
        </p:txBody>
      </p:sp>
      <p:sp>
        <p:nvSpPr>
          <p:cNvPr id="609" name="Google Shape;609;p35"/>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b="1" lang="fr-FR"/>
              <a:t>Liens internes </a:t>
            </a:r>
            <a:r>
              <a:rPr lang="fr-FR"/>
              <a:t>(au sein du document) </a:t>
            </a:r>
            <a:endParaRPr/>
          </a:p>
          <a:p>
            <a:pPr indent="-285750" lvl="0" marL="285750" rtl="0" algn="l">
              <a:lnSpc>
                <a:spcPct val="100000"/>
              </a:lnSpc>
              <a:spcBef>
                <a:spcPts val="500"/>
              </a:spcBef>
              <a:spcAft>
                <a:spcPts val="0"/>
              </a:spcAft>
              <a:buClr>
                <a:schemeClr val="dk1"/>
              </a:buClr>
              <a:buSzPts val="1800"/>
              <a:buFont typeface="Arial"/>
              <a:buChar char="•"/>
            </a:pPr>
            <a:r>
              <a:rPr lang="fr-FR"/>
              <a:t>Table des matières (index ou sommaires) ;</a:t>
            </a:r>
            <a:endParaRPr/>
          </a:p>
          <a:p>
            <a:pPr indent="-285750" lvl="0" marL="285750" rtl="0" algn="l">
              <a:lnSpc>
                <a:spcPct val="100000"/>
              </a:lnSpc>
              <a:spcBef>
                <a:spcPts val="500"/>
              </a:spcBef>
              <a:spcAft>
                <a:spcPts val="0"/>
              </a:spcAft>
              <a:buClr>
                <a:schemeClr val="dk1"/>
              </a:buClr>
              <a:buSzPts val="1800"/>
              <a:buFont typeface="Arial"/>
              <a:buChar char="•"/>
            </a:pPr>
            <a:r>
              <a:rPr lang="fr-FR"/>
              <a:t>Notes de bas de page  ;</a:t>
            </a:r>
            <a:endParaRPr/>
          </a:p>
          <a:p>
            <a:pPr indent="-285750" lvl="0" marL="285750" rtl="0" algn="l">
              <a:lnSpc>
                <a:spcPct val="100000"/>
              </a:lnSpc>
              <a:spcBef>
                <a:spcPts val="500"/>
              </a:spcBef>
              <a:spcAft>
                <a:spcPts val="0"/>
              </a:spcAft>
              <a:buClr>
                <a:schemeClr val="dk1"/>
              </a:buClr>
              <a:buSzPts val="1800"/>
              <a:buFont typeface="Arial"/>
              <a:buChar char="•"/>
            </a:pPr>
            <a:r>
              <a:rPr lang="fr-FR"/>
              <a:t>Notes de fin ;</a:t>
            </a:r>
            <a:endParaRPr/>
          </a:p>
          <a:p>
            <a:pPr indent="-285750" lvl="0" marL="285750" rtl="0" algn="l">
              <a:lnSpc>
                <a:spcPct val="100000"/>
              </a:lnSpc>
              <a:spcBef>
                <a:spcPts val="500"/>
              </a:spcBef>
              <a:spcAft>
                <a:spcPts val="0"/>
              </a:spcAft>
              <a:buClr>
                <a:schemeClr val="dk1"/>
              </a:buClr>
              <a:buSzPts val="1800"/>
              <a:buFont typeface="Arial"/>
              <a:buChar char="•"/>
            </a:pPr>
            <a:r>
              <a:rPr lang="fr-FR"/>
              <a:t>Renvois.</a:t>
            </a:r>
            <a:endParaRPr/>
          </a:p>
        </p:txBody>
      </p:sp>
      <p:sp>
        <p:nvSpPr>
          <p:cNvPr id="610" name="Google Shape;610;p35"/>
          <p:cNvSpPr txBox="1"/>
          <p:nvPr>
            <p:ph idx="3" type="body"/>
          </p:nvPr>
        </p:nvSpPr>
        <p:spPr>
          <a:xfrm>
            <a:off x="4644008" y="1832930"/>
            <a:ext cx="4132074" cy="257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b="1" lang="fr-FR"/>
              <a:t>Liens externes </a:t>
            </a:r>
            <a:r>
              <a:rPr lang="fr-FR"/>
              <a:t>(hors document)</a:t>
            </a:r>
            <a:endParaRPr/>
          </a:p>
          <a:p>
            <a:pPr indent="-285750" lvl="0" marL="285750" rtl="0" algn="l">
              <a:lnSpc>
                <a:spcPct val="100000"/>
              </a:lnSpc>
              <a:spcBef>
                <a:spcPts val="500"/>
              </a:spcBef>
              <a:spcAft>
                <a:spcPts val="0"/>
              </a:spcAft>
              <a:buClr>
                <a:schemeClr val="dk1"/>
              </a:buClr>
              <a:buSzPts val="1800"/>
              <a:buFont typeface="Arial"/>
              <a:buChar char="•"/>
            </a:pPr>
            <a:r>
              <a:rPr lang="fr-FR"/>
              <a:t>De navigation ;</a:t>
            </a:r>
            <a:endParaRPr/>
          </a:p>
          <a:p>
            <a:pPr indent="-285750" lvl="0" marL="285750" rtl="0" algn="l">
              <a:lnSpc>
                <a:spcPct val="100000"/>
              </a:lnSpc>
              <a:spcBef>
                <a:spcPts val="500"/>
              </a:spcBef>
              <a:spcAft>
                <a:spcPts val="0"/>
              </a:spcAft>
              <a:buClr>
                <a:schemeClr val="dk1"/>
              </a:buClr>
              <a:buSzPts val="1800"/>
              <a:buFont typeface="Arial"/>
              <a:buChar char="•"/>
            </a:pPr>
            <a:r>
              <a:rPr lang="fr-FR"/>
              <a:t>De téléchargement.</a:t>
            </a:r>
            <a:endParaRPr/>
          </a:p>
          <a:p>
            <a:pPr indent="0" lvl="0" marL="0" rtl="0" algn="l">
              <a:lnSpc>
                <a:spcPct val="100000"/>
              </a:lnSpc>
              <a:spcBef>
                <a:spcPts val="500"/>
              </a:spcBef>
              <a:spcAft>
                <a:spcPts val="0"/>
              </a:spcAft>
              <a:buClr>
                <a:schemeClr val="dk1"/>
              </a:buClr>
              <a:buSzPts val="1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3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17" name="Google Shape;617;p3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18" name="Google Shape;618;p36"/>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19" name="Google Shape;619;p3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20" name="Google Shape;620;p36"/>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Éléments de navigation internes</a:t>
            </a:r>
            <a:endParaRPr/>
          </a:p>
        </p:txBody>
      </p:sp>
      <p:sp>
        <p:nvSpPr>
          <p:cNvPr id="621" name="Google Shape;621;p36"/>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Utilisation des fonctionnalités spécifiques ou pas !</a:t>
            </a:r>
            <a:endParaRPr/>
          </a:p>
        </p:txBody>
      </p:sp>
      <p:sp>
        <p:nvSpPr>
          <p:cNvPr id="622" name="Google Shape;622;p36"/>
          <p:cNvSpPr txBox="1"/>
          <p:nvPr>
            <p:ph idx="1" type="body"/>
          </p:nvPr>
        </p:nvSpPr>
        <p:spPr>
          <a:xfrm>
            <a:off x="359998" y="1836000"/>
            <a:ext cx="3995978" cy="213988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000000"/>
              </a:buClr>
              <a:buSzPts val="1600"/>
              <a:buNone/>
            </a:pPr>
            <a:r>
              <a:rPr b="1" i="0" lang="fr-FR" sz="1600" u="none" strike="noStrike">
                <a:solidFill>
                  <a:srgbClr val="000000"/>
                </a:solidFill>
                <a:latin typeface="Arial"/>
                <a:ea typeface="Arial"/>
                <a:cs typeface="Arial"/>
                <a:sym typeface="Arial"/>
              </a:rPr>
              <a:t>Note de bas de pages / de fin </a:t>
            </a:r>
            <a:r>
              <a:rPr b="0" i="0" lang="fr-FR" sz="1600" u="none" strike="noStrike">
                <a:solidFill>
                  <a:srgbClr val="000000"/>
                </a:solidFill>
                <a:latin typeface="Arial"/>
                <a:ea typeface="Arial"/>
                <a:cs typeface="Arial"/>
                <a:sym typeface="Arial"/>
              </a:rPr>
              <a:t>:</a:t>
            </a:r>
            <a:endParaRPr/>
          </a:p>
          <a:p>
            <a:pPr indent="-285750" lvl="0" marL="285750" rtl="0" algn="l">
              <a:lnSpc>
                <a:spcPct val="100000"/>
              </a:lnSpc>
              <a:spcBef>
                <a:spcPts val="500"/>
              </a:spcBef>
              <a:spcAft>
                <a:spcPts val="0"/>
              </a:spcAft>
              <a:buClr>
                <a:srgbClr val="00006C"/>
              </a:buClr>
              <a:buSzPts val="1400"/>
              <a:buFont typeface="Arial"/>
              <a:buChar char="•"/>
            </a:pPr>
            <a:r>
              <a:rPr lang="fr-FR" sz="1400">
                <a:solidFill>
                  <a:srgbClr val="00006C"/>
                </a:solidFill>
              </a:rPr>
              <a:t>Références</a:t>
            </a:r>
            <a:r>
              <a:rPr lang="fr-FR" sz="1400"/>
              <a:t> </a:t>
            </a:r>
            <a:r>
              <a:rPr b="0" i="0" lang="fr-FR" sz="1400" u="none" strike="noStrike">
                <a:solidFill>
                  <a:srgbClr val="000000"/>
                </a:solidFill>
                <a:latin typeface="Arial"/>
                <a:ea typeface="Arial"/>
                <a:cs typeface="Arial"/>
                <a:sym typeface="Arial"/>
              </a:rPr>
              <a:t> → zone « </a:t>
            </a:r>
            <a:r>
              <a:rPr b="0" i="0" lang="fr-FR" sz="1400" u="none" strike="noStrike">
                <a:solidFill>
                  <a:srgbClr val="00006C"/>
                </a:solidFill>
                <a:latin typeface="Arial"/>
                <a:ea typeface="Arial"/>
                <a:cs typeface="Arial"/>
                <a:sym typeface="Arial"/>
              </a:rPr>
              <a:t>Notes de bas de page</a:t>
            </a:r>
            <a:r>
              <a:rPr b="0" i="0" lang="fr-FR" sz="1400" u="none" strike="noStrike">
                <a:solidFill>
                  <a:srgbClr val="000000"/>
                </a:solidFill>
                <a:latin typeface="Arial"/>
                <a:ea typeface="Arial"/>
                <a:cs typeface="Arial"/>
                <a:sym typeface="Arial"/>
              </a:rPr>
              <a:t> » :</a:t>
            </a:r>
            <a:endParaRPr/>
          </a:p>
          <a:p>
            <a:pPr indent="-285749" lvl="1" marL="537750" rtl="0" algn="l">
              <a:lnSpc>
                <a:spcPct val="100000"/>
              </a:lnSpc>
              <a:spcBef>
                <a:spcPts val="500"/>
              </a:spcBef>
              <a:spcAft>
                <a:spcPts val="0"/>
              </a:spcAft>
              <a:buClr>
                <a:srgbClr val="00006C"/>
              </a:buClr>
              <a:buSzPts val="1400"/>
              <a:buChar char="•"/>
            </a:pPr>
            <a:r>
              <a:rPr lang="fr-FR" sz="1400">
                <a:solidFill>
                  <a:srgbClr val="00006C"/>
                </a:solidFill>
                <a:latin typeface="Arial"/>
                <a:ea typeface="Arial"/>
                <a:cs typeface="Arial"/>
                <a:sym typeface="Arial"/>
              </a:rPr>
              <a:t>Insérer une note de bas de page ;</a:t>
            </a:r>
            <a:endParaRPr/>
          </a:p>
          <a:p>
            <a:pPr indent="-285749" lvl="1" marL="537750" rtl="0" algn="l">
              <a:lnSpc>
                <a:spcPct val="100000"/>
              </a:lnSpc>
              <a:spcBef>
                <a:spcPts val="600"/>
              </a:spcBef>
              <a:spcAft>
                <a:spcPts val="0"/>
              </a:spcAft>
              <a:buClr>
                <a:srgbClr val="00006C"/>
              </a:buClr>
              <a:buSzPts val="1400"/>
              <a:buChar char="•"/>
            </a:pPr>
            <a:r>
              <a:rPr b="0" i="0" lang="fr-FR" sz="1400" u="none" strike="noStrike">
                <a:solidFill>
                  <a:srgbClr val="00006C"/>
                </a:solidFill>
                <a:latin typeface="Arial"/>
                <a:ea typeface="Arial"/>
                <a:cs typeface="Arial"/>
                <a:sym typeface="Arial"/>
              </a:rPr>
              <a:t>Insérer une note de fin.</a:t>
            </a:r>
            <a:endParaRPr/>
          </a:p>
          <a:p>
            <a:pPr indent="0" lvl="0" marL="0" rtl="0" algn="l">
              <a:lnSpc>
                <a:spcPct val="100000"/>
              </a:lnSpc>
              <a:spcBef>
                <a:spcPts val="600"/>
              </a:spcBef>
              <a:spcAft>
                <a:spcPts val="0"/>
              </a:spcAft>
              <a:buClr>
                <a:srgbClr val="000000"/>
              </a:buClr>
              <a:buSzPts val="1600"/>
              <a:buNone/>
            </a:pPr>
            <a:r>
              <a:rPr b="1" lang="fr-FR" sz="1600">
                <a:solidFill>
                  <a:srgbClr val="000000"/>
                </a:solidFill>
                <a:latin typeface="Arial"/>
                <a:ea typeface="Arial"/>
                <a:cs typeface="Arial"/>
                <a:sym typeface="Arial"/>
              </a:rPr>
              <a:t>Renvoi</a:t>
            </a:r>
            <a:r>
              <a:rPr lang="fr-FR" sz="1600">
                <a:solidFill>
                  <a:srgbClr val="000000"/>
                </a:solidFill>
                <a:latin typeface="Arial"/>
                <a:ea typeface="Arial"/>
                <a:cs typeface="Arial"/>
                <a:sym typeface="Arial"/>
              </a:rPr>
              <a:t> </a:t>
            </a:r>
            <a:r>
              <a:rPr b="0" i="0" lang="fr-FR" sz="2000" u="none" strike="noStrike">
                <a:solidFill>
                  <a:srgbClr val="000000"/>
                </a:solidFill>
                <a:latin typeface="Lucida Sans"/>
                <a:ea typeface="Lucida Sans"/>
                <a:cs typeface="Lucida Sans"/>
                <a:sym typeface="Lucida Sans"/>
              </a:rPr>
              <a:t>: </a:t>
            </a:r>
            <a:r>
              <a:rPr lang="fr-FR" sz="1400">
                <a:solidFill>
                  <a:srgbClr val="00006C"/>
                </a:solidFill>
                <a:latin typeface="Arial"/>
                <a:ea typeface="Arial"/>
                <a:cs typeface="Arial"/>
                <a:sym typeface="Arial"/>
              </a:rPr>
              <a:t>Insertion</a:t>
            </a:r>
            <a:r>
              <a:rPr lang="fr-FR" sz="1400">
                <a:solidFill>
                  <a:srgbClr val="000000"/>
                </a:solidFill>
                <a:latin typeface="Arial"/>
                <a:ea typeface="Arial"/>
                <a:cs typeface="Arial"/>
                <a:sym typeface="Arial"/>
              </a:rPr>
              <a:t> → </a:t>
            </a:r>
            <a:r>
              <a:rPr lang="fr-FR" sz="1400">
                <a:solidFill>
                  <a:srgbClr val="00006C"/>
                </a:solidFill>
                <a:latin typeface="Arial"/>
                <a:ea typeface="Arial"/>
                <a:cs typeface="Arial"/>
                <a:sym typeface="Arial"/>
              </a:rPr>
              <a:t>Renvoi…</a:t>
            </a:r>
            <a:endParaRPr/>
          </a:p>
          <a:p>
            <a:pPr indent="0" lvl="0" marL="0" rtl="0" algn="l">
              <a:lnSpc>
                <a:spcPct val="100000"/>
              </a:lnSpc>
              <a:spcBef>
                <a:spcPts val="500"/>
              </a:spcBef>
              <a:spcAft>
                <a:spcPts val="0"/>
              </a:spcAft>
              <a:buClr>
                <a:schemeClr val="dk1"/>
              </a:buClr>
              <a:buSzPts val="1600"/>
              <a:buNone/>
            </a:pPr>
            <a:r>
              <a:t/>
            </a:r>
            <a:endParaRPr b="0" i="0" sz="1600" u="none" strike="noStrike">
              <a:solidFill>
                <a:srgbClr val="000000"/>
              </a:solidFill>
              <a:latin typeface="Arial"/>
              <a:ea typeface="Arial"/>
              <a:cs typeface="Arial"/>
              <a:sym typeface="Arial"/>
            </a:endParaRPr>
          </a:p>
          <a:p>
            <a:pPr indent="-209549" lvl="1" marL="537750" rtl="0" algn="l">
              <a:lnSpc>
                <a:spcPct val="100000"/>
              </a:lnSpc>
              <a:spcBef>
                <a:spcPts val="1100"/>
              </a:spcBef>
              <a:spcAft>
                <a:spcPts val="0"/>
              </a:spcAft>
              <a:buClr>
                <a:schemeClr val="dk1"/>
              </a:buClr>
              <a:buSzPts val="1200"/>
              <a:buNone/>
            </a:pPr>
            <a:r>
              <a:t/>
            </a:r>
            <a:endParaRPr sz="1200"/>
          </a:p>
        </p:txBody>
      </p:sp>
      <p:pic>
        <p:nvPicPr>
          <p:cNvPr descr="Affichage du texte de la note au survol, mais pas de restitution au lecteur d'écran.&#10;Le lien permet d'atteindre la note à la souris mais pas au clavier. Pas de lien pour le retour au point de départ." id="623" name="Google Shape;623;p36"/>
          <p:cNvPicPr preferRelativeResize="0"/>
          <p:nvPr/>
        </p:nvPicPr>
        <p:blipFill rotWithShape="1">
          <a:blip r:embed="rId3">
            <a:alphaModFix/>
          </a:blip>
          <a:srcRect b="0" l="0" r="0" t="0"/>
          <a:stretch/>
        </p:blipFill>
        <p:spPr>
          <a:xfrm>
            <a:off x="3008957" y="3784914"/>
            <a:ext cx="1857275" cy="443020"/>
          </a:xfrm>
          <a:prstGeom prst="rect">
            <a:avLst/>
          </a:prstGeom>
          <a:noFill/>
          <a:ln>
            <a:noFill/>
          </a:ln>
        </p:spPr>
      </p:pic>
      <p:cxnSp>
        <p:nvCxnSpPr>
          <p:cNvPr id="624" name="Google Shape;624;p36"/>
          <p:cNvCxnSpPr/>
          <p:nvPr/>
        </p:nvCxnSpPr>
        <p:spPr>
          <a:xfrm>
            <a:off x="4211960" y="1836000"/>
            <a:ext cx="0" cy="2391934"/>
          </a:xfrm>
          <a:prstGeom prst="straightConnector1">
            <a:avLst/>
          </a:prstGeom>
          <a:noFill/>
          <a:ln cap="flat" cmpd="sng" w="9525">
            <a:solidFill>
              <a:schemeClr val="dk1"/>
            </a:solidFill>
            <a:prstDash val="solid"/>
            <a:round/>
            <a:headEnd len="sm" w="sm" type="none"/>
            <a:tailEnd len="sm" w="sm" type="none"/>
          </a:ln>
        </p:spPr>
      </p:cxnSp>
      <p:sp>
        <p:nvSpPr>
          <p:cNvPr id="625" name="Google Shape;625;p36"/>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2000"/>
              <a:buNone/>
            </a:pPr>
            <a:r>
              <a:rPr b="1" lang="fr-FR" sz="2000"/>
              <a:t>Writer</a:t>
            </a:r>
            <a:endParaRPr/>
          </a:p>
          <a:p>
            <a:pPr indent="0" lvl="0" marL="0" rtl="0" algn="l">
              <a:lnSpc>
                <a:spcPct val="100000"/>
              </a:lnSpc>
              <a:spcBef>
                <a:spcPts val="500"/>
              </a:spcBef>
              <a:spcAft>
                <a:spcPts val="0"/>
              </a:spcAft>
              <a:buClr>
                <a:srgbClr val="000000"/>
              </a:buClr>
              <a:buSzPts val="1600"/>
              <a:buNone/>
            </a:pPr>
            <a:r>
              <a:rPr b="1" i="0" lang="fr-FR" sz="1600" u="none" strike="noStrike">
                <a:solidFill>
                  <a:srgbClr val="000000"/>
                </a:solidFill>
                <a:latin typeface="Arial"/>
                <a:ea typeface="Arial"/>
                <a:cs typeface="Arial"/>
                <a:sym typeface="Arial"/>
              </a:rPr>
              <a:t>Note de bas de pages / de fin </a:t>
            </a:r>
            <a:r>
              <a:rPr b="0" i="0" lang="fr-FR" sz="1600" u="none" strike="noStrike">
                <a:solidFill>
                  <a:srgbClr val="000000"/>
                </a:solidFill>
                <a:latin typeface="Arial"/>
                <a:ea typeface="Arial"/>
                <a:cs typeface="Arial"/>
                <a:sym typeface="Arial"/>
              </a:rPr>
              <a:t>:</a:t>
            </a:r>
            <a:endParaRPr/>
          </a:p>
          <a:p>
            <a:pPr indent="-285750" lvl="0" marL="285750" rtl="0" algn="l">
              <a:lnSpc>
                <a:spcPct val="100000"/>
              </a:lnSpc>
              <a:spcBef>
                <a:spcPts val="500"/>
              </a:spcBef>
              <a:spcAft>
                <a:spcPts val="0"/>
              </a:spcAft>
              <a:buClr>
                <a:srgbClr val="00006C"/>
              </a:buClr>
              <a:buSzPts val="1400"/>
              <a:buFont typeface="Arial"/>
              <a:buChar char="•"/>
            </a:pPr>
            <a:r>
              <a:rPr b="0" i="0" lang="fr-FR" sz="1400" u="none" strike="noStrike">
                <a:solidFill>
                  <a:srgbClr val="00006C"/>
                </a:solidFill>
                <a:latin typeface="Arial"/>
                <a:ea typeface="Arial"/>
                <a:cs typeface="Arial"/>
                <a:sym typeface="Arial"/>
              </a:rPr>
              <a:t>Insertion</a:t>
            </a:r>
            <a:r>
              <a:rPr b="0" i="0" lang="fr-FR" sz="1400" u="none" strike="noStrike">
                <a:solidFill>
                  <a:srgbClr val="000000"/>
                </a:solidFill>
                <a:latin typeface="Arial"/>
                <a:ea typeface="Arial"/>
                <a:cs typeface="Arial"/>
                <a:sym typeface="Arial"/>
              </a:rPr>
              <a:t> → </a:t>
            </a:r>
            <a:r>
              <a:rPr b="0" i="0" lang="fr-FR" sz="1400" u="none" strike="noStrike">
                <a:solidFill>
                  <a:srgbClr val="00006C"/>
                </a:solidFill>
                <a:latin typeface="Arial"/>
                <a:ea typeface="Arial"/>
                <a:cs typeface="Arial"/>
                <a:sym typeface="Arial"/>
              </a:rPr>
              <a:t>Note de bas de page / de fin </a:t>
            </a:r>
            <a:r>
              <a:rPr b="0" i="0" lang="fr-FR" sz="1400" u="none" strike="noStrike">
                <a:solidFill>
                  <a:srgbClr val="000000"/>
                </a:solidFill>
                <a:latin typeface="Arial"/>
                <a:ea typeface="Arial"/>
                <a:cs typeface="Arial"/>
                <a:sym typeface="Arial"/>
              </a:rPr>
              <a:t>→ </a:t>
            </a:r>
            <a:r>
              <a:rPr b="0" i="0" lang="fr-FR" sz="1400" u="none" strike="noStrike">
                <a:solidFill>
                  <a:srgbClr val="00006C"/>
                </a:solidFill>
                <a:latin typeface="Arial"/>
                <a:ea typeface="Arial"/>
                <a:cs typeface="Arial"/>
                <a:sym typeface="Arial"/>
              </a:rPr>
              <a:t>Note de bas de page </a:t>
            </a:r>
            <a:r>
              <a:rPr b="0" i="0" lang="fr-FR" sz="1400" u="none" strike="noStrike">
                <a:solidFill>
                  <a:srgbClr val="000000"/>
                </a:solidFill>
                <a:latin typeface="Arial"/>
                <a:ea typeface="Arial"/>
                <a:cs typeface="Arial"/>
                <a:sym typeface="Arial"/>
              </a:rPr>
              <a:t>ou </a:t>
            </a:r>
            <a:r>
              <a:rPr b="0" i="0" lang="fr-FR" sz="1400" u="none" strike="noStrike">
                <a:solidFill>
                  <a:srgbClr val="00006C"/>
                </a:solidFill>
                <a:latin typeface="Arial"/>
                <a:ea typeface="Arial"/>
                <a:cs typeface="Arial"/>
                <a:sym typeface="Arial"/>
              </a:rPr>
              <a:t>Note de fin</a:t>
            </a:r>
            <a:r>
              <a:rPr b="0" i="0" lang="fr-FR" sz="1400" u="none" strike="noStrike">
                <a:solidFill>
                  <a:srgbClr val="000000"/>
                </a:solidFill>
                <a:latin typeface="Arial"/>
                <a:ea typeface="Arial"/>
                <a:cs typeface="Arial"/>
                <a:sym typeface="Arial"/>
              </a:rPr>
              <a:t>.</a:t>
            </a:r>
            <a:endParaRPr/>
          </a:p>
          <a:p>
            <a:pPr indent="0" lvl="0" marL="0" rtl="0" algn="l">
              <a:lnSpc>
                <a:spcPct val="100000"/>
              </a:lnSpc>
              <a:spcBef>
                <a:spcPts val="500"/>
              </a:spcBef>
              <a:spcAft>
                <a:spcPts val="0"/>
              </a:spcAft>
              <a:buClr>
                <a:srgbClr val="000000"/>
              </a:buClr>
              <a:buSzPts val="1600"/>
              <a:buNone/>
            </a:pPr>
            <a:r>
              <a:rPr b="1" lang="fr-FR" sz="1600">
                <a:solidFill>
                  <a:srgbClr val="000000"/>
                </a:solidFill>
                <a:latin typeface="Arial"/>
                <a:ea typeface="Arial"/>
                <a:cs typeface="Arial"/>
                <a:sym typeface="Arial"/>
              </a:rPr>
              <a:t>Renvoi</a:t>
            </a:r>
            <a:r>
              <a:rPr lang="fr-FR" sz="1600">
                <a:solidFill>
                  <a:srgbClr val="000000"/>
                </a:solidFill>
                <a:latin typeface="Arial"/>
                <a:ea typeface="Arial"/>
                <a:cs typeface="Arial"/>
                <a:sym typeface="Arial"/>
              </a:rPr>
              <a:t> </a:t>
            </a:r>
            <a:r>
              <a:rPr b="0" i="0" lang="fr-FR" sz="1800" u="none" strike="noStrike">
                <a:solidFill>
                  <a:srgbClr val="000000"/>
                </a:solidFill>
                <a:latin typeface="Lucida Sans"/>
                <a:ea typeface="Lucida Sans"/>
                <a:cs typeface="Lucida Sans"/>
                <a:sym typeface="Lucida Sans"/>
              </a:rPr>
              <a:t>: </a:t>
            </a:r>
            <a:r>
              <a:rPr lang="fr-FR" sz="1400">
                <a:solidFill>
                  <a:srgbClr val="00006C"/>
                </a:solidFill>
                <a:latin typeface="Arial"/>
                <a:ea typeface="Arial"/>
                <a:cs typeface="Arial"/>
                <a:sym typeface="Arial"/>
              </a:rPr>
              <a:t>Insertion</a:t>
            </a:r>
            <a:r>
              <a:rPr lang="fr-FR" sz="1400">
                <a:solidFill>
                  <a:srgbClr val="000000"/>
                </a:solidFill>
                <a:latin typeface="Arial"/>
                <a:ea typeface="Arial"/>
                <a:cs typeface="Arial"/>
                <a:sym typeface="Arial"/>
              </a:rPr>
              <a:t> → </a:t>
            </a:r>
            <a:r>
              <a:rPr lang="fr-FR" sz="1400">
                <a:solidFill>
                  <a:srgbClr val="00006C"/>
                </a:solidFill>
                <a:latin typeface="Arial"/>
                <a:ea typeface="Arial"/>
                <a:cs typeface="Arial"/>
                <a:sym typeface="Arial"/>
              </a:rPr>
              <a:t>Renvoi…</a:t>
            </a:r>
            <a:endParaRPr/>
          </a:p>
          <a:p>
            <a:pPr indent="0" lvl="0" marL="0" rtl="0" algn="l">
              <a:lnSpc>
                <a:spcPct val="100000"/>
              </a:lnSpc>
              <a:spcBef>
                <a:spcPts val="500"/>
              </a:spcBef>
              <a:spcAft>
                <a:spcPts val="0"/>
              </a:spcAft>
              <a:buClr>
                <a:schemeClr val="dk1"/>
              </a:buClr>
              <a:buSzPts val="1800"/>
              <a:buNone/>
            </a:pPr>
            <a:r>
              <a:t/>
            </a:r>
            <a:endParaRPr b="0" i="0" sz="1800" u="none" strike="noStrike">
              <a:solidFill>
                <a:srgbClr val="000000"/>
              </a:solidFill>
              <a:latin typeface="Lucida Sans"/>
              <a:ea typeface="Lucida Sans"/>
              <a:cs typeface="Lucida Sans"/>
              <a:sym typeface="Lucida Sans"/>
            </a:endParaRPr>
          </a:p>
          <a:p>
            <a:pPr indent="0" lvl="0" marL="0" rtl="0" algn="l">
              <a:lnSpc>
                <a:spcPct val="100000"/>
              </a:lnSpc>
              <a:spcBef>
                <a:spcPts val="500"/>
              </a:spcBef>
              <a:spcAft>
                <a:spcPts val="0"/>
              </a:spcAft>
              <a:buClr>
                <a:schemeClr val="dk1"/>
              </a:buClr>
              <a:buSzPts val="1800"/>
              <a:buNone/>
            </a:pPr>
            <a:r>
              <a:t/>
            </a:r>
            <a:endParaRPr b="0" i="0" sz="1800" u="none" strike="noStrike">
              <a:solidFill>
                <a:srgbClr val="000000"/>
              </a:solidFill>
              <a:latin typeface="Lucida Sans"/>
              <a:ea typeface="Lucida Sans"/>
              <a:cs typeface="Lucida Sans"/>
              <a:sym typeface="Lucida Sans"/>
            </a:endParaRPr>
          </a:p>
          <a:p>
            <a:pPr indent="-171450" lvl="0" marL="285750" rtl="0" algn="l">
              <a:lnSpc>
                <a:spcPct val="100000"/>
              </a:lnSpc>
              <a:spcBef>
                <a:spcPts val="500"/>
              </a:spcBef>
              <a:spcAft>
                <a:spcPts val="0"/>
              </a:spcAft>
              <a:buClr>
                <a:schemeClr val="dk1"/>
              </a:buClr>
              <a:buSzPts val="1800"/>
              <a:buFont typeface="Arial"/>
              <a:buNone/>
            </a:pPr>
            <a:r>
              <a:t/>
            </a:r>
            <a:endParaRPr b="0" i="0" sz="1800" u="none" strike="noStrike">
              <a:solidFill>
                <a:srgbClr val="000000"/>
              </a:solidFill>
              <a:latin typeface="Lucida Sans"/>
              <a:ea typeface="Lucida Sans"/>
              <a:cs typeface="Lucida Sans"/>
              <a:sym typeface="Lucida Sans"/>
            </a:endParaRPr>
          </a:p>
          <a:p>
            <a:pPr indent="0" lvl="0" marL="0" rtl="0" algn="l">
              <a:lnSpc>
                <a:spcPct val="100000"/>
              </a:lnSpc>
              <a:spcBef>
                <a:spcPts val="500"/>
              </a:spcBef>
              <a:spcAft>
                <a:spcPts val="0"/>
              </a:spcAft>
              <a:buClr>
                <a:schemeClr val="dk1"/>
              </a:buClr>
              <a:buSzPts val="1800"/>
              <a:buNone/>
            </a:pPr>
            <a:r>
              <a:t/>
            </a:r>
            <a:endParaRPr/>
          </a:p>
        </p:txBody>
      </p:sp>
      <p:pic>
        <p:nvPicPr>
          <p:cNvPr descr="lien pour atteindre la note, elle même contenant un lien permettant de revenir au point de départ. Bon fonctionnement à la souris, moins fonctionnel au clavier." id="626" name="Google Shape;626;p36"/>
          <p:cNvPicPr preferRelativeResize="0"/>
          <p:nvPr/>
        </p:nvPicPr>
        <p:blipFill rotWithShape="1">
          <a:blip r:embed="rId4">
            <a:alphaModFix/>
          </a:blip>
          <a:srcRect b="0" l="0" r="0" t="0"/>
          <a:stretch/>
        </p:blipFill>
        <p:spPr>
          <a:xfrm>
            <a:off x="6216221" y="3383451"/>
            <a:ext cx="1933651" cy="709042"/>
          </a:xfrm>
          <a:prstGeom prst="rect">
            <a:avLst/>
          </a:prstGeom>
          <a:noFill/>
          <a:ln>
            <a:noFill/>
          </a:ln>
        </p:spPr>
      </p:pic>
      <p:sp>
        <p:nvSpPr>
          <p:cNvPr id="627" name="Google Shape;627;p36"/>
          <p:cNvSpPr txBox="1"/>
          <p:nvPr/>
        </p:nvSpPr>
        <p:spPr>
          <a:xfrm>
            <a:off x="359998" y="4280778"/>
            <a:ext cx="842327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400" u="none" cap="none" strike="noStrike">
                <a:solidFill>
                  <a:schemeClr val="dk1"/>
                </a:solidFill>
                <a:latin typeface="Arial"/>
                <a:ea typeface="Arial"/>
                <a:cs typeface="Arial"/>
                <a:sym typeface="Arial"/>
              </a:rPr>
              <a:t>Fonctionnement différent entre Word et Writer (même après export PDF). L’utilisation au clavier n’est pas toujours fonctionnelle.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34" name="Google Shape;634;p3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35" name="Google Shape;635;p3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36" name="Google Shape;636;p37"/>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37" name="Google Shape;637;p3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Éléments de navigation externes</a:t>
            </a:r>
            <a:endParaRPr/>
          </a:p>
        </p:txBody>
      </p:sp>
      <p:sp>
        <p:nvSpPr>
          <p:cNvPr id="638" name="Google Shape;638;p37"/>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Des liens explicites et identifiables</a:t>
            </a:r>
            <a:endParaRPr/>
          </a:p>
        </p:txBody>
      </p:sp>
      <p:sp>
        <p:nvSpPr>
          <p:cNvPr id="639" name="Google Shape;639;p37"/>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Des intitulés clairs et explicites, compréhensibles seuls (sans texte environnant).</a:t>
            </a:r>
            <a:endParaRPr/>
          </a:p>
          <a:p>
            <a:pPr indent="-101600" lvl="1" marL="252000" rtl="0" algn="l">
              <a:lnSpc>
                <a:spcPct val="100000"/>
              </a:lnSpc>
              <a:spcBef>
                <a:spcPts val="800"/>
              </a:spcBef>
              <a:spcAft>
                <a:spcPts val="0"/>
              </a:spcAft>
              <a:buClr>
                <a:schemeClr val="dk1"/>
              </a:buClr>
              <a:buSzPts val="1600"/>
              <a:buChar char="•"/>
            </a:pPr>
            <a:r>
              <a:rPr lang="fr-FR"/>
              <a:t>Au lieu de : </a:t>
            </a:r>
            <a:endParaRPr/>
          </a:p>
          <a:p>
            <a:pPr indent="-101600" lvl="2" marL="432000" rtl="0" algn="l">
              <a:lnSpc>
                <a:spcPct val="100000"/>
              </a:lnSpc>
              <a:spcBef>
                <a:spcPts val="600"/>
              </a:spcBef>
              <a:spcAft>
                <a:spcPts val="0"/>
              </a:spcAft>
              <a:buClr>
                <a:schemeClr val="dk1"/>
              </a:buClr>
              <a:buSzPts val="1600"/>
              <a:buChar char="•"/>
            </a:pPr>
            <a:r>
              <a:rPr lang="fr-FR" sz="1600"/>
              <a:t>« Pour accéder au site des impôts cliquez </a:t>
            </a:r>
            <a:r>
              <a:rPr lang="fr-FR" sz="1600" u="sng">
                <a:solidFill>
                  <a:schemeClr val="hlink"/>
                </a:solidFill>
                <a:hlinkClick r:id="rId3"/>
              </a:rPr>
              <a:t>ici</a:t>
            </a:r>
            <a:r>
              <a:rPr lang="fr-FR" sz="1600"/>
              <a:t> » ;</a:t>
            </a:r>
            <a:endParaRPr/>
          </a:p>
          <a:p>
            <a:pPr indent="-101600" lvl="2" marL="432000" rtl="0" algn="l">
              <a:lnSpc>
                <a:spcPct val="100000"/>
              </a:lnSpc>
              <a:spcBef>
                <a:spcPts val="600"/>
              </a:spcBef>
              <a:spcAft>
                <a:spcPts val="0"/>
              </a:spcAft>
              <a:buClr>
                <a:srgbClr val="000000"/>
              </a:buClr>
              <a:buSzPts val="1600"/>
              <a:buChar char="•"/>
            </a:pPr>
            <a:r>
              <a:rPr b="0" i="0" lang="fr-FR" sz="1600" u="none" strike="noStrike">
                <a:solidFill>
                  <a:srgbClr val="000000"/>
                </a:solidFill>
                <a:latin typeface="Arial"/>
                <a:ea typeface="Arial"/>
                <a:cs typeface="Arial"/>
                <a:sym typeface="Arial"/>
              </a:rPr>
              <a:t> « Accéder à </a:t>
            </a:r>
            <a:r>
              <a:rPr b="0" i="0" lang="fr-FR" sz="1600" u="sng" strike="noStrike">
                <a:solidFill>
                  <a:srgbClr val="000000"/>
                </a:solidFill>
                <a:latin typeface="Arial"/>
                <a:ea typeface="Arial"/>
                <a:cs typeface="Arial"/>
                <a:sym typeface="Arial"/>
                <a:hlinkClick r:id="rId4">
                  <a:extLst>
                    <a:ext uri="{A12FA001-AC4F-418D-AE19-62706E023703}">
                      <ahyp:hlinkClr val="tx"/>
                    </a:ext>
                  </a:extLst>
                </a:hlinkClick>
              </a:rPr>
              <a:t>https://www.impots.gouv.fr/accueil</a:t>
            </a:r>
            <a:r>
              <a:rPr lang="fr-FR" sz="1600">
                <a:solidFill>
                  <a:srgbClr val="000000"/>
                </a:solidFill>
                <a:latin typeface="Arial"/>
                <a:ea typeface="Arial"/>
                <a:cs typeface="Arial"/>
                <a:sym typeface="Arial"/>
              </a:rPr>
              <a:t> » </a:t>
            </a:r>
            <a:r>
              <a:rPr b="0" i="0" lang="fr-FR" sz="1600" u="none" strike="noStrike">
                <a:solidFill>
                  <a:srgbClr val="000000"/>
                </a:solidFill>
                <a:latin typeface="Arial"/>
                <a:ea typeface="Arial"/>
                <a:cs typeface="Arial"/>
                <a:sym typeface="Arial"/>
              </a:rPr>
              <a:t>;</a:t>
            </a:r>
            <a:endParaRPr sz="1600"/>
          </a:p>
          <a:p>
            <a:pPr indent="-101600" lvl="1" marL="252000" rtl="0" algn="l">
              <a:lnSpc>
                <a:spcPct val="100000"/>
              </a:lnSpc>
              <a:spcBef>
                <a:spcPts val="1200"/>
              </a:spcBef>
              <a:spcAft>
                <a:spcPts val="0"/>
              </a:spcAft>
              <a:buClr>
                <a:schemeClr val="dk1"/>
              </a:buClr>
              <a:buSzPts val="1600"/>
              <a:buChar char="•"/>
            </a:pPr>
            <a:r>
              <a:rPr lang="fr-FR"/>
              <a:t>Préférer : « </a:t>
            </a:r>
            <a:r>
              <a:rPr lang="fr-FR" u="sng">
                <a:solidFill>
                  <a:schemeClr val="hlink"/>
                </a:solidFill>
                <a:hlinkClick r:id="rId5"/>
              </a:rPr>
              <a:t>Accéder au site des impôts</a:t>
            </a:r>
            <a:r>
              <a:rPr lang="fr-FR"/>
              <a:t>. » et donner l’URL en fin de document ou bas de page.</a:t>
            </a:r>
            <a:endParaRPr/>
          </a:p>
          <a:p>
            <a:pPr indent="0" lvl="0" marL="0" rtl="0" algn="l">
              <a:lnSpc>
                <a:spcPct val="100000"/>
              </a:lnSpc>
              <a:spcBef>
                <a:spcPts val="1200"/>
              </a:spcBef>
              <a:spcAft>
                <a:spcPts val="0"/>
              </a:spcAft>
              <a:buClr>
                <a:schemeClr val="dk1"/>
              </a:buClr>
              <a:buSzPts val="1600"/>
              <a:buNone/>
            </a:pPr>
            <a:r>
              <a:rPr lang="fr-FR" sz="1600"/>
              <a:t>Veiller à la visibilité du lien (soulignement et/ou suffisamment contrasté par rapport au texte avoisinant).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46" name="Google Shape;646;p3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47" name="Google Shape;647;p3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48" name="Google Shape;648;p38"/>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49" name="Google Shape;649;p38"/>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Éléments de navigation externes (suite)</a:t>
            </a:r>
            <a:endParaRPr/>
          </a:p>
        </p:txBody>
      </p:sp>
      <p:sp>
        <p:nvSpPr>
          <p:cNvPr id="650" name="Google Shape;650;p38"/>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Liens de téléchargement</a:t>
            </a:r>
            <a:endParaRPr/>
          </a:p>
        </p:txBody>
      </p:sp>
      <p:sp>
        <p:nvSpPr>
          <p:cNvPr id="651" name="Google Shape;651;p38"/>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Intégrer les informations concernant le fichier à télécharger dans l’intitulé du lien : </a:t>
            </a:r>
            <a:endParaRPr/>
          </a:p>
          <a:p>
            <a:pPr indent="-101600" lvl="1" marL="252000" rtl="0" algn="l">
              <a:lnSpc>
                <a:spcPct val="100000"/>
              </a:lnSpc>
              <a:spcBef>
                <a:spcPts val="500"/>
              </a:spcBef>
              <a:spcAft>
                <a:spcPts val="0"/>
              </a:spcAft>
              <a:buClr>
                <a:schemeClr val="dk1"/>
              </a:buClr>
              <a:buSzPts val="1600"/>
              <a:buChar char="•"/>
            </a:pPr>
            <a:r>
              <a:rPr lang="fr-FR"/>
              <a:t>Titre ; </a:t>
            </a:r>
            <a:endParaRPr/>
          </a:p>
          <a:p>
            <a:pPr indent="-101600" lvl="1" marL="252000" rtl="0" algn="l">
              <a:lnSpc>
                <a:spcPct val="100000"/>
              </a:lnSpc>
              <a:spcBef>
                <a:spcPts val="600"/>
              </a:spcBef>
              <a:spcAft>
                <a:spcPts val="0"/>
              </a:spcAft>
              <a:buClr>
                <a:schemeClr val="dk1"/>
              </a:buClr>
              <a:buSzPts val="1600"/>
              <a:buChar char="•"/>
            </a:pPr>
            <a:r>
              <a:rPr lang="fr-FR"/>
              <a:t>Format ; </a:t>
            </a:r>
            <a:endParaRPr/>
          </a:p>
          <a:p>
            <a:pPr indent="-101600" lvl="1" marL="252000" rtl="0" algn="l">
              <a:lnSpc>
                <a:spcPct val="100000"/>
              </a:lnSpc>
              <a:spcBef>
                <a:spcPts val="600"/>
              </a:spcBef>
              <a:spcAft>
                <a:spcPts val="0"/>
              </a:spcAft>
              <a:buClr>
                <a:schemeClr val="dk1"/>
              </a:buClr>
              <a:buSzPts val="1600"/>
              <a:buChar char="•"/>
            </a:pPr>
            <a:r>
              <a:rPr lang="fr-FR"/>
              <a:t>Poids ;</a:t>
            </a:r>
            <a:endParaRPr/>
          </a:p>
          <a:p>
            <a:pPr indent="-101600" lvl="1" marL="252000" rtl="0" algn="l">
              <a:lnSpc>
                <a:spcPct val="100000"/>
              </a:lnSpc>
              <a:spcBef>
                <a:spcPts val="600"/>
              </a:spcBef>
              <a:spcAft>
                <a:spcPts val="0"/>
              </a:spcAft>
              <a:buClr>
                <a:schemeClr val="dk1"/>
              </a:buClr>
              <a:buSzPts val="1600"/>
              <a:buChar char="•"/>
            </a:pPr>
            <a:r>
              <a:rPr lang="fr-FR"/>
              <a:t>Langue, si elle diffère de la langue du document.</a:t>
            </a:r>
            <a:endParaRPr/>
          </a:p>
          <a:p>
            <a:pPr indent="0" lvl="0" marL="0" rtl="0" algn="l">
              <a:lnSpc>
                <a:spcPct val="100000"/>
              </a:lnSpc>
              <a:spcBef>
                <a:spcPts val="1200"/>
              </a:spcBef>
              <a:spcAft>
                <a:spcPts val="0"/>
              </a:spcAft>
              <a:buClr>
                <a:schemeClr val="dk1"/>
              </a:buClr>
              <a:buSzPts val="1800"/>
              <a:buNone/>
            </a:pPr>
            <a:r>
              <a:rPr lang="fr-FR"/>
              <a:t>Exemple :</a:t>
            </a:r>
            <a:endParaRPr/>
          </a:p>
          <a:p>
            <a:pPr indent="-101600" lvl="1" marL="252000" rtl="0" algn="l">
              <a:lnSpc>
                <a:spcPct val="100000"/>
              </a:lnSpc>
              <a:spcBef>
                <a:spcPts val="500"/>
              </a:spcBef>
              <a:spcAft>
                <a:spcPts val="0"/>
              </a:spcAft>
              <a:buClr>
                <a:schemeClr val="dk1"/>
              </a:buClr>
              <a:buSzPts val="1600"/>
              <a:buChar char="•"/>
            </a:pPr>
            <a:r>
              <a:rPr lang="fr-FR"/>
              <a:t>Au lieu de : « Voir l’annexe sur l’handicap invisible » ;</a:t>
            </a:r>
            <a:endParaRPr/>
          </a:p>
          <a:p>
            <a:pPr indent="-101600" lvl="1" marL="252000" rtl="0" algn="l">
              <a:lnSpc>
                <a:spcPct val="100000"/>
              </a:lnSpc>
              <a:spcBef>
                <a:spcPts val="600"/>
              </a:spcBef>
              <a:spcAft>
                <a:spcPts val="0"/>
              </a:spcAft>
              <a:buClr>
                <a:schemeClr val="dk1"/>
              </a:buClr>
              <a:buSzPts val="1600"/>
              <a:buChar char="•"/>
            </a:pPr>
            <a:r>
              <a:rPr lang="fr-FR"/>
              <a:t>Préférer : « Télécharger l’annexe 1-Handicap visible ou invisible (PDF, 74 Ko)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9"/>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58" name="Google Shape;658;p3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59" name="Google Shape;659;p3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60" name="Google Shape;660;p39"/>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61" name="Google Shape;661;p39"/>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Éléments de navigation : exercice</a:t>
            </a:r>
            <a:endParaRPr/>
          </a:p>
        </p:txBody>
      </p:sp>
      <p:sp>
        <p:nvSpPr>
          <p:cNvPr id="662" name="Google Shape;662;p39"/>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Exercice </a:t>
            </a:r>
            <a:r>
              <a:rPr lang="fr-FR"/>
              <a:t>8 : Amélioration de l’accessibilité des liens</a:t>
            </a:r>
            <a:endParaRPr/>
          </a:p>
          <a:p>
            <a:pPr indent="0" lvl="0" marL="0" rtl="0" algn="l">
              <a:lnSpc>
                <a:spcPct val="100000"/>
              </a:lnSpc>
              <a:spcBef>
                <a:spcPts val="500"/>
              </a:spcBef>
              <a:spcAft>
                <a:spcPts val="0"/>
              </a:spcAft>
              <a:buClr>
                <a:srgbClr val="595959"/>
              </a:buClr>
              <a:buSzPts val="2000"/>
              <a:buNone/>
            </a:pPr>
            <a:r>
              <a:t/>
            </a:r>
            <a:endParaRPr/>
          </a:p>
        </p:txBody>
      </p:sp>
      <p:sp>
        <p:nvSpPr>
          <p:cNvPr id="663" name="Google Shape;663;p39"/>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Repérer les liens et proposer, si besoin, des solutions pour en améliorer l’accessibilité.</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0"/>
          <p:cNvSpPr/>
          <p:nvPr>
            <p:ph idx="2" type="pic"/>
          </p:nvPr>
        </p:nvSpPr>
        <p:spPr>
          <a:xfrm>
            <a:off x="0" y="738000"/>
            <a:ext cx="9144000" cy="4406400"/>
          </a:xfrm>
          <a:prstGeom prst="rect">
            <a:avLst/>
          </a:prstGeom>
          <a:solidFill>
            <a:srgbClr val="D8D8D8"/>
          </a:solidFill>
          <a:ln>
            <a:noFill/>
          </a:ln>
        </p:spPr>
      </p:sp>
      <p:sp>
        <p:nvSpPr>
          <p:cNvPr id="670" name="Google Shape;670;p4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71" name="Google Shape;671;p4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72" name="Google Shape;672;p4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73" name="Google Shape;673;p40"/>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Contrastes et couleurs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80" name="Google Shape;680;p4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81" name="Google Shape;681;p4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82" name="Google Shape;682;p41"/>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83" name="Google Shape;683;p41"/>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Contraste minimum</a:t>
            </a:r>
            <a:endParaRPr/>
          </a:p>
        </p:txBody>
      </p:sp>
      <p:sp>
        <p:nvSpPr>
          <p:cNvPr id="684" name="Google Shape;684;p41"/>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En fonction de la taille et de la graisse</a:t>
            </a:r>
            <a:endParaRPr/>
          </a:p>
        </p:txBody>
      </p:sp>
      <p:sp>
        <p:nvSpPr>
          <p:cNvPr id="685" name="Google Shape;685;p41"/>
          <p:cNvSpPr txBox="1"/>
          <p:nvPr>
            <p:ph idx="3" type="body"/>
          </p:nvPr>
        </p:nvSpPr>
        <p:spPr>
          <a:xfrm>
            <a:off x="359998" y="1835999"/>
            <a:ext cx="5472001"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Pour du texte, y compris inséré dans une image, le contraste minimum requis dépend de la taille et de la graisse du texte :</a:t>
            </a:r>
            <a:endParaRPr/>
          </a:p>
          <a:p>
            <a:pPr indent="-101600" lvl="1" marL="252000" rtl="0" algn="l">
              <a:lnSpc>
                <a:spcPct val="100000"/>
              </a:lnSpc>
              <a:spcBef>
                <a:spcPts val="1100"/>
              </a:spcBef>
              <a:spcAft>
                <a:spcPts val="0"/>
              </a:spcAft>
              <a:buClr>
                <a:schemeClr val="dk1"/>
              </a:buClr>
              <a:buSzPts val="1600"/>
              <a:buChar char="•"/>
            </a:pPr>
            <a:r>
              <a:rPr lang="fr-FR"/>
              <a:t>« Texte normal » (&lt; 18 pt  ou &lt; 14 pt gras) : 4,5:1 ;</a:t>
            </a:r>
            <a:endParaRPr/>
          </a:p>
          <a:p>
            <a:pPr indent="-101600" lvl="1" marL="252000" rtl="0" algn="l">
              <a:lnSpc>
                <a:spcPct val="100000"/>
              </a:lnSpc>
              <a:spcBef>
                <a:spcPts val="1200"/>
              </a:spcBef>
              <a:spcAft>
                <a:spcPts val="0"/>
              </a:spcAft>
              <a:buClr>
                <a:schemeClr val="dk1"/>
              </a:buClr>
              <a:buSzPts val="1600"/>
              <a:buChar char="•"/>
            </a:pPr>
            <a:r>
              <a:rPr lang="fr-FR"/>
              <a:t>« Grand texte » (≥ 18 pt ou ≥ 14 pt gras) : 3:1.</a:t>
            </a:r>
            <a:endParaRPr/>
          </a:p>
          <a:p>
            <a:pPr indent="-101600" lvl="1" marL="252000" rtl="0" algn="l">
              <a:lnSpc>
                <a:spcPct val="100000"/>
              </a:lnSpc>
              <a:spcBef>
                <a:spcPts val="1200"/>
              </a:spcBef>
              <a:spcAft>
                <a:spcPts val="0"/>
              </a:spcAft>
              <a:buClr>
                <a:schemeClr val="dk1"/>
              </a:buClr>
              <a:buSzPts val="1600"/>
              <a:buChar char="•"/>
            </a:pPr>
            <a:r>
              <a:rPr lang="fr-FR"/>
              <a:t>Icônes informatives : 3:1 </a:t>
            </a:r>
            <a:endParaRPr/>
          </a:p>
          <a:p>
            <a:pPr indent="-88900" lvl="2" marL="432000" rtl="0" algn="l">
              <a:lnSpc>
                <a:spcPct val="100000"/>
              </a:lnSpc>
              <a:spcBef>
                <a:spcPts val="700"/>
              </a:spcBef>
              <a:spcAft>
                <a:spcPts val="0"/>
              </a:spcAft>
              <a:buClr>
                <a:schemeClr val="dk1"/>
              </a:buClr>
              <a:buSzPts val="1400"/>
              <a:buChar char="•"/>
            </a:pPr>
            <a:r>
              <a:rPr lang="fr-FR"/>
              <a:t>Exemple d’icône avec un contraste de 1,7:1 :</a:t>
            </a:r>
            <a:endParaRPr/>
          </a:p>
          <a:p>
            <a:pPr indent="0" lvl="1" marL="180000" rtl="0" algn="l">
              <a:lnSpc>
                <a:spcPct val="100000"/>
              </a:lnSpc>
              <a:spcBef>
                <a:spcPts val="700"/>
              </a:spcBef>
              <a:spcAft>
                <a:spcPts val="0"/>
              </a:spcAft>
              <a:buClr>
                <a:schemeClr val="dk1"/>
              </a:buClr>
              <a:buSzPts val="1600"/>
              <a:buNone/>
            </a:pPr>
            <a:r>
              <a:t/>
            </a:r>
            <a:endParaRPr/>
          </a:p>
        </p:txBody>
      </p:sp>
      <p:pic>
        <p:nvPicPr>
          <p:cNvPr descr="Colour Contrast Analyser : rapport entre deux couleurs permettant d'avoir un ratio de contraste et son niveau de conformité selon qu'il s'agit d'un teste normal ou d'un grand texte." id="686" name="Google Shape;686;p41"/>
          <p:cNvPicPr preferRelativeResize="0"/>
          <p:nvPr>
            <p:ph idx="4" type="body"/>
          </p:nvPr>
        </p:nvPicPr>
        <p:blipFill rotWithShape="1">
          <a:blip r:embed="rId3">
            <a:alphaModFix/>
          </a:blip>
          <a:srcRect b="0" l="0" r="0" t="0"/>
          <a:stretch/>
        </p:blipFill>
        <p:spPr>
          <a:xfrm>
            <a:off x="6084168" y="985148"/>
            <a:ext cx="2699469" cy="3674166"/>
          </a:xfrm>
          <a:prstGeom prst="rect">
            <a:avLst/>
          </a:prstGeom>
          <a:noFill/>
          <a:ln>
            <a:noFill/>
          </a:ln>
        </p:spPr>
      </p:pic>
      <p:pic>
        <p:nvPicPr>
          <p:cNvPr descr="icone avec un contraste insuffisant." id="687" name="Google Shape;687;p41"/>
          <p:cNvPicPr preferRelativeResize="0"/>
          <p:nvPr/>
        </p:nvPicPr>
        <p:blipFill rotWithShape="1">
          <a:blip r:embed="rId4">
            <a:alphaModFix/>
          </a:blip>
          <a:srcRect b="0" l="0" r="0" t="0"/>
          <a:stretch/>
        </p:blipFill>
        <p:spPr>
          <a:xfrm>
            <a:off x="4716016" y="3870825"/>
            <a:ext cx="373749" cy="3726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694" name="Google Shape;694;p4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695" name="Google Shape;695;p4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96" name="Google Shape;696;p42"/>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697" name="Google Shape;697;p4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Recherche d’un « bon contraste »</a:t>
            </a:r>
            <a:endParaRPr/>
          </a:p>
        </p:txBody>
      </p:sp>
      <p:sp>
        <p:nvSpPr>
          <p:cNvPr id="698" name="Google Shape;698;p42"/>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Exemple : Contrast Finder</a:t>
            </a:r>
            <a:endParaRPr/>
          </a:p>
        </p:txBody>
      </p:sp>
      <p:sp>
        <p:nvSpPr>
          <p:cNvPr id="699" name="Google Shape;699;p42"/>
          <p:cNvSpPr txBox="1"/>
          <p:nvPr>
            <p:ph idx="3" type="body"/>
          </p:nvPr>
        </p:nvSpPr>
        <p:spPr>
          <a:xfrm>
            <a:off x="359998" y="1835999"/>
            <a:ext cx="5472001"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Modification de la couleur:</a:t>
            </a:r>
            <a:endParaRPr/>
          </a:p>
          <a:p>
            <a:pPr indent="-101600" lvl="1" marL="252000" rtl="0" algn="l">
              <a:lnSpc>
                <a:spcPct val="100000"/>
              </a:lnSpc>
              <a:spcBef>
                <a:spcPts val="1100"/>
              </a:spcBef>
              <a:spcAft>
                <a:spcPts val="0"/>
              </a:spcAft>
              <a:buClr>
                <a:schemeClr val="dk1"/>
              </a:buClr>
              <a:buSzPts val="1600"/>
              <a:buChar char="•"/>
            </a:pPr>
            <a:r>
              <a:rPr lang="fr-FR"/>
              <a:t>Du texte ;</a:t>
            </a:r>
            <a:endParaRPr/>
          </a:p>
          <a:p>
            <a:pPr indent="-101600" lvl="1" marL="252000" rtl="0" algn="l">
              <a:lnSpc>
                <a:spcPct val="100000"/>
              </a:lnSpc>
              <a:spcBef>
                <a:spcPts val="1200"/>
              </a:spcBef>
              <a:spcAft>
                <a:spcPts val="0"/>
              </a:spcAft>
              <a:buClr>
                <a:schemeClr val="dk1"/>
              </a:buClr>
              <a:buSzPts val="1600"/>
              <a:buChar char="•"/>
            </a:pPr>
            <a:r>
              <a:rPr lang="fr-FR"/>
              <a:t>Du fond.</a:t>
            </a:r>
            <a:endParaRPr/>
          </a:p>
          <a:p>
            <a:pPr indent="0" lvl="1" marL="252000" rtl="0" algn="l">
              <a:lnSpc>
                <a:spcPct val="100000"/>
              </a:lnSpc>
              <a:spcBef>
                <a:spcPts val="1200"/>
              </a:spcBef>
              <a:spcAft>
                <a:spcPts val="0"/>
              </a:spcAft>
              <a:buClr>
                <a:schemeClr val="dk1"/>
              </a:buClr>
              <a:buSzPts val="1600"/>
              <a:buNone/>
            </a:pPr>
            <a:r>
              <a:t/>
            </a:r>
            <a:endParaRPr/>
          </a:p>
          <a:p>
            <a:pPr indent="0" lvl="1" marL="180000" rtl="0" algn="l">
              <a:lnSpc>
                <a:spcPct val="100000"/>
              </a:lnSpc>
              <a:spcBef>
                <a:spcPts val="1200"/>
              </a:spcBef>
              <a:spcAft>
                <a:spcPts val="0"/>
              </a:spcAft>
              <a:buClr>
                <a:schemeClr val="dk1"/>
              </a:buClr>
              <a:buSzPts val="1600"/>
              <a:buNone/>
            </a:pPr>
            <a:r>
              <a:t/>
            </a:r>
            <a:endParaRPr/>
          </a:p>
        </p:txBody>
      </p:sp>
      <p:pic>
        <p:nvPicPr>
          <p:cNvPr id="700" name="Google Shape;700;p42"/>
          <p:cNvPicPr preferRelativeResize="0"/>
          <p:nvPr>
            <p:ph idx="4" type="body"/>
          </p:nvPr>
        </p:nvPicPr>
        <p:blipFill rotWithShape="1">
          <a:blip r:embed="rId3">
            <a:alphaModFix/>
          </a:blip>
          <a:srcRect b="0" l="0" r="0" t="0"/>
          <a:stretch/>
        </p:blipFill>
        <p:spPr>
          <a:xfrm>
            <a:off x="3928682" y="1528450"/>
            <a:ext cx="4670636" cy="29504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4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07" name="Google Shape;707;p4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08" name="Google Shape;708;p43"/>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09" name="Google Shape;709;p4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10" name="Google Shape;710;p43"/>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Appliquer un code couleur</a:t>
            </a:r>
            <a:endParaRPr/>
          </a:p>
        </p:txBody>
      </p:sp>
      <p:sp>
        <p:nvSpPr>
          <p:cNvPr id="711" name="Google Shape;711;p43"/>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Code couleur spécifique (Hex ou RVB généralement)</a:t>
            </a:r>
            <a:endParaRPr/>
          </a:p>
        </p:txBody>
      </p:sp>
      <p:sp>
        <p:nvSpPr>
          <p:cNvPr id="712" name="Google Shape;712;p43"/>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lang="fr-FR" sz="1600"/>
              <a:t>Sélectionner le texte → </a:t>
            </a:r>
            <a:r>
              <a:rPr lang="fr-FR" sz="1600">
                <a:solidFill>
                  <a:srgbClr val="00006C"/>
                </a:solidFill>
              </a:rPr>
              <a:t>Couleur de police</a:t>
            </a:r>
            <a:r>
              <a:rPr b="0" i="0" lang="fr-FR" sz="1600" u="none" strike="noStrike">
                <a:solidFill>
                  <a:srgbClr val="00006C"/>
                </a:solidFill>
                <a:latin typeface="Arial"/>
                <a:ea typeface="Arial"/>
                <a:cs typeface="Arial"/>
                <a:sym typeface="Arial"/>
              </a:rPr>
              <a:t> </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Autres Couleurs… </a:t>
            </a:r>
            <a:r>
              <a:rPr b="0" i="0" lang="fr-FR" sz="1600" u="none" strike="noStrike">
                <a:solidFill>
                  <a:srgbClr val="000000"/>
                </a:solidFill>
                <a:latin typeface="Arial"/>
                <a:ea typeface="Arial"/>
                <a:cs typeface="Arial"/>
                <a:sym typeface="Arial"/>
              </a:rPr>
              <a:t>→ </a:t>
            </a:r>
            <a:r>
              <a:rPr b="0" i="0" lang="fr-FR" sz="1600" u="none" strike="noStrike">
                <a:solidFill>
                  <a:srgbClr val="00006C"/>
                </a:solidFill>
                <a:latin typeface="Arial"/>
                <a:ea typeface="Arial"/>
                <a:cs typeface="Arial"/>
                <a:sym typeface="Arial"/>
              </a:rPr>
              <a:t>Personnalisées</a:t>
            </a:r>
            <a:r>
              <a:rPr b="0" i="0" lang="fr-FR" sz="1600" u="none" strike="noStrike">
                <a:solidFill>
                  <a:srgbClr val="000000"/>
                </a:solidFill>
                <a:latin typeface="Arial"/>
                <a:ea typeface="Arial"/>
                <a:cs typeface="Arial"/>
                <a:sym typeface="Arial"/>
              </a:rPr>
              <a:t> → Valoriser</a:t>
            </a:r>
            <a:endParaRPr sz="1600"/>
          </a:p>
          <a:p>
            <a:pPr indent="0" lvl="0" marL="0" rtl="0" algn="l">
              <a:lnSpc>
                <a:spcPct val="100000"/>
              </a:lnSpc>
              <a:spcBef>
                <a:spcPts val="500"/>
              </a:spcBef>
              <a:spcAft>
                <a:spcPts val="0"/>
              </a:spcAft>
              <a:buClr>
                <a:schemeClr val="dk1"/>
              </a:buClr>
              <a:buSzPts val="1800"/>
              <a:buNone/>
            </a:pPr>
            <a:r>
              <a:t/>
            </a:r>
            <a:endParaRPr/>
          </a:p>
        </p:txBody>
      </p:sp>
      <p:pic>
        <p:nvPicPr>
          <p:cNvPr id="713" name="Google Shape;713;p43"/>
          <p:cNvPicPr preferRelativeResize="0"/>
          <p:nvPr/>
        </p:nvPicPr>
        <p:blipFill rotWithShape="1">
          <a:blip r:embed="rId3">
            <a:alphaModFix/>
          </a:blip>
          <a:srcRect b="0" l="0" r="0" t="0"/>
          <a:stretch/>
        </p:blipFill>
        <p:spPr>
          <a:xfrm>
            <a:off x="511833" y="2715766"/>
            <a:ext cx="1395871" cy="1880961"/>
          </a:xfrm>
          <a:prstGeom prst="rect">
            <a:avLst/>
          </a:prstGeom>
          <a:noFill/>
          <a:ln>
            <a:noFill/>
          </a:ln>
        </p:spPr>
      </p:pic>
      <p:cxnSp>
        <p:nvCxnSpPr>
          <p:cNvPr id="714" name="Google Shape;714;p43"/>
          <p:cNvCxnSpPr/>
          <p:nvPr/>
        </p:nvCxnSpPr>
        <p:spPr>
          <a:xfrm>
            <a:off x="2025565" y="3622053"/>
            <a:ext cx="242179" cy="0"/>
          </a:xfrm>
          <a:prstGeom prst="straightConnector1">
            <a:avLst/>
          </a:prstGeom>
          <a:noFill/>
          <a:ln cap="flat" cmpd="sng" w="28575">
            <a:solidFill>
              <a:srgbClr val="005740"/>
            </a:solidFill>
            <a:prstDash val="solid"/>
            <a:round/>
            <a:headEnd len="sm" w="sm" type="none"/>
            <a:tailEnd len="med" w="med" type="triangle"/>
          </a:ln>
        </p:spPr>
      </p:cxnSp>
      <p:pic>
        <p:nvPicPr>
          <p:cNvPr id="715" name="Google Shape;715;p43"/>
          <p:cNvPicPr preferRelativeResize="0"/>
          <p:nvPr/>
        </p:nvPicPr>
        <p:blipFill rotWithShape="1">
          <a:blip r:embed="rId4">
            <a:alphaModFix/>
          </a:blip>
          <a:srcRect b="0" l="0" r="0" t="0"/>
          <a:stretch/>
        </p:blipFill>
        <p:spPr>
          <a:xfrm>
            <a:off x="2357988" y="2696597"/>
            <a:ext cx="1637948" cy="2025595"/>
          </a:xfrm>
          <a:prstGeom prst="rect">
            <a:avLst/>
          </a:prstGeom>
          <a:noFill/>
          <a:ln>
            <a:noFill/>
          </a:ln>
        </p:spPr>
      </p:pic>
      <p:cxnSp>
        <p:nvCxnSpPr>
          <p:cNvPr id="716" name="Google Shape;716;p43"/>
          <p:cNvCxnSpPr/>
          <p:nvPr/>
        </p:nvCxnSpPr>
        <p:spPr>
          <a:xfrm>
            <a:off x="4355976" y="1923678"/>
            <a:ext cx="0" cy="2768556"/>
          </a:xfrm>
          <a:prstGeom prst="straightConnector1">
            <a:avLst/>
          </a:prstGeom>
          <a:noFill/>
          <a:ln cap="flat" cmpd="sng" w="9525">
            <a:solidFill>
              <a:schemeClr val="dk1"/>
            </a:solidFill>
            <a:prstDash val="solid"/>
            <a:round/>
            <a:headEnd len="sm" w="sm" type="none"/>
            <a:tailEnd len="sm" w="sm" type="none"/>
          </a:ln>
        </p:spPr>
      </p:cxnSp>
      <p:sp>
        <p:nvSpPr>
          <p:cNvPr id="717" name="Google Shape;717;p43"/>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lang="fr-FR" sz="1600"/>
              <a:t>Sélectionner le texte → </a:t>
            </a:r>
            <a:r>
              <a:rPr lang="fr-FR" sz="1600">
                <a:solidFill>
                  <a:srgbClr val="00006C"/>
                </a:solidFill>
              </a:rPr>
              <a:t>Couleur de police</a:t>
            </a:r>
            <a:r>
              <a:rPr b="0" i="0" lang="fr-FR" sz="1600" u="none" strike="noStrike">
                <a:solidFill>
                  <a:srgbClr val="00006C"/>
                </a:solidFill>
              </a:rPr>
              <a:t> </a:t>
            </a:r>
            <a:r>
              <a:rPr b="0" i="0" lang="fr-FR" sz="1600" u="none" strike="noStrike">
                <a:solidFill>
                  <a:srgbClr val="000000"/>
                </a:solidFill>
              </a:rPr>
              <a:t>→ </a:t>
            </a:r>
            <a:r>
              <a:rPr b="0" i="0" lang="fr-FR" sz="1600" u="none" strike="noStrike">
                <a:solidFill>
                  <a:srgbClr val="00006C"/>
                </a:solidFill>
              </a:rPr>
              <a:t>Couleurs personnalisées… </a:t>
            </a:r>
            <a:r>
              <a:rPr b="0" i="0" lang="fr-FR" sz="1600" u="none" strike="noStrike">
                <a:solidFill>
                  <a:srgbClr val="000000"/>
                </a:solidFill>
              </a:rPr>
              <a:t>→ Valoriser</a:t>
            </a:r>
            <a:endParaRPr sz="1600"/>
          </a:p>
        </p:txBody>
      </p:sp>
      <p:pic>
        <p:nvPicPr>
          <p:cNvPr id="718" name="Google Shape;718;p43"/>
          <p:cNvPicPr preferRelativeResize="0"/>
          <p:nvPr/>
        </p:nvPicPr>
        <p:blipFill rotWithShape="1">
          <a:blip r:embed="rId5">
            <a:alphaModFix/>
          </a:blip>
          <a:srcRect b="0" l="0" r="0" t="0"/>
          <a:stretch/>
        </p:blipFill>
        <p:spPr>
          <a:xfrm>
            <a:off x="4932040" y="2715766"/>
            <a:ext cx="1678244" cy="1945120"/>
          </a:xfrm>
          <a:prstGeom prst="rect">
            <a:avLst/>
          </a:prstGeom>
          <a:noFill/>
          <a:ln>
            <a:noFill/>
          </a:ln>
        </p:spPr>
      </p:pic>
      <p:cxnSp>
        <p:nvCxnSpPr>
          <p:cNvPr id="719" name="Google Shape;719;p43"/>
          <p:cNvCxnSpPr/>
          <p:nvPr/>
        </p:nvCxnSpPr>
        <p:spPr>
          <a:xfrm>
            <a:off x="6660232" y="3622655"/>
            <a:ext cx="242179" cy="0"/>
          </a:xfrm>
          <a:prstGeom prst="straightConnector1">
            <a:avLst/>
          </a:prstGeom>
          <a:noFill/>
          <a:ln cap="flat" cmpd="sng" w="28575">
            <a:solidFill>
              <a:srgbClr val="005740"/>
            </a:solidFill>
            <a:prstDash val="solid"/>
            <a:round/>
            <a:headEnd len="sm" w="sm" type="none"/>
            <a:tailEnd len="med" w="med" type="triangle"/>
          </a:ln>
        </p:spPr>
      </p:cxnSp>
      <p:pic>
        <p:nvPicPr>
          <p:cNvPr id="720" name="Google Shape;720;p43"/>
          <p:cNvPicPr preferRelativeResize="0"/>
          <p:nvPr/>
        </p:nvPicPr>
        <p:blipFill rotWithShape="1">
          <a:blip r:embed="rId6">
            <a:alphaModFix/>
          </a:blip>
          <a:srcRect b="0" l="0" r="0" t="0"/>
          <a:stretch/>
        </p:blipFill>
        <p:spPr>
          <a:xfrm>
            <a:off x="6952358" y="2747114"/>
            <a:ext cx="1751817" cy="19451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27" name="Google Shape;727;p4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28" name="Google Shape;728;p4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29" name="Google Shape;729;p44"/>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30" name="Google Shape;730;p44"/>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Information donnée par la couleur</a:t>
            </a:r>
            <a:endParaRPr/>
          </a:p>
        </p:txBody>
      </p:sp>
      <p:sp>
        <p:nvSpPr>
          <p:cNvPr id="731" name="Google Shape;731;p44"/>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Prévoir des moyens alternatifs de donner l’information</a:t>
            </a:r>
            <a:endParaRPr/>
          </a:p>
        </p:txBody>
      </p:sp>
      <p:sp>
        <p:nvSpPr>
          <p:cNvPr id="732" name="Google Shape;732;p44"/>
          <p:cNvSpPr txBox="1"/>
          <p:nvPr>
            <p:ph idx="3" type="body"/>
          </p:nvPr>
        </p:nvSpPr>
        <p:spPr>
          <a:xfrm>
            <a:off x="359998" y="1835999"/>
            <a:ext cx="5652162"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600"/>
              <a:buNone/>
            </a:pPr>
            <a:r>
              <a:rPr b="0" i="0" lang="fr-FR" sz="1600" u="none" strike="noStrike">
                <a:solidFill>
                  <a:srgbClr val="000000"/>
                </a:solidFill>
                <a:latin typeface="Arial"/>
                <a:ea typeface="Arial"/>
                <a:cs typeface="Arial"/>
                <a:sym typeface="Arial"/>
              </a:rPr>
              <a:t>Une information donnée uniquement par la couleur n’est pas </a:t>
            </a:r>
            <a:r>
              <a:rPr b="0" i="0" lang="fr-FR" sz="1600" u="none" strike="noStrike">
                <a:solidFill>
                  <a:srgbClr val="000000"/>
                </a:solidFill>
                <a:latin typeface="Lucida Sans"/>
                <a:ea typeface="Lucida Sans"/>
                <a:cs typeface="Lucida Sans"/>
                <a:sym typeface="Lucida Sans"/>
              </a:rPr>
              <a:t>accessible :</a:t>
            </a:r>
            <a:endParaRPr/>
          </a:p>
          <a:p>
            <a:pPr indent="-95250" lvl="1" marL="252000" rtl="0" algn="l">
              <a:lnSpc>
                <a:spcPct val="100000"/>
              </a:lnSpc>
              <a:spcBef>
                <a:spcPts val="500"/>
              </a:spcBef>
              <a:spcAft>
                <a:spcPts val="0"/>
              </a:spcAft>
              <a:buClr>
                <a:srgbClr val="000000"/>
              </a:buClr>
              <a:buSzPts val="1500"/>
              <a:buChar char="•"/>
            </a:pPr>
            <a:r>
              <a:rPr b="0" i="0" lang="fr-FR" sz="1500" u="none" strike="noStrike">
                <a:solidFill>
                  <a:srgbClr val="000000"/>
                </a:solidFill>
              </a:rPr>
              <a:t>Aux aveugles ;</a:t>
            </a:r>
            <a:endParaRPr/>
          </a:p>
          <a:p>
            <a:pPr indent="-95250" lvl="1" marL="252000" rtl="0" algn="l">
              <a:lnSpc>
                <a:spcPct val="100000"/>
              </a:lnSpc>
              <a:spcBef>
                <a:spcPts val="600"/>
              </a:spcBef>
              <a:spcAft>
                <a:spcPts val="0"/>
              </a:spcAft>
              <a:buClr>
                <a:srgbClr val="000000"/>
              </a:buClr>
              <a:buSzPts val="1500"/>
              <a:buChar char="•"/>
            </a:pPr>
            <a:r>
              <a:rPr b="0" i="0" lang="fr-FR" sz="1500" u="none" strike="noStrike">
                <a:solidFill>
                  <a:srgbClr val="000000"/>
                </a:solidFill>
              </a:rPr>
              <a:t>Aux daltoniens…</a:t>
            </a:r>
            <a:endParaRPr/>
          </a:p>
          <a:p>
            <a:pPr indent="0" lvl="0" marL="0" rtl="0" algn="l">
              <a:lnSpc>
                <a:spcPct val="100000"/>
              </a:lnSpc>
              <a:spcBef>
                <a:spcPts val="1200"/>
              </a:spcBef>
              <a:spcAft>
                <a:spcPts val="0"/>
              </a:spcAft>
              <a:buClr>
                <a:srgbClr val="000000"/>
              </a:buClr>
              <a:buSzPts val="1600"/>
              <a:buNone/>
            </a:pPr>
            <a:r>
              <a:rPr b="0" i="0" lang="fr-FR" sz="1600" u="none" strike="noStrike">
                <a:solidFill>
                  <a:srgbClr val="000000"/>
                </a:solidFill>
              </a:rPr>
              <a:t>Exemples :</a:t>
            </a:r>
            <a:endParaRPr/>
          </a:p>
          <a:p>
            <a:pPr indent="-95250" lvl="1" marL="252000" rtl="0" algn="l">
              <a:lnSpc>
                <a:spcPct val="100000"/>
              </a:lnSpc>
              <a:spcBef>
                <a:spcPts val="500"/>
              </a:spcBef>
              <a:spcAft>
                <a:spcPts val="0"/>
              </a:spcAft>
              <a:buClr>
                <a:srgbClr val="000000"/>
              </a:buClr>
              <a:buSzPts val="1500"/>
              <a:buChar char="•"/>
            </a:pPr>
            <a:r>
              <a:rPr b="0" i="0" lang="fr-FR" sz="1500" u="none" strike="noStrike">
                <a:solidFill>
                  <a:srgbClr val="000000"/>
                </a:solidFill>
              </a:rPr>
              <a:t>Les postes en </a:t>
            </a:r>
            <a:r>
              <a:rPr b="0" i="0" lang="fr-FR" sz="1500" u="none" strike="noStrike">
                <a:solidFill>
                  <a:srgbClr val="C9211E"/>
                </a:solidFill>
              </a:rPr>
              <a:t>rouge</a:t>
            </a:r>
            <a:r>
              <a:rPr b="0" i="0" lang="fr-FR" sz="1500" u="none" strike="noStrike">
                <a:solidFill>
                  <a:srgbClr val="000000"/>
                </a:solidFill>
              </a:rPr>
              <a:t> ne seront pas remplacés : Jean, Anne, </a:t>
            </a:r>
            <a:r>
              <a:rPr b="0" i="0" lang="fr-FR" sz="1500" u="none" strike="noStrike">
                <a:solidFill>
                  <a:srgbClr val="C9211E"/>
                </a:solidFill>
              </a:rPr>
              <a:t>Yves</a:t>
            </a:r>
            <a:r>
              <a:rPr b="0" i="0" lang="fr-FR" sz="1500" u="none" strike="noStrike">
                <a:solidFill>
                  <a:srgbClr val="000000"/>
                </a:solidFill>
              </a:rPr>
              <a:t>, </a:t>
            </a:r>
            <a:r>
              <a:rPr b="0" i="0" lang="fr-FR" sz="1500" u="none" strike="noStrike">
                <a:solidFill>
                  <a:srgbClr val="C9211E"/>
                </a:solidFill>
              </a:rPr>
              <a:t>Luce</a:t>
            </a:r>
            <a:r>
              <a:rPr b="0" i="0" lang="fr-FR" sz="1500" u="none" strike="noStrike">
                <a:solidFill>
                  <a:srgbClr val="000000"/>
                </a:solidFill>
              </a:rPr>
              <a:t>… =&gt; Structurer l’information autrement.</a:t>
            </a:r>
            <a:endParaRPr/>
          </a:p>
          <a:p>
            <a:pPr indent="-95250" lvl="1" marL="252000" rtl="0" algn="l">
              <a:lnSpc>
                <a:spcPct val="100000"/>
              </a:lnSpc>
              <a:spcBef>
                <a:spcPts val="600"/>
              </a:spcBef>
              <a:spcAft>
                <a:spcPts val="0"/>
              </a:spcAft>
              <a:buClr>
                <a:srgbClr val="000000"/>
              </a:buClr>
              <a:buSzPts val="1500"/>
              <a:buChar char="•"/>
            </a:pPr>
            <a:r>
              <a:rPr lang="fr-FR" sz="1500">
                <a:solidFill>
                  <a:srgbClr val="000000"/>
                </a:solidFill>
              </a:rPr>
              <a:t>G</a:t>
            </a:r>
            <a:r>
              <a:rPr b="0" i="0" lang="fr-FR" sz="1500" u="none" strike="noStrike">
                <a:solidFill>
                  <a:srgbClr val="000000"/>
                </a:solidFill>
              </a:rPr>
              <a:t>raphes : Texture + alternative aux images (cf. chapitre suivant).</a:t>
            </a:r>
            <a:endParaRPr/>
          </a:p>
          <a:p>
            <a:pPr indent="0" lvl="0" marL="0" rtl="0" algn="l">
              <a:lnSpc>
                <a:spcPct val="100000"/>
              </a:lnSpc>
              <a:spcBef>
                <a:spcPts val="600"/>
              </a:spcBef>
              <a:spcAft>
                <a:spcPts val="0"/>
              </a:spcAft>
              <a:buClr>
                <a:schemeClr val="dk1"/>
              </a:buClr>
              <a:buSzPts val="1800"/>
              <a:buNone/>
            </a:pPr>
            <a:r>
              <a:t/>
            </a:r>
            <a:endParaRPr/>
          </a:p>
        </p:txBody>
      </p:sp>
      <p:pic>
        <p:nvPicPr>
          <p:cNvPr id="733" name="Google Shape;733;p44"/>
          <p:cNvPicPr preferRelativeResize="0"/>
          <p:nvPr>
            <p:ph idx="4" type="body"/>
          </p:nvPr>
        </p:nvPicPr>
        <p:blipFill rotWithShape="1">
          <a:blip r:embed="rId3">
            <a:alphaModFix/>
          </a:blip>
          <a:srcRect b="0" l="0" r="0" t="0"/>
          <a:stretch/>
        </p:blipFill>
        <p:spPr>
          <a:xfrm>
            <a:off x="6444208" y="1779760"/>
            <a:ext cx="2305046" cy="1296045"/>
          </a:xfrm>
          <a:prstGeom prst="rect">
            <a:avLst/>
          </a:prstGeom>
          <a:noFill/>
          <a:ln>
            <a:noFill/>
          </a:ln>
        </p:spPr>
      </p:pic>
      <p:pic>
        <p:nvPicPr>
          <p:cNvPr id="734" name="Google Shape;734;p44"/>
          <p:cNvPicPr preferRelativeResize="0"/>
          <p:nvPr/>
        </p:nvPicPr>
        <p:blipFill rotWithShape="1">
          <a:blip r:embed="rId4">
            <a:alphaModFix/>
          </a:blip>
          <a:srcRect b="0" l="0" r="0" t="0"/>
          <a:stretch/>
        </p:blipFill>
        <p:spPr>
          <a:xfrm>
            <a:off x="6516216" y="3435351"/>
            <a:ext cx="2270408" cy="1278546"/>
          </a:xfrm>
          <a:prstGeom prst="rect">
            <a:avLst/>
          </a:prstGeom>
          <a:noFill/>
          <a:ln>
            <a:noFill/>
          </a:ln>
        </p:spPr>
      </p:pic>
      <p:sp>
        <p:nvSpPr>
          <p:cNvPr id="735" name="Google Shape;735;p44"/>
          <p:cNvSpPr/>
          <p:nvPr/>
        </p:nvSpPr>
        <p:spPr>
          <a:xfrm>
            <a:off x="7452320" y="3147814"/>
            <a:ext cx="45719" cy="217934"/>
          </a:xfrm>
          <a:prstGeom prst="downArrow">
            <a:avLst>
              <a:gd fmla="val 50000" name="adj1"/>
              <a:gd fmla="val 50000" name="adj2"/>
            </a:avLst>
          </a:prstGeom>
          <a:solidFill>
            <a:schemeClr val="accent1"/>
          </a:solidFill>
          <a:ln cap="flat" cmpd="sng" w="25400">
            <a:solidFill>
              <a:srgbClr val="00402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4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42" name="Google Shape;742;p4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43" name="Google Shape;743;p4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44" name="Google Shape;744;p45"/>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45" name="Google Shape;745;p45"/>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Contrastes et couleurs - Exercice</a:t>
            </a:r>
            <a:endParaRPr/>
          </a:p>
        </p:txBody>
      </p:sp>
      <p:sp>
        <p:nvSpPr>
          <p:cNvPr id="746" name="Google Shape;746;p45"/>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Exercice 9 : Vérification des couleurs</a:t>
            </a:r>
            <a:endParaRPr/>
          </a:p>
          <a:p>
            <a:pPr indent="0" lvl="0" marL="0" rtl="0" algn="l">
              <a:lnSpc>
                <a:spcPct val="100000"/>
              </a:lnSpc>
              <a:spcBef>
                <a:spcPts val="500"/>
              </a:spcBef>
              <a:spcAft>
                <a:spcPts val="0"/>
              </a:spcAft>
              <a:buClr>
                <a:srgbClr val="595959"/>
              </a:buClr>
              <a:buSzPts val="2000"/>
              <a:buNone/>
            </a:pPr>
            <a:r>
              <a:t/>
            </a:r>
            <a:endParaRPr/>
          </a:p>
        </p:txBody>
      </p:sp>
      <p:sp>
        <p:nvSpPr>
          <p:cNvPr id="747" name="Google Shape;747;p45"/>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285750" lvl="0" marL="285750" rtl="0" algn="l">
              <a:lnSpc>
                <a:spcPct val="100000"/>
              </a:lnSpc>
              <a:spcBef>
                <a:spcPts val="0"/>
              </a:spcBef>
              <a:spcAft>
                <a:spcPts val="0"/>
              </a:spcAft>
              <a:buClr>
                <a:schemeClr val="dk1"/>
              </a:buClr>
              <a:buSzPts val="1800"/>
              <a:buFont typeface="Arial"/>
              <a:buChar char="•"/>
            </a:pPr>
            <a:r>
              <a:rPr lang="fr-FR"/>
              <a:t>Vérifier la conformité du contraste des couleurs pour tout élément :</a:t>
            </a:r>
            <a:endParaRPr/>
          </a:p>
          <a:p>
            <a:pPr indent="-285749" lvl="1" marL="537750" rtl="0" algn="l">
              <a:lnSpc>
                <a:spcPct val="100000"/>
              </a:lnSpc>
              <a:spcBef>
                <a:spcPts val="1100"/>
              </a:spcBef>
              <a:spcAft>
                <a:spcPts val="0"/>
              </a:spcAft>
              <a:buClr>
                <a:srgbClr val="4C216D"/>
              </a:buClr>
              <a:buSzPts val="1600"/>
              <a:buChar char="•"/>
            </a:pPr>
            <a:r>
              <a:rPr lang="fr-FR">
                <a:solidFill>
                  <a:srgbClr val="4C216D"/>
                </a:solidFill>
              </a:rPr>
              <a:t>Pour aller plus loin : Proposer et implémenter une couleur proche et conforme pour tout élément non conforme</a:t>
            </a:r>
            <a:endParaRPr/>
          </a:p>
          <a:p>
            <a:pPr indent="-285750" lvl="0" marL="285750" rtl="0" algn="l">
              <a:lnSpc>
                <a:spcPct val="100000"/>
              </a:lnSpc>
              <a:spcBef>
                <a:spcPts val="600"/>
              </a:spcBef>
              <a:spcAft>
                <a:spcPts val="0"/>
              </a:spcAft>
              <a:buClr>
                <a:schemeClr val="dk1"/>
              </a:buClr>
              <a:buSzPts val="1800"/>
              <a:buFont typeface="Arial"/>
              <a:buChar char="•"/>
            </a:pPr>
            <a:r>
              <a:rPr lang="fr-FR"/>
              <a:t>S’assurer qu’aucune information n’est transmise uniquement par la couleur.  </a:t>
            </a:r>
            <a:endParaRPr/>
          </a:p>
          <a:p>
            <a:pPr indent="-285749" lvl="1" marL="537750" rtl="0" algn="l">
              <a:lnSpc>
                <a:spcPct val="100000"/>
              </a:lnSpc>
              <a:spcBef>
                <a:spcPts val="1100"/>
              </a:spcBef>
              <a:spcAft>
                <a:spcPts val="0"/>
              </a:spcAft>
              <a:buClr>
                <a:schemeClr val="dk1"/>
              </a:buClr>
              <a:buSzPts val="1800"/>
              <a:buChar char="•"/>
            </a:pPr>
            <a:r>
              <a:rPr lang="fr-FR" sz="1800"/>
              <a:t>Dans le cas contraire, proposer une alternative pertinente.</a:t>
            </a:r>
            <a:endParaRPr/>
          </a:p>
          <a:p>
            <a:pPr indent="-285750" lvl="2" marL="717750" rtl="0" algn="l">
              <a:lnSpc>
                <a:spcPct val="100000"/>
              </a:lnSpc>
              <a:spcBef>
                <a:spcPts val="700"/>
              </a:spcBef>
              <a:spcAft>
                <a:spcPts val="0"/>
              </a:spcAft>
              <a:buClr>
                <a:srgbClr val="4C216D"/>
              </a:buClr>
              <a:buSzPts val="1600"/>
              <a:buChar char="•"/>
            </a:pPr>
            <a:r>
              <a:rPr lang="fr-FR" sz="1600">
                <a:solidFill>
                  <a:srgbClr val="4C216D"/>
                </a:solidFill>
              </a:rPr>
              <a:t>Pour aller plus loin : Implémenter la solution envisagées.</a:t>
            </a:r>
            <a:endParaRPr sz="1600"/>
          </a:p>
          <a:p>
            <a:pPr indent="0" lvl="0" marL="0" rtl="0" algn="l">
              <a:lnSpc>
                <a:spcPct val="100000"/>
              </a:lnSpc>
              <a:spcBef>
                <a:spcPts val="100"/>
              </a:spcBef>
              <a:spcAft>
                <a:spcPts val="0"/>
              </a:spcAft>
              <a:buClr>
                <a:schemeClr val="dk1"/>
              </a:buClr>
              <a:buSzPts val="1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6"/>
          <p:cNvSpPr/>
          <p:nvPr>
            <p:ph idx="2" type="pic"/>
          </p:nvPr>
        </p:nvSpPr>
        <p:spPr>
          <a:xfrm>
            <a:off x="0" y="738000"/>
            <a:ext cx="9144000" cy="4406400"/>
          </a:xfrm>
          <a:prstGeom prst="rect">
            <a:avLst/>
          </a:prstGeom>
          <a:solidFill>
            <a:srgbClr val="D8D8D8"/>
          </a:solidFill>
          <a:ln>
            <a:noFill/>
          </a:ln>
        </p:spPr>
      </p:sp>
      <p:sp>
        <p:nvSpPr>
          <p:cNvPr id="754" name="Google Shape;754;p4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55" name="Google Shape;755;p4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56" name="Google Shape;756;p4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57" name="Google Shape;757;p46"/>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Images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64" name="Google Shape;764;p4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65" name="Google Shape;765;p4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66" name="Google Shape;766;p47"/>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67" name="Google Shape;767;p4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Image informative ou de décoration</a:t>
            </a:r>
            <a:endParaRPr/>
          </a:p>
        </p:txBody>
      </p:sp>
      <p:sp>
        <p:nvSpPr>
          <p:cNvPr id="768" name="Google Shape;768;p47"/>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Le retrait de l’image nuit-il à la compréhension du document ?</a:t>
            </a:r>
            <a:endParaRPr/>
          </a:p>
        </p:txBody>
      </p:sp>
      <p:sp>
        <p:nvSpPr>
          <p:cNvPr id="769" name="Google Shape;769;p47"/>
          <p:cNvSpPr txBox="1"/>
          <p:nvPr>
            <p:ph idx="1" type="body"/>
          </p:nvPr>
        </p:nvSpPr>
        <p:spPr>
          <a:xfrm>
            <a:off x="359998" y="1923678"/>
            <a:ext cx="3995978" cy="144016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Image porteuse d’information</a:t>
            </a:r>
            <a:endParaRPr/>
          </a:p>
          <a:p>
            <a:pPr indent="0" lvl="1" marL="180000" rtl="0" algn="l">
              <a:lnSpc>
                <a:spcPct val="100000"/>
              </a:lnSpc>
              <a:spcBef>
                <a:spcPts val="1100"/>
              </a:spcBef>
              <a:spcAft>
                <a:spcPts val="0"/>
              </a:spcAft>
              <a:buClr>
                <a:schemeClr val="dk1"/>
              </a:buClr>
              <a:buSzPts val="1600"/>
              <a:buNone/>
            </a:pPr>
            <a:r>
              <a:rPr lang="fr-FR"/>
              <a:t>Son retrait entraîne une perte d’information (contenu, intension, ambiance…) :</a:t>
            </a:r>
            <a:endParaRPr/>
          </a:p>
        </p:txBody>
      </p:sp>
      <p:sp>
        <p:nvSpPr>
          <p:cNvPr id="770" name="Google Shape;770;p47"/>
          <p:cNvSpPr/>
          <p:nvPr/>
        </p:nvSpPr>
        <p:spPr>
          <a:xfrm>
            <a:off x="755576" y="3507854"/>
            <a:ext cx="216024" cy="144016"/>
          </a:xfrm>
          <a:prstGeom prst="rightArrow">
            <a:avLst>
              <a:gd fmla="val 50000" name="adj1"/>
              <a:gd fmla="val 50000" name="adj2"/>
            </a:avLst>
          </a:prstGeom>
          <a:solidFill>
            <a:schemeClr val="accent1"/>
          </a:solidFill>
          <a:ln cap="flat" cmpd="sng" w="25400">
            <a:solidFill>
              <a:srgbClr val="00402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1" name="Google Shape;771;p47"/>
          <p:cNvSpPr txBox="1"/>
          <p:nvPr/>
        </p:nvSpPr>
        <p:spPr>
          <a:xfrm>
            <a:off x="1043608" y="3275768"/>
            <a:ext cx="3240360" cy="1219700"/>
          </a:xfrm>
          <a:prstGeom prst="rect">
            <a:avLst/>
          </a:prstGeom>
          <a:noFill/>
          <a:ln>
            <a:noFill/>
          </a:ln>
        </p:spPr>
        <p:txBody>
          <a:bodyPr anchorCtr="0" anchor="t" bIns="0" lIns="0" spcFirstLastPara="1" rIns="0" wrap="square" tIns="0">
            <a:noAutofit/>
          </a:bodyPr>
          <a:lstStyle/>
          <a:p>
            <a:pPr indent="0" lvl="0" marL="108000" marR="0" rtl="0" algn="l">
              <a:lnSpc>
                <a:spcPct val="100000"/>
              </a:lnSpc>
              <a:spcBef>
                <a:spcPts val="0"/>
              </a:spcBef>
              <a:spcAft>
                <a:spcPts val="0"/>
              </a:spcAft>
              <a:buClr>
                <a:schemeClr val="dk1"/>
              </a:buClr>
              <a:buSzPts val="1600"/>
              <a:buFont typeface="Arial"/>
              <a:buNone/>
            </a:pPr>
            <a:r>
              <a:rPr b="0" lang="fr-FR" sz="1600">
                <a:solidFill>
                  <a:schemeClr val="dk1"/>
                </a:solidFill>
                <a:latin typeface="Arial"/>
                <a:ea typeface="Arial"/>
                <a:cs typeface="Arial"/>
                <a:sym typeface="Arial"/>
              </a:rPr>
              <a:t>Élaborer et implémenter un texte de remplacement : l’alternative textuelle </a:t>
            </a:r>
            <a:br>
              <a:rPr b="0" lang="fr-FR" sz="1600">
                <a:solidFill>
                  <a:schemeClr val="dk1"/>
                </a:solidFill>
                <a:latin typeface="Arial"/>
                <a:ea typeface="Arial"/>
                <a:cs typeface="Arial"/>
                <a:sym typeface="Arial"/>
              </a:rPr>
            </a:br>
            <a:r>
              <a:rPr b="0" lang="fr-FR" sz="1400">
                <a:solidFill>
                  <a:schemeClr val="dk1"/>
                </a:solidFill>
                <a:latin typeface="Arial"/>
                <a:ea typeface="Arial"/>
                <a:cs typeface="Arial"/>
                <a:sym typeface="Arial"/>
              </a:rPr>
              <a:t>claire et concise, non redondante mais complète</a:t>
            </a:r>
            <a:r>
              <a:rPr b="0" lang="fr-FR" sz="1600">
                <a:solidFill>
                  <a:schemeClr val="dk1"/>
                </a:solidFill>
                <a:latin typeface="Arial"/>
                <a:ea typeface="Arial"/>
                <a:cs typeface="Arial"/>
                <a:sym typeface="Arial"/>
              </a:rPr>
              <a:t>.</a:t>
            </a:r>
            <a:endParaRPr/>
          </a:p>
        </p:txBody>
      </p:sp>
      <p:cxnSp>
        <p:nvCxnSpPr>
          <p:cNvPr id="772" name="Google Shape;772;p47"/>
          <p:cNvCxnSpPr/>
          <p:nvPr/>
        </p:nvCxnSpPr>
        <p:spPr>
          <a:xfrm>
            <a:off x="4499992" y="1923678"/>
            <a:ext cx="0" cy="2448272"/>
          </a:xfrm>
          <a:prstGeom prst="straightConnector1">
            <a:avLst/>
          </a:prstGeom>
          <a:noFill/>
          <a:ln cap="flat" cmpd="sng" w="9525">
            <a:solidFill>
              <a:schemeClr val="dk1"/>
            </a:solidFill>
            <a:prstDash val="solid"/>
            <a:round/>
            <a:headEnd len="sm" w="sm" type="none"/>
            <a:tailEnd len="sm" w="sm" type="none"/>
          </a:ln>
        </p:spPr>
      </p:cxnSp>
      <p:sp>
        <p:nvSpPr>
          <p:cNvPr id="773" name="Google Shape;773;p47"/>
          <p:cNvSpPr txBox="1"/>
          <p:nvPr>
            <p:ph idx="3" type="body"/>
          </p:nvPr>
        </p:nvSpPr>
        <p:spPr>
          <a:xfrm>
            <a:off x="4780104" y="1920609"/>
            <a:ext cx="3995978" cy="99167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Image de décoration</a:t>
            </a:r>
            <a:endParaRPr/>
          </a:p>
          <a:p>
            <a:pPr indent="0" lvl="1" marL="180000" rtl="0" algn="l">
              <a:lnSpc>
                <a:spcPct val="100000"/>
              </a:lnSpc>
              <a:spcBef>
                <a:spcPts val="1100"/>
              </a:spcBef>
              <a:spcAft>
                <a:spcPts val="0"/>
              </a:spcAft>
              <a:buClr>
                <a:schemeClr val="dk1"/>
              </a:buClr>
              <a:buSzPts val="1600"/>
              <a:buNone/>
            </a:pPr>
            <a:r>
              <a:rPr lang="fr-FR"/>
              <a:t>Aucune information complémentaire par rapport au texte :</a:t>
            </a:r>
            <a:endParaRPr/>
          </a:p>
          <a:p>
            <a:pPr indent="0" lvl="0" marL="0" rtl="0" algn="l">
              <a:lnSpc>
                <a:spcPct val="100000"/>
              </a:lnSpc>
              <a:spcBef>
                <a:spcPts val="600"/>
              </a:spcBef>
              <a:spcAft>
                <a:spcPts val="0"/>
              </a:spcAft>
              <a:buClr>
                <a:schemeClr val="dk1"/>
              </a:buClr>
              <a:buSzPts val="1800"/>
              <a:buNone/>
            </a:pPr>
            <a:r>
              <a:t/>
            </a:r>
            <a:endParaRPr/>
          </a:p>
        </p:txBody>
      </p:sp>
      <p:sp>
        <p:nvSpPr>
          <p:cNvPr id="774" name="Google Shape;774;p47"/>
          <p:cNvSpPr/>
          <p:nvPr/>
        </p:nvSpPr>
        <p:spPr>
          <a:xfrm>
            <a:off x="5292080" y="3435846"/>
            <a:ext cx="216024" cy="144016"/>
          </a:xfrm>
          <a:prstGeom prst="rightArrow">
            <a:avLst>
              <a:gd fmla="val 50000" name="adj1"/>
              <a:gd fmla="val 50000" name="adj2"/>
            </a:avLst>
          </a:prstGeom>
          <a:solidFill>
            <a:schemeClr val="accent1"/>
          </a:solidFill>
          <a:ln cap="flat" cmpd="sng" w="25400">
            <a:solidFill>
              <a:srgbClr val="00402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5" name="Google Shape;775;p47"/>
          <p:cNvSpPr txBox="1"/>
          <p:nvPr/>
        </p:nvSpPr>
        <p:spPr>
          <a:xfrm>
            <a:off x="5580112" y="3259929"/>
            <a:ext cx="3312368" cy="715957"/>
          </a:xfrm>
          <a:prstGeom prst="rect">
            <a:avLst/>
          </a:prstGeom>
          <a:noFill/>
          <a:ln>
            <a:noFill/>
          </a:ln>
        </p:spPr>
        <p:txBody>
          <a:bodyPr anchorCtr="0" anchor="t" bIns="0" lIns="0" spcFirstLastPara="1" rIns="0" wrap="square" tIns="0">
            <a:noAutofit/>
          </a:bodyPr>
          <a:lstStyle/>
          <a:p>
            <a:pPr indent="0" lvl="0" marL="108000" marR="0" rtl="0" algn="l">
              <a:lnSpc>
                <a:spcPct val="100000"/>
              </a:lnSpc>
              <a:spcBef>
                <a:spcPts val="0"/>
              </a:spcBef>
              <a:spcAft>
                <a:spcPts val="0"/>
              </a:spcAft>
              <a:buClr>
                <a:schemeClr val="dk1"/>
              </a:buClr>
              <a:buSzPts val="1600"/>
              <a:buFont typeface="Arial"/>
              <a:buNone/>
            </a:pPr>
            <a:r>
              <a:rPr b="0" lang="fr-FR" sz="1600">
                <a:solidFill>
                  <a:schemeClr val="dk1"/>
                </a:solidFill>
                <a:latin typeface="Arial"/>
                <a:ea typeface="Arial"/>
                <a:cs typeface="Arial"/>
                <a:sym typeface="Arial"/>
              </a:rPr>
              <a:t>Faire en sorte qu’elle soit ignorée par les technologie d’assistance.</a:t>
            </a:r>
            <a:endParaRPr/>
          </a:p>
          <a:p>
            <a:pPr indent="0" lvl="0" marL="0" marR="0" rtl="0" algn="l">
              <a:lnSpc>
                <a:spcPct val="100000"/>
              </a:lnSpc>
              <a:spcBef>
                <a:spcPts val="500"/>
              </a:spcBef>
              <a:spcAft>
                <a:spcPts val="0"/>
              </a:spcAft>
              <a:buClr>
                <a:schemeClr val="dk1"/>
              </a:buClr>
              <a:buSzPts val="1600"/>
              <a:buFont typeface="Arial"/>
              <a:buNone/>
            </a:pPr>
            <a:r>
              <a:t/>
            </a:r>
            <a:endParaRPr b="0" sz="1600">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48"/>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82" name="Google Shape;782;p48"/>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783" name="Google Shape;783;p48"/>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84" name="Google Shape;784;p48"/>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85" name="Google Shape;785;p48"/>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Images particulières 1/2</a:t>
            </a:r>
            <a:endParaRPr/>
          </a:p>
        </p:txBody>
      </p:sp>
      <p:sp>
        <p:nvSpPr>
          <p:cNvPr id="786" name="Google Shape;786;p48"/>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Du texte en référence à l’image</a:t>
            </a:r>
            <a:endParaRPr/>
          </a:p>
        </p:txBody>
      </p:sp>
      <p:sp>
        <p:nvSpPr>
          <p:cNvPr id="787" name="Google Shape;787;p48"/>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Image décorative mentionnée </a:t>
            </a:r>
            <a:r>
              <a:rPr lang="fr-FR"/>
              <a:t> </a:t>
            </a:r>
            <a:endParaRPr/>
          </a:p>
          <a:p>
            <a:pPr indent="0" lvl="0" marL="0" rtl="0" algn="l">
              <a:lnSpc>
                <a:spcPct val="100000"/>
              </a:lnSpc>
              <a:spcBef>
                <a:spcPts val="500"/>
              </a:spcBef>
              <a:spcAft>
                <a:spcPts val="0"/>
              </a:spcAft>
              <a:buClr>
                <a:schemeClr val="dk1"/>
              </a:buClr>
              <a:buSzPts val="1600"/>
              <a:buNone/>
            </a:pPr>
            <a:r>
              <a:rPr lang="fr-FR" sz="1600"/>
              <a:t>Un élément dans le document mentionne l’image décorative :</a:t>
            </a:r>
            <a:endParaRPr/>
          </a:p>
          <a:p>
            <a:pPr indent="-95250" lvl="1" marL="252000" rtl="0" algn="l">
              <a:lnSpc>
                <a:spcPct val="100000"/>
              </a:lnSpc>
              <a:spcBef>
                <a:spcPts val="500"/>
              </a:spcBef>
              <a:spcAft>
                <a:spcPts val="0"/>
              </a:spcAft>
              <a:buClr>
                <a:schemeClr val="dk1"/>
              </a:buClr>
              <a:buSzPts val="1500"/>
              <a:buChar char="•"/>
            </a:pPr>
            <a:r>
              <a:rPr lang="fr-FR" sz="1500"/>
              <a:t>« Comme le montre l’image… » ;</a:t>
            </a:r>
            <a:endParaRPr/>
          </a:p>
          <a:p>
            <a:pPr indent="0" lvl="0" marL="0" rtl="0" algn="l">
              <a:lnSpc>
                <a:spcPct val="100000"/>
              </a:lnSpc>
              <a:spcBef>
                <a:spcPts val="600"/>
              </a:spcBef>
              <a:spcAft>
                <a:spcPts val="0"/>
              </a:spcAft>
              <a:buClr>
                <a:schemeClr val="dk1"/>
              </a:buClr>
              <a:buSzPts val="1600"/>
              <a:buNone/>
            </a:pPr>
            <a:r>
              <a:rPr lang="fr-FR" sz="1600"/>
              <a:t>L’alternative textuelle restera basique (un titre par exemple). L’objectif est de « montrer » l’image aux utilisateurs de technologies.</a:t>
            </a:r>
            <a:endParaRPr/>
          </a:p>
          <a:p>
            <a:pPr indent="0" lvl="0" marL="0" rtl="0" algn="l">
              <a:lnSpc>
                <a:spcPct val="100000"/>
              </a:lnSpc>
              <a:spcBef>
                <a:spcPts val="5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p:txBody>
      </p:sp>
      <p:cxnSp>
        <p:nvCxnSpPr>
          <p:cNvPr id="788" name="Google Shape;788;p48"/>
          <p:cNvCxnSpPr/>
          <p:nvPr/>
        </p:nvCxnSpPr>
        <p:spPr>
          <a:xfrm rot="10800000">
            <a:off x="3707904" y="2669265"/>
            <a:ext cx="1224136" cy="450665"/>
          </a:xfrm>
          <a:prstGeom prst="straightConnector1">
            <a:avLst/>
          </a:prstGeom>
          <a:noFill/>
          <a:ln cap="flat" cmpd="sng" w="28575">
            <a:solidFill>
              <a:srgbClr val="005740"/>
            </a:solidFill>
            <a:prstDash val="solid"/>
            <a:round/>
            <a:headEnd len="sm" w="sm" type="none"/>
            <a:tailEnd len="med" w="med" type="triangle"/>
          </a:ln>
        </p:spPr>
      </p:cxnSp>
      <p:sp>
        <p:nvSpPr>
          <p:cNvPr id="789" name="Google Shape;789;p48"/>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Image légendée</a:t>
            </a:r>
            <a:endParaRPr/>
          </a:p>
          <a:p>
            <a:pPr indent="0" lvl="0" marL="0" rtl="0" algn="l">
              <a:lnSpc>
                <a:spcPct val="100000"/>
              </a:lnSpc>
              <a:spcBef>
                <a:spcPts val="500"/>
              </a:spcBef>
              <a:spcAft>
                <a:spcPts val="0"/>
              </a:spcAft>
              <a:buClr>
                <a:srgbClr val="000000"/>
              </a:buClr>
              <a:buSzPts val="1600"/>
              <a:buNone/>
            </a:pPr>
            <a:r>
              <a:rPr b="0" i="0" lang="fr-FR" sz="1600" u="none" strike="noStrike">
                <a:solidFill>
                  <a:srgbClr val="000000"/>
                </a:solidFill>
                <a:latin typeface="Arial"/>
                <a:ea typeface="Arial"/>
                <a:cs typeface="Arial"/>
                <a:sym typeface="Arial"/>
              </a:rPr>
              <a:t>Légende insérée via clic droit → </a:t>
            </a:r>
            <a:r>
              <a:rPr b="0" i="0" lang="fr-FR" sz="1600" u="none" strike="noStrike">
                <a:solidFill>
                  <a:srgbClr val="00006C"/>
                </a:solidFill>
                <a:latin typeface="Arial"/>
                <a:ea typeface="Arial"/>
                <a:cs typeface="Arial"/>
                <a:sym typeface="Arial"/>
              </a:rPr>
              <a:t>Insérer une légende…</a:t>
            </a:r>
            <a:r>
              <a:rPr b="0" i="0" lang="fr-FR" sz="1600" u="none" strike="noStrike">
                <a:solidFill>
                  <a:srgbClr val="000000"/>
                </a:solidFill>
                <a:latin typeface="Arial"/>
                <a:ea typeface="Arial"/>
                <a:cs typeface="Arial"/>
                <a:sym typeface="Arial"/>
              </a:rPr>
              <a:t> (sous l’image de préférence).</a:t>
            </a:r>
            <a:endParaRPr b="0" i="0" sz="1600" u="none" strike="noStrike">
              <a:solidFill>
                <a:srgbClr val="000000"/>
              </a:solidFill>
              <a:latin typeface="Lucida Sans"/>
              <a:ea typeface="Lucida Sans"/>
              <a:cs typeface="Lucida Sans"/>
              <a:sym typeface="Lucida Sans"/>
            </a:endParaRPr>
          </a:p>
          <a:p>
            <a:pPr indent="-88900" lvl="1" marL="252000" rtl="0" algn="l">
              <a:lnSpc>
                <a:spcPct val="100000"/>
              </a:lnSpc>
              <a:spcBef>
                <a:spcPts val="1100"/>
              </a:spcBef>
              <a:spcAft>
                <a:spcPts val="0"/>
              </a:spcAft>
              <a:buClr>
                <a:srgbClr val="000000"/>
              </a:buClr>
              <a:buSzPts val="1400"/>
              <a:buChar char="•"/>
            </a:pPr>
            <a:r>
              <a:rPr b="0" i="0" lang="fr-FR" sz="1400" u="none" strike="noStrike">
                <a:solidFill>
                  <a:srgbClr val="000000"/>
                </a:solidFill>
                <a:latin typeface="Arial"/>
                <a:ea typeface="Arial"/>
                <a:cs typeface="Arial"/>
                <a:sym typeface="Arial"/>
              </a:rPr>
              <a:t>Si l’image est ou devient décorative </a:t>
            </a:r>
            <a:br>
              <a:rPr b="0" i="0" lang="fr-FR" sz="1400" u="none" strike="noStrike">
                <a:solidFill>
                  <a:srgbClr val="000000"/>
                </a:solidFill>
                <a:latin typeface="Arial"/>
                <a:ea typeface="Arial"/>
                <a:cs typeface="Arial"/>
                <a:sym typeface="Arial"/>
              </a:rPr>
            </a:br>
            <a:r>
              <a:rPr b="0" i="0" lang="fr-FR" sz="1400" u="none" strike="noStrike">
                <a:solidFill>
                  <a:srgbClr val="000000"/>
                </a:solidFill>
                <a:latin typeface="Arial"/>
                <a:ea typeface="Arial"/>
                <a:cs typeface="Arial"/>
                <a:sym typeface="Arial"/>
              </a:rPr>
              <a:t>=&gt; image décorative mentionnée.</a:t>
            </a:r>
            <a:endParaRPr b="0" i="0" sz="1400" u="none" strike="noStrike">
              <a:solidFill>
                <a:srgbClr val="000000"/>
              </a:solidFill>
              <a:latin typeface="Lucida Sans"/>
              <a:ea typeface="Lucida Sans"/>
              <a:cs typeface="Lucida Sans"/>
              <a:sym typeface="Lucida Sans"/>
            </a:endParaRPr>
          </a:p>
          <a:p>
            <a:pPr indent="0" lvl="0" marL="0" rtl="0" algn="l">
              <a:lnSpc>
                <a:spcPct val="100000"/>
              </a:lnSpc>
              <a:spcBef>
                <a:spcPts val="600"/>
              </a:spcBef>
              <a:spcAft>
                <a:spcPts val="0"/>
              </a:spcAft>
              <a:buClr>
                <a:schemeClr val="dk1"/>
              </a:buClr>
              <a:buSzPts val="1800"/>
              <a:buNone/>
            </a:pPr>
            <a:r>
              <a:t/>
            </a:r>
            <a:endParaRPr/>
          </a:p>
          <a:p>
            <a:pPr indent="0" lvl="0" marL="0" rtl="0" algn="l">
              <a:lnSpc>
                <a:spcPct val="100000"/>
              </a:lnSpc>
              <a:spcBef>
                <a:spcPts val="500"/>
              </a:spcBef>
              <a:spcAft>
                <a:spcPts val="0"/>
              </a:spcAft>
              <a:buClr>
                <a:schemeClr val="dk1"/>
              </a:buClr>
              <a:buSzPts val="1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9"/>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796" name="Google Shape;796;p49"/>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797" name="Google Shape;797;p49"/>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a:p>
        </p:txBody>
      </p:sp>
      <p:sp>
        <p:nvSpPr>
          <p:cNvPr id="798" name="Google Shape;798;p49"/>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799" name="Google Shape;799;p49"/>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Images particulières 2/2</a:t>
            </a:r>
            <a:endParaRPr/>
          </a:p>
        </p:txBody>
      </p:sp>
      <p:sp>
        <p:nvSpPr>
          <p:cNvPr id="800" name="Google Shape;800;p49"/>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Image informative complexe</a:t>
            </a:r>
            <a:endParaRPr/>
          </a:p>
        </p:txBody>
      </p:sp>
      <p:sp>
        <p:nvSpPr>
          <p:cNvPr id="801" name="Google Shape;801;p49"/>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fr-FR"/>
              <a:t>Limite de l’alternative textuelle :</a:t>
            </a:r>
            <a:endParaRPr/>
          </a:p>
          <a:p>
            <a:pPr indent="-88900" lvl="1" marL="252000" rtl="0" algn="l">
              <a:lnSpc>
                <a:spcPct val="100000"/>
              </a:lnSpc>
              <a:spcBef>
                <a:spcPts val="500"/>
              </a:spcBef>
              <a:spcAft>
                <a:spcPts val="0"/>
              </a:spcAft>
              <a:buClr>
                <a:schemeClr val="dk1"/>
              </a:buClr>
              <a:buSzPts val="1400"/>
              <a:buChar char="•"/>
            </a:pPr>
            <a:r>
              <a:rPr lang="fr-FR" sz="1400"/>
              <a:t>Limitée en taille (même avec la description dans Writer) ;</a:t>
            </a:r>
            <a:endParaRPr/>
          </a:p>
          <a:p>
            <a:pPr indent="-88900" lvl="1" marL="252000" rtl="0" algn="l">
              <a:lnSpc>
                <a:spcPct val="100000"/>
              </a:lnSpc>
              <a:spcBef>
                <a:spcPts val="600"/>
              </a:spcBef>
              <a:spcAft>
                <a:spcPts val="0"/>
              </a:spcAft>
              <a:buClr>
                <a:schemeClr val="dk1"/>
              </a:buClr>
              <a:buSzPts val="1400"/>
              <a:buChar char="•"/>
            </a:pPr>
            <a:r>
              <a:rPr lang="fr-FR" sz="1400"/>
              <a:t>Pas de structuration possible (titres, listes, paragraphe).</a:t>
            </a:r>
            <a:endParaRPr/>
          </a:p>
          <a:p>
            <a:pPr indent="0" lvl="0" marL="0" rtl="0" algn="l">
              <a:lnSpc>
                <a:spcPct val="100000"/>
              </a:lnSpc>
              <a:spcBef>
                <a:spcPts val="600"/>
              </a:spcBef>
              <a:spcAft>
                <a:spcPts val="0"/>
              </a:spcAft>
              <a:buClr>
                <a:schemeClr val="dk1"/>
              </a:buClr>
              <a:buSzPts val="1600"/>
              <a:buNone/>
            </a:pPr>
            <a:r>
              <a:rPr lang="fr-FR" sz="1600"/>
              <a:t>Solution :</a:t>
            </a:r>
            <a:endParaRPr/>
          </a:p>
          <a:p>
            <a:pPr indent="-88900" lvl="1" marL="252000" rtl="0" algn="l">
              <a:lnSpc>
                <a:spcPct val="100000"/>
              </a:lnSpc>
              <a:spcBef>
                <a:spcPts val="500"/>
              </a:spcBef>
              <a:spcAft>
                <a:spcPts val="0"/>
              </a:spcAft>
              <a:buClr>
                <a:schemeClr val="dk1"/>
              </a:buClr>
              <a:buSzPts val="1400"/>
              <a:buChar char="•"/>
            </a:pPr>
            <a:r>
              <a:rPr lang="fr-FR" sz="1400"/>
              <a:t>Une description détaillée adjacente à l’image (texte ou lien);</a:t>
            </a:r>
            <a:endParaRPr/>
          </a:p>
          <a:p>
            <a:pPr indent="-88900" lvl="1" marL="252000" rtl="0" algn="l">
              <a:lnSpc>
                <a:spcPct val="100000"/>
              </a:lnSpc>
              <a:spcBef>
                <a:spcPts val="600"/>
              </a:spcBef>
              <a:spcAft>
                <a:spcPts val="0"/>
              </a:spcAft>
              <a:buClr>
                <a:schemeClr val="dk1"/>
              </a:buClr>
              <a:buSzPts val="1400"/>
              <a:buChar char="•"/>
            </a:pPr>
            <a:r>
              <a:rPr lang="fr-FR" sz="1400"/>
              <a:t>L’image devient soit décorative, soit mentionnée (titre + « voir détails ci-après »).</a:t>
            </a:r>
            <a:endParaRPr/>
          </a:p>
        </p:txBody>
      </p:sp>
      <p:pic>
        <p:nvPicPr>
          <p:cNvPr descr="Histogramme avec description détaillée ci-après." id="802" name="Google Shape;802;p49"/>
          <p:cNvPicPr preferRelativeResize="0"/>
          <p:nvPr/>
        </p:nvPicPr>
        <p:blipFill rotWithShape="1">
          <a:blip r:embed="rId3">
            <a:alphaModFix/>
          </a:blip>
          <a:srcRect b="0" l="0" r="0" t="0"/>
          <a:stretch/>
        </p:blipFill>
        <p:spPr>
          <a:xfrm>
            <a:off x="5478238" y="811738"/>
            <a:ext cx="3305400" cy="1822436"/>
          </a:xfrm>
          <a:prstGeom prst="rect">
            <a:avLst/>
          </a:prstGeom>
          <a:noFill/>
          <a:ln>
            <a:noFill/>
          </a:ln>
        </p:spPr>
      </p:pic>
      <p:sp>
        <p:nvSpPr>
          <p:cNvPr id="803" name="Google Shape;803;p49"/>
          <p:cNvSpPr txBox="1"/>
          <p:nvPr>
            <p:ph idx="3" type="body"/>
          </p:nvPr>
        </p:nvSpPr>
        <p:spPr>
          <a:xfrm>
            <a:off x="5318819" y="2694184"/>
            <a:ext cx="2907637" cy="1482334"/>
          </a:xfrm>
          <a:prstGeom prst="rect">
            <a:avLst/>
          </a:prstGeom>
          <a:noFill/>
          <a:ln>
            <a:noFill/>
          </a:ln>
        </p:spPr>
        <p:txBody>
          <a:bodyPr anchorCtr="0" anchor="t" bIns="0" lIns="0" spcFirstLastPara="1" rIns="0" wrap="square" tIns="0">
            <a:noAutofit/>
          </a:bodyPr>
          <a:lstStyle/>
          <a:p>
            <a:pPr indent="-285750" lvl="0" marL="285750" rtl="0" algn="l">
              <a:lnSpc>
                <a:spcPct val="100000"/>
              </a:lnSpc>
              <a:spcBef>
                <a:spcPts val="0"/>
              </a:spcBef>
              <a:spcAft>
                <a:spcPts val="0"/>
              </a:spcAft>
              <a:buClr>
                <a:schemeClr val="dk1"/>
              </a:buClr>
              <a:buSzPts val="1200"/>
              <a:buFont typeface="Arial"/>
              <a:buChar char="•"/>
            </a:pPr>
            <a:r>
              <a:rPr lang="fr-FR" sz="1200"/>
              <a:t>Projet 1 : </a:t>
            </a:r>
            <a:endParaRPr/>
          </a:p>
          <a:p>
            <a:pPr indent="-285749" lvl="1" marL="537750" rtl="0" algn="l">
              <a:lnSpc>
                <a:spcPct val="100000"/>
              </a:lnSpc>
              <a:spcBef>
                <a:spcPts val="0"/>
              </a:spcBef>
              <a:spcAft>
                <a:spcPts val="0"/>
              </a:spcAft>
              <a:buClr>
                <a:schemeClr val="dk1"/>
              </a:buClr>
              <a:buSzPts val="1100"/>
              <a:buChar char="•"/>
            </a:pPr>
            <a:r>
              <a:rPr lang="fr-FR" sz="1100"/>
              <a:t>Critères A conformes : 65 % ;</a:t>
            </a:r>
            <a:endParaRPr/>
          </a:p>
          <a:p>
            <a:pPr indent="-285749" lvl="1" marL="537750" rtl="0" algn="l">
              <a:lnSpc>
                <a:spcPct val="100000"/>
              </a:lnSpc>
              <a:spcBef>
                <a:spcPts val="0"/>
              </a:spcBef>
              <a:spcAft>
                <a:spcPts val="0"/>
              </a:spcAft>
              <a:buClr>
                <a:schemeClr val="dk1"/>
              </a:buClr>
              <a:buSzPts val="1100"/>
              <a:buChar char="•"/>
            </a:pPr>
            <a:r>
              <a:rPr lang="fr-FR" sz="1100"/>
              <a:t>Critères AA conformes : 32 % ;</a:t>
            </a:r>
            <a:endParaRPr/>
          </a:p>
          <a:p>
            <a:pPr indent="-285749" lvl="1" marL="537750" rtl="0" algn="l">
              <a:lnSpc>
                <a:spcPct val="100000"/>
              </a:lnSpc>
              <a:spcBef>
                <a:spcPts val="0"/>
              </a:spcBef>
              <a:spcAft>
                <a:spcPts val="0"/>
              </a:spcAft>
              <a:buClr>
                <a:schemeClr val="dk1"/>
              </a:buClr>
              <a:buSzPts val="1100"/>
              <a:buChar char="•"/>
            </a:pPr>
            <a:r>
              <a:rPr lang="fr-FR" sz="1100"/>
              <a:t>Critères totaux conformes : 58 % ;</a:t>
            </a:r>
            <a:endParaRPr/>
          </a:p>
          <a:p>
            <a:pPr indent="-285750" lvl="0" marL="285750" rtl="0" algn="l">
              <a:lnSpc>
                <a:spcPct val="100000"/>
              </a:lnSpc>
              <a:spcBef>
                <a:spcPts val="600"/>
              </a:spcBef>
              <a:spcAft>
                <a:spcPts val="0"/>
              </a:spcAft>
              <a:buClr>
                <a:schemeClr val="dk1"/>
              </a:buClr>
              <a:buSzPts val="1200"/>
              <a:buFont typeface="Arial"/>
              <a:buChar char="•"/>
            </a:pPr>
            <a:r>
              <a:rPr lang="fr-FR" sz="1200"/>
              <a:t>Projet 2 : </a:t>
            </a:r>
            <a:endParaRPr/>
          </a:p>
          <a:p>
            <a:pPr indent="-285749" lvl="1" marL="537750" rtl="0" algn="l">
              <a:lnSpc>
                <a:spcPct val="100000"/>
              </a:lnSpc>
              <a:spcBef>
                <a:spcPts val="0"/>
              </a:spcBef>
              <a:spcAft>
                <a:spcPts val="0"/>
              </a:spcAft>
              <a:buClr>
                <a:schemeClr val="dk1"/>
              </a:buClr>
              <a:buSzPts val="1100"/>
              <a:buChar char="•"/>
            </a:pPr>
            <a:r>
              <a:rPr lang="fr-FR" sz="1100"/>
              <a:t>Critères A conformes : 75 % ;</a:t>
            </a:r>
            <a:endParaRPr/>
          </a:p>
          <a:p>
            <a:pPr indent="-285749" lvl="1" marL="537750" rtl="0" algn="l">
              <a:lnSpc>
                <a:spcPct val="100000"/>
              </a:lnSpc>
              <a:spcBef>
                <a:spcPts val="0"/>
              </a:spcBef>
              <a:spcAft>
                <a:spcPts val="0"/>
              </a:spcAft>
              <a:buClr>
                <a:schemeClr val="dk1"/>
              </a:buClr>
              <a:buSzPts val="1100"/>
              <a:buChar char="•"/>
            </a:pPr>
            <a:r>
              <a:rPr lang="fr-FR" sz="1100"/>
              <a:t>Critères AA conformes : 68 % ;</a:t>
            </a:r>
            <a:endParaRPr/>
          </a:p>
          <a:p>
            <a:pPr indent="-285749" lvl="1" marL="537750" rtl="0" algn="l">
              <a:lnSpc>
                <a:spcPct val="100000"/>
              </a:lnSpc>
              <a:spcBef>
                <a:spcPts val="0"/>
              </a:spcBef>
              <a:spcAft>
                <a:spcPts val="0"/>
              </a:spcAft>
              <a:buClr>
                <a:schemeClr val="dk1"/>
              </a:buClr>
              <a:buSzPts val="1100"/>
              <a:buChar char="•"/>
            </a:pPr>
            <a:r>
              <a:rPr lang="fr-FR" sz="1100"/>
              <a:t>Critères totaux conformes : 70 %.</a:t>
            </a:r>
            <a:endParaRPr/>
          </a:p>
        </p:txBody>
      </p:sp>
      <p:sp>
        <p:nvSpPr>
          <p:cNvPr id="804" name="Google Shape;804;p49"/>
          <p:cNvSpPr txBox="1"/>
          <p:nvPr/>
        </p:nvSpPr>
        <p:spPr>
          <a:xfrm>
            <a:off x="5004048" y="4299942"/>
            <a:ext cx="388843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200" u="none" strike="noStrike">
                <a:solidFill>
                  <a:srgbClr val="000000"/>
                </a:solidFill>
                <a:latin typeface="Arial"/>
                <a:ea typeface="Arial"/>
                <a:cs typeface="Arial"/>
                <a:sym typeface="Arial"/>
              </a:rPr>
              <a:t>Alternative</a:t>
            </a:r>
            <a:r>
              <a:rPr b="0" i="0" lang="fr-FR" sz="1200" u="none" strike="noStrike">
                <a:solidFill>
                  <a:srgbClr val="000000"/>
                </a:solidFill>
                <a:latin typeface="Arial"/>
                <a:ea typeface="Arial"/>
                <a:cs typeface="Arial"/>
                <a:sym typeface="Arial"/>
              </a:rPr>
              <a:t> textuelle : « Taux de conformité des projets 1 et 2, voir description détaillée ci-après.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50"/>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11" name="Google Shape;811;p50"/>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12" name="Google Shape;812;p50"/>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13" name="Google Shape;813;p50"/>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814" name="Google Shape;814;p50"/>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300"/>
              <a:buFont typeface="Arial"/>
              <a:buNone/>
            </a:pPr>
            <a:r>
              <a:rPr lang="fr-FR" sz="2300"/>
              <a:t>Implémenter l’alternative ou déclarer l’image décorative</a:t>
            </a:r>
            <a:endParaRPr/>
          </a:p>
        </p:txBody>
      </p:sp>
      <p:sp>
        <p:nvSpPr>
          <p:cNvPr id="815" name="Google Shape;815;p50"/>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sz="2000"/>
              <a:t>Exercice 10</a:t>
            </a:r>
            <a:r>
              <a:rPr lang="fr-FR"/>
              <a:t>  : Traitement des images</a:t>
            </a:r>
            <a:endParaRPr/>
          </a:p>
        </p:txBody>
      </p:sp>
      <p:sp>
        <p:nvSpPr>
          <p:cNvPr id="816" name="Google Shape;816;p50"/>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chemeClr val="dk1"/>
              </a:buClr>
              <a:buSzPts val="1600"/>
              <a:buNone/>
            </a:pPr>
            <a:r>
              <a:rPr lang="fr-FR" sz="1600"/>
              <a:t>Clic droit sur l’image → Modifier le texte de remplacement → </a:t>
            </a:r>
            <a:endParaRPr/>
          </a:p>
          <a:p>
            <a:pPr indent="-285750" lvl="0" marL="285750" rtl="0" algn="l">
              <a:lnSpc>
                <a:spcPct val="100000"/>
              </a:lnSpc>
              <a:spcBef>
                <a:spcPts val="500"/>
              </a:spcBef>
              <a:spcAft>
                <a:spcPts val="0"/>
              </a:spcAft>
              <a:buClr>
                <a:schemeClr val="dk1"/>
              </a:buClr>
              <a:buSzPts val="1400"/>
              <a:buFont typeface="Arial"/>
              <a:buChar char="•"/>
            </a:pPr>
            <a:r>
              <a:rPr lang="fr-FR" sz="1400"/>
              <a:t>Remplir la zone </a:t>
            </a:r>
            <a:br>
              <a:rPr lang="fr-FR" sz="1400"/>
            </a:br>
            <a:r>
              <a:rPr lang="fr-FR" sz="1400"/>
              <a:t>de saisie ;</a:t>
            </a:r>
            <a:endParaRPr/>
          </a:p>
          <a:p>
            <a:pPr indent="-285750" lvl="0" marL="285750" rtl="0" algn="l">
              <a:lnSpc>
                <a:spcPct val="100000"/>
              </a:lnSpc>
              <a:spcBef>
                <a:spcPts val="500"/>
              </a:spcBef>
              <a:spcAft>
                <a:spcPts val="0"/>
              </a:spcAft>
              <a:buClr>
                <a:schemeClr val="dk1"/>
              </a:buClr>
              <a:buSzPts val="1400"/>
              <a:buFont typeface="Arial"/>
              <a:buChar char="•"/>
            </a:pPr>
            <a:r>
              <a:rPr lang="fr-FR" sz="1400"/>
              <a:t>Ou cocher la case </a:t>
            </a:r>
            <a:br>
              <a:rPr lang="fr-FR" sz="1400"/>
            </a:br>
            <a:r>
              <a:rPr lang="fr-FR" sz="1400"/>
              <a:t>« Marquer comme </a:t>
            </a:r>
            <a:br>
              <a:rPr lang="fr-FR" sz="1400"/>
            </a:br>
            <a:r>
              <a:rPr lang="fr-FR" sz="1400"/>
              <a:t>décoratif »</a:t>
            </a:r>
            <a:endParaRPr/>
          </a:p>
          <a:p>
            <a:pPr indent="0" lvl="0" marL="0" rtl="0" algn="l">
              <a:lnSpc>
                <a:spcPct val="100000"/>
              </a:lnSpc>
              <a:spcBef>
                <a:spcPts val="500"/>
              </a:spcBef>
              <a:spcAft>
                <a:spcPts val="0"/>
              </a:spcAft>
              <a:buClr>
                <a:schemeClr val="dk1"/>
              </a:buClr>
              <a:buSzPts val="1600"/>
              <a:buNone/>
            </a:pPr>
            <a:r>
              <a:t/>
            </a:r>
            <a:endParaRPr sz="1600"/>
          </a:p>
        </p:txBody>
      </p:sp>
      <p:pic>
        <p:nvPicPr>
          <p:cNvPr id="817" name="Google Shape;817;p50"/>
          <p:cNvPicPr preferRelativeResize="0"/>
          <p:nvPr/>
        </p:nvPicPr>
        <p:blipFill rotWithShape="1">
          <a:blip r:embed="rId3">
            <a:alphaModFix/>
          </a:blip>
          <a:srcRect b="0" l="0" r="0" t="0"/>
          <a:stretch/>
        </p:blipFill>
        <p:spPr>
          <a:xfrm>
            <a:off x="2483908" y="2694167"/>
            <a:ext cx="1656044" cy="525655"/>
          </a:xfrm>
          <a:prstGeom prst="rect">
            <a:avLst/>
          </a:prstGeom>
          <a:noFill/>
          <a:ln>
            <a:noFill/>
          </a:ln>
        </p:spPr>
      </p:pic>
      <p:pic>
        <p:nvPicPr>
          <p:cNvPr id="818" name="Google Shape;818;p50"/>
          <p:cNvPicPr preferRelativeResize="0"/>
          <p:nvPr/>
        </p:nvPicPr>
        <p:blipFill rotWithShape="1">
          <a:blip r:embed="rId4">
            <a:alphaModFix/>
          </a:blip>
          <a:srcRect b="0" l="0" r="0" t="0"/>
          <a:stretch/>
        </p:blipFill>
        <p:spPr>
          <a:xfrm>
            <a:off x="2493842" y="3363838"/>
            <a:ext cx="1646110" cy="1364813"/>
          </a:xfrm>
          <a:prstGeom prst="rect">
            <a:avLst/>
          </a:prstGeom>
          <a:noFill/>
          <a:ln>
            <a:noFill/>
          </a:ln>
        </p:spPr>
      </p:pic>
      <p:cxnSp>
        <p:nvCxnSpPr>
          <p:cNvPr id="819" name="Google Shape;819;p50"/>
          <p:cNvCxnSpPr/>
          <p:nvPr/>
        </p:nvCxnSpPr>
        <p:spPr>
          <a:xfrm>
            <a:off x="4499992" y="1923678"/>
            <a:ext cx="0" cy="2808312"/>
          </a:xfrm>
          <a:prstGeom prst="straightConnector1">
            <a:avLst/>
          </a:prstGeom>
          <a:noFill/>
          <a:ln cap="flat" cmpd="sng" w="9525">
            <a:solidFill>
              <a:schemeClr val="dk1"/>
            </a:solidFill>
            <a:prstDash val="solid"/>
            <a:round/>
            <a:headEnd len="sm" w="sm" type="none"/>
            <a:tailEnd len="sm" w="sm" type="none"/>
          </a:ln>
        </p:spPr>
      </p:cxnSp>
      <p:sp>
        <p:nvSpPr>
          <p:cNvPr id="820" name="Google Shape;820;p50"/>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Writer</a:t>
            </a:r>
            <a:endParaRPr/>
          </a:p>
          <a:p>
            <a:pPr indent="0" lvl="0" marL="0" rtl="0" algn="l">
              <a:lnSpc>
                <a:spcPct val="100000"/>
              </a:lnSpc>
              <a:spcBef>
                <a:spcPts val="500"/>
              </a:spcBef>
              <a:spcAft>
                <a:spcPts val="0"/>
              </a:spcAft>
              <a:buClr>
                <a:schemeClr val="dk1"/>
              </a:buClr>
              <a:buSzPts val="1600"/>
              <a:buNone/>
            </a:pPr>
            <a:r>
              <a:rPr lang="fr-FR" sz="1600"/>
              <a:t>Clic droit sur l’image → </a:t>
            </a:r>
            <a:r>
              <a:rPr lang="fr-FR" sz="1600">
                <a:solidFill>
                  <a:srgbClr val="00006C"/>
                </a:solidFill>
              </a:rPr>
              <a:t>Propriétés… </a:t>
            </a:r>
            <a:r>
              <a:rPr lang="fr-FR" sz="1600"/>
              <a:t>→ </a:t>
            </a:r>
            <a:r>
              <a:rPr lang="fr-FR" sz="1600">
                <a:solidFill>
                  <a:srgbClr val="00006C"/>
                </a:solidFill>
              </a:rPr>
              <a:t>Option</a:t>
            </a:r>
            <a:r>
              <a:rPr lang="fr-FR" sz="1600"/>
              <a:t> </a:t>
            </a:r>
            <a:endParaRPr/>
          </a:p>
          <a:p>
            <a:pPr indent="0" lvl="0" marL="0" rtl="0" algn="l">
              <a:lnSpc>
                <a:spcPct val="100000"/>
              </a:lnSpc>
              <a:spcBef>
                <a:spcPts val="500"/>
              </a:spcBef>
              <a:spcAft>
                <a:spcPts val="0"/>
              </a:spcAft>
              <a:buClr>
                <a:schemeClr val="dk1"/>
              </a:buClr>
              <a:buSzPts val="1600"/>
              <a:buNone/>
            </a:pPr>
            <a:r>
              <a:rPr lang="fr-FR" sz="1600"/>
              <a:t>Puis valoriser le champ </a:t>
            </a:r>
            <a:r>
              <a:rPr lang="fr-FR" sz="1600">
                <a:solidFill>
                  <a:srgbClr val="00006C"/>
                </a:solidFill>
              </a:rPr>
              <a:t>Alternative (texte seul)</a:t>
            </a:r>
            <a:r>
              <a:rPr lang="fr-FR" sz="1600"/>
              <a:t> et le champ </a:t>
            </a:r>
            <a:r>
              <a:rPr lang="fr-FR" sz="1600">
                <a:solidFill>
                  <a:srgbClr val="00006C"/>
                </a:solidFill>
              </a:rPr>
              <a:t>Description</a:t>
            </a:r>
            <a:r>
              <a:rPr lang="fr-FR" sz="1600"/>
              <a:t> si besoin.</a:t>
            </a:r>
            <a:endParaRPr/>
          </a:p>
        </p:txBody>
      </p:sp>
      <p:pic>
        <p:nvPicPr>
          <p:cNvPr id="821" name="Google Shape;821;p50"/>
          <p:cNvPicPr preferRelativeResize="0"/>
          <p:nvPr/>
        </p:nvPicPr>
        <p:blipFill rotWithShape="1">
          <a:blip r:embed="rId5">
            <a:alphaModFix/>
          </a:blip>
          <a:srcRect b="0" l="0" r="0" t="0"/>
          <a:stretch/>
        </p:blipFill>
        <p:spPr>
          <a:xfrm>
            <a:off x="7311442" y="2232930"/>
            <a:ext cx="1625547" cy="327731"/>
          </a:xfrm>
          <a:prstGeom prst="rect">
            <a:avLst/>
          </a:prstGeom>
          <a:noFill/>
          <a:ln>
            <a:noFill/>
          </a:ln>
        </p:spPr>
      </p:pic>
      <p:pic>
        <p:nvPicPr>
          <p:cNvPr id="822" name="Google Shape;822;p50"/>
          <p:cNvPicPr preferRelativeResize="0"/>
          <p:nvPr/>
        </p:nvPicPr>
        <p:blipFill rotWithShape="1">
          <a:blip r:embed="rId6">
            <a:alphaModFix/>
          </a:blip>
          <a:srcRect b="0" l="0" r="0" t="0"/>
          <a:stretch/>
        </p:blipFill>
        <p:spPr>
          <a:xfrm>
            <a:off x="4941011" y="3292078"/>
            <a:ext cx="3995978" cy="130682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51"/>
          <p:cNvSpPr/>
          <p:nvPr>
            <p:ph idx="2" type="pic"/>
          </p:nvPr>
        </p:nvSpPr>
        <p:spPr>
          <a:xfrm>
            <a:off x="0" y="738000"/>
            <a:ext cx="9144000" cy="4406400"/>
          </a:xfrm>
          <a:prstGeom prst="rect">
            <a:avLst/>
          </a:prstGeom>
          <a:solidFill>
            <a:srgbClr val="D8D8D8"/>
          </a:solidFill>
          <a:ln>
            <a:noFill/>
          </a:ln>
        </p:spPr>
      </p:sp>
      <p:sp>
        <p:nvSpPr>
          <p:cNvPr id="829" name="Google Shape;829;p51"/>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30" name="Google Shape;830;p51"/>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31" name="Google Shape;831;p51"/>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32" name="Google Shape;832;p51"/>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Positionnement et ordre de lecture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52"/>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39" name="Google Shape;839;p52"/>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40" name="Google Shape;840;p52"/>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41" name="Google Shape;841;p52"/>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842" name="Google Shape;842;p52"/>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Ordre de lecture</a:t>
            </a:r>
            <a:endParaRPr/>
          </a:p>
        </p:txBody>
      </p:sp>
      <p:sp>
        <p:nvSpPr>
          <p:cNvPr id="843" name="Google Shape;843;p52"/>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Et les éléments déplaçables à la souris</a:t>
            </a:r>
            <a:endParaRPr/>
          </a:p>
        </p:txBody>
      </p:sp>
      <p:sp>
        <p:nvSpPr>
          <p:cNvPr id="844" name="Google Shape;844;p52"/>
          <p:cNvSpPr txBox="1"/>
          <p:nvPr>
            <p:ph idx="3" type="body"/>
          </p:nvPr>
        </p:nvSpPr>
        <p:spPr>
          <a:xfrm>
            <a:off x="359998" y="1835999"/>
            <a:ext cx="5508146" cy="28225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None/>
            </a:pPr>
            <a:r>
              <a:rPr lang="fr-FR" sz="1600"/>
              <a:t>Dans un document Word et Writer, l’ordre de lecture suit l’ordre du texte sauf pour les éléments déplaçables à la souris : </a:t>
            </a:r>
            <a:endParaRPr/>
          </a:p>
          <a:p>
            <a:pPr indent="-95250" lvl="2" marL="432000" rtl="0" algn="l">
              <a:lnSpc>
                <a:spcPct val="100000"/>
              </a:lnSpc>
              <a:spcBef>
                <a:spcPts val="500"/>
              </a:spcBef>
              <a:spcAft>
                <a:spcPts val="0"/>
              </a:spcAft>
              <a:buClr>
                <a:schemeClr val="dk1"/>
              </a:buClr>
              <a:buSzPts val="1500"/>
              <a:buChar char="•"/>
            </a:pPr>
            <a:r>
              <a:rPr lang="fr-FR" sz="1500"/>
              <a:t>Les images avec une alternative textuelle ou légendées.</a:t>
            </a:r>
            <a:endParaRPr/>
          </a:p>
          <a:p>
            <a:pPr indent="-95250" lvl="2" marL="432000" rtl="0" algn="l">
              <a:lnSpc>
                <a:spcPct val="100000"/>
              </a:lnSpc>
              <a:spcBef>
                <a:spcPts val="600"/>
              </a:spcBef>
              <a:spcAft>
                <a:spcPts val="0"/>
              </a:spcAft>
              <a:buClr>
                <a:schemeClr val="dk1"/>
              </a:buClr>
              <a:buSzPts val="1500"/>
              <a:buChar char="•"/>
            </a:pPr>
            <a:r>
              <a:rPr lang="fr-FR" sz="1500"/>
              <a:t>Les zones de texte ajoutées.</a:t>
            </a:r>
            <a:endParaRPr/>
          </a:p>
          <a:p>
            <a:pPr indent="0" lvl="0" marL="0" rtl="0" algn="l">
              <a:lnSpc>
                <a:spcPct val="100000"/>
              </a:lnSpc>
              <a:spcBef>
                <a:spcPts val="600"/>
              </a:spcBef>
              <a:spcAft>
                <a:spcPts val="0"/>
              </a:spcAft>
              <a:buClr>
                <a:schemeClr val="dk1"/>
              </a:buClr>
              <a:buSzPts val="1600"/>
              <a:buNone/>
            </a:pPr>
            <a:r>
              <a:rPr lang="fr-FR" sz="1600"/>
              <a:t>L’élément est restitué au niveau de son ancre :</a:t>
            </a:r>
            <a:endParaRPr/>
          </a:p>
          <a:p>
            <a:pPr indent="-95250" lvl="2" marL="432000" rtl="0" algn="l">
              <a:lnSpc>
                <a:spcPct val="100000"/>
              </a:lnSpc>
              <a:spcBef>
                <a:spcPts val="500"/>
              </a:spcBef>
              <a:spcAft>
                <a:spcPts val="0"/>
              </a:spcAft>
              <a:buClr>
                <a:schemeClr val="dk1"/>
              </a:buClr>
              <a:buSzPts val="1500"/>
              <a:buChar char="•"/>
            </a:pPr>
            <a:r>
              <a:rPr b="1" lang="fr-FR" sz="1500"/>
              <a:t>Writer</a:t>
            </a:r>
            <a:r>
              <a:rPr lang="fr-FR" sz="1500"/>
              <a:t> : Ancre  → Comme caractère (ancre = position) ;</a:t>
            </a:r>
            <a:endParaRPr/>
          </a:p>
          <a:p>
            <a:pPr indent="-95250" lvl="2" marL="432000" rtl="0" algn="l">
              <a:lnSpc>
                <a:spcPct val="100000"/>
              </a:lnSpc>
              <a:spcBef>
                <a:spcPts val="700"/>
              </a:spcBef>
              <a:spcAft>
                <a:spcPts val="0"/>
              </a:spcAft>
              <a:buClr>
                <a:schemeClr val="dk1"/>
              </a:buClr>
              <a:buSzPts val="1500"/>
              <a:buChar char="•"/>
            </a:pPr>
            <a:r>
              <a:rPr b="1" lang="fr-FR" sz="1500"/>
              <a:t>Word</a:t>
            </a:r>
            <a:r>
              <a:rPr lang="fr-FR" sz="1500"/>
              <a:t> : L’ancre et la position peuvent être décorrélées</a:t>
            </a:r>
            <a:endParaRPr/>
          </a:p>
          <a:p>
            <a:pPr indent="-88900" lvl="3" marL="612000" rtl="0" algn="l">
              <a:lnSpc>
                <a:spcPct val="100000"/>
              </a:lnSpc>
              <a:spcBef>
                <a:spcPts val="700"/>
              </a:spcBef>
              <a:spcAft>
                <a:spcPts val="0"/>
              </a:spcAft>
              <a:buClr>
                <a:schemeClr val="dk1"/>
              </a:buClr>
              <a:buSzPts val="1400"/>
              <a:buChar char="•"/>
            </a:pPr>
            <a:r>
              <a:rPr lang="fr-FR" sz="1400"/>
              <a:t> </a:t>
            </a:r>
            <a:r>
              <a:rPr lang="fr-FR" sz="1300"/>
              <a:t>mais même avec une restitution semblant correcte, le vérificateur d’accessibilité peut rejeter ce positionnement.</a:t>
            </a:r>
            <a:endParaRPr/>
          </a:p>
          <a:p>
            <a:pPr indent="0" lvl="0" marL="0" rtl="0" algn="l">
              <a:lnSpc>
                <a:spcPct val="100000"/>
              </a:lnSpc>
              <a:spcBef>
                <a:spcPts val="600"/>
              </a:spcBef>
              <a:spcAft>
                <a:spcPts val="0"/>
              </a:spcAft>
              <a:buClr>
                <a:schemeClr val="dk1"/>
              </a:buClr>
              <a:buSzPts val="1800"/>
              <a:buNone/>
            </a:pPr>
            <a:r>
              <a:t/>
            </a:r>
            <a:endParaRPr/>
          </a:p>
        </p:txBody>
      </p:sp>
      <p:pic>
        <p:nvPicPr>
          <p:cNvPr descr="Présentation d'un texte avec une image au centre de la page mais l'ancre au niveau du titre principale." id="845" name="Google Shape;845;p52"/>
          <p:cNvPicPr preferRelativeResize="0"/>
          <p:nvPr/>
        </p:nvPicPr>
        <p:blipFill rotWithShape="1">
          <a:blip r:embed="rId3">
            <a:alphaModFix/>
          </a:blip>
          <a:srcRect b="0" l="0" r="0" t="0"/>
          <a:stretch/>
        </p:blipFill>
        <p:spPr>
          <a:xfrm>
            <a:off x="5950986" y="1224137"/>
            <a:ext cx="3013502" cy="2571750"/>
          </a:xfrm>
          <a:prstGeom prst="rect">
            <a:avLst/>
          </a:prstGeom>
          <a:noFill/>
          <a:ln>
            <a:noFill/>
          </a:ln>
        </p:spPr>
      </p:pic>
      <p:sp>
        <p:nvSpPr>
          <p:cNvPr id="846" name="Google Shape;846;p52"/>
          <p:cNvSpPr txBox="1"/>
          <p:nvPr>
            <p:ph idx="4" type="body"/>
          </p:nvPr>
        </p:nvSpPr>
        <p:spPr>
          <a:xfrm>
            <a:off x="6090946" y="4049616"/>
            <a:ext cx="2771478" cy="447614"/>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400"/>
              <a:buNone/>
            </a:pPr>
            <a:r>
              <a:rPr lang="fr-FR" sz="1400"/>
              <a:t>L’alternative à l’image restituée juste après le titre.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53"/>
          <p:cNvSpPr/>
          <p:nvPr>
            <p:ph idx="2" type="pic"/>
          </p:nvPr>
        </p:nvSpPr>
        <p:spPr>
          <a:xfrm>
            <a:off x="0" y="738000"/>
            <a:ext cx="9144000" cy="4406400"/>
          </a:xfrm>
          <a:prstGeom prst="rect">
            <a:avLst/>
          </a:prstGeom>
          <a:solidFill>
            <a:srgbClr val="D8D8D8"/>
          </a:solidFill>
          <a:ln>
            <a:noFill/>
          </a:ln>
        </p:spPr>
      </p:sp>
      <p:sp>
        <p:nvSpPr>
          <p:cNvPr id="853" name="Google Shape;853;p53"/>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54" name="Google Shape;854;p53"/>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55" name="Google Shape;855;p53"/>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56" name="Google Shape;856;p53"/>
          <p:cNvSpPr txBox="1"/>
          <p:nvPr>
            <p:ph type="title"/>
          </p:nvPr>
        </p:nvSpPr>
        <p:spPr>
          <a:xfrm>
            <a:off x="359999" y="738000"/>
            <a:ext cx="8424000" cy="4046400"/>
          </a:xfrm>
          <a:prstGeom prst="rect">
            <a:avLst/>
          </a:prstGeom>
          <a:noFill/>
          <a:ln cap="flat" cmpd="sng" w="10150">
            <a:solidFill>
              <a:schemeClr val="dk1"/>
            </a:solidFill>
            <a:prstDash val="solid"/>
            <a:round/>
            <a:headEnd len="sm" w="sm" type="none"/>
            <a:tailEnd len="sm" w="sm" type="none"/>
          </a:ln>
        </p:spPr>
        <p:txBody>
          <a:bodyPr anchorCtr="0" anchor="ctr" bIns="36000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fr-FR"/>
              <a:t>Vérification de l’accessibilité </a:t>
            </a:r>
            <a:br>
              <a:rPr lang="fr-FR"/>
            </a:br>
            <a:r>
              <a:rPr lang="fr-FR"/>
              <a:t>Export PDF</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54"/>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63" name="Google Shape;863;p54"/>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64" name="Google Shape;864;p54"/>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865" name="Google Shape;865;p54"/>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66" name="Google Shape;866;p54"/>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Vérification de l’accessibilité (avant export)</a:t>
            </a:r>
            <a:endParaRPr/>
          </a:p>
        </p:txBody>
      </p:sp>
      <p:sp>
        <p:nvSpPr>
          <p:cNvPr id="867" name="Google Shape;867;p54"/>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1900"/>
              <a:buNone/>
            </a:pPr>
            <a:r>
              <a:rPr lang="fr-FR" sz="1900"/>
              <a:t>Vérification avec les outils intégrés au logiciel de traitement de texte</a:t>
            </a:r>
            <a:endParaRPr/>
          </a:p>
        </p:txBody>
      </p:sp>
      <p:sp>
        <p:nvSpPr>
          <p:cNvPr id="868" name="Google Shape;868;p54"/>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chemeClr val="dk1"/>
              </a:buClr>
              <a:buSzPts val="1600"/>
              <a:buNone/>
            </a:pPr>
            <a:r>
              <a:rPr lang="fr-FR" sz="1600"/>
              <a:t>Révision → Vérifier l’accessibilité → Vérifier l’accessibilité </a:t>
            </a:r>
            <a:endParaRPr/>
          </a:p>
          <a:p>
            <a:pPr indent="0" lvl="0" marL="0" rtl="0" algn="l">
              <a:lnSpc>
                <a:spcPct val="100000"/>
              </a:lnSpc>
              <a:spcBef>
                <a:spcPts val="500"/>
              </a:spcBef>
              <a:spcAft>
                <a:spcPts val="0"/>
              </a:spcAft>
              <a:buClr>
                <a:schemeClr val="dk1"/>
              </a:buClr>
              <a:buSzPts val="1800"/>
              <a:buNone/>
            </a:pPr>
            <a:r>
              <a:t/>
            </a:r>
            <a:endParaRPr/>
          </a:p>
        </p:txBody>
      </p:sp>
      <p:pic>
        <p:nvPicPr>
          <p:cNvPr descr="Exemple d'erreur relevée par l'outil de vérification de Word : image d'ordre de lecture d'une image porteuse d'information." id="869" name="Google Shape;869;p54"/>
          <p:cNvPicPr preferRelativeResize="0"/>
          <p:nvPr/>
        </p:nvPicPr>
        <p:blipFill rotWithShape="1">
          <a:blip r:embed="rId3">
            <a:alphaModFix/>
          </a:blip>
          <a:srcRect b="0" l="0" r="0" t="0"/>
          <a:stretch/>
        </p:blipFill>
        <p:spPr>
          <a:xfrm>
            <a:off x="348180" y="2767960"/>
            <a:ext cx="4033817" cy="1655004"/>
          </a:xfrm>
          <a:prstGeom prst="rect">
            <a:avLst/>
          </a:prstGeom>
          <a:noFill/>
          <a:ln>
            <a:noFill/>
          </a:ln>
        </p:spPr>
      </p:pic>
      <p:cxnSp>
        <p:nvCxnSpPr>
          <p:cNvPr id="870" name="Google Shape;870;p54"/>
          <p:cNvCxnSpPr/>
          <p:nvPr/>
        </p:nvCxnSpPr>
        <p:spPr>
          <a:xfrm>
            <a:off x="4572000" y="1832930"/>
            <a:ext cx="0" cy="2808312"/>
          </a:xfrm>
          <a:prstGeom prst="straightConnector1">
            <a:avLst/>
          </a:prstGeom>
          <a:noFill/>
          <a:ln cap="flat" cmpd="sng" w="9525">
            <a:solidFill>
              <a:schemeClr val="dk1"/>
            </a:solidFill>
            <a:prstDash val="solid"/>
            <a:round/>
            <a:headEnd len="sm" w="sm" type="none"/>
            <a:tailEnd len="sm" w="sm" type="none"/>
          </a:ln>
        </p:spPr>
      </p:cxnSp>
      <p:sp>
        <p:nvSpPr>
          <p:cNvPr id="871" name="Google Shape;871;p54"/>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Writer</a:t>
            </a:r>
            <a:endParaRPr/>
          </a:p>
          <a:p>
            <a:pPr indent="0" lvl="0" marL="0" rtl="0" algn="l">
              <a:lnSpc>
                <a:spcPct val="100000"/>
              </a:lnSpc>
              <a:spcBef>
                <a:spcPts val="500"/>
              </a:spcBef>
              <a:spcAft>
                <a:spcPts val="0"/>
              </a:spcAft>
              <a:buClr>
                <a:schemeClr val="dk1"/>
              </a:buClr>
              <a:buSzPts val="1600"/>
              <a:buNone/>
            </a:pPr>
            <a:r>
              <a:rPr lang="fr-FR" sz="1600"/>
              <a:t>Outils → Vérification de l’accessibilité… </a:t>
            </a:r>
            <a:endParaRPr/>
          </a:p>
        </p:txBody>
      </p:sp>
      <p:pic>
        <p:nvPicPr>
          <p:cNvPr descr="Liste d'erreurs relevées par l'outil de vérification de Writer." id="872" name="Google Shape;872;p54"/>
          <p:cNvPicPr preferRelativeResize="0"/>
          <p:nvPr/>
        </p:nvPicPr>
        <p:blipFill rotWithShape="1">
          <a:blip r:embed="rId4">
            <a:alphaModFix/>
          </a:blip>
          <a:srcRect b="0" l="0" r="0" t="0"/>
          <a:stretch/>
        </p:blipFill>
        <p:spPr>
          <a:xfrm>
            <a:off x="5065831" y="2504079"/>
            <a:ext cx="3708183" cy="226338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55"/>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79" name="Google Shape;879;p55"/>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80" name="Google Shape;880;p55"/>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81" name="Google Shape;881;p55"/>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882" name="Google Shape;882;p55"/>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Export en PDF « Accessible »</a:t>
            </a:r>
            <a:endParaRPr/>
          </a:p>
        </p:txBody>
      </p:sp>
      <p:sp>
        <p:nvSpPr>
          <p:cNvPr id="883" name="Google Shape;883;p55"/>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Conservation des balises de structure et du balisage</a:t>
            </a:r>
            <a:endParaRPr/>
          </a:p>
        </p:txBody>
      </p:sp>
      <p:sp>
        <p:nvSpPr>
          <p:cNvPr id="884" name="Google Shape;884;p55"/>
          <p:cNvSpPr txBox="1"/>
          <p:nvPr>
            <p:ph idx="1" type="body"/>
          </p:nvPr>
        </p:nvSpPr>
        <p:spPr>
          <a:xfrm>
            <a:off x="359999"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Word</a:t>
            </a:r>
            <a:endParaRPr/>
          </a:p>
          <a:p>
            <a:pPr indent="0" lvl="0" marL="0" rtl="0" algn="l">
              <a:lnSpc>
                <a:spcPct val="100000"/>
              </a:lnSpc>
              <a:spcBef>
                <a:spcPts val="500"/>
              </a:spcBef>
              <a:spcAft>
                <a:spcPts val="0"/>
              </a:spcAft>
              <a:buClr>
                <a:srgbClr val="24180F"/>
              </a:buClr>
              <a:buSzPts val="1600"/>
              <a:buNone/>
            </a:pPr>
            <a:r>
              <a:rPr b="1" lang="fr-FR" sz="1600">
                <a:solidFill>
                  <a:srgbClr val="24180F"/>
                </a:solidFill>
              </a:rPr>
              <a:t>Génération du PDF</a:t>
            </a:r>
            <a:r>
              <a:rPr lang="fr-FR" sz="1600"/>
              <a:t> : </a:t>
            </a:r>
            <a:r>
              <a:rPr lang="fr-FR">
                <a:solidFill>
                  <a:srgbClr val="00006C"/>
                </a:solidFill>
              </a:rPr>
              <a:t>Fichier</a:t>
            </a:r>
            <a:r>
              <a:rPr lang="fr-FR"/>
              <a:t> → </a:t>
            </a:r>
            <a:r>
              <a:rPr lang="fr-FR" sz="1600">
                <a:solidFill>
                  <a:srgbClr val="00006C"/>
                </a:solidFill>
              </a:rPr>
              <a:t>Exporter</a:t>
            </a:r>
            <a:r>
              <a:rPr lang="fr-FR" sz="1600"/>
              <a:t> → </a:t>
            </a:r>
            <a:r>
              <a:rPr lang="fr-FR" sz="1400"/>
              <a:t>Créer PDF/XPS</a:t>
            </a:r>
            <a:endParaRPr sz="1400"/>
          </a:p>
          <a:p>
            <a:pPr indent="-88900" lvl="1" marL="252000" rtl="0" algn="l">
              <a:lnSpc>
                <a:spcPct val="100000"/>
              </a:lnSpc>
              <a:spcBef>
                <a:spcPts val="300"/>
              </a:spcBef>
              <a:spcAft>
                <a:spcPts val="0"/>
              </a:spcAft>
              <a:buClr>
                <a:schemeClr val="dk1"/>
              </a:buClr>
              <a:buSzPts val="1400"/>
              <a:buChar char="•"/>
            </a:pPr>
            <a:r>
              <a:rPr lang="fr-FR" sz="1400"/>
              <a:t>Dans l’explorateur, avant d’enregistrer : Options…, cocher :</a:t>
            </a:r>
            <a:endParaRPr/>
          </a:p>
          <a:p>
            <a:pPr indent="-76200" lvl="2" marL="432000" rtl="0" algn="l">
              <a:lnSpc>
                <a:spcPct val="100000"/>
              </a:lnSpc>
              <a:spcBef>
                <a:spcPts val="600"/>
              </a:spcBef>
              <a:spcAft>
                <a:spcPts val="0"/>
              </a:spcAft>
              <a:buClr>
                <a:schemeClr val="dk1"/>
              </a:buClr>
              <a:buSzPts val="1200"/>
              <a:buChar char="•"/>
            </a:pPr>
            <a:r>
              <a:rPr lang="fr-FR" sz="1200"/>
              <a:t>Créer des signets à l’aide de titre ;</a:t>
            </a:r>
            <a:endParaRPr/>
          </a:p>
          <a:p>
            <a:pPr indent="-76200" lvl="2" marL="432000" rtl="0" algn="l">
              <a:lnSpc>
                <a:spcPct val="100000"/>
              </a:lnSpc>
              <a:spcBef>
                <a:spcPts val="100"/>
              </a:spcBef>
              <a:spcAft>
                <a:spcPts val="0"/>
              </a:spcAft>
              <a:buClr>
                <a:schemeClr val="dk1"/>
              </a:buClr>
              <a:buSzPts val="1200"/>
              <a:buChar char="•"/>
            </a:pPr>
            <a:r>
              <a:rPr lang="fr-FR" sz="1200"/>
              <a:t>Propriétés du document ;</a:t>
            </a:r>
            <a:endParaRPr/>
          </a:p>
          <a:p>
            <a:pPr indent="-76200" lvl="2" marL="432000" rtl="0" algn="l">
              <a:lnSpc>
                <a:spcPct val="100000"/>
              </a:lnSpc>
              <a:spcBef>
                <a:spcPts val="100"/>
              </a:spcBef>
              <a:spcAft>
                <a:spcPts val="0"/>
              </a:spcAft>
              <a:buClr>
                <a:schemeClr val="dk1"/>
              </a:buClr>
              <a:buSzPts val="1200"/>
              <a:buChar char="•"/>
            </a:pPr>
            <a:r>
              <a:rPr lang="fr-FR" sz="1200"/>
              <a:t>Balises de structure…</a:t>
            </a:r>
            <a:endParaRPr/>
          </a:p>
          <a:p>
            <a:pPr indent="0" lvl="0" marL="0" rtl="0" algn="l">
              <a:lnSpc>
                <a:spcPct val="100000"/>
              </a:lnSpc>
              <a:spcBef>
                <a:spcPts val="100"/>
              </a:spcBef>
              <a:spcAft>
                <a:spcPts val="0"/>
              </a:spcAft>
              <a:buClr>
                <a:schemeClr val="dk1"/>
              </a:buClr>
              <a:buSzPts val="1800"/>
              <a:buNone/>
            </a:pPr>
            <a:r>
              <a:t/>
            </a:r>
            <a:endParaRPr/>
          </a:p>
        </p:txBody>
      </p:sp>
      <p:cxnSp>
        <p:nvCxnSpPr>
          <p:cNvPr id="885" name="Google Shape;885;p55"/>
          <p:cNvCxnSpPr/>
          <p:nvPr/>
        </p:nvCxnSpPr>
        <p:spPr>
          <a:xfrm>
            <a:off x="4572000" y="1832930"/>
            <a:ext cx="0" cy="2808312"/>
          </a:xfrm>
          <a:prstGeom prst="straightConnector1">
            <a:avLst/>
          </a:prstGeom>
          <a:noFill/>
          <a:ln cap="flat" cmpd="sng" w="9525">
            <a:solidFill>
              <a:schemeClr val="dk1"/>
            </a:solidFill>
            <a:prstDash val="solid"/>
            <a:round/>
            <a:headEnd len="sm" w="sm" type="none"/>
            <a:tailEnd len="sm" w="sm" type="none"/>
          </a:ln>
        </p:spPr>
      </p:cxnSp>
      <p:sp>
        <p:nvSpPr>
          <p:cNvPr id="886" name="Google Shape;886;p55"/>
          <p:cNvSpPr txBox="1"/>
          <p:nvPr>
            <p:ph idx="3" type="body"/>
          </p:nvPr>
        </p:nvSpPr>
        <p:spPr>
          <a:xfrm>
            <a:off x="4780104" y="1832930"/>
            <a:ext cx="3995978" cy="295057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Writer</a:t>
            </a:r>
            <a:endParaRPr/>
          </a:p>
          <a:p>
            <a:pPr indent="0" lvl="0" marL="0" rtl="0" algn="l">
              <a:lnSpc>
                <a:spcPct val="100000"/>
              </a:lnSpc>
              <a:spcBef>
                <a:spcPts val="500"/>
              </a:spcBef>
              <a:spcAft>
                <a:spcPts val="0"/>
              </a:spcAft>
              <a:buClr>
                <a:schemeClr val="dk1"/>
              </a:buClr>
              <a:buSzPts val="1600"/>
              <a:buNone/>
            </a:pPr>
            <a:r>
              <a:rPr b="1" lang="fr-FR" sz="1600"/>
              <a:t>Paramétrage</a:t>
            </a:r>
            <a:r>
              <a:rPr lang="fr-FR" sz="1600"/>
              <a:t> : Fichier → Exporter vers → Exporter au format PDF… :</a:t>
            </a:r>
            <a:endParaRPr/>
          </a:p>
          <a:p>
            <a:pPr indent="-88900" lvl="1" marL="252000" rtl="0" algn="l">
              <a:lnSpc>
                <a:spcPct val="100000"/>
              </a:lnSpc>
              <a:spcBef>
                <a:spcPts val="300"/>
              </a:spcBef>
              <a:spcAft>
                <a:spcPts val="0"/>
              </a:spcAft>
              <a:buClr>
                <a:schemeClr val="dk1"/>
              </a:buClr>
              <a:buSzPts val="1400"/>
              <a:buChar char="•"/>
            </a:pPr>
            <a:r>
              <a:rPr lang="fr-FR" sz="1400"/>
              <a:t>Accessibilité </a:t>
            </a:r>
            <a:br>
              <a:rPr lang="fr-FR" sz="1400"/>
            </a:br>
            <a:r>
              <a:rPr lang="fr-FR" sz="1400"/>
              <a:t>Universelle (PDF/UA)</a:t>
            </a:r>
            <a:endParaRPr/>
          </a:p>
          <a:p>
            <a:pPr indent="-88900" lvl="1" marL="252000" rtl="0" algn="l">
              <a:lnSpc>
                <a:spcPct val="100000"/>
              </a:lnSpc>
              <a:spcBef>
                <a:spcPts val="600"/>
              </a:spcBef>
              <a:spcAft>
                <a:spcPts val="0"/>
              </a:spcAft>
              <a:buClr>
                <a:schemeClr val="dk1"/>
              </a:buClr>
              <a:buSzPts val="1400"/>
              <a:buChar char="•"/>
            </a:pPr>
            <a:r>
              <a:rPr lang="fr-FR" sz="1400"/>
              <a:t>Exporter le plan et </a:t>
            </a:r>
            <a:br>
              <a:rPr lang="fr-FR" sz="1400"/>
            </a:br>
            <a:r>
              <a:rPr lang="fr-FR" sz="1400"/>
              <a:t>autres éléments de </a:t>
            </a:r>
            <a:br>
              <a:rPr lang="fr-FR" sz="1400"/>
            </a:br>
            <a:r>
              <a:rPr lang="fr-FR" sz="1400"/>
              <a:t>structure</a:t>
            </a:r>
            <a:endParaRPr/>
          </a:p>
          <a:p>
            <a:pPr indent="0" lvl="0" marL="0" rtl="0" algn="l">
              <a:lnSpc>
                <a:spcPct val="100000"/>
              </a:lnSpc>
              <a:spcBef>
                <a:spcPts val="1500"/>
              </a:spcBef>
              <a:spcAft>
                <a:spcPts val="0"/>
              </a:spcAft>
              <a:buClr>
                <a:srgbClr val="24180F"/>
              </a:buClr>
              <a:buSzPts val="1600"/>
              <a:buNone/>
            </a:pPr>
            <a:r>
              <a:rPr b="1" lang="fr-FR" sz="1600">
                <a:solidFill>
                  <a:srgbClr val="24180F"/>
                </a:solidFill>
              </a:rPr>
              <a:t>Génération du PDF </a:t>
            </a:r>
            <a:r>
              <a:rPr lang="fr-FR" sz="1600">
                <a:solidFill>
                  <a:srgbClr val="24180F"/>
                </a:solidFill>
              </a:rPr>
              <a:t>: </a:t>
            </a:r>
            <a:r>
              <a:rPr lang="fr-FR" sz="1600">
                <a:solidFill>
                  <a:srgbClr val="181843"/>
                </a:solidFill>
              </a:rPr>
              <a:t>Exporter</a:t>
            </a:r>
            <a:br>
              <a:rPr lang="fr-FR" sz="1600">
                <a:solidFill>
                  <a:srgbClr val="24180F"/>
                </a:solidFill>
              </a:rPr>
            </a:br>
            <a:r>
              <a:rPr lang="fr-FR" sz="1400">
                <a:solidFill>
                  <a:srgbClr val="24180F"/>
                </a:solidFill>
              </a:rPr>
              <a:t>ou </a:t>
            </a:r>
            <a:r>
              <a:rPr lang="fr-FR" sz="1400"/>
              <a:t>Fichier → Exporter vers → Exporter directement au format PDF… </a:t>
            </a:r>
            <a:endParaRPr sz="1400">
              <a:solidFill>
                <a:srgbClr val="24180F"/>
              </a:solidFill>
            </a:endParaRPr>
          </a:p>
          <a:p>
            <a:pPr indent="0" lvl="0" marL="0" rtl="0" algn="l">
              <a:lnSpc>
                <a:spcPct val="100000"/>
              </a:lnSpc>
              <a:spcBef>
                <a:spcPts val="500"/>
              </a:spcBef>
              <a:spcAft>
                <a:spcPts val="0"/>
              </a:spcAft>
              <a:buClr>
                <a:schemeClr val="dk1"/>
              </a:buClr>
              <a:buSzPts val="1600"/>
              <a:buNone/>
            </a:pPr>
            <a:r>
              <a:t/>
            </a:r>
            <a:endParaRPr sz="1600"/>
          </a:p>
        </p:txBody>
      </p:sp>
      <p:pic>
        <p:nvPicPr>
          <p:cNvPr id="887" name="Google Shape;887;p55"/>
          <p:cNvPicPr preferRelativeResize="0"/>
          <p:nvPr/>
        </p:nvPicPr>
        <p:blipFill rotWithShape="1">
          <a:blip r:embed="rId3">
            <a:alphaModFix/>
          </a:blip>
          <a:srcRect b="0" l="0" r="0" t="0"/>
          <a:stretch/>
        </p:blipFill>
        <p:spPr>
          <a:xfrm>
            <a:off x="6939000" y="2823161"/>
            <a:ext cx="1944216" cy="1099759"/>
          </a:xfrm>
          <a:prstGeom prst="rect">
            <a:avLst/>
          </a:prstGeom>
          <a:noFill/>
          <a:ln>
            <a:noFill/>
          </a:ln>
        </p:spPr>
      </p:pic>
      <p:pic>
        <p:nvPicPr>
          <p:cNvPr id="888" name="Google Shape;888;p55"/>
          <p:cNvPicPr preferRelativeResize="0"/>
          <p:nvPr/>
        </p:nvPicPr>
        <p:blipFill rotWithShape="1">
          <a:blip r:embed="rId4">
            <a:alphaModFix/>
          </a:blip>
          <a:srcRect b="0" l="0" r="0" t="0"/>
          <a:stretch/>
        </p:blipFill>
        <p:spPr>
          <a:xfrm>
            <a:off x="2357990" y="3795886"/>
            <a:ext cx="2106876" cy="90378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6"/>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895" name="Google Shape;895;p56"/>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896" name="Google Shape;896;p56"/>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97" name="Google Shape;897;p56"/>
          <p:cNvSpPr txBox="1"/>
          <p:nvPr>
            <p:ph idx="4"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898" name="Google Shape;898;p56"/>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Vérification de l’accessibilité (après export)</a:t>
            </a:r>
            <a:endParaRPr/>
          </a:p>
        </p:txBody>
      </p:sp>
      <p:sp>
        <p:nvSpPr>
          <p:cNvPr id="899" name="Google Shape;899;p56"/>
          <p:cNvSpPr txBox="1"/>
          <p:nvPr>
            <p:ph idx="2"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Vérification de l’accessibilité des PDF</a:t>
            </a:r>
            <a:endParaRPr/>
          </a:p>
        </p:txBody>
      </p:sp>
      <p:sp>
        <p:nvSpPr>
          <p:cNvPr id="900" name="Google Shape;900;p56"/>
          <p:cNvSpPr txBox="1"/>
          <p:nvPr>
            <p:ph idx="1" type="body"/>
          </p:nvPr>
        </p:nvSpPr>
        <p:spPr>
          <a:xfrm>
            <a:off x="359998" y="183600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PAC : PDF Accessibility Checker</a:t>
            </a:r>
            <a:endParaRPr/>
          </a:p>
          <a:p>
            <a:pPr indent="0" lvl="0" marL="0" rtl="0" algn="l">
              <a:lnSpc>
                <a:spcPct val="100000"/>
              </a:lnSpc>
              <a:spcBef>
                <a:spcPts val="500"/>
              </a:spcBef>
              <a:spcAft>
                <a:spcPts val="0"/>
              </a:spcAft>
              <a:buClr>
                <a:schemeClr val="dk1"/>
              </a:buClr>
              <a:buSzPts val="1400"/>
              <a:buNone/>
            </a:pPr>
            <a:r>
              <a:rPr lang="fr-FR" sz="1400"/>
              <a:t>Gratuit et largement </a:t>
            </a:r>
            <a:br>
              <a:rPr lang="fr-FR" sz="1400"/>
            </a:br>
            <a:r>
              <a:rPr lang="fr-FR" sz="1400"/>
              <a:t>utilisé mais avec les </a:t>
            </a:r>
            <a:br>
              <a:rPr lang="fr-FR" sz="1400"/>
            </a:br>
            <a:r>
              <a:rPr lang="fr-FR" sz="1400"/>
              <a:t>mêmes limites que les </a:t>
            </a:r>
            <a:br>
              <a:rPr lang="fr-FR" sz="1400"/>
            </a:br>
            <a:r>
              <a:rPr lang="fr-FR" sz="1400"/>
              <a:t>vérificateurs intégrés.</a:t>
            </a:r>
            <a:endParaRPr/>
          </a:p>
          <a:p>
            <a:pPr indent="0" lvl="0" marL="0" rtl="0" algn="l">
              <a:lnSpc>
                <a:spcPct val="100000"/>
              </a:lnSpc>
              <a:spcBef>
                <a:spcPts val="500"/>
              </a:spcBef>
              <a:spcAft>
                <a:spcPts val="0"/>
              </a:spcAft>
              <a:buClr>
                <a:schemeClr val="dk1"/>
              </a:buClr>
              <a:buSzPts val="1300"/>
              <a:buNone/>
            </a:pPr>
            <a:r>
              <a:rPr lang="fr-FR" sz="1300"/>
              <a:t>Tanaguru : Guide « </a:t>
            </a:r>
            <a:r>
              <a:rPr i="1" lang="fr-FR" sz="1300" u="sng">
                <a:solidFill>
                  <a:srgbClr val="800000"/>
                </a:solidFill>
                <a:hlinkClick r:id="rId3">
                  <a:extLst>
                    <a:ext uri="{A12FA001-AC4F-418D-AE19-62706E023703}">
                      <ahyp:hlinkClr val="tx"/>
                    </a:ext>
                  </a:extLst>
                </a:hlinkClick>
              </a:rPr>
              <a:t>PAC, </a:t>
            </a:r>
            <a:br>
              <a:rPr i="1" lang="fr-FR" sz="1300" u="sng">
                <a:solidFill>
                  <a:srgbClr val="800000"/>
                </a:solidFill>
                <a:hlinkClick r:id="rId4">
                  <a:extLst>
                    <a:ext uri="{A12FA001-AC4F-418D-AE19-62706E023703}">
                      <ahyp:hlinkClr val="tx"/>
                    </a:ext>
                  </a:extLst>
                </a:hlinkClick>
              </a:rPr>
            </a:br>
            <a:r>
              <a:rPr i="1" lang="fr-FR" sz="1300" u="sng">
                <a:solidFill>
                  <a:srgbClr val="800000"/>
                </a:solidFill>
                <a:hlinkClick r:id="rId5">
                  <a:extLst>
                    <a:ext uri="{A12FA001-AC4F-418D-AE19-62706E023703}">
                      <ahyp:hlinkClr val="tx"/>
                    </a:ext>
                  </a:extLst>
                </a:hlinkClick>
              </a:rPr>
              <a:t>comprendre et corriger </a:t>
            </a:r>
            <a:br>
              <a:rPr i="1" lang="fr-FR" sz="1300" u="sng">
                <a:solidFill>
                  <a:srgbClr val="800000"/>
                </a:solidFill>
                <a:hlinkClick r:id="rId6">
                  <a:extLst>
                    <a:ext uri="{A12FA001-AC4F-418D-AE19-62706E023703}">
                      <ahyp:hlinkClr val="tx"/>
                    </a:ext>
                  </a:extLst>
                </a:hlinkClick>
              </a:rPr>
            </a:br>
            <a:r>
              <a:rPr i="1" lang="fr-FR" sz="1300" u="sng">
                <a:solidFill>
                  <a:srgbClr val="800000"/>
                </a:solidFill>
                <a:hlinkClick r:id="rId7">
                  <a:extLst>
                    <a:ext uri="{A12FA001-AC4F-418D-AE19-62706E023703}">
                      <ahyp:hlinkClr val="tx"/>
                    </a:ext>
                  </a:extLst>
                </a:hlinkClick>
              </a:rPr>
              <a:t>les erreurs </a:t>
            </a:r>
            <a:br>
              <a:rPr i="1" lang="fr-FR" sz="1300" u="sng">
                <a:solidFill>
                  <a:srgbClr val="800000"/>
                </a:solidFill>
                <a:hlinkClick r:id="rId8">
                  <a:extLst>
                    <a:ext uri="{A12FA001-AC4F-418D-AE19-62706E023703}">
                      <ahyp:hlinkClr val="tx"/>
                    </a:ext>
                  </a:extLst>
                </a:hlinkClick>
              </a:rPr>
            </a:br>
            <a:r>
              <a:rPr i="1" lang="fr-FR" sz="1300" u="sng">
                <a:solidFill>
                  <a:srgbClr val="800000"/>
                </a:solidFill>
                <a:hlinkClick r:id="rId9">
                  <a:extLst>
                    <a:ext uri="{A12FA001-AC4F-418D-AE19-62706E023703}">
                      <ahyp:hlinkClr val="tx"/>
                    </a:ext>
                  </a:extLst>
                </a:hlinkClick>
              </a:rPr>
              <a:t>d’accessibilité</a:t>
            </a:r>
            <a:r>
              <a:rPr lang="fr-FR" sz="1300"/>
              <a:t> » (via </a:t>
            </a:r>
            <a:br>
              <a:rPr lang="fr-FR" sz="1300"/>
            </a:br>
            <a:r>
              <a:rPr lang="fr-FR" sz="1300"/>
              <a:t>Acrobat Pro).</a:t>
            </a:r>
            <a:endParaRPr/>
          </a:p>
          <a:p>
            <a:pPr indent="0" lvl="0" marL="0" rtl="0" algn="l">
              <a:lnSpc>
                <a:spcPct val="100000"/>
              </a:lnSpc>
              <a:spcBef>
                <a:spcPts val="500"/>
              </a:spcBef>
              <a:spcAft>
                <a:spcPts val="0"/>
              </a:spcAft>
              <a:buClr>
                <a:schemeClr val="dk1"/>
              </a:buClr>
              <a:buSzPts val="1400"/>
              <a:buNone/>
            </a:pPr>
            <a:r>
              <a:t/>
            </a:r>
            <a:endParaRPr sz="1400"/>
          </a:p>
        </p:txBody>
      </p:sp>
      <p:pic>
        <p:nvPicPr>
          <p:cNvPr id="901" name="Google Shape;901;p56"/>
          <p:cNvPicPr preferRelativeResize="0"/>
          <p:nvPr/>
        </p:nvPicPr>
        <p:blipFill rotWithShape="1">
          <a:blip r:embed="rId10">
            <a:alphaModFix/>
          </a:blip>
          <a:srcRect b="0" l="0" r="0" t="0"/>
          <a:stretch/>
        </p:blipFill>
        <p:spPr>
          <a:xfrm>
            <a:off x="2483768" y="2159580"/>
            <a:ext cx="1947148" cy="2548359"/>
          </a:xfrm>
          <a:prstGeom prst="rect">
            <a:avLst/>
          </a:prstGeom>
          <a:noFill/>
          <a:ln>
            <a:noFill/>
          </a:ln>
        </p:spPr>
      </p:pic>
      <p:cxnSp>
        <p:nvCxnSpPr>
          <p:cNvPr id="902" name="Google Shape;902;p56"/>
          <p:cNvCxnSpPr/>
          <p:nvPr/>
        </p:nvCxnSpPr>
        <p:spPr>
          <a:xfrm>
            <a:off x="4572000" y="1832930"/>
            <a:ext cx="0" cy="2808312"/>
          </a:xfrm>
          <a:prstGeom prst="straightConnector1">
            <a:avLst/>
          </a:prstGeom>
          <a:noFill/>
          <a:ln cap="flat" cmpd="sng" w="9525">
            <a:solidFill>
              <a:schemeClr val="dk1"/>
            </a:solidFill>
            <a:prstDash val="solid"/>
            <a:round/>
            <a:headEnd len="sm" w="sm" type="none"/>
            <a:tailEnd len="sm" w="sm" type="none"/>
          </a:ln>
        </p:spPr>
      </p:cxnSp>
      <p:sp>
        <p:nvSpPr>
          <p:cNvPr id="903" name="Google Shape;903;p56"/>
          <p:cNvSpPr txBox="1"/>
          <p:nvPr>
            <p:ph idx="3" type="body"/>
          </p:nvPr>
        </p:nvSpPr>
        <p:spPr>
          <a:xfrm>
            <a:off x="4780104" y="1832930"/>
            <a:ext cx="3995978" cy="2574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1800"/>
              <a:buNone/>
            </a:pPr>
            <a:r>
              <a:rPr b="1" lang="fr-FR"/>
              <a:t>Acrobat Pro</a:t>
            </a:r>
            <a:endParaRPr/>
          </a:p>
          <a:p>
            <a:pPr indent="0" lvl="0" marL="0" rtl="0" algn="l">
              <a:lnSpc>
                <a:spcPct val="100000"/>
              </a:lnSpc>
              <a:spcBef>
                <a:spcPts val="500"/>
              </a:spcBef>
              <a:spcAft>
                <a:spcPts val="0"/>
              </a:spcAft>
              <a:buClr>
                <a:schemeClr val="dk1"/>
              </a:buClr>
              <a:buSzPts val="1300"/>
              <a:buNone/>
            </a:pPr>
            <a:r>
              <a:rPr lang="fr-FR" sz="1300"/>
              <a:t>Outil d’accessibilité permettant d’afficher un « Rapport d’accessibilité » avec des liens vers la documentation officielle pour comprendre et corriger les erreurs.</a:t>
            </a:r>
            <a:endParaRPr/>
          </a:p>
        </p:txBody>
      </p:sp>
      <p:pic>
        <p:nvPicPr>
          <p:cNvPr id="904" name="Google Shape;904;p56"/>
          <p:cNvPicPr preferRelativeResize="0"/>
          <p:nvPr/>
        </p:nvPicPr>
        <p:blipFill rotWithShape="1">
          <a:blip r:embed="rId11">
            <a:alphaModFix/>
          </a:blip>
          <a:srcRect b="0" l="0" r="0" t="0"/>
          <a:stretch/>
        </p:blipFill>
        <p:spPr>
          <a:xfrm>
            <a:off x="4852122" y="3045471"/>
            <a:ext cx="1304312" cy="1669914"/>
          </a:xfrm>
          <a:prstGeom prst="rect">
            <a:avLst/>
          </a:prstGeom>
          <a:noFill/>
          <a:ln>
            <a:noFill/>
          </a:ln>
        </p:spPr>
      </p:pic>
      <p:pic>
        <p:nvPicPr>
          <p:cNvPr id="905" name="Google Shape;905;p56"/>
          <p:cNvPicPr preferRelativeResize="0"/>
          <p:nvPr/>
        </p:nvPicPr>
        <p:blipFill rotWithShape="1">
          <a:blip r:embed="rId12">
            <a:alphaModFix/>
          </a:blip>
          <a:srcRect b="0" l="0" r="0" t="0"/>
          <a:stretch/>
        </p:blipFill>
        <p:spPr>
          <a:xfrm>
            <a:off x="6740094" y="2867229"/>
            <a:ext cx="1747812" cy="181023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57"/>
          <p:cNvSpPr txBox="1"/>
          <p:nvPr>
            <p:ph idx="10" type="dt"/>
          </p:nvPr>
        </p:nvSpPr>
        <p:spPr>
          <a:xfrm>
            <a:off x="7614000" y="4783500"/>
            <a:ext cx="117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fr-FR" cap="none"/>
              <a:t>25/11/2024</a:t>
            </a:r>
            <a:endParaRPr cap="none"/>
          </a:p>
        </p:txBody>
      </p:sp>
      <p:sp>
        <p:nvSpPr>
          <p:cNvPr id="912" name="Google Shape;912;p57"/>
          <p:cNvSpPr txBox="1"/>
          <p:nvPr>
            <p:ph idx="11" type="ftr"/>
          </p:nvPr>
        </p:nvSpPr>
        <p:spPr>
          <a:xfrm>
            <a:off x="360000" y="4783500"/>
            <a:ext cx="5904000" cy="36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fr-FR"/>
              <a:t>Institut de la Gestion publique et du Développement économique</a:t>
            </a:r>
            <a:endParaRPr/>
          </a:p>
        </p:txBody>
      </p:sp>
      <p:sp>
        <p:nvSpPr>
          <p:cNvPr id="913" name="Google Shape;913;p57"/>
          <p:cNvSpPr txBox="1"/>
          <p:nvPr>
            <p:ph idx="12" type="sldNum"/>
          </p:nvPr>
        </p:nvSpPr>
        <p:spPr>
          <a:xfrm>
            <a:off x="6264000" y="4783500"/>
            <a:ext cx="1350000" cy="36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914" name="Google Shape;914;p57"/>
          <p:cNvSpPr txBox="1"/>
          <p:nvPr>
            <p:ph idx="1" type="body"/>
          </p:nvPr>
        </p:nvSpPr>
        <p:spPr>
          <a:xfrm>
            <a:off x="3312000" y="180000"/>
            <a:ext cx="5472000" cy="3600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750"/>
              <a:buFont typeface="Arial"/>
              <a:buNone/>
            </a:pPr>
            <a:r>
              <a:t/>
            </a:r>
            <a:endParaRPr/>
          </a:p>
        </p:txBody>
      </p:sp>
      <p:sp>
        <p:nvSpPr>
          <p:cNvPr id="915" name="Google Shape;915;p57"/>
          <p:cNvSpPr txBox="1"/>
          <p:nvPr>
            <p:ph type="title"/>
          </p:nvPr>
        </p:nvSpPr>
        <p:spPr>
          <a:xfrm>
            <a:off x="359999" y="900000"/>
            <a:ext cx="8424000" cy="447614"/>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500"/>
              <a:buFont typeface="Arial"/>
              <a:buNone/>
            </a:pPr>
            <a:r>
              <a:rPr lang="fr-FR"/>
              <a:t>Vérification de l’accessibilité et export PDF - TP</a:t>
            </a:r>
            <a:endParaRPr/>
          </a:p>
        </p:txBody>
      </p:sp>
      <p:sp>
        <p:nvSpPr>
          <p:cNvPr id="916" name="Google Shape;916;p57"/>
          <p:cNvSpPr txBox="1"/>
          <p:nvPr>
            <p:ph idx="3" type="body"/>
          </p:nvPr>
        </p:nvSpPr>
        <p:spPr>
          <a:xfrm>
            <a:off x="360363" y="1419225"/>
            <a:ext cx="8423275" cy="2889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595959"/>
              </a:buClr>
              <a:buSzPts val="2000"/>
              <a:buNone/>
            </a:pPr>
            <a:r>
              <a:rPr lang="fr-FR"/>
              <a:t>Exercice 11 : Vérification et export PDF</a:t>
            </a:r>
            <a:endParaRPr/>
          </a:p>
          <a:p>
            <a:pPr indent="0" lvl="0" marL="0" rtl="0" algn="l">
              <a:lnSpc>
                <a:spcPct val="100000"/>
              </a:lnSpc>
              <a:spcBef>
                <a:spcPts val="500"/>
              </a:spcBef>
              <a:spcAft>
                <a:spcPts val="0"/>
              </a:spcAft>
              <a:buClr>
                <a:srgbClr val="595959"/>
              </a:buClr>
              <a:buSzPts val="2000"/>
              <a:buNone/>
            </a:pPr>
            <a:r>
              <a:t/>
            </a:r>
            <a:endParaRPr/>
          </a:p>
        </p:txBody>
      </p:sp>
      <p:sp>
        <p:nvSpPr>
          <p:cNvPr id="917" name="Google Shape;917;p57"/>
          <p:cNvSpPr txBox="1"/>
          <p:nvPr>
            <p:ph idx="2" type="body"/>
          </p:nvPr>
        </p:nvSpPr>
        <p:spPr>
          <a:xfrm>
            <a:off x="359998" y="1836000"/>
            <a:ext cx="8423275" cy="2679966"/>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1800"/>
              <a:buFont typeface="Arial"/>
              <a:buAutoNum type="arabicPeriod"/>
            </a:pPr>
            <a:r>
              <a:rPr lang="fr-FR"/>
              <a:t>Utiliser l’outil de vérification d’accessibilité du logiciel de traitement de texte.</a:t>
            </a:r>
            <a:endParaRPr/>
          </a:p>
          <a:p>
            <a:pPr indent="-342899" lvl="1" marL="594900" rtl="0" algn="l">
              <a:lnSpc>
                <a:spcPct val="100000"/>
              </a:lnSpc>
              <a:spcBef>
                <a:spcPts val="1100"/>
              </a:spcBef>
              <a:spcAft>
                <a:spcPts val="0"/>
              </a:spcAft>
              <a:buClr>
                <a:schemeClr val="dk1"/>
              </a:buClr>
              <a:buSzPts val="1600"/>
              <a:buChar char="•"/>
            </a:pPr>
            <a:r>
              <a:rPr lang="fr-FR"/>
              <a:t>Corriger chaque erreur identifiée ou expliquer pourquoi la correction ne serait pas pertinente ou réalisable. </a:t>
            </a:r>
            <a:endParaRPr/>
          </a:p>
          <a:p>
            <a:pPr indent="-342900" lvl="0" marL="342900" rtl="0" algn="l">
              <a:lnSpc>
                <a:spcPct val="100000"/>
              </a:lnSpc>
              <a:spcBef>
                <a:spcPts val="600"/>
              </a:spcBef>
              <a:spcAft>
                <a:spcPts val="0"/>
              </a:spcAft>
              <a:buClr>
                <a:schemeClr val="dk1"/>
              </a:buClr>
              <a:buSzPts val="1800"/>
              <a:buFont typeface="Arial"/>
              <a:buAutoNum type="arabicPeriod"/>
            </a:pPr>
            <a:r>
              <a:rPr lang="fr-FR"/>
              <a:t>Exporter le fichier au format PDF et vérifier la présence de signets.</a:t>
            </a:r>
            <a:endParaRPr/>
          </a:p>
          <a:p>
            <a:pPr indent="-342899" lvl="1" marL="594900" rtl="0" algn="l">
              <a:lnSpc>
                <a:spcPct val="100000"/>
              </a:lnSpc>
              <a:spcBef>
                <a:spcPts val="1100"/>
              </a:spcBef>
              <a:spcAft>
                <a:spcPts val="0"/>
              </a:spcAft>
              <a:buClr>
                <a:srgbClr val="4C216D"/>
              </a:buClr>
              <a:buSzPts val="1600"/>
              <a:buChar char="•"/>
            </a:pPr>
            <a:r>
              <a:rPr lang="fr-FR">
                <a:solidFill>
                  <a:srgbClr val="4C216D"/>
                </a:solidFill>
              </a:rPr>
              <a:t>Pour aller plus loin : Lancer l’outil d’audit PDF (PAC) et/ou tester le document avec un lecteur d’écran pour vérifier l’accessibilité.</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2024-10-17T07:42:23Z</dcterms:created>
  <dc:creator>Giuseppe Rosa</dc:creator>
</cp:coreProperties>
</file>