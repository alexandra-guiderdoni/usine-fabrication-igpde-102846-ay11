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6"/>
  </p:notesMasterIdLst>
  <p:sldIdLst>
    <p:sldId id="403" r:id="rId2"/>
    <p:sldId id="405" r:id="rId3"/>
    <p:sldId id="406" r:id="rId4"/>
    <p:sldId id="407" r:id="rId5"/>
    <p:sldId id="408" r:id="rId6"/>
    <p:sldId id="409" r:id="rId7"/>
    <p:sldId id="410" r:id="rId8"/>
    <p:sldId id="411" r:id="rId9"/>
    <p:sldId id="412" r:id="rId10"/>
    <p:sldId id="413" r:id="rId11"/>
    <p:sldId id="414" r:id="rId12"/>
    <p:sldId id="415" r:id="rId13"/>
    <p:sldId id="416" r:id="rId14"/>
    <p:sldId id="417" r:id="rId15"/>
    <p:sldId id="418" r:id="rId16"/>
    <p:sldId id="419" r:id="rId17"/>
    <p:sldId id="420" r:id="rId18"/>
    <p:sldId id="421" r:id="rId19"/>
    <p:sldId id="422" r:id="rId20"/>
    <p:sldId id="423" r:id="rId21"/>
    <p:sldId id="424" r:id="rId22"/>
    <p:sldId id="425" r:id="rId23"/>
    <p:sldId id="426" r:id="rId24"/>
    <p:sldId id="427" r:id="rId25"/>
    <p:sldId id="428" r:id="rId26"/>
    <p:sldId id="429" r:id="rId27"/>
    <p:sldId id="430" r:id="rId28"/>
    <p:sldId id="431" r:id="rId29"/>
    <p:sldId id="432" r:id="rId30"/>
    <p:sldId id="433" r:id="rId31"/>
    <p:sldId id="434" r:id="rId32"/>
    <p:sldId id="435" r:id="rId33"/>
    <p:sldId id="436" r:id="rId34"/>
    <p:sldId id="437" r:id="rId35"/>
    <p:sldId id="438" r:id="rId36"/>
    <p:sldId id="439" r:id="rId37"/>
    <p:sldId id="440" r:id="rId38"/>
    <p:sldId id="441" r:id="rId39"/>
    <p:sldId id="442" r:id="rId40"/>
    <p:sldId id="443" r:id="rId41"/>
    <p:sldId id="444" r:id="rId42"/>
    <p:sldId id="445" r:id="rId43"/>
    <p:sldId id="446" r:id="rId44"/>
    <p:sldId id="447" r:id="rId45"/>
    <p:sldId id="448" r:id="rId46"/>
    <p:sldId id="449" r:id="rId47"/>
    <p:sldId id="450" r:id="rId48"/>
    <p:sldId id="451" r:id="rId49"/>
    <p:sldId id="452" r:id="rId50"/>
    <p:sldId id="453" r:id="rId51"/>
    <p:sldId id="454" r:id="rId52"/>
    <p:sldId id="455" r:id="rId53"/>
    <p:sldId id="456" r:id="rId54"/>
    <p:sldId id="457" r:id="rId55"/>
    <p:sldId id="458" r:id="rId56"/>
    <p:sldId id="459" r:id="rId57"/>
    <p:sldId id="460" r:id="rId58"/>
    <p:sldId id="461" r:id="rId59"/>
    <p:sldId id="462" r:id="rId60"/>
    <p:sldId id="463" r:id="rId61"/>
    <p:sldId id="464" r:id="rId62"/>
    <p:sldId id="465" r:id="rId63"/>
    <p:sldId id="466" r:id="rId64"/>
    <p:sldId id="467" r:id="rId65"/>
  </p:sldIdLst>
  <p:sldSz cx="9144000" cy="5143500" type="screen16x9"/>
  <p:notesSz cx="6858000" cy="9144000"/>
  <p:embeddedFontLst>
    <p:embeddedFont>
      <p:font typeface="Helvetica Neue" panose="02000503000000020004" pitchFamily="2"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orient="horz" pos="191">
          <p15:clr>
            <a:srgbClr val="A4A3A4"/>
          </p15:clr>
        </p15:guide>
        <p15:guide id="3" orient="horz" pos="854">
          <p15:clr>
            <a:srgbClr val="A4A3A4"/>
          </p15:clr>
        </p15:guide>
        <p15:guide id="4" orient="horz" pos="821">
          <p15:clr>
            <a:srgbClr val="A4A3A4"/>
          </p15:clr>
        </p15:guide>
        <p15:guide id="5" orient="horz" pos="3049">
          <p15:clr>
            <a:srgbClr val="A4A3A4"/>
          </p15:clr>
        </p15:guide>
        <p15:guide id="6" orient="horz" pos="3151">
          <p15:clr>
            <a:srgbClr val="A4A3A4"/>
          </p15:clr>
        </p15:guide>
        <p15:guide id="7" pos="2880">
          <p15:clr>
            <a:srgbClr val="A4A3A4"/>
          </p15:clr>
        </p15:guide>
        <p15:guide id="8" pos="476">
          <p15:clr>
            <a:srgbClr val="A4A3A4"/>
          </p15:clr>
        </p15:guide>
        <p15:guide id="9" pos="5193">
          <p15:clr>
            <a:srgbClr val="A4A3A4"/>
          </p15:clr>
        </p15:guide>
        <p15:guide id="10" pos="5465">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7" roundtripDataSignature="AMtx7mhAD74TFbmtN3pEVKQalvl1byXpY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DA3A84-C8B8-4E25-B2BE-6258E6BE514C}">
  <a:tblStyle styleId="{81DA3A84-C8B8-4E25-B2BE-6258E6BE514C}" styleName="Table_0">
    <a:wholeTbl>
      <a:tcTxStyle b="off" i="off">
        <a:font>
          <a:latin typeface="Marianne"/>
          <a:ea typeface="Marianne"/>
          <a:cs typeface="Marianne"/>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1V>
    <a:band2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Marianne"/>
          <a:ea typeface="Marianne"/>
          <a:cs typeface="Marianne"/>
        </a:font>
        <a:schemeClr val="lt1"/>
      </a:tcTxStyle>
      <a:tcStyle>
        <a:tcBdr/>
        <a:fill>
          <a:solidFill>
            <a:schemeClr val="accent2"/>
          </a:solidFill>
        </a:fill>
      </a:tcStyle>
    </a:firstRow>
    <a:neCell>
      <a:tcTxStyle/>
      <a:tcStyle>
        <a:tcBdr/>
      </a:tcStyle>
    </a:neCell>
    <a:nwCell>
      <a:tcTxStyle/>
      <a:tcStyle>
        <a:tcBdr/>
      </a:tcStyle>
    </a:nwCell>
  </a:tblStyle>
  <a:tblStyle styleId="{FD7E91FA-90BF-47A8-963E-8DB3384E367F}" styleName="Table_1">
    <a:wholeTbl>
      <a:tcTxStyle b="off" i="off">
        <a:font>
          <a:latin typeface="Marianne"/>
          <a:ea typeface="Marianne"/>
          <a:cs typeface="Marianne"/>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9E8"/>
          </a:solidFill>
        </a:fill>
      </a:tcStyle>
    </a:wholeTbl>
    <a:band1H>
      <a:tcTxStyle/>
      <a:tcStyle>
        <a:tcBdr/>
        <a:fill>
          <a:solidFill>
            <a:srgbClr val="CAD0CD"/>
          </a:solidFill>
        </a:fill>
      </a:tcStyle>
    </a:band1H>
    <a:band2H>
      <a:tcTxStyle/>
      <a:tcStyle>
        <a:tcBdr/>
      </a:tcStyle>
    </a:band2H>
    <a:band1V>
      <a:tcTxStyle/>
      <a:tcStyle>
        <a:tcBdr/>
        <a:fill>
          <a:solidFill>
            <a:srgbClr val="CAD0CD"/>
          </a:solidFill>
        </a:fill>
      </a:tcStyle>
    </a:band1V>
    <a:band2V>
      <a:tcTxStyle/>
      <a:tcStyle>
        <a:tcBdr/>
      </a:tcStyle>
    </a:band2V>
    <a:lastCol>
      <a:tcTxStyle b="on" i="off">
        <a:font>
          <a:latin typeface="Marianne"/>
          <a:ea typeface="Marianne"/>
          <a:cs typeface="Marianne"/>
        </a:font>
        <a:schemeClr val="lt1"/>
      </a:tcTxStyle>
      <a:tcStyle>
        <a:tcBdr/>
        <a:fill>
          <a:solidFill>
            <a:schemeClr val="accent1"/>
          </a:solidFill>
        </a:fill>
      </a:tcStyle>
    </a:lastCol>
    <a:firstCol>
      <a:tcTxStyle b="on" i="off">
        <a:font>
          <a:latin typeface="Marianne"/>
          <a:ea typeface="Marianne"/>
          <a:cs typeface="Marianne"/>
        </a:font>
        <a:schemeClr val="lt1"/>
      </a:tcTxStyle>
      <a:tcStyle>
        <a:tcBdr/>
        <a:fill>
          <a:solidFill>
            <a:schemeClr val="accent1"/>
          </a:solidFill>
        </a:fill>
      </a:tcStyle>
    </a:firstCol>
    <a:lastRow>
      <a:tcTxStyle b="on" i="off">
        <a:font>
          <a:latin typeface="Marianne"/>
          <a:ea typeface="Marianne"/>
          <a:cs typeface="Marianne"/>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Marianne"/>
          <a:ea typeface="Marianne"/>
          <a:cs typeface="Marianne"/>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784" y="200"/>
      </p:cViewPr>
      <p:guideLst>
        <p:guide orient="horz" pos="1620"/>
        <p:guide orient="horz" pos="191"/>
        <p:guide orient="horz" pos="854"/>
        <p:guide orient="horz" pos="821"/>
        <p:guide orient="horz" pos="3049"/>
        <p:guide orient="horz" pos="3151"/>
        <p:guide pos="2880"/>
        <p:guide pos="476"/>
        <p:guide pos="5193"/>
        <p:guide pos="546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268" Type="http://schemas.openxmlformats.org/officeDocument/2006/relationships/presProps" Target="presProps.xml"/><Relationship Id="rId271" Type="http://schemas.openxmlformats.org/officeDocument/2006/relationships/tableStyles" Target="tableStyle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269"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267" Type="http://customschemas.google.com/relationships/presentationmetadata" Target="metadata"/><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270"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Arial"/>
                <a:ea typeface="Arial"/>
                <a:cs typeface="Arial"/>
                <a:sym typeface="Arial"/>
              </a:rPr>
              <a:t>‹N°›</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1"/>
        <p:cNvGrpSpPr/>
        <p:nvPr/>
      </p:nvGrpSpPr>
      <p:grpSpPr>
        <a:xfrm>
          <a:off x="0" y="0"/>
          <a:ext cx="0" cy="0"/>
          <a:chOff x="0" y="0"/>
          <a:chExt cx="0" cy="0"/>
        </a:xfrm>
      </p:grpSpPr>
      <p:sp>
        <p:nvSpPr>
          <p:cNvPr id="1802" name="Google Shape;1802;p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3" name="Google Shape;1803;p1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804" name="Google Shape;1804;p1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2"/>
        <p:cNvGrpSpPr/>
        <p:nvPr/>
      </p:nvGrpSpPr>
      <p:grpSpPr>
        <a:xfrm>
          <a:off x="0" y="0"/>
          <a:ext cx="0" cy="0"/>
          <a:chOff x="0" y="0"/>
          <a:chExt cx="0" cy="0"/>
        </a:xfrm>
      </p:grpSpPr>
      <p:sp>
        <p:nvSpPr>
          <p:cNvPr id="1823" name="Google Shape;1823;p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4" name="Google Shape;1824;p1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825" name="Google Shape;1825;p1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p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4" name="Google Shape;1834;p1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Formation pratique orientée résultats </a:t>
            </a:r>
            <a:endParaRPr/>
          </a:p>
          <a:p>
            <a:pPr marL="0" lvl="0" indent="0" algn="l" rtl="0">
              <a:spcBef>
                <a:spcPts val="0"/>
              </a:spcBef>
              <a:spcAft>
                <a:spcPts val="0"/>
              </a:spcAft>
              <a:buNone/>
            </a:pPr>
            <a:r>
              <a:rPr lang="fr-FR"/>
              <a:t>Nombreux exemples concrets </a:t>
            </a:r>
            <a:endParaRPr/>
          </a:p>
          <a:p>
            <a:pPr marL="0" lvl="0" indent="0" algn="l" rtl="0">
              <a:spcBef>
                <a:spcPts val="0"/>
              </a:spcBef>
              <a:spcAft>
                <a:spcPts val="0"/>
              </a:spcAft>
              <a:buNone/>
            </a:pPr>
            <a:r>
              <a:rPr lang="fr-FR"/>
              <a:t>Outils et ressources fournis </a:t>
            </a:r>
            <a:endParaRPr/>
          </a:p>
          <a:p>
            <a:pPr marL="0" lvl="0" indent="0" algn="l" rtl="0">
              <a:spcBef>
                <a:spcPts val="0"/>
              </a:spcBef>
              <a:spcAft>
                <a:spcPts val="0"/>
              </a:spcAft>
              <a:buNone/>
            </a:pPr>
            <a:r>
              <a:rPr lang="fr-FR"/>
              <a:t>Temps d'échange prévu</a:t>
            </a:r>
            <a:endParaRPr/>
          </a:p>
          <a:p>
            <a:pPr marL="0" lvl="0" indent="0" algn="l" rtl="0">
              <a:spcBef>
                <a:spcPts val="0"/>
              </a:spcBef>
              <a:spcAft>
                <a:spcPts val="0"/>
              </a:spcAft>
              <a:buNone/>
            </a:pPr>
            <a:endParaRPr/>
          </a:p>
        </p:txBody>
      </p:sp>
      <p:sp>
        <p:nvSpPr>
          <p:cNvPr id="1835" name="Google Shape;1835;p1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5"/>
        <p:cNvGrpSpPr/>
        <p:nvPr/>
      </p:nvGrpSpPr>
      <p:grpSpPr>
        <a:xfrm>
          <a:off x="0" y="0"/>
          <a:ext cx="0" cy="0"/>
          <a:chOff x="0" y="0"/>
          <a:chExt cx="0" cy="0"/>
        </a:xfrm>
      </p:grpSpPr>
      <p:sp>
        <p:nvSpPr>
          <p:cNvPr id="1846" name="Google Shape;1846;p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7" name="Google Shape;1847;p1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Rassurer sur l'absence de prérequis techniques </a:t>
            </a:r>
            <a:endParaRPr/>
          </a:p>
          <a:p>
            <a:pPr marL="0" lvl="0" indent="0" algn="l" rtl="0">
              <a:spcBef>
                <a:spcPts val="0"/>
              </a:spcBef>
              <a:spcAft>
                <a:spcPts val="0"/>
              </a:spcAft>
              <a:buNone/>
            </a:pPr>
            <a:r>
              <a:rPr lang="fr-FR"/>
              <a:t>Identifier rapidement les profils présents dans la salle</a:t>
            </a:r>
            <a:endParaRPr/>
          </a:p>
        </p:txBody>
      </p:sp>
      <p:sp>
        <p:nvSpPr>
          <p:cNvPr id="1848" name="Google Shape;1848;p1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6"/>
        <p:cNvGrpSpPr/>
        <p:nvPr/>
      </p:nvGrpSpPr>
      <p:grpSpPr>
        <a:xfrm>
          <a:off x="0" y="0"/>
          <a:ext cx="0" cy="0"/>
          <a:chOff x="0" y="0"/>
          <a:chExt cx="0" cy="0"/>
        </a:xfrm>
      </p:grpSpPr>
      <p:sp>
        <p:nvSpPr>
          <p:cNvPr id="1857" name="Google Shape;1857;p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8" name="Google Shape;1858;p1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859" name="Google Shape;1859;p1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8"/>
        <p:cNvGrpSpPr/>
        <p:nvPr/>
      </p:nvGrpSpPr>
      <p:grpSpPr>
        <a:xfrm>
          <a:off x="0" y="0"/>
          <a:ext cx="0" cy="0"/>
          <a:chOff x="0" y="0"/>
          <a:chExt cx="0" cy="0"/>
        </a:xfrm>
      </p:grpSpPr>
      <p:sp>
        <p:nvSpPr>
          <p:cNvPr id="1869" name="Google Shape;1869;p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0" name="Google Shape;1870;p1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Mettre en avant l'aspect ROI de l'accessibilité</a:t>
            </a:r>
            <a:endParaRPr/>
          </a:p>
        </p:txBody>
      </p:sp>
      <p:sp>
        <p:nvSpPr>
          <p:cNvPr id="1871" name="Google Shape;1871;p1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0"/>
        <p:cNvGrpSpPr/>
        <p:nvPr/>
      </p:nvGrpSpPr>
      <p:grpSpPr>
        <a:xfrm>
          <a:off x="0" y="0"/>
          <a:ext cx="0" cy="0"/>
          <a:chOff x="0" y="0"/>
          <a:chExt cx="0" cy="0"/>
        </a:xfrm>
      </p:grpSpPr>
      <p:sp>
        <p:nvSpPr>
          <p:cNvPr id="1881" name="Google Shape;1881;p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2" name="Google Shape;1882;p1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883" name="Google Shape;1883;p1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0"/>
        <p:cNvGrpSpPr/>
        <p:nvPr/>
      </p:nvGrpSpPr>
      <p:grpSpPr>
        <a:xfrm>
          <a:off x="0" y="0"/>
          <a:ext cx="0" cy="0"/>
          <a:chOff x="0" y="0"/>
          <a:chExt cx="0" cy="0"/>
        </a:xfrm>
      </p:grpSpPr>
      <p:sp>
        <p:nvSpPr>
          <p:cNvPr id="1891" name="Google Shape;1891;p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2" name="Google Shape;1892;p1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Laisser les participants observer le tweet </a:t>
            </a:r>
            <a:endParaRPr/>
          </a:p>
          <a:p>
            <a:pPr marL="0" lvl="0" indent="0" algn="l" rtl="0">
              <a:spcBef>
                <a:spcPts val="0"/>
              </a:spcBef>
              <a:spcAft>
                <a:spcPts val="0"/>
              </a:spcAft>
              <a:buNone/>
            </a:pPr>
            <a:r>
              <a:rPr lang="fr-FR"/>
              <a:t>Ne pas encore pointer les problèmes </a:t>
            </a:r>
            <a:endParaRPr/>
          </a:p>
          <a:p>
            <a:pPr marL="0" lvl="0" indent="0" algn="l" rtl="0">
              <a:spcBef>
                <a:spcPts val="0"/>
              </a:spcBef>
              <a:spcAft>
                <a:spcPts val="0"/>
              </a:spcAft>
              <a:buNone/>
            </a:pPr>
            <a:r>
              <a:rPr lang="fr-FR"/>
              <a:t>Demander : Que pensez-vous de ce tweet ?</a:t>
            </a:r>
            <a:endParaRPr/>
          </a:p>
          <a:p>
            <a:pPr marL="0" lvl="0" indent="0" algn="l" rtl="0">
              <a:spcBef>
                <a:spcPts val="0"/>
              </a:spcBef>
              <a:spcAft>
                <a:spcPts val="0"/>
              </a:spcAft>
              <a:buNone/>
            </a:pPr>
            <a:endParaRPr/>
          </a:p>
        </p:txBody>
      </p:sp>
      <p:sp>
        <p:nvSpPr>
          <p:cNvPr id="1893" name="Google Shape;1893;p1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1"/>
        <p:cNvGrpSpPr/>
        <p:nvPr/>
      </p:nvGrpSpPr>
      <p:grpSpPr>
        <a:xfrm>
          <a:off x="0" y="0"/>
          <a:ext cx="0" cy="0"/>
          <a:chOff x="0" y="0"/>
          <a:chExt cx="0" cy="0"/>
        </a:xfrm>
      </p:grpSpPr>
      <p:sp>
        <p:nvSpPr>
          <p:cNvPr id="1902" name="Google Shape;1902;p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3" name="Google Shape;1903;p1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904" name="Google Shape;1904;p1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3"/>
        <p:cNvGrpSpPr/>
        <p:nvPr/>
      </p:nvGrpSpPr>
      <p:grpSpPr>
        <a:xfrm>
          <a:off x="0" y="0"/>
          <a:ext cx="0" cy="0"/>
          <a:chOff x="0" y="0"/>
          <a:chExt cx="0" cy="0"/>
        </a:xfrm>
      </p:grpSpPr>
      <p:sp>
        <p:nvSpPr>
          <p:cNvPr id="1914" name="Google Shape;1914;p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5" name="Google Shape;1915;p1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Faire participer la salle : Quels problèmes d'accessibilité identifiez-vous ?</a:t>
            </a:r>
            <a:endParaRPr/>
          </a:p>
        </p:txBody>
      </p:sp>
      <p:sp>
        <p:nvSpPr>
          <p:cNvPr id="1916" name="Google Shape;1916;p1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6"/>
        <p:cNvGrpSpPr/>
        <p:nvPr/>
      </p:nvGrpSpPr>
      <p:grpSpPr>
        <a:xfrm>
          <a:off x="0" y="0"/>
          <a:ext cx="0" cy="0"/>
          <a:chOff x="0" y="0"/>
          <a:chExt cx="0" cy="0"/>
        </a:xfrm>
      </p:grpSpPr>
      <p:sp>
        <p:nvSpPr>
          <p:cNvPr id="1927" name="Google Shape;1927;p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8" name="Google Shape;1928;p1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Expliquer chaque point en détail</a:t>
            </a:r>
            <a:endParaRPr/>
          </a:p>
          <a:p>
            <a:pPr marL="0" lvl="0" indent="0" algn="l" rtl="0">
              <a:spcBef>
                <a:spcPts val="0"/>
              </a:spcBef>
              <a:spcAft>
                <a:spcPts val="0"/>
              </a:spcAft>
              <a:buNone/>
            </a:pPr>
            <a:r>
              <a:rPr lang="fr-FR"/>
              <a:t>Utiliser un outil de contraste en direct si possible</a:t>
            </a:r>
            <a:endParaRPr/>
          </a:p>
          <a:p>
            <a:pPr marL="0" lvl="0" indent="0" algn="l" rtl="0">
              <a:spcBef>
                <a:spcPts val="0"/>
              </a:spcBef>
              <a:spcAft>
                <a:spcPts val="0"/>
              </a:spcAft>
              <a:buNone/>
            </a:pPr>
            <a:r>
              <a:rPr lang="fr-FR"/>
              <a:t>Faire une démonstration avec un lecteur d'écran</a:t>
            </a:r>
            <a:endParaRPr/>
          </a:p>
        </p:txBody>
      </p:sp>
      <p:sp>
        <p:nvSpPr>
          <p:cNvPr id="1929" name="Google Shape;1929;p1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9"/>
        <p:cNvGrpSpPr/>
        <p:nvPr/>
      </p:nvGrpSpPr>
      <p:grpSpPr>
        <a:xfrm>
          <a:off x="0" y="0"/>
          <a:ext cx="0" cy="0"/>
          <a:chOff x="0" y="0"/>
          <a:chExt cx="0" cy="0"/>
        </a:xfrm>
      </p:grpSpPr>
      <p:sp>
        <p:nvSpPr>
          <p:cNvPr id="1940" name="Google Shape;1940;p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1" name="Google Shape;1941;p1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Comparer avec la version précédente </a:t>
            </a:r>
            <a:endParaRPr/>
          </a:p>
          <a:p>
            <a:pPr marL="0" lvl="0" indent="0" algn="l" rtl="0">
              <a:spcBef>
                <a:spcPts val="0"/>
              </a:spcBef>
              <a:spcAft>
                <a:spcPts val="0"/>
              </a:spcAft>
              <a:buNone/>
            </a:pPr>
            <a:r>
              <a:rPr lang="fr-FR"/>
              <a:t>Souligner les améliorations </a:t>
            </a:r>
            <a:endParaRPr/>
          </a:p>
          <a:p>
            <a:pPr marL="0" lvl="0" indent="0" algn="l" rtl="0">
              <a:spcBef>
                <a:spcPts val="0"/>
              </a:spcBef>
              <a:spcAft>
                <a:spcPts val="0"/>
              </a:spcAft>
              <a:buNone/>
            </a:pPr>
            <a:r>
              <a:rPr lang="fr-FR"/>
              <a:t>Expliquer pourquoi ces changements sont importants</a:t>
            </a:r>
            <a:endParaRPr/>
          </a:p>
        </p:txBody>
      </p:sp>
      <p:sp>
        <p:nvSpPr>
          <p:cNvPr id="1942" name="Google Shape;1942;p1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1"/>
        <p:cNvGrpSpPr/>
        <p:nvPr/>
      </p:nvGrpSpPr>
      <p:grpSpPr>
        <a:xfrm>
          <a:off x="0" y="0"/>
          <a:ext cx="0" cy="0"/>
          <a:chOff x="0" y="0"/>
          <a:chExt cx="0" cy="0"/>
        </a:xfrm>
      </p:grpSpPr>
      <p:sp>
        <p:nvSpPr>
          <p:cNvPr id="1952" name="Google Shape;1952;p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3" name="Google Shape;1953;p1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954" name="Google Shape;1954;p1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4"/>
        <p:cNvGrpSpPr/>
        <p:nvPr/>
      </p:nvGrpSpPr>
      <p:grpSpPr>
        <a:xfrm>
          <a:off x="0" y="0"/>
          <a:ext cx="0" cy="0"/>
          <a:chOff x="0" y="0"/>
          <a:chExt cx="0" cy="0"/>
        </a:xfrm>
      </p:grpSpPr>
      <p:sp>
        <p:nvSpPr>
          <p:cNvPr id="1965" name="Google Shape;1965;p1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6" name="Google Shape;1966;p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5"/>
        <p:cNvGrpSpPr/>
        <p:nvPr/>
      </p:nvGrpSpPr>
      <p:grpSpPr>
        <a:xfrm>
          <a:off x="0" y="0"/>
          <a:ext cx="0" cy="0"/>
          <a:chOff x="0" y="0"/>
          <a:chExt cx="0" cy="0"/>
        </a:xfrm>
      </p:grpSpPr>
      <p:sp>
        <p:nvSpPr>
          <p:cNvPr id="1976" name="Google Shape;1976;p1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7" name="Google Shape;1977;p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5"/>
        <p:cNvGrpSpPr/>
        <p:nvPr/>
      </p:nvGrpSpPr>
      <p:grpSpPr>
        <a:xfrm>
          <a:off x="0" y="0"/>
          <a:ext cx="0" cy="0"/>
          <a:chOff x="0" y="0"/>
          <a:chExt cx="0" cy="0"/>
        </a:xfrm>
      </p:grpSpPr>
      <p:sp>
        <p:nvSpPr>
          <p:cNvPr id="1986" name="Google Shape;1986;p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7" name="Google Shape;1987;p1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988" name="Google Shape;1988;p1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5"/>
        <p:cNvGrpSpPr/>
        <p:nvPr/>
      </p:nvGrpSpPr>
      <p:grpSpPr>
        <a:xfrm>
          <a:off x="0" y="0"/>
          <a:ext cx="0" cy="0"/>
          <a:chOff x="0" y="0"/>
          <a:chExt cx="0" cy="0"/>
        </a:xfrm>
      </p:grpSpPr>
      <p:sp>
        <p:nvSpPr>
          <p:cNvPr id="1996" name="Google Shape;1996;p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7" name="Google Shape;1997;p1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998" name="Google Shape;1998;p16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5"/>
        <p:cNvGrpSpPr/>
        <p:nvPr/>
      </p:nvGrpSpPr>
      <p:grpSpPr>
        <a:xfrm>
          <a:off x="0" y="0"/>
          <a:ext cx="0" cy="0"/>
          <a:chOff x="0" y="0"/>
          <a:chExt cx="0" cy="0"/>
        </a:xfrm>
      </p:grpSpPr>
      <p:sp>
        <p:nvSpPr>
          <p:cNvPr id="2006" name="Google Shape;2006;p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7" name="Google Shape;2007;p1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Parler de l'importance de la vérification des sous-titres auto</a:t>
            </a:r>
            <a:br>
              <a:rPr lang="fr-FR"/>
            </a:br>
            <a:r>
              <a:rPr lang="fr-FR"/>
              <a:t>Parfois pas la possibilité d’avoir des sous-titres SRT non incrustés</a:t>
            </a:r>
            <a:endParaRPr/>
          </a:p>
        </p:txBody>
      </p:sp>
      <p:sp>
        <p:nvSpPr>
          <p:cNvPr id="2008" name="Google Shape;2008;p16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7"/>
        <p:cNvGrpSpPr/>
        <p:nvPr/>
      </p:nvGrpSpPr>
      <p:grpSpPr>
        <a:xfrm>
          <a:off x="0" y="0"/>
          <a:ext cx="0" cy="0"/>
          <a:chOff x="0" y="0"/>
          <a:chExt cx="0" cy="0"/>
        </a:xfrm>
      </p:grpSpPr>
      <p:sp>
        <p:nvSpPr>
          <p:cNvPr id="2018" name="Google Shape;2018;p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9" name="Google Shape;2019;p1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020" name="Google Shape;2020;p1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8"/>
        <p:cNvGrpSpPr/>
        <p:nvPr/>
      </p:nvGrpSpPr>
      <p:grpSpPr>
        <a:xfrm>
          <a:off x="0" y="0"/>
          <a:ext cx="0" cy="0"/>
          <a:chOff x="0" y="0"/>
          <a:chExt cx="0" cy="0"/>
        </a:xfrm>
      </p:grpSpPr>
      <p:sp>
        <p:nvSpPr>
          <p:cNvPr id="2029" name="Google Shape;2029;p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0" name="Google Shape;2030;p1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031" name="Google Shape;2031;p1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0"/>
        <p:cNvGrpSpPr/>
        <p:nvPr/>
      </p:nvGrpSpPr>
      <p:grpSpPr>
        <a:xfrm>
          <a:off x="0" y="0"/>
          <a:ext cx="0" cy="0"/>
          <a:chOff x="0" y="0"/>
          <a:chExt cx="0" cy="0"/>
        </a:xfrm>
      </p:grpSpPr>
      <p:sp>
        <p:nvSpPr>
          <p:cNvPr id="2041" name="Google Shape;2041;p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2" name="Google Shape;2042;p1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043" name="Google Shape;2043;p16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3"/>
        <p:cNvGrpSpPr/>
        <p:nvPr/>
      </p:nvGrpSpPr>
      <p:grpSpPr>
        <a:xfrm>
          <a:off x="0" y="0"/>
          <a:ext cx="0" cy="0"/>
          <a:chOff x="0" y="0"/>
          <a:chExt cx="0" cy="0"/>
        </a:xfrm>
      </p:grpSpPr>
      <p:sp>
        <p:nvSpPr>
          <p:cNvPr id="2054" name="Google Shape;2054;p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5" name="Google Shape;2055;p1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056" name="Google Shape;2056;p1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6"/>
        <p:cNvGrpSpPr/>
        <p:nvPr/>
      </p:nvGrpSpPr>
      <p:grpSpPr>
        <a:xfrm>
          <a:off x="0" y="0"/>
          <a:ext cx="0" cy="0"/>
          <a:chOff x="0" y="0"/>
          <a:chExt cx="0" cy="0"/>
        </a:xfrm>
      </p:grpSpPr>
      <p:sp>
        <p:nvSpPr>
          <p:cNvPr id="2067" name="Google Shape;2067;p1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8" name="Google Shape;2068;p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6"/>
        <p:cNvGrpSpPr/>
        <p:nvPr/>
      </p:nvGrpSpPr>
      <p:grpSpPr>
        <a:xfrm>
          <a:off x="0" y="0"/>
          <a:ext cx="0" cy="0"/>
          <a:chOff x="0" y="0"/>
          <a:chExt cx="0" cy="0"/>
        </a:xfrm>
      </p:grpSpPr>
      <p:sp>
        <p:nvSpPr>
          <p:cNvPr id="2077" name="Google Shape;2077;p1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8" name="Google Shape;2078;p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6"/>
        <p:cNvGrpSpPr/>
        <p:nvPr/>
      </p:nvGrpSpPr>
      <p:grpSpPr>
        <a:xfrm>
          <a:off x="0" y="0"/>
          <a:ext cx="0" cy="0"/>
          <a:chOff x="0" y="0"/>
          <a:chExt cx="0" cy="0"/>
        </a:xfrm>
      </p:grpSpPr>
      <p:sp>
        <p:nvSpPr>
          <p:cNvPr id="2087" name="Google Shape;2087;p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8" name="Google Shape;2088;p17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089" name="Google Shape;2089;p17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7"/>
        <p:cNvGrpSpPr/>
        <p:nvPr/>
      </p:nvGrpSpPr>
      <p:grpSpPr>
        <a:xfrm>
          <a:off x="0" y="0"/>
          <a:ext cx="0" cy="0"/>
          <a:chOff x="0" y="0"/>
          <a:chExt cx="0" cy="0"/>
        </a:xfrm>
      </p:grpSpPr>
      <p:sp>
        <p:nvSpPr>
          <p:cNvPr id="2098" name="Google Shape;2098;p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9" name="Google Shape;2099;p1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100" name="Google Shape;2100;p1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0"/>
        <p:cNvGrpSpPr/>
        <p:nvPr/>
      </p:nvGrpSpPr>
      <p:grpSpPr>
        <a:xfrm>
          <a:off x="0" y="0"/>
          <a:ext cx="0" cy="0"/>
          <a:chOff x="0" y="0"/>
          <a:chExt cx="0" cy="0"/>
        </a:xfrm>
      </p:grpSpPr>
      <p:sp>
        <p:nvSpPr>
          <p:cNvPr id="2111" name="Google Shape;2111;p1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2" name="Google Shape;2112;p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1"/>
        <p:cNvGrpSpPr/>
        <p:nvPr/>
      </p:nvGrpSpPr>
      <p:grpSpPr>
        <a:xfrm>
          <a:off x="0" y="0"/>
          <a:ext cx="0" cy="0"/>
          <a:chOff x="0" y="0"/>
          <a:chExt cx="0" cy="0"/>
        </a:xfrm>
      </p:grpSpPr>
      <p:sp>
        <p:nvSpPr>
          <p:cNvPr id="2122" name="Google Shape;2122;p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3" name="Google Shape;2123;p1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124" name="Google Shape;2124;p17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4"/>
        <p:cNvGrpSpPr/>
        <p:nvPr/>
      </p:nvGrpSpPr>
      <p:grpSpPr>
        <a:xfrm>
          <a:off x="0" y="0"/>
          <a:ext cx="0" cy="0"/>
          <a:chOff x="0" y="0"/>
          <a:chExt cx="0" cy="0"/>
        </a:xfrm>
      </p:grpSpPr>
      <p:sp>
        <p:nvSpPr>
          <p:cNvPr id="2135" name="Google Shape;2135;p1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6" name="Google Shape;2136;p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5"/>
        <p:cNvGrpSpPr/>
        <p:nvPr/>
      </p:nvGrpSpPr>
      <p:grpSpPr>
        <a:xfrm>
          <a:off x="0" y="0"/>
          <a:ext cx="0" cy="0"/>
          <a:chOff x="0" y="0"/>
          <a:chExt cx="0" cy="0"/>
        </a:xfrm>
      </p:grpSpPr>
      <p:sp>
        <p:nvSpPr>
          <p:cNvPr id="2146" name="Google Shape;2146;p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7" name="Google Shape;2147;p1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148" name="Google Shape;2148;p1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9"/>
        <p:cNvGrpSpPr/>
        <p:nvPr/>
      </p:nvGrpSpPr>
      <p:grpSpPr>
        <a:xfrm>
          <a:off x="0" y="0"/>
          <a:ext cx="0" cy="0"/>
          <a:chOff x="0" y="0"/>
          <a:chExt cx="0" cy="0"/>
        </a:xfrm>
      </p:grpSpPr>
      <p:sp>
        <p:nvSpPr>
          <p:cNvPr id="2160" name="Google Shape;2160;p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1" name="Google Shape;2161;p1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162" name="Google Shape;2162;p17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1"/>
        <p:cNvGrpSpPr/>
        <p:nvPr/>
      </p:nvGrpSpPr>
      <p:grpSpPr>
        <a:xfrm>
          <a:off x="0" y="0"/>
          <a:ext cx="0" cy="0"/>
          <a:chOff x="0" y="0"/>
          <a:chExt cx="0" cy="0"/>
        </a:xfrm>
      </p:grpSpPr>
      <p:sp>
        <p:nvSpPr>
          <p:cNvPr id="2172" name="Google Shape;2172;p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3" name="Google Shape;2173;p1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174" name="Google Shape;2174;p18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4"/>
        <p:cNvGrpSpPr/>
        <p:nvPr/>
      </p:nvGrpSpPr>
      <p:grpSpPr>
        <a:xfrm>
          <a:off x="0" y="0"/>
          <a:ext cx="0" cy="0"/>
          <a:chOff x="0" y="0"/>
          <a:chExt cx="0" cy="0"/>
        </a:xfrm>
      </p:grpSpPr>
      <p:sp>
        <p:nvSpPr>
          <p:cNvPr id="2185" name="Google Shape;2185;p1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6" name="Google Shape;2186;p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6"/>
        <p:cNvGrpSpPr/>
        <p:nvPr/>
      </p:nvGrpSpPr>
      <p:grpSpPr>
        <a:xfrm>
          <a:off x="0" y="0"/>
          <a:ext cx="0" cy="0"/>
          <a:chOff x="0" y="0"/>
          <a:chExt cx="0" cy="0"/>
        </a:xfrm>
      </p:grpSpPr>
      <p:sp>
        <p:nvSpPr>
          <p:cNvPr id="2197" name="Google Shape;2197;p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8" name="Google Shape;2198;p1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199" name="Google Shape;2199;p18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9"/>
        <p:cNvGrpSpPr/>
        <p:nvPr/>
      </p:nvGrpSpPr>
      <p:grpSpPr>
        <a:xfrm>
          <a:off x="0" y="0"/>
          <a:ext cx="0" cy="0"/>
          <a:chOff x="0" y="0"/>
          <a:chExt cx="0" cy="0"/>
        </a:xfrm>
      </p:grpSpPr>
      <p:sp>
        <p:nvSpPr>
          <p:cNvPr id="2210" name="Google Shape;2210;p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1" name="Google Shape;2211;p1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212" name="Google Shape;2212;p1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2"/>
        <p:cNvGrpSpPr/>
        <p:nvPr/>
      </p:nvGrpSpPr>
      <p:grpSpPr>
        <a:xfrm>
          <a:off x="0" y="0"/>
          <a:ext cx="0" cy="0"/>
          <a:chOff x="0" y="0"/>
          <a:chExt cx="0" cy="0"/>
        </a:xfrm>
      </p:grpSpPr>
      <p:sp>
        <p:nvSpPr>
          <p:cNvPr id="2223" name="Google Shape;2223;p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4" name="Google Shape;2224;p18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225" name="Google Shape;2225;p18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1"/>
        <p:cNvGrpSpPr/>
        <p:nvPr/>
      </p:nvGrpSpPr>
      <p:grpSpPr>
        <a:xfrm>
          <a:off x="0" y="0"/>
          <a:ext cx="0" cy="0"/>
          <a:chOff x="0" y="0"/>
          <a:chExt cx="0" cy="0"/>
        </a:xfrm>
      </p:grpSpPr>
      <p:sp>
        <p:nvSpPr>
          <p:cNvPr id="2232" name="Google Shape;2232;p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3" name="Google Shape;2233;p1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234" name="Google Shape;2234;p18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3"/>
        <p:cNvGrpSpPr/>
        <p:nvPr/>
      </p:nvGrpSpPr>
      <p:grpSpPr>
        <a:xfrm>
          <a:off x="0" y="0"/>
          <a:ext cx="0" cy="0"/>
          <a:chOff x="0" y="0"/>
          <a:chExt cx="0" cy="0"/>
        </a:xfrm>
      </p:grpSpPr>
      <p:sp>
        <p:nvSpPr>
          <p:cNvPr id="2244" name="Google Shape;2244;p1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5" name="Google Shape;2245;p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3"/>
        <p:cNvGrpSpPr/>
        <p:nvPr/>
      </p:nvGrpSpPr>
      <p:grpSpPr>
        <a:xfrm>
          <a:off x="0" y="0"/>
          <a:ext cx="0" cy="0"/>
          <a:chOff x="0" y="0"/>
          <a:chExt cx="0" cy="0"/>
        </a:xfrm>
      </p:grpSpPr>
      <p:sp>
        <p:nvSpPr>
          <p:cNvPr id="2254" name="Google Shape;2254;p1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5" name="Google Shape;2255;p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3"/>
        <p:cNvGrpSpPr/>
        <p:nvPr/>
      </p:nvGrpSpPr>
      <p:grpSpPr>
        <a:xfrm>
          <a:off x="0" y="0"/>
          <a:ext cx="0" cy="0"/>
          <a:chOff x="0" y="0"/>
          <a:chExt cx="0" cy="0"/>
        </a:xfrm>
      </p:grpSpPr>
      <p:sp>
        <p:nvSpPr>
          <p:cNvPr id="2264" name="Google Shape;2264;p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5" name="Google Shape;2265;p1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Utiliser l'exemple pour montrer l'importance du formatage</a:t>
            </a:r>
            <a:endParaRPr/>
          </a:p>
        </p:txBody>
      </p:sp>
      <p:sp>
        <p:nvSpPr>
          <p:cNvPr id="2266" name="Google Shape;2266;p18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5"/>
        <p:cNvGrpSpPr/>
        <p:nvPr/>
      </p:nvGrpSpPr>
      <p:grpSpPr>
        <a:xfrm>
          <a:off x="0" y="0"/>
          <a:ext cx="0" cy="0"/>
          <a:chOff x="0" y="0"/>
          <a:chExt cx="0" cy="0"/>
        </a:xfrm>
      </p:grpSpPr>
      <p:sp>
        <p:nvSpPr>
          <p:cNvPr id="2276" name="Google Shape;2276;p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7" name="Google Shape;2277;p18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278" name="Google Shape;2278;p18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7"/>
        <p:cNvGrpSpPr/>
        <p:nvPr/>
      </p:nvGrpSpPr>
      <p:grpSpPr>
        <a:xfrm>
          <a:off x="0" y="0"/>
          <a:ext cx="0" cy="0"/>
          <a:chOff x="0" y="0"/>
          <a:chExt cx="0" cy="0"/>
        </a:xfrm>
      </p:grpSpPr>
      <p:sp>
        <p:nvSpPr>
          <p:cNvPr id="2288" name="Google Shape;2288;p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9" name="Google Shape;2289;p19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290" name="Google Shape;2290;p19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9"/>
        <p:cNvGrpSpPr/>
        <p:nvPr/>
      </p:nvGrpSpPr>
      <p:grpSpPr>
        <a:xfrm>
          <a:off x="0" y="0"/>
          <a:ext cx="0" cy="0"/>
          <a:chOff x="0" y="0"/>
          <a:chExt cx="0" cy="0"/>
        </a:xfrm>
      </p:grpSpPr>
      <p:sp>
        <p:nvSpPr>
          <p:cNvPr id="2300" name="Google Shape;2300;p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1" name="Google Shape;2301;p1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Expliquer l'importance du contexte du lien</a:t>
            </a:r>
            <a:endParaRPr/>
          </a:p>
        </p:txBody>
      </p:sp>
      <p:sp>
        <p:nvSpPr>
          <p:cNvPr id="2302" name="Google Shape;2302;p19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1"/>
        <p:cNvGrpSpPr/>
        <p:nvPr/>
      </p:nvGrpSpPr>
      <p:grpSpPr>
        <a:xfrm>
          <a:off x="0" y="0"/>
          <a:ext cx="0" cy="0"/>
          <a:chOff x="0" y="0"/>
          <a:chExt cx="0" cy="0"/>
        </a:xfrm>
      </p:grpSpPr>
      <p:sp>
        <p:nvSpPr>
          <p:cNvPr id="2312" name="Google Shape;2312;p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3" name="Google Shape;2313;p1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314" name="Google Shape;2314;p19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3"/>
        <p:cNvGrpSpPr/>
        <p:nvPr/>
      </p:nvGrpSpPr>
      <p:grpSpPr>
        <a:xfrm>
          <a:off x="0" y="0"/>
          <a:ext cx="0" cy="0"/>
          <a:chOff x="0" y="0"/>
          <a:chExt cx="0" cy="0"/>
        </a:xfrm>
      </p:grpSpPr>
      <p:sp>
        <p:nvSpPr>
          <p:cNvPr id="2324" name="Google Shape;2324;p1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5" name="Google Shape;2325;p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4"/>
        <p:cNvGrpSpPr/>
        <p:nvPr/>
      </p:nvGrpSpPr>
      <p:grpSpPr>
        <a:xfrm>
          <a:off x="0" y="0"/>
          <a:ext cx="0" cy="0"/>
          <a:chOff x="0" y="0"/>
          <a:chExt cx="0" cy="0"/>
        </a:xfrm>
      </p:grpSpPr>
      <p:sp>
        <p:nvSpPr>
          <p:cNvPr id="2335" name="Google Shape;2335;p19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6" name="Google Shape;2336;p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2"/>
        <p:cNvGrpSpPr/>
        <p:nvPr/>
      </p:nvGrpSpPr>
      <p:grpSpPr>
        <a:xfrm>
          <a:off x="0" y="0"/>
          <a:ext cx="0" cy="0"/>
          <a:chOff x="0" y="0"/>
          <a:chExt cx="0" cy="0"/>
        </a:xfrm>
      </p:grpSpPr>
      <p:sp>
        <p:nvSpPr>
          <p:cNvPr id="2343" name="Google Shape;2343;p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4" name="Google Shape;2344;p19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345" name="Google Shape;2345;p19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3"/>
        <p:cNvGrpSpPr/>
        <p:nvPr/>
      </p:nvGrpSpPr>
      <p:grpSpPr>
        <a:xfrm>
          <a:off x="0" y="0"/>
          <a:ext cx="0" cy="0"/>
          <a:chOff x="0" y="0"/>
          <a:chExt cx="0" cy="0"/>
        </a:xfrm>
      </p:grpSpPr>
      <p:sp>
        <p:nvSpPr>
          <p:cNvPr id="2354" name="Google Shape;2354;p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5" name="Google Shape;2355;p19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356" name="Google Shape;2356;p19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6"/>
        <p:cNvGrpSpPr/>
        <p:nvPr/>
      </p:nvGrpSpPr>
      <p:grpSpPr>
        <a:xfrm>
          <a:off x="0" y="0"/>
          <a:ext cx="0" cy="0"/>
          <a:chOff x="0" y="0"/>
          <a:chExt cx="0" cy="0"/>
        </a:xfrm>
      </p:grpSpPr>
      <p:sp>
        <p:nvSpPr>
          <p:cNvPr id="2367" name="Google Shape;2367;p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8" name="Google Shape;2368;p19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369" name="Google Shape;2369;p19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8"/>
        <p:cNvGrpSpPr/>
        <p:nvPr/>
      </p:nvGrpSpPr>
      <p:grpSpPr>
        <a:xfrm>
          <a:off x="0" y="0"/>
          <a:ext cx="0" cy="0"/>
          <a:chOff x="0" y="0"/>
          <a:chExt cx="0" cy="0"/>
        </a:xfrm>
      </p:grpSpPr>
      <p:sp>
        <p:nvSpPr>
          <p:cNvPr id="2379" name="Google Shape;2379;p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0" name="Google Shape;2380;p19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381" name="Google Shape;2381;p19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9"/>
        <p:cNvGrpSpPr/>
        <p:nvPr/>
      </p:nvGrpSpPr>
      <p:grpSpPr>
        <a:xfrm>
          <a:off x="0" y="0"/>
          <a:ext cx="0" cy="0"/>
          <a:chOff x="0" y="0"/>
          <a:chExt cx="0" cy="0"/>
        </a:xfrm>
      </p:grpSpPr>
      <p:sp>
        <p:nvSpPr>
          <p:cNvPr id="2390" name="Google Shape;2390;p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1" name="Google Shape;2391;p19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392" name="Google Shape;2392;p19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0"/>
        <p:cNvGrpSpPr/>
        <p:nvPr/>
      </p:nvGrpSpPr>
      <p:grpSpPr>
        <a:xfrm>
          <a:off x="0" y="0"/>
          <a:ext cx="0" cy="0"/>
          <a:chOff x="0" y="0"/>
          <a:chExt cx="0" cy="0"/>
        </a:xfrm>
      </p:grpSpPr>
      <p:sp>
        <p:nvSpPr>
          <p:cNvPr id="2401" name="Google Shape;2401;p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2" name="Google Shape;2402;p20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403" name="Google Shape;2403;p20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2"/>
        <p:cNvGrpSpPr/>
        <p:nvPr/>
      </p:nvGrpSpPr>
      <p:grpSpPr>
        <a:xfrm>
          <a:off x="0" y="0"/>
          <a:ext cx="0" cy="0"/>
          <a:chOff x="0" y="0"/>
          <a:chExt cx="0" cy="0"/>
        </a:xfrm>
      </p:grpSpPr>
      <p:sp>
        <p:nvSpPr>
          <p:cNvPr id="2413" name="Google Shape;2413;p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4" name="Google Shape;2414;p20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415" name="Google Shape;2415;p20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7"/>
        <p:cNvGrpSpPr/>
        <p:nvPr/>
      </p:nvGrpSpPr>
      <p:grpSpPr>
        <a:xfrm>
          <a:off x="0" y="0"/>
          <a:ext cx="0" cy="0"/>
          <a:chOff x="0" y="0"/>
          <a:chExt cx="0" cy="0"/>
        </a:xfrm>
      </p:grpSpPr>
      <p:sp>
        <p:nvSpPr>
          <p:cNvPr id="2428" name="Google Shape;2428;p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9" name="Google Shape;2429;p20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430" name="Google Shape;2430;p20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1"/>
        <p:cNvGrpSpPr/>
        <p:nvPr/>
      </p:nvGrpSpPr>
      <p:grpSpPr>
        <a:xfrm>
          <a:off x="0" y="0"/>
          <a:ext cx="0" cy="0"/>
          <a:chOff x="0" y="0"/>
          <a:chExt cx="0" cy="0"/>
        </a:xfrm>
      </p:grpSpPr>
      <p:sp>
        <p:nvSpPr>
          <p:cNvPr id="2442" name="Google Shape;2442;p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3" name="Google Shape;2443;p20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444" name="Google Shape;2444;p20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5"/>
        <p:cNvGrpSpPr/>
        <p:nvPr/>
      </p:nvGrpSpPr>
      <p:grpSpPr>
        <a:xfrm>
          <a:off x="0" y="0"/>
          <a:ext cx="0" cy="0"/>
          <a:chOff x="0" y="0"/>
          <a:chExt cx="0" cy="0"/>
        </a:xfrm>
      </p:grpSpPr>
      <p:sp>
        <p:nvSpPr>
          <p:cNvPr id="2456" name="Google Shape;2456;p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7" name="Google Shape;2457;p20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458" name="Google Shape;2458;p20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9"/>
        <p:cNvGrpSpPr/>
        <p:nvPr/>
      </p:nvGrpSpPr>
      <p:grpSpPr>
        <a:xfrm>
          <a:off x="0" y="0"/>
          <a:ext cx="0" cy="0"/>
          <a:chOff x="0" y="0"/>
          <a:chExt cx="0" cy="0"/>
        </a:xfrm>
      </p:grpSpPr>
      <p:sp>
        <p:nvSpPr>
          <p:cNvPr id="2470" name="Google Shape;2470;p2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1" name="Google Shape;2471;p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0"/>
        <p:cNvGrpSpPr/>
        <p:nvPr/>
      </p:nvGrpSpPr>
      <p:grpSpPr>
        <a:xfrm>
          <a:off x="0" y="0"/>
          <a:ext cx="0" cy="0"/>
          <a:chOff x="0" y="0"/>
          <a:chExt cx="0" cy="0"/>
        </a:xfrm>
      </p:grpSpPr>
      <p:sp>
        <p:nvSpPr>
          <p:cNvPr id="2481" name="Google Shape;2481;p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2" name="Google Shape;2482;p20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483" name="Google Shape;2483;p20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0"/>
        <p:cNvGrpSpPr/>
        <p:nvPr/>
      </p:nvGrpSpPr>
      <p:grpSpPr>
        <a:xfrm>
          <a:off x="0" y="0"/>
          <a:ext cx="0" cy="0"/>
          <a:chOff x="0" y="0"/>
          <a:chExt cx="0" cy="0"/>
        </a:xfrm>
      </p:grpSpPr>
      <p:sp>
        <p:nvSpPr>
          <p:cNvPr id="2491" name="Google Shape;2491;p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2" name="Google Shape;2492;p20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493" name="Google Shape;2493;p20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3"/>
        <p:cNvGrpSpPr/>
        <p:nvPr/>
      </p:nvGrpSpPr>
      <p:grpSpPr>
        <a:xfrm>
          <a:off x="0" y="0"/>
          <a:ext cx="0" cy="0"/>
          <a:chOff x="0" y="0"/>
          <a:chExt cx="0" cy="0"/>
        </a:xfrm>
      </p:grpSpPr>
      <p:sp>
        <p:nvSpPr>
          <p:cNvPr id="2504" name="Google Shape;2504;p2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5" name="Google Shape;2505;p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5"/>
        <p:cNvGrpSpPr/>
        <p:nvPr/>
      </p:nvGrpSpPr>
      <p:grpSpPr>
        <a:xfrm>
          <a:off x="0" y="0"/>
          <a:ext cx="0" cy="0"/>
          <a:chOff x="0" y="0"/>
          <a:chExt cx="0" cy="0"/>
        </a:xfrm>
      </p:grpSpPr>
      <p:sp>
        <p:nvSpPr>
          <p:cNvPr id="2516" name="Google Shape;2516;p20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7" name="Google Shape;2517;p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7"/>
        <p:cNvGrpSpPr/>
        <p:nvPr/>
      </p:nvGrpSpPr>
      <p:grpSpPr>
        <a:xfrm>
          <a:off x="0" y="0"/>
          <a:ext cx="0" cy="0"/>
          <a:chOff x="0" y="0"/>
          <a:chExt cx="0" cy="0"/>
        </a:xfrm>
      </p:grpSpPr>
      <p:sp>
        <p:nvSpPr>
          <p:cNvPr id="2528" name="Google Shape;2528;p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9" name="Google Shape;2529;p2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Insister sur l'aspect progressif</a:t>
            </a:r>
            <a:endParaRPr/>
          </a:p>
          <a:p>
            <a:pPr marL="0" lvl="0" indent="0" algn="l" rtl="0">
              <a:spcBef>
                <a:spcPts val="0"/>
              </a:spcBef>
              <a:spcAft>
                <a:spcPts val="0"/>
              </a:spcAft>
              <a:buNone/>
            </a:pPr>
            <a:r>
              <a:rPr lang="fr-FR"/>
              <a:t>Encourager à commencer petit mais à commencer</a:t>
            </a:r>
            <a:endParaRPr/>
          </a:p>
        </p:txBody>
      </p:sp>
      <p:sp>
        <p:nvSpPr>
          <p:cNvPr id="2530" name="Google Shape;2530;p2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9"/>
        <p:cNvGrpSpPr/>
        <p:nvPr/>
      </p:nvGrpSpPr>
      <p:grpSpPr>
        <a:xfrm>
          <a:off x="0" y="0"/>
          <a:ext cx="0" cy="0"/>
          <a:chOff x="0" y="0"/>
          <a:chExt cx="0" cy="0"/>
        </a:xfrm>
      </p:grpSpPr>
      <p:sp>
        <p:nvSpPr>
          <p:cNvPr id="2540" name="Google Shape;2540;p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1" name="Google Shape;2541;p2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2" name="Google Shape;2542;p2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4"/>
        <p:cNvGrpSpPr/>
        <p:nvPr/>
      </p:nvGrpSpPr>
      <p:grpSpPr>
        <a:xfrm>
          <a:off x="0" y="0"/>
          <a:ext cx="0" cy="0"/>
          <a:chOff x="0" y="0"/>
          <a:chExt cx="0" cy="0"/>
        </a:xfrm>
      </p:grpSpPr>
      <p:sp>
        <p:nvSpPr>
          <p:cNvPr id="2555" name="Google Shape;2555;p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6" name="Google Shape;2556;p2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57" name="Google Shape;2557;p2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64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Partie">
  <p:cSld name="Partie">
    <p:spTree>
      <p:nvGrpSpPr>
        <p:cNvPr id="1" name="Shape 24"/>
        <p:cNvGrpSpPr/>
        <p:nvPr/>
      </p:nvGrpSpPr>
      <p:grpSpPr>
        <a:xfrm>
          <a:off x="0" y="0"/>
          <a:ext cx="0" cy="0"/>
          <a:chOff x="0" y="0"/>
          <a:chExt cx="0" cy="0"/>
        </a:xfrm>
      </p:grpSpPr>
      <p:sp>
        <p:nvSpPr>
          <p:cNvPr id="25" name="Google Shape;25;p259"/>
          <p:cNvSpPr txBox="1">
            <a:spLocks noGrp="1"/>
          </p:cNvSpPr>
          <p:nvPr>
            <p:ph type="title"/>
          </p:nvPr>
        </p:nvSpPr>
        <p:spPr>
          <a:xfrm>
            <a:off x="0" y="0"/>
            <a:ext cx="180000" cy="1800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00"/>
              <a:buFont typeface="Arial"/>
              <a:buNone/>
              <a:defRPr sz="1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259"/>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
        <p:nvSpPr>
          <p:cNvPr id="27" name="Google Shape;27;p259"/>
          <p:cNvSpPr txBox="1">
            <a:spLocks noGrp="1"/>
          </p:cNvSpPr>
          <p:nvPr>
            <p:ph type="body" idx="1"/>
          </p:nvPr>
        </p:nvSpPr>
        <p:spPr>
          <a:xfrm>
            <a:off x="360000" y="2346046"/>
            <a:ext cx="8424000" cy="1181646"/>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dk1"/>
              </a:buClr>
              <a:buSzPts val="3250"/>
              <a:buNone/>
              <a:defRPr sz="3250" b="1" cap="none"/>
            </a:lvl1pPr>
            <a:lvl2pPr marL="914400" lvl="1" indent="-228600" algn="l">
              <a:lnSpc>
                <a:spcPct val="100000"/>
              </a:lnSpc>
              <a:spcBef>
                <a:spcPts val="500"/>
              </a:spcBef>
              <a:spcAft>
                <a:spcPts val="0"/>
              </a:spcAft>
              <a:buClr>
                <a:schemeClr val="dk1"/>
              </a:buClr>
              <a:buSzPts val="1850"/>
              <a:buNone/>
              <a:defRPr sz="1850"/>
            </a:lvl2pPr>
            <a:lvl3pPr marL="1371600" lvl="2" indent="-342900" algn="l">
              <a:lnSpc>
                <a:spcPct val="100000"/>
              </a:lnSpc>
              <a:spcBef>
                <a:spcPts val="1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28" name="Google Shape;28;p259"/>
          <p:cNvCxnSpPr/>
          <p:nvPr/>
        </p:nvCxnSpPr>
        <p:spPr>
          <a:xfrm>
            <a:off x="360000" y="4784400"/>
            <a:ext cx="8424000" cy="0"/>
          </a:xfrm>
          <a:prstGeom prst="straightConnector1">
            <a:avLst/>
          </a:prstGeom>
          <a:noFill/>
          <a:ln w="10150" cap="flat" cmpd="sng">
            <a:solidFill>
              <a:schemeClr val="dk1"/>
            </a:solidFill>
            <a:prstDash val="solid"/>
            <a:round/>
            <a:headEnd type="none" w="sm" len="sm"/>
            <a:tailEnd type="none" w="sm" len="sm"/>
          </a:ln>
        </p:spPr>
      </p:cxnSp>
      <p:pic>
        <p:nvPicPr>
          <p:cNvPr id="29" name="Google Shape;29;p259"/>
          <p:cNvPicPr preferRelativeResize="0"/>
          <p:nvPr/>
        </p:nvPicPr>
        <p:blipFill rotWithShape="1">
          <a:blip r:embed="rId2">
            <a:alphaModFix/>
          </a:blip>
          <a:srcRect/>
          <a:stretch/>
        </p:blipFill>
        <p:spPr>
          <a:xfrm>
            <a:off x="159171" y="159582"/>
            <a:ext cx="1607283" cy="1456227"/>
          </a:xfrm>
          <a:prstGeom prst="rect">
            <a:avLst/>
          </a:prstGeom>
          <a:noFill/>
          <a:ln>
            <a:noFill/>
          </a:ln>
        </p:spPr>
      </p:pic>
      <p:pic>
        <p:nvPicPr>
          <p:cNvPr id="30" name="Google Shape;30;p259"/>
          <p:cNvPicPr preferRelativeResize="0"/>
          <p:nvPr/>
        </p:nvPicPr>
        <p:blipFill rotWithShape="1">
          <a:blip r:embed="rId3">
            <a:alphaModFix/>
          </a:blip>
          <a:srcRect/>
          <a:stretch/>
        </p:blipFill>
        <p:spPr>
          <a:xfrm>
            <a:off x="7653370" y="349250"/>
            <a:ext cx="1098689" cy="1098689"/>
          </a:xfrm>
          <a:prstGeom prst="rect">
            <a:avLst/>
          </a:prstGeom>
          <a:noFill/>
          <a:ln>
            <a:noFill/>
          </a:ln>
        </p:spPr>
      </p:pic>
      <p:sp>
        <p:nvSpPr>
          <p:cNvPr id="31" name="Google Shape;31;p259"/>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59"/>
          <p:cNvSpPr txBox="1">
            <a:spLocks noGrp="1"/>
          </p:cNvSpPr>
          <p:nvPr>
            <p:ph type="body" idx="2"/>
          </p:nvPr>
        </p:nvSpPr>
        <p:spPr>
          <a:xfrm>
            <a:off x="360363" y="3579861"/>
            <a:ext cx="8423275" cy="10080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rgbClr val="595959"/>
              </a:buClr>
              <a:buSzPts val="1100"/>
              <a:buNone/>
              <a:defRPr sz="1100" b="1">
                <a:solidFill>
                  <a:srgbClr val="595959"/>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u 3 cases non hierarchisé">
  <p:cSld name="Contenu 3 cases non hierarchisé">
    <p:spTree>
      <p:nvGrpSpPr>
        <p:cNvPr id="1" name="Shape 36"/>
        <p:cNvGrpSpPr/>
        <p:nvPr/>
      </p:nvGrpSpPr>
      <p:grpSpPr>
        <a:xfrm>
          <a:off x="0" y="0"/>
          <a:ext cx="0" cy="0"/>
          <a:chOff x="0" y="0"/>
          <a:chExt cx="0" cy="0"/>
        </a:xfrm>
      </p:grpSpPr>
      <p:sp>
        <p:nvSpPr>
          <p:cNvPr id="37" name="Google Shape;37;p261"/>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61"/>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
        <p:nvSpPr>
          <p:cNvPr id="39" name="Google Shape;39;p261"/>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dk1"/>
              </a:buClr>
              <a:buSzPts val="750"/>
              <a:buFont typeface="Arial"/>
              <a:buNone/>
              <a:defRPr sz="750" b="1"/>
            </a:lvl1pPr>
            <a:lvl2pPr marL="914400" lvl="1" indent="-228600" algn="r">
              <a:lnSpc>
                <a:spcPct val="100000"/>
              </a:lnSpc>
              <a:spcBef>
                <a:spcPts val="0"/>
              </a:spcBef>
              <a:spcAft>
                <a:spcPts val="0"/>
              </a:spcAft>
              <a:buClr>
                <a:schemeClr val="dk1"/>
              </a:buClr>
              <a:buSzPts val="750"/>
              <a:buFont typeface="Arial"/>
              <a:buNone/>
              <a:defRPr sz="750"/>
            </a:lvl2pPr>
            <a:lvl3pPr marL="1371600" lvl="2" indent="-342900" algn="l">
              <a:lnSpc>
                <a:spcPct val="100000"/>
              </a:lnSpc>
              <a:spcBef>
                <a:spcPts val="1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 name="Google Shape;40;p261"/>
          <p:cNvSpPr txBox="1">
            <a:spLocks noGrp="1"/>
          </p:cNvSpPr>
          <p:nvPr>
            <p:ph type="body" idx="2"/>
          </p:nvPr>
        </p:nvSpPr>
        <p:spPr>
          <a:xfrm>
            <a:off x="359999" y="1836000"/>
            <a:ext cx="2520000" cy="2574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050"/>
              <a:buNone/>
              <a:defRPr/>
            </a:lvl1pPr>
            <a:lvl2pPr marL="914400" lvl="1" indent="-288925" algn="l">
              <a:lnSpc>
                <a:spcPct val="100000"/>
              </a:lnSpc>
              <a:spcBef>
                <a:spcPts val="600"/>
              </a:spcBef>
              <a:spcAft>
                <a:spcPts val="0"/>
              </a:spcAft>
              <a:buClr>
                <a:schemeClr val="dk1"/>
              </a:buClr>
              <a:buSzPts val="950"/>
              <a:buChar char="•"/>
              <a:defRPr/>
            </a:lvl2pPr>
            <a:lvl3pPr marL="1371600" lvl="2" indent="-282575" algn="l">
              <a:lnSpc>
                <a:spcPct val="100000"/>
              </a:lnSpc>
              <a:spcBef>
                <a:spcPts val="600"/>
              </a:spcBef>
              <a:spcAft>
                <a:spcPts val="0"/>
              </a:spcAft>
              <a:buClr>
                <a:schemeClr val="dk1"/>
              </a:buClr>
              <a:buSzPts val="850"/>
              <a:buChar char="•"/>
              <a:defRPr/>
            </a:lvl3pPr>
            <a:lvl4pPr marL="1828800" lvl="3" indent="-276225" algn="l">
              <a:lnSpc>
                <a:spcPct val="100000"/>
              </a:lnSpc>
              <a:spcBef>
                <a:spcPts val="100"/>
              </a:spcBef>
              <a:spcAft>
                <a:spcPts val="0"/>
              </a:spcAft>
              <a:buClr>
                <a:schemeClr val="dk1"/>
              </a:buClr>
              <a:buSzPts val="750"/>
              <a:buChar char="•"/>
              <a:defRPr/>
            </a:lvl4pPr>
            <a:lvl5pPr marL="2286000" lvl="4" indent="-273050" algn="l">
              <a:lnSpc>
                <a:spcPct val="100000"/>
              </a:lnSpc>
              <a:spcBef>
                <a:spcPts val="100"/>
              </a:spcBef>
              <a:spcAft>
                <a:spcPts val="0"/>
              </a:spcAft>
              <a:buClr>
                <a:schemeClr val="dk1"/>
              </a:buClr>
              <a:buSzPts val="7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 name="Google Shape;41;p261"/>
          <p:cNvSpPr txBox="1">
            <a:spLocks noGrp="1"/>
          </p:cNvSpPr>
          <p:nvPr>
            <p:ph type="body" idx="3"/>
          </p:nvPr>
        </p:nvSpPr>
        <p:spPr>
          <a:xfrm>
            <a:off x="3312000" y="1836000"/>
            <a:ext cx="2520000" cy="2574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050"/>
              <a:buNone/>
              <a:defRPr/>
            </a:lvl1pPr>
            <a:lvl2pPr marL="914400" lvl="1" indent="-288925" algn="l">
              <a:lnSpc>
                <a:spcPct val="100000"/>
              </a:lnSpc>
              <a:spcBef>
                <a:spcPts val="600"/>
              </a:spcBef>
              <a:spcAft>
                <a:spcPts val="0"/>
              </a:spcAft>
              <a:buClr>
                <a:schemeClr val="dk1"/>
              </a:buClr>
              <a:buSzPts val="950"/>
              <a:buChar char="•"/>
              <a:defRPr/>
            </a:lvl2pPr>
            <a:lvl3pPr marL="1371600" lvl="2" indent="-282575" algn="l">
              <a:lnSpc>
                <a:spcPct val="100000"/>
              </a:lnSpc>
              <a:spcBef>
                <a:spcPts val="600"/>
              </a:spcBef>
              <a:spcAft>
                <a:spcPts val="0"/>
              </a:spcAft>
              <a:buClr>
                <a:schemeClr val="dk1"/>
              </a:buClr>
              <a:buSzPts val="850"/>
              <a:buChar char="•"/>
              <a:defRPr/>
            </a:lvl3pPr>
            <a:lvl4pPr marL="1828800" lvl="3" indent="-276225" algn="l">
              <a:lnSpc>
                <a:spcPct val="100000"/>
              </a:lnSpc>
              <a:spcBef>
                <a:spcPts val="100"/>
              </a:spcBef>
              <a:spcAft>
                <a:spcPts val="0"/>
              </a:spcAft>
              <a:buClr>
                <a:schemeClr val="dk1"/>
              </a:buClr>
              <a:buSzPts val="750"/>
              <a:buChar char="•"/>
              <a:defRPr/>
            </a:lvl4pPr>
            <a:lvl5pPr marL="2286000" lvl="4" indent="-273050" algn="l">
              <a:lnSpc>
                <a:spcPct val="100000"/>
              </a:lnSpc>
              <a:spcBef>
                <a:spcPts val="100"/>
              </a:spcBef>
              <a:spcAft>
                <a:spcPts val="0"/>
              </a:spcAft>
              <a:buClr>
                <a:schemeClr val="dk1"/>
              </a:buClr>
              <a:buSzPts val="7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2" name="Google Shape;42;p261"/>
          <p:cNvSpPr txBox="1">
            <a:spLocks noGrp="1"/>
          </p:cNvSpPr>
          <p:nvPr>
            <p:ph type="body" idx="4"/>
          </p:nvPr>
        </p:nvSpPr>
        <p:spPr>
          <a:xfrm>
            <a:off x="6264000" y="1836000"/>
            <a:ext cx="2520000" cy="2574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050"/>
              <a:buNone/>
              <a:defRPr/>
            </a:lvl1pPr>
            <a:lvl2pPr marL="914400" lvl="1" indent="-288925" algn="l">
              <a:lnSpc>
                <a:spcPct val="100000"/>
              </a:lnSpc>
              <a:spcBef>
                <a:spcPts val="600"/>
              </a:spcBef>
              <a:spcAft>
                <a:spcPts val="0"/>
              </a:spcAft>
              <a:buClr>
                <a:schemeClr val="dk1"/>
              </a:buClr>
              <a:buSzPts val="950"/>
              <a:buChar char="•"/>
              <a:defRPr/>
            </a:lvl2pPr>
            <a:lvl3pPr marL="1371600" lvl="2" indent="-282575" algn="l">
              <a:lnSpc>
                <a:spcPct val="100000"/>
              </a:lnSpc>
              <a:spcBef>
                <a:spcPts val="600"/>
              </a:spcBef>
              <a:spcAft>
                <a:spcPts val="0"/>
              </a:spcAft>
              <a:buClr>
                <a:schemeClr val="dk1"/>
              </a:buClr>
              <a:buSzPts val="850"/>
              <a:buChar char="•"/>
              <a:defRPr/>
            </a:lvl3pPr>
            <a:lvl4pPr marL="1828800" lvl="3" indent="-276225" algn="l">
              <a:lnSpc>
                <a:spcPct val="100000"/>
              </a:lnSpc>
              <a:spcBef>
                <a:spcPts val="100"/>
              </a:spcBef>
              <a:spcAft>
                <a:spcPts val="0"/>
              </a:spcAft>
              <a:buClr>
                <a:schemeClr val="dk1"/>
              </a:buClr>
              <a:buSzPts val="750"/>
              <a:buChar char="•"/>
              <a:defRPr/>
            </a:lvl4pPr>
            <a:lvl5pPr marL="2286000" lvl="4" indent="-273050" algn="l">
              <a:lnSpc>
                <a:spcPct val="100000"/>
              </a:lnSpc>
              <a:spcBef>
                <a:spcPts val="100"/>
              </a:spcBef>
              <a:spcAft>
                <a:spcPts val="0"/>
              </a:spcAft>
              <a:buClr>
                <a:schemeClr val="dk1"/>
              </a:buClr>
              <a:buSzPts val="7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3" name="Google Shape;43;p261"/>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261"/>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rgbClr val="595959"/>
              </a:buClr>
              <a:buSzPts val="1100"/>
              <a:buNone/>
              <a:defRPr sz="1100" b="1">
                <a:solidFill>
                  <a:srgbClr val="595959"/>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u 2 cases non hierarchisé">
  <p:cSld name="Contenu 2 cases non hierarchisé">
    <p:spTree>
      <p:nvGrpSpPr>
        <p:cNvPr id="1" name="Shape 45"/>
        <p:cNvGrpSpPr/>
        <p:nvPr/>
      </p:nvGrpSpPr>
      <p:grpSpPr>
        <a:xfrm>
          <a:off x="0" y="0"/>
          <a:ext cx="0" cy="0"/>
          <a:chOff x="0" y="0"/>
          <a:chExt cx="0" cy="0"/>
        </a:xfrm>
      </p:grpSpPr>
      <p:sp>
        <p:nvSpPr>
          <p:cNvPr id="46" name="Google Shape;46;p262"/>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62"/>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
        <p:nvSpPr>
          <p:cNvPr id="48" name="Google Shape;48;p262"/>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dk1"/>
              </a:buClr>
              <a:buSzPts val="750"/>
              <a:buFont typeface="Arial"/>
              <a:buNone/>
              <a:defRPr sz="750" b="1"/>
            </a:lvl1pPr>
            <a:lvl2pPr marL="914400" lvl="1" indent="-228600" algn="r">
              <a:lnSpc>
                <a:spcPct val="100000"/>
              </a:lnSpc>
              <a:spcBef>
                <a:spcPts val="0"/>
              </a:spcBef>
              <a:spcAft>
                <a:spcPts val="0"/>
              </a:spcAft>
              <a:buClr>
                <a:schemeClr val="dk1"/>
              </a:buClr>
              <a:buSzPts val="750"/>
              <a:buFont typeface="Arial"/>
              <a:buNone/>
              <a:defRPr sz="750"/>
            </a:lvl2pPr>
            <a:lvl3pPr marL="1371600" lvl="2" indent="-342900" algn="l">
              <a:lnSpc>
                <a:spcPct val="100000"/>
              </a:lnSpc>
              <a:spcBef>
                <a:spcPts val="1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9" name="Google Shape;49;p262"/>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050"/>
              <a:buNone/>
              <a:defRPr/>
            </a:lvl1pPr>
            <a:lvl2pPr marL="914400" lvl="1" indent="-288925" algn="l">
              <a:lnSpc>
                <a:spcPct val="100000"/>
              </a:lnSpc>
              <a:spcBef>
                <a:spcPts val="600"/>
              </a:spcBef>
              <a:spcAft>
                <a:spcPts val="0"/>
              </a:spcAft>
              <a:buClr>
                <a:schemeClr val="dk1"/>
              </a:buClr>
              <a:buSzPts val="950"/>
              <a:buChar char="•"/>
              <a:defRPr/>
            </a:lvl2pPr>
            <a:lvl3pPr marL="1371600" lvl="2" indent="-282575" algn="l">
              <a:lnSpc>
                <a:spcPct val="100000"/>
              </a:lnSpc>
              <a:spcBef>
                <a:spcPts val="600"/>
              </a:spcBef>
              <a:spcAft>
                <a:spcPts val="0"/>
              </a:spcAft>
              <a:buClr>
                <a:schemeClr val="dk1"/>
              </a:buClr>
              <a:buSzPts val="850"/>
              <a:buChar char="•"/>
              <a:defRPr/>
            </a:lvl3pPr>
            <a:lvl4pPr marL="1828800" lvl="3" indent="-276225" algn="l">
              <a:lnSpc>
                <a:spcPct val="100000"/>
              </a:lnSpc>
              <a:spcBef>
                <a:spcPts val="100"/>
              </a:spcBef>
              <a:spcAft>
                <a:spcPts val="0"/>
              </a:spcAft>
              <a:buClr>
                <a:schemeClr val="dk1"/>
              </a:buClr>
              <a:buSzPts val="750"/>
              <a:buChar char="•"/>
              <a:defRPr/>
            </a:lvl4pPr>
            <a:lvl5pPr marL="2286000" lvl="4" indent="-273050" algn="l">
              <a:lnSpc>
                <a:spcPct val="100000"/>
              </a:lnSpc>
              <a:spcBef>
                <a:spcPts val="100"/>
              </a:spcBef>
              <a:spcAft>
                <a:spcPts val="0"/>
              </a:spcAft>
              <a:buClr>
                <a:schemeClr val="dk1"/>
              </a:buClr>
              <a:buSzPts val="7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0" name="Google Shape;50;p262"/>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050"/>
              <a:buNone/>
              <a:defRPr/>
            </a:lvl1pPr>
            <a:lvl2pPr marL="914400" lvl="1" indent="-288925" algn="l">
              <a:lnSpc>
                <a:spcPct val="100000"/>
              </a:lnSpc>
              <a:spcBef>
                <a:spcPts val="600"/>
              </a:spcBef>
              <a:spcAft>
                <a:spcPts val="0"/>
              </a:spcAft>
              <a:buClr>
                <a:schemeClr val="dk1"/>
              </a:buClr>
              <a:buSzPts val="950"/>
              <a:buChar char="•"/>
              <a:defRPr/>
            </a:lvl2pPr>
            <a:lvl3pPr marL="1371600" lvl="2" indent="-282575" algn="l">
              <a:lnSpc>
                <a:spcPct val="100000"/>
              </a:lnSpc>
              <a:spcBef>
                <a:spcPts val="600"/>
              </a:spcBef>
              <a:spcAft>
                <a:spcPts val="0"/>
              </a:spcAft>
              <a:buClr>
                <a:schemeClr val="dk1"/>
              </a:buClr>
              <a:buSzPts val="850"/>
              <a:buChar char="•"/>
              <a:defRPr/>
            </a:lvl3pPr>
            <a:lvl4pPr marL="1828800" lvl="3" indent="-276225" algn="l">
              <a:lnSpc>
                <a:spcPct val="100000"/>
              </a:lnSpc>
              <a:spcBef>
                <a:spcPts val="100"/>
              </a:spcBef>
              <a:spcAft>
                <a:spcPts val="0"/>
              </a:spcAft>
              <a:buClr>
                <a:schemeClr val="dk1"/>
              </a:buClr>
              <a:buSzPts val="750"/>
              <a:buChar char="•"/>
              <a:defRPr/>
            </a:lvl4pPr>
            <a:lvl5pPr marL="2286000" lvl="4" indent="-273050" algn="l">
              <a:lnSpc>
                <a:spcPct val="100000"/>
              </a:lnSpc>
              <a:spcBef>
                <a:spcPts val="100"/>
              </a:spcBef>
              <a:spcAft>
                <a:spcPts val="0"/>
              </a:spcAft>
              <a:buClr>
                <a:schemeClr val="dk1"/>
              </a:buClr>
              <a:buSzPts val="7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1" name="Google Shape;51;p262"/>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62"/>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rgbClr val="595959"/>
              </a:buClr>
              <a:buSzPts val="1100"/>
              <a:buNone/>
              <a:defRPr sz="1100" b="1">
                <a:solidFill>
                  <a:srgbClr val="595959"/>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u simple">
  <p:cSld name="Contenu simple">
    <p:spTree>
      <p:nvGrpSpPr>
        <p:cNvPr id="1" name="Shape 53"/>
        <p:cNvGrpSpPr/>
        <p:nvPr/>
      </p:nvGrpSpPr>
      <p:grpSpPr>
        <a:xfrm>
          <a:off x="0" y="0"/>
          <a:ext cx="0" cy="0"/>
          <a:chOff x="0" y="0"/>
          <a:chExt cx="0" cy="0"/>
        </a:xfrm>
      </p:grpSpPr>
      <p:sp>
        <p:nvSpPr>
          <p:cNvPr id="54" name="Google Shape;54;p263"/>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63"/>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
        <p:nvSpPr>
          <p:cNvPr id="56" name="Google Shape;56;p263"/>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dk1"/>
              </a:buClr>
              <a:buSzPts val="750"/>
              <a:buFont typeface="Arial"/>
              <a:buNone/>
              <a:defRPr sz="750" b="1"/>
            </a:lvl1pPr>
            <a:lvl2pPr marL="914400" lvl="1" indent="-228600" algn="r">
              <a:lnSpc>
                <a:spcPct val="100000"/>
              </a:lnSpc>
              <a:spcBef>
                <a:spcPts val="0"/>
              </a:spcBef>
              <a:spcAft>
                <a:spcPts val="0"/>
              </a:spcAft>
              <a:buClr>
                <a:schemeClr val="dk1"/>
              </a:buClr>
              <a:buSzPts val="750"/>
              <a:buFont typeface="Arial"/>
              <a:buNone/>
              <a:defRPr sz="750"/>
            </a:lvl2pPr>
            <a:lvl3pPr marL="1371600" lvl="2" indent="-342900" algn="l">
              <a:lnSpc>
                <a:spcPct val="100000"/>
              </a:lnSpc>
              <a:spcBef>
                <a:spcPts val="1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7" name="Google Shape;57;p263"/>
          <p:cNvSpPr txBox="1">
            <a:spLocks noGrp="1"/>
          </p:cNvSpPr>
          <p:nvPr>
            <p:ph type="body" idx="2"/>
          </p:nvPr>
        </p:nvSpPr>
        <p:spPr>
          <a:xfrm>
            <a:off x="359998" y="1836000"/>
            <a:ext cx="8423275" cy="267996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050"/>
              <a:buNone/>
              <a:defRPr/>
            </a:lvl1pPr>
            <a:lvl2pPr marL="914400" lvl="1" indent="-288925" algn="l">
              <a:lnSpc>
                <a:spcPct val="100000"/>
              </a:lnSpc>
              <a:spcBef>
                <a:spcPts val="600"/>
              </a:spcBef>
              <a:spcAft>
                <a:spcPts val="0"/>
              </a:spcAft>
              <a:buClr>
                <a:schemeClr val="dk1"/>
              </a:buClr>
              <a:buSzPts val="950"/>
              <a:buChar char="•"/>
              <a:defRPr/>
            </a:lvl2pPr>
            <a:lvl3pPr marL="1371600" lvl="2" indent="-282575" algn="l">
              <a:lnSpc>
                <a:spcPct val="100000"/>
              </a:lnSpc>
              <a:spcBef>
                <a:spcPts val="600"/>
              </a:spcBef>
              <a:spcAft>
                <a:spcPts val="0"/>
              </a:spcAft>
              <a:buClr>
                <a:schemeClr val="dk1"/>
              </a:buClr>
              <a:buSzPts val="850"/>
              <a:buChar char="•"/>
              <a:defRPr/>
            </a:lvl3pPr>
            <a:lvl4pPr marL="1828800" lvl="3" indent="-276225" algn="l">
              <a:lnSpc>
                <a:spcPct val="100000"/>
              </a:lnSpc>
              <a:spcBef>
                <a:spcPts val="100"/>
              </a:spcBef>
              <a:spcAft>
                <a:spcPts val="0"/>
              </a:spcAft>
              <a:buClr>
                <a:schemeClr val="dk1"/>
              </a:buClr>
              <a:buSzPts val="750"/>
              <a:buChar char="•"/>
              <a:defRPr/>
            </a:lvl4pPr>
            <a:lvl5pPr marL="2286000" lvl="4" indent="-273050" algn="l">
              <a:lnSpc>
                <a:spcPct val="100000"/>
              </a:lnSpc>
              <a:spcBef>
                <a:spcPts val="100"/>
              </a:spcBef>
              <a:spcAft>
                <a:spcPts val="0"/>
              </a:spcAft>
              <a:buClr>
                <a:schemeClr val="dk1"/>
              </a:buClr>
              <a:buSzPts val="7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8" name="Google Shape;58;p263"/>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263"/>
          <p:cNvSpPr txBox="1">
            <a:spLocks noGrp="1"/>
          </p:cNvSpPr>
          <p:nvPr>
            <p:ph type="body" idx="3"/>
          </p:nvPr>
        </p:nvSpPr>
        <p:spPr>
          <a:xfrm>
            <a:off x="360363" y="1419225"/>
            <a:ext cx="8423275" cy="2889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rgbClr val="595959"/>
              </a:buClr>
              <a:buSzPts val="1100"/>
              <a:buNone/>
              <a:defRPr sz="1100" b="1">
                <a:solidFill>
                  <a:srgbClr val="595959"/>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u 3 cases hierarchisé">
  <p:cSld name="Contenu 3 cases hierarchisé">
    <p:spTree>
      <p:nvGrpSpPr>
        <p:cNvPr id="1" name="Shape 84"/>
        <p:cNvGrpSpPr/>
        <p:nvPr/>
      </p:nvGrpSpPr>
      <p:grpSpPr>
        <a:xfrm>
          <a:off x="0" y="0"/>
          <a:ext cx="0" cy="0"/>
          <a:chOff x="0" y="0"/>
          <a:chExt cx="0" cy="0"/>
        </a:xfrm>
      </p:grpSpPr>
      <p:sp>
        <p:nvSpPr>
          <p:cNvPr id="85" name="Google Shape;85;p267"/>
          <p:cNvSpPr txBox="1">
            <a:spLocks noGrp="1"/>
          </p:cNvSpPr>
          <p:nvPr>
            <p:ph type="body" idx="1"/>
          </p:nvPr>
        </p:nvSpPr>
        <p:spPr>
          <a:xfrm>
            <a:off x="359998" y="1836000"/>
            <a:ext cx="2520000" cy="2574000"/>
          </a:xfrm>
          <a:prstGeom prst="rect">
            <a:avLst/>
          </a:prstGeom>
          <a:noFill/>
          <a:ln>
            <a:noFill/>
          </a:ln>
        </p:spPr>
        <p:txBody>
          <a:bodyPr spcFirstLastPara="1" wrap="square" lIns="0" tIns="0" rIns="0" bIns="0" anchor="t" anchorCtr="0">
            <a:noAutofit/>
          </a:bodyPr>
          <a:lstStyle>
            <a:lvl1pPr marL="457200" lvl="0" indent="-295275" algn="l">
              <a:lnSpc>
                <a:spcPct val="100000"/>
              </a:lnSpc>
              <a:spcBef>
                <a:spcPts val="400"/>
              </a:spcBef>
              <a:spcAft>
                <a:spcPts val="0"/>
              </a:spcAft>
              <a:buClr>
                <a:schemeClr val="dk1"/>
              </a:buClr>
              <a:buSzPts val="1050"/>
              <a:buFont typeface="Arial"/>
              <a:buAutoNum type="arabicPeriod"/>
              <a:defRPr b="1"/>
            </a:lvl1pPr>
            <a:lvl2pPr marL="914400" lvl="1" indent="-288925" algn="l">
              <a:lnSpc>
                <a:spcPct val="100000"/>
              </a:lnSpc>
              <a:spcBef>
                <a:spcPts val="800"/>
              </a:spcBef>
              <a:spcAft>
                <a:spcPts val="0"/>
              </a:spcAft>
              <a:buClr>
                <a:schemeClr val="dk1"/>
              </a:buClr>
              <a:buSzPts val="950"/>
              <a:buFont typeface="Arial"/>
              <a:buAutoNum type="alphaLcPeriod"/>
              <a:defRPr/>
            </a:lvl2pPr>
            <a:lvl3pPr marL="1371600" lvl="2" indent="-342900" algn="l">
              <a:lnSpc>
                <a:spcPct val="100000"/>
              </a:lnSpc>
              <a:spcBef>
                <a:spcPts val="8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267"/>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67"/>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
        <p:nvSpPr>
          <p:cNvPr id="88" name="Google Shape;88;p267"/>
          <p:cNvSpPr txBox="1">
            <a:spLocks noGrp="1"/>
          </p:cNvSpPr>
          <p:nvPr>
            <p:ph type="body" idx="2"/>
          </p:nvPr>
        </p:nvSpPr>
        <p:spPr>
          <a:xfrm>
            <a:off x="3312000" y="1836000"/>
            <a:ext cx="2520000" cy="2574000"/>
          </a:xfrm>
          <a:prstGeom prst="rect">
            <a:avLst/>
          </a:prstGeom>
          <a:noFill/>
          <a:ln>
            <a:noFill/>
          </a:ln>
        </p:spPr>
        <p:txBody>
          <a:bodyPr spcFirstLastPara="1" wrap="square" lIns="0" tIns="0" rIns="0" bIns="0" anchor="t" anchorCtr="0">
            <a:noAutofit/>
          </a:bodyPr>
          <a:lstStyle>
            <a:lvl1pPr marL="457200" lvl="0" indent="-295275" algn="l">
              <a:lnSpc>
                <a:spcPct val="100000"/>
              </a:lnSpc>
              <a:spcBef>
                <a:spcPts val="400"/>
              </a:spcBef>
              <a:spcAft>
                <a:spcPts val="0"/>
              </a:spcAft>
              <a:buClr>
                <a:schemeClr val="dk1"/>
              </a:buClr>
              <a:buSzPts val="1050"/>
              <a:buFont typeface="Arial"/>
              <a:buAutoNum type="arabicPeriod"/>
              <a:defRPr b="1"/>
            </a:lvl1pPr>
            <a:lvl2pPr marL="914400" lvl="1" indent="-288925" algn="l">
              <a:lnSpc>
                <a:spcPct val="100000"/>
              </a:lnSpc>
              <a:spcBef>
                <a:spcPts val="800"/>
              </a:spcBef>
              <a:spcAft>
                <a:spcPts val="0"/>
              </a:spcAft>
              <a:buClr>
                <a:schemeClr val="dk1"/>
              </a:buClr>
              <a:buSzPts val="950"/>
              <a:buFont typeface="Arial"/>
              <a:buAutoNum type="alphaLcPeriod"/>
              <a:defRPr/>
            </a:lvl2pPr>
            <a:lvl3pPr marL="1371600" lvl="2" indent="-342900" algn="l">
              <a:lnSpc>
                <a:spcPct val="100000"/>
              </a:lnSpc>
              <a:spcBef>
                <a:spcPts val="8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9" name="Google Shape;89;p267"/>
          <p:cNvSpPr txBox="1">
            <a:spLocks noGrp="1"/>
          </p:cNvSpPr>
          <p:nvPr>
            <p:ph type="body" idx="3"/>
          </p:nvPr>
        </p:nvSpPr>
        <p:spPr>
          <a:xfrm>
            <a:off x="6263999" y="1836000"/>
            <a:ext cx="2520000" cy="2574000"/>
          </a:xfrm>
          <a:prstGeom prst="rect">
            <a:avLst/>
          </a:prstGeom>
          <a:noFill/>
          <a:ln>
            <a:noFill/>
          </a:ln>
        </p:spPr>
        <p:txBody>
          <a:bodyPr spcFirstLastPara="1" wrap="square" lIns="0" tIns="0" rIns="0" bIns="0" anchor="t" anchorCtr="0">
            <a:noAutofit/>
          </a:bodyPr>
          <a:lstStyle>
            <a:lvl1pPr marL="457200" lvl="0" indent="-295275" algn="l">
              <a:lnSpc>
                <a:spcPct val="100000"/>
              </a:lnSpc>
              <a:spcBef>
                <a:spcPts val="400"/>
              </a:spcBef>
              <a:spcAft>
                <a:spcPts val="0"/>
              </a:spcAft>
              <a:buClr>
                <a:schemeClr val="dk1"/>
              </a:buClr>
              <a:buSzPts val="1050"/>
              <a:buFont typeface="Arial"/>
              <a:buAutoNum type="arabicPeriod"/>
              <a:defRPr b="1"/>
            </a:lvl1pPr>
            <a:lvl2pPr marL="914400" lvl="1" indent="-288925" algn="l">
              <a:lnSpc>
                <a:spcPct val="100000"/>
              </a:lnSpc>
              <a:spcBef>
                <a:spcPts val="800"/>
              </a:spcBef>
              <a:spcAft>
                <a:spcPts val="0"/>
              </a:spcAft>
              <a:buClr>
                <a:schemeClr val="dk1"/>
              </a:buClr>
              <a:buSzPts val="950"/>
              <a:buFont typeface="Arial"/>
              <a:buAutoNum type="alphaLcPeriod"/>
              <a:defRPr/>
            </a:lvl2pPr>
            <a:lvl3pPr marL="1371600" lvl="2" indent="-342900" algn="l">
              <a:lnSpc>
                <a:spcPct val="100000"/>
              </a:lnSpc>
              <a:spcBef>
                <a:spcPts val="8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0" name="Google Shape;90;p267"/>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267"/>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rgbClr val="595959"/>
              </a:buClr>
              <a:buSzPts val="1100"/>
              <a:buNone/>
              <a:defRPr sz="1100" b="1">
                <a:solidFill>
                  <a:srgbClr val="595959"/>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2" name="Google Shape;92;p267"/>
          <p:cNvSpPr txBox="1">
            <a:spLocks noGrp="1"/>
          </p:cNvSpPr>
          <p:nvPr>
            <p:ph type="body" idx="5"/>
          </p:nvPr>
        </p:nvSpPr>
        <p:spPr>
          <a:xfrm>
            <a:off x="3312000" y="180000"/>
            <a:ext cx="5472000" cy="3600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dk1"/>
              </a:buClr>
              <a:buSzPts val="750"/>
              <a:buFont typeface="Arial"/>
              <a:buNone/>
              <a:defRPr sz="750" b="1"/>
            </a:lvl1pPr>
            <a:lvl2pPr marL="914400" lvl="1" indent="-228600" algn="r">
              <a:lnSpc>
                <a:spcPct val="100000"/>
              </a:lnSpc>
              <a:spcBef>
                <a:spcPts val="0"/>
              </a:spcBef>
              <a:spcAft>
                <a:spcPts val="0"/>
              </a:spcAft>
              <a:buClr>
                <a:schemeClr val="dk1"/>
              </a:buClr>
              <a:buSzPts val="750"/>
              <a:buFont typeface="Arial"/>
              <a:buNone/>
              <a:defRPr sz="750"/>
            </a:lvl2pPr>
            <a:lvl3pPr marL="1371600" lvl="2" indent="-342900" algn="l">
              <a:lnSpc>
                <a:spcPct val="100000"/>
              </a:lnSpc>
              <a:spcBef>
                <a:spcPts val="1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hapitre">
  <p:cSld name="Chapitre">
    <p:spTree>
      <p:nvGrpSpPr>
        <p:cNvPr id="1" name="Shape 93"/>
        <p:cNvGrpSpPr/>
        <p:nvPr/>
      </p:nvGrpSpPr>
      <p:grpSpPr>
        <a:xfrm>
          <a:off x="0" y="0"/>
          <a:ext cx="0" cy="0"/>
          <a:chOff x="0" y="0"/>
          <a:chExt cx="0" cy="0"/>
        </a:xfrm>
      </p:grpSpPr>
      <p:sp>
        <p:nvSpPr>
          <p:cNvPr id="94" name="Google Shape;94;p268"/>
          <p:cNvSpPr>
            <a:spLocks noGrp="1"/>
          </p:cNvSpPr>
          <p:nvPr>
            <p:ph type="pic" idx="2"/>
          </p:nvPr>
        </p:nvSpPr>
        <p:spPr>
          <a:xfrm>
            <a:off x="0" y="738000"/>
            <a:ext cx="9144000" cy="4406400"/>
          </a:xfrm>
          <a:prstGeom prst="rect">
            <a:avLst/>
          </a:prstGeom>
          <a:solidFill>
            <a:srgbClr val="D8D8D8"/>
          </a:solidFill>
          <a:ln>
            <a:noFill/>
          </a:ln>
        </p:spPr>
      </p:sp>
      <p:sp>
        <p:nvSpPr>
          <p:cNvPr id="95" name="Google Shape;95;p268"/>
          <p:cNvSpPr txBox="1">
            <a:spLocks noGrp="1"/>
          </p:cNvSpPr>
          <p:nvPr>
            <p:ph type="title"/>
          </p:nvPr>
        </p:nvSpPr>
        <p:spPr>
          <a:xfrm>
            <a:off x="359999" y="738000"/>
            <a:ext cx="8424000" cy="4046400"/>
          </a:xfrm>
          <a:prstGeom prst="rect">
            <a:avLst/>
          </a:prstGeom>
          <a:noFill/>
          <a:ln w="10150" cap="flat" cmpd="sng">
            <a:solidFill>
              <a:schemeClr val="dk1"/>
            </a:solidFill>
            <a:prstDash val="solid"/>
            <a:round/>
            <a:headEnd type="none" w="sm" len="sm"/>
            <a:tailEnd type="none" w="sm" len="sm"/>
          </a:ln>
        </p:spPr>
        <p:txBody>
          <a:bodyPr spcFirstLastPara="1" wrap="square" lIns="0" tIns="0" rIns="0" bIns="360000" anchor="ctr" anchorCtr="0">
            <a:noAutofit/>
          </a:bodyPr>
          <a:lstStyle>
            <a:lvl1pPr lvl="0" algn="l">
              <a:lnSpc>
                <a:spcPct val="90000"/>
              </a:lnSpc>
              <a:spcBef>
                <a:spcPts val="0"/>
              </a:spcBef>
              <a:spcAft>
                <a:spcPts val="0"/>
              </a:spcAft>
              <a:buClr>
                <a:schemeClr val="dk1"/>
              </a:buClr>
              <a:buSzPts val="3250"/>
              <a:buFont typeface="Arial"/>
              <a:buNone/>
              <a:defRPr sz="32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268"/>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68"/>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u illustré 1/3">
  <p:cSld name="Contenu illustré 1/3">
    <p:spTree>
      <p:nvGrpSpPr>
        <p:cNvPr id="1" name="Shape 98"/>
        <p:cNvGrpSpPr/>
        <p:nvPr/>
      </p:nvGrpSpPr>
      <p:grpSpPr>
        <a:xfrm>
          <a:off x="0" y="0"/>
          <a:ext cx="0" cy="0"/>
          <a:chOff x="0" y="0"/>
          <a:chExt cx="0" cy="0"/>
        </a:xfrm>
      </p:grpSpPr>
      <p:sp>
        <p:nvSpPr>
          <p:cNvPr id="99" name="Google Shape;99;p269"/>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69"/>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
        <p:nvSpPr>
          <p:cNvPr id="101" name="Google Shape;101;p269"/>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dk1"/>
              </a:buClr>
              <a:buSzPts val="750"/>
              <a:buFont typeface="Arial"/>
              <a:buNone/>
              <a:defRPr sz="750" b="1"/>
            </a:lvl1pPr>
            <a:lvl2pPr marL="914400" lvl="1" indent="-228600" algn="r">
              <a:lnSpc>
                <a:spcPct val="100000"/>
              </a:lnSpc>
              <a:spcBef>
                <a:spcPts val="0"/>
              </a:spcBef>
              <a:spcAft>
                <a:spcPts val="0"/>
              </a:spcAft>
              <a:buClr>
                <a:schemeClr val="dk1"/>
              </a:buClr>
              <a:buSzPts val="750"/>
              <a:buFont typeface="Arial"/>
              <a:buNone/>
              <a:defRPr sz="750"/>
            </a:lvl2pPr>
            <a:lvl3pPr marL="1371600" lvl="2" indent="-342900" algn="l">
              <a:lnSpc>
                <a:spcPct val="100000"/>
              </a:lnSpc>
              <a:spcBef>
                <a:spcPts val="1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2" name="Google Shape;102;p269"/>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269"/>
          <p:cNvSpPr txBox="1">
            <a:spLocks noGrp="1"/>
          </p:cNvSpPr>
          <p:nvPr>
            <p:ph type="body" idx="2"/>
          </p:nvPr>
        </p:nvSpPr>
        <p:spPr>
          <a:xfrm>
            <a:off x="360363" y="1419225"/>
            <a:ext cx="8423275" cy="2889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rgbClr val="595959"/>
              </a:buClr>
              <a:buSzPts val="1100"/>
              <a:buNone/>
              <a:defRPr sz="1100" b="1">
                <a:solidFill>
                  <a:srgbClr val="595959"/>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4" name="Google Shape;104;p269"/>
          <p:cNvSpPr txBox="1">
            <a:spLocks noGrp="1"/>
          </p:cNvSpPr>
          <p:nvPr>
            <p:ph type="body" idx="3"/>
          </p:nvPr>
        </p:nvSpPr>
        <p:spPr>
          <a:xfrm>
            <a:off x="359998" y="1835999"/>
            <a:ext cx="5472001" cy="28225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050"/>
              <a:buNone/>
              <a:defRPr/>
            </a:lvl1pPr>
            <a:lvl2pPr marL="914400" lvl="1" indent="-288925" algn="l">
              <a:lnSpc>
                <a:spcPct val="100000"/>
              </a:lnSpc>
              <a:spcBef>
                <a:spcPts val="600"/>
              </a:spcBef>
              <a:spcAft>
                <a:spcPts val="0"/>
              </a:spcAft>
              <a:buClr>
                <a:schemeClr val="dk1"/>
              </a:buClr>
              <a:buSzPts val="950"/>
              <a:buChar char="•"/>
              <a:defRPr/>
            </a:lvl2pPr>
            <a:lvl3pPr marL="1371600" lvl="2" indent="-282575" algn="l">
              <a:lnSpc>
                <a:spcPct val="100000"/>
              </a:lnSpc>
              <a:spcBef>
                <a:spcPts val="600"/>
              </a:spcBef>
              <a:spcAft>
                <a:spcPts val="0"/>
              </a:spcAft>
              <a:buClr>
                <a:schemeClr val="dk1"/>
              </a:buClr>
              <a:buSzPts val="850"/>
              <a:buChar char="•"/>
              <a:defRPr/>
            </a:lvl3pPr>
            <a:lvl4pPr marL="1828800" lvl="3" indent="-276225" algn="l">
              <a:lnSpc>
                <a:spcPct val="100000"/>
              </a:lnSpc>
              <a:spcBef>
                <a:spcPts val="100"/>
              </a:spcBef>
              <a:spcAft>
                <a:spcPts val="0"/>
              </a:spcAft>
              <a:buClr>
                <a:schemeClr val="dk1"/>
              </a:buClr>
              <a:buSzPts val="750"/>
              <a:buChar char="•"/>
              <a:defRPr/>
            </a:lvl4pPr>
            <a:lvl5pPr marL="2286000" lvl="4" indent="-273050" algn="l">
              <a:lnSpc>
                <a:spcPct val="100000"/>
              </a:lnSpc>
              <a:spcBef>
                <a:spcPts val="100"/>
              </a:spcBef>
              <a:spcAft>
                <a:spcPts val="0"/>
              </a:spcAft>
              <a:buClr>
                <a:schemeClr val="dk1"/>
              </a:buClr>
              <a:buSzPts val="7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5" name="Google Shape;105;p269"/>
          <p:cNvSpPr txBox="1">
            <a:spLocks noGrp="1"/>
          </p:cNvSpPr>
          <p:nvPr>
            <p:ph type="body" idx="4"/>
          </p:nvPr>
        </p:nvSpPr>
        <p:spPr>
          <a:xfrm>
            <a:off x="6012160" y="1836738"/>
            <a:ext cx="2771478" cy="28225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800"/>
              <a:buNone/>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pleine page horizontal">
  <p:cSld name="Contenu pleine page horizontal">
    <p:spTree>
      <p:nvGrpSpPr>
        <p:cNvPr id="1" name="Shape 106"/>
        <p:cNvGrpSpPr/>
        <p:nvPr/>
      </p:nvGrpSpPr>
      <p:grpSpPr>
        <a:xfrm>
          <a:off x="0" y="0"/>
          <a:ext cx="0" cy="0"/>
          <a:chOff x="0" y="0"/>
          <a:chExt cx="0" cy="0"/>
        </a:xfrm>
      </p:grpSpPr>
      <p:sp>
        <p:nvSpPr>
          <p:cNvPr id="107" name="Google Shape;107;p270"/>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70"/>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
        <p:nvSpPr>
          <p:cNvPr id="109" name="Google Shape;109;p270"/>
          <p:cNvSpPr txBox="1">
            <a:spLocks noGrp="1"/>
          </p:cNvSpPr>
          <p:nvPr>
            <p:ph type="body" idx="1"/>
          </p:nvPr>
        </p:nvSpPr>
        <p:spPr>
          <a:xfrm>
            <a:off x="1761561" y="124187"/>
            <a:ext cx="7020312" cy="360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2550"/>
              <a:buFont typeface="Arial"/>
              <a:buNone/>
              <a:defRPr sz="2550" b="1"/>
            </a:lvl1pPr>
            <a:lvl2pPr marL="914400" lvl="1" indent="-228600" algn="l">
              <a:lnSpc>
                <a:spcPct val="100000"/>
              </a:lnSpc>
              <a:spcBef>
                <a:spcPts val="0"/>
              </a:spcBef>
              <a:spcAft>
                <a:spcPts val="0"/>
              </a:spcAft>
              <a:buClr>
                <a:schemeClr val="dk1"/>
              </a:buClr>
              <a:buSzPts val="1050"/>
              <a:buFont typeface="Arial"/>
              <a:buNone/>
              <a:defRPr sz="1050"/>
            </a:lvl2pPr>
            <a:lvl3pPr marL="1371600" lvl="2" indent="-342900" algn="l">
              <a:lnSpc>
                <a:spcPct val="100000"/>
              </a:lnSpc>
              <a:spcBef>
                <a:spcPts val="1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0" name="Google Shape;110;p270"/>
          <p:cNvSpPr txBox="1">
            <a:spLocks noGrp="1"/>
          </p:cNvSpPr>
          <p:nvPr>
            <p:ph type="body" idx="2"/>
          </p:nvPr>
        </p:nvSpPr>
        <p:spPr>
          <a:xfrm>
            <a:off x="1761561" y="586755"/>
            <a:ext cx="7020312" cy="18479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rgbClr val="595959"/>
              </a:buClr>
              <a:buSzPts val="1100"/>
              <a:buNone/>
              <a:defRPr sz="1100" b="1">
                <a:solidFill>
                  <a:srgbClr val="595959"/>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1" name="Google Shape;111;p270"/>
          <p:cNvSpPr txBox="1">
            <a:spLocks noGrp="1"/>
          </p:cNvSpPr>
          <p:nvPr>
            <p:ph type="body" idx="3"/>
          </p:nvPr>
        </p:nvSpPr>
        <p:spPr>
          <a:xfrm>
            <a:off x="359639" y="900000"/>
            <a:ext cx="8423999" cy="37593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800"/>
              <a:buNone/>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100"/>
              </a:spcBef>
              <a:spcAft>
                <a:spcPts val="0"/>
              </a:spcAft>
              <a:buClr>
                <a:schemeClr val="dk1"/>
              </a:buClr>
              <a:buSzPts val="1800"/>
              <a:buChar char="•"/>
              <a:defRPr/>
            </a:lvl4pPr>
            <a:lvl5pPr marL="2286000" lvl="4" indent="-342900" algn="l">
              <a:lnSpc>
                <a:spcPct val="100000"/>
              </a:lnSpc>
              <a:spcBef>
                <a:spcPts val="1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jpg"/><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7"/>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550"/>
              <a:buFont typeface="Arial"/>
              <a:buNone/>
              <a:defRPr sz="255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57"/>
          <p:cNvSpPr txBox="1">
            <a:spLocks noGrp="1"/>
          </p:cNvSpPr>
          <p:nvPr>
            <p:ph type="body" idx="1"/>
          </p:nvPr>
        </p:nvSpPr>
        <p:spPr>
          <a:xfrm>
            <a:off x="359999" y="1836000"/>
            <a:ext cx="8424000" cy="2574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1pPr>
            <a:lvl2pPr marL="914400" marR="0" lvl="1" indent="-288925" algn="l" rtl="0">
              <a:lnSpc>
                <a:spcPct val="100000"/>
              </a:lnSpc>
              <a:spcBef>
                <a:spcPts val="600"/>
              </a:spcBef>
              <a:spcAft>
                <a:spcPts val="0"/>
              </a:spcAft>
              <a:buClr>
                <a:schemeClr val="dk1"/>
              </a:buClr>
              <a:buSzPts val="950"/>
              <a:buFont typeface="Arial"/>
              <a:buChar char="•"/>
              <a:defRPr sz="950" b="0" i="0" u="none" strike="noStrike" cap="none">
                <a:solidFill>
                  <a:schemeClr val="dk1"/>
                </a:solidFill>
                <a:latin typeface="Arial"/>
                <a:ea typeface="Arial"/>
                <a:cs typeface="Arial"/>
                <a:sym typeface="Arial"/>
              </a:defRPr>
            </a:lvl2pPr>
            <a:lvl3pPr marL="1371600" marR="0" lvl="2" indent="-282575" algn="l" rtl="0">
              <a:lnSpc>
                <a:spcPct val="100000"/>
              </a:lnSpc>
              <a:spcBef>
                <a:spcPts val="600"/>
              </a:spcBef>
              <a:spcAft>
                <a:spcPts val="0"/>
              </a:spcAft>
              <a:buClr>
                <a:schemeClr val="dk1"/>
              </a:buClr>
              <a:buSzPts val="850"/>
              <a:buFont typeface="Arial"/>
              <a:buChar char="•"/>
              <a:defRPr sz="850" b="0" i="0" u="none" strike="noStrike" cap="none">
                <a:solidFill>
                  <a:schemeClr val="dk1"/>
                </a:solidFill>
                <a:latin typeface="Arial"/>
                <a:ea typeface="Arial"/>
                <a:cs typeface="Arial"/>
                <a:sym typeface="Arial"/>
              </a:defRPr>
            </a:lvl3pPr>
            <a:lvl4pPr marL="1828800" marR="0" lvl="3" indent="-276225" algn="l" rtl="0">
              <a:lnSpc>
                <a:spcPct val="100000"/>
              </a:lnSpc>
              <a:spcBef>
                <a:spcPts val="100"/>
              </a:spcBef>
              <a:spcAft>
                <a:spcPts val="0"/>
              </a:spcAft>
              <a:buClr>
                <a:schemeClr val="dk1"/>
              </a:buClr>
              <a:buSzPts val="750"/>
              <a:buFont typeface="Arial"/>
              <a:buChar char="•"/>
              <a:defRPr sz="750" b="0" i="0" u="none" strike="noStrike" cap="none">
                <a:solidFill>
                  <a:schemeClr val="dk1"/>
                </a:solidFill>
                <a:latin typeface="Arial"/>
                <a:ea typeface="Arial"/>
                <a:cs typeface="Arial"/>
                <a:sym typeface="Arial"/>
              </a:defRPr>
            </a:lvl4pPr>
            <a:lvl5pPr marL="2286000" marR="0" lvl="4" indent="-273050" algn="l" rtl="0">
              <a:lnSpc>
                <a:spcPct val="100000"/>
              </a:lnSpc>
              <a:spcBef>
                <a:spcPts val="100"/>
              </a:spcBef>
              <a:spcAft>
                <a:spcPts val="0"/>
              </a:spcAft>
              <a:buClr>
                <a:schemeClr val="dk1"/>
              </a:buClr>
              <a:buSzPts val="700"/>
              <a:buFont typeface="Arial"/>
              <a:buChar char="•"/>
              <a:defRPr sz="7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257"/>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5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57"/>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600" b="1" i="0" u="none" strike="noStrike" cap="none">
                <a:solidFill>
                  <a:srgbClr val="7F7F7F"/>
                </a:solidFill>
                <a:latin typeface="Arial"/>
                <a:ea typeface="Arial"/>
                <a:cs typeface="Arial"/>
                <a:sym typeface="Arial"/>
              </a:defRPr>
            </a:lvl1pPr>
            <a:lvl2pPr marL="0" marR="0" lvl="1" indent="0" algn="r" rtl="0">
              <a:spcBef>
                <a:spcPts val="0"/>
              </a:spcBef>
              <a:buNone/>
              <a:defRPr sz="600" b="1" i="0" u="none" strike="noStrike" cap="none">
                <a:solidFill>
                  <a:srgbClr val="7F7F7F"/>
                </a:solidFill>
                <a:latin typeface="Arial"/>
                <a:ea typeface="Arial"/>
                <a:cs typeface="Arial"/>
                <a:sym typeface="Arial"/>
              </a:defRPr>
            </a:lvl2pPr>
            <a:lvl3pPr marL="0" marR="0" lvl="2" indent="0" algn="r" rtl="0">
              <a:spcBef>
                <a:spcPts val="0"/>
              </a:spcBef>
              <a:buNone/>
              <a:defRPr sz="600" b="1" i="0" u="none" strike="noStrike" cap="none">
                <a:solidFill>
                  <a:srgbClr val="7F7F7F"/>
                </a:solidFill>
                <a:latin typeface="Arial"/>
                <a:ea typeface="Arial"/>
                <a:cs typeface="Arial"/>
                <a:sym typeface="Arial"/>
              </a:defRPr>
            </a:lvl3pPr>
            <a:lvl4pPr marL="0" marR="0" lvl="3" indent="0" algn="r" rtl="0">
              <a:spcBef>
                <a:spcPts val="0"/>
              </a:spcBef>
              <a:buNone/>
              <a:defRPr sz="600" b="1" i="0" u="none" strike="noStrike" cap="none">
                <a:solidFill>
                  <a:srgbClr val="7F7F7F"/>
                </a:solidFill>
                <a:latin typeface="Arial"/>
                <a:ea typeface="Arial"/>
                <a:cs typeface="Arial"/>
                <a:sym typeface="Arial"/>
              </a:defRPr>
            </a:lvl4pPr>
            <a:lvl5pPr marL="0" marR="0" lvl="4" indent="0" algn="r" rtl="0">
              <a:spcBef>
                <a:spcPts val="0"/>
              </a:spcBef>
              <a:buNone/>
              <a:defRPr sz="600" b="1" i="0" u="none" strike="noStrike" cap="none">
                <a:solidFill>
                  <a:srgbClr val="7F7F7F"/>
                </a:solidFill>
                <a:latin typeface="Arial"/>
                <a:ea typeface="Arial"/>
                <a:cs typeface="Arial"/>
                <a:sym typeface="Arial"/>
              </a:defRPr>
            </a:lvl5pPr>
            <a:lvl6pPr marL="0" marR="0" lvl="5" indent="0" algn="r" rtl="0">
              <a:spcBef>
                <a:spcPts val="0"/>
              </a:spcBef>
              <a:buNone/>
              <a:defRPr sz="600" b="1" i="0" u="none" strike="noStrike" cap="none">
                <a:solidFill>
                  <a:srgbClr val="7F7F7F"/>
                </a:solidFill>
                <a:latin typeface="Arial"/>
                <a:ea typeface="Arial"/>
                <a:cs typeface="Arial"/>
                <a:sym typeface="Arial"/>
              </a:defRPr>
            </a:lvl6pPr>
            <a:lvl7pPr marL="0" marR="0" lvl="6" indent="0" algn="r" rtl="0">
              <a:spcBef>
                <a:spcPts val="0"/>
              </a:spcBef>
              <a:buNone/>
              <a:defRPr sz="600" b="1" i="0" u="none" strike="noStrike" cap="none">
                <a:solidFill>
                  <a:srgbClr val="7F7F7F"/>
                </a:solidFill>
                <a:latin typeface="Arial"/>
                <a:ea typeface="Arial"/>
                <a:cs typeface="Arial"/>
                <a:sym typeface="Arial"/>
              </a:defRPr>
            </a:lvl7pPr>
            <a:lvl8pPr marL="0" marR="0" lvl="7" indent="0" algn="r" rtl="0">
              <a:spcBef>
                <a:spcPts val="0"/>
              </a:spcBef>
              <a:buNone/>
              <a:defRPr sz="600" b="1" i="0" u="none" strike="noStrike" cap="none">
                <a:solidFill>
                  <a:srgbClr val="7F7F7F"/>
                </a:solidFill>
                <a:latin typeface="Arial"/>
                <a:ea typeface="Arial"/>
                <a:cs typeface="Arial"/>
                <a:sym typeface="Arial"/>
              </a:defRPr>
            </a:lvl8pPr>
            <a:lvl9pPr marL="0" marR="0" lvl="8" indent="0" algn="r" rtl="0">
              <a:spcBef>
                <a:spcPts val="0"/>
              </a:spcBef>
              <a:buNone/>
              <a:defRPr sz="600" b="1" i="0" u="none" strike="noStrike" cap="none">
                <a:solidFill>
                  <a:srgbClr val="7F7F7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cxnSp>
        <p:nvCxnSpPr>
          <p:cNvPr id="14" name="Google Shape;14;p257"/>
          <p:cNvCxnSpPr/>
          <p:nvPr/>
        </p:nvCxnSpPr>
        <p:spPr>
          <a:xfrm>
            <a:off x="360000" y="4784400"/>
            <a:ext cx="8424000" cy="0"/>
          </a:xfrm>
          <a:prstGeom prst="straightConnector1">
            <a:avLst/>
          </a:prstGeom>
          <a:noFill/>
          <a:ln w="10150" cap="flat" cmpd="sng">
            <a:solidFill>
              <a:schemeClr val="dk1"/>
            </a:solidFill>
            <a:prstDash val="solid"/>
            <a:round/>
            <a:headEnd type="none" w="sm" len="sm"/>
            <a:tailEnd type="none" w="sm" len="sm"/>
          </a:ln>
        </p:spPr>
      </p:cxnSp>
      <p:pic>
        <p:nvPicPr>
          <p:cNvPr id="15" name="Google Shape;15;p257"/>
          <p:cNvPicPr preferRelativeResize="0"/>
          <p:nvPr/>
        </p:nvPicPr>
        <p:blipFill rotWithShape="1">
          <a:blip r:embed="rId10">
            <a:alphaModFix/>
          </a:blip>
          <a:srcRect/>
          <a:stretch/>
        </p:blipFill>
        <p:spPr>
          <a:xfrm>
            <a:off x="289483" y="110279"/>
            <a:ext cx="552807" cy="500852"/>
          </a:xfrm>
          <a:prstGeom prst="rect">
            <a:avLst/>
          </a:prstGeom>
          <a:noFill/>
          <a:ln>
            <a:noFill/>
          </a:ln>
        </p:spPr>
      </p:pic>
      <p:pic>
        <p:nvPicPr>
          <p:cNvPr id="16" name="Google Shape;16;p257"/>
          <p:cNvPicPr preferRelativeResize="0"/>
          <p:nvPr/>
        </p:nvPicPr>
        <p:blipFill rotWithShape="1">
          <a:blip r:embed="rId11">
            <a:alphaModFix/>
          </a:blip>
          <a:srcRect/>
          <a:stretch/>
        </p:blipFill>
        <p:spPr>
          <a:xfrm>
            <a:off x="1150474" y="182454"/>
            <a:ext cx="358447" cy="35844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8" r:id="rId5"/>
    <p:sldLayoutId id="2147483659" r:id="rId6"/>
    <p:sldLayoutId id="2147483660" r:id="rId7"/>
    <p:sldLayoutId id="2147483661"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fr.slides.access42.net/passageenseine2023/"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twitter.com/ONU_fr/status/1239099514369142784"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3" Type="http://schemas.openxmlformats.org/officeDocument/2006/relationships/hyperlink" Target="https://twitter.com/ONU_fr/status/1239099514369142784"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hyperlink" Target="https://emojipedia.org/fr/" TargetMode="External"/><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hyperlink" Target="https://emojiterra.com/fr/"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hyperlink" Target="https://www.lalutineduweb.fr/detournement-unicode-emojis-accessibilite/" TargetMode="External"/><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hyperlink" Target="https://access42.net/caracteres-unicode-reseaux-sociaux-accessibilite/"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3.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54.xml.rels><?xml version="1.0" encoding="UTF-8" standalone="yes"?>
<Relationships xmlns="http://schemas.openxmlformats.org/package/2006/relationships"><Relationship Id="rId3" Type="http://schemas.openxmlformats.org/officeDocument/2006/relationships/hyperlink" Target="https://www.linkedin.com/posts/higounetjulie_education-developpementprofessionnel-formation-activity-7255796294944788480-TNkx"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34.jpg"/><Relationship Id="rId5" Type="http://schemas.openxmlformats.org/officeDocument/2006/relationships/image" Target="../media/image33.png"/><Relationship Id="rId4" Type="http://schemas.openxmlformats.org/officeDocument/2006/relationships/hyperlink" Target="https://www.youtube.com/watch?v=CX9nmK44TiM"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s://www.instagram.com/p/CaFgT00O7lF/"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36.jpg"/><Relationship Id="rId5" Type="http://schemas.openxmlformats.org/officeDocument/2006/relationships/image" Target="../media/image35.png"/><Relationship Id="rId4" Type="http://schemas.openxmlformats.org/officeDocument/2006/relationships/hyperlink" Target="https://youtu.be/n7MAKhdwfmQ"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www.linkedin.com/posts/st-digital-fighter_technopolitique-culturenumaezrique-identitaezdigitale-activity-7256203849114284032-NOvC/" TargetMode="External"/><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jp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hyperlink" Target="https://emojipedia.org/fr/"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hyperlink" Target="https://emojiterra.com/fr/"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instafonts.io/" TargetMode="External"/><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8" Type="http://schemas.openxmlformats.org/officeDocument/2006/relationships/image" Target="../media/image40.jpg"/><Relationship Id="rId3" Type="http://schemas.openxmlformats.org/officeDocument/2006/relationships/hyperlink" Target="https://bbb-dinum-scalelite.visio.education.fr/playback/presentation/2.3/87785ffa751d94980ff8dab4007b2daa8de53178-1701183207348" TargetMode="External"/><Relationship Id="rId7" Type="http://schemas.openxmlformats.org/officeDocument/2006/relationships/image" Target="../media/image39.jp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hyperlink" Target="https://www.youtube.com/watch?v=nRVCUmojJoo&amp;t=3750s" TargetMode="External"/><Relationship Id="rId5" Type="http://schemas.openxmlformats.org/officeDocument/2006/relationships/hyperlink" Target="https://www.youtube.com/watch?v=glbhi7uaRG0" TargetMode="External"/><Relationship Id="rId4" Type="http://schemas.openxmlformats.org/officeDocument/2006/relationships/hyperlink" Target="https://docs.google.com/presentation/d/1fbZAeCPMs9B0zoUdDGZbAR_kFtnXaurYqV0QdUjLMXo/edit#slide=id.p" TargetMode="External"/></Relationships>
</file>

<file path=ppt/slides/_rels/slide64.xml.rels><?xml version="1.0" encoding="UTF-8" standalone="yes"?>
<Relationships xmlns="http://schemas.openxmlformats.org/package/2006/relationships"><Relationship Id="rId8" Type="http://schemas.openxmlformats.org/officeDocument/2006/relationships/hyperlink" Target="https://fr.slides.access42.net/pw2024/" TargetMode="External"/><Relationship Id="rId3" Type="http://schemas.openxmlformats.org/officeDocument/2006/relationships/hyperlink" Target="https://access42.net/carrousels-linkedin-canva-accessibilite/" TargetMode="External"/><Relationship Id="rId7" Type="http://schemas.openxmlformats.org/officeDocument/2006/relationships/hyperlink" Target="https://access42.net/reseaux-sociaux-accessibilite-emojis-accessibles/" TargetMode="External"/><Relationship Id="rId2" Type="http://schemas.openxmlformats.org/officeDocument/2006/relationships/notesSlide" Target="../notesSlides/notesSlide64.xml"/><Relationship Id="rId1" Type="http://schemas.openxmlformats.org/officeDocument/2006/relationships/slideLayout" Target="../slideLayouts/slideLayout4.xml"/><Relationship Id="rId6" Type="http://schemas.openxmlformats.org/officeDocument/2006/relationships/hyperlink" Target="https://access42.net/hashtags-accessibles/" TargetMode="External"/><Relationship Id="rId5" Type="http://schemas.openxmlformats.org/officeDocument/2006/relationships/hyperlink" Target="https://access42.net/tag/reseaux-sociaux-accessibilite/" TargetMode="External"/><Relationship Id="rId4" Type="http://schemas.openxmlformats.org/officeDocument/2006/relationships/hyperlink" Target="https://access42.net/video-audio-accessibilite-reseaux-sociau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05"/>
        <p:cNvGrpSpPr/>
        <p:nvPr/>
      </p:nvGrpSpPr>
      <p:grpSpPr>
        <a:xfrm>
          <a:off x="0" y="0"/>
          <a:ext cx="0" cy="0"/>
          <a:chOff x="0" y="0"/>
          <a:chExt cx="0" cy="0"/>
        </a:xfrm>
      </p:grpSpPr>
      <p:sp>
        <p:nvSpPr>
          <p:cNvPr id="1806" name="Google Shape;1806;p148"/>
          <p:cNvSpPr txBox="1">
            <a:spLocks noGrp="1"/>
          </p:cNvSpPr>
          <p:nvPr>
            <p:ph type="title"/>
          </p:nvPr>
        </p:nvSpPr>
        <p:spPr>
          <a:xfrm>
            <a:off x="0" y="0"/>
            <a:ext cx="180000" cy="1800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100"/>
              <a:buFont typeface="Arial"/>
              <a:buNone/>
            </a:pPr>
            <a:endParaRPr/>
          </a:p>
        </p:txBody>
      </p:sp>
      <p:sp>
        <p:nvSpPr>
          <p:cNvPr id="1807" name="Google Shape;1807;p148"/>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1</a:t>
            </a:fld>
            <a:endParaRPr/>
          </a:p>
        </p:txBody>
      </p:sp>
      <p:sp>
        <p:nvSpPr>
          <p:cNvPr id="1808" name="Google Shape;1808;p148"/>
          <p:cNvSpPr txBox="1">
            <a:spLocks noGrp="1"/>
          </p:cNvSpPr>
          <p:nvPr>
            <p:ph type="body" idx="1"/>
          </p:nvPr>
        </p:nvSpPr>
        <p:spPr>
          <a:xfrm>
            <a:off x="359638" y="1911741"/>
            <a:ext cx="8424000" cy="1181646"/>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200"/>
              <a:buNone/>
            </a:pPr>
            <a:r>
              <a:rPr lang="fr-FR"/>
              <a:t>Améliorer l'accessibilité numérique de vos publications sur les réseaux sociaux</a:t>
            </a:r>
            <a:endParaRPr/>
          </a:p>
        </p:txBody>
      </p:sp>
      <p:sp>
        <p:nvSpPr>
          <p:cNvPr id="1809" name="Google Shape;1809;p148"/>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810" name="Google Shape;1810;p148"/>
          <p:cNvSpPr txBox="1">
            <a:spLocks noGrp="1"/>
          </p:cNvSpPr>
          <p:nvPr>
            <p:ph type="body" idx="2"/>
          </p:nvPr>
        </p:nvSpPr>
        <p:spPr>
          <a:xfrm>
            <a:off x="360363" y="3579861"/>
            <a:ext cx="8423275" cy="100801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Les réseaux sociaux</a:t>
            </a:r>
            <a:endParaRPr/>
          </a:p>
        </p:txBody>
      </p:sp>
      <p:pic>
        <p:nvPicPr>
          <p:cNvPr id="1811" name="Google Shape;1811;p148" descr="Nuage de mots clés de la séquence. Glossaire disponible dans le guide du stagiaire."/>
          <p:cNvPicPr preferRelativeResize="0"/>
          <p:nvPr/>
        </p:nvPicPr>
        <p:blipFill rotWithShape="1">
          <a:blip r:embed="rId3">
            <a:alphaModFix/>
          </a:blip>
          <a:srcRect/>
          <a:stretch/>
        </p:blipFill>
        <p:spPr>
          <a:xfrm>
            <a:off x="5220072" y="2912421"/>
            <a:ext cx="3270300" cy="167545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26"/>
        <p:cNvGrpSpPr/>
        <p:nvPr/>
      </p:nvGrpSpPr>
      <p:grpSpPr>
        <a:xfrm>
          <a:off x="0" y="0"/>
          <a:ext cx="0" cy="0"/>
          <a:chOff x="0" y="0"/>
          <a:chExt cx="0" cy="0"/>
        </a:xfrm>
      </p:grpSpPr>
      <p:sp>
        <p:nvSpPr>
          <p:cNvPr id="1827" name="Google Shape;1827;p150"/>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828" name="Google Shape;1828;p150"/>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2</a:t>
            </a:fld>
            <a:endParaRPr/>
          </a:p>
        </p:txBody>
      </p:sp>
      <p:sp>
        <p:nvSpPr>
          <p:cNvPr id="1829" name="Google Shape;1829;p150"/>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1830" name="Google Shape;1830;p150"/>
          <p:cNvSpPr txBox="1">
            <a:spLocks noGrp="1"/>
          </p:cNvSpPr>
          <p:nvPr>
            <p:ph type="body" idx="2"/>
          </p:nvPr>
        </p:nvSpPr>
        <p:spPr>
          <a:xfrm>
            <a:off x="359998" y="1836000"/>
            <a:ext cx="8423275" cy="2679966"/>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À la fin de cette séquence, vous serez capable de :</a:t>
            </a:r>
            <a:endParaRPr/>
          </a:p>
          <a:p>
            <a:pPr marL="171450" lvl="0" indent="-171450" algn="l" rtl="0">
              <a:lnSpc>
                <a:spcPct val="100000"/>
              </a:lnSpc>
              <a:spcBef>
                <a:spcPts val="1800"/>
              </a:spcBef>
              <a:spcAft>
                <a:spcPts val="0"/>
              </a:spcAft>
              <a:buClr>
                <a:schemeClr val="dk1"/>
              </a:buClr>
              <a:buSzPts val="1000"/>
              <a:buFont typeface="Arial"/>
              <a:buChar char="•"/>
            </a:pPr>
            <a:r>
              <a:rPr lang="fr-FR"/>
              <a:t>Démontrer l'importance de l'accessibilité sur les réseaux sociaux</a:t>
            </a:r>
            <a:endParaRPr/>
          </a:p>
          <a:p>
            <a:pPr marL="171450" lvl="0" indent="-171450" algn="l" rtl="0">
              <a:lnSpc>
                <a:spcPct val="100000"/>
              </a:lnSpc>
              <a:spcBef>
                <a:spcPts val="1200"/>
              </a:spcBef>
              <a:spcAft>
                <a:spcPts val="0"/>
              </a:spcAft>
              <a:buClr>
                <a:schemeClr val="dk1"/>
              </a:buClr>
              <a:buSzPts val="1000"/>
              <a:buFont typeface="Arial"/>
              <a:buChar char="•"/>
            </a:pPr>
            <a:r>
              <a:rPr lang="fr-FR"/>
              <a:t>Appliquer les bonnes pratiques pour :</a:t>
            </a:r>
            <a:endParaRPr/>
          </a:p>
          <a:p>
            <a:pPr marL="423449" lvl="1" indent="-171449" algn="l" rtl="0">
              <a:lnSpc>
                <a:spcPct val="100000"/>
              </a:lnSpc>
              <a:spcBef>
                <a:spcPts val="1200"/>
              </a:spcBef>
              <a:spcAft>
                <a:spcPts val="0"/>
              </a:spcAft>
              <a:buClr>
                <a:schemeClr val="dk1"/>
              </a:buClr>
              <a:buSzPts val="1050"/>
              <a:buChar char="•"/>
            </a:pPr>
            <a:r>
              <a:rPr lang="fr-FR" sz="1050"/>
              <a:t>Images et vidéos</a:t>
            </a:r>
            <a:endParaRPr/>
          </a:p>
          <a:p>
            <a:pPr marL="423449" lvl="1" indent="-171449" algn="l" rtl="0">
              <a:lnSpc>
                <a:spcPct val="100000"/>
              </a:lnSpc>
              <a:spcBef>
                <a:spcPts val="1200"/>
              </a:spcBef>
              <a:spcAft>
                <a:spcPts val="0"/>
              </a:spcAft>
              <a:buClr>
                <a:schemeClr val="dk1"/>
              </a:buClr>
              <a:buSzPts val="1050"/>
              <a:buChar char="•"/>
            </a:pPr>
            <a:r>
              <a:rPr lang="fr-FR" sz="1050"/>
              <a:t>Textes et hashtags</a:t>
            </a:r>
            <a:endParaRPr/>
          </a:p>
          <a:p>
            <a:pPr marL="423449" lvl="1" indent="-171449" algn="l" rtl="0">
              <a:lnSpc>
                <a:spcPct val="100000"/>
              </a:lnSpc>
              <a:spcBef>
                <a:spcPts val="1200"/>
              </a:spcBef>
              <a:spcAft>
                <a:spcPts val="0"/>
              </a:spcAft>
              <a:buClr>
                <a:schemeClr val="dk1"/>
              </a:buClr>
              <a:buSzPts val="1050"/>
              <a:buChar char="•"/>
            </a:pPr>
            <a:r>
              <a:rPr lang="fr-FR" sz="1050"/>
              <a:t>Émojis et caractères spéciaux</a:t>
            </a:r>
            <a:endParaRPr/>
          </a:p>
          <a:p>
            <a:pPr marL="171450" lvl="0" indent="-171450" algn="l" rtl="0">
              <a:lnSpc>
                <a:spcPct val="100000"/>
              </a:lnSpc>
              <a:spcBef>
                <a:spcPts val="1200"/>
              </a:spcBef>
              <a:spcAft>
                <a:spcPts val="0"/>
              </a:spcAft>
              <a:buClr>
                <a:schemeClr val="dk1"/>
              </a:buClr>
              <a:buSzPts val="1000"/>
              <a:buFont typeface="Arial"/>
              <a:buChar char="•"/>
            </a:pPr>
            <a:r>
              <a:rPr lang="fr-FR"/>
              <a:t>Identifier les problèmes d'accessibilité</a:t>
            </a:r>
            <a:endParaRPr/>
          </a:p>
          <a:p>
            <a:pPr marL="171450" lvl="0" indent="-171450" algn="l" rtl="0">
              <a:lnSpc>
                <a:spcPct val="100000"/>
              </a:lnSpc>
              <a:spcBef>
                <a:spcPts val="1200"/>
              </a:spcBef>
              <a:spcAft>
                <a:spcPts val="0"/>
              </a:spcAft>
              <a:buClr>
                <a:schemeClr val="dk1"/>
              </a:buClr>
              <a:buSzPts val="1000"/>
              <a:buFont typeface="Arial"/>
              <a:buChar char="•"/>
            </a:pPr>
            <a:r>
              <a:rPr lang="fr-FR"/>
              <a:t>Adapter vos publications existantes</a:t>
            </a:r>
            <a:endParaRPr/>
          </a:p>
          <a:p>
            <a:pPr marL="0" lvl="0" indent="0" algn="l" rtl="0">
              <a:lnSpc>
                <a:spcPct val="100000"/>
              </a:lnSpc>
              <a:spcBef>
                <a:spcPts val="600"/>
              </a:spcBef>
              <a:spcAft>
                <a:spcPts val="0"/>
              </a:spcAft>
              <a:buClr>
                <a:schemeClr val="dk1"/>
              </a:buClr>
              <a:buSzPts val="1050"/>
              <a:buNone/>
            </a:pPr>
            <a:endParaRPr/>
          </a:p>
        </p:txBody>
      </p:sp>
      <p:sp>
        <p:nvSpPr>
          <p:cNvPr id="1831" name="Google Shape;1831;p150"/>
          <p:cNvSpPr txBox="1">
            <a:spLocks noGrp="1"/>
          </p:cNvSpPr>
          <p:nvPr>
            <p:ph type="title"/>
          </p:nvPr>
        </p:nvSpPr>
        <p:spPr>
          <a:xfrm>
            <a:off x="359998" y="1006255"/>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Objectifs de la séquence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6"/>
        <p:cNvGrpSpPr/>
        <p:nvPr/>
      </p:nvGrpSpPr>
      <p:grpSpPr>
        <a:xfrm>
          <a:off x="0" y="0"/>
          <a:ext cx="0" cy="0"/>
          <a:chOff x="0" y="0"/>
          <a:chExt cx="0" cy="0"/>
        </a:xfrm>
      </p:grpSpPr>
      <p:sp>
        <p:nvSpPr>
          <p:cNvPr id="1837" name="Google Shape;1837;p151"/>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838" name="Google Shape;1838;p151"/>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3</a:t>
            </a:fld>
            <a:endParaRPr/>
          </a:p>
        </p:txBody>
      </p:sp>
      <p:sp>
        <p:nvSpPr>
          <p:cNvPr id="1839" name="Google Shape;1839;p151"/>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1840" name="Google Shape;1840;p151"/>
          <p:cNvSpPr txBox="1">
            <a:spLocks noGrp="1"/>
          </p:cNvSpPr>
          <p:nvPr>
            <p:ph type="body" idx="2"/>
          </p:nvPr>
        </p:nvSpPr>
        <p:spPr>
          <a:xfrm>
            <a:off x="359999" y="1836000"/>
            <a:ext cx="2520000" cy="289599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I. Introduction</a:t>
            </a:r>
            <a:endParaRPr/>
          </a:p>
          <a:p>
            <a:pPr marL="171450" lvl="0" indent="-171450" algn="l" rtl="0">
              <a:lnSpc>
                <a:spcPct val="100000"/>
              </a:lnSpc>
              <a:spcBef>
                <a:spcPts val="900"/>
              </a:spcBef>
              <a:spcAft>
                <a:spcPts val="0"/>
              </a:spcAft>
              <a:buClr>
                <a:schemeClr val="dk1"/>
              </a:buClr>
              <a:buSzPts val="1000"/>
              <a:buFont typeface="Arial"/>
              <a:buChar char="•"/>
            </a:pPr>
            <a:r>
              <a:rPr lang="fr-FR"/>
              <a:t>Contexte et enjeux</a:t>
            </a:r>
            <a:endParaRPr/>
          </a:p>
          <a:p>
            <a:pPr marL="171450" lvl="0" indent="-171450" algn="l" rtl="0">
              <a:lnSpc>
                <a:spcPct val="100000"/>
              </a:lnSpc>
              <a:spcBef>
                <a:spcPts val="800"/>
              </a:spcBef>
              <a:spcAft>
                <a:spcPts val="0"/>
              </a:spcAft>
              <a:buClr>
                <a:schemeClr val="dk1"/>
              </a:buClr>
              <a:buSzPts val="1000"/>
              <a:buFont typeface="Arial"/>
              <a:buChar char="•"/>
            </a:pPr>
            <a:r>
              <a:rPr lang="fr-FR"/>
              <a:t>Impact humain et business</a:t>
            </a:r>
            <a:endParaRPr/>
          </a:p>
          <a:p>
            <a:pPr marL="171450" lvl="0" indent="-171450" algn="l" rtl="0">
              <a:lnSpc>
                <a:spcPct val="100000"/>
              </a:lnSpc>
              <a:spcBef>
                <a:spcPts val="800"/>
              </a:spcBef>
              <a:spcAft>
                <a:spcPts val="0"/>
              </a:spcAft>
              <a:buClr>
                <a:schemeClr val="dk1"/>
              </a:buClr>
              <a:buSzPts val="1000"/>
              <a:buFont typeface="Arial"/>
              <a:buChar char="•"/>
            </a:pPr>
            <a:r>
              <a:rPr lang="fr-FR"/>
              <a:t>Un exemple concret : le tweet de l’OMS</a:t>
            </a:r>
            <a:endParaRPr/>
          </a:p>
          <a:p>
            <a:pPr marL="0" lvl="0" indent="0" algn="l" rtl="0">
              <a:lnSpc>
                <a:spcPct val="100000"/>
              </a:lnSpc>
              <a:spcBef>
                <a:spcPts val="1500"/>
              </a:spcBef>
              <a:spcAft>
                <a:spcPts val="0"/>
              </a:spcAft>
              <a:buClr>
                <a:schemeClr val="dk2"/>
              </a:buClr>
              <a:buSzPts val="1000"/>
              <a:buNone/>
            </a:pPr>
            <a:r>
              <a:rPr lang="fr-FR" b="1">
                <a:solidFill>
                  <a:schemeClr val="dk2"/>
                </a:solidFill>
              </a:rPr>
              <a:t>II. Les 4 piliers de l'accessibilité sur les réseaux sociaux</a:t>
            </a:r>
            <a:endParaRPr/>
          </a:p>
          <a:p>
            <a:pPr marL="0" lvl="0" indent="0" algn="l" rtl="0">
              <a:lnSpc>
                <a:spcPct val="100000"/>
              </a:lnSpc>
              <a:spcBef>
                <a:spcPts val="1000"/>
              </a:spcBef>
              <a:spcAft>
                <a:spcPts val="0"/>
              </a:spcAft>
              <a:buClr>
                <a:schemeClr val="dk2"/>
              </a:buClr>
              <a:buSzPts val="1000"/>
              <a:buNone/>
            </a:pPr>
            <a:r>
              <a:rPr lang="fr-FR" b="1">
                <a:solidFill>
                  <a:schemeClr val="dk2"/>
                </a:solidFill>
              </a:rPr>
              <a:t>1. Médias </a:t>
            </a:r>
            <a:endParaRPr/>
          </a:p>
          <a:p>
            <a:pPr marL="0" lvl="0" indent="0" algn="l" rtl="0">
              <a:lnSpc>
                <a:spcPct val="100000"/>
              </a:lnSpc>
              <a:spcBef>
                <a:spcPts val="1000"/>
              </a:spcBef>
              <a:spcAft>
                <a:spcPts val="0"/>
              </a:spcAft>
              <a:buClr>
                <a:schemeClr val="dk1"/>
              </a:buClr>
              <a:buSzPts val="1000"/>
              <a:buNone/>
            </a:pPr>
            <a:r>
              <a:rPr lang="fr-FR"/>
              <a:t>Images et alternatives textuelles</a:t>
            </a:r>
            <a:endParaRPr/>
          </a:p>
          <a:p>
            <a:pPr marL="171450" lvl="0" indent="-171450" algn="l" rtl="0">
              <a:lnSpc>
                <a:spcPct val="100000"/>
              </a:lnSpc>
              <a:spcBef>
                <a:spcPts val="900"/>
              </a:spcBef>
              <a:spcAft>
                <a:spcPts val="0"/>
              </a:spcAft>
              <a:buClr>
                <a:schemeClr val="dk1"/>
              </a:buClr>
              <a:buSzPts val="1000"/>
              <a:buFont typeface="Arial"/>
              <a:buChar char="•"/>
            </a:pPr>
            <a:r>
              <a:rPr lang="fr-FR"/>
              <a:t>Vidéos et sous-titrage</a:t>
            </a:r>
            <a:endParaRPr/>
          </a:p>
          <a:p>
            <a:pPr marL="171450" lvl="0" indent="-171450" algn="l" rtl="0">
              <a:lnSpc>
                <a:spcPct val="100000"/>
              </a:lnSpc>
              <a:spcBef>
                <a:spcPts val="800"/>
              </a:spcBef>
              <a:spcAft>
                <a:spcPts val="0"/>
              </a:spcAft>
              <a:buClr>
                <a:schemeClr val="dk1"/>
              </a:buClr>
              <a:buSzPts val="1000"/>
              <a:buFont typeface="Arial"/>
              <a:buChar char="•"/>
            </a:pPr>
            <a:r>
              <a:rPr lang="fr-FR"/>
              <a:t>Instructions par plateformes</a:t>
            </a:r>
            <a:endParaRPr/>
          </a:p>
        </p:txBody>
      </p:sp>
      <p:sp>
        <p:nvSpPr>
          <p:cNvPr id="1841" name="Google Shape;1841;p151"/>
          <p:cNvSpPr txBox="1">
            <a:spLocks noGrp="1"/>
          </p:cNvSpPr>
          <p:nvPr>
            <p:ph type="body" idx="3"/>
          </p:nvPr>
        </p:nvSpPr>
        <p:spPr>
          <a:xfrm>
            <a:off x="3312000" y="1836000"/>
            <a:ext cx="2520000" cy="289599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2. Éléments interactifs </a:t>
            </a:r>
            <a:endParaRPr/>
          </a:p>
          <a:p>
            <a:pPr marL="171450" lvl="0" indent="-171450" algn="l" rtl="0">
              <a:lnSpc>
                <a:spcPct val="100000"/>
              </a:lnSpc>
              <a:spcBef>
                <a:spcPts val="900"/>
              </a:spcBef>
              <a:spcAft>
                <a:spcPts val="0"/>
              </a:spcAft>
              <a:buClr>
                <a:schemeClr val="dk1"/>
              </a:buClr>
              <a:buSzPts val="1000"/>
              <a:buFont typeface="Arial"/>
              <a:buChar char="•"/>
            </a:pPr>
            <a:r>
              <a:rPr lang="fr-FR"/>
              <a:t>Émojis : impact et bonnes pratiques</a:t>
            </a:r>
            <a:endParaRPr/>
          </a:p>
          <a:p>
            <a:pPr marL="171450" lvl="0" indent="-171450" algn="l" rtl="0">
              <a:lnSpc>
                <a:spcPct val="100000"/>
              </a:lnSpc>
              <a:spcBef>
                <a:spcPts val="800"/>
              </a:spcBef>
              <a:spcAft>
                <a:spcPts val="0"/>
              </a:spcAft>
              <a:buClr>
                <a:schemeClr val="dk1"/>
              </a:buClr>
              <a:buSzPts val="1000"/>
              <a:buFont typeface="Arial"/>
              <a:buChar char="•"/>
            </a:pPr>
            <a:r>
              <a:rPr lang="fr-FR"/>
              <a:t>Hashtags accessibles</a:t>
            </a:r>
            <a:endParaRPr/>
          </a:p>
          <a:p>
            <a:pPr marL="171450" lvl="0" indent="-171450" algn="l" rtl="0">
              <a:lnSpc>
                <a:spcPct val="100000"/>
              </a:lnSpc>
              <a:spcBef>
                <a:spcPts val="800"/>
              </a:spcBef>
              <a:spcAft>
                <a:spcPts val="0"/>
              </a:spcAft>
              <a:buClr>
                <a:schemeClr val="dk1"/>
              </a:buClr>
              <a:buSzPts val="1000"/>
              <a:buFont typeface="Arial"/>
              <a:buChar char="•"/>
            </a:pPr>
            <a:r>
              <a:rPr lang="fr-FR"/>
              <a:t>Liens et interactions</a:t>
            </a:r>
            <a:endParaRPr/>
          </a:p>
          <a:p>
            <a:pPr marL="171450" lvl="0" indent="-171450" algn="l" rtl="0">
              <a:lnSpc>
                <a:spcPct val="100000"/>
              </a:lnSpc>
              <a:spcBef>
                <a:spcPts val="800"/>
              </a:spcBef>
              <a:spcAft>
                <a:spcPts val="0"/>
              </a:spcAft>
              <a:buClr>
                <a:schemeClr val="dk1"/>
              </a:buClr>
              <a:buSzPts val="1000"/>
              <a:buFont typeface="Arial"/>
              <a:buChar char="•"/>
            </a:pPr>
            <a:r>
              <a:rPr lang="fr-FR"/>
              <a:t>GIFs et animations</a:t>
            </a:r>
            <a:endParaRPr/>
          </a:p>
          <a:p>
            <a:pPr marL="0" lvl="0" indent="0" algn="l" rtl="0">
              <a:lnSpc>
                <a:spcPct val="100000"/>
              </a:lnSpc>
              <a:spcBef>
                <a:spcPts val="1600"/>
              </a:spcBef>
              <a:spcAft>
                <a:spcPts val="0"/>
              </a:spcAft>
              <a:buClr>
                <a:schemeClr val="dk2"/>
              </a:buClr>
              <a:buSzPts val="1000"/>
              <a:buNone/>
            </a:pPr>
            <a:r>
              <a:rPr lang="fr-FR" b="1">
                <a:solidFill>
                  <a:schemeClr val="dk2"/>
                </a:solidFill>
              </a:rPr>
              <a:t>3. Texte et mise en forme</a:t>
            </a:r>
            <a:endParaRPr/>
          </a:p>
          <a:p>
            <a:pPr marL="171450" lvl="0" indent="-171450" algn="l" rtl="0">
              <a:lnSpc>
                <a:spcPct val="100000"/>
              </a:lnSpc>
              <a:spcBef>
                <a:spcPts val="900"/>
              </a:spcBef>
              <a:spcAft>
                <a:spcPts val="0"/>
              </a:spcAft>
              <a:buClr>
                <a:schemeClr val="dk1"/>
              </a:buClr>
              <a:buSzPts val="1000"/>
              <a:buFont typeface="Arial"/>
              <a:buChar char="•"/>
            </a:pPr>
            <a:r>
              <a:rPr lang="fr-FR"/>
              <a:t>Choix des polices</a:t>
            </a:r>
            <a:endParaRPr/>
          </a:p>
          <a:p>
            <a:pPr marL="171450" lvl="0" indent="-171450" algn="l" rtl="0">
              <a:lnSpc>
                <a:spcPct val="100000"/>
              </a:lnSpc>
              <a:spcBef>
                <a:spcPts val="800"/>
              </a:spcBef>
              <a:spcAft>
                <a:spcPts val="0"/>
              </a:spcAft>
              <a:buClr>
                <a:schemeClr val="dk1"/>
              </a:buClr>
              <a:buSzPts val="1000"/>
              <a:buFont typeface="Arial"/>
              <a:buChar char="•"/>
            </a:pPr>
            <a:r>
              <a:rPr lang="fr-FR"/>
              <a:t>Contrastes et lisibilité</a:t>
            </a:r>
            <a:endParaRPr/>
          </a:p>
          <a:p>
            <a:pPr marL="171450" lvl="0" indent="-171450" algn="l" rtl="0">
              <a:lnSpc>
                <a:spcPct val="100000"/>
              </a:lnSpc>
              <a:spcBef>
                <a:spcPts val="800"/>
              </a:spcBef>
              <a:spcAft>
                <a:spcPts val="0"/>
              </a:spcAft>
              <a:buClr>
                <a:schemeClr val="dk1"/>
              </a:buClr>
              <a:buSzPts val="1000"/>
              <a:buFont typeface="Arial"/>
              <a:buChar char="•"/>
            </a:pPr>
            <a:r>
              <a:rPr lang="fr-FR"/>
              <a:t>Caractères spéciaux</a:t>
            </a:r>
            <a:endParaRPr/>
          </a:p>
          <a:p>
            <a:pPr marL="171450" lvl="0" indent="-171450" algn="l" rtl="0">
              <a:lnSpc>
                <a:spcPct val="100000"/>
              </a:lnSpc>
              <a:spcBef>
                <a:spcPts val="800"/>
              </a:spcBef>
              <a:spcAft>
                <a:spcPts val="0"/>
              </a:spcAft>
              <a:buClr>
                <a:schemeClr val="dk1"/>
              </a:buClr>
              <a:buSzPts val="1000"/>
              <a:buFont typeface="Arial"/>
              <a:buChar char="•"/>
            </a:pPr>
            <a:r>
              <a:rPr lang="fr-FR"/>
              <a:t>Cas pratiques</a:t>
            </a:r>
            <a:endParaRPr/>
          </a:p>
        </p:txBody>
      </p:sp>
      <p:sp>
        <p:nvSpPr>
          <p:cNvPr id="1842" name="Google Shape;1842;p151"/>
          <p:cNvSpPr txBox="1">
            <a:spLocks noGrp="1"/>
          </p:cNvSpPr>
          <p:nvPr>
            <p:ph type="body" idx="4"/>
          </p:nvPr>
        </p:nvSpPr>
        <p:spPr>
          <a:xfrm>
            <a:off x="6264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4. Structure </a:t>
            </a:r>
            <a:endParaRPr/>
          </a:p>
          <a:p>
            <a:pPr marL="171450" lvl="0" indent="-171450" algn="l" rtl="0">
              <a:lnSpc>
                <a:spcPct val="100000"/>
              </a:lnSpc>
              <a:spcBef>
                <a:spcPts val="900"/>
              </a:spcBef>
              <a:spcAft>
                <a:spcPts val="0"/>
              </a:spcAft>
              <a:buClr>
                <a:schemeClr val="dk1"/>
              </a:buClr>
              <a:buSzPts val="1000"/>
              <a:buFont typeface="Arial"/>
              <a:buChar char="•"/>
            </a:pPr>
            <a:r>
              <a:rPr lang="fr-FR"/>
              <a:t>Organisation logique</a:t>
            </a:r>
            <a:endParaRPr/>
          </a:p>
          <a:p>
            <a:pPr marL="171450" lvl="0" indent="-171450" algn="l" rtl="0">
              <a:lnSpc>
                <a:spcPct val="100000"/>
              </a:lnSpc>
              <a:spcBef>
                <a:spcPts val="800"/>
              </a:spcBef>
              <a:spcAft>
                <a:spcPts val="0"/>
              </a:spcAft>
              <a:buClr>
                <a:schemeClr val="dk1"/>
              </a:buClr>
              <a:buSzPts val="1000"/>
              <a:buFont typeface="Arial"/>
              <a:buChar char="•"/>
            </a:pPr>
            <a:r>
              <a:rPr lang="fr-FR"/>
              <a:t>Hiérarchie de l'information</a:t>
            </a:r>
            <a:endParaRPr/>
          </a:p>
          <a:p>
            <a:pPr marL="171450" lvl="0" indent="-171450" algn="l" rtl="0">
              <a:lnSpc>
                <a:spcPct val="100000"/>
              </a:lnSpc>
              <a:spcBef>
                <a:spcPts val="800"/>
              </a:spcBef>
              <a:spcAft>
                <a:spcPts val="0"/>
              </a:spcAft>
              <a:buClr>
                <a:schemeClr val="dk1"/>
              </a:buClr>
              <a:buSzPts val="1000"/>
              <a:buFont typeface="Arial"/>
              <a:buChar char="•"/>
            </a:pPr>
            <a:r>
              <a:rPr lang="fr-FR"/>
              <a:t>Cohérence et navigation</a:t>
            </a:r>
            <a:endParaRPr/>
          </a:p>
          <a:p>
            <a:pPr marL="0" lvl="0" indent="0" algn="l" rtl="0">
              <a:lnSpc>
                <a:spcPct val="100000"/>
              </a:lnSpc>
              <a:spcBef>
                <a:spcPts val="1600"/>
              </a:spcBef>
              <a:spcAft>
                <a:spcPts val="0"/>
              </a:spcAft>
              <a:buClr>
                <a:schemeClr val="dk2"/>
              </a:buClr>
              <a:buSzPts val="1000"/>
              <a:buNone/>
            </a:pPr>
            <a:r>
              <a:rPr lang="fr-FR" b="1">
                <a:solidFill>
                  <a:schemeClr val="dk2"/>
                </a:solidFill>
              </a:rPr>
              <a:t>III. Stratégies pour une communication inclusive</a:t>
            </a:r>
            <a:endParaRPr/>
          </a:p>
          <a:p>
            <a:pPr marL="171450" lvl="0" indent="-171450" algn="l" rtl="0">
              <a:lnSpc>
                <a:spcPct val="100000"/>
              </a:lnSpc>
              <a:spcBef>
                <a:spcPts val="1100"/>
              </a:spcBef>
              <a:spcAft>
                <a:spcPts val="0"/>
              </a:spcAft>
              <a:buClr>
                <a:schemeClr val="dk1"/>
              </a:buClr>
              <a:buSzPts val="1000"/>
              <a:buFont typeface="Arial"/>
              <a:buChar char="•"/>
            </a:pPr>
            <a:r>
              <a:rPr lang="fr-FR"/>
              <a:t>Check-list des réseaux sociaux</a:t>
            </a:r>
            <a:endParaRPr/>
          </a:p>
          <a:p>
            <a:pPr marL="171450" lvl="0" indent="-171450" algn="l" rtl="0">
              <a:lnSpc>
                <a:spcPct val="100000"/>
              </a:lnSpc>
              <a:spcBef>
                <a:spcPts val="1100"/>
              </a:spcBef>
              <a:spcAft>
                <a:spcPts val="0"/>
              </a:spcAft>
              <a:buClr>
                <a:schemeClr val="dk1"/>
              </a:buClr>
              <a:buSzPts val="1000"/>
              <a:buFont typeface="Arial"/>
              <a:buChar char="•"/>
            </a:pPr>
            <a:r>
              <a:rPr lang="fr-FR"/>
              <a:t>Plan d'action et ressources</a:t>
            </a:r>
            <a:endParaRPr/>
          </a:p>
        </p:txBody>
      </p:sp>
      <p:sp>
        <p:nvSpPr>
          <p:cNvPr id="1843" name="Google Shape;1843;p151"/>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Plan de la séquence</a:t>
            </a:r>
            <a:endParaRPr/>
          </a:p>
        </p:txBody>
      </p:sp>
      <p:sp>
        <p:nvSpPr>
          <p:cNvPr id="1844" name="Google Shape;1844;p151"/>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Améliorer l'accessibilité numérique de vos publications sur les réseaux sociaux - Durée : 60 minutes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49"/>
        <p:cNvGrpSpPr/>
        <p:nvPr/>
      </p:nvGrpSpPr>
      <p:grpSpPr>
        <a:xfrm>
          <a:off x="0" y="0"/>
          <a:ext cx="0" cy="0"/>
          <a:chOff x="0" y="0"/>
          <a:chExt cx="0" cy="0"/>
        </a:xfrm>
      </p:grpSpPr>
      <p:sp>
        <p:nvSpPr>
          <p:cNvPr id="1850" name="Google Shape;1850;p152"/>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851" name="Google Shape;1851;p152"/>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4</a:t>
            </a:fld>
            <a:endParaRPr/>
          </a:p>
        </p:txBody>
      </p:sp>
      <p:sp>
        <p:nvSpPr>
          <p:cNvPr id="1852" name="Google Shape;1852;p152"/>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1853" name="Google Shape;1853;p152"/>
          <p:cNvSpPr txBox="1">
            <a:spLocks noGrp="1"/>
          </p:cNvSpPr>
          <p:nvPr>
            <p:ph type="body" idx="2"/>
          </p:nvPr>
        </p:nvSpPr>
        <p:spPr>
          <a:xfrm>
            <a:off x="359998" y="1836000"/>
            <a:ext cx="8423275" cy="2679966"/>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Public cible</a:t>
            </a:r>
            <a:endParaRPr/>
          </a:p>
          <a:p>
            <a:pPr marL="171450" lvl="0" indent="-171450" algn="l" rtl="0">
              <a:lnSpc>
                <a:spcPct val="100000"/>
              </a:lnSpc>
              <a:spcBef>
                <a:spcPts val="1700"/>
              </a:spcBef>
              <a:spcAft>
                <a:spcPts val="0"/>
              </a:spcAft>
              <a:buClr>
                <a:schemeClr val="dk1"/>
              </a:buClr>
              <a:buSzPts val="1000"/>
              <a:buFont typeface="Arial"/>
              <a:buChar char="•"/>
            </a:pPr>
            <a:r>
              <a:rPr lang="fr-FR"/>
              <a:t>Community managers</a:t>
            </a:r>
            <a:endParaRPr/>
          </a:p>
          <a:p>
            <a:pPr marL="171450" lvl="0" indent="-171450" algn="l" rtl="0">
              <a:lnSpc>
                <a:spcPct val="100000"/>
              </a:lnSpc>
              <a:spcBef>
                <a:spcPts val="1100"/>
              </a:spcBef>
              <a:spcAft>
                <a:spcPts val="0"/>
              </a:spcAft>
              <a:buClr>
                <a:schemeClr val="dk1"/>
              </a:buClr>
              <a:buSzPts val="1000"/>
              <a:buFont typeface="Arial"/>
              <a:buChar char="•"/>
            </a:pPr>
            <a:r>
              <a:rPr lang="fr-FR"/>
              <a:t>Responsables de communication</a:t>
            </a:r>
            <a:endParaRPr/>
          </a:p>
          <a:p>
            <a:pPr marL="171450" lvl="0" indent="-171450" algn="l" rtl="0">
              <a:lnSpc>
                <a:spcPct val="100000"/>
              </a:lnSpc>
              <a:spcBef>
                <a:spcPts val="1100"/>
              </a:spcBef>
              <a:spcAft>
                <a:spcPts val="0"/>
              </a:spcAft>
              <a:buClr>
                <a:schemeClr val="dk1"/>
              </a:buClr>
              <a:buSzPts val="1000"/>
              <a:buFont typeface="Arial"/>
              <a:buChar char="•"/>
            </a:pPr>
            <a:r>
              <a:rPr lang="fr-FR"/>
              <a:t>Créateurs de contenus digitaux</a:t>
            </a:r>
            <a:endParaRPr/>
          </a:p>
          <a:p>
            <a:pPr marL="171450" lvl="0" indent="-171450" algn="l" rtl="0">
              <a:lnSpc>
                <a:spcPct val="100000"/>
              </a:lnSpc>
              <a:spcBef>
                <a:spcPts val="1100"/>
              </a:spcBef>
              <a:spcAft>
                <a:spcPts val="0"/>
              </a:spcAft>
              <a:buClr>
                <a:schemeClr val="dk1"/>
              </a:buClr>
              <a:buSzPts val="1000"/>
              <a:buFont typeface="Arial"/>
              <a:buChar char="•"/>
            </a:pPr>
            <a:r>
              <a:rPr lang="fr-FR"/>
              <a:t>Équipes marketing ...</a:t>
            </a:r>
            <a:endParaRPr/>
          </a:p>
          <a:p>
            <a:pPr marL="171450" lvl="0" indent="-104775" algn="l" rtl="0">
              <a:lnSpc>
                <a:spcPct val="100000"/>
              </a:lnSpc>
              <a:spcBef>
                <a:spcPts val="1100"/>
              </a:spcBef>
              <a:spcAft>
                <a:spcPts val="0"/>
              </a:spcAft>
              <a:buClr>
                <a:schemeClr val="dk1"/>
              </a:buClr>
              <a:buSzPts val="1050"/>
              <a:buFont typeface="Arial"/>
              <a:buNone/>
            </a:pPr>
            <a:endParaRPr/>
          </a:p>
        </p:txBody>
      </p:sp>
      <p:sp>
        <p:nvSpPr>
          <p:cNvPr id="1854" name="Google Shape;1854;p152"/>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Public cible et prérequis</a:t>
            </a:r>
            <a:endParaRPr/>
          </a:p>
        </p:txBody>
      </p:sp>
      <p:sp>
        <p:nvSpPr>
          <p:cNvPr id="1855" name="Google Shape;1855;p152"/>
          <p:cNvSpPr txBox="1">
            <a:spLocks noGrp="1"/>
          </p:cNvSpPr>
          <p:nvPr>
            <p:ph type="body" idx="3"/>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Pas besoin de compétences techniques pour l’accessibilité sur les réseaux sociaux</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0"/>
        <p:cNvGrpSpPr/>
        <p:nvPr/>
      </p:nvGrpSpPr>
      <p:grpSpPr>
        <a:xfrm>
          <a:off x="0" y="0"/>
          <a:ext cx="0" cy="0"/>
          <a:chOff x="0" y="0"/>
          <a:chExt cx="0" cy="0"/>
        </a:xfrm>
      </p:grpSpPr>
      <p:sp>
        <p:nvSpPr>
          <p:cNvPr id="1861" name="Google Shape;1861;p153"/>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862" name="Google Shape;1862;p153"/>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5</a:t>
            </a:fld>
            <a:endParaRPr/>
          </a:p>
        </p:txBody>
      </p:sp>
      <p:sp>
        <p:nvSpPr>
          <p:cNvPr id="1863" name="Google Shape;1863;p153"/>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1864" name="Google Shape;1864;p153"/>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0"/>
              </a:spcBef>
              <a:spcAft>
                <a:spcPts val="0"/>
              </a:spcAft>
              <a:buClr>
                <a:schemeClr val="dk1"/>
              </a:buClr>
              <a:buSzPts val="1000"/>
              <a:buFont typeface="Arial"/>
              <a:buChar char="•"/>
            </a:pPr>
            <a:r>
              <a:rPr lang="fr-FR"/>
              <a:t>77 % de la population utilise un smartphone, plus particulièrement les jeunes, qui se servent de celui-ci pour surfer sur Internet.</a:t>
            </a:r>
            <a:endParaRPr/>
          </a:p>
          <a:p>
            <a:pPr marL="171450" lvl="0" indent="-171450" algn="l" rtl="0">
              <a:lnSpc>
                <a:spcPct val="100000"/>
              </a:lnSpc>
              <a:spcBef>
                <a:spcPts val="1100"/>
              </a:spcBef>
              <a:spcAft>
                <a:spcPts val="0"/>
              </a:spcAft>
              <a:buClr>
                <a:schemeClr val="dk1"/>
              </a:buClr>
              <a:buSzPts val="1000"/>
              <a:buFont typeface="Arial"/>
              <a:buChar char="•"/>
            </a:pPr>
            <a:r>
              <a:rPr lang="fr-FR"/>
              <a:t>62 % sont inscrites sur les réseaux sociaux.</a:t>
            </a:r>
            <a:endParaRPr/>
          </a:p>
          <a:p>
            <a:pPr marL="171450" lvl="0" indent="-171450" algn="l" rtl="0">
              <a:lnSpc>
                <a:spcPct val="100000"/>
              </a:lnSpc>
              <a:spcBef>
                <a:spcPts val="1100"/>
              </a:spcBef>
              <a:spcAft>
                <a:spcPts val="0"/>
              </a:spcAft>
              <a:buClr>
                <a:schemeClr val="dk1"/>
              </a:buClr>
              <a:buSzPts val="1000"/>
              <a:buFont typeface="Arial"/>
              <a:buChar char="•"/>
            </a:pPr>
            <a:r>
              <a:rPr lang="fr-FR"/>
              <a:t>48 % éprouvent une forme de difficulté qui les empêche d’utiliser pleinement les outils numériques et internet.</a:t>
            </a:r>
            <a:endParaRPr/>
          </a:p>
          <a:p>
            <a:pPr marL="171450" lvl="0" indent="-171450" algn="l" rtl="0">
              <a:lnSpc>
                <a:spcPct val="100000"/>
              </a:lnSpc>
              <a:spcBef>
                <a:spcPts val="1100"/>
              </a:spcBef>
              <a:spcAft>
                <a:spcPts val="0"/>
              </a:spcAft>
              <a:buClr>
                <a:schemeClr val="dk1"/>
              </a:buClr>
              <a:buSzPts val="1000"/>
              <a:buFont typeface="Arial"/>
              <a:buChar char="•"/>
            </a:pPr>
            <a:r>
              <a:rPr lang="fr-FR"/>
              <a:t>7,6 millions de personnes sont concernées par le handicap. Cela correspond à 1 personne sur 7, soit 14 % de la population.</a:t>
            </a:r>
            <a:endParaRPr/>
          </a:p>
        </p:txBody>
      </p:sp>
      <p:sp>
        <p:nvSpPr>
          <p:cNvPr id="1865" name="Google Shape;1865;p153"/>
          <p:cNvSpPr txBox="1">
            <a:spLocks noGrp="1"/>
          </p:cNvSpPr>
          <p:nvPr>
            <p:ph type="body" idx="3"/>
          </p:nvPr>
        </p:nvSpPr>
        <p:spPr>
          <a:xfrm>
            <a:off x="4788023" y="1836000"/>
            <a:ext cx="3995977" cy="27519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Source :  </a:t>
            </a:r>
            <a:endParaRPr/>
          </a:p>
          <a:p>
            <a:pPr marL="0" lvl="0" indent="0" algn="l" rtl="0">
              <a:lnSpc>
                <a:spcPct val="100000"/>
              </a:lnSpc>
              <a:spcBef>
                <a:spcPts val="1100"/>
              </a:spcBef>
              <a:spcAft>
                <a:spcPts val="0"/>
              </a:spcAft>
              <a:buClr>
                <a:schemeClr val="dk1"/>
              </a:buClr>
              <a:buSzPts val="1000"/>
              <a:buNone/>
            </a:pPr>
            <a:r>
              <a:rPr lang="fr-FR"/>
              <a:t>Un numérique accessible pour les personnes handicapées, c’est pour quand ? Sylvie Duchateau</a:t>
            </a:r>
            <a:endParaRPr/>
          </a:p>
          <a:p>
            <a:pPr marL="171450" lvl="0" indent="-171450" algn="l" rtl="0">
              <a:lnSpc>
                <a:spcPct val="100000"/>
              </a:lnSpc>
              <a:spcBef>
                <a:spcPts val="1100"/>
              </a:spcBef>
              <a:spcAft>
                <a:spcPts val="0"/>
              </a:spcAft>
              <a:buClr>
                <a:schemeClr val="dk1"/>
              </a:buClr>
              <a:buSzPts val="1000"/>
              <a:buFont typeface="Arial"/>
              <a:buChar char="•"/>
            </a:pPr>
            <a:r>
              <a:rPr lang="fr-FR" u="sng">
                <a:solidFill>
                  <a:schemeClr val="hlink"/>
                </a:solidFill>
                <a:hlinkClick r:id="rId3"/>
              </a:rPr>
              <a:t>https://fr.slides.access42.net/passageenseine2023/</a:t>
            </a:r>
            <a:endParaRPr/>
          </a:p>
          <a:p>
            <a:pPr marL="0" lvl="0" indent="0" algn="l" rtl="0">
              <a:lnSpc>
                <a:spcPct val="100000"/>
              </a:lnSpc>
              <a:spcBef>
                <a:spcPts val="2300"/>
              </a:spcBef>
              <a:spcAft>
                <a:spcPts val="0"/>
              </a:spcAft>
              <a:buClr>
                <a:schemeClr val="dk1"/>
              </a:buClr>
              <a:buSzPts val="1000"/>
              <a:buNone/>
            </a:pPr>
            <a:r>
              <a:rPr lang="fr-FR" b="1"/>
              <a:t>Communiquer de manière accessible pour être lu par toutes et tous nécessite de respecter certaines règles.</a:t>
            </a:r>
            <a:endParaRPr/>
          </a:p>
          <a:p>
            <a:pPr marL="0" lvl="0" indent="0" algn="l" rtl="0">
              <a:lnSpc>
                <a:spcPct val="100000"/>
              </a:lnSpc>
              <a:spcBef>
                <a:spcPts val="1100"/>
              </a:spcBef>
              <a:spcAft>
                <a:spcPts val="0"/>
              </a:spcAft>
              <a:buClr>
                <a:schemeClr val="dk1"/>
              </a:buClr>
              <a:buSzPts val="1050"/>
              <a:buNone/>
            </a:pPr>
            <a:endParaRPr/>
          </a:p>
        </p:txBody>
      </p:sp>
      <p:sp>
        <p:nvSpPr>
          <p:cNvPr id="1866" name="Google Shape;1866;p153"/>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Un peu de contexte et chiffres clés</a:t>
            </a:r>
            <a:endParaRPr/>
          </a:p>
        </p:txBody>
      </p:sp>
      <p:sp>
        <p:nvSpPr>
          <p:cNvPr id="1867" name="Google Shape;1867;p153"/>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Le saviez-vous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2"/>
        <p:cNvGrpSpPr/>
        <p:nvPr/>
      </p:nvGrpSpPr>
      <p:grpSpPr>
        <a:xfrm>
          <a:off x="0" y="0"/>
          <a:ext cx="0" cy="0"/>
          <a:chOff x="0" y="0"/>
          <a:chExt cx="0" cy="0"/>
        </a:xfrm>
      </p:grpSpPr>
      <p:sp>
        <p:nvSpPr>
          <p:cNvPr id="1873" name="Google Shape;1873;p154"/>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874" name="Google Shape;1874;p154"/>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6</a:t>
            </a:fld>
            <a:endParaRPr/>
          </a:p>
        </p:txBody>
      </p:sp>
      <p:sp>
        <p:nvSpPr>
          <p:cNvPr id="1875" name="Google Shape;1875;p154"/>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1876" name="Google Shape;1876;p154"/>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Impact humain</a:t>
            </a:r>
            <a:endParaRPr/>
          </a:p>
          <a:p>
            <a:pPr marL="0" lvl="0" indent="0" algn="l" rtl="0">
              <a:lnSpc>
                <a:spcPct val="100000"/>
              </a:lnSpc>
              <a:spcBef>
                <a:spcPts val="1100"/>
              </a:spcBef>
              <a:spcAft>
                <a:spcPts val="0"/>
              </a:spcAft>
              <a:buClr>
                <a:schemeClr val="dk1"/>
              </a:buClr>
              <a:buSzPts val="1000"/>
              <a:buNone/>
            </a:pPr>
            <a:r>
              <a:rPr lang="fr-FR"/>
              <a:t>Au-delà du handicap visible :</a:t>
            </a:r>
            <a:endParaRPr/>
          </a:p>
          <a:p>
            <a:pPr marL="171450" lvl="0" indent="-171450" algn="l" rtl="0">
              <a:lnSpc>
                <a:spcPct val="100000"/>
              </a:lnSpc>
              <a:spcBef>
                <a:spcPts val="1100"/>
              </a:spcBef>
              <a:spcAft>
                <a:spcPts val="0"/>
              </a:spcAft>
              <a:buClr>
                <a:schemeClr val="dk1"/>
              </a:buClr>
              <a:buSzPts val="1000"/>
              <a:buFont typeface="Arial"/>
              <a:buChar char="•"/>
            </a:pPr>
            <a:r>
              <a:rPr lang="fr-FR"/>
              <a:t>2,2 milliards de personnes avec des troubles visuels</a:t>
            </a:r>
            <a:endParaRPr/>
          </a:p>
          <a:p>
            <a:pPr marL="171450" lvl="0" indent="-171450" algn="l" rtl="0">
              <a:lnSpc>
                <a:spcPct val="100000"/>
              </a:lnSpc>
              <a:spcBef>
                <a:spcPts val="1100"/>
              </a:spcBef>
              <a:spcAft>
                <a:spcPts val="0"/>
              </a:spcAft>
              <a:buClr>
                <a:schemeClr val="dk1"/>
              </a:buClr>
              <a:buSzPts val="1000"/>
              <a:buFont typeface="Arial"/>
              <a:buChar char="•"/>
            </a:pPr>
            <a:r>
              <a:rPr lang="fr-FR"/>
              <a:t>5% de la population avec des troubles auditifs</a:t>
            </a:r>
            <a:endParaRPr/>
          </a:p>
          <a:p>
            <a:pPr marL="171450" lvl="0" indent="-171450" algn="l" rtl="0">
              <a:lnSpc>
                <a:spcPct val="100000"/>
              </a:lnSpc>
              <a:spcBef>
                <a:spcPts val="1100"/>
              </a:spcBef>
              <a:spcAft>
                <a:spcPts val="0"/>
              </a:spcAft>
              <a:buClr>
                <a:schemeClr val="dk1"/>
              </a:buClr>
              <a:buSzPts val="1000"/>
              <a:buFont typeface="Arial"/>
              <a:buChar char="•"/>
            </a:pPr>
            <a:r>
              <a:rPr lang="fr-FR"/>
              <a:t>Situations temporaires (fatigue, environnement bruyant...)</a:t>
            </a:r>
            <a:endParaRPr/>
          </a:p>
          <a:p>
            <a:pPr marL="171450" lvl="0" indent="-171450" algn="l" rtl="0">
              <a:lnSpc>
                <a:spcPct val="100000"/>
              </a:lnSpc>
              <a:spcBef>
                <a:spcPts val="1100"/>
              </a:spcBef>
              <a:spcAft>
                <a:spcPts val="0"/>
              </a:spcAft>
              <a:buClr>
                <a:schemeClr val="dk1"/>
              </a:buClr>
              <a:buSzPts val="1000"/>
              <a:buFont typeface="Arial"/>
              <a:buChar char="•"/>
            </a:pPr>
            <a:r>
              <a:rPr lang="fr-FR"/>
              <a:t>Personnes âgées</a:t>
            </a:r>
            <a:endParaRPr/>
          </a:p>
          <a:p>
            <a:pPr marL="171450" lvl="0" indent="-171450" algn="l" rtl="0">
              <a:lnSpc>
                <a:spcPct val="100000"/>
              </a:lnSpc>
              <a:spcBef>
                <a:spcPts val="1100"/>
              </a:spcBef>
              <a:spcAft>
                <a:spcPts val="0"/>
              </a:spcAft>
              <a:buClr>
                <a:schemeClr val="dk1"/>
              </a:buClr>
              <a:buSzPts val="1000"/>
              <a:buFont typeface="Arial"/>
              <a:buChar char="•"/>
            </a:pPr>
            <a:r>
              <a:rPr lang="fr-FR"/>
              <a:t>Apprenants d'une langue</a:t>
            </a:r>
            <a:endParaRPr/>
          </a:p>
        </p:txBody>
      </p:sp>
      <p:sp>
        <p:nvSpPr>
          <p:cNvPr id="1877" name="Google Shape;1877;p154"/>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Impact business</a:t>
            </a:r>
            <a:endParaRPr/>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00"/>
              <a:buNone/>
            </a:pPr>
            <a:r>
              <a:rPr lang="fr-FR"/>
              <a:t>L'accessibilité, un investissement rentable</a:t>
            </a:r>
            <a:endParaRPr/>
          </a:p>
          <a:p>
            <a:pPr marL="171450" lvl="0" indent="-171450" algn="l" rtl="0">
              <a:lnSpc>
                <a:spcPct val="100000"/>
              </a:lnSpc>
              <a:spcBef>
                <a:spcPts val="500"/>
              </a:spcBef>
              <a:spcAft>
                <a:spcPts val="0"/>
              </a:spcAft>
              <a:buClr>
                <a:schemeClr val="dk1"/>
              </a:buClr>
              <a:buSzPts val="1000"/>
              <a:buFont typeface="Arial"/>
              <a:buChar char="•"/>
            </a:pPr>
            <a:r>
              <a:rPr lang="fr-FR"/>
              <a:t>Augmentation de l'engagement</a:t>
            </a:r>
            <a:endParaRPr/>
          </a:p>
          <a:p>
            <a:pPr marL="171450" lvl="0" indent="-171450" algn="l" rtl="0">
              <a:lnSpc>
                <a:spcPct val="100000"/>
              </a:lnSpc>
              <a:spcBef>
                <a:spcPts val="500"/>
              </a:spcBef>
              <a:spcAft>
                <a:spcPts val="0"/>
              </a:spcAft>
              <a:buClr>
                <a:schemeClr val="dk1"/>
              </a:buClr>
              <a:buSzPts val="1000"/>
              <a:buFont typeface="Arial"/>
              <a:buChar char="•"/>
            </a:pPr>
            <a:r>
              <a:rPr lang="fr-FR"/>
              <a:t>Amélioration du SEO</a:t>
            </a:r>
            <a:endParaRPr/>
          </a:p>
          <a:p>
            <a:pPr marL="171450" lvl="0" indent="-171450" algn="l" rtl="0">
              <a:lnSpc>
                <a:spcPct val="100000"/>
              </a:lnSpc>
              <a:spcBef>
                <a:spcPts val="500"/>
              </a:spcBef>
              <a:spcAft>
                <a:spcPts val="0"/>
              </a:spcAft>
              <a:buClr>
                <a:schemeClr val="dk1"/>
              </a:buClr>
              <a:buSzPts val="1000"/>
              <a:buFont typeface="Arial"/>
              <a:buChar char="•"/>
            </a:pPr>
            <a:r>
              <a:rPr lang="fr-FR"/>
              <a:t>Protection de la réputation</a:t>
            </a:r>
            <a:endParaRPr/>
          </a:p>
          <a:p>
            <a:pPr marL="171450" lvl="0" indent="-171450" algn="l" rtl="0">
              <a:lnSpc>
                <a:spcPct val="100000"/>
              </a:lnSpc>
              <a:spcBef>
                <a:spcPts val="500"/>
              </a:spcBef>
              <a:spcAft>
                <a:spcPts val="0"/>
              </a:spcAft>
              <a:buClr>
                <a:schemeClr val="dk1"/>
              </a:buClr>
              <a:buSzPts val="1000"/>
              <a:buFont typeface="Arial"/>
              <a:buChar char="•"/>
            </a:pPr>
            <a:r>
              <a:rPr lang="fr-FR"/>
              <a:t>Conformité légale</a:t>
            </a:r>
            <a:endParaRPr/>
          </a:p>
          <a:p>
            <a:pPr marL="171450" lvl="0" indent="-171450" algn="l" rtl="0">
              <a:lnSpc>
                <a:spcPct val="100000"/>
              </a:lnSpc>
              <a:spcBef>
                <a:spcPts val="500"/>
              </a:spcBef>
              <a:spcAft>
                <a:spcPts val="0"/>
              </a:spcAft>
              <a:buClr>
                <a:schemeClr val="dk1"/>
              </a:buClr>
              <a:buSzPts val="1000"/>
              <a:buFont typeface="Arial"/>
              <a:buChar char="•"/>
            </a:pPr>
            <a:r>
              <a:rPr lang="fr-FR"/>
              <a:t>Avantage concurrentiel</a:t>
            </a:r>
            <a:endParaRPr/>
          </a:p>
        </p:txBody>
      </p:sp>
      <p:sp>
        <p:nvSpPr>
          <p:cNvPr id="1878" name="Google Shape;1878;p154"/>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500"/>
              <a:buFont typeface="Arial"/>
              <a:buNone/>
            </a:pPr>
            <a:r>
              <a:rPr lang="fr-FR"/>
              <a:t>Impact </a:t>
            </a:r>
            <a:r>
              <a:rPr lang="fr-FR" sz="2400"/>
              <a:t>humain</a:t>
            </a:r>
            <a:r>
              <a:rPr lang="fr-FR"/>
              <a:t> et impact business</a:t>
            </a:r>
            <a:endParaRPr/>
          </a:p>
        </p:txBody>
      </p:sp>
      <p:sp>
        <p:nvSpPr>
          <p:cNvPr id="1879" name="Google Shape;1879;p154"/>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Augmentation et fidélisation de l’audience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4"/>
        <p:cNvGrpSpPr/>
        <p:nvPr/>
      </p:nvGrpSpPr>
      <p:grpSpPr>
        <a:xfrm>
          <a:off x="0" y="0"/>
          <a:ext cx="0" cy="0"/>
          <a:chOff x="0" y="0"/>
          <a:chExt cx="0" cy="0"/>
        </a:xfrm>
      </p:grpSpPr>
      <p:sp>
        <p:nvSpPr>
          <p:cNvPr id="1885" name="Google Shape;1885;p155"/>
          <p:cNvSpPr txBox="1">
            <a:spLocks noGrp="1"/>
          </p:cNvSpPr>
          <p:nvPr>
            <p:ph type="title"/>
          </p:nvPr>
        </p:nvSpPr>
        <p:spPr>
          <a:xfrm>
            <a:off x="0" y="0"/>
            <a:ext cx="180000" cy="1800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100"/>
              <a:buFont typeface="Arial"/>
              <a:buNone/>
            </a:pPr>
            <a:endParaRPr/>
          </a:p>
        </p:txBody>
      </p:sp>
      <p:sp>
        <p:nvSpPr>
          <p:cNvPr id="1886" name="Google Shape;1886;p155"/>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7</a:t>
            </a:fld>
            <a:endParaRPr/>
          </a:p>
        </p:txBody>
      </p:sp>
      <p:sp>
        <p:nvSpPr>
          <p:cNvPr id="1887" name="Google Shape;1887;p155"/>
          <p:cNvSpPr txBox="1">
            <a:spLocks noGrp="1"/>
          </p:cNvSpPr>
          <p:nvPr>
            <p:ph type="body" idx="1"/>
          </p:nvPr>
        </p:nvSpPr>
        <p:spPr>
          <a:xfrm>
            <a:off x="360000" y="2346046"/>
            <a:ext cx="8424000" cy="1181646"/>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9261B"/>
              </a:buClr>
              <a:buSzPts val="3200"/>
              <a:buNone/>
            </a:pPr>
            <a:r>
              <a:rPr lang="fr-FR" b="1" i="0">
                <a:solidFill>
                  <a:srgbClr val="29261B"/>
                </a:solidFill>
              </a:rPr>
              <a:t>Mise en situation</a:t>
            </a:r>
            <a:endParaRPr/>
          </a:p>
          <a:p>
            <a:pPr marL="0" lvl="0" indent="0" algn="l" rtl="0">
              <a:lnSpc>
                <a:spcPct val="90000"/>
              </a:lnSpc>
              <a:spcBef>
                <a:spcPts val="0"/>
              </a:spcBef>
              <a:spcAft>
                <a:spcPts val="0"/>
              </a:spcAft>
              <a:buClr>
                <a:schemeClr val="dk1"/>
              </a:buClr>
              <a:buSzPts val="3250"/>
              <a:buNone/>
            </a:pPr>
            <a:endParaRPr/>
          </a:p>
        </p:txBody>
      </p:sp>
      <p:sp>
        <p:nvSpPr>
          <p:cNvPr id="1888" name="Google Shape;1888;p155"/>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889" name="Google Shape;1889;p155"/>
          <p:cNvSpPr txBox="1">
            <a:spLocks noGrp="1"/>
          </p:cNvSpPr>
          <p:nvPr>
            <p:ph type="body" idx="2"/>
          </p:nvPr>
        </p:nvSpPr>
        <p:spPr>
          <a:xfrm>
            <a:off x="360363" y="3579861"/>
            <a:ext cx="8423275" cy="100801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Le tweet de l’OMS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4"/>
        <p:cNvGrpSpPr/>
        <p:nvPr/>
      </p:nvGrpSpPr>
      <p:grpSpPr>
        <a:xfrm>
          <a:off x="0" y="0"/>
          <a:ext cx="0" cy="0"/>
          <a:chOff x="0" y="0"/>
          <a:chExt cx="0" cy="0"/>
        </a:xfrm>
      </p:grpSpPr>
      <p:sp>
        <p:nvSpPr>
          <p:cNvPr id="1895" name="Google Shape;1895;p156"/>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896" name="Google Shape;1896;p156"/>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8</a:t>
            </a:fld>
            <a:endParaRPr/>
          </a:p>
        </p:txBody>
      </p:sp>
      <p:sp>
        <p:nvSpPr>
          <p:cNvPr id="1897" name="Google Shape;1897;p156"/>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p:txBody>
      </p:sp>
      <p:sp>
        <p:nvSpPr>
          <p:cNvPr id="1898" name="Google Shape;1898;p156"/>
          <p:cNvSpPr txBox="1">
            <a:spLocks noGrp="1"/>
          </p:cNvSpPr>
          <p:nvPr>
            <p:ph type="body" idx="2"/>
          </p:nvPr>
        </p:nvSpPr>
        <p:spPr>
          <a:xfrm>
            <a:off x="359998" y="1836000"/>
            <a:ext cx="8423275" cy="2679966"/>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Vous en pensez-quoi ?</a:t>
            </a:r>
            <a:endParaRPr/>
          </a:p>
          <a:p>
            <a:pPr marL="171450" lvl="0" indent="-171450" algn="l" rtl="0">
              <a:lnSpc>
                <a:spcPct val="100000"/>
              </a:lnSpc>
              <a:spcBef>
                <a:spcPts val="1100"/>
              </a:spcBef>
              <a:spcAft>
                <a:spcPts val="0"/>
              </a:spcAft>
              <a:buClr>
                <a:schemeClr val="dk1"/>
              </a:buClr>
              <a:buSzPts val="1000"/>
              <a:buFont typeface="Arial"/>
              <a:buChar char="•"/>
            </a:pPr>
            <a:r>
              <a:rPr lang="fr-FR"/>
              <a:t>En quoi ce tweet est problématique du point de vue de l’accessibilité numérique ?</a:t>
            </a:r>
            <a:endParaRPr/>
          </a:p>
          <a:p>
            <a:pPr marL="171450" lvl="0" indent="-171450" algn="l" rtl="0">
              <a:lnSpc>
                <a:spcPct val="100000"/>
              </a:lnSpc>
              <a:spcBef>
                <a:spcPts val="1100"/>
              </a:spcBef>
              <a:spcAft>
                <a:spcPts val="0"/>
              </a:spcAft>
              <a:buClr>
                <a:schemeClr val="dk1"/>
              </a:buClr>
              <a:buSzPts val="1000"/>
              <a:buFont typeface="Arial"/>
              <a:buChar char="•"/>
            </a:pPr>
            <a:r>
              <a:rPr lang="fr-FR"/>
              <a:t>Lien vers le tweet : </a:t>
            </a:r>
            <a:r>
              <a:rPr lang="fr-FR" u="sng">
                <a:solidFill>
                  <a:schemeClr val="hlink"/>
                </a:solidFill>
                <a:hlinkClick r:id="rId3"/>
              </a:rPr>
              <a:t>https://twitter.com/ONU_fr/status/1239099514369142784</a:t>
            </a:r>
            <a:endParaRPr/>
          </a:p>
          <a:p>
            <a:pPr marL="171450" lvl="0" indent="-104775" algn="l" rtl="0">
              <a:lnSpc>
                <a:spcPct val="100000"/>
              </a:lnSpc>
              <a:spcBef>
                <a:spcPts val="500"/>
              </a:spcBef>
              <a:spcAft>
                <a:spcPts val="0"/>
              </a:spcAft>
              <a:buClr>
                <a:schemeClr val="dk1"/>
              </a:buClr>
              <a:buSzPts val="1050"/>
              <a:buFont typeface="Arial"/>
              <a:buNone/>
            </a:pPr>
            <a:endParaRPr/>
          </a:p>
          <a:p>
            <a:pPr marL="0" lvl="0" indent="0" algn="l" rtl="0">
              <a:lnSpc>
                <a:spcPct val="100000"/>
              </a:lnSpc>
              <a:spcBef>
                <a:spcPts val="500"/>
              </a:spcBef>
              <a:spcAft>
                <a:spcPts val="0"/>
              </a:spcAft>
              <a:buClr>
                <a:schemeClr val="dk2"/>
              </a:buClr>
              <a:buSzPts val="1000"/>
              <a:buNone/>
            </a:pPr>
            <a:r>
              <a:rPr lang="fr-FR" b="1">
                <a:solidFill>
                  <a:schemeClr val="dk2"/>
                </a:solidFill>
              </a:rPr>
              <a:t>Protégez-vous de la #COVID19 :</a:t>
            </a:r>
            <a:endParaRPr/>
          </a:p>
          <a:p>
            <a:pPr marL="0" lvl="0" indent="0" algn="l" rtl="0">
              <a:lnSpc>
                <a:spcPct val="200000"/>
              </a:lnSpc>
              <a:spcBef>
                <a:spcPts val="500"/>
              </a:spcBef>
              <a:spcAft>
                <a:spcPts val="0"/>
              </a:spcAft>
              <a:buClr>
                <a:schemeClr val="dk1"/>
              </a:buClr>
              <a:buSzPts val="1000"/>
              <a:buNone/>
            </a:pPr>
            <a:r>
              <a:rPr lang="fr-FR"/>
              <a:t>Lavez-vous les 👐 avec 1 désinfectant à base d’alcool, du 🧼 &amp; de l’💦.</a:t>
            </a:r>
            <a:endParaRPr/>
          </a:p>
          <a:p>
            <a:pPr marL="0" lvl="0" indent="0" algn="l" rtl="0">
              <a:lnSpc>
                <a:spcPct val="200000"/>
              </a:lnSpc>
              <a:spcBef>
                <a:spcPts val="500"/>
              </a:spcBef>
              <a:spcAft>
                <a:spcPts val="0"/>
              </a:spcAft>
              <a:buClr>
                <a:schemeClr val="dk1"/>
              </a:buClr>
              <a:buSzPts val="1000"/>
              <a:buNone/>
            </a:pPr>
            <a:r>
              <a:rPr lang="fr-FR"/>
              <a:t>Quand vous toussez ou 🤧 couvrez votre 👄 &amp; le👃🏻 dans le pli du coude ou mouchoir.</a:t>
            </a:r>
            <a:endParaRPr/>
          </a:p>
          <a:p>
            <a:pPr marL="0" lvl="0" indent="0" algn="l" rtl="0">
              <a:lnSpc>
                <a:spcPct val="200000"/>
              </a:lnSpc>
              <a:spcBef>
                <a:spcPts val="500"/>
              </a:spcBef>
              <a:spcAft>
                <a:spcPts val="0"/>
              </a:spcAft>
              <a:buClr>
                <a:schemeClr val="dk1"/>
              </a:buClr>
              <a:buSzPts val="1000"/>
              <a:buNone/>
            </a:pPr>
            <a:r>
              <a:rPr lang="fr-FR"/>
              <a:t>Evitez de toucher les 👀, le👃 &amp; la 👄.</a:t>
            </a:r>
            <a:endParaRPr/>
          </a:p>
        </p:txBody>
      </p:sp>
      <p:sp>
        <p:nvSpPr>
          <p:cNvPr id="1899" name="Google Shape;1899;p156"/>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Mise en situation – Tweet de l’OMS</a:t>
            </a:r>
            <a:endParaRPr/>
          </a:p>
        </p:txBody>
      </p:sp>
      <p:sp>
        <p:nvSpPr>
          <p:cNvPr id="1900" name="Google Shape;1900;p156"/>
          <p:cNvSpPr txBox="1">
            <a:spLocks noGrp="1"/>
          </p:cNvSpPr>
          <p:nvPr>
            <p:ph type="body" idx="3"/>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Un exemple concret – Tweet de l’Organisation des Nations- Unis (ONU) et de l’Organisation Mondiale de la Santé (OMS)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5"/>
        <p:cNvGrpSpPr/>
        <p:nvPr/>
      </p:nvGrpSpPr>
      <p:grpSpPr>
        <a:xfrm>
          <a:off x="0" y="0"/>
          <a:ext cx="0" cy="0"/>
          <a:chOff x="0" y="0"/>
          <a:chExt cx="0" cy="0"/>
        </a:xfrm>
      </p:grpSpPr>
      <p:sp>
        <p:nvSpPr>
          <p:cNvPr id="1906" name="Google Shape;1906;p157"/>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907" name="Google Shape;1907;p157"/>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9</a:t>
            </a:fld>
            <a:endParaRPr/>
          </a:p>
        </p:txBody>
      </p:sp>
      <p:sp>
        <p:nvSpPr>
          <p:cNvPr id="1908" name="Google Shape;1908;p157"/>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p:txBody>
      </p:sp>
      <p:sp>
        <p:nvSpPr>
          <p:cNvPr id="1909" name="Google Shape;1909;p157"/>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Mise en situation – Tweet de l’OMS – capture écran</a:t>
            </a:r>
            <a:endParaRPr/>
          </a:p>
        </p:txBody>
      </p:sp>
      <p:sp>
        <p:nvSpPr>
          <p:cNvPr id="1910" name="Google Shape;1910;p157"/>
          <p:cNvSpPr txBox="1">
            <a:spLocks noGrp="1"/>
          </p:cNvSpPr>
          <p:nvPr>
            <p:ph type="body" idx="3"/>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Un exemple concret – Tweet de l’Organisation des Nations- Unis (ONU) et de l’Organisation Mondiale de la Santé (OMS)</a:t>
            </a:r>
            <a:endParaRPr/>
          </a:p>
        </p:txBody>
      </p:sp>
      <p:pic>
        <p:nvPicPr>
          <p:cNvPr id="1911" name="Google Shape;1911;p157"/>
          <p:cNvPicPr preferRelativeResize="0"/>
          <p:nvPr/>
        </p:nvPicPr>
        <p:blipFill rotWithShape="1">
          <a:blip r:embed="rId3">
            <a:alphaModFix/>
          </a:blip>
          <a:srcRect/>
          <a:stretch/>
        </p:blipFill>
        <p:spPr>
          <a:xfrm>
            <a:off x="340905" y="1804527"/>
            <a:ext cx="5065309" cy="2912553"/>
          </a:xfrm>
          <a:prstGeom prst="rect">
            <a:avLst/>
          </a:prstGeom>
          <a:noFill/>
          <a:ln>
            <a:noFill/>
          </a:ln>
        </p:spPr>
      </p:pic>
      <p:pic>
        <p:nvPicPr>
          <p:cNvPr id="1912" name="Google Shape;1912;p157"/>
          <p:cNvPicPr preferRelativeResize="0"/>
          <p:nvPr/>
        </p:nvPicPr>
        <p:blipFill rotWithShape="1">
          <a:blip r:embed="rId4">
            <a:alphaModFix/>
          </a:blip>
          <a:srcRect/>
          <a:stretch/>
        </p:blipFill>
        <p:spPr>
          <a:xfrm>
            <a:off x="5446424" y="1849387"/>
            <a:ext cx="2679966" cy="267996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7"/>
        <p:cNvGrpSpPr/>
        <p:nvPr/>
      </p:nvGrpSpPr>
      <p:grpSpPr>
        <a:xfrm>
          <a:off x="0" y="0"/>
          <a:ext cx="0" cy="0"/>
          <a:chOff x="0" y="0"/>
          <a:chExt cx="0" cy="0"/>
        </a:xfrm>
      </p:grpSpPr>
      <p:sp>
        <p:nvSpPr>
          <p:cNvPr id="1918" name="Google Shape;1918;p158"/>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919" name="Google Shape;1919;p158"/>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10</a:t>
            </a:fld>
            <a:endParaRPr/>
          </a:p>
        </p:txBody>
      </p:sp>
      <p:sp>
        <p:nvSpPr>
          <p:cNvPr id="1920" name="Google Shape;1920;p158"/>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1921" name="Google Shape;1921;p158"/>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Ce que vous voyez :</a:t>
            </a:r>
            <a:endParaRPr/>
          </a:p>
          <a:p>
            <a:pPr marL="171450" lvl="0" indent="-171450" algn="l" rtl="0">
              <a:lnSpc>
                <a:spcPct val="100000"/>
              </a:lnSpc>
              <a:spcBef>
                <a:spcPts val="1100"/>
              </a:spcBef>
              <a:spcAft>
                <a:spcPts val="0"/>
              </a:spcAft>
              <a:buClr>
                <a:schemeClr val="dk1"/>
              </a:buClr>
              <a:buSzPts val="1000"/>
              <a:buFont typeface="Arial"/>
              <a:buChar char="•"/>
            </a:pPr>
            <a:r>
              <a:rPr lang="fr-FR"/>
              <a:t>Un tweet officiel de l'OMS</a:t>
            </a:r>
            <a:endParaRPr/>
          </a:p>
          <a:p>
            <a:pPr marL="171450" lvl="0" indent="-171450" algn="l" rtl="0">
              <a:lnSpc>
                <a:spcPct val="100000"/>
              </a:lnSpc>
              <a:spcBef>
                <a:spcPts val="1100"/>
              </a:spcBef>
              <a:spcAft>
                <a:spcPts val="0"/>
              </a:spcAft>
              <a:buClr>
                <a:schemeClr val="dk1"/>
              </a:buClr>
              <a:buSzPts val="1000"/>
              <a:buFont typeface="Arial"/>
              <a:buChar char="•"/>
            </a:pPr>
            <a:r>
              <a:rPr lang="fr-FR"/>
              <a:t>Des émojis pour illustrer</a:t>
            </a:r>
            <a:endParaRPr/>
          </a:p>
          <a:p>
            <a:pPr marL="171450" lvl="0" indent="-171450" algn="l" rtl="0">
              <a:lnSpc>
                <a:spcPct val="100000"/>
              </a:lnSpc>
              <a:spcBef>
                <a:spcPts val="1100"/>
              </a:spcBef>
              <a:spcAft>
                <a:spcPts val="0"/>
              </a:spcAft>
              <a:buClr>
                <a:schemeClr val="dk1"/>
              </a:buClr>
              <a:buSzPts val="1000"/>
              <a:buFont typeface="Arial"/>
              <a:buChar char="•"/>
            </a:pPr>
            <a:r>
              <a:rPr lang="fr-FR"/>
              <a:t>Un message de santé publique</a:t>
            </a:r>
            <a:endParaRPr/>
          </a:p>
        </p:txBody>
      </p:sp>
      <p:sp>
        <p:nvSpPr>
          <p:cNvPr id="1922" name="Google Shape;1922;p158"/>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Ce qu'entend un lecteur d'écran :</a:t>
            </a:r>
            <a:endParaRPr/>
          </a:p>
          <a:p>
            <a:pPr marL="0" lvl="0" indent="0" algn="l" rtl="0">
              <a:lnSpc>
                <a:spcPct val="100000"/>
              </a:lnSpc>
              <a:spcBef>
                <a:spcPts val="1100"/>
              </a:spcBef>
              <a:spcAft>
                <a:spcPts val="0"/>
              </a:spcAft>
              <a:buClr>
                <a:schemeClr val="dk1"/>
              </a:buClr>
              <a:buSzPts val="1000"/>
              <a:buNone/>
            </a:pPr>
            <a:r>
              <a:rPr lang="fr-FR"/>
              <a:t>Lavez-vous les mains ouvertes avec du savon et éclaboussures de sueur.</a:t>
            </a:r>
            <a:endParaRPr/>
          </a:p>
          <a:p>
            <a:pPr marL="0" lvl="0" indent="0" algn="l" rtl="0">
              <a:lnSpc>
                <a:spcPct val="100000"/>
              </a:lnSpc>
              <a:spcBef>
                <a:spcPts val="11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50"/>
              <a:buNone/>
            </a:pPr>
            <a:endParaRPr/>
          </a:p>
        </p:txBody>
      </p:sp>
      <p:sp>
        <p:nvSpPr>
          <p:cNvPr id="1923" name="Google Shape;1923;p158"/>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Analyse interactive des problèmes</a:t>
            </a:r>
            <a:endParaRPr/>
          </a:p>
        </p:txBody>
      </p:sp>
      <p:sp>
        <p:nvSpPr>
          <p:cNvPr id="1924" name="Google Shape;1924;p158"/>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Le tweet de l’OMS - </a:t>
            </a:r>
            <a:r>
              <a:rPr lang="fr-FR" u="sng">
                <a:solidFill>
                  <a:schemeClr val="hlink"/>
                </a:solidFill>
                <a:hlinkClick r:id="rId3"/>
              </a:rPr>
              <a:t>https://twitter.com/ONU_fr/status/1239099514369142784</a:t>
            </a:r>
            <a:endParaRPr/>
          </a:p>
          <a:p>
            <a:pPr marL="0" lvl="0" indent="0" algn="l" rtl="0">
              <a:lnSpc>
                <a:spcPct val="100000"/>
              </a:lnSpc>
              <a:spcBef>
                <a:spcPts val="500"/>
              </a:spcBef>
              <a:spcAft>
                <a:spcPts val="0"/>
              </a:spcAft>
              <a:buClr>
                <a:srgbClr val="595959"/>
              </a:buClr>
              <a:buSzPts val="1100"/>
              <a:buNone/>
            </a:pPr>
            <a:endParaRPr/>
          </a:p>
        </p:txBody>
      </p:sp>
      <p:pic>
        <p:nvPicPr>
          <p:cNvPr id="1925" name="Google Shape;1925;p158" descr="lavez vous les mains covid"/>
          <p:cNvPicPr preferRelativeResize="0"/>
          <p:nvPr/>
        </p:nvPicPr>
        <p:blipFill rotWithShape="1">
          <a:blip r:embed="rId4">
            <a:alphaModFix/>
          </a:blip>
          <a:srcRect/>
          <a:stretch/>
        </p:blipFill>
        <p:spPr>
          <a:xfrm>
            <a:off x="5148064" y="2783697"/>
            <a:ext cx="2540000" cy="1435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5"/>
                                        </p:tgtEl>
                                        <p:attrNameLst>
                                          <p:attrName>style.visibility</p:attrName>
                                        </p:attrNameLst>
                                      </p:cBhvr>
                                      <p:to>
                                        <p:strVal val="visible"/>
                                      </p:to>
                                    </p:set>
                                    <p:animEffect transition="in" filter="fade">
                                      <p:cBhvr>
                                        <p:cTn id="7" dur="1"/>
                                        <p:tgtEl>
                                          <p:spTgt spid="1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30"/>
        <p:cNvGrpSpPr/>
        <p:nvPr/>
      </p:nvGrpSpPr>
      <p:grpSpPr>
        <a:xfrm>
          <a:off x="0" y="0"/>
          <a:ext cx="0" cy="0"/>
          <a:chOff x="0" y="0"/>
          <a:chExt cx="0" cy="0"/>
        </a:xfrm>
      </p:grpSpPr>
      <p:sp>
        <p:nvSpPr>
          <p:cNvPr id="1931" name="Google Shape;1931;p159"/>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932" name="Google Shape;1932;p159"/>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11</a:t>
            </a:fld>
            <a:endParaRPr/>
          </a:p>
        </p:txBody>
      </p:sp>
      <p:sp>
        <p:nvSpPr>
          <p:cNvPr id="1933" name="Google Shape;1933;p159"/>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1934" name="Google Shape;1934;p159"/>
          <p:cNvSpPr txBox="1">
            <a:spLocks noGrp="1"/>
          </p:cNvSpPr>
          <p:nvPr>
            <p:ph type="body" idx="2"/>
          </p:nvPr>
        </p:nvSpPr>
        <p:spPr>
          <a:xfrm>
            <a:off x="359999"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Structure</a:t>
            </a:r>
            <a:endParaRPr/>
          </a:p>
          <a:p>
            <a:pPr marL="171450" lvl="0" indent="-171450" algn="l" rtl="0">
              <a:lnSpc>
                <a:spcPct val="100000"/>
              </a:lnSpc>
              <a:spcBef>
                <a:spcPts val="1100"/>
              </a:spcBef>
              <a:spcAft>
                <a:spcPts val="0"/>
              </a:spcAft>
              <a:buClr>
                <a:schemeClr val="dk1"/>
              </a:buClr>
              <a:buSzPts val="1000"/>
              <a:buFont typeface="Arial"/>
              <a:buChar char="•"/>
            </a:pPr>
            <a:r>
              <a:rPr lang="fr-FR"/>
              <a:t>Message confus</a:t>
            </a:r>
            <a:endParaRPr/>
          </a:p>
          <a:p>
            <a:pPr marL="171450" lvl="0" indent="-171450" algn="l" rtl="0">
              <a:lnSpc>
                <a:spcPct val="100000"/>
              </a:lnSpc>
              <a:spcBef>
                <a:spcPts val="1100"/>
              </a:spcBef>
              <a:spcAft>
                <a:spcPts val="0"/>
              </a:spcAft>
              <a:buClr>
                <a:schemeClr val="dk1"/>
              </a:buClr>
              <a:buSzPts val="1000"/>
              <a:buFont typeface="Arial"/>
              <a:buChar char="•"/>
            </a:pPr>
            <a:r>
              <a:rPr lang="fr-FR"/>
              <a:t>Absence d'alternatives</a:t>
            </a:r>
            <a:endParaRPr/>
          </a:p>
          <a:p>
            <a:pPr marL="171450" lvl="0" indent="-171450" algn="l" rtl="0">
              <a:lnSpc>
                <a:spcPct val="100000"/>
              </a:lnSpc>
              <a:spcBef>
                <a:spcPts val="1100"/>
              </a:spcBef>
              <a:spcAft>
                <a:spcPts val="0"/>
              </a:spcAft>
              <a:buClr>
                <a:schemeClr val="dk1"/>
              </a:buClr>
              <a:buSzPts val="1000"/>
              <a:buFont typeface="Arial"/>
              <a:buChar char="•"/>
            </a:pPr>
            <a:r>
              <a:rPr lang="fr-FR"/>
              <a:t>Organisation peu claire</a:t>
            </a:r>
            <a:endParaRPr/>
          </a:p>
          <a:p>
            <a:pPr marL="0" lvl="0" indent="0" algn="l" rtl="0">
              <a:lnSpc>
                <a:spcPct val="200000"/>
              </a:lnSpc>
              <a:spcBef>
                <a:spcPts val="500"/>
              </a:spcBef>
              <a:spcAft>
                <a:spcPts val="0"/>
              </a:spcAft>
              <a:buClr>
                <a:schemeClr val="dk2"/>
              </a:buClr>
              <a:buSzPts val="1000"/>
              <a:buNone/>
            </a:pPr>
            <a:r>
              <a:rPr lang="fr-FR" b="1">
                <a:solidFill>
                  <a:schemeClr val="dk2"/>
                </a:solidFill>
              </a:rPr>
              <a:t>Impact sur l'accessibilité </a:t>
            </a:r>
            <a:endParaRPr/>
          </a:p>
          <a:p>
            <a:pPr marL="171450" lvl="0" indent="-171450" algn="l" rtl="0">
              <a:lnSpc>
                <a:spcPct val="150000"/>
              </a:lnSpc>
              <a:spcBef>
                <a:spcPts val="500"/>
              </a:spcBef>
              <a:spcAft>
                <a:spcPts val="0"/>
              </a:spcAft>
              <a:buClr>
                <a:schemeClr val="dk1"/>
              </a:buClr>
              <a:buSzPts val="1000"/>
              <a:buFont typeface="Arial"/>
              <a:buChar char="•"/>
            </a:pPr>
            <a:r>
              <a:rPr lang="fr-FR"/>
              <a:t>Lecture par synthèse vocale </a:t>
            </a:r>
            <a:endParaRPr/>
          </a:p>
          <a:p>
            <a:pPr marL="171450" lvl="0" indent="-171450" algn="l" rtl="0">
              <a:lnSpc>
                <a:spcPct val="150000"/>
              </a:lnSpc>
              <a:spcBef>
                <a:spcPts val="500"/>
              </a:spcBef>
              <a:spcAft>
                <a:spcPts val="0"/>
              </a:spcAft>
              <a:buClr>
                <a:schemeClr val="dk1"/>
              </a:buClr>
              <a:buSzPts val="1000"/>
              <a:buFont typeface="Arial"/>
              <a:buChar char="•"/>
            </a:pPr>
            <a:r>
              <a:rPr lang="fr-FR"/>
              <a:t>Confusion du message </a:t>
            </a:r>
            <a:endParaRPr/>
          </a:p>
          <a:p>
            <a:pPr marL="171450" lvl="0" indent="-171450" algn="l" rtl="0">
              <a:lnSpc>
                <a:spcPct val="150000"/>
              </a:lnSpc>
              <a:spcBef>
                <a:spcPts val="500"/>
              </a:spcBef>
              <a:spcAft>
                <a:spcPts val="0"/>
              </a:spcAft>
              <a:buClr>
                <a:schemeClr val="dk1"/>
              </a:buClr>
              <a:buSzPts val="1000"/>
              <a:buFont typeface="Arial"/>
              <a:buChar char="•"/>
            </a:pPr>
            <a:r>
              <a:rPr lang="fr-FR"/>
              <a:t>Perte d'information</a:t>
            </a:r>
            <a:endParaRPr/>
          </a:p>
          <a:p>
            <a:pPr marL="0" lvl="0" indent="0" algn="l" rtl="0">
              <a:lnSpc>
                <a:spcPct val="100000"/>
              </a:lnSpc>
              <a:spcBef>
                <a:spcPts val="1100"/>
              </a:spcBef>
              <a:spcAft>
                <a:spcPts val="0"/>
              </a:spcAft>
              <a:buClr>
                <a:schemeClr val="dk1"/>
              </a:buClr>
              <a:buSzPts val="1050"/>
              <a:buNone/>
            </a:pPr>
            <a:endParaRPr/>
          </a:p>
        </p:txBody>
      </p:sp>
      <p:sp>
        <p:nvSpPr>
          <p:cNvPr id="1935" name="Google Shape;1935;p159"/>
          <p:cNvSpPr txBox="1">
            <a:spLocks noGrp="1"/>
          </p:cNvSpPr>
          <p:nvPr>
            <p:ph type="body" idx="3"/>
          </p:nvPr>
        </p:nvSpPr>
        <p:spPr>
          <a:xfrm>
            <a:off x="3312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Problèmes avec les émojis</a:t>
            </a:r>
            <a:endParaRPr/>
          </a:p>
          <a:p>
            <a:pPr marL="171450" lvl="0" indent="-171450" algn="l" rtl="0">
              <a:lnSpc>
                <a:spcPct val="100000"/>
              </a:lnSpc>
              <a:spcBef>
                <a:spcPts val="1100"/>
              </a:spcBef>
              <a:spcAft>
                <a:spcPts val="0"/>
              </a:spcAft>
              <a:buClr>
                <a:schemeClr val="dk1"/>
              </a:buClr>
              <a:buSzPts val="1000"/>
              <a:buFont typeface="Arial"/>
              <a:buChar char="•"/>
            </a:pPr>
            <a:r>
              <a:rPr lang="fr-FR"/>
              <a:t>Surcharge d'émojis</a:t>
            </a:r>
            <a:endParaRPr/>
          </a:p>
          <a:p>
            <a:pPr marL="171450" lvl="0" indent="-171450" algn="l" rtl="0">
              <a:lnSpc>
                <a:spcPct val="100000"/>
              </a:lnSpc>
              <a:spcBef>
                <a:spcPts val="1100"/>
              </a:spcBef>
              <a:spcAft>
                <a:spcPts val="0"/>
              </a:spcAft>
              <a:buClr>
                <a:schemeClr val="dk1"/>
              </a:buClr>
              <a:buSzPts val="1000"/>
              <a:buFont typeface="Arial"/>
              <a:buChar char="•"/>
            </a:pPr>
            <a:r>
              <a:rPr lang="fr-FR"/>
              <a:t>Interruption de la lecture</a:t>
            </a:r>
            <a:endParaRPr/>
          </a:p>
          <a:p>
            <a:pPr marL="171450" lvl="0" indent="-171450" algn="l" rtl="0">
              <a:lnSpc>
                <a:spcPct val="100000"/>
              </a:lnSpc>
              <a:spcBef>
                <a:spcPts val="1100"/>
              </a:spcBef>
              <a:spcAft>
                <a:spcPts val="0"/>
              </a:spcAft>
              <a:buClr>
                <a:schemeClr val="dk1"/>
              </a:buClr>
              <a:buSzPts val="1000"/>
              <a:buFont typeface="Arial"/>
              <a:buChar char="•"/>
            </a:pPr>
            <a:r>
              <a:rPr lang="fr-FR"/>
              <a:t>Description non pertinente</a:t>
            </a:r>
            <a:endParaRPr/>
          </a:p>
        </p:txBody>
      </p:sp>
      <p:sp>
        <p:nvSpPr>
          <p:cNvPr id="1936" name="Google Shape;1936;p159"/>
          <p:cNvSpPr txBox="1">
            <a:spLocks noGrp="1"/>
          </p:cNvSpPr>
          <p:nvPr>
            <p:ph type="body" idx="4"/>
          </p:nvPr>
        </p:nvSpPr>
        <p:spPr>
          <a:xfrm>
            <a:off x="6264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Problème de contraste sur l’infographie</a:t>
            </a:r>
            <a:endParaRPr/>
          </a:p>
          <a:p>
            <a:pPr marL="171450" lvl="0" indent="-171450" algn="l" rtl="0">
              <a:lnSpc>
                <a:spcPct val="100000"/>
              </a:lnSpc>
              <a:spcBef>
                <a:spcPts val="1100"/>
              </a:spcBef>
              <a:spcAft>
                <a:spcPts val="0"/>
              </a:spcAft>
              <a:buClr>
                <a:schemeClr val="dk1"/>
              </a:buClr>
              <a:buSzPts val="1000"/>
              <a:buFont typeface="Arial"/>
              <a:buChar char="•"/>
            </a:pPr>
            <a:r>
              <a:rPr lang="fr-FR"/>
              <a:t>Couleur de premier plan : #FCFBFF</a:t>
            </a:r>
            <a:endParaRPr/>
          </a:p>
          <a:p>
            <a:pPr marL="171450" lvl="0" indent="-171450" algn="l" rtl="0">
              <a:lnSpc>
                <a:spcPct val="100000"/>
              </a:lnSpc>
              <a:spcBef>
                <a:spcPts val="1100"/>
              </a:spcBef>
              <a:spcAft>
                <a:spcPts val="0"/>
              </a:spcAft>
              <a:buClr>
                <a:schemeClr val="dk1"/>
              </a:buClr>
              <a:buSzPts val="1000"/>
              <a:buFont typeface="Arial"/>
              <a:buChar char="•"/>
            </a:pPr>
            <a:r>
              <a:rPr lang="fr-FR"/>
              <a:t>Couleur d'arrière-plan : #0099CB</a:t>
            </a:r>
            <a:endParaRPr/>
          </a:p>
          <a:p>
            <a:pPr marL="171450" lvl="0" indent="-171450" algn="l" rtl="0">
              <a:lnSpc>
                <a:spcPct val="100000"/>
              </a:lnSpc>
              <a:spcBef>
                <a:spcPts val="1100"/>
              </a:spcBef>
              <a:spcAft>
                <a:spcPts val="0"/>
              </a:spcAft>
              <a:buClr>
                <a:schemeClr val="dk1"/>
              </a:buClr>
              <a:buSzPts val="1000"/>
              <a:buFont typeface="Arial"/>
              <a:buChar char="•"/>
            </a:pPr>
            <a:r>
              <a:rPr lang="fr-FR"/>
              <a:t>Ratio de contraste : 3,2:1 (insuffisant)</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Alternative textuelle au contenu riche</a:t>
            </a:r>
            <a:endParaRPr/>
          </a:p>
          <a:p>
            <a:pPr marL="171450" lvl="0" indent="-171450" algn="l" rtl="0">
              <a:lnSpc>
                <a:spcPct val="100000"/>
              </a:lnSpc>
              <a:spcBef>
                <a:spcPts val="1100"/>
              </a:spcBef>
              <a:spcAft>
                <a:spcPts val="0"/>
              </a:spcAft>
              <a:buClr>
                <a:schemeClr val="dk1"/>
              </a:buClr>
              <a:buSzPts val="1000"/>
              <a:buFont typeface="Arial"/>
              <a:buChar char="•"/>
            </a:pPr>
            <a:r>
              <a:rPr lang="fr-FR"/>
              <a:t>Pas de lien vers une alternative dans le corps du texte ou en commentaire</a:t>
            </a:r>
            <a:endParaRPr/>
          </a:p>
        </p:txBody>
      </p:sp>
      <p:sp>
        <p:nvSpPr>
          <p:cNvPr id="1937" name="Google Shape;1937;p159"/>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Démonstration des problèmes</a:t>
            </a:r>
            <a:endParaRPr/>
          </a:p>
        </p:txBody>
      </p:sp>
      <p:sp>
        <p:nvSpPr>
          <p:cNvPr id="1938" name="Google Shape;1938;p159"/>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Analyse détaillée des problèmes : https://twitter.com/ONU_fr/status/1239099514369142784</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3"/>
        <p:cNvGrpSpPr/>
        <p:nvPr/>
      </p:nvGrpSpPr>
      <p:grpSpPr>
        <a:xfrm>
          <a:off x="0" y="0"/>
          <a:ext cx="0" cy="0"/>
          <a:chOff x="0" y="0"/>
          <a:chExt cx="0" cy="0"/>
        </a:xfrm>
      </p:grpSpPr>
      <p:sp>
        <p:nvSpPr>
          <p:cNvPr id="1944" name="Google Shape;1944;p160"/>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945" name="Google Shape;1945;p160"/>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12</a:t>
            </a:fld>
            <a:endParaRPr/>
          </a:p>
        </p:txBody>
      </p:sp>
      <p:sp>
        <p:nvSpPr>
          <p:cNvPr id="1946" name="Google Shape;1946;p160"/>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1947" name="Google Shape;1947;p160"/>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000"/>
              <a:buNone/>
            </a:pPr>
            <a:r>
              <a:rPr lang="fr-FR"/>
              <a:t>Protégez-vous du #COVID19 :</a:t>
            </a:r>
            <a:endParaRPr/>
          </a:p>
          <a:p>
            <a:pPr marL="0" lvl="0" indent="0" algn="l" rtl="0">
              <a:lnSpc>
                <a:spcPct val="100000"/>
              </a:lnSpc>
              <a:spcBef>
                <a:spcPts val="1700"/>
              </a:spcBef>
              <a:spcAft>
                <a:spcPts val="0"/>
              </a:spcAft>
              <a:buClr>
                <a:schemeClr val="dk1"/>
              </a:buClr>
              <a:buSzPts val="1000"/>
              <a:buNone/>
            </a:pPr>
            <a:r>
              <a:rPr lang="fr-FR"/>
              <a:t>Trois gestes essentiels :</a:t>
            </a:r>
            <a:endParaRPr/>
          </a:p>
          <a:p>
            <a:pPr marL="0" lvl="0" indent="0" algn="l" rtl="0">
              <a:lnSpc>
                <a:spcPct val="100000"/>
              </a:lnSpc>
              <a:spcBef>
                <a:spcPts val="1700"/>
              </a:spcBef>
              <a:spcAft>
                <a:spcPts val="0"/>
              </a:spcAft>
              <a:buClr>
                <a:schemeClr val="dk1"/>
              </a:buClr>
              <a:buSzPts val="1000"/>
              <a:buNone/>
            </a:pPr>
            <a:r>
              <a:rPr lang="fr-FR"/>
              <a:t>1. Lavez-vous régulièrement les mains avec du savon et de l'eau 🧼</a:t>
            </a:r>
            <a:endParaRPr/>
          </a:p>
          <a:p>
            <a:pPr marL="0" lvl="0" indent="0" algn="l" rtl="0">
              <a:lnSpc>
                <a:spcPct val="100000"/>
              </a:lnSpc>
              <a:spcBef>
                <a:spcPts val="1700"/>
              </a:spcBef>
              <a:spcAft>
                <a:spcPts val="0"/>
              </a:spcAft>
              <a:buClr>
                <a:schemeClr val="dk1"/>
              </a:buClr>
              <a:buSzPts val="1000"/>
              <a:buNone/>
            </a:pPr>
            <a:r>
              <a:rPr lang="fr-FR"/>
              <a:t>2. Quand vous toussez, couvrez-vous le visage avec le pli du coude</a:t>
            </a:r>
            <a:endParaRPr/>
          </a:p>
          <a:p>
            <a:pPr marL="0" lvl="0" indent="0" algn="l" rtl="0">
              <a:lnSpc>
                <a:spcPct val="100000"/>
              </a:lnSpc>
              <a:spcBef>
                <a:spcPts val="1700"/>
              </a:spcBef>
              <a:spcAft>
                <a:spcPts val="0"/>
              </a:spcAft>
              <a:buClr>
                <a:schemeClr val="dk1"/>
              </a:buClr>
              <a:buSzPts val="1000"/>
              <a:buNone/>
            </a:pPr>
            <a:r>
              <a:rPr lang="fr-FR"/>
              <a:t>3. Évitez de toucher votre visage</a:t>
            </a:r>
            <a:endParaRPr/>
          </a:p>
        </p:txBody>
      </p:sp>
      <p:sp>
        <p:nvSpPr>
          <p:cNvPr id="1948" name="Google Shape;1948;p160"/>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Points clés améliorés :</a:t>
            </a:r>
            <a:endParaRPr/>
          </a:p>
          <a:p>
            <a:pPr marL="0" lvl="0" indent="0" algn="l" rtl="0">
              <a:lnSpc>
                <a:spcPct val="100000"/>
              </a:lnSpc>
              <a:spcBef>
                <a:spcPts val="500"/>
              </a:spcBef>
              <a:spcAft>
                <a:spcPts val="0"/>
              </a:spcAft>
              <a:buClr>
                <a:schemeClr val="dk1"/>
              </a:buClr>
              <a:buSzPts val="1050"/>
              <a:buNone/>
            </a:pPr>
            <a:endParaRPr/>
          </a:p>
          <a:p>
            <a:pPr marL="171450" lvl="0" indent="-171450" algn="l" rtl="0">
              <a:lnSpc>
                <a:spcPct val="100000"/>
              </a:lnSpc>
              <a:spcBef>
                <a:spcPts val="1100"/>
              </a:spcBef>
              <a:spcAft>
                <a:spcPts val="0"/>
              </a:spcAft>
              <a:buClr>
                <a:schemeClr val="dk1"/>
              </a:buClr>
              <a:buSzPts val="1000"/>
              <a:buFont typeface="Arial"/>
              <a:buChar char="•"/>
            </a:pPr>
            <a:r>
              <a:rPr lang="fr-FR"/>
              <a:t>Message clair et structuré</a:t>
            </a:r>
            <a:endParaRPr/>
          </a:p>
          <a:p>
            <a:pPr marL="171450" lvl="0" indent="-171450" algn="l" rtl="0">
              <a:lnSpc>
                <a:spcPct val="100000"/>
              </a:lnSpc>
              <a:spcBef>
                <a:spcPts val="1100"/>
              </a:spcBef>
              <a:spcAft>
                <a:spcPts val="0"/>
              </a:spcAft>
              <a:buClr>
                <a:schemeClr val="dk1"/>
              </a:buClr>
              <a:buSzPts val="1000"/>
              <a:buFont typeface="Arial"/>
              <a:buChar char="•"/>
            </a:pPr>
            <a:r>
              <a:rPr lang="fr-FR"/>
              <a:t>Émojis limités et en fin de phrase</a:t>
            </a:r>
            <a:endParaRPr/>
          </a:p>
          <a:p>
            <a:pPr marL="171450" lvl="0" indent="-171450" algn="l" rtl="0">
              <a:lnSpc>
                <a:spcPct val="100000"/>
              </a:lnSpc>
              <a:spcBef>
                <a:spcPts val="1100"/>
              </a:spcBef>
              <a:spcAft>
                <a:spcPts val="0"/>
              </a:spcAft>
              <a:buClr>
                <a:schemeClr val="dk1"/>
              </a:buClr>
              <a:buSzPts val="1000"/>
              <a:buFont typeface="Arial"/>
              <a:buChar char="•"/>
            </a:pPr>
            <a:r>
              <a:rPr lang="fr-FR"/>
              <a:t>Information complète sans dépendre des émojis</a:t>
            </a:r>
            <a:endParaRPr/>
          </a:p>
        </p:txBody>
      </p:sp>
      <p:sp>
        <p:nvSpPr>
          <p:cNvPr id="1949" name="Google Shape;1949;p160"/>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Version accessible du tweet de l’OMS</a:t>
            </a:r>
            <a:endParaRPr/>
          </a:p>
        </p:txBody>
      </p:sp>
      <p:sp>
        <p:nvSpPr>
          <p:cNvPr id="1950" name="Google Shape;1950;p160"/>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Version corrigée du tweet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5"/>
        <p:cNvGrpSpPr/>
        <p:nvPr/>
      </p:nvGrpSpPr>
      <p:grpSpPr>
        <a:xfrm>
          <a:off x="0" y="0"/>
          <a:ext cx="0" cy="0"/>
          <a:chOff x="0" y="0"/>
          <a:chExt cx="0" cy="0"/>
        </a:xfrm>
      </p:grpSpPr>
      <p:sp>
        <p:nvSpPr>
          <p:cNvPr id="1956" name="Google Shape;1956;p161"/>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957" name="Google Shape;1957;p161"/>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13</a:t>
            </a:fld>
            <a:endParaRPr/>
          </a:p>
        </p:txBody>
      </p:sp>
      <p:sp>
        <p:nvSpPr>
          <p:cNvPr id="1958" name="Google Shape;1958;p161"/>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1959" name="Google Shape;1959;p161"/>
          <p:cNvSpPr txBox="1">
            <a:spLocks noGrp="1"/>
          </p:cNvSpPr>
          <p:nvPr>
            <p:ph type="body" idx="2"/>
          </p:nvPr>
        </p:nvSpPr>
        <p:spPr>
          <a:xfrm>
            <a:off x="359999"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Démonstration en direct</a:t>
            </a:r>
            <a:endParaRPr/>
          </a:p>
          <a:p>
            <a:pPr marL="0" lvl="0" indent="0" algn="l" rtl="0">
              <a:lnSpc>
                <a:spcPct val="200000"/>
              </a:lnSpc>
              <a:spcBef>
                <a:spcPts val="500"/>
              </a:spcBef>
              <a:spcAft>
                <a:spcPts val="0"/>
              </a:spcAft>
              <a:buClr>
                <a:schemeClr val="dk1"/>
              </a:buClr>
              <a:buSzPts val="1000"/>
              <a:buNone/>
            </a:pPr>
            <a:r>
              <a:rPr lang="fr-FR"/>
              <a:t>👐 = mains ouvertes</a:t>
            </a:r>
            <a:endParaRPr/>
          </a:p>
          <a:p>
            <a:pPr marL="0" lvl="0" indent="0" algn="l" rtl="0">
              <a:lnSpc>
                <a:spcPct val="200000"/>
              </a:lnSpc>
              <a:spcBef>
                <a:spcPts val="500"/>
              </a:spcBef>
              <a:spcAft>
                <a:spcPts val="0"/>
              </a:spcAft>
              <a:buClr>
                <a:schemeClr val="dk1"/>
              </a:buClr>
              <a:buSzPts val="1000"/>
              <a:buNone/>
            </a:pPr>
            <a:r>
              <a:rPr lang="fr-FR"/>
              <a:t>🧼 = savon</a:t>
            </a:r>
            <a:endParaRPr/>
          </a:p>
          <a:p>
            <a:pPr marL="0" lvl="0" indent="0" algn="l" rtl="0">
              <a:lnSpc>
                <a:spcPct val="200000"/>
              </a:lnSpc>
              <a:spcBef>
                <a:spcPts val="500"/>
              </a:spcBef>
              <a:spcAft>
                <a:spcPts val="0"/>
              </a:spcAft>
              <a:buClr>
                <a:schemeClr val="dk1"/>
              </a:buClr>
              <a:buSzPts val="1000"/>
              <a:buNone/>
            </a:pPr>
            <a:r>
              <a:rPr lang="fr-FR"/>
              <a:t>💦 = éclaboussures de sueur</a:t>
            </a:r>
            <a:endParaRPr/>
          </a:p>
        </p:txBody>
      </p:sp>
      <p:sp>
        <p:nvSpPr>
          <p:cNvPr id="1960" name="Google Shape;1960;p161"/>
          <p:cNvSpPr txBox="1">
            <a:spLocks noGrp="1"/>
          </p:cNvSpPr>
          <p:nvPr>
            <p:ph type="body" idx="3"/>
          </p:nvPr>
        </p:nvSpPr>
        <p:spPr>
          <a:xfrm>
            <a:off x="3312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Exemple impactant</a:t>
            </a:r>
            <a:endParaRPr/>
          </a:p>
          <a:p>
            <a:pPr marL="0" lvl="0" indent="0" algn="l" rtl="0">
              <a:lnSpc>
                <a:spcPct val="200000"/>
              </a:lnSpc>
              <a:spcBef>
                <a:spcPts val="500"/>
              </a:spcBef>
              <a:spcAft>
                <a:spcPts val="0"/>
              </a:spcAft>
              <a:buClr>
                <a:schemeClr val="dk2"/>
              </a:buClr>
              <a:buSzPts val="1000"/>
              <a:buNone/>
            </a:pPr>
            <a:r>
              <a:rPr lang="fr-FR" b="1">
                <a:solidFill>
                  <a:schemeClr val="dk2"/>
                </a:solidFill>
              </a:rPr>
              <a:t>Exemple du tweet de l'OMS</a:t>
            </a:r>
            <a:endParaRPr/>
          </a:p>
          <a:p>
            <a:pPr marL="0" lvl="0" indent="0" algn="l" rtl="0">
              <a:lnSpc>
                <a:spcPct val="100000"/>
              </a:lnSpc>
              <a:spcBef>
                <a:spcPts val="500"/>
              </a:spcBef>
              <a:spcAft>
                <a:spcPts val="0"/>
              </a:spcAft>
              <a:buClr>
                <a:schemeClr val="dk1"/>
              </a:buClr>
              <a:buSzPts val="1000"/>
              <a:buNone/>
            </a:pPr>
            <a:r>
              <a:rPr lang="fr-FR"/>
              <a:t>Protégez-vous du #COVID19 : lavez-vous les 👐 avec du 🧼 et 💦</a:t>
            </a:r>
            <a:endParaRPr/>
          </a:p>
          <a:p>
            <a:pPr marL="0" lvl="0" indent="0" algn="l" rtl="0">
              <a:lnSpc>
                <a:spcPct val="200000"/>
              </a:lnSpc>
              <a:spcBef>
                <a:spcPts val="500"/>
              </a:spcBef>
              <a:spcAft>
                <a:spcPts val="0"/>
              </a:spcAft>
              <a:buClr>
                <a:schemeClr val="dk2"/>
              </a:buClr>
              <a:buSzPts val="1000"/>
              <a:buNone/>
            </a:pPr>
            <a:r>
              <a:rPr lang="fr-FR" b="1">
                <a:solidFill>
                  <a:schemeClr val="dk2"/>
                </a:solidFill>
              </a:rPr>
              <a:t>Lu par un lecteur d'écran :</a:t>
            </a:r>
            <a:endParaRPr/>
          </a:p>
          <a:p>
            <a:pPr marL="0" lvl="0" indent="0" algn="l" rtl="0">
              <a:lnSpc>
                <a:spcPct val="100000"/>
              </a:lnSpc>
              <a:spcBef>
                <a:spcPts val="500"/>
              </a:spcBef>
              <a:spcAft>
                <a:spcPts val="0"/>
              </a:spcAft>
              <a:buClr>
                <a:schemeClr val="dk1"/>
              </a:buClr>
              <a:buSzPts val="1000"/>
              <a:buNone/>
            </a:pPr>
            <a:r>
              <a:rPr lang="fr-FR"/>
              <a:t>Lavez-vous les mains ouvertes avec du savon et éclaboussures de sueur.</a:t>
            </a:r>
            <a:endParaRPr/>
          </a:p>
        </p:txBody>
      </p:sp>
      <p:sp>
        <p:nvSpPr>
          <p:cNvPr id="1961" name="Google Shape;1961;p161"/>
          <p:cNvSpPr txBox="1">
            <a:spLocks noGrp="1"/>
          </p:cNvSpPr>
          <p:nvPr>
            <p:ph type="body" idx="4"/>
          </p:nvPr>
        </p:nvSpPr>
        <p:spPr>
          <a:xfrm>
            <a:off x="6264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000"/>
              <a:buNone/>
            </a:pPr>
            <a:r>
              <a:rPr lang="fr-FR"/>
              <a:t>Les émojis peuvent rendre votre message incompréhensible.</a:t>
            </a:r>
            <a:endParaRPr/>
          </a:p>
          <a:p>
            <a:pPr marL="0" lvl="0" indent="0" algn="l" rtl="0">
              <a:lnSpc>
                <a:spcPct val="200000"/>
              </a:lnSpc>
              <a:spcBef>
                <a:spcPts val="500"/>
              </a:spcBef>
              <a:spcAft>
                <a:spcPts val="0"/>
              </a:spcAft>
              <a:buClr>
                <a:schemeClr val="dk2"/>
              </a:buClr>
              <a:buSzPts val="1000"/>
              <a:buNone/>
            </a:pPr>
            <a:r>
              <a:rPr lang="fr-FR" b="1">
                <a:solidFill>
                  <a:schemeClr val="dk2"/>
                </a:solidFill>
              </a:rPr>
              <a:t>Post corrigé</a:t>
            </a:r>
            <a:endParaRPr/>
          </a:p>
          <a:p>
            <a:pPr marL="0" lvl="0" indent="0" algn="l" rtl="0">
              <a:lnSpc>
                <a:spcPct val="100000"/>
              </a:lnSpc>
              <a:spcBef>
                <a:spcPts val="500"/>
              </a:spcBef>
              <a:spcAft>
                <a:spcPts val="0"/>
              </a:spcAft>
              <a:buClr>
                <a:schemeClr val="dk1"/>
              </a:buClr>
              <a:buSzPts val="1000"/>
              <a:buNone/>
            </a:pPr>
            <a:r>
              <a:rPr lang="fr-FR"/>
              <a:t>Protégez-vous du #COVID19 : lavez-vous les mains avec du savon et de l'eau 🧼</a:t>
            </a:r>
            <a:endParaRPr/>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50"/>
              <a:buNone/>
            </a:pPr>
            <a:endParaRPr/>
          </a:p>
        </p:txBody>
      </p:sp>
      <p:sp>
        <p:nvSpPr>
          <p:cNvPr id="1962" name="Google Shape;1962;p161"/>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Mise en situation – Tweet de l’OMS - 2</a:t>
            </a:r>
            <a:endParaRPr/>
          </a:p>
        </p:txBody>
      </p:sp>
      <p:sp>
        <p:nvSpPr>
          <p:cNvPr id="1963" name="Google Shape;1963;p161"/>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Ce que vous voyez ≠ Ce qui est lu</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7"/>
        <p:cNvGrpSpPr/>
        <p:nvPr/>
      </p:nvGrpSpPr>
      <p:grpSpPr>
        <a:xfrm>
          <a:off x="0" y="0"/>
          <a:ext cx="0" cy="0"/>
          <a:chOff x="0" y="0"/>
          <a:chExt cx="0" cy="0"/>
        </a:xfrm>
      </p:grpSpPr>
      <p:sp>
        <p:nvSpPr>
          <p:cNvPr id="1968" name="Google Shape;1968;p162"/>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969" name="Google Shape;1969;p162"/>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14</a:t>
            </a:fld>
            <a:endParaRPr/>
          </a:p>
        </p:txBody>
      </p:sp>
      <p:sp>
        <p:nvSpPr>
          <p:cNvPr id="1970" name="Google Shape;1970;p162"/>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1971" name="Google Shape;1971;p162"/>
          <p:cNvSpPr txBox="1">
            <a:spLocks noGrp="1"/>
          </p:cNvSpPr>
          <p:nvPr>
            <p:ph type="body" idx="3"/>
          </p:nvPr>
        </p:nvSpPr>
        <p:spPr>
          <a:xfrm>
            <a:off x="4788023" y="1836000"/>
            <a:ext cx="3995977" cy="2947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800"/>
              <a:buNone/>
            </a:pPr>
            <a:r>
              <a:rPr lang="fr-FR" sz="800"/>
              <a:t>ampoule Prévenir les maladies hivernales: adoptons les bons gestes! flocon visage qui éternue</a:t>
            </a:r>
            <a:endParaRPr/>
          </a:p>
          <a:p>
            <a:pPr marL="0" lvl="0" indent="0" algn="l" rtl="0">
              <a:lnSpc>
                <a:spcPct val="100000"/>
              </a:lnSpc>
              <a:spcBef>
                <a:spcPts val="500"/>
              </a:spcBef>
              <a:spcAft>
                <a:spcPts val="0"/>
              </a:spcAft>
              <a:buClr>
                <a:schemeClr val="dk1"/>
              </a:buClr>
              <a:buSzPts val="800"/>
              <a:buNone/>
            </a:pPr>
            <a:r>
              <a:rPr lang="fr-FR" sz="800"/>
              <a:t>Avec l’hiver, les virus comme le rhume, la grippe et la Covid circulent activement. Pour se protéger et protéger les autres, voici les gestes d’hygiène essentiels à</a:t>
            </a:r>
            <a:endParaRPr/>
          </a:p>
          <a:p>
            <a:pPr marL="0" lvl="0" indent="0" algn="l" rtl="0">
              <a:lnSpc>
                <a:spcPct val="100000"/>
              </a:lnSpc>
              <a:spcBef>
                <a:spcPts val="500"/>
              </a:spcBef>
              <a:spcAft>
                <a:spcPts val="0"/>
              </a:spcAft>
              <a:buClr>
                <a:schemeClr val="dk1"/>
              </a:buClr>
              <a:buSzPts val="800"/>
              <a:buNone/>
            </a:pPr>
            <a:r>
              <a:rPr lang="fr-FR" sz="800"/>
              <a:t>adopter :</a:t>
            </a:r>
            <a:endParaRPr/>
          </a:p>
          <a:p>
            <a:pPr marL="0" lvl="0" indent="0" algn="l" rtl="0">
              <a:lnSpc>
                <a:spcPct val="100000"/>
              </a:lnSpc>
              <a:spcBef>
                <a:spcPts val="500"/>
              </a:spcBef>
              <a:spcAft>
                <a:spcPts val="0"/>
              </a:spcAft>
              <a:buClr>
                <a:schemeClr val="dk1"/>
              </a:buClr>
              <a:buSzPts val="800"/>
              <a:buNone/>
            </a:pPr>
            <a:r>
              <a:rPr lang="fr-FR" sz="800"/>
              <a:t>keycap : 1 Lavez-vous les mains régulièrement : Utilisez de l’eau gouttes de sueur et du savon savon pendant 20secondes ou du gel hydroalcoolique. C’est la</a:t>
            </a:r>
            <a:endParaRPr/>
          </a:p>
          <a:p>
            <a:pPr marL="0" lvl="0" indent="0" algn="l" rtl="0">
              <a:lnSpc>
                <a:spcPct val="100000"/>
              </a:lnSpc>
              <a:spcBef>
                <a:spcPts val="500"/>
              </a:spcBef>
              <a:spcAft>
                <a:spcPts val="0"/>
              </a:spcAft>
              <a:buClr>
                <a:schemeClr val="dk1"/>
              </a:buClr>
              <a:buSzPts val="800"/>
              <a:buNone/>
            </a:pPr>
            <a:r>
              <a:rPr lang="fr-FR" sz="800"/>
              <a:t>première barrière contre les microbes.</a:t>
            </a:r>
            <a:endParaRPr/>
          </a:p>
          <a:p>
            <a:pPr marL="0" lvl="0" indent="0" algn="l" rtl="0">
              <a:lnSpc>
                <a:spcPct val="100000"/>
              </a:lnSpc>
              <a:spcBef>
                <a:spcPts val="500"/>
              </a:spcBef>
              <a:spcAft>
                <a:spcPts val="0"/>
              </a:spcAft>
              <a:buClr>
                <a:schemeClr val="dk1"/>
              </a:buClr>
              <a:buSzPts val="800"/>
              <a:buNone/>
            </a:pPr>
            <a:r>
              <a:rPr lang="fr-FR" sz="800"/>
              <a:t>keycap : 2 Portez un masque si vous êtes malade visage avec masque : Cela limite la propagation des virus dans les lieux publics ou en présence de personnes</a:t>
            </a:r>
            <a:endParaRPr/>
          </a:p>
          <a:p>
            <a:pPr marL="0" lvl="0" indent="0" algn="l" rtl="0">
              <a:lnSpc>
                <a:spcPct val="100000"/>
              </a:lnSpc>
              <a:spcBef>
                <a:spcPts val="500"/>
              </a:spcBef>
              <a:spcAft>
                <a:spcPts val="0"/>
              </a:spcAft>
              <a:buClr>
                <a:schemeClr val="dk1"/>
              </a:buClr>
              <a:buSzPts val="800"/>
              <a:buNone/>
            </a:pPr>
            <a:r>
              <a:rPr lang="fr-FR" sz="800"/>
              <a:t>fragiles.</a:t>
            </a:r>
            <a:endParaRPr/>
          </a:p>
          <a:p>
            <a:pPr marL="0" lvl="0" indent="0" algn="l" rtl="0">
              <a:lnSpc>
                <a:spcPct val="100000"/>
              </a:lnSpc>
              <a:spcBef>
                <a:spcPts val="500"/>
              </a:spcBef>
              <a:spcAft>
                <a:spcPts val="0"/>
              </a:spcAft>
              <a:buClr>
                <a:schemeClr val="dk1"/>
              </a:buClr>
              <a:buSzPts val="800"/>
              <a:buNone/>
            </a:pPr>
            <a:r>
              <a:rPr lang="fr-FR" sz="800"/>
              <a:t>keycap : 3 Aérez votre intérieur décamper : Ouvrez les fenêtres 10 minutes, deux fois par jour, pour renouveler l’air et réduire la concentration de microbes.</a:t>
            </a:r>
            <a:endParaRPr/>
          </a:p>
          <a:p>
            <a:pPr marL="0" lvl="0" indent="0" algn="l" rtl="0">
              <a:lnSpc>
                <a:spcPct val="100000"/>
              </a:lnSpc>
              <a:spcBef>
                <a:spcPts val="500"/>
              </a:spcBef>
              <a:spcAft>
                <a:spcPts val="0"/>
              </a:spcAft>
              <a:buClr>
                <a:schemeClr val="dk1"/>
              </a:buClr>
              <a:buSzPts val="800"/>
              <a:buNone/>
            </a:pPr>
            <a:r>
              <a:rPr lang="fr-FR" sz="800"/>
              <a:t>Ensemble, soyons solidaires et vigilants pour un hiver en bonne santé ! coeur bleu</a:t>
            </a:r>
            <a:endParaRPr/>
          </a:p>
          <a:p>
            <a:pPr marL="0" lvl="0" indent="0" algn="l" rtl="0">
              <a:lnSpc>
                <a:spcPct val="100000"/>
              </a:lnSpc>
              <a:spcBef>
                <a:spcPts val="500"/>
              </a:spcBef>
              <a:spcAft>
                <a:spcPts val="0"/>
              </a:spcAft>
              <a:buClr>
                <a:schemeClr val="dk1"/>
              </a:buClr>
              <a:buSzPts val="800"/>
              <a:buNone/>
            </a:pPr>
            <a:r>
              <a:rPr lang="fr-FR" sz="800"/>
              <a:t>Et vous, quels sont vos petits gestes au quotidien pour rester en forme ? main avec index pointant vers le bas lien hashtag Santé lien hashtag Hygiène lien hashtag</a:t>
            </a:r>
            <a:endParaRPr/>
          </a:p>
          <a:p>
            <a:pPr marL="0" lvl="0" indent="0" algn="l" rtl="0">
              <a:lnSpc>
                <a:spcPct val="100000"/>
              </a:lnSpc>
              <a:spcBef>
                <a:spcPts val="500"/>
              </a:spcBef>
              <a:spcAft>
                <a:spcPts val="0"/>
              </a:spcAft>
              <a:buClr>
                <a:schemeClr val="dk1"/>
              </a:buClr>
              <a:buSzPts val="800"/>
              <a:buNone/>
            </a:pPr>
            <a:r>
              <a:rPr lang="fr-FR" sz="800"/>
              <a:t>Hiver</a:t>
            </a:r>
            <a:endParaRPr/>
          </a:p>
        </p:txBody>
      </p:sp>
      <p:sp>
        <p:nvSpPr>
          <p:cNvPr id="1972" name="Google Shape;1972;p162"/>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Autre exemple de restitution</a:t>
            </a:r>
            <a:endParaRPr/>
          </a:p>
        </p:txBody>
      </p:sp>
      <p:sp>
        <p:nvSpPr>
          <p:cNvPr id="1973" name="Google Shape;1973;p162"/>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La restitution varie selon les lecteur d’écran</a:t>
            </a:r>
            <a:endParaRPr/>
          </a:p>
        </p:txBody>
      </p:sp>
      <p:pic>
        <p:nvPicPr>
          <p:cNvPr id="1974" name="Google Shape;1974;p162"/>
          <p:cNvPicPr preferRelativeResize="0"/>
          <p:nvPr/>
        </p:nvPicPr>
        <p:blipFill rotWithShape="1">
          <a:blip r:embed="rId3">
            <a:alphaModFix/>
          </a:blip>
          <a:srcRect/>
          <a:stretch/>
        </p:blipFill>
        <p:spPr>
          <a:xfrm>
            <a:off x="359998" y="1836000"/>
            <a:ext cx="3190313" cy="267153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8"/>
        <p:cNvGrpSpPr/>
        <p:nvPr/>
      </p:nvGrpSpPr>
      <p:grpSpPr>
        <a:xfrm>
          <a:off x="0" y="0"/>
          <a:ext cx="0" cy="0"/>
          <a:chOff x="0" y="0"/>
          <a:chExt cx="0" cy="0"/>
        </a:xfrm>
      </p:grpSpPr>
      <p:sp>
        <p:nvSpPr>
          <p:cNvPr id="1979" name="Google Shape;1979;p163"/>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980" name="Google Shape;1980;p163"/>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15</a:t>
            </a:fld>
            <a:endParaRPr/>
          </a:p>
        </p:txBody>
      </p:sp>
      <p:sp>
        <p:nvSpPr>
          <p:cNvPr id="1981" name="Google Shape;1981;p163"/>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1982" name="Google Shape;1982;p163"/>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Exemple du post sur Dune avec que des émojis</a:t>
            </a:r>
            <a:endParaRPr/>
          </a:p>
        </p:txBody>
      </p:sp>
      <p:sp>
        <p:nvSpPr>
          <p:cNvPr id="1983" name="Google Shape;1983;p163"/>
          <p:cNvSpPr txBox="1">
            <a:spLocks noGrp="1"/>
          </p:cNvSpPr>
          <p:nvPr>
            <p:ph type="body" idx="3"/>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https://www.linkedin.com/feed/update/urn:li:activity:7263100505097211904/#</a:t>
            </a:r>
            <a:endParaRPr/>
          </a:p>
        </p:txBody>
      </p:sp>
      <p:pic>
        <p:nvPicPr>
          <p:cNvPr id="1984" name="Google Shape;1984;p163"/>
          <p:cNvPicPr preferRelativeResize="0"/>
          <p:nvPr/>
        </p:nvPicPr>
        <p:blipFill rotWithShape="1">
          <a:blip r:embed="rId3">
            <a:alphaModFix/>
          </a:blip>
          <a:srcRect/>
          <a:stretch/>
        </p:blipFill>
        <p:spPr>
          <a:xfrm>
            <a:off x="359998" y="1964212"/>
            <a:ext cx="3275898" cy="281928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9"/>
        <p:cNvGrpSpPr/>
        <p:nvPr/>
      </p:nvGrpSpPr>
      <p:grpSpPr>
        <a:xfrm>
          <a:off x="0" y="0"/>
          <a:ext cx="0" cy="0"/>
          <a:chOff x="0" y="0"/>
          <a:chExt cx="0" cy="0"/>
        </a:xfrm>
      </p:grpSpPr>
      <p:sp>
        <p:nvSpPr>
          <p:cNvPr id="1990" name="Google Shape;1990;p164"/>
          <p:cNvSpPr txBox="1">
            <a:spLocks noGrp="1"/>
          </p:cNvSpPr>
          <p:nvPr>
            <p:ph type="title"/>
          </p:nvPr>
        </p:nvSpPr>
        <p:spPr>
          <a:xfrm>
            <a:off x="0" y="0"/>
            <a:ext cx="180000" cy="1800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100"/>
              <a:buFont typeface="Arial"/>
              <a:buNone/>
            </a:pPr>
            <a:endParaRPr/>
          </a:p>
        </p:txBody>
      </p:sp>
      <p:sp>
        <p:nvSpPr>
          <p:cNvPr id="1991" name="Google Shape;1991;p164"/>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16</a:t>
            </a:fld>
            <a:endParaRPr/>
          </a:p>
        </p:txBody>
      </p:sp>
      <p:sp>
        <p:nvSpPr>
          <p:cNvPr id="1992" name="Google Shape;1992;p164"/>
          <p:cNvSpPr txBox="1">
            <a:spLocks noGrp="1"/>
          </p:cNvSpPr>
          <p:nvPr>
            <p:ph type="body" idx="1"/>
          </p:nvPr>
        </p:nvSpPr>
        <p:spPr>
          <a:xfrm>
            <a:off x="360000" y="2346046"/>
            <a:ext cx="8424000" cy="1181646"/>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200"/>
              <a:buNone/>
            </a:pPr>
            <a:r>
              <a:rPr lang="fr-FR"/>
              <a:t>Section médias</a:t>
            </a:r>
            <a:endParaRPr/>
          </a:p>
        </p:txBody>
      </p:sp>
      <p:sp>
        <p:nvSpPr>
          <p:cNvPr id="1993" name="Google Shape;1993;p164"/>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1994" name="Google Shape;1994;p164"/>
          <p:cNvSpPr txBox="1">
            <a:spLocks noGrp="1"/>
          </p:cNvSpPr>
          <p:nvPr>
            <p:ph type="body" idx="2"/>
          </p:nvPr>
        </p:nvSpPr>
        <p:spPr>
          <a:xfrm>
            <a:off x="360363" y="3579861"/>
            <a:ext cx="8423275" cy="100801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La plupart des règles et des bonnes pratiques ont été vues dans la séquence précédente.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9"/>
        <p:cNvGrpSpPr/>
        <p:nvPr/>
      </p:nvGrpSpPr>
      <p:grpSpPr>
        <a:xfrm>
          <a:off x="0" y="0"/>
          <a:ext cx="0" cy="0"/>
          <a:chOff x="0" y="0"/>
          <a:chExt cx="0" cy="0"/>
        </a:xfrm>
      </p:grpSpPr>
      <p:sp>
        <p:nvSpPr>
          <p:cNvPr id="2000" name="Google Shape;2000;p165"/>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001" name="Google Shape;2001;p165"/>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17</a:t>
            </a:fld>
            <a:endParaRPr/>
          </a:p>
        </p:txBody>
      </p:sp>
      <p:sp>
        <p:nvSpPr>
          <p:cNvPr id="2002" name="Google Shape;2002;p165"/>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003" name="Google Shape;2003;p165"/>
          <p:cNvSpPr txBox="1">
            <a:spLocks noGrp="1"/>
          </p:cNvSpPr>
          <p:nvPr>
            <p:ph type="body" idx="2"/>
          </p:nvPr>
        </p:nvSpPr>
        <p:spPr>
          <a:xfrm>
            <a:off x="359998" y="1836000"/>
            <a:ext cx="8423275" cy="2679966"/>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Les piliers de l'accessibilité des médias :</a:t>
            </a:r>
            <a:endParaRPr/>
          </a:p>
          <a:p>
            <a:pPr marL="171450" lvl="0" indent="-171450" algn="l" rtl="0">
              <a:lnSpc>
                <a:spcPct val="100000"/>
              </a:lnSpc>
              <a:spcBef>
                <a:spcPts val="1700"/>
              </a:spcBef>
              <a:spcAft>
                <a:spcPts val="0"/>
              </a:spcAft>
              <a:buClr>
                <a:schemeClr val="dk1"/>
              </a:buClr>
              <a:buSzPts val="1000"/>
              <a:buFont typeface="Arial"/>
              <a:buChar char="•"/>
            </a:pPr>
            <a:r>
              <a:rPr lang="fr-FR"/>
              <a:t>Images décrites</a:t>
            </a:r>
            <a:endParaRPr/>
          </a:p>
          <a:p>
            <a:pPr marL="171450" lvl="0" indent="-171450" algn="l" rtl="0">
              <a:lnSpc>
                <a:spcPct val="100000"/>
              </a:lnSpc>
              <a:spcBef>
                <a:spcPts val="1700"/>
              </a:spcBef>
              <a:spcAft>
                <a:spcPts val="0"/>
              </a:spcAft>
              <a:buClr>
                <a:schemeClr val="dk1"/>
              </a:buClr>
              <a:buSzPts val="1000"/>
              <a:buFont typeface="Arial"/>
              <a:buChar char="•"/>
            </a:pPr>
            <a:r>
              <a:rPr lang="fr-FR"/>
              <a:t>Vidéos sous-titrées</a:t>
            </a:r>
            <a:endParaRPr/>
          </a:p>
          <a:p>
            <a:pPr marL="171450" lvl="0" indent="-171450" algn="l" rtl="0">
              <a:lnSpc>
                <a:spcPct val="100000"/>
              </a:lnSpc>
              <a:spcBef>
                <a:spcPts val="1700"/>
              </a:spcBef>
              <a:spcAft>
                <a:spcPts val="0"/>
              </a:spcAft>
              <a:buClr>
                <a:schemeClr val="dk1"/>
              </a:buClr>
              <a:buSzPts val="1000"/>
              <a:buFont typeface="Arial"/>
              <a:buChar char="•"/>
            </a:pPr>
            <a:r>
              <a:rPr lang="fr-FR"/>
              <a:t>Contrastes vérifiés</a:t>
            </a:r>
            <a:endParaRPr/>
          </a:p>
          <a:p>
            <a:pPr marL="0" lvl="0" indent="0" algn="l" rtl="0">
              <a:lnSpc>
                <a:spcPct val="100000"/>
              </a:lnSpc>
              <a:spcBef>
                <a:spcPts val="1700"/>
              </a:spcBef>
              <a:spcAft>
                <a:spcPts val="0"/>
              </a:spcAft>
              <a:buClr>
                <a:schemeClr val="dk2"/>
              </a:buClr>
              <a:buSzPts val="1000"/>
              <a:buNone/>
            </a:pPr>
            <a:r>
              <a:rPr lang="fr-FR" b="1">
                <a:solidFill>
                  <a:schemeClr val="dk2"/>
                </a:solidFill>
              </a:rPr>
              <a:t>Message clé :</a:t>
            </a:r>
            <a:endParaRPr/>
          </a:p>
          <a:p>
            <a:pPr marL="171450" lvl="0" indent="-171450" algn="l" rtl="0">
              <a:lnSpc>
                <a:spcPct val="100000"/>
              </a:lnSpc>
              <a:spcBef>
                <a:spcPts val="1700"/>
              </a:spcBef>
              <a:spcAft>
                <a:spcPts val="0"/>
              </a:spcAft>
              <a:buClr>
                <a:schemeClr val="dk1"/>
              </a:buClr>
              <a:buSzPts val="1000"/>
              <a:buFont typeface="Arial"/>
              <a:buChar char="•"/>
            </a:pPr>
            <a:r>
              <a:rPr lang="fr-FR"/>
              <a:t>Les médias représentent la majorité du contenu sur les réseaux sociaux.</a:t>
            </a:r>
            <a:endParaRPr/>
          </a:p>
          <a:p>
            <a:pPr marL="171450" lvl="0" indent="-171450" algn="l" rtl="0">
              <a:lnSpc>
                <a:spcPct val="100000"/>
              </a:lnSpc>
              <a:spcBef>
                <a:spcPts val="1700"/>
              </a:spcBef>
              <a:spcAft>
                <a:spcPts val="0"/>
              </a:spcAft>
              <a:buClr>
                <a:schemeClr val="dk1"/>
              </a:buClr>
              <a:buSzPts val="1000"/>
              <a:buFont typeface="Arial"/>
              <a:buChar char="•"/>
            </a:pPr>
            <a:r>
              <a:rPr lang="fr-FR"/>
              <a:t>Il convient donc d’être vigilant pour n’exclure personne.</a:t>
            </a:r>
            <a:endParaRPr/>
          </a:p>
          <a:p>
            <a:pPr marL="0" lvl="0" indent="0" algn="l" rtl="0">
              <a:lnSpc>
                <a:spcPct val="100000"/>
              </a:lnSpc>
              <a:spcBef>
                <a:spcPts val="1100"/>
              </a:spcBef>
              <a:spcAft>
                <a:spcPts val="0"/>
              </a:spcAft>
              <a:buClr>
                <a:schemeClr val="dk1"/>
              </a:buClr>
              <a:buSzPts val="1050"/>
              <a:buNone/>
            </a:pPr>
            <a:endParaRPr/>
          </a:p>
        </p:txBody>
      </p:sp>
      <p:sp>
        <p:nvSpPr>
          <p:cNvPr id="2004" name="Google Shape;2004;p165"/>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Introduction aux médias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9"/>
        <p:cNvGrpSpPr/>
        <p:nvPr/>
      </p:nvGrpSpPr>
      <p:grpSpPr>
        <a:xfrm>
          <a:off x="0" y="0"/>
          <a:ext cx="0" cy="0"/>
          <a:chOff x="0" y="0"/>
          <a:chExt cx="0" cy="0"/>
        </a:xfrm>
      </p:grpSpPr>
      <p:sp>
        <p:nvSpPr>
          <p:cNvPr id="2010" name="Google Shape;2010;p166"/>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011" name="Google Shape;2011;p166"/>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18</a:t>
            </a:fld>
            <a:endParaRPr/>
          </a:p>
        </p:txBody>
      </p:sp>
      <p:sp>
        <p:nvSpPr>
          <p:cNvPr id="2012" name="Google Shape;2012;p166"/>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013" name="Google Shape;2013;p166"/>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Options de sous-titrage :</a:t>
            </a:r>
            <a:endParaRPr/>
          </a:p>
          <a:p>
            <a:pPr marL="171450" lvl="0" indent="-171450" algn="l" rtl="0">
              <a:lnSpc>
                <a:spcPct val="100000"/>
              </a:lnSpc>
              <a:spcBef>
                <a:spcPts val="1100"/>
              </a:spcBef>
              <a:spcAft>
                <a:spcPts val="0"/>
              </a:spcAft>
              <a:buClr>
                <a:schemeClr val="dk1"/>
              </a:buClr>
              <a:buSzPts val="1000"/>
              <a:buFont typeface="Arial"/>
              <a:buChar char="•"/>
            </a:pPr>
            <a:r>
              <a:rPr lang="fr-FR"/>
              <a:t>Sous-titres intégrés</a:t>
            </a:r>
            <a:endParaRPr/>
          </a:p>
          <a:p>
            <a:pPr marL="171450" lvl="0" indent="-171450" algn="l" rtl="0">
              <a:lnSpc>
                <a:spcPct val="100000"/>
              </a:lnSpc>
              <a:spcBef>
                <a:spcPts val="1100"/>
              </a:spcBef>
              <a:spcAft>
                <a:spcPts val="0"/>
              </a:spcAft>
              <a:buClr>
                <a:schemeClr val="dk1"/>
              </a:buClr>
              <a:buSzPts val="1000"/>
              <a:buFont typeface="Arial"/>
              <a:buChar char="•"/>
            </a:pPr>
            <a:r>
              <a:rPr lang="fr-FR"/>
              <a:t>Sous-titres optionnels</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Proposer une transcription</a:t>
            </a:r>
            <a:endParaRPr/>
          </a:p>
          <a:p>
            <a:pPr marL="171450" lvl="0" indent="-171450" algn="l" rtl="0">
              <a:lnSpc>
                <a:spcPct val="100000"/>
              </a:lnSpc>
              <a:spcBef>
                <a:spcPts val="1100"/>
              </a:spcBef>
              <a:spcAft>
                <a:spcPts val="0"/>
              </a:spcAft>
              <a:buClr>
                <a:schemeClr val="dk1"/>
              </a:buClr>
              <a:buSzPts val="1000"/>
              <a:buFont typeface="Arial"/>
              <a:buChar char="•"/>
            </a:pPr>
            <a:r>
              <a:rPr lang="fr-FR"/>
              <a:t>soit en commentaire dans le premier post</a:t>
            </a:r>
            <a:endParaRPr/>
          </a:p>
          <a:p>
            <a:pPr marL="171450" lvl="0" indent="-171450" algn="l" rtl="0">
              <a:lnSpc>
                <a:spcPct val="100000"/>
              </a:lnSpc>
              <a:spcBef>
                <a:spcPts val="1100"/>
              </a:spcBef>
              <a:spcAft>
                <a:spcPts val="0"/>
              </a:spcAft>
              <a:buClr>
                <a:schemeClr val="dk1"/>
              </a:buClr>
              <a:buSzPts val="1000"/>
              <a:buFont typeface="Arial"/>
              <a:buChar char="•"/>
            </a:pPr>
            <a:r>
              <a:rPr lang="fr-FR"/>
              <a:t>Soit sous forme de lien vers un site web</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YouTube </a:t>
            </a:r>
            <a:endParaRPr/>
          </a:p>
          <a:p>
            <a:pPr marL="171450" lvl="0" indent="-171450" algn="l" rtl="0">
              <a:lnSpc>
                <a:spcPct val="100000"/>
              </a:lnSpc>
              <a:spcBef>
                <a:spcPts val="1100"/>
              </a:spcBef>
              <a:spcAft>
                <a:spcPts val="0"/>
              </a:spcAft>
              <a:buClr>
                <a:schemeClr val="dk1"/>
              </a:buClr>
              <a:buSzPts val="1000"/>
              <a:buFont typeface="Arial"/>
              <a:buChar char="•"/>
            </a:pPr>
            <a:r>
              <a:rPr lang="fr-FR"/>
              <a:t>Générer automatiquement des sous-titres</a:t>
            </a:r>
            <a:endParaRPr/>
          </a:p>
          <a:p>
            <a:pPr marL="171450" lvl="0" indent="-171450" algn="l" rtl="0">
              <a:lnSpc>
                <a:spcPct val="100000"/>
              </a:lnSpc>
              <a:spcBef>
                <a:spcPts val="1100"/>
              </a:spcBef>
              <a:spcAft>
                <a:spcPts val="0"/>
              </a:spcAft>
              <a:buClr>
                <a:schemeClr val="dk1"/>
              </a:buClr>
              <a:buSzPts val="1000"/>
              <a:buFont typeface="Arial"/>
              <a:buChar char="•"/>
            </a:pPr>
            <a:r>
              <a:rPr lang="fr-FR"/>
              <a:t>Télécharger le fichier .srt</a:t>
            </a:r>
            <a:endParaRPr/>
          </a:p>
        </p:txBody>
      </p:sp>
      <p:sp>
        <p:nvSpPr>
          <p:cNvPr id="2014" name="Google Shape;2014;p166"/>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Outils recommandés si les sous-titres .srt ne sont pas gérés</a:t>
            </a:r>
            <a:endParaRPr/>
          </a:p>
          <a:p>
            <a:pPr marL="171450" lvl="0" indent="-171450" algn="l" rtl="0">
              <a:lnSpc>
                <a:spcPct val="100000"/>
              </a:lnSpc>
              <a:spcBef>
                <a:spcPts val="1100"/>
              </a:spcBef>
              <a:spcAft>
                <a:spcPts val="0"/>
              </a:spcAft>
              <a:buClr>
                <a:schemeClr val="dk1"/>
              </a:buClr>
              <a:buSzPts val="1000"/>
              <a:buFont typeface="Arial"/>
              <a:buChar char="•"/>
            </a:pPr>
            <a:r>
              <a:rPr lang="fr-FR"/>
              <a:t>MixCaptions (iOS)</a:t>
            </a:r>
            <a:endParaRPr/>
          </a:p>
          <a:p>
            <a:pPr marL="171450" lvl="0" indent="-171450" algn="l" rtl="0">
              <a:lnSpc>
                <a:spcPct val="100000"/>
              </a:lnSpc>
              <a:spcBef>
                <a:spcPts val="1100"/>
              </a:spcBef>
              <a:spcAft>
                <a:spcPts val="0"/>
              </a:spcAft>
              <a:buClr>
                <a:schemeClr val="dk1"/>
              </a:buClr>
              <a:buSzPts val="1000"/>
              <a:buFont typeface="Arial"/>
              <a:buChar char="•"/>
            </a:pPr>
            <a:r>
              <a:rPr lang="fr-FR"/>
              <a:t>AutoCap (Android)</a:t>
            </a:r>
            <a:endParaRPr/>
          </a:p>
          <a:p>
            <a:pPr marL="171450" lvl="0" indent="-171450" algn="l" rtl="0">
              <a:lnSpc>
                <a:spcPct val="100000"/>
              </a:lnSpc>
              <a:spcBef>
                <a:spcPts val="1100"/>
              </a:spcBef>
              <a:spcAft>
                <a:spcPts val="0"/>
              </a:spcAft>
              <a:buClr>
                <a:schemeClr val="dk1"/>
              </a:buClr>
              <a:buSzPts val="1000"/>
              <a:buFont typeface="Arial"/>
              <a:buChar char="•"/>
            </a:pPr>
            <a:r>
              <a:rPr lang="fr-FR"/>
              <a:t>Outils natifs des plateformes</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Note : </a:t>
            </a:r>
            <a:endParaRPr/>
          </a:p>
          <a:p>
            <a:pPr marL="171450" lvl="0" indent="-171450" algn="l" rtl="0">
              <a:lnSpc>
                <a:spcPct val="100000"/>
              </a:lnSpc>
              <a:spcBef>
                <a:spcPts val="1100"/>
              </a:spcBef>
              <a:spcAft>
                <a:spcPts val="0"/>
              </a:spcAft>
              <a:buClr>
                <a:schemeClr val="dk1"/>
              </a:buClr>
              <a:buSzPts val="1000"/>
              <a:buFont typeface="Arial"/>
              <a:buChar char="•"/>
            </a:pPr>
            <a:r>
              <a:rPr lang="fr-FR"/>
              <a:t>Il faut toujours vérifier / corriger les sous-titres automatiques, même si ça aide. </a:t>
            </a:r>
            <a:endParaRPr/>
          </a:p>
        </p:txBody>
      </p:sp>
      <p:sp>
        <p:nvSpPr>
          <p:cNvPr id="2015" name="Google Shape;2015;p166"/>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500"/>
              <a:buFont typeface="Arial"/>
              <a:buNone/>
            </a:pPr>
            <a:r>
              <a:rPr lang="fr-FR"/>
              <a:t>Vidéos et </a:t>
            </a:r>
            <a:r>
              <a:rPr lang="fr-FR" sz="2400"/>
              <a:t>sous-titrage</a:t>
            </a:r>
            <a:endParaRPr/>
          </a:p>
        </p:txBody>
      </p:sp>
      <p:sp>
        <p:nvSpPr>
          <p:cNvPr id="2016" name="Google Shape;2016;p166"/>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Cf séquence sur le multimédia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1"/>
        <p:cNvGrpSpPr/>
        <p:nvPr/>
      </p:nvGrpSpPr>
      <p:grpSpPr>
        <a:xfrm>
          <a:off x="0" y="0"/>
          <a:ext cx="0" cy="0"/>
          <a:chOff x="0" y="0"/>
          <a:chExt cx="0" cy="0"/>
        </a:xfrm>
      </p:grpSpPr>
      <p:sp>
        <p:nvSpPr>
          <p:cNvPr id="2022" name="Google Shape;2022;p167"/>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023" name="Google Shape;2023;p167"/>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19</a:t>
            </a:fld>
            <a:endParaRPr/>
          </a:p>
        </p:txBody>
      </p:sp>
      <p:sp>
        <p:nvSpPr>
          <p:cNvPr id="2024" name="Google Shape;2024;p167"/>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025" name="Google Shape;2025;p167"/>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Sous-titrage des vidéos par plateforme</a:t>
            </a:r>
            <a:endParaRPr/>
          </a:p>
        </p:txBody>
      </p:sp>
      <p:sp>
        <p:nvSpPr>
          <p:cNvPr id="2026" name="Google Shape;2026;p167"/>
          <p:cNvSpPr txBox="1">
            <a:spLocks noGrp="1"/>
          </p:cNvSpPr>
          <p:nvPr>
            <p:ph type="body" idx="3"/>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Solutions de sous-titrage par plateforme</a:t>
            </a:r>
            <a:endParaRPr/>
          </a:p>
        </p:txBody>
      </p:sp>
      <p:graphicFrame>
        <p:nvGraphicFramePr>
          <p:cNvPr id="2027" name="Google Shape;2027;p167"/>
          <p:cNvGraphicFramePr/>
          <p:nvPr/>
        </p:nvGraphicFramePr>
        <p:xfrm>
          <a:off x="360361" y="1730722"/>
          <a:ext cx="8423300" cy="2931125"/>
        </p:xfrm>
        <a:graphic>
          <a:graphicData uri="http://schemas.openxmlformats.org/drawingml/2006/table">
            <a:tbl>
              <a:tblPr firstRow="1" bandRow="1">
                <a:noFill/>
                <a:tableStyleId>{FD7E91FA-90BF-47A8-963E-8DB3384E367F}</a:tableStyleId>
              </a:tblPr>
              <a:tblGrid>
                <a:gridCol w="2105825">
                  <a:extLst>
                    <a:ext uri="{9D8B030D-6E8A-4147-A177-3AD203B41FA5}">
                      <a16:colId xmlns:a16="http://schemas.microsoft.com/office/drawing/2014/main" val="20000"/>
                    </a:ext>
                  </a:extLst>
                </a:gridCol>
                <a:gridCol w="2105825">
                  <a:extLst>
                    <a:ext uri="{9D8B030D-6E8A-4147-A177-3AD203B41FA5}">
                      <a16:colId xmlns:a16="http://schemas.microsoft.com/office/drawing/2014/main" val="20001"/>
                    </a:ext>
                  </a:extLst>
                </a:gridCol>
                <a:gridCol w="2105825">
                  <a:extLst>
                    <a:ext uri="{9D8B030D-6E8A-4147-A177-3AD203B41FA5}">
                      <a16:colId xmlns:a16="http://schemas.microsoft.com/office/drawing/2014/main" val="20002"/>
                    </a:ext>
                  </a:extLst>
                </a:gridCol>
                <a:gridCol w="2105825">
                  <a:extLst>
                    <a:ext uri="{9D8B030D-6E8A-4147-A177-3AD203B41FA5}">
                      <a16:colId xmlns:a16="http://schemas.microsoft.com/office/drawing/2014/main" val="20003"/>
                    </a:ext>
                  </a:extLst>
                </a:gridCol>
              </a:tblGrid>
              <a:tr h="351925">
                <a:tc>
                  <a:txBody>
                    <a:bodyPr/>
                    <a:lstStyle/>
                    <a:p>
                      <a:pPr marL="0" marR="0" lvl="0" indent="0" algn="l" rtl="0">
                        <a:spcBef>
                          <a:spcPts val="0"/>
                        </a:spcBef>
                        <a:spcAft>
                          <a:spcPts val="0"/>
                        </a:spcAft>
                        <a:buNone/>
                      </a:pPr>
                      <a:r>
                        <a:rPr lang="fr-FR" sz="1050" u="none" strike="noStrike" cap="none"/>
                        <a:t>Plateforme</a:t>
                      </a:r>
                      <a:endParaRPr/>
                    </a:p>
                  </a:txBody>
                  <a:tcPr marL="91450" marR="91450" marT="45725" marB="45725"/>
                </a:tc>
                <a:tc>
                  <a:txBody>
                    <a:bodyPr/>
                    <a:lstStyle/>
                    <a:p>
                      <a:pPr marL="0" marR="0" lvl="0" indent="0" algn="l" rtl="0">
                        <a:spcBef>
                          <a:spcPts val="0"/>
                        </a:spcBef>
                        <a:spcAft>
                          <a:spcPts val="0"/>
                        </a:spcAft>
                        <a:buNone/>
                      </a:pPr>
                      <a:r>
                        <a:rPr lang="fr-FR" sz="1050"/>
                        <a:t>Automatiques</a:t>
                      </a:r>
                      <a:endParaRPr/>
                    </a:p>
                  </a:txBody>
                  <a:tcPr marL="91450" marR="91450" marT="45725" marB="45725"/>
                </a:tc>
                <a:tc>
                  <a:txBody>
                    <a:bodyPr/>
                    <a:lstStyle/>
                    <a:p>
                      <a:pPr marL="0" marR="0" lvl="0" indent="0" algn="l" rtl="0">
                        <a:lnSpc>
                          <a:spcPct val="100000"/>
                        </a:lnSpc>
                        <a:spcBef>
                          <a:spcPts val="0"/>
                        </a:spcBef>
                        <a:spcAft>
                          <a:spcPts val="0"/>
                        </a:spcAft>
                        <a:buClr>
                          <a:schemeClr val="lt1"/>
                        </a:buClr>
                        <a:buSzPts val="1050"/>
                        <a:buFont typeface="Arial"/>
                        <a:buNone/>
                      </a:pPr>
                      <a:r>
                        <a:rPr lang="fr-FR" sz="1050" b="1">
                          <a:solidFill>
                            <a:schemeClr val="lt1"/>
                          </a:solidFill>
                          <a:latin typeface="Arial"/>
                          <a:ea typeface="Arial"/>
                          <a:cs typeface="Arial"/>
                          <a:sym typeface="Arial"/>
                        </a:rPr>
                        <a:t>Modifiables</a:t>
                      </a:r>
                      <a:endParaRPr/>
                    </a:p>
                  </a:txBody>
                  <a:tcPr marL="91450" marR="91450" marT="45725" marB="45725"/>
                </a:tc>
                <a:tc>
                  <a:txBody>
                    <a:bodyPr/>
                    <a:lstStyle/>
                    <a:p>
                      <a:pPr marL="0" marR="0" lvl="0" indent="0" algn="l" rtl="0">
                        <a:lnSpc>
                          <a:spcPct val="100000"/>
                        </a:lnSpc>
                        <a:spcBef>
                          <a:spcPts val="0"/>
                        </a:spcBef>
                        <a:spcAft>
                          <a:spcPts val="0"/>
                        </a:spcAft>
                        <a:buClr>
                          <a:schemeClr val="lt1"/>
                        </a:buClr>
                        <a:buSzPts val="1050"/>
                        <a:buFont typeface="Arial"/>
                        <a:buNone/>
                      </a:pPr>
                      <a:r>
                        <a:rPr lang="fr-FR" sz="1050" b="1">
                          <a:solidFill>
                            <a:schemeClr val="lt1"/>
                          </a:solidFill>
                          <a:latin typeface="Arial"/>
                          <a:ea typeface="Arial"/>
                          <a:cs typeface="Arial"/>
                          <a:sym typeface="Arial"/>
                        </a:rPr>
                        <a:t>Téléchargeables</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chemeClr val="dk1"/>
                        </a:buClr>
                        <a:buSzPts val="1050"/>
                        <a:buFont typeface="Arial"/>
                        <a:buNone/>
                      </a:pPr>
                      <a:r>
                        <a:rPr lang="fr-FR" sz="1050">
                          <a:solidFill>
                            <a:schemeClr val="dk1"/>
                          </a:solidFill>
                          <a:latin typeface="Arial"/>
                          <a:ea typeface="Arial"/>
                          <a:cs typeface="Arial"/>
                          <a:sym typeface="Arial"/>
                        </a:rPr>
                        <a:t>Facebook</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extLst>
                  <a:ext uri="{0D108BD9-81ED-4DB2-BD59-A6C34878D82A}">
                    <a16:rowId xmlns:a16="http://schemas.microsoft.com/office/drawing/2014/main" val="10001"/>
                  </a:ext>
                </a:extLst>
              </a:tr>
              <a:tr h="354100">
                <a:tc>
                  <a:txBody>
                    <a:bodyPr/>
                    <a:lstStyle/>
                    <a:p>
                      <a:pPr marL="0" marR="0" lvl="0" indent="0" algn="l" rtl="0">
                        <a:lnSpc>
                          <a:spcPct val="100000"/>
                        </a:lnSpc>
                        <a:spcBef>
                          <a:spcPts val="0"/>
                        </a:spcBef>
                        <a:spcAft>
                          <a:spcPts val="0"/>
                        </a:spcAft>
                        <a:buClr>
                          <a:schemeClr val="dk1"/>
                        </a:buClr>
                        <a:buSzPts val="1050"/>
                        <a:buFont typeface="Arial"/>
                        <a:buNone/>
                      </a:pPr>
                      <a:r>
                        <a:rPr lang="fr-FR" sz="1050">
                          <a:solidFill>
                            <a:schemeClr val="dk1"/>
                          </a:solidFill>
                          <a:latin typeface="Arial"/>
                          <a:ea typeface="Arial"/>
                          <a:cs typeface="Arial"/>
                          <a:sym typeface="Arial"/>
                        </a:rPr>
                        <a:t>Instagram</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chemeClr val="dk1"/>
                        </a:buClr>
                        <a:buSzPts val="1050"/>
                        <a:buFont typeface="Arial"/>
                        <a:buNone/>
                      </a:pPr>
                      <a:r>
                        <a:rPr lang="fr-FR" sz="1050">
                          <a:solidFill>
                            <a:schemeClr val="dk1"/>
                          </a:solidFill>
                          <a:latin typeface="Arial"/>
                          <a:ea typeface="Arial"/>
                          <a:cs typeface="Arial"/>
                          <a:sym typeface="Arial"/>
                        </a:rPr>
                        <a:t>Linkedin</a:t>
                      </a:r>
                      <a:endParaRPr/>
                    </a:p>
                  </a:txBody>
                  <a:tcPr marL="91450" marR="91450" marT="45725" marB="45725"/>
                </a:tc>
                <a:tc>
                  <a:txBody>
                    <a:bodyPr/>
                    <a:lstStyle/>
                    <a:p>
                      <a:pPr marL="0" marR="0" lvl="0" indent="0" algn="l" rtl="0">
                        <a:spcBef>
                          <a:spcPts val="0"/>
                        </a:spcBef>
                        <a:spcAft>
                          <a:spcPts val="0"/>
                        </a:spcAft>
                        <a:buNone/>
                      </a:pPr>
                      <a:r>
                        <a:rPr lang="fr-FR" sz="1050" b="1"/>
                        <a:t>Oui (EN)</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tc>
                  <a:txBody>
                    <a:bodyPr/>
                    <a:lstStyle/>
                    <a:p>
                      <a:pPr marL="0" marR="0" lvl="0" indent="0" algn="l" rtl="0">
                        <a:spcBef>
                          <a:spcPts val="0"/>
                        </a:spcBef>
                        <a:spcAft>
                          <a:spcPts val="0"/>
                        </a:spcAft>
                        <a:buNone/>
                      </a:pPr>
                      <a:r>
                        <a:rPr lang="fr-FR" sz="1050"/>
                        <a:t>Non</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chemeClr val="dk1"/>
                        </a:buClr>
                        <a:buSzPts val="1050"/>
                        <a:buFont typeface="Arial"/>
                        <a:buNone/>
                      </a:pPr>
                      <a:r>
                        <a:rPr lang="fr-FR" sz="1050">
                          <a:solidFill>
                            <a:schemeClr val="dk1"/>
                          </a:solidFill>
                          <a:latin typeface="Arial"/>
                          <a:ea typeface="Arial"/>
                          <a:cs typeface="Arial"/>
                          <a:sym typeface="Arial"/>
                        </a:rPr>
                        <a:t>TikTok</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tc>
                  <a:txBody>
                    <a:bodyPr/>
                    <a:lstStyle/>
                    <a:p>
                      <a:pPr marL="0" marR="0" lvl="0" indent="0" algn="l" rtl="0">
                        <a:spcBef>
                          <a:spcPts val="0"/>
                        </a:spcBef>
                        <a:spcAft>
                          <a:spcPts val="0"/>
                        </a:spcAft>
                        <a:buNone/>
                      </a:pPr>
                      <a:r>
                        <a:rPr lang="fr-FR" sz="1050" b="1"/>
                        <a:t>Oui (APP)</a:t>
                      </a: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fr-FR" sz="1050"/>
                        <a:t>X</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tc>
                  <a:txBody>
                    <a:bodyPr/>
                    <a:lstStyle/>
                    <a:p>
                      <a:pPr marL="0" marR="0" lvl="0" indent="0" algn="l" rtl="0">
                        <a:spcBef>
                          <a:spcPts val="0"/>
                        </a:spcBef>
                        <a:spcAft>
                          <a:spcPts val="0"/>
                        </a:spcAft>
                        <a:buNone/>
                      </a:pPr>
                      <a:r>
                        <a:rPr lang="fr-FR" sz="1050"/>
                        <a:t>Non</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chemeClr val="dk1"/>
                        </a:buClr>
                        <a:buSzPts val="1050"/>
                        <a:buFont typeface="Arial"/>
                        <a:buNone/>
                      </a:pPr>
                      <a:r>
                        <a:rPr lang="fr-FR" sz="1050">
                          <a:solidFill>
                            <a:schemeClr val="dk1"/>
                          </a:solidFill>
                          <a:latin typeface="Arial"/>
                          <a:ea typeface="Arial"/>
                          <a:cs typeface="Arial"/>
                          <a:sym typeface="Arial"/>
                        </a:rPr>
                        <a:t>Canva</a:t>
                      </a:r>
                      <a:endParaRPr/>
                    </a:p>
                  </a:txBody>
                  <a:tcPr marL="91450" marR="91450" marT="45725" marB="45725"/>
                </a:tc>
                <a:tc>
                  <a:txBody>
                    <a:bodyPr/>
                    <a:lstStyle/>
                    <a:p>
                      <a:pPr marL="0" marR="0" lvl="0" indent="0" algn="l" rtl="0">
                        <a:spcBef>
                          <a:spcPts val="0"/>
                        </a:spcBef>
                        <a:spcAft>
                          <a:spcPts val="0"/>
                        </a:spcAft>
                        <a:buNone/>
                      </a:pPr>
                      <a:r>
                        <a:rPr lang="fr-FR" sz="1050" b="1"/>
                        <a:t>Oui (PDF)</a:t>
                      </a:r>
                      <a:endParaRPr/>
                    </a:p>
                  </a:txBody>
                  <a:tcPr marL="91450" marR="91450" marT="45725" marB="45725"/>
                </a:tc>
                <a:tc>
                  <a:txBody>
                    <a:bodyPr/>
                    <a:lstStyle/>
                    <a:p>
                      <a:pPr marL="0" marR="0" lvl="0" indent="0" algn="l" rtl="0">
                        <a:spcBef>
                          <a:spcPts val="0"/>
                        </a:spcBef>
                        <a:spcAft>
                          <a:spcPts val="0"/>
                        </a:spcAft>
                        <a:buNone/>
                      </a:pPr>
                      <a:r>
                        <a:rPr lang="fr-FR" sz="1050"/>
                        <a:t>Non</a:t>
                      </a:r>
                      <a:endParaRPr/>
                    </a:p>
                  </a:txBody>
                  <a:tcPr marL="91450" marR="91450" marT="45725" marB="45725"/>
                </a:tc>
                <a:tc>
                  <a:txBody>
                    <a:bodyPr/>
                    <a:lstStyle/>
                    <a:p>
                      <a:pPr marL="0" marR="0" lvl="0" indent="0" algn="l" rtl="0">
                        <a:spcBef>
                          <a:spcPts val="0"/>
                        </a:spcBef>
                        <a:spcAft>
                          <a:spcPts val="0"/>
                        </a:spcAft>
                        <a:buNone/>
                      </a:pPr>
                      <a:r>
                        <a:rPr lang="fr-FR" sz="1050" b="1"/>
                        <a:t>Oui (PDF)</a:t>
                      </a:r>
                      <a:endParaRPr/>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Clr>
                          <a:schemeClr val="dk1"/>
                        </a:buClr>
                        <a:buSzPts val="1050"/>
                        <a:buFont typeface="Arial"/>
                        <a:buNone/>
                      </a:pPr>
                      <a:r>
                        <a:rPr lang="fr-FR" sz="1050">
                          <a:solidFill>
                            <a:schemeClr val="dk1"/>
                          </a:solidFill>
                          <a:latin typeface="Arial"/>
                          <a:ea typeface="Arial"/>
                          <a:cs typeface="Arial"/>
                          <a:sym typeface="Arial"/>
                        </a:rPr>
                        <a:t>YouTube</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tc>
                  <a:txBody>
                    <a:bodyPr/>
                    <a:lstStyle/>
                    <a:p>
                      <a:pPr marL="0" marR="0" lvl="0" indent="0" algn="l" rtl="0">
                        <a:spcBef>
                          <a:spcPts val="0"/>
                        </a:spcBef>
                        <a:spcAft>
                          <a:spcPts val="0"/>
                        </a:spcAft>
                        <a:buNone/>
                      </a:pPr>
                      <a:r>
                        <a:rPr lang="fr-FR" sz="1050"/>
                        <a:t>OUI</a:t>
                      </a:r>
                      <a:endParaRPr/>
                    </a:p>
                  </a:txBody>
                  <a:tcPr marL="91450" marR="91450" marT="45725" marB="45725"/>
                </a:tc>
                <a:extLst>
                  <a:ext uri="{0D108BD9-81ED-4DB2-BD59-A6C34878D82A}">
                    <a16:rowId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2"/>
        <p:cNvGrpSpPr/>
        <p:nvPr/>
      </p:nvGrpSpPr>
      <p:grpSpPr>
        <a:xfrm>
          <a:off x="0" y="0"/>
          <a:ext cx="0" cy="0"/>
          <a:chOff x="0" y="0"/>
          <a:chExt cx="0" cy="0"/>
        </a:xfrm>
      </p:grpSpPr>
      <p:sp>
        <p:nvSpPr>
          <p:cNvPr id="2033" name="Google Shape;2033;p168"/>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034" name="Google Shape;2034;p168"/>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20</a:t>
            </a:fld>
            <a:endParaRPr/>
          </a:p>
        </p:txBody>
      </p:sp>
      <p:sp>
        <p:nvSpPr>
          <p:cNvPr id="2035" name="Google Shape;2035;p168"/>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036" name="Google Shape;2036;p168"/>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Objectif : </a:t>
            </a:r>
            <a:endParaRPr/>
          </a:p>
          <a:p>
            <a:pPr marL="0" lvl="0" indent="0" algn="l" rtl="0">
              <a:lnSpc>
                <a:spcPct val="100000"/>
              </a:lnSpc>
              <a:spcBef>
                <a:spcPts val="1100"/>
              </a:spcBef>
              <a:spcAft>
                <a:spcPts val="0"/>
              </a:spcAft>
              <a:buClr>
                <a:schemeClr val="dk1"/>
              </a:buClr>
              <a:buSzPts val="1000"/>
              <a:buNone/>
            </a:pPr>
            <a:r>
              <a:rPr lang="fr-FR"/>
              <a:t>Donner du contexte manquant aux personnes qui ne voient pas l’image.</a:t>
            </a:r>
            <a:endParaRPr/>
          </a:p>
          <a:p>
            <a:pPr marL="171450" lvl="0" indent="-171450" algn="l" rtl="0">
              <a:lnSpc>
                <a:spcPct val="100000"/>
              </a:lnSpc>
              <a:spcBef>
                <a:spcPts val="500"/>
              </a:spcBef>
              <a:spcAft>
                <a:spcPts val="0"/>
              </a:spcAft>
              <a:buClr>
                <a:schemeClr val="dk1"/>
              </a:buClr>
              <a:buSzPts val="1000"/>
              <a:buFont typeface="Arial"/>
              <a:buChar char="•"/>
            </a:pPr>
            <a:r>
              <a:rPr lang="fr-FR"/>
              <a:t>personnes aveugles</a:t>
            </a:r>
            <a:endParaRPr/>
          </a:p>
          <a:p>
            <a:pPr marL="171450" lvl="0" indent="-171450" algn="l" rtl="0">
              <a:lnSpc>
                <a:spcPct val="100000"/>
              </a:lnSpc>
              <a:spcBef>
                <a:spcPts val="500"/>
              </a:spcBef>
              <a:spcAft>
                <a:spcPts val="0"/>
              </a:spcAft>
              <a:buClr>
                <a:schemeClr val="dk1"/>
              </a:buClr>
              <a:buSzPts val="1000"/>
              <a:buFont typeface="Arial"/>
              <a:buChar char="•"/>
            </a:pPr>
            <a:r>
              <a:rPr lang="fr-FR"/>
              <a:t>personnes avec une mauvaise connexion</a:t>
            </a:r>
            <a:endParaRPr/>
          </a:p>
          <a:p>
            <a:pPr marL="0" lvl="0" indent="0" algn="l" rtl="0">
              <a:lnSpc>
                <a:spcPct val="100000"/>
              </a:lnSpc>
              <a:spcBef>
                <a:spcPts val="1700"/>
              </a:spcBef>
              <a:spcAft>
                <a:spcPts val="0"/>
              </a:spcAft>
              <a:buClr>
                <a:schemeClr val="dk2"/>
              </a:buClr>
              <a:buSzPts val="1000"/>
              <a:buNone/>
            </a:pPr>
            <a:r>
              <a:rPr lang="fr-FR" b="1">
                <a:solidFill>
                  <a:schemeClr val="dk2"/>
                </a:solidFill>
              </a:rPr>
              <a:t>Pourquoi des alternatives ?</a:t>
            </a:r>
            <a:endParaRPr/>
          </a:p>
          <a:p>
            <a:pPr marL="171450" lvl="0" indent="-171450" algn="l" rtl="0">
              <a:lnSpc>
                <a:spcPct val="100000"/>
              </a:lnSpc>
              <a:spcBef>
                <a:spcPts val="1100"/>
              </a:spcBef>
              <a:spcAft>
                <a:spcPts val="0"/>
              </a:spcAft>
              <a:buClr>
                <a:schemeClr val="dk1"/>
              </a:buClr>
              <a:buSzPts val="1000"/>
              <a:buFont typeface="Arial"/>
              <a:buChar char="•"/>
            </a:pPr>
            <a:r>
              <a:rPr lang="fr-FR"/>
              <a:t>Donner accès au contexte pour tous</a:t>
            </a:r>
            <a:endParaRPr/>
          </a:p>
          <a:p>
            <a:pPr marL="171450" lvl="0" indent="-171450" algn="l" rtl="0">
              <a:lnSpc>
                <a:spcPct val="100000"/>
              </a:lnSpc>
              <a:spcBef>
                <a:spcPts val="500"/>
              </a:spcBef>
              <a:spcAft>
                <a:spcPts val="0"/>
              </a:spcAft>
              <a:buClr>
                <a:schemeClr val="dk1"/>
              </a:buClr>
              <a:buSzPts val="1000"/>
              <a:buFont typeface="Arial"/>
              <a:buChar char="•"/>
            </a:pPr>
            <a:r>
              <a:rPr lang="fr-FR"/>
              <a:t>Personnes aveugles ou malvoyantes</a:t>
            </a:r>
            <a:endParaRPr/>
          </a:p>
          <a:p>
            <a:pPr marL="171450" lvl="0" indent="-171450" algn="l" rtl="0">
              <a:lnSpc>
                <a:spcPct val="100000"/>
              </a:lnSpc>
              <a:spcBef>
                <a:spcPts val="500"/>
              </a:spcBef>
              <a:spcAft>
                <a:spcPts val="0"/>
              </a:spcAft>
              <a:buClr>
                <a:schemeClr val="dk1"/>
              </a:buClr>
              <a:buSzPts val="1000"/>
              <a:buFont typeface="Arial"/>
              <a:buChar char="•"/>
            </a:pPr>
            <a:r>
              <a:rPr lang="fr-FR"/>
              <a:t>Personnes avec connexion limitée</a:t>
            </a:r>
            <a:endParaRPr/>
          </a:p>
          <a:p>
            <a:pPr marL="171450" lvl="0" indent="-171450" algn="l" rtl="0">
              <a:lnSpc>
                <a:spcPct val="100000"/>
              </a:lnSpc>
              <a:spcBef>
                <a:spcPts val="500"/>
              </a:spcBef>
              <a:spcAft>
                <a:spcPts val="0"/>
              </a:spcAft>
              <a:buClr>
                <a:schemeClr val="dk1"/>
              </a:buClr>
              <a:buSzPts val="1000"/>
              <a:buFont typeface="Arial"/>
              <a:buChar char="•"/>
            </a:pPr>
            <a:r>
              <a:rPr lang="fr-FR"/>
              <a:t>Images qui ne se chargent pas</a:t>
            </a:r>
            <a:endParaRPr/>
          </a:p>
          <a:p>
            <a:pPr marL="0" lvl="0" indent="0" algn="l" rtl="0">
              <a:lnSpc>
                <a:spcPct val="100000"/>
              </a:lnSpc>
              <a:spcBef>
                <a:spcPts val="500"/>
              </a:spcBef>
              <a:spcAft>
                <a:spcPts val="0"/>
              </a:spcAft>
              <a:buClr>
                <a:schemeClr val="dk1"/>
              </a:buClr>
              <a:buSzPts val="1050"/>
              <a:buNone/>
            </a:pPr>
            <a:endParaRPr/>
          </a:p>
        </p:txBody>
      </p:sp>
      <p:sp>
        <p:nvSpPr>
          <p:cNvPr id="2037" name="Google Shape;2037;p168"/>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Comment décrire une image alt?</a:t>
            </a:r>
            <a:endParaRPr/>
          </a:p>
          <a:p>
            <a:pPr marL="171450" lvl="0" indent="-171450" algn="l" rtl="0">
              <a:lnSpc>
                <a:spcPct val="100000"/>
              </a:lnSpc>
              <a:spcBef>
                <a:spcPts val="500"/>
              </a:spcBef>
              <a:spcAft>
                <a:spcPts val="0"/>
              </a:spcAft>
              <a:buClr>
                <a:schemeClr val="dk1"/>
              </a:buClr>
              <a:buSzPts val="1000"/>
              <a:buFont typeface="Arial"/>
              <a:buChar char="•"/>
            </a:pPr>
            <a:r>
              <a:rPr lang="fr-FR"/>
              <a:t>Décrire ce qui vous paraît important</a:t>
            </a:r>
            <a:endParaRPr/>
          </a:p>
          <a:p>
            <a:pPr marL="171450" lvl="0" indent="-171450" algn="l" rtl="0">
              <a:lnSpc>
                <a:spcPct val="100000"/>
              </a:lnSpc>
              <a:spcBef>
                <a:spcPts val="500"/>
              </a:spcBef>
              <a:spcAft>
                <a:spcPts val="0"/>
              </a:spcAft>
              <a:buClr>
                <a:schemeClr val="dk1"/>
              </a:buClr>
              <a:buSzPts val="1000"/>
              <a:buFont typeface="Arial"/>
              <a:buChar char="•"/>
            </a:pPr>
            <a:r>
              <a:rPr lang="fr-FR"/>
              <a:t>Se concentrer sur ce qui est pertinent</a:t>
            </a:r>
            <a:endParaRPr/>
          </a:p>
          <a:p>
            <a:pPr marL="171450" lvl="0" indent="-171450" algn="l" rtl="0">
              <a:lnSpc>
                <a:spcPct val="100000"/>
              </a:lnSpc>
              <a:spcBef>
                <a:spcPts val="500"/>
              </a:spcBef>
              <a:spcAft>
                <a:spcPts val="0"/>
              </a:spcAft>
              <a:buClr>
                <a:schemeClr val="dk1"/>
              </a:buClr>
              <a:buSzPts val="1000"/>
              <a:buFont typeface="Arial"/>
              <a:buChar char="•"/>
            </a:pPr>
            <a:r>
              <a:rPr lang="fr-FR"/>
              <a:t>Intégrer le texte présent dans l'image</a:t>
            </a:r>
            <a:endParaRPr/>
          </a:p>
          <a:p>
            <a:pPr marL="0" lvl="0" indent="0" algn="l" rtl="0">
              <a:lnSpc>
                <a:spcPct val="100000"/>
              </a:lnSpc>
              <a:spcBef>
                <a:spcPts val="1700"/>
              </a:spcBef>
              <a:spcAft>
                <a:spcPts val="0"/>
              </a:spcAft>
              <a:buClr>
                <a:schemeClr val="dk2"/>
              </a:buClr>
              <a:buSzPts val="1000"/>
              <a:buNone/>
            </a:pPr>
            <a:r>
              <a:rPr lang="fr-FR" b="1">
                <a:solidFill>
                  <a:schemeClr val="dk2"/>
                </a:solidFill>
              </a:rPr>
              <a:t>Image avec du texte</a:t>
            </a:r>
            <a:endParaRPr/>
          </a:p>
          <a:p>
            <a:pPr marL="171450" lvl="0" indent="-171450" algn="l" rtl="0">
              <a:lnSpc>
                <a:spcPct val="100000"/>
              </a:lnSpc>
              <a:spcBef>
                <a:spcPts val="1100"/>
              </a:spcBef>
              <a:spcAft>
                <a:spcPts val="0"/>
              </a:spcAft>
              <a:buClr>
                <a:schemeClr val="dk1"/>
              </a:buClr>
              <a:buSzPts val="1000"/>
              <a:buFont typeface="Arial"/>
              <a:buChar char="•"/>
            </a:pPr>
            <a:r>
              <a:rPr lang="fr-FR"/>
              <a:t>Retranscrire le texte important</a:t>
            </a:r>
            <a:endParaRPr/>
          </a:p>
          <a:p>
            <a:pPr marL="171450" lvl="0" indent="-171450" algn="l" rtl="0">
              <a:lnSpc>
                <a:spcPct val="100000"/>
              </a:lnSpc>
              <a:spcBef>
                <a:spcPts val="500"/>
              </a:spcBef>
              <a:spcAft>
                <a:spcPts val="0"/>
              </a:spcAft>
              <a:buClr>
                <a:schemeClr val="dk1"/>
              </a:buClr>
              <a:buSzPts val="1000"/>
              <a:buFont typeface="Arial"/>
              <a:buChar char="•"/>
            </a:pPr>
            <a:r>
              <a:rPr lang="fr-FR"/>
              <a:t>Garder le contexte visuel si pertinent</a:t>
            </a:r>
            <a:endParaRPr/>
          </a:p>
          <a:p>
            <a:pPr marL="0" lvl="0" indent="0" algn="l" rtl="0">
              <a:lnSpc>
                <a:spcPct val="100000"/>
              </a:lnSpc>
              <a:spcBef>
                <a:spcPts val="1700"/>
              </a:spcBef>
              <a:spcAft>
                <a:spcPts val="0"/>
              </a:spcAft>
              <a:buClr>
                <a:schemeClr val="dk2"/>
              </a:buClr>
              <a:buSzPts val="1000"/>
              <a:buNone/>
            </a:pPr>
            <a:r>
              <a:rPr lang="fr-FR" b="1">
                <a:solidFill>
                  <a:schemeClr val="dk2"/>
                </a:solidFill>
              </a:rPr>
              <a:t>Image décorative - spécificité réseaux sociaux</a:t>
            </a:r>
            <a:endParaRPr/>
          </a:p>
          <a:p>
            <a:pPr marL="171450" lvl="0" indent="-171450" algn="l" rtl="0">
              <a:lnSpc>
                <a:spcPct val="100000"/>
              </a:lnSpc>
              <a:spcBef>
                <a:spcPts val="1100"/>
              </a:spcBef>
              <a:spcAft>
                <a:spcPts val="0"/>
              </a:spcAft>
              <a:buClr>
                <a:schemeClr val="dk1"/>
              </a:buClr>
              <a:buSzPts val="1000"/>
              <a:buFont typeface="Arial"/>
              <a:buChar char="•"/>
            </a:pPr>
            <a:r>
              <a:rPr lang="fr-FR"/>
              <a:t>Mentionner explicitement "</a:t>
            </a:r>
            <a:r>
              <a:rPr lang="fr-FR" b="1">
                <a:solidFill>
                  <a:schemeClr val="lt2"/>
                </a:solidFill>
              </a:rPr>
              <a:t>Image décorative</a:t>
            </a:r>
            <a:r>
              <a:rPr lang="fr-FR"/>
              <a:t>"</a:t>
            </a:r>
            <a:endParaRPr/>
          </a:p>
          <a:p>
            <a:pPr marL="0" lvl="0" indent="0" algn="l" rtl="0">
              <a:lnSpc>
                <a:spcPct val="100000"/>
              </a:lnSpc>
              <a:spcBef>
                <a:spcPts val="500"/>
              </a:spcBef>
              <a:spcAft>
                <a:spcPts val="0"/>
              </a:spcAft>
              <a:buClr>
                <a:schemeClr val="dk1"/>
              </a:buClr>
              <a:buSzPts val="1050"/>
              <a:buNone/>
            </a:pPr>
            <a:endParaRPr/>
          </a:p>
        </p:txBody>
      </p:sp>
      <p:sp>
        <p:nvSpPr>
          <p:cNvPr id="2038" name="Google Shape;2038;p168"/>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Les images</a:t>
            </a:r>
            <a:endParaRPr/>
          </a:p>
        </p:txBody>
      </p:sp>
      <p:sp>
        <p:nvSpPr>
          <p:cNvPr id="2039" name="Google Shape;2039;p168"/>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Renseigner les alternatives alt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4"/>
        <p:cNvGrpSpPr/>
        <p:nvPr/>
      </p:nvGrpSpPr>
      <p:grpSpPr>
        <a:xfrm>
          <a:off x="0" y="0"/>
          <a:ext cx="0" cy="0"/>
          <a:chOff x="0" y="0"/>
          <a:chExt cx="0" cy="0"/>
        </a:xfrm>
      </p:grpSpPr>
      <p:sp>
        <p:nvSpPr>
          <p:cNvPr id="2045" name="Google Shape;2045;p169"/>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046" name="Google Shape;2046;p169"/>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21</a:t>
            </a:fld>
            <a:endParaRPr/>
          </a:p>
        </p:txBody>
      </p:sp>
      <p:sp>
        <p:nvSpPr>
          <p:cNvPr id="2047" name="Google Shape;2047;p169"/>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048" name="Google Shape;2048;p169"/>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Web classique</a:t>
            </a:r>
            <a:endParaRPr>
              <a:solidFill>
                <a:schemeClr val="dk2"/>
              </a:solidFill>
            </a:endParaRPr>
          </a:p>
          <a:p>
            <a:pPr marL="171450" lvl="0" indent="-171450" algn="l" rtl="0">
              <a:lnSpc>
                <a:spcPct val="100000"/>
              </a:lnSpc>
              <a:spcBef>
                <a:spcPts val="1700"/>
              </a:spcBef>
              <a:spcAft>
                <a:spcPts val="0"/>
              </a:spcAft>
              <a:buClr>
                <a:schemeClr val="dk1"/>
              </a:buClr>
              <a:buSzPts val="1000"/>
              <a:buFont typeface="Arial"/>
              <a:buChar char="•"/>
            </a:pPr>
            <a:r>
              <a:rPr lang="fr-FR"/>
              <a:t>Alternative vide pour images décoratives</a:t>
            </a:r>
            <a:endParaRPr/>
          </a:p>
          <a:p>
            <a:pPr marL="171450" lvl="0" indent="-171450" algn="l" rtl="0">
              <a:lnSpc>
                <a:spcPct val="100000"/>
              </a:lnSpc>
              <a:spcBef>
                <a:spcPts val="1100"/>
              </a:spcBef>
              <a:spcAft>
                <a:spcPts val="0"/>
              </a:spcAft>
              <a:buClr>
                <a:schemeClr val="dk1"/>
              </a:buClr>
              <a:buSzPts val="1000"/>
              <a:buFont typeface="Arial"/>
              <a:buChar char="•"/>
            </a:pPr>
            <a:r>
              <a:rPr lang="fr-FR"/>
              <a:t>Alternative pertinente pour les images informatives</a:t>
            </a:r>
            <a:endParaRPr/>
          </a:p>
          <a:p>
            <a:pPr marL="171450" lvl="0" indent="-171450" algn="l" rtl="0">
              <a:lnSpc>
                <a:spcPct val="100000"/>
              </a:lnSpc>
              <a:spcBef>
                <a:spcPts val="1100"/>
              </a:spcBef>
              <a:spcAft>
                <a:spcPts val="0"/>
              </a:spcAft>
              <a:buClr>
                <a:schemeClr val="dk1"/>
              </a:buClr>
              <a:buSzPts val="1000"/>
              <a:buFont typeface="Arial"/>
              <a:buChar char="•"/>
            </a:pPr>
            <a:r>
              <a:rPr lang="fr-FR"/>
              <a:t>Cf arbre de décision du W3C</a:t>
            </a:r>
            <a:endParaRPr/>
          </a:p>
          <a:p>
            <a:pPr marL="0" lvl="0" indent="0" algn="l" rtl="0">
              <a:lnSpc>
                <a:spcPct val="100000"/>
              </a:lnSpc>
              <a:spcBef>
                <a:spcPts val="1700"/>
              </a:spcBef>
              <a:spcAft>
                <a:spcPts val="0"/>
              </a:spcAft>
              <a:buClr>
                <a:schemeClr val="dk2"/>
              </a:buClr>
              <a:buSzPts val="1000"/>
              <a:buNone/>
            </a:pPr>
            <a:r>
              <a:rPr lang="fr-FR" b="1">
                <a:solidFill>
                  <a:schemeClr val="dk2"/>
                </a:solidFill>
              </a:rPr>
              <a:t>Réseaux sociaux</a:t>
            </a:r>
            <a:endParaRPr/>
          </a:p>
          <a:p>
            <a:pPr marL="171450" lvl="0" indent="-171450" algn="l" rtl="0">
              <a:lnSpc>
                <a:spcPct val="100000"/>
              </a:lnSpc>
              <a:spcBef>
                <a:spcPts val="1100"/>
              </a:spcBef>
              <a:spcAft>
                <a:spcPts val="0"/>
              </a:spcAft>
              <a:buClr>
                <a:schemeClr val="dk1"/>
              </a:buClr>
              <a:buSzPts val="1000"/>
              <a:buFont typeface="Arial"/>
              <a:buChar char="•"/>
            </a:pPr>
            <a:r>
              <a:rPr lang="fr-FR"/>
              <a:t>Toujours mentionner "Image décorative »</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A retenir </a:t>
            </a:r>
            <a:r>
              <a:rPr lang="fr-FR"/>
              <a:t>: les personnes concernées disent être rassurées par la mention "Image décorative" : elles savent qu'elles ne manquent pas d'information.</a:t>
            </a:r>
            <a:endParaRPr/>
          </a:p>
          <a:p>
            <a:pPr marL="0" lvl="0" indent="0" algn="l" rtl="0">
              <a:lnSpc>
                <a:spcPct val="100000"/>
              </a:lnSpc>
              <a:spcBef>
                <a:spcPts val="1100"/>
              </a:spcBef>
              <a:spcAft>
                <a:spcPts val="0"/>
              </a:spcAft>
              <a:buClr>
                <a:schemeClr val="dk1"/>
              </a:buClr>
              <a:buSzPts val="1050"/>
              <a:buNone/>
            </a:pPr>
            <a:endParaRPr/>
          </a:p>
        </p:txBody>
      </p:sp>
      <p:sp>
        <p:nvSpPr>
          <p:cNvPr id="2049" name="Google Shape;2049;p169"/>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Pourquoi ?</a:t>
            </a:r>
            <a:endParaRPr/>
          </a:p>
          <a:p>
            <a:pPr marL="171450" lvl="0" indent="-171450" algn="l" rtl="0">
              <a:lnSpc>
                <a:spcPct val="100000"/>
              </a:lnSpc>
              <a:spcBef>
                <a:spcPts val="900"/>
              </a:spcBef>
              <a:spcAft>
                <a:spcPts val="0"/>
              </a:spcAft>
              <a:buClr>
                <a:schemeClr val="dk1"/>
              </a:buClr>
              <a:buSzPts val="1000"/>
              <a:buFont typeface="Arial"/>
              <a:buChar char="•"/>
            </a:pPr>
            <a:r>
              <a:rPr lang="fr-FR"/>
              <a:t>Rassurer les utilisateurs</a:t>
            </a:r>
            <a:endParaRPr/>
          </a:p>
          <a:p>
            <a:pPr marL="171450" lvl="0" indent="-171450" algn="l" rtl="0">
              <a:lnSpc>
                <a:spcPct val="100000"/>
              </a:lnSpc>
              <a:spcBef>
                <a:spcPts val="800"/>
              </a:spcBef>
              <a:spcAft>
                <a:spcPts val="0"/>
              </a:spcAft>
              <a:buClr>
                <a:schemeClr val="dk1"/>
              </a:buClr>
              <a:buSzPts val="1000"/>
              <a:buFont typeface="Arial"/>
              <a:buChar char="•"/>
            </a:pPr>
            <a:r>
              <a:rPr lang="fr-FR"/>
              <a:t>Évite la confusion</a:t>
            </a:r>
            <a:endParaRPr/>
          </a:p>
          <a:p>
            <a:pPr marL="171450" lvl="0" indent="-171450" algn="l" rtl="0">
              <a:lnSpc>
                <a:spcPct val="100000"/>
              </a:lnSpc>
              <a:spcBef>
                <a:spcPts val="800"/>
              </a:spcBef>
              <a:spcAft>
                <a:spcPts val="0"/>
              </a:spcAft>
              <a:buClr>
                <a:schemeClr val="dk1"/>
              </a:buClr>
              <a:buSzPts val="1000"/>
              <a:buFont typeface="Arial"/>
              <a:buChar char="•"/>
            </a:pPr>
            <a:r>
              <a:rPr lang="fr-FR"/>
              <a:t>Confirme que rien n'a été oublié</a:t>
            </a:r>
            <a:endParaRPr/>
          </a:p>
        </p:txBody>
      </p:sp>
      <p:sp>
        <p:nvSpPr>
          <p:cNvPr id="2050" name="Google Shape;2050;p169"/>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Spécificités des images sur les réseaux sociaux</a:t>
            </a:r>
            <a:endParaRPr/>
          </a:p>
        </p:txBody>
      </p:sp>
      <p:sp>
        <p:nvSpPr>
          <p:cNvPr id="2051" name="Google Shape;2051;p169"/>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Pourquoi cette différence ?</a:t>
            </a:r>
            <a:endParaRPr/>
          </a:p>
        </p:txBody>
      </p:sp>
      <p:pic>
        <p:nvPicPr>
          <p:cNvPr id="2052" name="Google Shape;2052;p169" descr="Image informative sur les réseaux sociaux avec alternative renseignée : 39 nouveaux agents de l'état certifiés Opquast. Pourquoi pas vous. Poste de la Dinum, Design des services numériques."/>
          <p:cNvPicPr preferRelativeResize="0"/>
          <p:nvPr/>
        </p:nvPicPr>
        <p:blipFill rotWithShape="1">
          <a:blip r:embed="rId3">
            <a:alphaModFix/>
          </a:blip>
          <a:srcRect/>
          <a:stretch/>
        </p:blipFill>
        <p:spPr>
          <a:xfrm>
            <a:off x="4796760" y="2889264"/>
            <a:ext cx="2142240" cy="189423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57"/>
        <p:cNvGrpSpPr/>
        <p:nvPr/>
      </p:nvGrpSpPr>
      <p:grpSpPr>
        <a:xfrm>
          <a:off x="0" y="0"/>
          <a:ext cx="0" cy="0"/>
          <a:chOff x="0" y="0"/>
          <a:chExt cx="0" cy="0"/>
        </a:xfrm>
      </p:grpSpPr>
      <p:sp>
        <p:nvSpPr>
          <p:cNvPr id="2058" name="Google Shape;2058;p170"/>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059" name="Google Shape;2059;p170"/>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22</a:t>
            </a:fld>
            <a:endParaRPr/>
          </a:p>
        </p:txBody>
      </p:sp>
      <p:sp>
        <p:nvSpPr>
          <p:cNvPr id="2060" name="Google Shape;2060;p170"/>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061" name="Google Shape;2061;p170"/>
          <p:cNvSpPr txBox="1">
            <a:spLocks noGrp="1"/>
          </p:cNvSpPr>
          <p:nvPr>
            <p:ph type="body" idx="3"/>
          </p:nvPr>
        </p:nvSpPr>
        <p:spPr>
          <a:xfrm>
            <a:off x="3312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50000"/>
              </a:lnSpc>
              <a:spcBef>
                <a:spcPts val="0"/>
              </a:spcBef>
              <a:spcAft>
                <a:spcPts val="0"/>
              </a:spcAft>
              <a:buClr>
                <a:schemeClr val="dk1"/>
              </a:buClr>
              <a:buSzPts val="1000"/>
              <a:buNone/>
            </a:pPr>
            <a:r>
              <a:rPr lang="fr-FR"/>
              <a:t>Exemple visuel </a:t>
            </a:r>
            <a:br>
              <a:rPr lang="fr-FR"/>
            </a:br>
            <a:r>
              <a:rPr lang="fr-FR" b="1">
                <a:solidFill>
                  <a:schemeClr val="dk2"/>
                </a:solidFill>
              </a:rPr>
              <a:t>❌ Mauvais ALT :</a:t>
            </a:r>
            <a:endParaRPr/>
          </a:p>
          <a:p>
            <a:pPr marL="171450" lvl="0" indent="-171450" algn="l" rtl="0">
              <a:lnSpc>
                <a:spcPct val="100000"/>
              </a:lnSpc>
              <a:spcBef>
                <a:spcPts val="500"/>
              </a:spcBef>
              <a:spcAft>
                <a:spcPts val="0"/>
              </a:spcAft>
              <a:buClr>
                <a:schemeClr val="dk1"/>
              </a:buClr>
              <a:buSzPts val="1000"/>
              <a:buFont typeface="Arial"/>
              <a:buChar char="•"/>
            </a:pPr>
            <a:r>
              <a:rPr lang="fr-FR"/>
              <a:t>Image 2.jpg</a:t>
            </a:r>
            <a:endParaRPr/>
          </a:p>
          <a:p>
            <a:pPr marL="171450" lvl="0" indent="-171450" algn="l" rtl="0">
              <a:lnSpc>
                <a:spcPct val="100000"/>
              </a:lnSpc>
              <a:spcBef>
                <a:spcPts val="500"/>
              </a:spcBef>
              <a:spcAft>
                <a:spcPts val="0"/>
              </a:spcAft>
              <a:buClr>
                <a:schemeClr val="dk1"/>
              </a:buClr>
              <a:buSzPts val="1000"/>
              <a:buFont typeface="Arial"/>
              <a:buChar char="•"/>
            </a:pPr>
            <a:r>
              <a:rPr lang="fr-FR"/>
              <a:t>Photo de chien</a:t>
            </a:r>
            <a:endParaRPr/>
          </a:p>
          <a:p>
            <a:pPr marL="171450" lvl="0" indent="-171450" algn="l" rtl="0">
              <a:lnSpc>
                <a:spcPct val="100000"/>
              </a:lnSpc>
              <a:spcBef>
                <a:spcPts val="500"/>
              </a:spcBef>
              <a:spcAft>
                <a:spcPts val="0"/>
              </a:spcAft>
              <a:buClr>
                <a:schemeClr val="dk1"/>
              </a:buClr>
              <a:buSzPts val="1000"/>
              <a:buFont typeface="Arial"/>
              <a:buChar char="•"/>
            </a:pPr>
            <a:r>
              <a:rPr lang="fr-FR"/>
              <a:t>Cliquez pour voir</a:t>
            </a:r>
            <a:endParaRPr/>
          </a:p>
          <a:p>
            <a:pPr marL="0" lvl="0" indent="0" algn="l" rtl="0">
              <a:lnSpc>
                <a:spcPct val="150000"/>
              </a:lnSpc>
              <a:spcBef>
                <a:spcPts val="500"/>
              </a:spcBef>
              <a:spcAft>
                <a:spcPts val="0"/>
              </a:spcAft>
              <a:buClr>
                <a:schemeClr val="dk1"/>
              </a:buClr>
              <a:buSzPts val="1000"/>
              <a:buNone/>
            </a:pPr>
            <a:r>
              <a:rPr lang="fr-FR"/>
              <a:t>✅ </a:t>
            </a:r>
            <a:r>
              <a:rPr lang="fr-FR" b="1">
                <a:solidFill>
                  <a:schemeClr val="dk2"/>
                </a:solidFill>
              </a:rPr>
              <a:t>Bon ALT :</a:t>
            </a:r>
            <a:endParaRPr/>
          </a:p>
          <a:p>
            <a:pPr marL="0" lvl="0" indent="0" algn="l" rtl="0">
              <a:lnSpc>
                <a:spcPct val="100000"/>
              </a:lnSpc>
              <a:spcBef>
                <a:spcPts val="500"/>
              </a:spcBef>
              <a:spcAft>
                <a:spcPts val="0"/>
              </a:spcAft>
              <a:buClr>
                <a:schemeClr val="dk1"/>
              </a:buClr>
              <a:buSzPts val="1000"/>
              <a:buNone/>
            </a:pPr>
            <a:r>
              <a:rPr lang="fr-FR">
                <a:latin typeface="Helvetica Neue"/>
                <a:ea typeface="Helvetica Neue"/>
                <a:cs typeface="Helvetica Neue"/>
                <a:sym typeface="Helvetica Neue"/>
              </a:rPr>
              <a:t>ALT : Jeune Golden Retriever en apprentissage pour être un chien guide.</a:t>
            </a:r>
            <a:endParaRPr/>
          </a:p>
        </p:txBody>
      </p:sp>
      <p:sp>
        <p:nvSpPr>
          <p:cNvPr id="2062" name="Google Shape;2062;p170"/>
          <p:cNvSpPr txBox="1">
            <a:spLocks noGrp="1"/>
          </p:cNvSpPr>
          <p:nvPr>
            <p:ph type="body" idx="4"/>
          </p:nvPr>
        </p:nvSpPr>
        <p:spPr>
          <a:xfrm>
            <a:off x="6264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Les 5 règles :</a:t>
            </a:r>
            <a:endParaRPr/>
          </a:p>
          <a:p>
            <a:pPr marL="171450" lvl="0" indent="-171450" algn="l" rtl="0">
              <a:lnSpc>
                <a:spcPct val="100000"/>
              </a:lnSpc>
              <a:spcBef>
                <a:spcPts val="500"/>
              </a:spcBef>
              <a:spcAft>
                <a:spcPts val="0"/>
              </a:spcAft>
              <a:buClr>
                <a:schemeClr val="dk1"/>
              </a:buClr>
              <a:buSzPts val="1000"/>
              <a:buFont typeface="Arial"/>
              <a:buChar char="•"/>
            </a:pPr>
            <a:r>
              <a:rPr lang="fr-FR"/>
              <a:t>Être concis, mais descriptif</a:t>
            </a:r>
            <a:endParaRPr/>
          </a:p>
          <a:p>
            <a:pPr marL="171450" lvl="0" indent="-171450" algn="l" rtl="0">
              <a:lnSpc>
                <a:spcPct val="100000"/>
              </a:lnSpc>
              <a:spcBef>
                <a:spcPts val="500"/>
              </a:spcBef>
              <a:spcAft>
                <a:spcPts val="0"/>
              </a:spcAft>
              <a:buClr>
                <a:schemeClr val="dk1"/>
              </a:buClr>
              <a:buSzPts val="1000"/>
              <a:buFont typeface="Arial"/>
              <a:buChar char="•"/>
            </a:pPr>
            <a:r>
              <a:rPr lang="fr-FR"/>
              <a:t>Inclure l'information essentielle</a:t>
            </a:r>
            <a:endParaRPr/>
          </a:p>
          <a:p>
            <a:pPr marL="171450" lvl="0" indent="-171450" algn="l" rtl="0">
              <a:lnSpc>
                <a:spcPct val="100000"/>
              </a:lnSpc>
              <a:spcBef>
                <a:spcPts val="500"/>
              </a:spcBef>
              <a:spcAft>
                <a:spcPts val="0"/>
              </a:spcAft>
              <a:buClr>
                <a:schemeClr val="dk1"/>
              </a:buClr>
              <a:buSzPts val="1000"/>
              <a:buFont typeface="Arial"/>
              <a:buChar char="•"/>
            </a:pPr>
            <a:r>
              <a:rPr lang="fr-FR"/>
              <a:t>Éviter "image de" (redondant)</a:t>
            </a:r>
            <a:endParaRPr/>
          </a:p>
          <a:p>
            <a:pPr marL="171450" lvl="0" indent="-171450" algn="l" rtl="0">
              <a:lnSpc>
                <a:spcPct val="100000"/>
              </a:lnSpc>
              <a:spcBef>
                <a:spcPts val="500"/>
              </a:spcBef>
              <a:spcAft>
                <a:spcPts val="0"/>
              </a:spcAft>
              <a:buClr>
                <a:schemeClr val="dk1"/>
              </a:buClr>
              <a:buSzPts val="1000"/>
              <a:buFont typeface="Arial"/>
              <a:buChar char="•"/>
            </a:pPr>
            <a:r>
              <a:rPr lang="fr-FR"/>
              <a:t>Penser au contexte</a:t>
            </a:r>
            <a:endParaRPr/>
          </a:p>
          <a:p>
            <a:pPr marL="171450" lvl="0" indent="-171450" algn="l" rtl="0">
              <a:lnSpc>
                <a:spcPct val="100000"/>
              </a:lnSpc>
              <a:spcBef>
                <a:spcPts val="500"/>
              </a:spcBef>
              <a:spcAft>
                <a:spcPts val="0"/>
              </a:spcAft>
              <a:buClr>
                <a:schemeClr val="dk1"/>
              </a:buClr>
              <a:buSzPts val="1000"/>
              <a:buFont typeface="Arial"/>
              <a:buChar char="•"/>
            </a:pPr>
            <a:r>
              <a:rPr lang="fr-FR"/>
              <a:t>Terminer par un point</a:t>
            </a:r>
            <a:endParaRPr/>
          </a:p>
          <a:p>
            <a:pPr marL="0" lvl="0" indent="0" algn="l" rtl="0">
              <a:lnSpc>
                <a:spcPct val="100000"/>
              </a:lnSpc>
              <a:spcBef>
                <a:spcPts val="2300"/>
              </a:spcBef>
              <a:spcAft>
                <a:spcPts val="0"/>
              </a:spcAft>
              <a:buClr>
                <a:schemeClr val="dk1"/>
              </a:buClr>
              <a:buSzPts val="1000"/>
              <a:buNone/>
            </a:pPr>
            <a:r>
              <a:rPr lang="fr-FR"/>
              <a:t>Un bon texte alternatif favorise le référencement.</a:t>
            </a:r>
            <a:endParaRPr/>
          </a:p>
          <a:p>
            <a:pPr marL="171450" lvl="0" indent="-104775" algn="l" rtl="0">
              <a:lnSpc>
                <a:spcPct val="100000"/>
              </a:lnSpc>
              <a:spcBef>
                <a:spcPts val="500"/>
              </a:spcBef>
              <a:spcAft>
                <a:spcPts val="0"/>
              </a:spcAft>
              <a:buClr>
                <a:schemeClr val="dk1"/>
              </a:buClr>
              <a:buSzPts val="1050"/>
              <a:buFont typeface="Arial"/>
              <a:buNone/>
            </a:pPr>
            <a:endParaRPr/>
          </a:p>
          <a:p>
            <a:pPr marL="0" lvl="0" indent="0" algn="l" rtl="0">
              <a:lnSpc>
                <a:spcPct val="100000"/>
              </a:lnSpc>
              <a:spcBef>
                <a:spcPts val="500"/>
              </a:spcBef>
              <a:spcAft>
                <a:spcPts val="0"/>
              </a:spcAft>
              <a:buClr>
                <a:schemeClr val="dk1"/>
              </a:buClr>
              <a:buSzPts val="1050"/>
              <a:buNone/>
            </a:pPr>
            <a:endParaRPr/>
          </a:p>
        </p:txBody>
      </p:sp>
      <p:sp>
        <p:nvSpPr>
          <p:cNvPr id="2063" name="Google Shape;2063;p170"/>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Rédiger un bon texte alternatif</a:t>
            </a:r>
            <a:endParaRPr/>
          </a:p>
        </p:txBody>
      </p:sp>
      <p:sp>
        <p:nvSpPr>
          <p:cNvPr id="2064" name="Google Shape;2064;p170"/>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Les 5 règles d'or du texte alternatif</a:t>
            </a:r>
            <a:endParaRPr/>
          </a:p>
        </p:txBody>
      </p:sp>
      <p:pic>
        <p:nvPicPr>
          <p:cNvPr id="2065" name="Google Shape;2065;p170" descr="france3-regions.francetvinfo.fr"/>
          <p:cNvPicPr preferRelativeResize="0"/>
          <p:nvPr/>
        </p:nvPicPr>
        <p:blipFill rotWithShape="1">
          <a:blip r:embed="rId3">
            <a:alphaModFix/>
          </a:blip>
          <a:srcRect/>
          <a:stretch/>
        </p:blipFill>
        <p:spPr>
          <a:xfrm>
            <a:off x="257273" y="1855359"/>
            <a:ext cx="2628479" cy="210278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69"/>
        <p:cNvGrpSpPr/>
        <p:nvPr/>
      </p:nvGrpSpPr>
      <p:grpSpPr>
        <a:xfrm>
          <a:off x="0" y="0"/>
          <a:ext cx="0" cy="0"/>
          <a:chOff x="0" y="0"/>
          <a:chExt cx="0" cy="0"/>
        </a:xfrm>
      </p:grpSpPr>
      <p:sp>
        <p:nvSpPr>
          <p:cNvPr id="2070" name="Google Shape;2070;p171"/>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071" name="Google Shape;2071;p171"/>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23</a:t>
            </a:fld>
            <a:endParaRPr/>
          </a:p>
        </p:txBody>
      </p:sp>
      <p:sp>
        <p:nvSpPr>
          <p:cNvPr id="2072" name="Google Shape;2072;p171"/>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073" name="Google Shape;2073;p171"/>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Texte alternatif (ALT)</a:t>
            </a:r>
            <a:endParaRPr/>
          </a:p>
          <a:p>
            <a:pPr marL="171450" lvl="0" indent="-171450" algn="l" rtl="0">
              <a:lnSpc>
                <a:spcPct val="100000"/>
              </a:lnSpc>
              <a:spcBef>
                <a:spcPts val="1100"/>
              </a:spcBef>
              <a:spcAft>
                <a:spcPts val="0"/>
              </a:spcAft>
              <a:buClr>
                <a:schemeClr val="dk1"/>
              </a:buClr>
              <a:buSzPts val="1000"/>
              <a:buFont typeface="Arial"/>
              <a:buChar char="•"/>
            </a:pPr>
            <a:r>
              <a:rPr lang="fr-FR"/>
              <a:t>Court et concis</a:t>
            </a:r>
            <a:endParaRPr/>
          </a:p>
          <a:p>
            <a:pPr marL="171450" lvl="0" indent="-171450" algn="l" rtl="0">
              <a:lnSpc>
                <a:spcPct val="100000"/>
              </a:lnSpc>
              <a:spcBef>
                <a:spcPts val="1100"/>
              </a:spcBef>
              <a:spcAft>
                <a:spcPts val="0"/>
              </a:spcAft>
              <a:buClr>
                <a:schemeClr val="dk1"/>
              </a:buClr>
              <a:buSzPts val="1000"/>
              <a:buFont typeface="Arial"/>
              <a:buChar char="•"/>
            </a:pPr>
            <a:r>
              <a:rPr lang="fr-FR"/>
              <a:t>Information essentielle</a:t>
            </a:r>
            <a:endParaRPr/>
          </a:p>
          <a:p>
            <a:pPr marL="171450" lvl="0" indent="-171450" algn="l" rtl="0">
              <a:lnSpc>
                <a:spcPct val="100000"/>
              </a:lnSpc>
              <a:spcBef>
                <a:spcPts val="1100"/>
              </a:spcBef>
              <a:spcAft>
                <a:spcPts val="0"/>
              </a:spcAft>
              <a:buClr>
                <a:schemeClr val="dk1"/>
              </a:buClr>
              <a:buSzPts val="1000"/>
              <a:buFont typeface="Arial"/>
              <a:buChar char="•"/>
            </a:pPr>
            <a:r>
              <a:rPr lang="fr-FR"/>
              <a:t>Dans le code</a:t>
            </a:r>
            <a:endParaRPr/>
          </a:p>
        </p:txBody>
      </p:sp>
      <p:sp>
        <p:nvSpPr>
          <p:cNvPr id="2074" name="Google Shape;2074;p171"/>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Description d'image</a:t>
            </a:r>
            <a:endParaRPr/>
          </a:p>
          <a:p>
            <a:pPr marL="171450" lvl="0" indent="-171450" algn="l" rtl="0">
              <a:lnSpc>
                <a:spcPct val="100000"/>
              </a:lnSpc>
              <a:spcBef>
                <a:spcPts val="1100"/>
              </a:spcBef>
              <a:spcAft>
                <a:spcPts val="0"/>
              </a:spcAft>
              <a:buClr>
                <a:schemeClr val="dk1"/>
              </a:buClr>
              <a:buSzPts val="1000"/>
              <a:buFont typeface="Arial"/>
              <a:buChar char="•"/>
            </a:pPr>
            <a:r>
              <a:rPr lang="fr-FR"/>
              <a:t>Plus détaillée</a:t>
            </a:r>
            <a:endParaRPr/>
          </a:p>
          <a:p>
            <a:pPr marL="171450" lvl="0" indent="-171450" algn="l" rtl="0">
              <a:lnSpc>
                <a:spcPct val="100000"/>
              </a:lnSpc>
              <a:spcBef>
                <a:spcPts val="1100"/>
              </a:spcBef>
              <a:spcAft>
                <a:spcPts val="0"/>
              </a:spcAft>
              <a:buClr>
                <a:schemeClr val="dk1"/>
              </a:buClr>
              <a:buSzPts val="1000"/>
              <a:buFont typeface="Arial"/>
              <a:buChar char="•"/>
            </a:pPr>
            <a:r>
              <a:rPr lang="fr-FR"/>
              <a:t>Contexte complet</a:t>
            </a:r>
            <a:endParaRPr/>
          </a:p>
          <a:p>
            <a:pPr marL="171450" lvl="0" indent="-171450" algn="l" rtl="0">
              <a:lnSpc>
                <a:spcPct val="100000"/>
              </a:lnSpc>
              <a:spcBef>
                <a:spcPts val="1100"/>
              </a:spcBef>
              <a:spcAft>
                <a:spcPts val="0"/>
              </a:spcAft>
              <a:buClr>
                <a:schemeClr val="dk1"/>
              </a:buClr>
              <a:buSzPts val="1000"/>
              <a:buFont typeface="Arial"/>
              <a:buChar char="•"/>
            </a:pPr>
            <a:r>
              <a:rPr lang="fr-FR"/>
              <a:t>Dans la légende/commentaire</a:t>
            </a:r>
            <a:endParaRPr/>
          </a:p>
          <a:p>
            <a:pPr marL="171450" lvl="0" indent="-171450" algn="l" rtl="0">
              <a:lnSpc>
                <a:spcPct val="100000"/>
              </a:lnSpc>
              <a:spcBef>
                <a:spcPts val="1100"/>
              </a:spcBef>
              <a:spcAft>
                <a:spcPts val="0"/>
              </a:spcAft>
              <a:buClr>
                <a:schemeClr val="dk1"/>
              </a:buClr>
              <a:buSzPts val="1000"/>
              <a:buFont typeface="Arial"/>
              <a:buChar char="•"/>
            </a:pPr>
            <a:r>
              <a:rPr lang="fr-FR"/>
              <a:t>Visible par tous</a:t>
            </a:r>
            <a:endParaRPr/>
          </a:p>
        </p:txBody>
      </p:sp>
      <p:sp>
        <p:nvSpPr>
          <p:cNvPr id="2075" name="Google Shape;2075;p171"/>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Différence texte ALT vs Description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79"/>
        <p:cNvGrpSpPr/>
        <p:nvPr/>
      </p:nvGrpSpPr>
      <p:grpSpPr>
        <a:xfrm>
          <a:off x="0" y="0"/>
          <a:ext cx="0" cy="0"/>
          <a:chOff x="0" y="0"/>
          <a:chExt cx="0" cy="0"/>
        </a:xfrm>
      </p:grpSpPr>
      <p:sp>
        <p:nvSpPr>
          <p:cNvPr id="2080" name="Google Shape;2080;p172"/>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081" name="Google Shape;2081;p172"/>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24</a:t>
            </a:fld>
            <a:endParaRPr/>
          </a:p>
        </p:txBody>
      </p:sp>
      <p:sp>
        <p:nvSpPr>
          <p:cNvPr id="2082" name="Google Shape;2082;p172"/>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083" name="Google Shape;2083;p172"/>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Stratégie pour les infographies :</a:t>
            </a:r>
            <a:endParaRPr/>
          </a:p>
          <a:p>
            <a:pPr marL="171450" lvl="0" indent="-171450" algn="l" rtl="0">
              <a:lnSpc>
                <a:spcPct val="100000"/>
              </a:lnSpc>
              <a:spcBef>
                <a:spcPts val="1100"/>
              </a:spcBef>
              <a:spcAft>
                <a:spcPts val="0"/>
              </a:spcAft>
              <a:buClr>
                <a:schemeClr val="dk1"/>
              </a:buClr>
              <a:buSzPts val="1000"/>
              <a:buFont typeface="Arial"/>
              <a:buChar char="•"/>
            </a:pPr>
            <a:r>
              <a:rPr lang="fr-FR"/>
              <a:t>ALT court et pertinent</a:t>
            </a:r>
            <a:endParaRPr/>
          </a:p>
          <a:p>
            <a:pPr marL="171450" lvl="0" indent="-171450" algn="l" rtl="0">
              <a:lnSpc>
                <a:spcPct val="100000"/>
              </a:lnSpc>
              <a:spcBef>
                <a:spcPts val="1100"/>
              </a:spcBef>
              <a:spcAft>
                <a:spcPts val="0"/>
              </a:spcAft>
              <a:buClr>
                <a:schemeClr val="dk1"/>
              </a:buClr>
              <a:buSzPts val="1000"/>
              <a:buFont typeface="Arial"/>
              <a:buChar char="•"/>
            </a:pPr>
            <a:r>
              <a:rPr lang="fr-FR"/>
              <a:t>Version texte complète (lien)</a:t>
            </a:r>
            <a:endParaRPr/>
          </a:p>
          <a:p>
            <a:pPr marL="171450" lvl="0" indent="-171450" algn="l" rtl="0">
              <a:lnSpc>
                <a:spcPct val="100000"/>
              </a:lnSpc>
              <a:spcBef>
                <a:spcPts val="1100"/>
              </a:spcBef>
              <a:spcAft>
                <a:spcPts val="0"/>
              </a:spcAft>
              <a:buClr>
                <a:schemeClr val="dk1"/>
              </a:buClr>
              <a:buSzPts val="1000"/>
              <a:buFont typeface="Arial"/>
              <a:buChar char="•"/>
            </a:pPr>
            <a:r>
              <a:rPr lang="fr-FR"/>
              <a:t>Description détaillée sur le site</a:t>
            </a:r>
            <a:endParaRPr/>
          </a:p>
        </p:txBody>
      </p:sp>
      <p:sp>
        <p:nvSpPr>
          <p:cNvPr id="2084" name="Google Shape;2084;p172"/>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Exemple :</a:t>
            </a:r>
            <a:endParaRPr/>
          </a:p>
          <a:p>
            <a:pPr marL="171450" lvl="0" indent="-171450" algn="l" rtl="0">
              <a:lnSpc>
                <a:spcPct val="100000"/>
              </a:lnSpc>
              <a:spcBef>
                <a:spcPts val="1100"/>
              </a:spcBef>
              <a:spcAft>
                <a:spcPts val="0"/>
              </a:spcAft>
              <a:buClr>
                <a:schemeClr val="dk1"/>
              </a:buClr>
              <a:buSzPts val="1000"/>
              <a:buFont typeface="Arial"/>
              <a:buChar char="•"/>
            </a:pPr>
            <a:r>
              <a:rPr lang="fr-FR"/>
              <a:t>ALT : "Infographie : Statistiques réseaux sociaux 2024"</a:t>
            </a:r>
            <a:endParaRPr/>
          </a:p>
          <a:p>
            <a:pPr marL="171450" lvl="0" indent="-171450" algn="l" rtl="0">
              <a:lnSpc>
                <a:spcPct val="100000"/>
              </a:lnSpc>
              <a:spcBef>
                <a:spcPts val="1100"/>
              </a:spcBef>
              <a:spcAft>
                <a:spcPts val="0"/>
              </a:spcAft>
              <a:buClr>
                <a:schemeClr val="dk1"/>
              </a:buClr>
              <a:buSzPts val="1000"/>
              <a:buFont typeface="Arial"/>
              <a:buChar char="•"/>
            </a:pPr>
            <a:r>
              <a:rPr lang="fr-FR"/>
              <a:t>Lien : [Version texte complète]</a:t>
            </a:r>
            <a:endParaRPr/>
          </a:p>
          <a:p>
            <a:pPr marL="171450" lvl="0" indent="-171450" algn="l" rtl="0">
              <a:lnSpc>
                <a:spcPct val="100000"/>
              </a:lnSpc>
              <a:spcBef>
                <a:spcPts val="1100"/>
              </a:spcBef>
              <a:spcAft>
                <a:spcPts val="0"/>
              </a:spcAft>
              <a:buClr>
                <a:schemeClr val="dk1"/>
              </a:buClr>
              <a:buSzPts val="1000"/>
              <a:buFont typeface="Arial"/>
              <a:buChar char="•"/>
            </a:pPr>
            <a:r>
              <a:rPr lang="fr-FR"/>
              <a:t>Description structurée dans un commentaire</a:t>
            </a:r>
            <a:endParaRPr/>
          </a:p>
        </p:txBody>
      </p:sp>
      <p:sp>
        <p:nvSpPr>
          <p:cNvPr id="2085" name="Google Shape;2085;p172"/>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Cas particuliers - Infographies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90"/>
        <p:cNvGrpSpPr/>
        <p:nvPr/>
      </p:nvGrpSpPr>
      <p:grpSpPr>
        <a:xfrm>
          <a:off x="0" y="0"/>
          <a:ext cx="0" cy="0"/>
          <a:chOff x="0" y="0"/>
          <a:chExt cx="0" cy="0"/>
        </a:xfrm>
      </p:grpSpPr>
      <p:sp>
        <p:nvSpPr>
          <p:cNvPr id="2091" name="Google Shape;2091;p173"/>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092" name="Google Shape;2092;p173"/>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25</a:t>
            </a:fld>
            <a:endParaRPr/>
          </a:p>
        </p:txBody>
      </p:sp>
      <p:sp>
        <p:nvSpPr>
          <p:cNvPr id="2093" name="Google Shape;2093;p173"/>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094" name="Google Shape;2094;p173"/>
          <p:cNvSpPr txBox="1">
            <a:spLocks noGrp="1"/>
          </p:cNvSpPr>
          <p:nvPr>
            <p:ph type="body" idx="2"/>
          </p:nvPr>
        </p:nvSpPr>
        <p:spPr>
          <a:xfrm>
            <a:off x="359998" y="1836000"/>
            <a:ext cx="8423275" cy="2679966"/>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0"/>
              </a:spcBef>
              <a:spcAft>
                <a:spcPts val="0"/>
              </a:spcAft>
              <a:buClr>
                <a:schemeClr val="dk1"/>
              </a:buClr>
              <a:buSzPts val="1000"/>
              <a:buFont typeface="Arial"/>
              <a:buChar char="•"/>
            </a:pPr>
            <a:r>
              <a:rPr lang="fr-FR"/>
              <a:t>Texte normal : ratio minimum 4.5:1</a:t>
            </a:r>
            <a:endParaRPr/>
          </a:p>
          <a:p>
            <a:pPr marL="171450" lvl="0" indent="-171450" algn="l" rtl="0">
              <a:lnSpc>
                <a:spcPct val="100000"/>
              </a:lnSpc>
              <a:spcBef>
                <a:spcPts val="1100"/>
              </a:spcBef>
              <a:spcAft>
                <a:spcPts val="0"/>
              </a:spcAft>
              <a:buClr>
                <a:schemeClr val="dk1"/>
              </a:buClr>
              <a:buSzPts val="1000"/>
              <a:buFont typeface="Arial"/>
              <a:buChar char="•"/>
            </a:pPr>
            <a:r>
              <a:rPr lang="fr-FR"/>
              <a:t>Grand texte : ratio minimum 3:1</a:t>
            </a:r>
            <a:endParaRPr/>
          </a:p>
          <a:p>
            <a:pPr marL="171450" lvl="0" indent="-171450" algn="l" rtl="0">
              <a:lnSpc>
                <a:spcPct val="100000"/>
              </a:lnSpc>
              <a:spcBef>
                <a:spcPts val="1100"/>
              </a:spcBef>
              <a:spcAft>
                <a:spcPts val="0"/>
              </a:spcAft>
              <a:buClr>
                <a:schemeClr val="dk1"/>
              </a:buClr>
              <a:buSzPts val="1000"/>
              <a:buFont typeface="Arial"/>
              <a:buChar char="•"/>
            </a:pPr>
            <a:r>
              <a:rPr lang="fr-FR"/>
              <a:t>Logos/éléments décoratifs : pas d'exigence</a:t>
            </a:r>
            <a:endParaRPr/>
          </a:p>
        </p:txBody>
      </p:sp>
      <p:sp>
        <p:nvSpPr>
          <p:cNvPr id="2095" name="Google Shape;2095;p173"/>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Contraste et lisibilité</a:t>
            </a:r>
            <a:endParaRPr/>
          </a:p>
        </p:txBody>
      </p:sp>
      <p:sp>
        <p:nvSpPr>
          <p:cNvPr id="2096" name="Google Shape;2096;p173"/>
          <p:cNvSpPr txBox="1">
            <a:spLocks noGrp="1"/>
          </p:cNvSpPr>
          <p:nvPr>
            <p:ph type="body" idx="3"/>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Rappel des règles de contraste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01"/>
        <p:cNvGrpSpPr/>
        <p:nvPr/>
      </p:nvGrpSpPr>
      <p:grpSpPr>
        <a:xfrm>
          <a:off x="0" y="0"/>
          <a:ext cx="0" cy="0"/>
          <a:chOff x="0" y="0"/>
          <a:chExt cx="0" cy="0"/>
        </a:xfrm>
      </p:grpSpPr>
      <p:sp>
        <p:nvSpPr>
          <p:cNvPr id="2102" name="Google Shape;2102;p174"/>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103" name="Google Shape;2103;p174"/>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26</a:t>
            </a:fld>
            <a:endParaRPr/>
          </a:p>
        </p:txBody>
      </p:sp>
      <p:sp>
        <p:nvSpPr>
          <p:cNvPr id="2104" name="Google Shape;2104;p174"/>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105" name="Google Shape;2105;p174"/>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Instructions LinkedIn - 1</a:t>
            </a:r>
            <a:endParaRPr sz="2400" b="1"/>
          </a:p>
        </p:txBody>
      </p:sp>
      <p:sp>
        <p:nvSpPr>
          <p:cNvPr id="2106" name="Google Shape;2106;p174"/>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Ajout de texte alternatif sur LinkedIn – Screens écrans extraits du webinaire Passe Muraille</a:t>
            </a:r>
            <a:endParaRPr/>
          </a:p>
          <a:p>
            <a:pPr marL="0" lvl="0" indent="0" algn="l" rtl="0">
              <a:lnSpc>
                <a:spcPct val="100000"/>
              </a:lnSpc>
              <a:spcBef>
                <a:spcPts val="500"/>
              </a:spcBef>
              <a:spcAft>
                <a:spcPts val="0"/>
              </a:spcAft>
              <a:buClr>
                <a:srgbClr val="595959"/>
              </a:buClr>
              <a:buSzPts val="1100"/>
              <a:buNone/>
            </a:pPr>
            <a:endParaRPr/>
          </a:p>
        </p:txBody>
      </p:sp>
      <p:pic>
        <p:nvPicPr>
          <p:cNvPr id="2107" name="Google Shape;2107;p174" descr="Screen écran 1 - insertion du texte alternatif sous Linkedin. Procédure décrite à la slide précédente."/>
          <p:cNvPicPr preferRelativeResize="0"/>
          <p:nvPr/>
        </p:nvPicPr>
        <p:blipFill rotWithShape="1">
          <a:blip r:embed="rId3">
            <a:alphaModFix/>
          </a:blip>
          <a:srcRect/>
          <a:stretch/>
        </p:blipFill>
        <p:spPr>
          <a:xfrm>
            <a:off x="234810" y="2060009"/>
            <a:ext cx="2701705" cy="1735878"/>
          </a:xfrm>
          <a:prstGeom prst="rect">
            <a:avLst/>
          </a:prstGeom>
          <a:noFill/>
          <a:ln>
            <a:noFill/>
          </a:ln>
        </p:spPr>
      </p:pic>
      <p:pic>
        <p:nvPicPr>
          <p:cNvPr id="2108" name="Google Shape;2108;p174" descr="Screen écran 2 - insertion du texte alternatif sous Linkedin. Procédure décrite à la slide précédente."/>
          <p:cNvPicPr preferRelativeResize="0"/>
          <p:nvPr/>
        </p:nvPicPr>
        <p:blipFill rotWithShape="1">
          <a:blip r:embed="rId4">
            <a:alphaModFix/>
          </a:blip>
          <a:srcRect/>
          <a:stretch/>
        </p:blipFill>
        <p:spPr>
          <a:xfrm>
            <a:off x="3287306" y="2089506"/>
            <a:ext cx="2474892" cy="1815374"/>
          </a:xfrm>
          <a:prstGeom prst="rect">
            <a:avLst/>
          </a:prstGeom>
          <a:noFill/>
          <a:ln>
            <a:noFill/>
          </a:ln>
        </p:spPr>
      </p:pic>
      <p:pic>
        <p:nvPicPr>
          <p:cNvPr id="2109" name="Google Shape;2109;p174" descr="Screen écran 3 - insertion du texte alternatif sous Linkedin. Procédure décrite à la slide précédente."/>
          <p:cNvPicPr preferRelativeResize="0"/>
          <p:nvPr/>
        </p:nvPicPr>
        <p:blipFill rotWithShape="1">
          <a:blip r:embed="rId5">
            <a:alphaModFix/>
          </a:blip>
          <a:srcRect/>
          <a:stretch/>
        </p:blipFill>
        <p:spPr>
          <a:xfrm>
            <a:off x="6307573" y="1908008"/>
            <a:ext cx="2004761" cy="282398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3"/>
        <p:cNvGrpSpPr/>
        <p:nvPr/>
      </p:nvGrpSpPr>
      <p:grpSpPr>
        <a:xfrm>
          <a:off x="0" y="0"/>
          <a:ext cx="0" cy="0"/>
          <a:chOff x="0" y="0"/>
          <a:chExt cx="0" cy="0"/>
        </a:xfrm>
      </p:grpSpPr>
      <p:sp>
        <p:nvSpPr>
          <p:cNvPr id="2114" name="Google Shape;2114;p175"/>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115" name="Google Shape;2115;p175"/>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27</a:t>
            </a:fld>
            <a:endParaRPr/>
          </a:p>
        </p:txBody>
      </p:sp>
      <p:sp>
        <p:nvSpPr>
          <p:cNvPr id="2116" name="Google Shape;2116;p175"/>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117" name="Google Shape;2117;p175"/>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i="0">
                <a:solidFill>
                  <a:schemeClr val="dk2"/>
                </a:solidFill>
              </a:rPr>
              <a:t>LinkedIn (version de bureau et application mobile)</a:t>
            </a:r>
            <a:endParaRPr/>
          </a:p>
          <a:p>
            <a:pPr marL="171450" lvl="0" indent="-171450" algn="l" rtl="0">
              <a:lnSpc>
                <a:spcPct val="100000"/>
              </a:lnSpc>
              <a:spcBef>
                <a:spcPts val="1100"/>
              </a:spcBef>
              <a:spcAft>
                <a:spcPts val="0"/>
              </a:spcAft>
              <a:buClr>
                <a:srgbClr val="131314"/>
              </a:buClr>
              <a:buSzPts val="1000"/>
              <a:buFont typeface="Arial"/>
              <a:buChar char="•"/>
            </a:pPr>
            <a:r>
              <a:rPr lang="fr-FR" b="0" i="0">
                <a:solidFill>
                  <a:srgbClr val="131314"/>
                </a:solidFill>
              </a:rPr>
              <a:t>Télécharger l'image pour votre publication.</a:t>
            </a:r>
            <a:endParaRPr/>
          </a:p>
          <a:p>
            <a:pPr marL="171450" lvl="0" indent="-171450" algn="l" rtl="0">
              <a:lnSpc>
                <a:spcPct val="100000"/>
              </a:lnSpc>
              <a:spcBef>
                <a:spcPts val="600"/>
              </a:spcBef>
              <a:spcAft>
                <a:spcPts val="0"/>
              </a:spcAft>
              <a:buClr>
                <a:srgbClr val="131314"/>
              </a:buClr>
              <a:buSzPts val="1000"/>
              <a:buFont typeface="Arial"/>
              <a:buChar char="•"/>
            </a:pPr>
            <a:r>
              <a:rPr lang="fr-FR" b="0" i="0">
                <a:solidFill>
                  <a:srgbClr val="131314"/>
                </a:solidFill>
              </a:rPr>
              <a:t>Un bouton pour accéder au champ de texte alternatif apparaît automatiquement sous l'image.</a:t>
            </a:r>
            <a:endParaRPr/>
          </a:p>
          <a:p>
            <a:pPr marL="171450" lvl="0" indent="-171450" algn="l" rtl="0">
              <a:lnSpc>
                <a:spcPct val="100000"/>
              </a:lnSpc>
              <a:spcBef>
                <a:spcPts val="600"/>
              </a:spcBef>
              <a:spcAft>
                <a:spcPts val="0"/>
              </a:spcAft>
              <a:buClr>
                <a:srgbClr val="131314"/>
              </a:buClr>
              <a:buSzPts val="1000"/>
              <a:buFont typeface="Arial"/>
              <a:buChar char="•"/>
            </a:pPr>
            <a:r>
              <a:rPr lang="fr-FR" b="0" i="0">
                <a:solidFill>
                  <a:srgbClr val="131314"/>
                </a:solidFill>
              </a:rPr>
              <a:t>Cliquer sur ce bouton pour ouvrir le champ "Texte Alt".</a:t>
            </a:r>
            <a:endParaRPr/>
          </a:p>
          <a:p>
            <a:pPr marL="171450" lvl="0" indent="-171450" algn="l" rtl="0">
              <a:lnSpc>
                <a:spcPct val="100000"/>
              </a:lnSpc>
              <a:spcBef>
                <a:spcPts val="600"/>
              </a:spcBef>
              <a:spcAft>
                <a:spcPts val="0"/>
              </a:spcAft>
              <a:buClr>
                <a:srgbClr val="131314"/>
              </a:buClr>
              <a:buSzPts val="1000"/>
              <a:buFont typeface="Arial"/>
              <a:buChar char="•"/>
            </a:pPr>
            <a:r>
              <a:rPr lang="fr-FR" b="0" i="0">
                <a:solidFill>
                  <a:srgbClr val="131314"/>
                </a:solidFill>
              </a:rPr>
              <a:t>Saisir votre description dans ce champ.</a:t>
            </a:r>
            <a:endParaRPr/>
          </a:p>
          <a:p>
            <a:pPr marL="171450" lvl="0" indent="-171450" algn="l" rtl="0">
              <a:lnSpc>
                <a:spcPct val="100000"/>
              </a:lnSpc>
              <a:spcBef>
                <a:spcPts val="600"/>
              </a:spcBef>
              <a:spcAft>
                <a:spcPts val="0"/>
              </a:spcAft>
              <a:buClr>
                <a:srgbClr val="131314"/>
              </a:buClr>
              <a:buSzPts val="1000"/>
              <a:buFont typeface="Arial"/>
              <a:buChar char="•"/>
            </a:pPr>
            <a:r>
              <a:rPr lang="fr-FR" b="0" i="0">
                <a:solidFill>
                  <a:srgbClr val="131314"/>
                </a:solidFill>
              </a:rPr>
              <a:t>Cliquer sur "Ajouter" (sur la version de bureau) ou "Terminé" (sur l'application mobile).</a:t>
            </a:r>
            <a:endParaRPr/>
          </a:p>
          <a:p>
            <a:pPr marL="0" lvl="0" indent="0" algn="l" rtl="0">
              <a:lnSpc>
                <a:spcPct val="100000"/>
              </a:lnSpc>
              <a:spcBef>
                <a:spcPts val="0"/>
              </a:spcBef>
              <a:spcAft>
                <a:spcPts val="0"/>
              </a:spcAft>
              <a:buClr>
                <a:schemeClr val="dk1"/>
              </a:buClr>
              <a:buSzPts val="1050"/>
              <a:buNone/>
            </a:pPr>
            <a:endParaRPr/>
          </a:p>
        </p:txBody>
      </p:sp>
      <p:sp>
        <p:nvSpPr>
          <p:cNvPr id="2118" name="Google Shape;2118;p175"/>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Points importants :</a:t>
            </a:r>
            <a:endParaRPr/>
          </a:p>
          <a:p>
            <a:pPr marL="171450" lvl="0" indent="-171450" algn="l" rtl="0">
              <a:lnSpc>
                <a:spcPct val="100000"/>
              </a:lnSpc>
              <a:spcBef>
                <a:spcPts val="1100"/>
              </a:spcBef>
              <a:spcAft>
                <a:spcPts val="0"/>
              </a:spcAft>
              <a:buClr>
                <a:schemeClr val="dk1"/>
              </a:buClr>
              <a:buSzPts val="1000"/>
              <a:buFont typeface="Arial"/>
              <a:buChar char="•"/>
            </a:pPr>
            <a:r>
              <a:rPr lang="fr-FR"/>
              <a:t>Simplicité d'utilisation</a:t>
            </a:r>
            <a:endParaRPr/>
          </a:p>
          <a:p>
            <a:pPr marL="171450" lvl="0" indent="-171450" algn="l" rtl="0">
              <a:lnSpc>
                <a:spcPct val="100000"/>
              </a:lnSpc>
              <a:spcBef>
                <a:spcPts val="1100"/>
              </a:spcBef>
              <a:spcAft>
                <a:spcPts val="0"/>
              </a:spcAft>
              <a:buClr>
                <a:schemeClr val="dk1"/>
              </a:buClr>
              <a:buSzPts val="1000"/>
              <a:buFont typeface="Arial"/>
              <a:buChar char="•"/>
            </a:pPr>
            <a:r>
              <a:rPr lang="fr-FR"/>
              <a:t>LinkedIn propose une interface très simple pour ajouter du texte alternatif aux images. </a:t>
            </a:r>
            <a:endParaRPr/>
          </a:p>
          <a:p>
            <a:pPr marL="171450" lvl="0" indent="-171450" algn="l" rtl="0">
              <a:lnSpc>
                <a:spcPct val="100000"/>
              </a:lnSpc>
              <a:spcBef>
                <a:spcPts val="1100"/>
              </a:spcBef>
              <a:spcAft>
                <a:spcPts val="0"/>
              </a:spcAft>
              <a:buClr>
                <a:schemeClr val="dk1"/>
              </a:buClr>
              <a:buSzPts val="1000"/>
              <a:buFont typeface="Arial"/>
              <a:buChar char="•"/>
            </a:pPr>
            <a:r>
              <a:rPr lang="fr-FR"/>
              <a:t>Le champ "Texte Alt" est facilement accessible et ne nécessite pas de naviguer dans des menus complexes.</a:t>
            </a:r>
            <a:endParaRPr/>
          </a:p>
          <a:p>
            <a:pPr marL="0" lvl="0" indent="0" algn="l" rtl="0">
              <a:lnSpc>
                <a:spcPct val="100000"/>
              </a:lnSpc>
              <a:spcBef>
                <a:spcPts val="500"/>
              </a:spcBef>
              <a:spcAft>
                <a:spcPts val="0"/>
              </a:spcAft>
              <a:buClr>
                <a:schemeClr val="dk1"/>
              </a:buClr>
              <a:buSzPts val="1050"/>
              <a:buNone/>
            </a:pPr>
            <a:endParaRPr/>
          </a:p>
        </p:txBody>
      </p:sp>
      <p:sp>
        <p:nvSpPr>
          <p:cNvPr id="2119" name="Google Shape;2119;p175"/>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Instructions LinkedIn - 2</a:t>
            </a:r>
            <a:endParaRPr/>
          </a:p>
        </p:txBody>
      </p:sp>
      <p:sp>
        <p:nvSpPr>
          <p:cNvPr id="2120" name="Google Shape;2120;p175"/>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Ajout de texte alternatif sur LinkedIn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25"/>
        <p:cNvGrpSpPr/>
        <p:nvPr/>
      </p:nvGrpSpPr>
      <p:grpSpPr>
        <a:xfrm>
          <a:off x="0" y="0"/>
          <a:ext cx="0" cy="0"/>
          <a:chOff x="0" y="0"/>
          <a:chExt cx="0" cy="0"/>
        </a:xfrm>
      </p:grpSpPr>
      <p:sp>
        <p:nvSpPr>
          <p:cNvPr id="2126" name="Google Shape;2126;p176"/>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127" name="Google Shape;2127;p176"/>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128" name="Google Shape;2128;p176"/>
          <p:cNvSpPr txBox="1">
            <a:spLocks noGrp="1"/>
          </p:cNvSpPr>
          <p:nvPr>
            <p:ph type="body" idx="2"/>
          </p:nvPr>
        </p:nvSpPr>
        <p:spPr>
          <a:xfrm>
            <a:off x="359999"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Sur Desktop </a:t>
            </a:r>
            <a:endParaRPr/>
          </a:p>
          <a:p>
            <a:pPr marL="171450" lvl="0" indent="-171450" algn="l" rtl="0">
              <a:lnSpc>
                <a:spcPct val="100000"/>
              </a:lnSpc>
              <a:spcBef>
                <a:spcPts val="500"/>
              </a:spcBef>
              <a:spcAft>
                <a:spcPts val="0"/>
              </a:spcAft>
              <a:buClr>
                <a:schemeClr val="dk1"/>
              </a:buClr>
              <a:buSzPts val="1000"/>
              <a:buFont typeface="Arial"/>
              <a:buChar char="•"/>
            </a:pPr>
            <a:r>
              <a:rPr lang="fr-FR" b="1"/>
              <a:t>Télécharger</a:t>
            </a:r>
            <a:r>
              <a:rPr lang="fr-FR"/>
              <a:t> la ou les images</a:t>
            </a:r>
            <a:endParaRPr/>
          </a:p>
          <a:p>
            <a:pPr marL="171450" lvl="0" indent="-171450" algn="l" rtl="0">
              <a:lnSpc>
                <a:spcPct val="100000"/>
              </a:lnSpc>
              <a:spcBef>
                <a:spcPts val="500"/>
              </a:spcBef>
              <a:spcAft>
                <a:spcPts val="0"/>
              </a:spcAft>
              <a:buClr>
                <a:schemeClr val="dk1"/>
              </a:buClr>
              <a:buSzPts val="1000"/>
              <a:buFont typeface="Arial"/>
              <a:buChar char="•"/>
            </a:pPr>
            <a:r>
              <a:rPr lang="fr-FR"/>
              <a:t>Passer la souris sur chaque image</a:t>
            </a:r>
            <a:endParaRPr/>
          </a:p>
          <a:p>
            <a:pPr marL="171450" lvl="0" indent="-171450" algn="l" rtl="0">
              <a:lnSpc>
                <a:spcPct val="100000"/>
              </a:lnSpc>
              <a:spcBef>
                <a:spcPts val="500"/>
              </a:spcBef>
              <a:spcAft>
                <a:spcPts val="0"/>
              </a:spcAft>
              <a:buClr>
                <a:schemeClr val="dk1"/>
              </a:buClr>
              <a:buSzPts val="1000"/>
              <a:buFont typeface="Arial"/>
              <a:buChar char="•"/>
            </a:pPr>
            <a:r>
              <a:rPr lang="fr-FR"/>
              <a:t>Cliquer sur </a:t>
            </a:r>
            <a:r>
              <a:rPr lang="fr-FR" b="1"/>
              <a:t>Modifier</a:t>
            </a:r>
            <a:r>
              <a:rPr lang="fr-FR"/>
              <a:t> dans le coin supérieur gauche</a:t>
            </a:r>
            <a:endParaRPr/>
          </a:p>
          <a:p>
            <a:pPr marL="171450" lvl="0" indent="-171450" algn="l" rtl="0">
              <a:lnSpc>
                <a:spcPct val="100000"/>
              </a:lnSpc>
              <a:spcBef>
                <a:spcPts val="500"/>
              </a:spcBef>
              <a:spcAft>
                <a:spcPts val="0"/>
              </a:spcAft>
              <a:buClr>
                <a:schemeClr val="dk1"/>
              </a:buClr>
              <a:buSzPts val="1000"/>
              <a:buFont typeface="Arial"/>
              <a:buChar char="•"/>
            </a:pPr>
            <a:r>
              <a:rPr lang="fr-FR"/>
              <a:t>Sélectionner </a:t>
            </a:r>
            <a:r>
              <a:rPr lang="fr-FR" b="1"/>
              <a:t>Texte alternatif (pas légende)</a:t>
            </a:r>
            <a:endParaRPr/>
          </a:p>
          <a:p>
            <a:pPr marL="171450" lvl="0" indent="-171450" algn="l" rtl="0">
              <a:lnSpc>
                <a:spcPct val="100000"/>
              </a:lnSpc>
              <a:spcBef>
                <a:spcPts val="500"/>
              </a:spcBef>
              <a:spcAft>
                <a:spcPts val="0"/>
              </a:spcAft>
              <a:buClr>
                <a:schemeClr val="dk1"/>
              </a:buClr>
              <a:buSzPts val="1000"/>
              <a:buFont typeface="Arial"/>
              <a:buChar char="•"/>
            </a:pPr>
            <a:r>
              <a:rPr lang="fr-FR"/>
              <a:t>Saisir la description</a:t>
            </a:r>
            <a:endParaRPr/>
          </a:p>
          <a:p>
            <a:pPr marL="171450" lvl="0" indent="-171450" algn="l" rtl="0">
              <a:lnSpc>
                <a:spcPct val="100000"/>
              </a:lnSpc>
              <a:spcBef>
                <a:spcPts val="500"/>
              </a:spcBef>
              <a:spcAft>
                <a:spcPts val="0"/>
              </a:spcAft>
              <a:buClr>
                <a:schemeClr val="dk1"/>
              </a:buClr>
              <a:buSzPts val="1000"/>
              <a:buFont typeface="Arial"/>
              <a:buChar char="•"/>
            </a:pPr>
            <a:r>
              <a:rPr lang="fr-FR"/>
              <a:t>Valider</a:t>
            </a:r>
            <a:endParaRPr/>
          </a:p>
          <a:p>
            <a:pPr marL="171450" lvl="0" indent="-171450" algn="l" rtl="0">
              <a:lnSpc>
                <a:spcPct val="100000"/>
              </a:lnSpc>
              <a:spcBef>
                <a:spcPts val="500"/>
              </a:spcBef>
              <a:spcAft>
                <a:spcPts val="0"/>
              </a:spcAft>
              <a:buClr>
                <a:schemeClr val="dk1"/>
              </a:buClr>
              <a:buSzPts val="1000"/>
              <a:buFont typeface="Arial"/>
              <a:buChar char="•"/>
            </a:pPr>
            <a:r>
              <a:rPr lang="fr-FR"/>
              <a:t>Il est possible de </a:t>
            </a:r>
            <a:r>
              <a:rPr lang="fr-FR" i="0">
                <a:solidFill>
                  <a:srgbClr val="131314"/>
                </a:solidFill>
              </a:rPr>
              <a:t>Modifier le texte alternatif après publication</a:t>
            </a:r>
            <a:endParaRPr/>
          </a:p>
          <a:p>
            <a:pPr marL="0" lvl="0" indent="0" algn="l" rtl="0">
              <a:lnSpc>
                <a:spcPct val="100000"/>
              </a:lnSpc>
              <a:spcBef>
                <a:spcPts val="500"/>
              </a:spcBef>
              <a:spcAft>
                <a:spcPts val="0"/>
              </a:spcAft>
              <a:buClr>
                <a:schemeClr val="dk1"/>
              </a:buClr>
              <a:buSzPts val="1050"/>
              <a:buNone/>
            </a:pPr>
            <a:endParaRPr/>
          </a:p>
        </p:txBody>
      </p:sp>
      <p:sp>
        <p:nvSpPr>
          <p:cNvPr id="2129" name="Google Shape;2129;p176"/>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Instructions Facebook - 1</a:t>
            </a:r>
            <a:endParaRPr/>
          </a:p>
        </p:txBody>
      </p:sp>
      <p:sp>
        <p:nvSpPr>
          <p:cNvPr id="2130" name="Google Shape;2130;p176"/>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Facebook et texte alternatif – Screens écrans extraits du webinaire Passe Muraille</a:t>
            </a:r>
            <a:endParaRPr/>
          </a:p>
        </p:txBody>
      </p:sp>
      <p:pic>
        <p:nvPicPr>
          <p:cNvPr id="2131" name="Google Shape;2131;p176" descr="Screen écran 1 insertion du texte alternatif sous Facebook. Procédure décrite à la slide précédente."/>
          <p:cNvPicPr preferRelativeResize="0"/>
          <p:nvPr/>
        </p:nvPicPr>
        <p:blipFill rotWithShape="1">
          <a:blip r:embed="rId3">
            <a:alphaModFix/>
          </a:blip>
          <a:srcRect/>
          <a:stretch/>
        </p:blipFill>
        <p:spPr>
          <a:xfrm>
            <a:off x="3189618" y="1852834"/>
            <a:ext cx="1829301" cy="1978811"/>
          </a:xfrm>
          <a:prstGeom prst="rect">
            <a:avLst/>
          </a:prstGeom>
          <a:noFill/>
          <a:ln>
            <a:noFill/>
          </a:ln>
        </p:spPr>
      </p:pic>
      <p:pic>
        <p:nvPicPr>
          <p:cNvPr id="2132" name="Google Shape;2132;p176" descr="Screen écran 3 -  insertion du texte alternatif sous Facebook. Procédure décrite à la slide précédente."/>
          <p:cNvPicPr preferRelativeResize="0"/>
          <p:nvPr/>
        </p:nvPicPr>
        <p:blipFill rotWithShape="1">
          <a:blip r:embed="rId4">
            <a:alphaModFix/>
          </a:blip>
          <a:srcRect/>
          <a:stretch/>
        </p:blipFill>
        <p:spPr>
          <a:xfrm>
            <a:off x="5205424" y="1851670"/>
            <a:ext cx="1253151" cy="2022853"/>
          </a:xfrm>
          <a:prstGeom prst="rect">
            <a:avLst/>
          </a:prstGeom>
          <a:noFill/>
          <a:ln>
            <a:noFill/>
          </a:ln>
        </p:spPr>
      </p:pic>
      <p:pic>
        <p:nvPicPr>
          <p:cNvPr id="2133" name="Google Shape;2133;p176" descr="Screen écran 2 insertion du texte alternatif sous Facebook. Procédure décrite à la slide précédente."/>
          <p:cNvPicPr preferRelativeResize="0"/>
          <p:nvPr/>
        </p:nvPicPr>
        <p:blipFill rotWithShape="1">
          <a:blip r:embed="rId5">
            <a:alphaModFix/>
          </a:blip>
          <a:srcRect/>
          <a:stretch/>
        </p:blipFill>
        <p:spPr>
          <a:xfrm>
            <a:off x="6627001" y="1851670"/>
            <a:ext cx="1793998" cy="139871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37"/>
        <p:cNvGrpSpPr/>
        <p:nvPr/>
      </p:nvGrpSpPr>
      <p:grpSpPr>
        <a:xfrm>
          <a:off x="0" y="0"/>
          <a:ext cx="0" cy="0"/>
          <a:chOff x="0" y="0"/>
          <a:chExt cx="0" cy="0"/>
        </a:xfrm>
      </p:grpSpPr>
      <p:sp>
        <p:nvSpPr>
          <p:cNvPr id="2138" name="Google Shape;2138;p177"/>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139" name="Google Shape;2139;p177"/>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29</a:t>
            </a:fld>
            <a:endParaRPr/>
          </a:p>
        </p:txBody>
      </p:sp>
      <p:sp>
        <p:nvSpPr>
          <p:cNvPr id="2140" name="Google Shape;2140;p177"/>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141" name="Google Shape;2141;p177"/>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Sur Mobile </a:t>
            </a:r>
            <a:endParaRPr/>
          </a:p>
          <a:p>
            <a:pPr marL="171450" lvl="0" indent="-171450" algn="l" rtl="0">
              <a:lnSpc>
                <a:spcPct val="100000"/>
              </a:lnSpc>
              <a:spcBef>
                <a:spcPts val="500"/>
              </a:spcBef>
              <a:spcAft>
                <a:spcPts val="0"/>
              </a:spcAft>
              <a:buClr>
                <a:schemeClr val="dk1"/>
              </a:buClr>
              <a:buSzPts val="1000"/>
              <a:buFont typeface="Arial"/>
              <a:buChar char="•"/>
            </a:pPr>
            <a:r>
              <a:rPr lang="fr-FR"/>
              <a:t>Télécharger l'image</a:t>
            </a:r>
            <a:endParaRPr/>
          </a:p>
          <a:p>
            <a:pPr marL="171450" lvl="0" indent="-171450" algn="l" rtl="0">
              <a:lnSpc>
                <a:spcPct val="100000"/>
              </a:lnSpc>
              <a:spcBef>
                <a:spcPts val="500"/>
              </a:spcBef>
              <a:spcAft>
                <a:spcPts val="0"/>
              </a:spcAft>
              <a:buClr>
                <a:schemeClr val="dk1"/>
              </a:buClr>
              <a:buSzPts val="1000"/>
              <a:buFont typeface="Arial"/>
              <a:buChar char="•"/>
            </a:pPr>
            <a:r>
              <a:rPr lang="fr-FR"/>
              <a:t>Appuyer sur les </a:t>
            </a:r>
            <a:r>
              <a:rPr lang="fr-FR" b="1"/>
              <a:t>trois points</a:t>
            </a:r>
            <a:r>
              <a:rPr lang="fr-FR"/>
              <a:t> (...)</a:t>
            </a:r>
            <a:endParaRPr/>
          </a:p>
          <a:p>
            <a:pPr marL="171450" lvl="0" indent="-171450" algn="l" rtl="0">
              <a:lnSpc>
                <a:spcPct val="100000"/>
              </a:lnSpc>
              <a:spcBef>
                <a:spcPts val="500"/>
              </a:spcBef>
              <a:spcAft>
                <a:spcPts val="0"/>
              </a:spcAft>
              <a:buClr>
                <a:schemeClr val="dk1"/>
              </a:buClr>
              <a:buSzPts val="1000"/>
              <a:buFont typeface="Arial"/>
              <a:buChar char="•"/>
            </a:pPr>
            <a:r>
              <a:rPr lang="fr-FR"/>
              <a:t>Choisir Modifier le texte alternatif</a:t>
            </a:r>
            <a:endParaRPr/>
          </a:p>
          <a:p>
            <a:pPr marL="171450" lvl="0" indent="-171450" algn="l" rtl="0">
              <a:lnSpc>
                <a:spcPct val="100000"/>
              </a:lnSpc>
              <a:spcBef>
                <a:spcPts val="500"/>
              </a:spcBef>
              <a:spcAft>
                <a:spcPts val="0"/>
              </a:spcAft>
              <a:buClr>
                <a:schemeClr val="dk1"/>
              </a:buClr>
              <a:buSzPts val="1000"/>
              <a:buFont typeface="Arial"/>
              <a:buChar char="•"/>
            </a:pPr>
            <a:r>
              <a:rPr lang="fr-FR"/>
              <a:t>Saisir la description</a:t>
            </a:r>
            <a:endParaRPr/>
          </a:p>
          <a:p>
            <a:pPr marL="171450" lvl="0" indent="-171450" algn="l" rtl="0">
              <a:lnSpc>
                <a:spcPct val="100000"/>
              </a:lnSpc>
              <a:spcBef>
                <a:spcPts val="500"/>
              </a:spcBef>
              <a:spcAft>
                <a:spcPts val="0"/>
              </a:spcAft>
              <a:buClr>
                <a:schemeClr val="dk1"/>
              </a:buClr>
              <a:buSzPts val="1000"/>
              <a:buFont typeface="Arial"/>
              <a:buChar char="•"/>
            </a:pPr>
            <a:r>
              <a:rPr lang="fr-FR"/>
              <a:t>Enregistrer</a:t>
            </a:r>
            <a:endParaRPr/>
          </a:p>
          <a:p>
            <a:pPr marL="0" lvl="0" indent="0" algn="l" rtl="0">
              <a:lnSpc>
                <a:spcPct val="100000"/>
              </a:lnSpc>
              <a:spcBef>
                <a:spcPts val="500"/>
              </a:spcBef>
              <a:spcAft>
                <a:spcPts val="0"/>
              </a:spcAft>
              <a:buClr>
                <a:schemeClr val="dk1"/>
              </a:buClr>
              <a:buSzPts val="1050"/>
              <a:buNone/>
            </a:pPr>
            <a:endParaRPr/>
          </a:p>
        </p:txBody>
      </p:sp>
      <p:sp>
        <p:nvSpPr>
          <p:cNvPr id="2142" name="Google Shape;2142;p177"/>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Limites et contraintes</a:t>
            </a:r>
            <a:endParaRPr/>
          </a:p>
          <a:p>
            <a:pPr marL="171450" lvl="0" indent="-171450" algn="l" rtl="0">
              <a:lnSpc>
                <a:spcPct val="100000"/>
              </a:lnSpc>
              <a:spcBef>
                <a:spcPts val="500"/>
              </a:spcBef>
              <a:spcAft>
                <a:spcPts val="0"/>
              </a:spcAft>
              <a:buClr>
                <a:schemeClr val="dk1"/>
              </a:buClr>
              <a:buSzPts val="1000"/>
              <a:buFont typeface="Arial"/>
              <a:buChar char="•"/>
            </a:pPr>
            <a:r>
              <a:rPr lang="fr-FR"/>
              <a:t>Description automatique  générée par défaut  par Facebook, mais souvent imprécise et incomplète.</a:t>
            </a:r>
            <a:endParaRPr/>
          </a:p>
          <a:p>
            <a:pPr marL="171450" lvl="0" indent="-171450" algn="l" rtl="0">
              <a:lnSpc>
                <a:spcPct val="100000"/>
              </a:lnSpc>
              <a:spcBef>
                <a:spcPts val="500"/>
              </a:spcBef>
              <a:spcAft>
                <a:spcPts val="0"/>
              </a:spcAft>
              <a:buClr>
                <a:schemeClr val="dk1"/>
              </a:buClr>
              <a:buSzPts val="1000"/>
              <a:buFont typeface="Arial"/>
              <a:buChar char="•"/>
            </a:pPr>
            <a:r>
              <a:rPr lang="fr-FR"/>
              <a:t>Nécessité de la modifier manuellement</a:t>
            </a:r>
            <a:endParaRPr/>
          </a:p>
          <a:p>
            <a:pPr marL="171450" lvl="0" indent="-171450" algn="l" rtl="0">
              <a:lnSpc>
                <a:spcPct val="100000"/>
              </a:lnSpc>
              <a:spcBef>
                <a:spcPts val="500"/>
              </a:spcBef>
              <a:spcAft>
                <a:spcPts val="0"/>
              </a:spcAft>
              <a:buClr>
                <a:schemeClr val="dk1"/>
              </a:buClr>
              <a:buSzPts val="1000"/>
              <a:buFont typeface="Arial"/>
              <a:buChar char="•"/>
            </a:pPr>
            <a:r>
              <a:rPr lang="fr-FR"/>
              <a:t>Pas de badge visible indiquant la présence d'alt text</a:t>
            </a:r>
            <a:endParaRPr/>
          </a:p>
          <a:p>
            <a:pPr marL="171450" lvl="0" indent="-171450" algn="l" rtl="0">
              <a:lnSpc>
                <a:spcPct val="100000"/>
              </a:lnSpc>
              <a:spcBef>
                <a:spcPts val="500"/>
              </a:spcBef>
              <a:spcAft>
                <a:spcPts val="0"/>
              </a:spcAft>
              <a:buClr>
                <a:srgbClr val="131314"/>
              </a:buClr>
              <a:buSzPts val="1000"/>
              <a:buFont typeface="Arial"/>
              <a:buChar char="•"/>
            </a:pPr>
            <a:r>
              <a:rPr lang="fr-FR" b="0" i="0">
                <a:solidFill>
                  <a:srgbClr val="131314"/>
                </a:solidFill>
              </a:rPr>
              <a:t>Un message d'avertissement peut s'afficher, indiquant que le texte alternatif est généralement limité à 100 caractères</a:t>
            </a:r>
            <a:endParaRPr/>
          </a:p>
          <a:p>
            <a:pPr marL="0" lvl="0" indent="0" algn="l" rtl="0">
              <a:lnSpc>
                <a:spcPct val="100000"/>
              </a:lnSpc>
              <a:spcBef>
                <a:spcPts val="500"/>
              </a:spcBef>
              <a:spcAft>
                <a:spcPts val="0"/>
              </a:spcAft>
              <a:buClr>
                <a:schemeClr val="dk1"/>
              </a:buClr>
              <a:buSzPts val="1050"/>
              <a:buNone/>
            </a:pPr>
            <a:endParaRPr/>
          </a:p>
        </p:txBody>
      </p:sp>
      <p:sp>
        <p:nvSpPr>
          <p:cNvPr id="2143" name="Google Shape;2143;p177"/>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Instructions</a:t>
            </a:r>
            <a:r>
              <a:rPr lang="fr-FR"/>
              <a:t> Facebook - 2</a:t>
            </a:r>
            <a:endParaRPr/>
          </a:p>
        </p:txBody>
      </p:sp>
      <p:sp>
        <p:nvSpPr>
          <p:cNvPr id="2144" name="Google Shape;2144;p177"/>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Facebook et texte alternatif</a:t>
            </a:r>
            <a:endParaRPr/>
          </a:p>
          <a:p>
            <a:pPr marL="0" lvl="0" indent="0" algn="l" rtl="0">
              <a:lnSpc>
                <a:spcPct val="100000"/>
              </a:lnSpc>
              <a:spcBef>
                <a:spcPts val="500"/>
              </a:spcBef>
              <a:spcAft>
                <a:spcPts val="0"/>
              </a:spcAft>
              <a:buClr>
                <a:srgbClr val="595959"/>
              </a:buClr>
              <a:buSzPts val="1100"/>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49"/>
        <p:cNvGrpSpPr/>
        <p:nvPr/>
      </p:nvGrpSpPr>
      <p:grpSpPr>
        <a:xfrm>
          <a:off x="0" y="0"/>
          <a:ext cx="0" cy="0"/>
          <a:chOff x="0" y="0"/>
          <a:chExt cx="0" cy="0"/>
        </a:xfrm>
      </p:grpSpPr>
      <p:sp>
        <p:nvSpPr>
          <p:cNvPr id="2150" name="Google Shape;2150;p178"/>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151" name="Google Shape;2151;p178"/>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30</a:t>
            </a:fld>
            <a:endParaRPr/>
          </a:p>
        </p:txBody>
      </p:sp>
      <p:sp>
        <p:nvSpPr>
          <p:cNvPr id="2152" name="Google Shape;2152;p178"/>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153" name="Google Shape;2153;p178"/>
          <p:cNvSpPr txBox="1">
            <a:spLocks noGrp="1"/>
          </p:cNvSpPr>
          <p:nvPr>
            <p:ph type="body" idx="3"/>
          </p:nvPr>
        </p:nvSpPr>
        <p:spPr>
          <a:xfrm>
            <a:off x="3312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1"/>
              </a:buClr>
              <a:buSzPts val="1050"/>
              <a:buNone/>
            </a:pPr>
            <a:endParaRPr/>
          </a:p>
        </p:txBody>
      </p:sp>
      <p:sp>
        <p:nvSpPr>
          <p:cNvPr id="2154" name="Google Shape;2154;p178"/>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Instructions Instagram - 1</a:t>
            </a:r>
            <a:endParaRPr sz="2400" b="1"/>
          </a:p>
        </p:txBody>
      </p:sp>
      <p:sp>
        <p:nvSpPr>
          <p:cNvPr id="2155" name="Google Shape;2155;p178"/>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Instagram et texte alternatif – Screens écrans extraites du webinaire Passe Muraille</a:t>
            </a:r>
            <a:endParaRPr/>
          </a:p>
        </p:txBody>
      </p:sp>
      <p:pic>
        <p:nvPicPr>
          <p:cNvPr id="2156" name="Google Shape;2156;p178" descr="Screen écran 1 - insertion du texte alternatif sous Instagram. Procédure décrite à la slide précédente."/>
          <p:cNvPicPr preferRelativeResize="0"/>
          <p:nvPr/>
        </p:nvPicPr>
        <p:blipFill rotWithShape="1">
          <a:blip r:embed="rId3">
            <a:alphaModFix/>
          </a:blip>
          <a:srcRect/>
          <a:stretch/>
        </p:blipFill>
        <p:spPr>
          <a:xfrm>
            <a:off x="467544" y="1721114"/>
            <a:ext cx="1800200" cy="2905907"/>
          </a:xfrm>
          <a:prstGeom prst="rect">
            <a:avLst/>
          </a:prstGeom>
          <a:noFill/>
          <a:ln>
            <a:noFill/>
          </a:ln>
        </p:spPr>
      </p:pic>
      <p:pic>
        <p:nvPicPr>
          <p:cNvPr id="2157" name="Google Shape;2157;p178" descr="Screen écran 2 - insertion du texte alternatif sous Instagram. Procédure décrite à la slide précédente."/>
          <p:cNvPicPr preferRelativeResize="0"/>
          <p:nvPr/>
        </p:nvPicPr>
        <p:blipFill rotWithShape="1">
          <a:blip r:embed="rId4">
            <a:alphaModFix/>
          </a:blip>
          <a:srcRect/>
          <a:stretch/>
        </p:blipFill>
        <p:spPr>
          <a:xfrm>
            <a:off x="2861552" y="1739088"/>
            <a:ext cx="3186162" cy="2935356"/>
          </a:xfrm>
          <a:prstGeom prst="rect">
            <a:avLst/>
          </a:prstGeom>
          <a:noFill/>
          <a:ln>
            <a:noFill/>
          </a:ln>
        </p:spPr>
      </p:pic>
      <p:pic>
        <p:nvPicPr>
          <p:cNvPr id="2158" name="Google Shape;2158;p178" descr="Screen écran 3 -  insertion du texte alternatif sous Instagram. Procédure décrite à la slide précédente."/>
          <p:cNvPicPr preferRelativeResize="0"/>
          <p:nvPr/>
        </p:nvPicPr>
        <p:blipFill rotWithShape="1">
          <a:blip r:embed="rId5">
            <a:alphaModFix/>
          </a:blip>
          <a:srcRect/>
          <a:stretch/>
        </p:blipFill>
        <p:spPr>
          <a:xfrm>
            <a:off x="6147403" y="2165634"/>
            <a:ext cx="2753193" cy="193026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63"/>
        <p:cNvGrpSpPr/>
        <p:nvPr/>
      </p:nvGrpSpPr>
      <p:grpSpPr>
        <a:xfrm>
          <a:off x="0" y="0"/>
          <a:ext cx="0" cy="0"/>
          <a:chOff x="0" y="0"/>
          <a:chExt cx="0" cy="0"/>
        </a:xfrm>
      </p:grpSpPr>
      <p:sp>
        <p:nvSpPr>
          <p:cNvPr id="2164" name="Google Shape;2164;p179"/>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165" name="Google Shape;2165;p179"/>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31</a:t>
            </a:fld>
            <a:endParaRPr/>
          </a:p>
        </p:txBody>
      </p:sp>
      <p:sp>
        <p:nvSpPr>
          <p:cNvPr id="2166" name="Google Shape;2166;p179"/>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167" name="Google Shape;2167;p179"/>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Pour ajouter un texte alternatif à une publication existante :</a:t>
            </a:r>
            <a:endParaRPr/>
          </a:p>
          <a:p>
            <a:pPr marL="171450" lvl="0" indent="-171450" algn="l" rtl="0">
              <a:lnSpc>
                <a:spcPct val="100000"/>
              </a:lnSpc>
              <a:spcBef>
                <a:spcPts val="1100"/>
              </a:spcBef>
              <a:spcAft>
                <a:spcPts val="0"/>
              </a:spcAft>
              <a:buClr>
                <a:schemeClr val="dk1"/>
              </a:buClr>
              <a:buSzPts val="1000"/>
              <a:buFont typeface="Arial"/>
              <a:buChar char="•"/>
            </a:pPr>
            <a:r>
              <a:rPr lang="fr-FR"/>
              <a:t>Appuyer sur les trois points (...) au-dessus de votre publication.</a:t>
            </a:r>
            <a:endParaRPr/>
          </a:p>
          <a:p>
            <a:pPr marL="171450" lvl="0" indent="-171450" algn="l" rtl="0">
              <a:lnSpc>
                <a:spcPct val="100000"/>
              </a:lnSpc>
              <a:spcBef>
                <a:spcPts val="1100"/>
              </a:spcBef>
              <a:spcAft>
                <a:spcPts val="0"/>
              </a:spcAft>
              <a:buClr>
                <a:schemeClr val="dk1"/>
              </a:buClr>
              <a:buSzPts val="1000"/>
              <a:buFont typeface="Arial"/>
              <a:buChar char="•"/>
            </a:pPr>
            <a:r>
              <a:rPr lang="fr-FR"/>
              <a:t>Appuyer sur Modifier.</a:t>
            </a:r>
            <a:endParaRPr/>
          </a:p>
          <a:p>
            <a:pPr marL="171450" lvl="0" indent="-171450" algn="l" rtl="0">
              <a:lnSpc>
                <a:spcPct val="100000"/>
              </a:lnSpc>
              <a:spcBef>
                <a:spcPts val="1100"/>
              </a:spcBef>
              <a:spcAft>
                <a:spcPts val="0"/>
              </a:spcAft>
              <a:buClr>
                <a:schemeClr val="dk1"/>
              </a:buClr>
              <a:buSzPts val="1000"/>
              <a:buFont typeface="Arial"/>
              <a:buChar char="•"/>
            </a:pPr>
            <a:r>
              <a:rPr lang="fr-FR"/>
              <a:t>Appuyer sur Accessibilité.</a:t>
            </a:r>
            <a:endParaRPr/>
          </a:p>
          <a:p>
            <a:pPr marL="171450" lvl="0" indent="-171450" algn="l" rtl="0">
              <a:lnSpc>
                <a:spcPct val="100000"/>
              </a:lnSpc>
              <a:spcBef>
                <a:spcPts val="1100"/>
              </a:spcBef>
              <a:spcAft>
                <a:spcPts val="0"/>
              </a:spcAft>
              <a:buClr>
                <a:schemeClr val="dk1"/>
              </a:buClr>
              <a:buSzPts val="1000"/>
              <a:buFont typeface="Arial"/>
              <a:buChar char="•"/>
            </a:pPr>
            <a:r>
              <a:rPr lang="fr-FR"/>
              <a:t>Écrire votre texte alternatif.</a:t>
            </a:r>
            <a:endParaRPr/>
          </a:p>
          <a:p>
            <a:pPr marL="171450" lvl="0" indent="-171450" algn="l" rtl="0">
              <a:lnSpc>
                <a:spcPct val="100000"/>
              </a:lnSpc>
              <a:spcBef>
                <a:spcPts val="1100"/>
              </a:spcBef>
              <a:spcAft>
                <a:spcPts val="0"/>
              </a:spcAft>
              <a:buClr>
                <a:schemeClr val="dk1"/>
              </a:buClr>
              <a:buSzPts val="1000"/>
              <a:buFont typeface="Arial"/>
              <a:buChar char="•"/>
            </a:pPr>
            <a:r>
              <a:rPr lang="fr-FR"/>
              <a:t>Appuyer sur Terminé.</a:t>
            </a:r>
            <a:endParaRPr/>
          </a:p>
          <a:p>
            <a:pPr marL="0" lvl="0" indent="0" algn="l" rtl="0">
              <a:lnSpc>
                <a:spcPct val="100000"/>
              </a:lnSpc>
              <a:spcBef>
                <a:spcPts val="500"/>
              </a:spcBef>
              <a:spcAft>
                <a:spcPts val="0"/>
              </a:spcAft>
              <a:buClr>
                <a:schemeClr val="dk1"/>
              </a:buClr>
              <a:buSzPts val="1050"/>
              <a:buNone/>
            </a:pPr>
            <a:endParaRPr/>
          </a:p>
        </p:txBody>
      </p:sp>
      <p:sp>
        <p:nvSpPr>
          <p:cNvPr id="2168" name="Google Shape;2168;p179"/>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Particularités Instagram </a:t>
            </a:r>
            <a:endParaRPr/>
          </a:p>
          <a:p>
            <a:pPr marL="171450" lvl="0" indent="-171450" algn="l" rtl="0">
              <a:lnSpc>
                <a:spcPct val="100000"/>
              </a:lnSpc>
              <a:spcBef>
                <a:spcPts val="1100"/>
              </a:spcBef>
              <a:spcAft>
                <a:spcPts val="0"/>
              </a:spcAft>
              <a:buClr>
                <a:schemeClr val="dk1"/>
              </a:buClr>
              <a:buSzPts val="1000"/>
              <a:buFont typeface="Arial"/>
              <a:buChar char="•"/>
            </a:pPr>
            <a:r>
              <a:rPr lang="fr-FR">
                <a:latin typeface="Arial"/>
                <a:ea typeface="Arial"/>
                <a:cs typeface="Arial"/>
                <a:sym typeface="Arial"/>
              </a:rPr>
              <a:t>Alt text possible pour chaque image d'un carrousel</a:t>
            </a:r>
            <a:endParaRPr/>
          </a:p>
          <a:p>
            <a:pPr marL="171450" lvl="0" indent="-171450" algn="l" rtl="0">
              <a:lnSpc>
                <a:spcPct val="100000"/>
              </a:lnSpc>
              <a:spcBef>
                <a:spcPts val="1100"/>
              </a:spcBef>
              <a:spcAft>
                <a:spcPts val="0"/>
              </a:spcAft>
              <a:buClr>
                <a:schemeClr val="dk1"/>
              </a:buClr>
              <a:buSzPts val="1000"/>
              <a:buFont typeface="Arial"/>
              <a:buChar char="•"/>
            </a:pPr>
            <a:r>
              <a:rPr lang="fr-FR">
                <a:latin typeface="Arial"/>
                <a:ea typeface="Arial"/>
                <a:cs typeface="Arial"/>
                <a:sym typeface="Arial"/>
              </a:rPr>
              <a:t>Possibilité de modifier après publication</a:t>
            </a:r>
            <a:endParaRPr/>
          </a:p>
          <a:p>
            <a:pPr marL="171450" lvl="0" indent="-171450" algn="l" rtl="0">
              <a:lnSpc>
                <a:spcPct val="100000"/>
              </a:lnSpc>
              <a:spcBef>
                <a:spcPts val="1100"/>
              </a:spcBef>
              <a:spcAft>
                <a:spcPts val="0"/>
              </a:spcAft>
              <a:buClr>
                <a:schemeClr val="dk1"/>
              </a:buClr>
              <a:buSzPts val="1000"/>
              <a:buFont typeface="Arial"/>
              <a:buChar char="•"/>
            </a:pPr>
            <a:r>
              <a:rPr lang="fr-FR">
                <a:latin typeface="Arial"/>
                <a:ea typeface="Arial"/>
                <a:cs typeface="Arial"/>
                <a:sym typeface="Arial"/>
              </a:rPr>
              <a:t>Interface dédiée à l'accessibilité</a:t>
            </a:r>
            <a:endParaRPr/>
          </a:p>
          <a:p>
            <a:pPr marL="171450" lvl="0" indent="-171450" algn="l" rtl="0">
              <a:lnSpc>
                <a:spcPct val="100000"/>
              </a:lnSpc>
              <a:spcBef>
                <a:spcPts val="1100"/>
              </a:spcBef>
              <a:spcAft>
                <a:spcPts val="0"/>
              </a:spcAft>
              <a:buClr>
                <a:srgbClr val="131314"/>
              </a:buClr>
              <a:buSzPts val="1000"/>
              <a:buFont typeface="Arial"/>
              <a:buChar char="•"/>
            </a:pPr>
            <a:r>
              <a:rPr lang="fr-FR" b="0" i="0">
                <a:solidFill>
                  <a:srgbClr val="131314"/>
                </a:solidFill>
                <a:latin typeface="Arial"/>
                <a:ea typeface="Arial"/>
                <a:cs typeface="Arial"/>
                <a:sym typeface="Arial"/>
              </a:rPr>
              <a:t>il est possible d'ajouter du texte alternatif aux images d'Instagram lors de la planification de publications via Facebook Business Suite. Mais attention, les descriptions d'images saisies dans Business Suite ne sont parfois pas publiées avec l'image.</a:t>
            </a:r>
            <a:endParaRPr sz="1050"/>
          </a:p>
          <a:p>
            <a:pPr marL="0" lvl="0" indent="0" algn="l" rtl="0">
              <a:lnSpc>
                <a:spcPct val="100000"/>
              </a:lnSpc>
              <a:spcBef>
                <a:spcPts val="500"/>
              </a:spcBef>
              <a:spcAft>
                <a:spcPts val="0"/>
              </a:spcAft>
              <a:buClr>
                <a:schemeClr val="dk1"/>
              </a:buClr>
              <a:buSzPts val="1050"/>
              <a:buNone/>
            </a:pPr>
            <a:endParaRPr sz="1050"/>
          </a:p>
          <a:p>
            <a:pPr marL="0" lvl="0" indent="0" algn="l" rtl="0">
              <a:lnSpc>
                <a:spcPct val="100000"/>
              </a:lnSpc>
              <a:spcBef>
                <a:spcPts val="500"/>
              </a:spcBef>
              <a:spcAft>
                <a:spcPts val="0"/>
              </a:spcAft>
              <a:buClr>
                <a:schemeClr val="dk1"/>
              </a:buClr>
              <a:buSzPts val="1050"/>
              <a:buNone/>
            </a:pPr>
            <a:endParaRPr/>
          </a:p>
        </p:txBody>
      </p:sp>
      <p:sp>
        <p:nvSpPr>
          <p:cNvPr id="2169" name="Google Shape;2169;p179"/>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Instructions Instagram - 2</a:t>
            </a:r>
            <a:endParaRPr/>
          </a:p>
        </p:txBody>
      </p:sp>
      <p:sp>
        <p:nvSpPr>
          <p:cNvPr id="2170" name="Google Shape;2170;p179"/>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Ajout de texte alternatif sur Instagram</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75"/>
        <p:cNvGrpSpPr/>
        <p:nvPr/>
      </p:nvGrpSpPr>
      <p:grpSpPr>
        <a:xfrm>
          <a:off x="0" y="0"/>
          <a:ext cx="0" cy="0"/>
          <a:chOff x="0" y="0"/>
          <a:chExt cx="0" cy="0"/>
        </a:xfrm>
      </p:grpSpPr>
      <p:sp>
        <p:nvSpPr>
          <p:cNvPr id="2176" name="Google Shape;2176;p180"/>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177" name="Google Shape;2177;p180"/>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32</a:t>
            </a:fld>
            <a:endParaRPr/>
          </a:p>
        </p:txBody>
      </p:sp>
      <p:sp>
        <p:nvSpPr>
          <p:cNvPr id="2178" name="Google Shape;2178;p180"/>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179" name="Google Shape;2179;p180"/>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Instructions X - (Twitter) - 1</a:t>
            </a:r>
            <a:endParaRPr sz="2400" b="1"/>
          </a:p>
        </p:txBody>
      </p:sp>
      <p:sp>
        <p:nvSpPr>
          <p:cNvPr id="2180" name="Google Shape;2180;p180"/>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LinkedIn et texte alternatif – Screens écrans extraits du webinaire Passe Muraille</a:t>
            </a:r>
            <a:endParaRPr/>
          </a:p>
          <a:p>
            <a:pPr marL="0" lvl="0" indent="0" algn="l" rtl="0">
              <a:lnSpc>
                <a:spcPct val="100000"/>
              </a:lnSpc>
              <a:spcBef>
                <a:spcPts val="500"/>
              </a:spcBef>
              <a:spcAft>
                <a:spcPts val="0"/>
              </a:spcAft>
              <a:buClr>
                <a:srgbClr val="595959"/>
              </a:buClr>
              <a:buSzPts val="1100"/>
              <a:buNone/>
            </a:pPr>
            <a:endParaRPr/>
          </a:p>
        </p:txBody>
      </p:sp>
      <p:pic>
        <p:nvPicPr>
          <p:cNvPr id="2181" name="Google Shape;2181;p180" descr="Screen écran 1 - insertion du texte alternatif sous X (twitter). Procédure décrite à la slide précédente."/>
          <p:cNvPicPr preferRelativeResize="0"/>
          <p:nvPr/>
        </p:nvPicPr>
        <p:blipFill rotWithShape="1">
          <a:blip r:embed="rId3">
            <a:alphaModFix/>
          </a:blip>
          <a:srcRect/>
          <a:stretch/>
        </p:blipFill>
        <p:spPr>
          <a:xfrm>
            <a:off x="359999" y="1831668"/>
            <a:ext cx="2497023" cy="2637207"/>
          </a:xfrm>
          <a:prstGeom prst="rect">
            <a:avLst/>
          </a:prstGeom>
          <a:noFill/>
          <a:ln>
            <a:noFill/>
          </a:ln>
        </p:spPr>
      </p:pic>
      <p:pic>
        <p:nvPicPr>
          <p:cNvPr id="2182" name="Google Shape;2182;p180" descr="Screen écran 2 - insertion du texte alternatif sous X (twitter). Procédure décrite à la slide précédente."/>
          <p:cNvPicPr preferRelativeResize="0"/>
          <p:nvPr/>
        </p:nvPicPr>
        <p:blipFill rotWithShape="1">
          <a:blip r:embed="rId4">
            <a:alphaModFix/>
          </a:blip>
          <a:srcRect/>
          <a:stretch/>
        </p:blipFill>
        <p:spPr>
          <a:xfrm>
            <a:off x="3312000" y="1903800"/>
            <a:ext cx="2387600" cy="2438400"/>
          </a:xfrm>
          <a:prstGeom prst="rect">
            <a:avLst/>
          </a:prstGeom>
          <a:noFill/>
          <a:ln>
            <a:noFill/>
          </a:ln>
        </p:spPr>
      </p:pic>
      <p:pic>
        <p:nvPicPr>
          <p:cNvPr id="2183" name="Google Shape;2183;p180" descr="Screen écran 3 - insertion du texte alternatif sous X (twitter). Procédure décrite à la slide précédente."/>
          <p:cNvPicPr preferRelativeResize="0"/>
          <p:nvPr/>
        </p:nvPicPr>
        <p:blipFill rotWithShape="1">
          <a:blip r:embed="rId5">
            <a:alphaModFix/>
          </a:blip>
          <a:srcRect/>
          <a:stretch/>
        </p:blipFill>
        <p:spPr>
          <a:xfrm>
            <a:off x="6264000" y="1633918"/>
            <a:ext cx="2155447" cy="292893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87"/>
        <p:cNvGrpSpPr/>
        <p:nvPr/>
      </p:nvGrpSpPr>
      <p:grpSpPr>
        <a:xfrm>
          <a:off x="0" y="0"/>
          <a:ext cx="0" cy="0"/>
          <a:chOff x="0" y="0"/>
          <a:chExt cx="0" cy="0"/>
        </a:xfrm>
      </p:grpSpPr>
      <p:sp>
        <p:nvSpPr>
          <p:cNvPr id="2188" name="Google Shape;2188;p181"/>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189" name="Google Shape;2189;p181"/>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33</a:t>
            </a:fld>
            <a:endParaRPr/>
          </a:p>
        </p:txBody>
      </p:sp>
      <p:sp>
        <p:nvSpPr>
          <p:cNvPr id="2190" name="Google Shape;2190;p181"/>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191" name="Google Shape;2191;p181"/>
          <p:cNvSpPr txBox="1">
            <a:spLocks noGrp="1"/>
          </p:cNvSpPr>
          <p:nvPr>
            <p:ph type="body" idx="2"/>
          </p:nvPr>
        </p:nvSpPr>
        <p:spPr>
          <a:xfrm>
            <a:off x="359999"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Système de badge </a:t>
            </a:r>
            <a:endParaRPr/>
          </a:p>
          <a:p>
            <a:pPr marL="171450" lvl="0" indent="-171450" algn="l" rtl="0">
              <a:lnSpc>
                <a:spcPct val="150000"/>
              </a:lnSpc>
              <a:spcBef>
                <a:spcPts val="500"/>
              </a:spcBef>
              <a:spcAft>
                <a:spcPts val="0"/>
              </a:spcAft>
              <a:buClr>
                <a:schemeClr val="dk1"/>
              </a:buClr>
              <a:buSzPts val="1000"/>
              <a:buFont typeface="Arial"/>
              <a:buChar char="•"/>
            </a:pPr>
            <a:r>
              <a:rPr lang="fr-FR"/>
              <a:t>Badge "ALT" visible sur les images</a:t>
            </a:r>
            <a:endParaRPr/>
          </a:p>
          <a:p>
            <a:pPr marL="171450" lvl="0" indent="-171450" algn="l" rtl="0">
              <a:lnSpc>
                <a:spcPct val="150000"/>
              </a:lnSpc>
              <a:spcBef>
                <a:spcPts val="500"/>
              </a:spcBef>
              <a:spcAft>
                <a:spcPts val="0"/>
              </a:spcAft>
              <a:buClr>
                <a:schemeClr val="dk1"/>
              </a:buClr>
              <a:buSzPts val="1000"/>
              <a:buFont typeface="Arial"/>
              <a:buChar char="•"/>
            </a:pPr>
            <a:r>
              <a:rPr lang="fr-FR"/>
              <a:t>Cliquez pour voir la description</a:t>
            </a:r>
            <a:endParaRPr/>
          </a:p>
          <a:p>
            <a:pPr marL="171450" lvl="0" indent="-171450" algn="l" rtl="0">
              <a:lnSpc>
                <a:spcPct val="150000"/>
              </a:lnSpc>
              <a:spcBef>
                <a:spcPts val="500"/>
              </a:spcBef>
              <a:spcAft>
                <a:spcPts val="0"/>
              </a:spcAft>
              <a:buClr>
                <a:schemeClr val="dk1"/>
              </a:buClr>
              <a:buSzPts val="1000"/>
              <a:buFont typeface="Arial"/>
              <a:buChar char="•"/>
            </a:pPr>
            <a:r>
              <a:rPr lang="fr-FR"/>
              <a:t>Visibilité de l'accessibilité</a:t>
            </a:r>
            <a:endParaRPr/>
          </a:p>
        </p:txBody>
      </p:sp>
      <p:sp>
        <p:nvSpPr>
          <p:cNvPr id="2192" name="Google Shape;2192;p181"/>
          <p:cNvSpPr txBox="1">
            <a:spLocks noGrp="1"/>
          </p:cNvSpPr>
          <p:nvPr>
            <p:ph type="body" idx="3"/>
          </p:nvPr>
        </p:nvSpPr>
        <p:spPr>
          <a:xfrm>
            <a:off x="3312000" y="1836000"/>
            <a:ext cx="2772168"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Processus d'ajout </a:t>
            </a:r>
            <a:endParaRPr/>
          </a:p>
          <a:p>
            <a:pPr marL="171450" lvl="0" indent="-171450" algn="l" rtl="0">
              <a:lnSpc>
                <a:spcPct val="150000"/>
              </a:lnSpc>
              <a:spcBef>
                <a:spcPts val="500"/>
              </a:spcBef>
              <a:spcAft>
                <a:spcPts val="0"/>
              </a:spcAft>
              <a:buClr>
                <a:schemeClr val="dk1"/>
              </a:buClr>
              <a:buSzPts val="1000"/>
              <a:buFont typeface="Arial"/>
              <a:buChar char="•"/>
            </a:pPr>
            <a:r>
              <a:rPr lang="fr-FR"/>
              <a:t>Cliquer sur "Ajouter une description"</a:t>
            </a:r>
            <a:endParaRPr/>
          </a:p>
          <a:p>
            <a:pPr marL="171450" lvl="0" indent="-171450" algn="l" rtl="0">
              <a:lnSpc>
                <a:spcPct val="150000"/>
              </a:lnSpc>
              <a:spcBef>
                <a:spcPts val="500"/>
              </a:spcBef>
              <a:spcAft>
                <a:spcPts val="0"/>
              </a:spcAft>
              <a:buClr>
                <a:schemeClr val="dk1"/>
              </a:buClr>
              <a:buSzPts val="1000"/>
              <a:buFont typeface="Arial"/>
              <a:buChar char="•"/>
            </a:pPr>
            <a:r>
              <a:rPr lang="fr-FR"/>
              <a:t>Jusqu'à 1000 caractères</a:t>
            </a:r>
            <a:endParaRPr/>
          </a:p>
          <a:p>
            <a:pPr marL="171450" lvl="0" indent="-171450" algn="l" rtl="0">
              <a:lnSpc>
                <a:spcPct val="150000"/>
              </a:lnSpc>
              <a:spcBef>
                <a:spcPts val="500"/>
              </a:spcBef>
              <a:spcAft>
                <a:spcPts val="0"/>
              </a:spcAft>
              <a:buClr>
                <a:schemeClr val="dk1"/>
              </a:buClr>
              <a:buSzPts val="1000"/>
              <a:buFont typeface="Arial"/>
              <a:buChar char="•"/>
            </a:pPr>
            <a:r>
              <a:rPr lang="fr-FR"/>
              <a:t>Possible pour les GIFs aussi</a:t>
            </a:r>
            <a:endParaRPr/>
          </a:p>
        </p:txBody>
      </p:sp>
      <p:sp>
        <p:nvSpPr>
          <p:cNvPr id="2193" name="Google Shape;2193;p181"/>
          <p:cNvSpPr txBox="1">
            <a:spLocks noGrp="1"/>
          </p:cNvSpPr>
          <p:nvPr>
            <p:ph type="body" idx="4"/>
          </p:nvPr>
        </p:nvSpPr>
        <p:spPr>
          <a:xfrm>
            <a:off x="6264000" y="1836000"/>
            <a:ext cx="2520000" cy="2823982"/>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Fonctionnalités avancées</a:t>
            </a:r>
            <a:endParaRPr/>
          </a:p>
          <a:p>
            <a:pPr marL="0" lvl="0" indent="0" algn="l" rtl="0">
              <a:lnSpc>
                <a:spcPct val="200000"/>
              </a:lnSpc>
              <a:spcBef>
                <a:spcPts val="500"/>
              </a:spcBef>
              <a:spcAft>
                <a:spcPts val="0"/>
              </a:spcAft>
              <a:buClr>
                <a:schemeClr val="dk2"/>
              </a:buClr>
              <a:buSzPts val="1000"/>
              <a:buNone/>
            </a:pPr>
            <a:r>
              <a:rPr lang="fr-FR" b="1">
                <a:solidFill>
                  <a:schemeClr val="dk2"/>
                </a:solidFill>
              </a:rPr>
              <a:t>Rappel d'accessibilité </a:t>
            </a:r>
            <a:endParaRPr/>
          </a:p>
          <a:p>
            <a:pPr marL="171450" lvl="0" indent="-171450" algn="l" rtl="0">
              <a:lnSpc>
                <a:spcPct val="100000"/>
              </a:lnSpc>
              <a:spcBef>
                <a:spcPts val="500"/>
              </a:spcBef>
              <a:spcAft>
                <a:spcPts val="0"/>
              </a:spcAft>
              <a:buClr>
                <a:schemeClr val="dk1"/>
              </a:buClr>
              <a:buSzPts val="1000"/>
              <a:buFont typeface="Arial"/>
              <a:buChar char="•"/>
            </a:pPr>
            <a:r>
              <a:rPr lang="fr-FR"/>
              <a:t>Option dans les paramètres</a:t>
            </a:r>
            <a:endParaRPr/>
          </a:p>
          <a:p>
            <a:pPr marL="171450" lvl="0" indent="-171450" algn="l" rtl="0">
              <a:lnSpc>
                <a:spcPct val="100000"/>
              </a:lnSpc>
              <a:spcBef>
                <a:spcPts val="500"/>
              </a:spcBef>
              <a:spcAft>
                <a:spcPts val="0"/>
              </a:spcAft>
              <a:buClr>
                <a:schemeClr val="dk1"/>
              </a:buClr>
              <a:buSzPts val="1000"/>
              <a:buFont typeface="Arial"/>
              <a:buChar char="•"/>
            </a:pPr>
            <a:r>
              <a:rPr lang="fr-FR"/>
              <a:t>Alerte si pas d'alt text</a:t>
            </a:r>
            <a:endParaRPr/>
          </a:p>
          <a:p>
            <a:pPr marL="171450" lvl="0" indent="-171450" algn="l" rtl="0">
              <a:lnSpc>
                <a:spcPct val="100000"/>
              </a:lnSpc>
              <a:spcBef>
                <a:spcPts val="500"/>
              </a:spcBef>
              <a:spcAft>
                <a:spcPts val="0"/>
              </a:spcAft>
              <a:buClr>
                <a:schemeClr val="dk1"/>
              </a:buClr>
              <a:buSzPts val="1000"/>
              <a:buFont typeface="Arial"/>
              <a:buChar char="•"/>
            </a:pPr>
            <a:r>
              <a:rPr lang="fr-FR"/>
              <a:t>Encouragement aux bonnes pratiques</a:t>
            </a:r>
            <a:endParaRPr/>
          </a:p>
          <a:p>
            <a:pPr marL="0" lvl="0" indent="0" algn="l" rtl="0">
              <a:lnSpc>
                <a:spcPct val="200000"/>
              </a:lnSpc>
              <a:spcBef>
                <a:spcPts val="500"/>
              </a:spcBef>
              <a:spcAft>
                <a:spcPts val="0"/>
              </a:spcAft>
              <a:buClr>
                <a:schemeClr val="dk2"/>
              </a:buClr>
              <a:buSzPts val="1000"/>
              <a:buNone/>
            </a:pPr>
            <a:r>
              <a:rPr lang="fr-FR" b="1">
                <a:solidFill>
                  <a:schemeClr val="dk2"/>
                </a:solidFill>
              </a:rPr>
              <a:t>Modification post-publication </a:t>
            </a:r>
            <a:endParaRPr/>
          </a:p>
          <a:p>
            <a:pPr marL="171450" lvl="0" indent="-171450" algn="l" rtl="0">
              <a:lnSpc>
                <a:spcPct val="100000"/>
              </a:lnSpc>
              <a:spcBef>
                <a:spcPts val="500"/>
              </a:spcBef>
              <a:spcAft>
                <a:spcPts val="0"/>
              </a:spcAft>
              <a:buClr>
                <a:schemeClr val="dk1"/>
              </a:buClr>
              <a:buSzPts val="1000"/>
              <a:buFont typeface="Arial"/>
              <a:buChar char="•"/>
            </a:pPr>
            <a:r>
              <a:rPr lang="fr-FR"/>
              <a:t>Possible d'ajouter/modifier</a:t>
            </a:r>
            <a:endParaRPr/>
          </a:p>
          <a:p>
            <a:pPr marL="171450" lvl="0" indent="-171450" algn="l" rtl="0">
              <a:lnSpc>
                <a:spcPct val="100000"/>
              </a:lnSpc>
              <a:spcBef>
                <a:spcPts val="500"/>
              </a:spcBef>
              <a:spcAft>
                <a:spcPts val="0"/>
              </a:spcAft>
              <a:buClr>
                <a:schemeClr val="dk1"/>
              </a:buClr>
              <a:buSzPts val="1000"/>
              <a:buFont typeface="Arial"/>
              <a:buChar char="•"/>
            </a:pPr>
            <a:r>
              <a:rPr lang="fr-FR"/>
              <a:t>Interface dédiée</a:t>
            </a:r>
            <a:endParaRPr/>
          </a:p>
          <a:p>
            <a:pPr marL="171450" lvl="0" indent="-171450" algn="l" rtl="0">
              <a:lnSpc>
                <a:spcPct val="100000"/>
              </a:lnSpc>
              <a:spcBef>
                <a:spcPts val="500"/>
              </a:spcBef>
              <a:spcAft>
                <a:spcPts val="0"/>
              </a:spcAft>
              <a:buClr>
                <a:schemeClr val="dk1"/>
              </a:buClr>
              <a:buSzPts val="1000"/>
              <a:buFont typeface="Arial"/>
              <a:buChar char="•"/>
            </a:pPr>
            <a:r>
              <a:rPr lang="fr-FR"/>
              <a:t>Historique des modifications</a:t>
            </a:r>
            <a:endParaRPr/>
          </a:p>
          <a:p>
            <a:pPr marL="0" lvl="0" indent="0" algn="l" rtl="0">
              <a:lnSpc>
                <a:spcPct val="100000"/>
              </a:lnSpc>
              <a:spcBef>
                <a:spcPts val="500"/>
              </a:spcBef>
              <a:spcAft>
                <a:spcPts val="0"/>
              </a:spcAft>
              <a:buClr>
                <a:schemeClr val="dk1"/>
              </a:buClr>
              <a:buSzPts val="1050"/>
              <a:buNone/>
            </a:pPr>
            <a:endParaRPr/>
          </a:p>
        </p:txBody>
      </p:sp>
      <p:sp>
        <p:nvSpPr>
          <p:cNvPr id="2194" name="Google Shape;2194;p181"/>
          <p:cNvSpPr txBox="1">
            <a:spLocks noGrp="1"/>
          </p:cNvSpPr>
          <p:nvPr>
            <p:ph type="title"/>
          </p:nvPr>
        </p:nvSpPr>
        <p:spPr>
          <a:xfrm>
            <a:off x="360000" y="915566"/>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X - (Twitter) - </a:t>
            </a:r>
            <a:r>
              <a:rPr lang="fr-FR" sz="2400" b="1"/>
              <a:t>Processus d'ajout d'alt text</a:t>
            </a:r>
            <a:endParaRPr/>
          </a:p>
        </p:txBody>
      </p:sp>
      <p:sp>
        <p:nvSpPr>
          <p:cNvPr id="2195" name="Google Shape;2195;p181"/>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LinkedIn et texte alternatif</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00"/>
        <p:cNvGrpSpPr/>
        <p:nvPr/>
      </p:nvGrpSpPr>
      <p:grpSpPr>
        <a:xfrm>
          <a:off x="0" y="0"/>
          <a:ext cx="0" cy="0"/>
          <a:chOff x="0" y="0"/>
          <a:chExt cx="0" cy="0"/>
        </a:xfrm>
      </p:grpSpPr>
      <p:sp>
        <p:nvSpPr>
          <p:cNvPr id="2201" name="Google Shape;2201;p182"/>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202" name="Google Shape;2202;p182"/>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34</a:t>
            </a:fld>
            <a:endParaRPr/>
          </a:p>
        </p:txBody>
      </p:sp>
      <p:sp>
        <p:nvSpPr>
          <p:cNvPr id="2203" name="Google Shape;2203;p182"/>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204" name="Google Shape;2204;p182"/>
          <p:cNvSpPr txBox="1">
            <a:spLocks noGrp="1"/>
          </p:cNvSpPr>
          <p:nvPr>
            <p:ph type="body" idx="2"/>
          </p:nvPr>
        </p:nvSpPr>
        <p:spPr>
          <a:xfrm>
            <a:off x="359999" y="1836000"/>
            <a:ext cx="2520000" cy="2574000"/>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0"/>
              </a:spcBef>
              <a:spcAft>
                <a:spcPts val="0"/>
              </a:spcAft>
              <a:buClr>
                <a:schemeClr val="dk1"/>
              </a:buClr>
              <a:buSzPts val="1000"/>
              <a:buFont typeface="Arial"/>
              <a:buChar char="•"/>
            </a:pPr>
            <a:r>
              <a:rPr lang="fr-FR"/>
              <a:t>C'est un outil qui est gratuit en partie et qui permet de créer </a:t>
            </a:r>
            <a:r>
              <a:rPr lang="fr-FR" b="1"/>
              <a:t>des publications sur les réseaux</a:t>
            </a:r>
            <a:r>
              <a:rPr lang="fr-FR"/>
              <a:t>, des présentations, etc.</a:t>
            </a:r>
            <a:endParaRPr/>
          </a:p>
          <a:p>
            <a:pPr marL="171450" lvl="0" indent="-171450" algn="l" rtl="0">
              <a:lnSpc>
                <a:spcPct val="100000"/>
              </a:lnSpc>
              <a:spcBef>
                <a:spcPts val="1200"/>
              </a:spcBef>
              <a:spcAft>
                <a:spcPts val="0"/>
              </a:spcAft>
              <a:buClr>
                <a:schemeClr val="dk1"/>
              </a:buClr>
              <a:buSzPts val="1000"/>
              <a:buFont typeface="Arial"/>
              <a:buChar char="•"/>
            </a:pPr>
            <a:r>
              <a:rPr lang="fr-FR"/>
              <a:t>Il permet d'ajouter </a:t>
            </a:r>
            <a:r>
              <a:rPr lang="fr-FR" b="1"/>
              <a:t>un texte alternatif</a:t>
            </a:r>
            <a:r>
              <a:rPr lang="fr-FR"/>
              <a:t>.</a:t>
            </a:r>
            <a:endParaRPr/>
          </a:p>
          <a:p>
            <a:pPr marL="171450" lvl="0" indent="-171450" algn="l" rtl="0">
              <a:lnSpc>
                <a:spcPct val="100000"/>
              </a:lnSpc>
              <a:spcBef>
                <a:spcPts val="1200"/>
              </a:spcBef>
              <a:spcAft>
                <a:spcPts val="0"/>
              </a:spcAft>
              <a:buClr>
                <a:schemeClr val="dk1"/>
              </a:buClr>
              <a:buSzPts val="1000"/>
              <a:buFont typeface="Arial"/>
              <a:buChar char="•"/>
            </a:pPr>
            <a:r>
              <a:rPr lang="fr-FR"/>
              <a:t>Ce texte n'est utile que pour les documents qui </a:t>
            </a:r>
            <a:r>
              <a:rPr lang="fr-FR" b="1"/>
              <a:t>contiennent du code</a:t>
            </a:r>
            <a:r>
              <a:rPr lang="fr-FR"/>
              <a:t> comme les PDF ou de l'HTML ou visualisés dans Canva.</a:t>
            </a:r>
            <a:endParaRPr/>
          </a:p>
          <a:p>
            <a:pPr marL="171450" lvl="0" indent="-171450" algn="l" rtl="0">
              <a:lnSpc>
                <a:spcPct val="100000"/>
              </a:lnSpc>
              <a:spcBef>
                <a:spcPts val="1200"/>
              </a:spcBef>
              <a:spcAft>
                <a:spcPts val="0"/>
              </a:spcAft>
              <a:buClr>
                <a:schemeClr val="dk2"/>
              </a:buClr>
              <a:buSzPts val="1000"/>
              <a:buFont typeface="Arial"/>
              <a:buChar char="•"/>
            </a:pPr>
            <a:r>
              <a:rPr lang="fr-FR" b="1">
                <a:solidFill>
                  <a:schemeClr val="dk2"/>
                </a:solidFill>
                <a:latin typeface="Helvetica Neue"/>
                <a:ea typeface="Helvetica Neue"/>
                <a:cs typeface="Helvetica Neue"/>
                <a:sym typeface="Helvetica Neue"/>
              </a:rPr>
              <a:t>Cela ne fonctionne pas pour les images !</a:t>
            </a:r>
            <a:endParaRPr/>
          </a:p>
          <a:p>
            <a:pPr marL="0" lvl="0" indent="0" algn="l" rtl="0">
              <a:lnSpc>
                <a:spcPct val="100000"/>
              </a:lnSpc>
              <a:spcBef>
                <a:spcPts val="1200"/>
              </a:spcBef>
              <a:spcAft>
                <a:spcPts val="0"/>
              </a:spcAft>
              <a:buClr>
                <a:schemeClr val="dk1"/>
              </a:buClr>
              <a:buSzPts val="1050"/>
              <a:buNone/>
            </a:pPr>
            <a:endParaRPr/>
          </a:p>
          <a:p>
            <a:pPr marL="0" lvl="0" indent="0" algn="l" rtl="0">
              <a:lnSpc>
                <a:spcPct val="100000"/>
              </a:lnSpc>
              <a:spcBef>
                <a:spcPts val="1700"/>
              </a:spcBef>
              <a:spcAft>
                <a:spcPts val="0"/>
              </a:spcAft>
              <a:buClr>
                <a:schemeClr val="dk1"/>
              </a:buClr>
              <a:buSzPts val="1050"/>
              <a:buNone/>
            </a:pPr>
            <a:endParaRPr/>
          </a:p>
          <a:p>
            <a:pPr marL="0" lvl="0" indent="0" algn="l" rtl="0">
              <a:lnSpc>
                <a:spcPct val="100000"/>
              </a:lnSpc>
              <a:spcBef>
                <a:spcPts val="1700"/>
              </a:spcBef>
              <a:spcAft>
                <a:spcPts val="0"/>
              </a:spcAft>
              <a:buClr>
                <a:schemeClr val="dk1"/>
              </a:buClr>
              <a:buSzPts val="1050"/>
              <a:buNone/>
            </a:pPr>
            <a:endParaRPr/>
          </a:p>
        </p:txBody>
      </p:sp>
      <p:sp>
        <p:nvSpPr>
          <p:cNvPr id="2205" name="Google Shape;2205;p182"/>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Canva</a:t>
            </a:r>
            <a:endParaRPr/>
          </a:p>
        </p:txBody>
      </p:sp>
      <p:sp>
        <p:nvSpPr>
          <p:cNvPr id="2206" name="Google Shape;2206;p182"/>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Screens écrans extraits du webinaire Passe Muraille</a:t>
            </a:r>
            <a:endParaRPr/>
          </a:p>
        </p:txBody>
      </p:sp>
      <p:pic>
        <p:nvPicPr>
          <p:cNvPr id="2207" name="Google Shape;2207;p182" descr="Capture d'écran canva."/>
          <p:cNvPicPr preferRelativeResize="0"/>
          <p:nvPr/>
        </p:nvPicPr>
        <p:blipFill rotWithShape="1">
          <a:blip r:embed="rId3">
            <a:alphaModFix/>
          </a:blip>
          <a:srcRect/>
          <a:stretch/>
        </p:blipFill>
        <p:spPr>
          <a:xfrm>
            <a:off x="3331378" y="1817236"/>
            <a:ext cx="2226815" cy="2779514"/>
          </a:xfrm>
          <a:prstGeom prst="rect">
            <a:avLst/>
          </a:prstGeom>
          <a:noFill/>
          <a:ln>
            <a:noFill/>
          </a:ln>
        </p:spPr>
      </p:pic>
      <p:pic>
        <p:nvPicPr>
          <p:cNvPr id="2208" name="Google Shape;2208;p182" descr="Capture d'écran canva avec le texte alternatif."/>
          <p:cNvPicPr preferRelativeResize="0"/>
          <p:nvPr/>
        </p:nvPicPr>
        <p:blipFill rotWithShape="1">
          <a:blip r:embed="rId4">
            <a:alphaModFix/>
          </a:blip>
          <a:srcRect/>
          <a:stretch/>
        </p:blipFill>
        <p:spPr>
          <a:xfrm>
            <a:off x="6267832" y="1707614"/>
            <a:ext cx="2226815" cy="28778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13"/>
        <p:cNvGrpSpPr/>
        <p:nvPr/>
      </p:nvGrpSpPr>
      <p:grpSpPr>
        <a:xfrm>
          <a:off x="0" y="0"/>
          <a:ext cx="0" cy="0"/>
          <a:chOff x="0" y="0"/>
          <a:chExt cx="0" cy="0"/>
        </a:xfrm>
      </p:grpSpPr>
      <p:sp>
        <p:nvSpPr>
          <p:cNvPr id="2214" name="Google Shape;2214;p183"/>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215" name="Google Shape;2215;p183"/>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35</a:t>
            </a:fld>
            <a:endParaRPr/>
          </a:p>
        </p:txBody>
      </p:sp>
      <p:sp>
        <p:nvSpPr>
          <p:cNvPr id="2216" name="Google Shape;2216;p183"/>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217" name="Google Shape;2217;p183"/>
          <p:cNvSpPr txBox="1">
            <a:spLocks noGrp="1"/>
          </p:cNvSpPr>
          <p:nvPr>
            <p:ph type="body" idx="2"/>
          </p:nvPr>
        </p:nvSpPr>
        <p:spPr>
          <a:xfrm>
            <a:off x="359999"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Contenu informatif</a:t>
            </a:r>
            <a:endParaRPr/>
          </a:p>
          <a:p>
            <a:pPr marL="0" lvl="0" indent="0" algn="l" rtl="0">
              <a:lnSpc>
                <a:spcPct val="100000"/>
              </a:lnSpc>
              <a:spcBef>
                <a:spcPts val="500"/>
              </a:spcBef>
              <a:spcAft>
                <a:spcPts val="0"/>
              </a:spcAft>
              <a:buClr>
                <a:schemeClr val="dk1"/>
              </a:buClr>
              <a:buSzPts val="1050"/>
              <a:buNone/>
            </a:pPr>
            <a:endParaRPr/>
          </a:p>
          <a:p>
            <a:pPr marL="171450" lvl="0" indent="-171450" algn="l" rtl="0">
              <a:lnSpc>
                <a:spcPct val="100000"/>
              </a:lnSpc>
              <a:spcBef>
                <a:spcPts val="1100"/>
              </a:spcBef>
              <a:spcAft>
                <a:spcPts val="0"/>
              </a:spcAft>
              <a:buClr>
                <a:schemeClr val="dk1"/>
              </a:buClr>
              <a:buSzPts val="1000"/>
              <a:buFont typeface="Arial"/>
              <a:buChar char="•"/>
            </a:pPr>
            <a:r>
              <a:rPr lang="fr-FR"/>
              <a:t>Description concise, mais complète</a:t>
            </a:r>
            <a:endParaRPr/>
          </a:p>
          <a:p>
            <a:pPr marL="171450" lvl="0" indent="-171450" algn="l" rtl="0">
              <a:lnSpc>
                <a:spcPct val="100000"/>
              </a:lnSpc>
              <a:spcBef>
                <a:spcPts val="1100"/>
              </a:spcBef>
              <a:spcAft>
                <a:spcPts val="0"/>
              </a:spcAft>
              <a:buClr>
                <a:schemeClr val="dk1"/>
              </a:buClr>
              <a:buSzPts val="1000"/>
              <a:buFont typeface="Arial"/>
              <a:buChar char="•"/>
            </a:pPr>
            <a:r>
              <a:rPr lang="fr-FR"/>
              <a:t>Éléments importants en premier</a:t>
            </a:r>
            <a:endParaRPr/>
          </a:p>
          <a:p>
            <a:pPr marL="171450" lvl="0" indent="-171450" algn="l" rtl="0">
              <a:lnSpc>
                <a:spcPct val="100000"/>
              </a:lnSpc>
              <a:spcBef>
                <a:spcPts val="1100"/>
              </a:spcBef>
              <a:spcAft>
                <a:spcPts val="0"/>
              </a:spcAft>
              <a:buClr>
                <a:schemeClr val="dk1"/>
              </a:buClr>
              <a:buSzPts val="1000"/>
              <a:buFont typeface="Arial"/>
              <a:buChar char="•"/>
            </a:pPr>
            <a:r>
              <a:rPr lang="fr-FR"/>
              <a:t>Contexte pertinent inclus</a:t>
            </a:r>
            <a:endParaRPr/>
          </a:p>
        </p:txBody>
      </p:sp>
      <p:sp>
        <p:nvSpPr>
          <p:cNvPr id="2218" name="Google Shape;2218;p183"/>
          <p:cNvSpPr txBox="1">
            <a:spLocks noGrp="1"/>
          </p:cNvSpPr>
          <p:nvPr>
            <p:ph type="body" idx="3"/>
          </p:nvPr>
        </p:nvSpPr>
        <p:spPr>
          <a:xfrm>
            <a:off x="3312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Contenu décoratif</a:t>
            </a:r>
            <a:endParaRPr/>
          </a:p>
          <a:p>
            <a:pPr marL="0" lvl="0" indent="0" algn="l" rtl="0">
              <a:lnSpc>
                <a:spcPct val="100000"/>
              </a:lnSpc>
              <a:spcBef>
                <a:spcPts val="500"/>
              </a:spcBef>
              <a:spcAft>
                <a:spcPts val="0"/>
              </a:spcAft>
              <a:buClr>
                <a:schemeClr val="dk1"/>
              </a:buClr>
              <a:buSzPts val="1050"/>
              <a:buNone/>
            </a:pPr>
            <a:endParaRPr/>
          </a:p>
          <a:p>
            <a:pPr marL="171450" lvl="0" indent="-171450" algn="l" rtl="0">
              <a:lnSpc>
                <a:spcPct val="100000"/>
              </a:lnSpc>
              <a:spcBef>
                <a:spcPts val="1100"/>
              </a:spcBef>
              <a:spcAft>
                <a:spcPts val="0"/>
              </a:spcAft>
              <a:buClr>
                <a:schemeClr val="dk1"/>
              </a:buClr>
              <a:buSzPts val="1000"/>
              <a:buFont typeface="Arial"/>
              <a:buChar char="•"/>
            </a:pPr>
            <a:r>
              <a:rPr lang="fr-FR"/>
              <a:t>Mention explicite "Image décorative"</a:t>
            </a:r>
            <a:endParaRPr/>
          </a:p>
          <a:p>
            <a:pPr marL="171450" lvl="0" indent="-171450" algn="l" rtl="0">
              <a:lnSpc>
                <a:spcPct val="100000"/>
              </a:lnSpc>
              <a:spcBef>
                <a:spcPts val="1100"/>
              </a:spcBef>
              <a:spcAft>
                <a:spcPts val="0"/>
              </a:spcAft>
              <a:buClr>
                <a:schemeClr val="dk1"/>
              </a:buClr>
              <a:buSzPts val="1000"/>
              <a:buFont typeface="Arial"/>
              <a:buChar char="•"/>
            </a:pPr>
            <a:r>
              <a:rPr lang="fr-FR"/>
              <a:t>Vérification sur chaque plateforme</a:t>
            </a:r>
            <a:endParaRPr/>
          </a:p>
          <a:p>
            <a:pPr marL="171450" lvl="0" indent="-171450" algn="l" rtl="0">
              <a:lnSpc>
                <a:spcPct val="100000"/>
              </a:lnSpc>
              <a:spcBef>
                <a:spcPts val="1100"/>
              </a:spcBef>
              <a:spcAft>
                <a:spcPts val="0"/>
              </a:spcAft>
              <a:buClr>
                <a:schemeClr val="dk1"/>
              </a:buClr>
              <a:buSzPts val="1000"/>
              <a:buFont typeface="Arial"/>
              <a:buChar char="•"/>
            </a:pPr>
            <a:r>
              <a:rPr lang="fr-FR"/>
              <a:t>Cohérence des descriptions</a:t>
            </a:r>
            <a:endParaRPr/>
          </a:p>
          <a:p>
            <a:pPr marL="0" lvl="0" indent="0" algn="l" rtl="0">
              <a:lnSpc>
                <a:spcPct val="100000"/>
              </a:lnSpc>
              <a:spcBef>
                <a:spcPts val="500"/>
              </a:spcBef>
              <a:spcAft>
                <a:spcPts val="0"/>
              </a:spcAft>
              <a:buClr>
                <a:schemeClr val="dk1"/>
              </a:buClr>
              <a:buSzPts val="1050"/>
              <a:buNone/>
            </a:pPr>
            <a:endParaRPr/>
          </a:p>
        </p:txBody>
      </p:sp>
      <p:sp>
        <p:nvSpPr>
          <p:cNvPr id="2219" name="Google Shape;2219;p183"/>
          <p:cNvSpPr txBox="1">
            <a:spLocks noGrp="1"/>
          </p:cNvSpPr>
          <p:nvPr>
            <p:ph type="body" idx="4"/>
          </p:nvPr>
        </p:nvSpPr>
        <p:spPr>
          <a:xfrm>
            <a:off x="6264000" y="1836000"/>
            <a:ext cx="2520000" cy="2947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Vérification et vigilance</a:t>
            </a:r>
            <a:endParaRPr/>
          </a:p>
          <a:p>
            <a:pPr marL="0" lvl="0" indent="0" algn="l" rtl="0">
              <a:lnSpc>
                <a:spcPct val="100000"/>
              </a:lnSpc>
              <a:spcBef>
                <a:spcPts val="500"/>
              </a:spcBef>
              <a:spcAft>
                <a:spcPts val="0"/>
              </a:spcAft>
              <a:buClr>
                <a:schemeClr val="dk1"/>
              </a:buClr>
              <a:buSzPts val="1050"/>
              <a:buNone/>
            </a:pPr>
            <a:endParaRPr/>
          </a:p>
          <a:p>
            <a:pPr marL="171450" lvl="0" indent="-171450" algn="l" rtl="0">
              <a:lnSpc>
                <a:spcPct val="100000"/>
              </a:lnSpc>
              <a:spcBef>
                <a:spcPts val="1100"/>
              </a:spcBef>
              <a:spcAft>
                <a:spcPts val="0"/>
              </a:spcAft>
              <a:buClr>
                <a:schemeClr val="dk1"/>
              </a:buClr>
              <a:buSzPts val="1000"/>
              <a:buFont typeface="Arial"/>
              <a:buChar char="•"/>
            </a:pPr>
            <a:r>
              <a:rPr lang="fr-FR"/>
              <a:t>Test avec lecteur d'écran</a:t>
            </a:r>
            <a:endParaRPr/>
          </a:p>
          <a:p>
            <a:pPr marL="171450" lvl="0" indent="-171450" algn="l" rtl="0">
              <a:lnSpc>
                <a:spcPct val="100000"/>
              </a:lnSpc>
              <a:spcBef>
                <a:spcPts val="1100"/>
              </a:spcBef>
              <a:spcAft>
                <a:spcPts val="0"/>
              </a:spcAft>
              <a:buClr>
                <a:schemeClr val="dk1"/>
              </a:buClr>
              <a:buSzPts val="1000"/>
              <a:buFont typeface="Arial"/>
              <a:buChar char="•"/>
            </a:pPr>
            <a:r>
              <a:rPr lang="fr-FR"/>
              <a:t>Vérification des alternatives images</a:t>
            </a:r>
            <a:endParaRPr/>
          </a:p>
          <a:p>
            <a:pPr marL="171450" lvl="0" indent="-171450" algn="l" rtl="0">
              <a:lnSpc>
                <a:spcPct val="100000"/>
              </a:lnSpc>
              <a:spcBef>
                <a:spcPts val="1100"/>
              </a:spcBef>
              <a:spcAft>
                <a:spcPts val="0"/>
              </a:spcAft>
              <a:buClr>
                <a:schemeClr val="dk1"/>
              </a:buClr>
              <a:buSzPts val="1000"/>
              <a:buFont typeface="Arial"/>
              <a:buChar char="•"/>
            </a:pPr>
            <a:r>
              <a:rPr lang="fr-FR"/>
              <a:t>Attention aux outils de programmation automatiques qui font parfois font sauter les alternatives sur les images.</a:t>
            </a:r>
            <a:endParaRPr/>
          </a:p>
          <a:p>
            <a:pPr marL="171450" lvl="0" indent="-171450" algn="l" rtl="0">
              <a:lnSpc>
                <a:spcPct val="100000"/>
              </a:lnSpc>
              <a:spcBef>
                <a:spcPts val="1100"/>
              </a:spcBef>
              <a:spcAft>
                <a:spcPts val="0"/>
              </a:spcAft>
              <a:buClr>
                <a:schemeClr val="dk1"/>
              </a:buClr>
              <a:buSzPts val="1000"/>
              <a:buFont typeface="Arial"/>
              <a:buChar char="•"/>
            </a:pPr>
            <a:r>
              <a:rPr lang="fr-FR"/>
              <a:t>Toujours vérifier la balise alt.</a:t>
            </a:r>
            <a:endParaRPr/>
          </a:p>
          <a:p>
            <a:pPr marL="171450" lvl="0" indent="-171450" algn="l" rtl="0">
              <a:lnSpc>
                <a:spcPct val="100000"/>
              </a:lnSpc>
              <a:spcBef>
                <a:spcPts val="1100"/>
              </a:spcBef>
              <a:spcAft>
                <a:spcPts val="0"/>
              </a:spcAft>
              <a:buClr>
                <a:schemeClr val="dk1"/>
              </a:buClr>
              <a:buSzPts val="1000"/>
              <a:buFont typeface="Arial"/>
              <a:buChar char="•"/>
            </a:pPr>
            <a:r>
              <a:rPr lang="fr-FR"/>
              <a:t>Des fois, elle se remplit toute seule avec l’Intelligence artificielle mais elle n’est pas pertinente.</a:t>
            </a:r>
            <a:endParaRPr/>
          </a:p>
          <a:p>
            <a:pPr marL="0" lvl="0" indent="0" algn="l" rtl="0">
              <a:lnSpc>
                <a:spcPct val="100000"/>
              </a:lnSpc>
              <a:spcBef>
                <a:spcPts val="500"/>
              </a:spcBef>
              <a:spcAft>
                <a:spcPts val="0"/>
              </a:spcAft>
              <a:buClr>
                <a:schemeClr val="dk1"/>
              </a:buClr>
              <a:buSzPts val="1050"/>
              <a:buNone/>
            </a:pPr>
            <a:endParaRPr/>
          </a:p>
        </p:txBody>
      </p:sp>
      <p:sp>
        <p:nvSpPr>
          <p:cNvPr id="2220" name="Google Shape;2220;p183"/>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Check-list des alternatives des images sur les RS</a:t>
            </a:r>
            <a:endParaRPr/>
          </a:p>
        </p:txBody>
      </p:sp>
      <p:sp>
        <p:nvSpPr>
          <p:cNvPr id="2221" name="Google Shape;2221;p183"/>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A retenir</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26"/>
        <p:cNvGrpSpPr/>
        <p:nvPr/>
      </p:nvGrpSpPr>
      <p:grpSpPr>
        <a:xfrm>
          <a:off x="0" y="0"/>
          <a:ext cx="0" cy="0"/>
          <a:chOff x="0" y="0"/>
          <a:chExt cx="0" cy="0"/>
        </a:xfrm>
      </p:grpSpPr>
      <p:sp>
        <p:nvSpPr>
          <p:cNvPr id="2227" name="Google Shape;2227;p184"/>
          <p:cNvSpPr txBox="1">
            <a:spLocks noGrp="1"/>
          </p:cNvSpPr>
          <p:nvPr>
            <p:ph type="title"/>
          </p:nvPr>
        </p:nvSpPr>
        <p:spPr>
          <a:xfrm>
            <a:off x="0" y="0"/>
            <a:ext cx="180000" cy="1800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100"/>
              <a:buFont typeface="Arial"/>
              <a:buNone/>
            </a:pPr>
            <a:endParaRPr/>
          </a:p>
        </p:txBody>
      </p:sp>
      <p:sp>
        <p:nvSpPr>
          <p:cNvPr id="2228" name="Google Shape;2228;p184"/>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36</a:t>
            </a:fld>
            <a:endParaRPr/>
          </a:p>
        </p:txBody>
      </p:sp>
      <p:sp>
        <p:nvSpPr>
          <p:cNvPr id="2229" name="Google Shape;2229;p184"/>
          <p:cNvSpPr txBox="1">
            <a:spLocks noGrp="1"/>
          </p:cNvSpPr>
          <p:nvPr>
            <p:ph type="body" idx="1"/>
          </p:nvPr>
        </p:nvSpPr>
        <p:spPr>
          <a:xfrm>
            <a:off x="360000" y="2346046"/>
            <a:ext cx="8424000" cy="1181646"/>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200"/>
              <a:buNone/>
            </a:pPr>
            <a:r>
              <a:rPr lang="fr-FR"/>
              <a:t>Section éléments interactifs</a:t>
            </a:r>
            <a:endParaRPr/>
          </a:p>
        </p:txBody>
      </p:sp>
      <p:sp>
        <p:nvSpPr>
          <p:cNvPr id="2230" name="Google Shape;2230;p184"/>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35"/>
        <p:cNvGrpSpPr/>
        <p:nvPr/>
      </p:nvGrpSpPr>
      <p:grpSpPr>
        <a:xfrm>
          <a:off x="0" y="0"/>
          <a:ext cx="0" cy="0"/>
          <a:chOff x="0" y="0"/>
          <a:chExt cx="0" cy="0"/>
        </a:xfrm>
      </p:grpSpPr>
      <p:sp>
        <p:nvSpPr>
          <p:cNvPr id="2236" name="Google Shape;2236;p185"/>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237" name="Google Shape;2237;p185"/>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37</a:t>
            </a:fld>
            <a:endParaRPr/>
          </a:p>
        </p:txBody>
      </p:sp>
      <p:sp>
        <p:nvSpPr>
          <p:cNvPr id="2238" name="Google Shape;2238;p185"/>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239" name="Google Shape;2239;p185"/>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Un émojis</a:t>
            </a:r>
            <a:endParaRPr/>
          </a:p>
          <a:p>
            <a:pPr marL="171450" lvl="0" indent="-171450" algn="l" rtl="0">
              <a:lnSpc>
                <a:spcPct val="100000"/>
              </a:lnSpc>
              <a:spcBef>
                <a:spcPts val="900"/>
              </a:spcBef>
              <a:spcAft>
                <a:spcPts val="0"/>
              </a:spcAft>
              <a:buClr>
                <a:schemeClr val="dk1"/>
              </a:buClr>
              <a:buSzPts val="1000"/>
              <a:buFont typeface="Arial"/>
              <a:buChar char="•"/>
            </a:pPr>
            <a:r>
              <a:rPr lang="fr-FR"/>
              <a:t>Un emoji est plus long qu’il en a l’air</a:t>
            </a:r>
            <a:endParaRPr/>
          </a:p>
          <a:p>
            <a:pPr marL="171450" lvl="0" indent="-171450" algn="l" rtl="0">
              <a:lnSpc>
                <a:spcPct val="100000"/>
              </a:lnSpc>
              <a:spcBef>
                <a:spcPts val="800"/>
              </a:spcBef>
              <a:spcAft>
                <a:spcPts val="0"/>
              </a:spcAft>
              <a:buClr>
                <a:schemeClr val="dk1"/>
              </a:buClr>
              <a:buSzPts val="1000"/>
              <a:buFont typeface="Arial"/>
              <a:buChar char="•"/>
            </a:pPr>
            <a:r>
              <a:rPr lang="fr-FR"/>
              <a:t>Un emoji peut en cacher un autre</a:t>
            </a:r>
            <a:endParaRPr/>
          </a:p>
          <a:p>
            <a:pPr marL="171450" lvl="0" indent="-171450" algn="l" rtl="0">
              <a:lnSpc>
                <a:spcPct val="100000"/>
              </a:lnSpc>
              <a:spcBef>
                <a:spcPts val="800"/>
              </a:spcBef>
              <a:spcAft>
                <a:spcPts val="0"/>
              </a:spcAft>
              <a:buClr>
                <a:schemeClr val="dk1"/>
              </a:buClr>
              <a:buSzPts val="1000"/>
              <a:buFont typeface="Arial"/>
              <a:buChar char="•"/>
            </a:pPr>
            <a:r>
              <a:rPr lang="fr-FR"/>
              <a:t>Un emoji n’est pas toujours clair</a:t>
            </a:r>
            <a:endParaRPr/>
          </a:p>
          <a:p>
            <a:pPr marL="171450" lvl="0" indent="-171450" algn="l" rtl="0">
              <a:lnSpc>
                <a:spcPct val="100000"/>
              </a:lnSpc>
              <a:spcBef>
                <a:spcPts val="800"/>
              </a:spcBef>
              <a:spcAft>
                <a:spcPts val="0"/>
              </a:spcAft>
              <a:buClr>
                <a:schemeClr val="dk1"/>
              </a:buClr>
              <a:buSzPts val="1000"/>
              <a:buFont typeface="Arial"/>
              <a:buChar char="•"/>
            </a:pPr>
            <a:r>
              <a:rPr lang="fr-FR"/>
              <a:t>Un emoji n’est pas toujours visible</a:t>
            </a:r>
            <a:endParaRPr/>
          </a:p>
          <a:p>
            <a:pPr marL="0" lvl="0" indent="0" algn="l" rtl="0">
              <a:lnSpc>
                <a:spcPct val="100000"/>
              </a:lnSpc>
              <a:spcBef>
                <a:spcPts val="1400"/>
              </a:spcBef>
              <a:spcAft>
                <a:spcPts val="0"/>
              </a:spcAft>
              <a:buClr>
                <a:schemeClr val="dk2"/>
              </a:buClr>
              <a:buSzPts val="1000"/>
              <a:buNone/>
            </a:pPr>
            <a:r>
              <a:rPr lang="fr-FR" b="1">
                <a:solidFill>
                  <a:schemeClr val="dk2"/>
                </a:solidFill>
              </a:rPr>
              <a:t>Que retenir d’un emoji ?</a:t>
            </a:r>
            <a:endParaRPr/>
          </a:p>
          <a:p>
            <a:pPr marL="171450" lvl="0" indent="-171450" algn="l" rtl="0">
              <a:lnSpc>
                <a:spcPct val="100000"/>
              </a:lnSpc>
              <a:spcBef>
                <a:spcPts val="1000"/>
              </a:spcBef>
              <a:spcAft>
                <a:spcPts val="0"/>
              </a:spcAft>
              <a:buClr>
                <a:schemeClr val="dk1"/>
              </a:buClr>
              <a:buSzPts val="1000"/>
              <a:buFont typeface="Arial"/>
              <a:buChar char="•"/>
            </a:pPr>
            <a:r>
              <a:rPr lang="fr-FR"/>
              <a:t>Utiliser des emojis de temps en temps, c’est ok ✅</a:t>
            </a:r>
            <a:endParaRPr/>
          </a:p>
          <a:p>
            <a:pPr marL="171450" lvl="0" indent="-171450" algn="l" rtl="0">
              <a:lnSpc>
                <a:spcPct val="100000"/>
              </a:lnSpc>
              <a:spcBef>
                <a:spcPts val="500"/>
              </a:spcBef>
              <a:spcAft>
                <a:spcPts val="0"/>
              </a:spcAft>
              <a:buClr>
                <a:schemeClr val="dk1"/>
              </a:buClr>
              <a:buSzPts val="1000"/>
              <a:buFont typeface="Arial"/>
              <a:buChar char="•"/>
            </a:pPr>
            <a:r>
              <a:rPr lang="fr-FR"/>
              <a:t>Placer l’émoji de préférence à la fin d’un message 👍</a:t>
            </a:r>
            <a:endParaRPr/>
          </a:p>
          <a:p>
            <a:pPr marL="171450" lvl="0" indent="-171450" algn="l" rtl="0">
              <a:lnSpc>
                <a:spcPct val="100000"/>
              </a:lnSpc>
              <a:spcBef>
                <a:spcPts val="500"/>
              </a:spcBef>
              <a:spcAft>
                <a:spcPts val="0"/>
              </a:spcAft>
              <a:buClr>
                <a:schemeClr val="dk1"/>
              </a:buClr>
              <a:buSzPts val="1000"/>
              <a:buFont typeface="Arial"/>
              <a:buChar char="•"/>
            </a:pPr>
            <a:r>
              <a:rPr lang="fr-FR"/>
              <a:t>Mettre les informations importantes avant l’émoji ⬅️</a:t>
            </a:r>
            <a:endParaRPr/>
          </a:p>
          <a:p>
            <a:pPr marL="171450" lvl="0" indent="-171450" algn="l" rtl="0">
              <a:lnSpc>
                <a:spcPct val="100000"/>
              </a:lnSpc>
              <a:spcBef>
                <a:spcPts val="500"/>
              </a:spcBef>
              <a:spcAft>
                <a:spcPts val="0"/>
              </a:spcAft>
              <a:buClr>
                <a:schemeClr val="dk1"/>
              </a:buClr>
              <a:buSzPts val="1000"/>
              <a:buFont typeface="Arial"/>
              <a:buChar char="•"/>
            </a:pPr>
            <a:r>
              <a:rPr lang="fr-FR"/>
              <a:t>S’assurer que le message a du sens même sans emoji 😇</a:t>
            </a:r>
            <a:endParaRPr/>
          </a:p>
          <a:p>
            <a:pPr marL="0" lvl="0" indent="0" algn="l" rtl="0">
              <a:lnSpc>
                <a:spcPct val="100000"/>
              </a:lnSpc>
              <a:spcBef>
                <a:spcPts val="500"/>
              </a:spcBef>
              <a:spcAft>
                <a:spcPts val="0"/>
              </a:spcAft>
              <a:buClr>
                <a:schemeClr val="dk1"/>
              </a:buClr>
              <a:buSzPts val="1050"/>
              <a:buNone/>
            </a:pPr>
            <a:endParaRPr/>
          </a:p>
        </p:txBody>
      </p:sp>
      <p:sp>
        <p:nvSpPr>
          <p:cNvPr id="2240" name="Google Shape;2240;p185"/>
          <p:cNvSpPr txBox="1">
            <a:spLocks noGrp="1"/>
          </p:cNvSpPr>
          <p:nvPr>
            <p:ph type="body" idx="3"/>
          </p:nvPr>
        </p:nvSpPr>
        <p:spPr>
          <a:xfrm>
            <a:off x="4788023" y="1836000"/>
            <a:ext cx="3995977" cy="289599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Les émojis peuvent proposer des problèmes d'accessibilité</a:t>
            </a:r>
            <a:endParaRPr/>
          </a:p>
          <a:p>
            <a:pPr marL="171450" lvl="0" indent="-171450" algn="l" rtl="0">
              <a:lnSpc>
                <a:spcPct val="100000"/>
              </a:lnSpc>
              <a:spcBef>
                <a:spcPts val="900"/>
              </a:spcBef>
              <a:spcAft>
                <a:spcPts val="0"/>
              </a:spcAft>
              <a:buClr>
                <a:schemeClr val="dk1"/>
              </a:buClr>
              <a:buSzPts val="1000"/>
              <a:buFont typeface="Arial"/>
              <a:buChar char="•"/>
            </a:pPr>
            <a:r>
              <a:rPr lang="fr-FR"/>
              <a:t>Vocalisé par un lecteur d'écran, il peut être très long</a:t>
            </a:r>
            <a:endParaRPr/>
          </a:p>
          <a:p>
            <a:pPr marL="171450" lvl="0" indent="-171450" algn="l" rtl="0">
              <a:lnSpc>
                <a:spcPct val="100000"/>
              </a:lnSpc>
              <a:spcBef>
                <a:spcPts val="800"/>
              </a:spcBef>
              <a:spcAft>
                <a:spcPts val="0"/>
              </a:spcAft>
              <a:buClr>
                <a:schemeClr val="dk1"/>
              </a:buClr>
              <a:buSzPts val="1000"/>
              <a:buFont typeface="Arial"/>
              <a:buChar char="•"/>
            </a:pPr>
            <a:r>
              <a:rPr lang="fr-FR"/>
              <a:t>Interruption du flux de lecture</a:t>
            </a:r>
            <a:endParaRPr/>
          </a:p>
          <a:p>
            <a:pPr marL="171450" lvl="0" indent="-171450" algn="l" rtl="0">
              <a:lnSpc>
                <a:spcPct val="100000"/>
              </a:lnSpc>
              <a:spcBef>
                <a:spcPts val="800"/>
              </a:spcBef>
              <a:spcAft>
                <a:spcPts val="0"/>
              </a:spcAft>
              <a:buClr>
                <a:schemeClr val="dk1"/>
              </a:buClr>
              <a:buSzPts val="1000"/>
              <a:buFont typeface="Arial"/>
              <a:buChar char="•"/>
            </a:pPr>
            <a:r>
              <a:rPr lang="fr-FR"/>
              <a:t>Le dessin peut être difficile à percevoir (problème de contraste ou de taille des détails)</a:t>
            </a:r>
            <a:endParaRPr/>
          </a:p>
          <a:p>
            <a:pPr marL="171450" lvl="0" indent="-171450" algn="l" rtl="0">
              <a:lnSpc>
                <a:spcPct val="100000"/>
              </a:lnSpc>
              <a:spcBef>
                <a:spcPts val="800"/>
              </a:spcBef>
              <a:spcAft>
                <a:spcPts val="0"/>
              </a:spcAft>
              <a:buClr>
                <a:schemeClr val="dk1"/>
              </a:buClr>
              <a:buSzPts val="1000"/>
              <a:buFont typeface="Arial"/>
              <a:buChar char="•"/>
            </a:pPr>
            <a:r>
              <a:rPr lang="fr-FR"/>
              <a:t>Son sens peut être difficile à percevoir</a:t>
            </a:r>
            <a:endParaRPr/>
          </a:p>
          <a:p>
            <a:pPr marL="0" lvl="0" indent="0" algn="l" rtl="0">
              <a:lnSpc>
                <a:spcPct val="100000"/>
              </a:lnSpc>
              <a:spcBef>
                <a:spcPts val="1400"/>
              </a:spcBef>
              <a:spcAft>
                <a:spcPts val="0"/>
              </a:spcAft>
              <a:buClr>
                <a:schemeClr val="dk2"/>
              </a:buClr>
              <a:buSzPts val="1000"/>
              <a:buNone/>
            </a:pPr>
            <a:r>
              <a:rPr lang="fr-FR" b="1">
                <a:solidFill>
                  <a:schemeClr val="dk2"/>
                </a:solidFill>
              </a:rPr>
              <a:t>Impact sur les usagers</a:t>
            </a:r>
            <a:endParaRPr/>
          </a:p>
          <a:p>
            <a:pPr marL="171450" lvl="0" indent="-171450" algn="l" rtl="0">
              <a:lnSpc>
                <a:spcPct val="100000"/>
              </a:lnSpc>
              <a:spcBef>
                <a:spcPts val="1000"/>
              </a:spcBef>
              <a:spcAft>
                <a:spcPts val="0"/>
              </a:spcAft>
              <a:buClr>
                <a:schemeClr val="dk1"/>
              </a:buClr>
              <a:buSzPts val="1000"/>
              <a:buFont typeface="Arial"/>
              <a:buChar char="•"/>
            </a:pPr>
            <a:r>
              <a:rPr lang="fr-FR"/>
              <a:t>Troubles cognitifs ou neurologiques</a:t>
            </a:r>
            <a:endParaRPr/>
          </a:p>
          <a:p>
            <a:pPr marL="171450" lvl="0" indent="-171450" algn="l" rtl="0">
              <a:lnSpc>
                <a:spcPct val="100000"/>
              </a:lnSpc>
              <a:spcBef>
                <a:spcPts val="500"/>
              </a:spcBef>
              <a:spcAft>
                <a:spcPts val="0"/>
              </a:spcAft>
              <a:buClr>
                <a:schemeClr val="dk1"/>
              </a:buClr>
              <a:buSzPts val="1000"/>
              <a:buFont typeface="Arial"/>
              <a:buChar char="•"/>
            </a:pPr>
            <a:r>
              <a:rPr lang="fr-FR"/>
              <a:t>Difficulté à interpréter les expressions</a:t>
            </a:r>
            <a:endParaRPr/>
          </a:p>
          <a:p>
            <a:pPr marL="171450" lvl="0" indent="-171450" algn="l" rtl="0">
              <a:lnSpc>
                <a:spcPct val="100000"/>
              </a:lnSpc>
              <a:spcBef>
                <a:spcPts val="500"/>
              </a:spcBef>
              <a:spcAft>
                <a:spcPts val="0"/>
              </a:spcAft>
              <a:buClr>
                <a:schemeClr val="dk1"/>
              </a:buClr>
              <a:buSzPts val="1000"/>
              <a:buFont typeface="Arial"/>
              <a:buChar char="•"/>
            </a:pPr>
            <a:r>
              <a:rPr lang="fr-FR"/>
              <a:t>Confusion possible entre émojis similaires</a:t>
            </a:r>
            <a:endParaRPr/>
          </a:p>
          <a:p>
            <a:pPr marL="0" lvl="0" indent="0" algn="l" rtl="0">
              <a:lnSpc>
                <a:spcPct val="100000"/>
              </a:lnSpc>
              <a:spcBef>
                <a:spcPts val="1100"/>
              </a:spcBef>
              <a:spcAft>
                <a:spcPts val="0"/>
              </a:spcAft>
              <a:buClr>
                <a:schemeClr val="dk1"/>
              </a:buClr>
              <a:buSzPts val="1000"/>
              <a:buNone/>
            </a:pPr>
            <a:r>
              <a:rPr lang="fr-FR"/>
              <a:t>Oui, je la connais bien 😌 n'a pas le même sens que oui, je la connais bien 😔.</a:t>
            </a:r>
            <a:endParaRPr/>
          </a:p>
          <a:p>
            <a:pPr marL="171450" lvl="0" indent="-104775" algn="l" rtl="0">
              <a:lnSpc>
                <a:spcPct val="100000"/>
              </a:lnSpc>
              <a:spcBef>
                <a:spcPts val="500"/>
              </a:spcBef>
              <a:spcAft>
                <a:spcPts val="0"/>
              </a:spcAft>
              <a:buClr>
                <a:schemeClr val="dk1"/>
              </a:buClr>
              <a:buSzPts val="1050"/>
              <a:buFont typeface="Arial"/>
              <a:buNone/>
            </a:pPr>
            <a:endParaRPr/>
          </a:p>
        </p:txBody>
      </p:sp>
      <p:sp>
        <p:nvSpPr>
          <p:cNvPr id="2241" name="Google Shape;2241;p185"/>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Emojis : limiter leurs usages</a:t>
            </a:r>
            <a:br>
              <a:rPr lang="fr-FR" sz="2400"/>
            </a:br>
            <a:endParaRPr sz="2400"/>
          </a:p>
        </p:txBody>
      </p:sp>
      <p:sp>
        <p:nvSpPr>
          <p:cNvPr id="2242" name="Google Shape;2242;p185"/>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https://blog.hello-bokeh.fr/2020/07/23/des-emoji-accessibles/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46"/>
        <p:cNvGrpSpPr/>
        <p:nvPr/>
      </p:nvGrpSpPr>
      <p:grpSpPr>
        <a:xfrm>
          <a:off x="0" y="0"/>
          <a:ext cx="0" cy="0"/>
          <a:chOff x="0" y="0"/>
          <a:chExt cx="0" cy="0"/>
        </a:xfrm>
      </p:grpSpPr>
      <p:sp>
        <p:nvSpPr>
          <p:cNvPr id="2247" name="Google Shape;2247;p186"/>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248" name="Google Shape;2248;p186"/>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38</a:t>
            </a:fld>
            <a:endParaRPr/>
          </a:p>
        </p:txBody>
      </p:sp>
      <p:sp>
        <p:nvSpPr>
          <p:cNvPr id="2249" name="Google Shape;2249;p186"/>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250" name="Google Shape;2250;p186"/>
          <p:cNvSpPr txBox="1">
            <a:spLocks noGrp="1"/>
          </p:cNvSpPr>
          <p:nvPr>
            <p:ph type="body" idx="2"/>
          </p:nvPr>
        </p:nvSpPr>
        <p:spPr>
          <a:xfrm>
            <a:off x="359998" y="1836000"/>
            <a:ext cx="8423275" cy="2679966"/>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À faire : </a:t>
            </a:r>
            <a:endParaRPr/>
          </a:p>
          <a:p>
            <a:pPr marL="0" lvl="0" indent="0" algn="l" rtl="0">
              <a:lnSpc>
                <a:spcPct val="200000"/>
              </a:lnSpc>
              <a:spcBef>
                <a:spcPts val="500"/>
              </a:spcBef>
              <a:spcAft>
                <a:spcPts val="0"/>
              </a:spcAft>
              <a:buClr>
                <a:schemeClr val="dk1"/>
              </a:buClr>
              <a:buSzPts val="1000"/>
              <a:buNone/>
            </a:pPr>
            <a:r>
              <a:rPr lang="fr-FR"/>
              <a:t>✅ S’assurer que le message a du sens même sans emoji 😇.</a:t>
            </a:r>
            <a:endParaRPr/>
          </a:p>
          <a:p>
            <a:pPr marL="0" lvl="0" indent="0" algn="l" rtl="0">
              <a:lnSpc>
                <a:spcPct val="200000"/>
              </a:lnSpc>
              <a:spcBef>
                <a:spcPts val="500"/>
              </a:spcBef>
              <a:spcAft>
                <a:spcPts val="0"/>
              </a:spcAft>
              <a:buClr>
                <a:schemeClr val="dk2"/>
              </a:buClr>
              <a:buSzPts val="1000"/>
              <a:buNone/>
            </a:pPr>
            <a:r>
              <a:rPr lang="fr-FR" b="1">
                <a:solidFill>
                  <a:schemeClr val="dk2"/>
                </a:solidFill>
              </a:rPr>
              <a:t> À ne pas faire :</a:t>
            </a:r>
            <a:endParaRPr/>
          </a:p>
          <a:p>
            <a:pPr marL="0" lvl="0" indent="0" algn="l" rtl="0">
              <a:lnSpc>
                <a:spcPct val="200000"/>
              </a:lnSpc>
              <a:spcBef>
                <a:spcPts val="500"/>
              </a:spcBef>
              <a:spcAft>
                <a:spcPts val="0"/>
              </a:spcAft>
              <a:buClr>
                <a:schemeClr val="dk1"/>
              </a:buClr>
              <a:buSzPts val="1000"/>
              <a:buNone/>
            </a:pPr>
            <a:r>
              <a:rPr lang="fr-FR"/>
              <a:t>❌ Utiliser plusieurs fois le même émojis à la suite 😭😭😭.</a:t>
            </a:r>
            <a:endParaRPr/>
          </a:p>
          <a:p>
            <a:pPr marL="0" lvl="0" indent="0" algn="l" rtl="0">
              <a:lnSpc>
                <a:spcPct val="200000"/>
              </a:lnSpc>
              <a:spcBef>
                <a:spcPts val="500"/>
              </a:spcBef>
              <a:spcAft>
                <a:spcPts val="0"/>
              </a:spcAft>
              <a:buClr>
                <a:schemeClr val="dk1"/>
              </a:buClr>
              <a:buSzPts val="1000"/>
              <a:buNone/>
            </a:pPr>
            <a:r>
              <a:rPr lang="fr-FR"/>
              <a:t>❌ Utiliser des émojis au milieu (ou à la place) d’un Ⓜ️ot (mot).</a:t>
            </a:r>
            <a:endParaRPr/>
          </a:p>
          <a:p>
            <a:pPr marL="0" lvl="0" indent="0" algn="l" rtl="0">
              <a:lnSpc>
                <a:spcPct val="200000"/>
              </a:lnSpc>
              <a:spcBef>
                <a:spcPts val="500"/>
              </a:spcBef>
              <a:spcAft>
                <a:spcPts val="0"/>
              </a:spcAft>
              <a:buClr>
                <a:schemeClr val="dk1"/>
              </a:buClr>
              <a:buSzPts val="1000"/>
              <a:buNone/>
            </a:pPr>
            <a:r>
              <a:rPr lang="fr-FR"/>
              <a:t>❌ 👏 Utiliser 👏 plusieurs 👏 emojis 👏 au 👏 milieu 👏 d’une 👏 phrase.</a:t>
            </a:r>
            <a:endParaRPr/>
          </a:p>
        </p:txBody>
      </p:sp>
      <p:sp>
        <p:nvSpPr>
          <p:cNvPr id="2251" name="Google Shape;2251;p186"/>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Emojis – faire et ne pas faire</a:t>
            </a:r>
            <a:endParaRPr/>
          </a:p>
        </p:txBody>
      </p:sp>
      <p:sp>
        <p:nvSpPr>
          <p:cNvPr id="2252" name="Google Shape;2252;p186"/>
          <p:cNvSpPr txBox="1">
            <a:spLocks noGrp="1"/>
          </p:cNvSpPr>
          <p:nvPr>
            <p:ph type="body" idx="3"/>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Exemples à retenir - https://blog.hello-bokeh.fr/2020/07/23/des-emoji-accessibles/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256"/>
        <p:cNvGrpSpPr/>
        <p:nvPr/>
      </p:nvGrpSpPr>
      <p:grpSpPr>
        <a:xfrm>
          <a:off x="0" y="0"/>
          <a:ext cx="0" cy="0"/>
          <a:chOff x="0" y="0"/>
          <a:chExt cx="0" cy="0"/>
        </a:xfrm>
      </p:grpSpPr>
      <p:sp>
        <p:nvSpPr>
          <p:cNvPr id="2257" name="Google Shape;2257;p187"/>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258" name="Google Shape;2258;p187"/>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39</a:t>
            </a:fld>
            <a:endParaRPr/>
          </a:p>
        </p:txBody>
      </p:sp>
      <p:sp>
        <p:nvSpPr>
          <p:cNvPr id="2259" name="Google Shape;2259;p187"/>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260" name="Google Shape;2260;p187"/>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Avant d'utiliser un émoji</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Choix de l'émoji</a:t>
            </a:r>
            <a:endParaRPr/>
          </a:p>
          <a:p>
            <a:pPr marL="171450" lvl="0" indent="-171450" algn="l" rtl="0">
              <a:lnSpc>
                <a:spcPct val="100000"/>
              </a:lnSpc>
              <a:spcBef>
                <a:spcPts val="2300"/>
              </a:spcBef>
              <a:spcAft>
                <a:spcPts val="0"/>
              </a:spcAft>
              <a:buClr>
                <a:schemeClr val="dk1"/>
              </a:buClr>
              <a:buSzPts val="1000"/>
              <a:buFont typeface="Arial"/>
              <a:buChar char="•"/>
            </a:pPr>
            <a:r>
              <a:rPr lang="fr-FR"/>
              <a:t>Utiliser les émojis standards (jaunes) en priorité</a:t>
            </a:r>
            <a:endParaRPr/>
          </a:p>
          <a:p>
            <a:pPr marL="171450" lvl="0" indent="-171450" algn="l" rtl="0">
              <a:lnSpc>
                <a:spcPct val="100000"/>
              </a:lnSpc>
              <a:spcBef>
                <a:spcPts val="1700"/>
              </a:spcBef>
              <a:spcAft>
                <a:spcPts val="0"/>
              </a:spcAft>
              <a:buClr>
                <a:schemeClr val="dk1"/>
              </a:buClr>
              <a:buSzPts val="1000"/>
              <a:buFont typeface="Arial"/>
              <a:buChar char="•"/>
            </a:pPr>
            <a:r>
              <a:rPr lang="fr-FR"/>
              <a:t>Éviter les émojis personnalisés (couleurs de peau) qui ont des descriptions plus longues</a:t>
            </a:r>
            <a:endParaRPr/>
          </a:p>
          <a:p>
            <a:pPr marL="171450" lvl="0" indent="-171450" algn="l" rtl="0">
              <a:lnSpc>
                <a:spcPct val="100000"/>
              </a:lnSpc>
              <a:spcBef>
                <a:spcPts val="1700"/>
              </a:spcBef>
              <a:spcAft>
                <a:spcPts val="0"/>
              </a:spcAft>
              <a:buClr>
                <a:schemeClr val="dk1"/>
              </a:buClr>
              <a:buSzPts val="1000"/>
              <a:buFont typeface="Arial"/>
              <a:buChar char="•"/>
            </a:pPr>
            <a:r>
              <a:rPr lang="fr-FR"/>
              <a:t>Vérifier la signification sur Emojipedia ou EmojiTerra</a:t>
            </a:r>
            <a:endParaRPr/>
          </a:p>
          <a:p>
            <a:pPr marL="171450" lvl="0" indent="-171450" algn="l" rtl="0">
              <a:lnSpc>
                <a:spcPct val="100000"/>
              </a:lnSpc>
              <a:spcBef>
                <a:spcPts val="1700"/>
              </a:spcBef>
              <a:spcAft>
                <a:spcPts val="0"/>
              </a:spcAft>
              <a:buClr>
                <a:schemeClr val="dk1"/>
              </a:buClr>
              <a:buSzPts val="1000"/>
              <a:buFont typeface="Arial"/>
              <a:buChar char="•"/>
            </a:pPr>
            <a:r>
              <a:rPr lang="fr-FR"/>
              <a:t>S'assurer du bon contraste avec l'arrière-plan</a:t>
            </a:r>
            <a:endParaRPr/>
          </a:p>
          <a:p>
            <a:pPr marL="0" lvl="0" indent="0" algn="l" rtl="0">
              <a:lnSpc>
                <a:spcPct val="100000"/>
              </a:lnSpc>
              <a:spcBef>
                <a:spcPts val="500"/>
              </a:spcBef>
              <a:spcAft>
                <a:spcPts val="0"/>
              </a:spcAft>
              <a:buClr>
                <a:schemeClr val="dk1"/>
              </a:buClr>
              <a:buSzPts val="1050"/>
              <a:buNone/>
            </a:pPr>
            <a:endParaRPr/>
          </a:p>
        </p:txBody>
      </p:sp>
      <p:sp>
        <p:nvSpPr>
          <p:cNvPr id="2261" name="Google Shape;2261;p187"/>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Vérification technique</a:t>
            </a:r>
            <a:endParaRPr/>
          </a:p>
          <a:p>
            <a:pPr marL="171450" lvl="0" indent="-171450" algn="l" rtl="0">
              <a:lnSpc>
                <a:spcPct val="100000"/>
              </a:lnSpc>
              <a:spcBef>
                <a:spcPts val="1100"/>
              </a:spcBef>
              <a:spcAft>
                <a:spcPts val="0"/>
              </a:spcAft>
              <a:buClr>
                <a:schemeClr val="dk1"/>
              </a:buClr>
              <a:buSzPts val="1000"/>
              <a:buFont typeface="Arial"/>
              <a:buChar char="•"/>
            </a:pPr>
            <a:r>
              <a:rPr lang="fr-FR"/>
              <a:t>Tester avec un lecteur d'écran (NVDA ou VoiceOver)</a:t>
            </a:r>
            <a:endParaRPr/>
          </a:p>
          <a:p>
            <a:pPr marL="171450" lvl="0" indent="-171450" algn="l" rtl="0">
              <a:lnSpc>
                <a:spcPct val="100000"/>
              </a:lnSpc>
              <a:spcBef>
                <a:spcPts val="1100"/>
              </a:spcBef>
              <a:spcAft>
                <a:spcPts val="0"/>
              </a:spcAft>
              <a:buClr>
                <a:schemeClr val="dk1"/>
              </a:buClr>
              <a:buSzPts val="1000"/>
              <a:buFont typeface="Arial"/>
              <a:buChar char="•"/>
            </a:pPr>
            <a:r>
              <a:rPr lang="fr-FR"/>
              <a:t>Vérifier la restitution sur différentes plateformes</a:t>
            </a:r>
            <a:endParaRPr/>
          </a:p>
          <a:p>
            <a:pPr marL="171450" lvl="0" indent="-171450" algn="l" rtl="0">
              <a:lnSpc>
                <a:spcPct val="100000"/>
              </a:lnSpc>
              <a:spcBef>
                <a:spcPts val="1100"/>
              </a:spcBef>
              <a:spcAft>
                <a:spcPts val="0"/>
              </a:spcAft>
              <a:buClr>
                <a:schemeClr val="dk1"/>
              </a:buClr>
              <a:buSzPts val="1000"/>
              <a:buFont typeface="Arial"/>
              <a:buChar char="•"/>
            </a:pPr>
            <a:r>
              <a:rPr lang="fr-FR"/>
              <a:t>S'assurer que le message reste compréhensible sans émoji</a:t>
            </a:r>
            <a:endParaRPr/>
          </a:p>
          <a:p>
            <a:pPr marL="0" lvl="0" indent="0" algn="l" rtl="0">
              <a:lnSpc>
                <a:spcPct val="100000"/>
              </a:lnSpc>
              <a:spcBef>
                <a:spcPts val="1700"/>
              </a:spcBef>
              <a:spcAft>
                <a:spcPts val="0"/>
              </a:spcAft>
              <a:buClr>
                <a:schemeClr val="dk2"/>
              </a:buClr>
              <a:buSzPts val="1000"/>
              <a:buNone/>
            </a:pPr>
            <a:r>
              <a:rPr lang="fr-FR" b="1">
                <a:solidFill>
                  <a:schemeClr val="dk2"/>
                </a:solidFill>
              </a:rPr>
              <a:t>Ressources de vérification</a:t>
            </a:r>
            <a:endParaRPr/>
          </a:p>
          <a:p>
            <a:pPr marL="171450" lvl="0" indent="-171450" algn="l" rtl="0">
              <a:lnSpc>
                <a:spcPct val="100000"/>
              </a:lnSpc>
              <a:spcBef>
                <a:spcPts val="1100"/>
              </a:spcBef>
              <a:spcAft>
                <a:spcPts val="0"/>
              </a:spcAft>
              <a:buClr>
                <a:schemeClr val="dk1"/>
              </a:buClr>
              <a:buSzPts val="1000"/>
              <a:buFont typeface="Arial"/>
              <a:buChar char="•"/>
            </a:pPr>
            <a:r>
              <a:rPr lang="fr-FR"/>
              <a:t>Emojipedia : </a:t>
            </a:r>
            <a:r>
              <a:rPr lang="fr-FR" u="sng">
                <a:solidFill>
                  <a:schemeClr val="hlink"/>
                </a:solidFill>
                <a:hlinkClick r:id="rId3"/>
              </a:rPr>
              <a:t>https://emojipedia.org/fr/</a:t>
            </a:r>
            <a:endParaRPr/>
          </a:p>
          <a:p>
            <a:pPr marL="171450" lvl="0" indent="-171450" algn="l" rtl="0">
              <a:lnSpc>
                <a:spcPct val="100000"/>
              </a:lnSpc>
              <a:spcBef>
                <a:spcPts val="1100"/>
              </a:spcBef>
              <a:spcAft>
                <a:spcPts val="0"/>
              </a:spcAft>
              <a:buClr>
                <a:schemeClr val="dk1"/>
              </a:buClr>
              <a:buSzPts val="1000"/>
              <a:buFont typeface="Arial"/>
              <a:buChar char="•"/>
            </a:pPr>
            <a:r>
              <a:rPr lang="fr-FR"/>
              <a:t>EmojiTerra : </a:t>
            </a:r>
            <a:r>
              <a:rPr lang="fr-FR" u="sng">
                <a:solidFill>
                  <a:schemeClr val="hlink"/>
                </a:solidFill>
                <a:hlinkClick r:id="rId4"/>
              </a:rPr>
              <a:t>https://emojiterra.com/fr/</a:t>
            </a:r>
            <a:endParaRPr/>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50"/>
              <a:buNone/>
            </a:pPr>
            <a:endParaRPr/>
          </a:p>
        </p:txBody>
      </p:sp>
      <p:sp>
        <p:nvSpPr>
          <p:cNvPr id="2262" name="Google Shape;2262;p187"/>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Emojis – Check-list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267"/>
        <p:cNvGrpSpPr/>
        <p:nvPr/>
      </p:nvGrpSpPr>
      <p:grpSpPr>
        <a:xfrm>
          <a:off x="0" y="0"/>
          <a:ext cx="0" cy="0"/>
          <a:chOff x="0" y="0"/>
          <a:chExt cx="0" cy="0"/>
        </a:xfrm>
      </p:grpSpPr>
      <p:sp>
        <p:nvSpPr>
          <p:cNvPr id="2268" name="Google Shape;2268;p188"/>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269" name="Google Shape;2269;p188"/>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40</a:t>
            </a:fld>
            <a:endParaRPr/>
          </a:p>
        </p:txBody>
      </p:sp>
      <p:sp>
        <p:nvSpPr>
          <p:cNvPr id="2270" name="Google Shape;2270;p188"/>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271" name="Google Shape;2271;p188"/>
          <p:cNvSpPr txBox="1">
            <a:spLocks noGrp="1"/>
          </p:cNvSpPr>
          <p:nvPr>
            <p:ph type="body" idx="2"/>
          </p:nvPr>
        </p:nvSpPr>
        <p:spPr>
          <a:xfrm>
            <a:off x="359998" y="1941966"/>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Pourquoi bien formater ses Hashtags</a:t>
            </a:r>
            <a:endParaRPr/>
          </a:p>
          <a:p>
            <a:pPr marL="171450" lvl="0" indent="-171450" algn="l" rtl="0">
              <a:lnSpc>
                <a:spcPct val="100000"/>
              </a:lnSpc>
              <a:spcBef>
                <a:spcPts val="1100"/>
              </a:spcBef>
              <a:spcAft>
                <a:spcPts val="0"/>
              </a:spcAft>
              <a:buClr>
                <a:schemeClr val="dk1"/>
              </a:buClr>
              <a:buSzPts val="1000"/>
              <a:buFont typeface="Arial"/>
              <a:buChar char="•"/>
            </a:pPr>
            <a:r>
              <a:rPr lang="fr-FR"/>
              <a:t>Ils sont plus faciles à lire par les humains</a:t>
            </a:r>
            <a:endParaRPr/>
          </a:p>
          <a:p>
            <a:pPr marL="171450" lvl="0" indent="-171450" algn="l" rtl="0">
              <a:lnSpc>
                <a:spcPct val="100000"/>
              </a:lnSpc>
              <a:spcBef>
                <a:spcPts val="1100"/>
              </a:spcBef>
              <a:spcAft>
                <a:spcPts val="0"/>
              </a:spcAft>
              <a:buClr>
                <a:schemeClr val="dk1"/>
              </a:buClr>
              <a:buSzPts val="1000"/>
              <a:buFont typeface="Arial"/>
              <a:buChar char="•"/>
            </a:pPr>
            <a:r>
              <a:rPr lang="fr-FR"/>
              <a:t>Ils sont lus correctement par les lecteurs d’écrans</a:t>
            </a:r>
            <a:endParaRPr/>
          </a:p>
          <a:p>
            <a:pPr marL="171450" lvl="0" indent="-171450" algn="l" rtl="0">
              <a:lnSpc>
                <a:spcPct val="100000"/>
              </a:lnSpc>
              <a:spcBef>
                <a:spcPts val="1100"/>
              </a:spcBef>
              <a:spcAft>
                <a:spcPts val="0"/>
              </a:spcAft>
              <a:buClr>
                <a:schemeClr val="dk1"/>
              </a:buClr>
              <a:buSzPts val="1000"/>
              <a:buFont typeface="Arial"/>
              <a:buChar char="•"/>
            </a:pPr>
            <a:r>
              <a:rPr lang="fr-FR"/>
              <a:t>Ils ne risquent pas de déformer le message</a:t>
            </a:r>
            <a:endParaRPr/>
          </a:p>
        </p:txBody>
      </p:sp>
      <p:sp>
        <p:nvSpPr>
          <p:cNvPr id="2272" name="Google Shape;2272;p188"/>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Hashtags accessibles</a:t>
            </a:r>
            <a:endParaRPr/>
          </a:p>
        </p:txBody>
      </p:sp>
      <p:sp>
        <p:nvSpPr>
          <p:cNvPr id="2273" name="Google Shape;2273;p188"/>
          <p:cNvSpPr txBox="1">
            <a:spLocks noGrp="1"/>
          </p:cNvSpPr>
          <p:nvPr>
            <p:ph type="body" idx="4"/>
          </p:nvPr>
        </p:nvSpPr>
        <p:spPr>
          <a:xfrm>
            <a:off x="360363" y="1525191"/>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Hashtags : mettre une majuscule à chaque nouveau mot</a:t>
            </a:r>
            <a:endParaRPr/>
          </a:p>
        </p:txBody>
      </p:sp>
      <p:pic>
        <p:nvPicPr>
          <p:cNvPr id="2274" name="Google Shape;2274;p188"/>
          <p:cNvPicPr preferRelativeResize="0"/>
          <p:nvPr/>
        </p:nvPicPr>
        <p:blipFill rotWithShape="1">
          <a:blip r:embed="rId3">
            <a:alphaModFix/>
          </a:blip>
          <a:srcRect/>
          <a:stretch/>
        </p:blipFill>
        <p:spPr>
          <a:xfrm>
            <a:off x="5580112" y="1878566"/>
            <a:ext cx="1576623" cy="236493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79"/>
        <p:cNvGrpSpPr/>
        <p:nvPr/>
      </p:nvGrpSpPr>
      <p:grpSpPr>
        <a:xfrm>
          <a:off x="0" y="0"/>
          <a:ext cx="0" cy="0"/>
          <a:chOff x="0" y="0"/>
          <a:chExt cx="0" cy="0"/>
        </a:xfrm>
      </p:grpSpPr>
      <p:sp>
        <p:nvSpPr>
          <p:cNvPr id="2280" name="Google Shape;2280;p189"/>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281" name="Google Shape;2281;p189"/>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41</a:t>
            </a:fld>
            <a:endParaRPr/>
          </a:p>
        </p:txBody>
      </p:sp>
      <p:sp>
        <p:nvSpPr>
          <p:cNvPr id="2282" name="Google Shape;2282;p189"/>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283" name="Google Shape;2283;p189"/>
          <p:cNvSpPr txBox="1">
            <a:spLocks noGrp="1"/>
          </p:cNvSpPr>
          <p:nvPr>
            <p:ph type="body" idx="2"/>
          </p:nvPr>
        </p:nvSpPr>
        <p:spPr>
          <a:xfrm>
            <a:off x="359998" y="1836000"/>
            <a:ext cx="3995978" cy="2823982"/>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CamelCase - </a:t>
            </a:r>
            <a:r>
              <a:rPr lang="fr-FR"/>
              <a:t>mettre une majuscule au début de chaque mot du Hashtag, sauf pour le premier mot. </a:t>
            </a:r>
            <a:endParaRPr b="1">
              <a:solidFill>
                <a:schemeClr val="dk2"/>
              </a:solidFill>
            </a:endParaRPr>
          </a:p>
          <a:p>
            <a:pPr marL="171450" lvl="0" indent="-171450" algn="l" rtl="0">
              <a:lnSpc>
                <a:spcPct val="100000"/>
              </a:lnSpc>
              <a:spcBef>
                <a:spcPts val="1200"/>
              </a:spcBef>
              <a:spcAft>
                <a:spcPts val="0"/>
              </a:spcAft>
              <a:buClr>
                <a:schemeClr val="dk1"/>
              </a:buClr>
              <a:buSzPts val="1000"/>
              <a:buFont typeface="Arial"/>
              <a:buChar char="•"/>
            </a:pPr>
            <a:r>
              <a:rPr lang="fr-FR"/>
              <a:t>#accessibilitéNumérique</a:t>
            </a:r>
            <a:endParaRPr/>
          </a:p>
          <a:p>
            <a:pPr marL="171450" lvl="0" indent="-171450" algn="l" rtl="0">
              <a:lnSpc>
                <a:spcPct val="100000"/>
              </a:lnSpc>
              <a:spcBef>
                <a:spcPts val="1200"/>
              </a:spcBef>
              <a:spcAft>
                <a:spcPts val="0"/>
              </a:spcAft>
              <a:buClr>
                <a:schemeClr val="dk1"/>
              </a:buClr>
              <a:buSzPts val="1000"/>
              <a:buFont typeface="Arial"/>
              <a:buChar char="•"/>
            </a:pPr>
            <a:r>
              <a:rPr lang="fr-FR"/>
              <a:t>#servicePublic</a:t>
            </a:r>
            <a:endParaRPr/>
          </a:p>
          <a:p>
            <a:pPr marL="0" lvl="0" indent="0" algn="l" rtl="0">
              <a:lnSpc>
                <a:spcPct val="100000"/>
              </a:lnSpc>
              <a:spcBef>
                <a:spcPts val="1200"/>
              </a:spcBef>
              <a:spcAft>
                <a:spcPts val="0"/>
              </a:spcAft>
              <a:buClr>
                <a:schemeClr val="dk2"/>
              </a:buClr>
              <a:buSzPts val="1000"/>
              <a:buNone/>
            </a:pPr>
            <a:r>
              <a:rPr lang="fr-FR" b="1">
                <a:solidFill>
                  <a:schemeClr val="dk2"/>
                </a:solidFill>
              </a:rPr>
              <a:t>PascalCase - </a:t>
            </a:r>
            <a:r>
              <a:rPr lang="fr-FR"/>
              <a:t>mettre une majuscule au début de chaque mot du hashtag. Exemple : </a:t>
            </a:r>
            <a:endParaRPr/>
          </a:p>
          <a:p>
            <a:pPr marL="171450" lvl="0" indent="-171450" algn="l" rtl="0">
              <a:lnSpc>
                <a:spcPct val="100000"/>
              </a:lnSpc>
              <a:spcBef>
                <a:spcPts val="1200"/>
              </a:spcBef>
              <a:spcAft>
                <a:spcPts val="0"/>
              </a:spcAft>
              <a:buClr>
                <a:schemeClr val="dk1"/>
              </a:buClr>
              <a:buSzPts val="1000"/>
              <a:buFont typeface="Arial"/>
              <a:buChar char="•"/>
            </a:pPr>
            <a:r>
              <a:rPr lang="fr-FR"/>
              <a:t>#AccessibiliteNumerique</a:t>
            </a:r>
            <a:endParaRPr/>
          </a:p>
          <a:p>
            <a:pPr marL="171450" lvl="0" indent="-171450" algn="l" rtl="0">
              <a:lnSpc>
                <a:spcPct val="100000"/>
              </a:lnSpc>
              <a:spcBef>
                <a:spcPts val="1200"/>
              </a:spcBef>
              <a:spcAft>
                <a:spcPts val="0"/>
              </a:spcAft>
              <a:buClr>
                <a:schemeClr val="dk1"/>
              </a:buClr>
              <a:buSzPts val="1000"/>
              <a:buFont typeface="Arial"/>
              <a:buChar char="•"/>
            </a:pPr>
            <a:r>
              <a:rPr lang="fr-FR"/>
              <a:t>#ServicePublic</a:t>
            </a:r>
            <a:endParaRPr b="1">
              <a:solidFill>
                <a:schemeClr val="dk2"/>
              </a:solidFill>
            </a:endParaRPr>
          </a:p>
          <a:p>
            <a:pPr marL="0" lvl="0" indent="0" algn="l" rtl="0">
              <a:lnSpc>
                <a:spcPct val="100000"/>
              </a:lnSpc>
              <a:spcBef>
                <a:spcPts val="1200"/>
              </a:spcBef>
              <a:spcAft>
                <a:spcPts val="0"/>
              </a:spcAft>
              <a:buClr>
                <a:schemeClr val="dk2"/>
              </a:buClr>
              <a:buSzPts val="1000"/>
              <a:buNone/>
            </a:pPr>
            <a:r>
              <a:rPr lang="fr-FR" b="1">
                <a:solidFill>
                  <a:schemeClr val="dk2"/>
                </a:solidFill>
              </a:rPr>
              <a:t>Tout en minuscule - à ne pas faire</a:t>
            </a:r>
            <a:endParaRPr/>
          </a:p>
          <a:p>
            <a:pPr marL="171450" lvl="0" indent="-171450" algn="l" rtl="0">
              <a:lnSpc>
                <a:spcPct val="100000"/>
              </a:lnSpc>
              <a:spcBef>
                <a:spcPts val="1200"/>
              </a:spcBef>
              <a:spcAft>
                <a:spcPts val="0"/>
              </a:spcAft>
              <a:buClr>
                <a:schemeClr val="dk1"/>
              </a:buClr>
              <a:buSzPts val="1000"/>
              <a:buFont typeface="Arial"/>
              <a:buChar char="•"/>
            </a:pPr>
            <a:r>
              <a:rPr lang="fr-FR"/>
              <a:t>#francetvinfo</a:t>
            </a:r>
            <a:endParaRPr/>
          </a:p>
          <a:p>
            <a:pPr marL="0" lvl="0" indent="0" algn="l" rtl="0">
              <a:lnSpc>
                <a:spcPct val="100000"/>
              </a:lnSpc>
              <a:spcBef>
                <a:spcPts val="1000"/>
              </a:spcBef>
              <a:spcAft>
                <a:spcPts val="0"/>
              </a:spcAft>
              <a:buClr>
                <a:schemeClr val="dk1"/>
              </a:buClr>
              <a:buSzPts val="1050"/>
              <a:buNone/>
            </a:pPr>
            <a:endParaRPr/>
          </a:p>
        </p:txBody>
      </p:sp>
      <p:sp>
        <p:nvSpPr>
          <p:cNvPr id="2284" name="Google Shape;2284;p189"/>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A retenir</a:t>
            </a:r>
            <a:endParaRPr/>
          </a:p>
          <a:p>
            <a:pPr marL="171450" lvl="0" indent="-171450" algn="l" rtl="0">
              <a:lnSpc>
                <a:spcPct val="100000"/>
              </a:lnSpc>
              <a:spcBef>
                <a:spcPts val="1100"/>
              </a:spcBef>
              <a:spcAft>
                <a:spcPts val="0"/>
              </a:spcAft>
              <a:buClr>
                <a:schemeClr val="dk1"/>
              </a:buClr>
              <a:buSzPts val="1000"/>
              <a:buFont typeface="Arial"/>
              <a:buChar char="•"/>
            </a:pPr>
            <a:r>
              <a:rPr lang="fr-FR"/>
              <a:t>Rassembler les Hashtags en fin de post</a:t>
            </a:r>
            <a:endParaRPr/>
          </a:p>
          <a:p>
            <a:pPr marL="171450" lvl="0" indent="-171450" algn="l" rtl="0">
              <a:lnSpc>
                <a:spcPct val="100000"/>
              </a:lnSpc>
              <a:spcBef>
                <a:spcPts val="1100"/>
              </a:spcBef>
              <a:spcAft>
                <a:spcPts val="0"/>
              </a:spcAft>
              <a:buClr>
                <a:schemeClr val="dk1"/>
              </a:buClr>
              <a:buSzPts val="1000"/>
              <a:buFont typeface="Arial"/>
              <a:buChar char="•"/>
            </a:pPr>
            <a:r>
              <a:rPr lang="fr-FR"/>
              <a:t>Séparer les Hashtags du texte principal</a:t>
            </a:r>
            <a:endParaRPr/>
          </a:p>
          <a:p>
            <a:pPr marL="171450" lvl="0" indent="-171450" algn="l" rtl="0">
              <a:lnSpc>
                <a:spcPct val="100000"/>
              </a:lnSpc>
              <a:spcBef>
                <a:spcPts val="1100"/>
              </a:spcBef>
              <a:spcAft>
                <a:spcPts val="0"/>
              </a:spcAft>
              <a:buClr>
                <a:schemeClr val="dk1"/>
              </a:buClr>
              <a:buSzPts val="1000"/>
              <a:buFont typeface="Arial"/>
              <a:buChar char="•"/>
            </a:pPr>
            <a:r>
              <a:rPr lang="fr-FR"/>
              <a:t>Maximum 2-3 Hashtags pertinents</a:t>
            </a:r>
            <a:endParaRPr/>
          </a:p>
          <a:p>
            <a:pPr marL="171450" lvl="0" indent="-171450" algn="l" rtl="0">
              <a:lnSpc>
                <a:spcPct val="100000"/>
              </a:lnSpc>
              <a:spcBef>
                <a:spcPts val="1100"/>
              </a:spcBef>
              <a:spcAft>
                <a:spcPts val="0"/>
              </a:spcAft>
              <a:buClr>
                <a:schemeClr val="dk1"/>
              </a:buClr>
              <a:buSzPts val="1000"/>
              <a:buFont typeface="Arial"/>
              <a:buChar char="•"/>
            </a:pPr>
            <a:r>
              <a:rPr lang="fr-FR"/>
              <a:t>Mettre une majuscule aux premières lettres de chaque mot d’un hashtag</a:t>
            </a:r>
            <a:endParaRPr/>
          </a:p>
          <a:p>
            <a:pPr marL="171450" lvl="0" indent="-171450" algn="l" rtl="0">
              <a:lnSpc>
                <a:spcPct val="100000"/>
              </a:lnSpc>
              <a:spcBef>
                <a:spcPts val="1100"/>
              </a:spcBef>
              <a:spcAft>
                <a:spcPts val="0"/>
              </a:spcAft>
              <a:buClr>
                <a:schemeClr val="dk1"/>
              </a:buClr>
              <a:buSzPts val="1000"/>
              <a:buFont typeface="Arial"/>
              <a:buChar char="•"/>
            </a:pPr>
            <a:r>
              <a:rPr lang="fr-FR"/>
              <a:t>Conserver les accents, exemple #numérique</a:t>
            </a:r>
            <a:endParaRPr/>
          </a:p>
          <a:p>
            <a:pPr marL="171450" lvl="0" indent="-171450" algn="l" rtl="0">
              <a:lnSpc>
                <a:spcPct val="100000"/>
              </a:lnSpc>
              <a:spcBef>
                <a:spcPts val="1100"/>
              </a:spcBef>
              <a:spcAft>
                <a:spcPts val="0"/>
              </a:spcAft>
              <a:buClr>
                <a:schemeClr val="dk1"/>
              </a:buClr>
              <a:buSzPts val="1000"/>
              <a:buFont typeface="Arial"/>
              <a:buChar char="•"/>
            </a:pPr>
            <a:r>
              <a:rPr lang="fr-FR"/>
              <a:t>Éviter les abréviations</a:t>
            </a:r>
            <a:endParaRPr/>
          </a:p>
          <a:p>
            <a:pPr marL="171450" lvl="0" indent="-171450" algn="l" rtl="0">
              <a:lnSpc>
                <a:spcPct val="100000"/>
              </a:lnSpc>
              <a:spcBef>
                <a:spcPts val="1100"/>
              </a:spcBef>
              <a:spcAft>
                <a:spcPts val="0"/>
              </a:spcAft>
              <a:buClr>
                <a:schemeClr val="dk1"/>
              </a:buClr>
              <a:buSzPts val="1000"/>
              <a:buFont typeface="Arial"/>
              <a:buChar char="•"/>
            </a:pPr>
            <a:r>
              <a:rPr lang="fr-FR"/>
              <a:t>Tester la restitution avec un lecteur d'écran</a:t>
            </a:r>
            <a:endParaRPr/>
          </a:p>
          <a:p>
            <a:pPr marL="171450" lvl="0" indent="-104775" algn="l" rtl="0">
              <a:lnSpc>
                <a:spcPct val="100000"/>
              </a:lnSpc>
              <a:spcBef>
                <a:spcPts val="1100"/>
              </a:spcBef>
              <a:spcAft>
                <a:spcPts val="0"/>
              </a:spcAft>
              <a:buClr>
                <a:schemeClr val="dk1"/>
              </a:buClr>
              <a:buSzPts val="1050"/>
              <a:buFont typeface="Arial"/>
              <a:buNone/>
            </a:pPr>
            <a:endParaRPr/>
          </a:p>
          <a:p>
            <a:pPr marL="0" lvl="0" indent="0" algn="l" rtl="0">
              <a:lnSpc>
                <a:spcPct val="100000"/>
              </a:lnSpc>
              <a:spcBef>
                <a:spcPts val="500"/>
              </a:spcBef>
              <a:spcAft>
                <a:spcPts val="0"/>
              </a:spcAft>
              <a:buClr>
                <a:schemeClr val="dk1"/>
              </a:buClr>
              <a:buSzPts val="1050"/>
              <a:buNone/>
            </a:pPr>
            <a:endParaRPr/>
          </a:p>
        </p:txBody>
      </p:sp>
      <p:sp>
        <p:nvSpPr>
          <p:cNvPr id="2285" name="Google Shape;2285;p189"/>
          <p:cNvSpPr txBox="1">
            <a:spLocks noGrp="1"/>
          </p:cNvSpPr>
          <p:nvPr>
            <p:ph type="title"/>
          </p:nvPr>
        </p:nvSpPr>
        <p:spPr>
          <a:xfrm>
            <a:off x="363471"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Format et placement des hashtags</a:t>
            </a:r>
            <a:endParaRPr/>
          </a:p>
        </p:txBody>
      </p:sp>
      <p:sp>
        <p:nvSpPr>
          <p:cNvPr id="2286" name="Google Shape;2286;p189"/>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Règles de formatage et placement des Hashtag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291"/>
        <p:cNvGrpSpPr/>
        <p:nvPr/>
      </p:nvGrpSpPr>
      <p:grpSpPr>
        <a:xfrm>
          <a:off x="0" y="0"/>
          <a:ext cx="0" cy="0"/>
          <a:chOff x="0" y="0"/>
          <a:chExt cx="0" cy="0"/>
        </a:xfrm>
      </p:grpSpPr>
      <p:sp>
        <p:nvSpPr>
          <p:cNvPr id="2292" name="Google Shape;2292;p190"/>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293" name="Google Shape;2293;p190"/>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42</a:t>
            </a:fld>
            <a:endParaRPr/>
          </a:p>
        </p:txBody>
      </p:sp>
      <p:sp>
        <p:nvSpPr>
          <p:cNvPr id="2294" name="Google Shape;2294;p190"/>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295" name="Google Shape;2295;p190"/>
          <p:cNvSpPr txBox="1">
            <a:spLocks noGrp="1"/>
          </p:cNvSpPr>
          <p:nvPr>
            <p:ph type="body" idx="2"/>
          </p:nvPr>
        </p:nvSpPr>
        <p:spPr>
          <a:xfrm>
            <a:off x="359998" y="1836000"/>
            <a:ext cx="3995978" cy="2823982"/>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Création du hashtag</a:t>
            </a:r>
            <a:endParaRPr/>
          </a:p>
          <a:p>
            <a:pPr marL="171450" lvl="0" indent="-171450" algn="l" rtl="0">
              <a:lnSpc>
                <a:spcPct val="100000"/>
              </a:lnSpc>
              <a:spcBef>
                <a:spcPts val="1100"/>
              </a:spcBef>
              <a:spcAft>
                <a:spcPts val="0"/>
              </a:spcAft>
              <a:buClr>
                <a:schemeClr val="dk1"/>
              </a:buClr>
              <a:buSzPts val="1000"/>
              <a:buFont typeface="Arial"/>
              <a:buChar char="•"/>
            </a:pPr>
            <a:r>
              <a:rPr lang="fr-FR"/>
              <a:t>En 2012, l'équipe de relations publiques de Susan Boyle crée le hashtag #susanalbumparty pour promouvoir son album "Standing Ovation".</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Mauvaise interprétation</a:t>
            </a:r>
            <a:endParaRPr/>
          </a:p>
          <a:p>
            <a:pPr marL="171450" lvl="0" indent="-171450" algn="l" rtl="0">
              <a:lnSpc>
                <a:spcPct val="100000"/>
              </a:lnSpc>
              <a:spcBef>
                <a:spcPts val="1100"/>
              </a:spcBef>
              <a:spcAft>
                <a:spcPts val="0"/>
              </a:spcAft>
              <a:buClr>
                <a:schemeClr val="dk1"/>
              </a:buClr>
              <a:buSzPts val="1000"/>
              <a:buFont typeface="Arial"/>
              <a:buChar char="•"/>
            </a:pPr>
            <a:r>
              <a:rPr lang="fr-FR"/>
              <a:t>Le hashtag est lu de manière embarrassante créant un buzz non désiré sur Twitter.</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Correction et impact</a:t>
            </a:r>
            <a:endParaRPr/>
          </a:p>
          <a:p>
            <a:pPr marL="171450" lvl="0" indent="-171450" algn="l" rtl="0">
              <a:lnSpc>
                <a:spcPct val="100000"/>
              </a:lnSpc>
              <a:spcBef>
                <a:spcPts val="1100"/>
              </a:spcBef>
              <a:spcAft>
                <a:spcPts val="0"/>
              </a:spcAft>
              <a:buClr>
                <a:schemeClr val="dk1"/>
              </a:buClr>
              <a:buSzPts val="1000"/>
              <a:buFont typeface="Arial"/>
              <a:buChar char="•"/>
            </a:pPr>
            <a:r>
              <a:rPr lang="fr-FR"/>
              <a:t>L'équipe modifie le hashtag en #SusanBoyleAlbumParty. </a:t>
            </a:r>
            <a:endParaRPr/>
          </a:p>
          <a:p>
            <a:pPr marL="171450" lvl="0" indent="-171450" algn="l" rtl="0">
              <a:lnSpc>
                <a:spcPct val="100000"/>
              </a:lnSpc>
              <a:spcBef>
                <a:spcPts val="1100"/>
              </a:spcBef>
              <a:spcAft>
                <a:spcPts val="0"/>
              </a:spcAft>
              <a:buClr>
                <a:schemeClr val="dk1"/>
              </a:buClr>
              <a:buSzPts val="1000"/>
              <a:buFont typeface="Arial"/>
              <a:buChar char="•"/>
            </a:pPr>
            <a:r>
              <a:rPr lang="fr-FR"/>
              <a:t>L'incident devient un cas d'école en marketing digital.</a:t>
            </a:r>
            <a:endParaRPr/>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50"/>
              <a:buNone/>
            </a:pPr>
            <a:endParaRPr/>
          </a:p>
        </p:txBody>
      </p:sp>
      <p:sp>
        <p:nvSpPr>
          <p:cNvPr id="2296" name="Google Shape;2296;p190"/>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b="1"/>
              <a:t>L'incident #susanalbumparty</a:t>
            </a:r>
            <a:br>
              <a:rPr lang="fr-FR" sz="2400" b="1"/>
            </a:br>
            <a:endParaRPr sz="2400"/>
          </a:p>
        </p:txBody>
      </p:sp>
      <p:sp>
        <p:nvSpPr>
          <p:cNvPr id="2297" name="Google Shape;2297;p190"/>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Ou de l’importance de bien formater ses Hashtags</a:t>
            </a:r>
            <a:endParaRPr/>
          </a:p>
        </p:txBody>
      </p:sp>
      <p:pic>
        <p:nvPicPr>
          <p:cNvPr id="2298" name="Google Shape;2298;p190" descr="Tweet de promotion de l'album de Susan Doyle's avec le hashtag mal formaté"/>
          <p:cNvPicPr preferRelativeResize="0"/>
          <p:nvPr/>
        </p:nvPicPr>
        <p:blipFill rotWithShape="1">
          <a:blip r:embed="rId3">
            <a:alphaModFix/>
          </a:blip>
          <a:srcRect/>
          <a:stretch/>
        </p:blipFill>
        <p:spPr>
          <a:xfrm>
            <a:off x="4788023" y="2196536"/>
            <a:ext cx="3734544" cy="191535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303"/>
        <p:cNvGrpSpPr/>
        <p:nvPr/>
      </p:nvGrpSpPr>
      <p:grpSpPr>
        <a:xfrm>
          <a:off x="0" y="0"/>
          <a:ext cx="0" cy="0"/>
          <a:chOff x="0" y="0"/>
          <a:chExt cx="0" cy="0"/>
        </a:xfrm>
      </p:grpSpPr>
      <p:sp>
        <p:nvSpPr>
          <p:cNvPr id="2304" name="Google Shape;2304;p191"/>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305" name="Google Shape;2305;p191"/>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43</a:t>
            </a:fld>
            <a:endParaRPr/>
          </a:p>
        </p:txBody>
      </p:sp>
      <p:sp>
        <p:nvSpPr>
          <p:cNvPr id="2306" name="Google Shape;2306;p191"/>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307" name="Google Shape;2307;p191"/>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Bonnes pratiques</a:t>
            </a:r>
            <a:endParaRPr/>
          </a:p>
          <a:p>
            <a:pPr marL="171450" lvl="0" indent="-171450" algn="l" rtl="0">
              <a:lnSpc>
                <a:spcPct val="100000"/>
              </a:lnSpc>
              <a:spcBef>
                <a:spcPts val="1100"/>
              </a:spcBef>
              <a:spcAft>
                <a:spcPts val="0"/>
              </a:spcAft>
              <a:buClr>
                <a:schemeClr val="dk1"/>
              </a:buClr>
              <a:buSzPts val="1000"/>
              <a:buFont typeface="Arial"/>
              <a:buChar char="•"/>
            </a:pPr>
            <a:r>
              <a:rPr lang="fr-FR"/>
              <a:t>Texte du lien descriptif</a:t>
            </a:r>
            <a:endParaRPr/>
          </a:p>
          <a:p>
            <a:pPr marL="171450" lvl="0" indent="-171450" algn="l" rtl="0">
              <a:lnSpc>
                <a:spcPct val="100000"/>
              </a:lnSpc>
              <a:spcBef>
                <a:spcPts val="1100"/>
              </a:spcBef>
              <a:spcAft>
                <a:spcPts val="0"/>
              </a:spcAft>
              <a:buClr>
                <a:schemeClr val="dk1"/>
              </a:buClr>
              <a:buSzPts val="1000"/>
              <a:buFont typeface="Arial"/>
              <a:buChar char="•"/>
            </a:pPr>
            <a:r>
              <a:rPr lang="fr-FR"/>
              <a:t>Contexte suffisant</a:t>
            </a:r>
            <a:endParaRPr/>
          </a:p>
          <a:p>
            <a:pPr marL="171450" lvl="0" indent="-171450" algn="l" rtl="0">
              <a:lnSpc>
                <a:spcPct val="100000"/>
              </a:lnSpc>
              <a:spcBef>
                <a:spcPts val="1100"/>
              </a:spcBef>
              <a:spcAft>
                <a:spcPts val="0"/>
              </a:spcAft>
              <a:buClr>
                <a:schemeClr val="dk1"/>
              </a:buClr>
              <a:buSzPts val="1000"/>
              <a:buFont typeface="Arial"/>
              <a:buChar char="•"/>
            </a:pPr>
            <a:r>
              <a:rPr lang="fr-FR"/>
              <a:t>Indication de destination</a:t>
            </a:r>
            <a:endParaRPr/>
          </a:p>
          <a:p>
            <a:pPr marL="0" lvl="0" indent="0" algn="l" rtl="0">
              <a:lnSpc>
                <a:spcPct val="100000"/>
              </a:lnSpc>
              <a:spcBef>
                <a:spcPts val="1700"/>
              </a:spcBef>
              <a:spcAft>
                <a:spcPts val="0"/>
              </a:spcAft>
              <a:buClr>
                <a:schemeClr val="dk2"/>
              </a:buClr>
              <a:buSzPts val="1000"/>
              <a:buNone/>
            </a:pPr>
            <a:r>
              <a:rPr lang="fr-FR" b="1">
                <a:solidFill>
                  <a:schemeClr val="dk2"/>
                </a:solidFill>
              </a:rPr>
              <a:t>Exemple :</a:t>
            </a:r>
            <a:endParaRPr/>
          </a:p>
          <a:p>
            <a:pPr marL="171450" lvl="0" indent="-171450" algn="l" rtl="0">
              <a:lnSpc>
                <a:spcPct val="100000"/>
              </a:lnSpc>
              <a:spcBef>
                <a:spcPts val="1100"/>
              </a:spcBef>
              <a:spcAft>
                <a:spcPts val="0"/>
              </a:spcAft>
              <a:buClr>
                <a:schemeClr val="dk1"/>
              </a:buClr>
              <a:buSzPts val="1000"/>
              <a:buFont typeface="Arial"/>
              <a:buChar char="•"/>
            </a:pPr>
            <a:r>
              <a:rPr lang="fr-FR"/>
              <a:t>❌ Pour plus d'informations, cliquez ici</a:t>
            </a:r>
            <a:endParaRPr/>
          </a:p>
          <a:p>
            <a:pPr marL="171450" lvl="0" indent="-171450" algn="l" rtl="0">
              <a:lnSpc>
                <a:spcPct val="100000"/>
              </a:lnSpc>
              <a:spcBef>
                <a:spcPts val="1100"/>
              </a:spcBef>
              <a:spcAft>
                <a:spcPts val="0"/>
              </a:spcAft>
              <a:buClr>
                <a:schemeClr val="dk1"/>
              </a:buClr>
              <a:buSzPts val="1000"/>
              <a:buFont typeface="Arial"/>
              <a:buChar char="•"/>
            </a:pPr>
            <a:r>
              <a:rPr lang="fr-FR"/>
              <a:t>✅ Consultez notre guide d'accessibilité numérique</a:t>
            </a:r>
            <a:endParaRPr/>
          </a:p>
        </p:txBody>
      </p:sp>
      <p:sp>
        <p:nvSpPr>
          <p:cNvPr id="2308" name="Google Shape;2308;p191"/>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À éviter</a:t>
            </a:r>
            <a:endParaRPr/>
          </a:p>
          <a:p>
            <a:pPr marL="171450" lvl="0" indent="-171450" algn="l" rtl="0">
              <a:lnSpc>
                <a:spcPct val="100000"/>
              </a:lnSpc>
              <a:spcBef>
                <a:spcPts val="1100"/>
              </a:spcBef>
              <a:spcAft>
                <a:spcPts val="0"/>
              </a:spcAft>
              <a:buClr>
                <a:schemeClr val="dk1"/>
              </a:buClr>
              <a:buSzPts val="1000"/>
              <a:buFont typeface="Arial"/>
              <a:buChar char="•"/>
            </a:pPr>
            <a:r>
              <a:rPr lang="fr-FR"/>
              <a:t>Cliquez ici</a:t>
            </a:r>
            <a:endParaRPr/>
          </a:p>
          <a:p>
            <a:pPr marL="171450" lvl="0" indent="-171450" algn="l" rtl="0">
              <a:lnSpc>
                <a:spcPct val="100000"/>
              </a:lnSpc>
              <a:spcBef>
                <a:spcPts val="1100"/>
              </a:spcBef>
              <a:spcAft>
                <a:spcPts val="0"/>
              </a:spcAft>
              <a:buClr>
                <a:schemeClr val="dk1"/>
              </a:buClr>
              <a:buSzPts val="1000"/>
              <a:buFont typeface="Arial"/>
              <a:buChar char="•"/>
            </a:pPr>
            <a:r>
              <a:rPr lang="fr-FR"/>
              <a:t>En savoir plus</a:t>
            </a:r>
            <a:endParaRPr/>
          </a:p>
          <a:p>
            <a:pPr marL="171450" lvl="0" indent="-171450" algn="l" rtl="0">
              <a:lnSpc>
                <a:spcPct val="100000"/>
              </a:lnSpc>
              <a:spcBef>
                <a:spcPts val="1100"/>
              </a:spcBef>
              <a:spcAft>
                <a:spcPts val="0"/>
              </a:spcAft>
              <a:buClr>
                <a:schemeClr val="dk1"/>
              </a:buClr>
              <a:buSzPts val="1000"/>
              <a:buFont typeface="Arial"/>
              <a:buChar char="•"/>
            </a:pPr>
            <a:r>
              <a:rPr lang="fr-FR"/>
              <a:t>Liens sans contexte</a:t>
            </a:r>
            <a:endParaRPr/>
          </a:p>
        </p:txBody>
      </p:sp>
      <p:sp>
        <p:nvSpPr>
          <p:cNvPr id="2309" name="Google Shape;2309;p191"/>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Liens accessibles</a:t>
            </a:r>
            <a:endParaRPr/>
          </a:p>
        </p:txBody>
      </p:sp>
      <p:sp>
        <p:nvSpPr>
          <p:cNvPr id="2310" name="Google Shape;2310;p191"/>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Rendre les liens accessibles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315"/>
        <p:cNvGrpSpPr/>
        <p:nvPr/>
      </p:nvGrpSpPr>
      <p:grpSpPr>
        <a:xfrm>
          <a:off x="0" y="0"/>
          <a:ext cx="0" cy="0"/>
          <a:chOff x="0" y="0"/>
          <a:chExt cx="0" cy="0"/>
        </a:xfrm>
      </p:grpSpPr>
      <p:sp>
        <p:nvSpPr>
          <p:cNvPr id="2316" name="Google Shape;2316;p192"/>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317" name="Google Shape;2317;p192"/>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44</a:t>
            </a:fld>
            <a:endParaRPr/>
          </a:p>
        </p:txBody>
      </p:sp>
      <p:sp>
        <p:nvSpPr>
          <p:cNvPr id="2318" name="Google Shape;2318;p192"/>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319" name="Google Shape;2319;p192"/>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Problèmes d'accessibilité des GIFs :</a:t>
            </a:r>
            <a:endParaRPr/>
          </a:p>
          <a:p>
            <a:pPr marL="171450" lvl="0" indent="-171450" algn="l" rtl="0">
              <a:lnSpc>
                <a:spcPct val="100000"/>
              </a:lnSpc>
              <a:spcBef>
                <a:spcPts val="1100"/>
              </a:spcBef>
              <a:spcAft>
                <a:spcPts val="0"/>
              </a:spcAft>
              <a:buClr>
                <a:schemeClr val="dk1"/>
              </a:buClr>
              <a:buSzPts val="1000"/>
              <a:buFont typeface="Arial"/>
              <a:buChar char="•"/>
            </a:pPr>
            <a:r>
              <a:rPr lang="fr-FR"/>
              <a:t>Difficulté de navigation pour les utilisateurs ayant des troubles de l’attention. </a:t>
            </a:r>
            <a:endParaRPr/>
          </a:p>
          <a:p>
            <a:pPr marL="171450" lvl="0" indent="-171450" algn="l" rtl="0">
              <a:lnSpc>
                <a:spcPct val="100000"/>
              </a:lnSpc>
              <a:spcBef>
                <a:spcPts val="1100"/>
              </a:spcBef>
              <a:spcAft>
                <a:spcPts val="0"/>
              </a:spcAft>
              <a:buClr>
                <a:schemeClr val="dk1"/>
              </a:buClr>
              <a:buSzPts val="1000"/>
              <a:buFont typeface="Arial"/>
              <a:buChar char="•"/>
            </a:pPr>
            <a:r>
              <a:rPr lang="fr-FR"/>
              <a:t>Peu de réseaux sociaux permettre de mettre en pause.</a:t>
            </a:r>
            <a:endParaRPr/>
          </a:p>
          <a:p>
            <a:pPr marL="171450" lvl="0" indent="-171450" algn="l" rtl="0">
              <a:lnSpc>
                <a:spcPct val="100000"/>
              </a:lnSpc>
              <a:spcBef>
                <a:spcPts val="1100"/>
              </a:spcBef>
              <a:spcAft>
                <a:spcPts val="0"/>
              </a:spcAft>
              <a:buClr>
                <a:schemeClr val="dk1"/>
              </a:buClr>
              <a:buSzPts val="1000"/>
              <a:buFont typeface="Arial"/>
              <a:buChar char="•"/>
            </a:pPr>
            <a:r>
              <a:rPr lang="fr-FR"/>
              <a:t>Difficulté de perception pour les personnes qui utilisent une synthèse vocale. </a:t>
            </a:r>
            <a:endParaRPr/>
          </a:p>
          <a:p>
            <a:pPr marL="171450" lvl="0" indent="-171450" algn="l" rtl="0">
              <a:lnSpc>
                <a:spcPct val="100000"/>
              </a:lnSpc>
              <a:spcBef>
                <a:spcPts val="1100"/>
              </a:spcBef>
              <a:spcAft>
                <a:spcPts val="0"/>
              </a:spcAft>
              <a:buClr>
                <a:schemeClr val="dk1"/>
              </a:buClr>
              <a:buSzPts val="1000"/>
              <a:buFont typeface="Arial"/>
              <a:buChar char="•"/>
            </a:pPr>
            <a:r>
              <a:rPr lang="fr-FR"/>
              <a:t>Actuellement, peu de réseaux permettent de renseigner des alternatives aux GIF.</a:t>
            </a:r>
            <a:endParaRPr/>
          </a:p>
          <a:p>
            <a:pPr marL="171450" lvl="0" indent="-171450" algn="l" rtl="0">
              <a:lnSpc>
                <a:spcPct val="100000"/>
              </a:lnSpc>
              <a:spcBef>
                <a:spcPts val="1100"/>
              </a:spcBef>
              <a:spcAft>
                <a:spcPts val="0"/>
              </a:spcAft>
              <a:buClr>
                <a:schemeClr val="dk1"/>
              </a:buClr>
              <a:buSzPts val="1000"/>
              <a:buFont typeface="Arial"/>
              <a:buChar char="•"/>
            </a:pPr>
            <a:r>
              <a:rPr lang="fr-FR"/>
              <a:t>Seul Twitter permet aux utilisateurs de mettre les GIF en pause.</a:t>
            </a:r>
            <a:endParaRPr/>
          </a:p>
        </p:txBody>
      </p:sp>
      <p:sp>
        <p:nvSpPr>
          <p:cNvPr id="2320" name="Google Shape;2320;p192"/>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Solutions :</a:t>
            </a:r>
            <a:endParaRPr/>
          </a:p>
          <a:p>
            <a:pPr marL="171450" lvl="0" indent="-171450" algn="l" rtl="0">
              <a:lnSpc>
                <a:spcPct val="100000"/>
              </a:lnSpc>
              <a:spcBef>
                <a:spcPts val="1100"/>
              </a:spcBef>
              <a:spcAft>
                <a:spcPts val="0"/>
              </a:spcAft>
              <a:buClr>
                <a:schemeClr val="dk1"/>
              </a:buClr>
              <a:buSzPts val="1000"/>
              <a:buFont typeface="Arial"/>
              <a:buChar char="•"/>
            </a:pPr>
            <a:r>
              <a:rPr lang="fr-FR"/>
              <a:t>Éviter les GIFs animés</a:t>
            </a:r>
            <a:endParaRPr/>
          </a:p>
          <a:p>
            <a:pPr marL="171450" lvl="0" indent="-171450" algn="l" rtl="0">
              <a:lnSpc>
                <a:spcPct val="100000"/>
              </a:lnSpc>
              <a:spcBef>
                <a:spcPts val="1100"/>
              </a:spcBef>
              <a:spcAft>
                <a:spcPts val="0"/>
              </a:spcAft>
              <a:buClr>
                <a:schemeClr val="dk1"/>
              </a:buClr>
              <a:buSzPts val="1000"/>
              <a:buFont typeface="Arial"/>
              <a:buChar char="•"/>
            </a:pPr>
            <a:r>
              <a:rPr lang="fr-FR"/>
              <a:t>Préférer les images statiques</a:t>
            </a:r>
            <a:endParaRPr/>
          </a:p>
          <a:p>
            <a:pPr marL="171450" lvl="0" indent="-171450" algn="l" rtl="0">
              <a:lnSpc>
                <a:spcPct val="100000"/>
              </a:lnSpc>
              <a:spcBef>
                <a:spcPts val="1100"/>
              </a:spcBef>
              <a:spcAft>
                <a:spcPts val="0"/>
              </a:spcAft>
              <a:buClr>
                <a:schemeClr val="dk1"/>
              </a:buClr>
              <a:buSzPts val="1000"/>
              <a:buFont typeface="Arial"/>
              <a:buChar char="•"/>
            </a:pPr>
            <a:r>
              <a:rPr lang="fr-FR"/>
              <a:t>Si nécessaire, fournir une alternative</a:t>
            </a:r>
            <a:endParaRPr/>
          </a:p>
          <a:p>
            <a:pPr marL="0" lvl="0" indent="0" algn="l" rtl="0">
              <a:lnSpc>
                <a:spcPct val="100000"/>
              </a:lnSpc>
              <a:spcBef>
                <a:spcPts val="500"/>
              </a:spcBef>
              <a:spcAft>
                <a:spcPts val="0"/>
              </a:spcAft>
              <a:buClr>
                <a:schemeClr val="dk1"/>
              </a:buClr>
              <a:buSzPts val="1050"/>
              <a:buNone/>
            </a:pPr>
            <a:endParaRPr/>
          </a:p>
        </p:txBody>
      </p:sp>
      <p:sp>
        <p:nvSpPr>
          <p:cNvPr id="2321" name="Google Shape;2321;p192"/>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GIFs animés et leurs problèmes</a:t>
            </a:r>
            <a:endParaRPr/>
          </a:p>
        </p:txBody>
      </p:sp>
      <p:sp>
        <p:nvSpPr>
          <p:cNvPr id="2322" name="Google Shape;2322;p192"/>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Éviter les gifs animés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326"/>
        <p:cNvGrpSpPr/>
        <p:nvPr/>
      </p:nvGrpSpPr>
      <p:grpSpPr>
        <a:xfrm>
          <a:off x="0" y="0"/>
          <a:ext cx="0" cy="0"/>
          <a:chOff x="0" y="0"/>
          <a:chExt cx="0" cy="0"/>
        </a:xfrm>
      </p:grpSpPr>
      <p:sp>
        <p:nvSpPr>
          <p:cNvPr id="2327" name="Google Shape;2327;p193"/>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328" name="Google Shape;2328;p193"/>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45</a:t>
            </a:fld>
            <a:endParaRPr/>
          </a:p>
        </p:txBody>
      </p:sp>
      <p:sp>
        <p:nvSpPr>
          <p:cNvPr id="2329" name="Google Shape;2329;p193"/>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330" name="Google Shape;2330;p193"/>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Recommandé</a:t>
            </a:r>
            <a:endParaRPr/>
          </a:p>
          <a:p>
            <a:pPr marL="171450" lvl="0" indent="-171450" algn="l" rtl="0">
              <a:lnSpc>
                <a:spcPct val="100000"/>
              </a:lnSpc>
              <a:spcBef>
                <a:spcPts val="1100"/>
              </a:spcBef>
              <a:spcAft>
                <a:spcPts val="0"/>
              </a:spcAft>
              <a:buClr>
                <a:schemeClr val="dk1"/>
              </a:buClr>
              <a:buSzPts val="1000"/>
              <a:buFont typeface="Arial"/>
              <a:buChar char="•"/>
            </a:pPr>
            <a:r>
              <a:rPr lang="fr-FR"/>
              <a:t>Mots épicènes : les personnes</a:t>
            </a:r>
            <a:endParaRPr/>
          </a:p>
          <a:p>
            <a:pPr marL="171450" lvl="0" indent="-171450" algn="l" rtl="0">
              <a:lnSpc>
                <a:spcPct val="100000"/>
              </a:lnSpc>
              <a:spcBef>
                <a:spcPts val="1100"/>
              </a:spcBef>
              <a:spcAft>
                <a:spcPts val="0"/>
              </a:spcAft>
              <a:buClr>
                <a:schemeClr val="dk1"/>
              </a:buClr>
              <a:buSzPts val="1000"/>
              <a:buFont typeface="Arial"/>
              <a:buChar char="•"/>
            </a:pPr>
            <a:r>
              <a:rPr lang="fr-FR"/>
              <a:t>Formules englobantes : les responsables des achats</a:t>
            </a:r>
            <a:endParaRPr/>
          </a:p>
          <a:p>
            <a:pPr marL="171450" lvl="0" indent="-171450" algn="l" rtl="0">
              <a:lnSpc>
                <a:spcPct val="100000"/>
              </a:lnSpc>
              <a:spcBef>
                <a:spcPts val="1100"/>
              </a:spcBef>
              <a:spcAft>
                <a:spcPts val="0"/>
              </a:spcAft>
              <a:buClr>
                <a:schemeClr val="dk1"/>
              </a:buClr>
              <a:buSzPts val="1000"/>
              <a:buFont typeface="Arial"/>
              <a:buChar char="•"/>
            </a:pPr>
            <a:r>
              <a:rPr lang="fr-FR"/>
              <a:t>Écriture décomposée : les développeuses et développeurs</a:t>
            </a:r>
            <a:endParaRPr/>
          </a:p>
        </p:txBody>
      </p:sp>
      <p:sp>
        <p:nvSpPr>
          <p:cNvPr id="2331" name="Google Shape;2331;p193"/>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À éviter</a:t>
            </a:r>
            <a:endParaRPr/>
          </a:p>
          <a:p>
            <a:pPr marL="171450" lvl="0" indent="-171450" algn="l" rtl="0">
              <a:lnSpc>
                <a:spcPct val="100000"/>
              </a:lnSpc>
              <a:spcBef>
                <a:spcPts val="1100"/>
              </a:spcBef>
              <a:spcAft>
                <a:spcPts val="0"/>
              </a:spcAft>
              <a:buClr>
                <a:schemeClr val="dk1"/>
              </a:buClr>
              <a:buSzPts val="1000"/>
              <a:buFont typeface="Arial"/>
              <a:buChar char="•"/>
            </a:pPr>
            <a:r>
              <a:rPr lang="fr-FR"/>
              <a:t>Points médians multiples</a:t>
            </a:r>
            <a:endParaRPr/>
          </a:p>
          <a:p>
            <a:pPr marL="171450" lvl="0" indent="-171450" algn="l" rtl="0">
              <a:lnSpc>
                <a:spcPct val="100000"/>
              </a:lnSpc>
              <a:spcBef>
                <a:spcPts val="1100"/>
              </a:spcBef>
              <a:spcAft>
                <a:spcPts val="0"/>
              </a:spcAft>
              <a:buClr>
                <a:schemeClr val="dk1"/>
              </a:buClr>
              <a:buSzPts val="1000"/>
              <a:buFont typeface="Arial"/>
              <a:buChar char="•"/>
            </a:pPr>
            <a:r>
              <a:rPr lang="fr-FR"/>
              <a:t>Constructions complexes</a:t>
            </a:r>
            <a:endParaRPr/>
          </a:p>
          <a:p>
            <a:pPr marL="171450" lvl="0" indent="-171450" algn="l" rtl="0">
              <a:lnSpc>
                <a:spcPct val="100000"/>
              </a:lnSpc>
              <a:spcBef>
                <a:spcPts val="1100"/>
              </a:spcBef>
              <a:spcAft>
                <a:spcPts val="0"/>
              </a:spcAft>
              <a:buClr>
                <a:schemeClr val="dk1"/>
              </a:buClr>
              <a:buSzPts val="1000"/>
              <a:buFont typeface="Arial"/>
              <a:buChar char="•"/>
            </a:pPr>
            <a:r>
              <a:rPr lang="fr-FR"/>
              <a:t>Abréviations non standards</a:t>
            </a:r>
            <a:endParaRPr/>
          </a:p>
          <a:p>
            <a:pPr marL="0" lvl="0" indent="0" algn="l" rtl="0">
              <a:lnSpc>
                <a:spcPct val="100000"/>
              </a:lnSpc>
              <a:spcBef>
                <a:spcPts val="500"/>
              </a:spcBef>
              <a:spcAft>
                <a:spcPts val="0"/>
              </a:spcAft>
              <a:buClr>
                <a:schemeClr val="dk1"/>
              </a:buClr>
              <a:buSzPts val="1050"/>
              <a:buNone/>
            </a:pPr>
            <a:endParaRPr/>
          </a:p>
        </p:txBody>
      </p:sp>
      <p:sp>
        <p:nvSpPr>
          <p:cNvPr id="2332" name="Google Shape;2332;p193"/>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500"/>
              <a:buFont typeface="Arial"/>
              <a:buNone/>
            </a:pPr>
            <a:r>
              <a:rPr lang="fr-FR"/>
              <a:t>Écriture </a:t>
            </a:r>
            <a:r>
              <a:rPr lang="fr-FR" sz="2400"/>
              <a:t>inclusive</a:t>
            </a:r>
            <a:r>
              <a:rPr lang="fr-FR"/>
              <a:t> et accessibilité</a:t>
            </a:r>
            <a:endParaRPr/>
          </a:p>
        </p:txBody>
      </p:sp>
      <p:sp>
        <p:nvSpPr>
          <p:cNvPr id="2333" name="Google Shape;2333;p193"/>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Stratégies d'écriture inclusive accessible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37"/>
        <p:cNvGrpSpPr/>
        <p:nvPr/>
      </p:nvGrpSpPr>
      <p:grpSpPr>
        <a:xfrm>
          <a:off x="0" y="0"/>
          <a:ext cx="0" cy="0"/>
          <a:chOff x="0" y="0"/>
          <a:chExt cx="0" cy="0"/>
        </a:xfrm>
      </p:grpSpPr>
      <p:sp>
        <p:nvSpPr>
          <p:cNvPr id="2338" name="Google Shape;2338;p194"/>
          <p:cNvSpPr txBox="1">
            <a:spLocks noGrp="1"/>
          </p:cNvSpPr>
          <p:nvPr>
            <p:ph type="title"/>
          </p:nvPr>
        </p:nvSpPr>
        <p:spPr>
          <a:xfrm>
            <a:off x="0" y="0"/>
            <a:ext cx="180000" cy="1800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100"/>
              <a:buFont typeface="Arial"/>
              <a:buNone/>
            </a:pPr>
            <a:endParaRPr/>
          </a:p>
        </p:txBody>
      </p:sp>
      <p:sp>
        <p:nvSpPr>
          <p:cNvPr id="2339" name="Google Shape;2339;p194"/>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46</a:t>
            </a:fld>
            <a:endParaRPr/>
          </a:p>
        </p:txBody>
      </p:sp>
      <p:sp>
        <p:nvSpPr>
          <p:cNvPr id="2340" name="Google Shape;2340;p194"/>
          <p:cNvSpPr txBox="1">
            <a:spLocks noGrp="1"/>
          </p:cNvSpPr>
          <p:nvPr>
            <p:ph type="body" idx="1"/>
          </p:nvPr>
        </p:nvSpPr>
        <p:spPr>
          <a:xfrm>
            <a:off x="360000" y="2346046"/>
            <a:ext cx="8424000" cy="1181646"/>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200"/>
              <a:buNone/>
            </a:pPr>
            <a:r>
              <a:rPr lang="fr-FR"/>
              <a:t>Section texte et mise en forme</a:t>
            </a:r>
            <a:endParaRPr/>
          </a:p>
        </p:txBody>
      </p:sp>
      <p:sp>
        <p:nvSpPr>
          <p:cNvPr id="2341" name="Google Shape;2341;p194"/>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346"/>
        <p:cNvGrpSpPr/>
        <p:nvPr/>
      </p:nvGrpSpPr>
      <p:grpSpPr>
        <a:xfrm>
          <a:off x="0" y="0"/>
          <a:ext cx="0" cy="0"/>
          <a:chOff x="0" y="0"/>
          <a:chExt cx="0" cy="0"/>
        </a:xfrm>
      </p:grpSpPr>
      <p:sp>
        <p:nvSpPr>
          <p:cNvPr id="2347" name="Google Shape;2347;p195"/>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348" name="Google Shape;2348;p195"/>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47</a:t>
            </a:fld>
            <a:endParaRPr/>
          </a:p>
        </p:txBody>
      </p:sp>
      <p:sp>
        <p:nvSpPr>
          <p:cNvPr id="2349" name="Google Shape;2349;p195"/>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350" name="Google Shape;2350;p195"/>
          <p:cNvSpPr txBox="1">
            <a:spLocks noGrp="1"/>
          </p:cNvSpPr>
          <p:nvPr>
            <p:ph type="body" idx="2"/>
          </p:nvPr>
        </p:nvSpPr>
        <p:spPr>
          <a:xfrm>
            <a:off x="359998" y="1836000"/>
            <a:ext cx="3995978" cy="2947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Les principes de base :</a:t>
            </a:r>
            <a:endParaRPr/>
          </a:p>
          <a:p>
            <a:pPr marL="171450" lvl="0" indent="-171450" algn="l" rtl="0">
              <a:lnSpc>
                <a:spcPct val="100000"/>
              </a:lnSpc>
              <a:spcBef>
                <a:spcPts val="1100"/>
              </a:spcBef>
              <a:spcAft>
                <a:spcPts val="0"/>
              </a:spcAft>
              <a:buClr>
                <a:schemeClr val="dk1"/>
              </a:buClr>
              <a:buSzPts val="1000"/>
              <a:buFont typeface="Arial"/>
              <a:buChar char="•"/>
            </a:pPr>
            <a:r>
              <a:rPr lang="fr-FR"/>
              <a:t>Polices sans empattement (sans-serif)</a:t>
            </a:r>
            <a:endParaRPr/>
          </a:p>
          <a:p>
            <a:pPr marL="171450" lvl="0" indent="-171450" algn="l" rtl="0">
              <a:lnSpc>
                <a:spcPct val="100000"/>
              </a:lnSpc>
              <a:spcBef>
                <a:spcPts val="1100"/>
              </a:spcBef>
              <a:spcAft>
                <a:spcPts val="0"/>
              </a:spcAft>
              <a:buClr>
                <a:schemeClr val="dk1"/>
              </a:buClr>
              <a:buSzPts val="1000"/>
              <a:buFont typeface="Arial"/>
              <a:buChar char="•"/>
            </a:pPr>
            <a:r>
              <a:rPr lang="fr-FR"/>
              <a:t>Taille suffisante</a:t>
            </a:r>
            <a:endParaRPr/>
          </a:p>
          <a:p>
            <a:pPr marL="171450" lvl="0" indent="-171450" algn="l" rtl="0">
              <a:lnSpc>
                <a:spcPct val="100000"/>
              </a:lnSpc>
              <a:spcBef>
                <a:spcPts val="1100"/>
              </a:spcBef>
              <a:spcAft>
                <a:spcPts val="0"/>
              </a:spcAft>
              <a:buClr>
                <a:schemeClr val="dk1"/>
              </a:buClr>
              <a:buSzPts val="1000"/>
              <a:buFont typeface="Arial"/>
              <a:buChar char="•"/>
            </a:pPr>
            <a:r>
              <a:rPr lang="fr-FR"/>
              <a:t>Pas de polices stylisées</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Focus sur les confusions fréquentes</a:t>
            </a:r>
            <a:endParaRPr/>
          </a:p>
          <a:p>
            <a:pPr marL="171450" lvl="0" indent="-171450" algn="l" rtl="0">
              <a:lnSpc>
                <a:spcPct val="100000"/>
              </a:lnSpc>
              <a:spcBef>
                <a:spcPts val="1100"/>
              </a:spcBef>
              <a:spcAft>
                <a:spcPts val="0"/>
              </a:spcAft>
              <a:buClr>
                <a:schemeClr val="dk1"/>
              </a:buClr>
              <a:buSzPts val="1000"/>
              <a:buFont typeface="Arial"/>
              <a:buChar char="•"/>
            </a:pPr>
            <a:r>
              <a:rPr lang="fr-FR"/>
              <a:t>I1lijJ - montrer la différence</a:t>
            </a:r>
            <a:endParaRPr/>
          </a:p>
          <a:p>
            <a:pPr marL="171450" lvl="0" indent="-171450" algn="l" rtl="0">
              <a:lnSpc>
                <a:spcPct val="100000"/>
              </a:lnSpc>
              <a:spcBef>
                <a:spcPts val="1100"/>
              </a:spcBef>
              <a:spcAft>
                <a:spcPts val="0"/>
              </a:spcAft>
              <a:buClr>
                <a:schemeClr val="dk1"/>
              </a:buClr>
              <a:buSzPts val="1000"/>
              <a:buFont typeface="Arial"/>
              <a:buChar char="•"/>
            </a:pPr>
            <a:r>
              <a:rPr lang="fr-FR"/>
              <a:t>rnm - impact sur la lecture</a:t>
            </a:r>
            <a:endParaRPr/>
          </a:p>
          <a:p>
            <a:pPr marL="171450" lvl="0" indent="-171450" algn="l" rtl="0">
              <a:lnSpc>
                <a:spcPct val="100000"/>
              </a:lnSpc>
              <a:spcBef>
                <a:spcPts val="1100"/>
              </a:spcBef>
              <a:spcAft>
                <a:spcPts val="0"/>
              </a:spcAft>
              <a:buClr>
                <a:schemeClr val="dk1"/>
              </a:buClr>
              <a:buSzPts val="1000"/>
              <a:buFont typeface="Arial"/>
              <a:buChar char="•"/>
            </a:pPr>
            <a:r>
              <a:rPr lang="fr-FR"/>
              <a:t>dpbq - orientation des lettres</a:t>
            </a:r>
            <a:endParaRPr/>
          </a:p>
          <a:p>
            <a:pPr marL="0" lvl="0" indent="0" algn="l" rtl="0">
              <a:lnSpc>
                <a:spcPct val="100000"/>
              </a:lnSpc>
              <a:spcBef>
                <a:spcPts val="1100"/>
              </a:spcBef>
              <a:spcAft>
                <a:spcPts val="0"/>
              </a:spcAft>
              <a:buClr>
                <a:schemeClr val="dk1"/>
              </a:buClr>
              <a:buSzPts val="1050"/>
              <a:buNone/>
            </a:pPr>
            <a:endParaRPr/>
          </a:p>
        </p:txBody>
      </p:sp>
      <p:sp>
        <p:nvSpPr>
          <p:cNvPr id="2351" name="Google Shape;2351;p195"/>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Recommandations quand c'est possible</a:t>
            </a:r>
            <a:endParaRPr/>
          </a:p>
          <a:p>
            <a:pPr marL="0" lvl="0" indent="0" algn="l" rtl="0">
              <a:lnSpc>
                <a:spcPct val="100000"/>
              </a:lnSpc>
              <a:spcBef>
                <a:spcPts val="1100"/>
              </a:spcBef>
              <a:spcAft>
                <a:spcPts val="0"/>
              </a:spcAft>
              <a:buClr>
                <a:schemeClr val="dk1"/>
              </a:buClr>
              <a:buSzPts val="1000"/>
              <a:buNone/>
            </a:pPr>
            <a:r>
              <a:rPr lang="fr-FR"/>
              <a:t>Pas toujours possible sur le RS</a:t>
            </a:r>
            <a:endParaRPr/>
          </a:p>
          <a:p>
            <a:pPr marL="171450" lvl="0" indent="-171450" algn="l" rtl="0">
              <a:lnSpc>
                <a:spcPct val="100000"/>
              </a:lnSpc>
              <a:spcBef>
                <a:spcPts val="1100"/>
              </a:spcBef>
              <a:spcAft>
                <a:spcPts val="0"/>
              </a:spcAft>
              <a:buClr>
                <a:schemeClr val="dk1"/>
              </a:buClr>
              <a:buSzPts val="1000"/>
              <a:buFont typeface="Arial"/>
              <a:buChar char="•"/>
            </a:pPr>
            <a:r>
              <a:rPr lang="fr-FR"/>
              <a:t>Police Marianne® (administration)</a:t>
            </a:r>
            <a:endParaRPr/>
          </a:p>
          <a:p>
            <a:pPr marL="171450" lvl="0" indent="-171450" algn="l" rtl="0">
              <a:lnSpc>
                <a:spcPct val="100000"/>
              </a:lnSpc>
              <a:spcBef>
                <a:spcPts val="1100"/>
              </a:spcBef>
              <a:spcAft>
                <a:spcPts val="0"/>
              </a:spcAft>
              <a:buClr>
                <a:schemeClr val="dk1"/>
              </a:buClr>
              <a:buSzPts val="1000"/>
              <a:buFont typeface="Arial"/>
              <a:buChar char="•"/>
            </a:pPr>
            <a:r>
              <a:rPr lang="fr-FR"/>
              <a:t>Arial (alternative)</a:t>
            </a:r>
            <a:endParaRPr/>
          </a:p>
          <a:p>
            <a:pPr marL="171450" lvl="0" indent="-171450" algn="l" rtl="0">
              <a:lnSpc>
                <a:spcPct val="100000"/>
              </a:lnSpc>
              <a:spcBef>
                <a:spcPts val="1100"/>
              </a:spcBef>
              <a:spcAft>
                <a:spcPts val="0"/>
              </a:spcAft>
              <a:buClr>
                <a:schemeClr val="dk1"/>
              </a:buClr>
              <a:buSzPts val="1000"/>
              <a:buFont typeface="Arial"/>
              <a:buChar char="•"/>
            </a:pPr>
            <a:r>
              <a:rPr lang="fr-FR"/>
              <a:t>Spectral (avec parcimonie)</a:t>
            </a:r>
            <a:endParaRPr/>
          </a:p>
          <a:p>
            <a:pPr marL="171450" lvl="0" indent="-171450" algn="l" rtl="0">
              <a:lnSpc>
                <a:spcPct val="100000"/>
              </a:lnSpc>
              <a:spcBef>
                <a:spcPts val="1100"/>
              </a:spcBef>
              <a:spcAft>
                <a:spcPts val="0"/>
              </a:spcAft>
              <a:buClr>
                <a:schemeClr val="dk1"/>
              </a:buClr>
              <a:buSzPts val="1000"/>
              <a:buFont typeface="Arial"/>
              <a:buChar char="•"/>
            </a:pPr>
            <a:r>
              <a:rPr lang="fr-FR"/>
              <a:t>Georgia (alternative)</a:t>
            </a:r>
            <a:endParaRPr/>
          </a:p>
          <a:p>
            <a:pPr marL="171450" lvl="0" indent="-104775" algn="l" rtl="0">
              <a:lnSpc>
                <a:spcPct val="100000"/>
              </a:lnSpc>
              <a:spcBef>
                <a:spcPts val="1100"/>
              </a:spcBef>
              <a:spcAft>
                <a:spcPts val="0"/>
              </a:spcAft>
              <a:buClr>
                <a:schemeClr val="dk1"/>
              </a:buClr>
              <a:buSzPts val="1050"/>
              <a:buFont typeface="Arial"/>
              <a:buNone/>
            </a:pPr>
            <a:endParaRPr/>
          </a:p>
        </p:txBody>
      </p:sp>
      <p:sp>
        <p:nvSpPr>
          <p:cNvPr id="2352" name="Google Shape;2352;p195"/>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Choix des polices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357"/>
        <p:cNvGrpSpPr/>
        <p:nvPr/>
      </p:nvGrpSpPr>
      <p:grpSpPr>
        <a:xfrm>
          <a:off x="0" y="0"/>
          <a:ext cx="0" cy="0"/>
          <a:chOff x="0" y="0"/>
          <a:chExt cx="0" cy="0"/>
        </a:xfrm>
      </p:grpSpPr>
      <p:sp>
        <p:nvSpPr>
          <p:cNvPr id="2358" name="Google Shape;2358;p196"/>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359" name="Google Shape;2359;p196"/>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48</a:t>
            </a:fld>
            <a:endParaRPr/>
          </a:p>
        </p:txBody>
      </p:sp>
      <p:sp>
        <p:nvSpPr>
          <p:cNvPr id="2360" name="Google Shape;2360;p196"/>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361" name="Google Shape;2361;p196"/>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050"/>
              <a:buNone/>
            </a:pPr>
            <a:endParaRPr/>
          </a:p>
        </p:txBody>
      </p:sp>
      <p:sp>
        <p:nvSpPr>
          <p:cNvPr id="2362" name="Google Shape;2362;p196"/>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Polices et lisibilité</a:t>
            </a:r>
            <a:endParaRPr/>
          </a:p>
        </p:txBody>
      </p:sp>
      <p:sp>
        <p:nvSpPr>
          <p:cNvPr id="2363" name="Google Shape;2363;p196"/>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Choisir les bonnes polices – tableau comparatif</a:t>
            </a:r>
            <a:endParaRPr/>
          </a:p>
        </p:txBody>
      </p:sp>
      <p:graphicFrame>
        <p:nvGraphicFramePr>
          <p:cNvPr id="2364" name="Google Shape;2364;p196"/>
          <p:cNvGraphicFramePr/>
          <p:nvPr/>
        </p:nvGraphicFramePr>
        <p:xfrm>
          <a:off x="374088" y="1901934"/>
          <a:ext cx="3981875" cy="2016810"/>
        </p:xfrm>
        <a:graphic>
          <a:graphicData uri="http://schemas.openxmlformats.org/drawingml/2006/table">
            <a:tbl>
              <a:tblPr firstRow="1" bandRow="1">
                <a:noFill/>
                <a:tableStyleId>{FD7E91FA-90BF-47A8-963E-8DB3384E367F}</a:tableStyleId>
              </a:tblPr>
              <a:tblGrid>
                <a:gridCol w="995475">
                  <a:extLst>
                    <a:ext uri="{9D8B030D-6E8A-4147-A177-3AD203B41FA5}">
                      <a16:colId xmlns:a16="http://schemas.microsoft.com/office/drawing/2014/main" val="20000"/>
                    </a:ext>
                  </a:extLst>
                </a:gridCol>
                <a:gridCol w="898175">
                  <a:extLst>
                    <a:ext uri="{9D8B030D-6E8A-4147-A177-3AD203B41FA5}">
                      <a16:colId xmlns:a16="http://schemas.microsoft.com/office/drawing/2014/main" val="20001"/>
                    </a:ext>
                  </a:extLst>
                </a:gridCol>
                <a:gridCol w="1092750">
                  <a:extLst>
                    <a:ext uri="{9D8B030D-6E8A-4147-A177-3AD203B41FA5}">
                      <a16:colId xmlns:a16="http://schemas.microsoft.com/office/drawing/2014/main" val="20002"/>
                    </a:ext>
                  </a:extLst>
                </a:gridCol>
                <a:gridCol w="995475">
                  <a:extLst>
                    <a:ext uri="{9D8B030D-6E8A-4147-A177-3AD203B41FA5}">
                      <a16:colId xmlns:a16="http://schemas.microsoft.com/office/drawing/2014/main" val="20003"/>
                    </a:ext>
                  </a:extLst>
                </a:gridCol>
              </a:tblGrid>
              <a:tr h="370850">
                <a:tc>
                  <a:txBody>
                    <a:bodyPr/>
                    <a:lstStyle/>
                    <a:p>
                      <a:pPr marL="0" marR="0" lvl="0" indent="0" algn="l" rtl="0">
                        <a:spcBef>
                          <a:spcPts val="0"/>
                        </a:spcBef>
                        <a:spcAft>
                          <a:spcPts val="0"/>
                        </a:spcAft>
                        <a:buNone/>
                      </a:pPr>
                      <a:r>
                        <a:rPr lang="fr-FR" sz="1050" b="0">
                          <a:solidFill>
                            <a:schemeClr val="lt1"/>
                          </a:solidFill>
                        </a:rPr>
                        <a:t>Type</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lt1"/>
                          </a:solidFill>
                          <a:latin typeface="Arial"/>
                          <a:ea typeface="Arial"/>
                          <a:cs typeface="Arial"/>
                          <a:sym typeface="Arial"/>
                        </a:rPr>
                        <a:t>Accessibilité</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lt1"/>
                          </a:solidFill>
                          <a:latin typeface="Arial"/>
                          <a:ea typeface="Arial"/>
                          <a:cs typeface="Arial"/>
                          <a:sym typeface="Arial"/>
                        </a:rPr>
                        <a:t>Exemples</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lt1"/>
                          </a:solidFill>
                          <a:latin typeface="Arial"/>
                          <a:ea typeface="Arial"/>
                          <a:cs typeface="Arial"/>
                          <a:sym typeface="Arial"/>
                        </a:rPr>
                        <a:t>Usage</a:t>
                      </a:r>
                      <a:endParaRPr sz="105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Sans serif</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Arial, Helvetica </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Texte principal </a:t>
                      </a:r>
                      <a:endParaRPr sz="105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Avec serif </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Times New Roman</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À éviter</a:t>
                      </a:r>
                      <a:endParaRPr sz="105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Script</a:t>
                      </a:r>
                      <a:endParaRPr sz="1050"/>
                    </a:p>
                  </a:txBody>
                  <a:tcPr marL="91450" marR="91450" marT="45725" marB="45725"/>
                </a:tc>
                <a:tc>
                  <a:txBody>
                    <a:bodyPr/>
                    <a:lstStyle/>
                    <a:p>
                      <a:pPr marL="0" marR="0" lvl="0" indent="0" algn="l" rtl="0">
                        <a:spcBef>
                          <a:spcPts val="0"/>
                        </a:spcBef>
                        <a:spcAft>
                          <a:spcPts val="0"/>
                        </a:spcAft>
                        <a:buNone/>
                      </a:pPr>
                      <a:r>
                        <a:rPr lang="fr-FR" sz="1800" b="0" i="0">
                          <a:solidFill>
                            <a:schemeClr val="dk1"/>
                          </a:solidFill>
                          <a:latin typeface="Arial"/>
                          <a:ea typeface="Arial"/>
                          <a:cs typeface="Arial"/>
                          <a:sym typeface="Arial"/>
                        </a:rPr>
                        <a:t>---</a:t>
                      </a:r>
                      <a:endParaRPr sz="1050" b="0"/>
                    </a:p>
                  </a:txBody>
                  <a:tcPr marL="91450" marR="91450" marT="45725" marB="45725"/>
                </a:tc>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Cursive</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Jamais</a:t>
                      </a:r>
                      <a:endParaRPr sz="105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Dyslexie</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OpenDyslexic</a:t>
                      </a:r>
                      <a:endParaRPr sz="1050"/>
                    </a:p>
                  </a:txBody>
                  <a:tcPr marL="91450" marR="91450" marT="45725" marB="45725"/>
                </a:tc>
                <a:tc>
                  <a:txBody>
                    <a:bodyPr/>
                    <a:lstStyle/>
                    <a:p>
                      <a:pPr marL="0" marR="0" lvl="0" indent="0" algn="l" rtl="0">
                        <a:spcBef>
                          <a:spcPts val="0"/>
                        </a:spcBef>
                        <a:spcAft>
                          <a:spcPts val="0"/>
                        </a:spcAft>
                        <a:buNone/>
                      </a:pPr>
                      <a:r>
                        <a:rPr lang="fr-FR" sz="1050" b="0" i="0">
                          <a:solidFill>
                            <a:schemeClr val="dk1"/>
                          </a:solidFill>
                          <a:latin typeface="Arial"/>
                          <a:ea typeface="Arial"/>
                          <a:cs typeface="Arial"/>
                          <a:sym typeface="Arial"/>
                        </a:rPr>
                        <a:t>Cas spécifiques</a:t>
                      </a:r>
                      <a:endParaRPr sz="1050"/>
                    </a:p>
                  </a:txBody>
                  <a:tcPr marL="91450" marR="91450" marT="45725" marB="45725"/>
                </a:tc>
                <a:extLst>
                  <a:ext uri="{0D108BD9-81ED-4DB2-BD59-A6C34878D82A}">
                    <a16:rowId xmlns:a16="http://schemas.microsoft.com/office/drawing/2014/main" val="10004"/>
                  </a:ext>
                </a:extLst>
              </a:tr>
            </a:tbl>
          </a:graphicData>
        </a:graphic>
      </p:graphicFrame>
      <p:pic>
        <p:nvPicPr>
          <p:cNvPr id="2365" name="Google Shape;2365;p196" descr="Capture d'écran des polices avec les la combinaison des lettres difficiles à lire."/>
          <p:cNvPicPr preferRelativeResize="0"/>
          <p:nvPr/>
        </p:nvPicPr>
        <p:blipFill rotWithShape="1">
          <a:blip r:embed="rId3">
            <a:alphaModFix/>
          </a:blip>
          <a:srcRect/>
          <a:stretch/>
        </p:blipFill>
        <p:spPr>
          <a:xfrm>
            <a:off x="4751879" y="1773822"/>
            <a:ext cx="4068264" cy="282004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370"/>
        <p:cNvGrpSpPr/>
        <p:nvPr/>
      </p:nvGrpSpPr>
      <p:grpSpPr>
        <a:xfrm>
          <a:off x="0" y="0"/>
          <a:ext cx="0" cy="0"/>
          <a:chOff x="0" y="0"/>
          <a:chExt cx="0" cy="0"/>
        </a:xfrm>
      </p:grpSpPr>
      <p:sp>
        <p:nvSpPr>
          <p:cNvPr id="2371" name="Google Shape;2371;p197"/>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372" name="Google Shape;2372;p197"/>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49</a:t>
            </a:fld>
            <a:endParaRPr/>
          </a:p>
        </p:txBody>
      </p:sp>
      <p:sp>
        <p:nvSpPr>
          <p:cNvPr id="2373" name="Google Shape;2373;p197"/>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374" name="Google Shape;2374;p197"/>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Contraste des textes et des images</a:t>
            </a:r>
            <a:endParaRPr>
              <a:solidFill>
                <a:schemeClr val="dk2"/>
              </a:solidFill>
            </a:endParaRPr>
          </a:p>
          <a:p>
            <a:pPr marL="171450" lvl="0" indent="-171450" algn="l" rtl="0">
              <a:lnSpc>
                <a:spcPct val="100000"/>
              </a:lnSpc>
              <a:spcBef>
                <a:spcPts val="1100"/>
              </a:spcBef>
              <a:spcAft>
                <a:spcPts val="0"/>
              </a:spcAft>
              <a:buClr>
                <a:schemeClr val="dk1"/>
              </a:buClr>
              <a:buSzPts val="1000"/>
              <a:buFont typeface="Arial"/>
              <a:buChar char="•"/>
            </a:pPr>
            <a:r>
              <a:rPr lang="fr-FR"/>
              <a:t>Respecter un contraste suffisant si le texte est sur une image ou une couleur de fond.</a:t>
            </a:r>
            <a:endParaRPr/>
          </a:p>
          <a:p>
            <a:pPr marL="171450" lvl="0" indent="-171450" algn="l" rtl="0">
              <a:lnSpc>
                <a:spcPct val="100000"/>
              </a:lnSpc>
              <a:spcBef>
                <a:spcPts val="1100"/>
              </a:spcBef>
              <a:spcAft>
                <a:spcPts val="0"/>
              </a:spcAft>
              <a:buClr>
                <a:schemeClr val="dk1"/>
              </a:buClr>
              <a:buSzPts val="1000"/>
              <a:buFont typeface="Arial"/>
              <a:buChar char="•"/>
            </a:pPr>
            <a:r>
              <a:rPr lang="fr-FR"/>
              <a:t>Contraste minimum 4.5:1</a:t>
            </a:r>
            <a:endParaRPr/>
          </a:p>
          <a:p>
            <a:pPr marL="171450" lvl="0" indent="-171450" algn="l" rtl="0">
              <a:lnSpc>
                <a:spcPct val="100000"/>
              </a:lnSpc>
              <a:spcBef>
                <a:spcPts val="1100"/>
              </a:spcBef>
              <a:spcAft>
                <a:spcPts val="0"/>
              </a:spcAft>
              <a:buClr>
                <a:schemeClr val="dk1"/>
              </a:buClr>
              <a:buSzPts val="1000"/>
              <a:buFont typeface="Arial"/>
              <a:buChar char="•"/>
            </a:pPr>
            <a:r>
              <a:rPr lang="fr-FR"/>
              <a:t>Cf Séquence 2</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À faire</a:t>
            </a:r>
            <a:endParaRPr/>
          </a:p>
          <a:p>
            <a:pPr marL="171450" lvl="0" indent="-171450" algn="l" rtl="0">
              <a:lnSpc>
                <a:spcPct val="100000"/>
              </a:lnSpc>
              <a:spcBef>
                <a:spcPts val="1100"/>
              </a:spcBef>
              <a:spcAft>
                <a:spcPts val="0"/>
              </a:spcAft>
              <a:buClr>
                <a:schemeClr val="dk1"/>
              </a:buClr>
              <a:buSzPts val="1000"/>
              <a:buFont typeface="Arial"/>
              <a:buChar char="•"/>
            </a:pPr>
            <a:r>
              <a:rPr lang="fr-FR"/>
              <a:t>Mettre un fond sous le texte d'une image</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À ne pas faire</a:t>
            </a:r>
            <a:endParaRPr/>
          </a:p>
          <a:p>
            <a:pPr marL="171450" lvl="0" indent="-171450" algn="l" rtl="0">
              <a:lnSpc>
                <a:spcPct val="100000"/>
              </a:lnSpc>
              <a:spcBef>
                <a:spcPts val="1100"/>
              </a:spcBef>
              <a:spcAft>
                <a:spcPts val="0"/>
              </a:spcAft>
              <a:buClr>
                <a:schemeClr val="dk1"/>
              </a:buClr>
              <a:buSzPts val="1000"/>
              <a:buFont typeface="Arial"/>
              <a:buChar char="•"/>
            </a:pPr>
            <a:r>
              <a:rPr lang="fr-FR"/>
              <a:t>Écrire du texte directement sur une image</a:t>
            </a:r>
            <a:endParaRPr/>
          </a:p>
          <a:p>
            <a:pPr marL="0" lvl="0" indent="0" algn="l" rtl="0">
              <a:lnSpc>
                <a:spcPct val="100000"/>
              </a:lnSpc>
              <a:spcBef>
                <a:spcPts val="500"/>
              </a:spcBef>
              <a:spcAft>
                <a:spcPts val="0"/>
              </a:spcAft>
              <a:buClr>
                <a:schemeClr val="dk1"/>
              </a:buClr>
              <a:buSzPts val="1050"/>
              <a:buNone/>
            </a:pPr>
            <a:endParaRPr/>
          </a:p>
        </p:txBody>
      </p:sp>
      <p:sp>
        <p:nvSpPr>
          <p:cNvPr id="2375" name="Google Shape;2375;p197"/>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Lisibilité des textes</a:t>
            </a:r>
            <a:endParaRPr/>
          </a:p>
          <a:p>
            <a:pPr marL="171450" lvl="0" indent="-171450" algn="l" rtl="0">
              <a:lnSpc>
                <a:spcPct val="100000"/>
              </a:lnSpc>
              <a:spcBef>
                <a:spcPts val="1100"/>
              </a:spcBef>
              <a:spcAft>
                <a:spcPts val="0"/>
              </a:spcAft>
              <a:buClr>
                <a:schemeClr val="dk1"/>
              </a:buClr>
              <a:buSzPts val="1000"/>
              <a:buFont typeface="Arial"/>
              <a:buChar char="•"/>
            </a:pPr>
            <a:r>
              <a:rPr lang="fr-FR"/>
              <a:t>Textes alignés à gauche</a:t>
            </a:r>
            <a:endParaRPr/>
          </a:p>
          <a:p>
            <a:pPr marL="171450" lvl="0" indent="-171450" algn="l" rtl="0">
              <a:lnSpc>
                <a:spcPct val="100000"/>
              </a:lnSpc>
              <a:spcBef>
                <a:spcPts val="1100"/>
              </a:spcBef>
              <a:spcAft>
                <a:spcPts val="0"/>
              </a:spcAft>
              <a:buClr>
                <a:schemeClr val="dk1"/>
              </a:buClr>
              <a:buSzPts val="1000"/>
              <a:buFont typeface="Arial"/>
              <a:buChar char="•"/>
            </a:pPr>
            <a:r>
              <a:rPr lang="fr-FR"/>
              <a:t>Pas de justification</a:t>
            </a:r>
            <a:endParaRPr/>
          </a:p>
          <a:p>
            <a:pPr marL="171450" lvl="0" indent="-171450" algn="l" rtl="0">
              <a:lnSpc>
                <a:spcPct val="100000"/>
              </a:lnSpc>
              <a:spcBef>
                <a:spcPts val="1100"/>
              </a:spcBef>
              <a:spcAft>
                <a:spcPts val="0"/>
              </a:spcAft>
              <a:buClr>
                <a:schemeClr val="dk1"/>
              </a:buClr>
              <a:buSzPts val="1000"/>
              <a:buFont typeface="Arial"/>
              <a:buChar char="•"/>
            </a:pPr>
            <a:r>
              <a:rPr lang="fr-FR"/>
              <a:t>Espacement suffisant</a:t>
            </a:r>
            <a:endParaRPr/>
          </a:p>
          <a:p>
            <a:pPr marL="171450" lvl="0" indent="-171450" algn="l" rtl="0">
              <a:lnSpc>
                <a:spcPct val="100000"/>
              </a:lnSpc>
              <a:spcBef>
                <a:spcPts val="1100"/>
              </a:spcBef>
              <a:spcAft>
                <a:spcPts val="0"/>
              </a:spcAft>
              <a:buClr>
                <a:schemeClr val="dk1"/>
              </a:buClr>
              <a:buSzPts val="1000"/>
              <a:buFont typeface="Arial"/>
              <a:buChar char="•"/>
            </a:pPr>
            <a:r>
              <a:rPr lang="fr-FR"/>
              <a:t>Définir les acronymes</a:t>
            </a:r>
            <a:endParaRPr/>
          </a:p>
          <a:p>
            <a:pPr marL="171450" lvl="0" indent="-171450" algn="l" rtl="0">
              <a:lnSpc>
                <a:spcPct val="100000"/>
              </a:lnSpc>
              <a:spcBef>
                <a:spcPts val="1100"/>
              </a:spcBef>
              <a:spcAft>
                <a:spcPts val="0"/>
              </a:spcAft>
              <a:buClr>
                <a:schemeClr val="dk1"/>
              </a:buClr>
              <a:buSzPts val="1000"/>
              <a:buFont typeface="Arial"/>
              <a:buChar char="•"/>
            </a:pPr>
            <a:r>
              <a:rPr lang="fr-FR"/>
              <a:t>Pas de phrase en capitale</a:t>
            </a:r>
            <a:endParaRPr/>
          </a:p>
          <a:p>
            <a:pPr marL="0" lvl="0" indent="0" algn="l" rtl="0">
              <a:lnSpc>
                <a:spcPct val="100000"/>
              </a:lnSpc>
              <a:spcBef>
                <a:spcPts val="500"/>
              </a:spcBef>
              <a:spcAft>
                <a:spcPts val="0"/>
              </a:spcAft>
              <a:buClr>
                <a:schemeClr val="dk1"/>
              </a:buClr>
              <a:buSzPts val="1050"/>
              <a:buNone/>
            </a:pPr>
            <a:endParaRPr/>
          </a:p>
        </p:txBody>
      </p:sp>
      <p:sp>
        <p:nvSpPr>
          <p:cNvPr id="2376" name="Google Shape;2376;p197"/>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Contrastes et lisibilité</a:t>
            </a:r>
            <a:endParaRPr/>
          </a:p>
        </p:txBody>
      </p:sp>
      <p:sp>
        <p:nvSpPr>
          <p:cNvPr id="2377" name="Google Shape;2377;p197"/>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Règles fondamentales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382"/>
        <p:cNvGrpSpPr/>
        <p:nvPr/>
      </p:nvGrpSpPr>
      <p:grpSpPr>
        <a:xfrm>
          <a:off x="0" y="0"/>
          <a:ext cx="0" cy="0"/>
          <a:chOff x="0" y="0"/>
          <a:chExt cx="0" cy="0"/>
        </a:xfrm>
      </p:grpSpPr>
      <p:sp>
        <p:nvSpPr>
          <p:cNvPr id="2383" name="Google Shape;2383;p198"/>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384" name="Google Shape;2384;p198"/>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50</a:t>
            </a:fld>
            <a:endParaRPr/>
          </a:p>
        </p:txBody>
      </p:sp>
      <p:sp>
        <p:nvSpPr>
          <p:cNvPr id="2385" name="Google Shape;2385;p198"/>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386" name="Google Shape;2386;p198"/>
          <p:cNvSpPr txBox="1">
            <a:spLocks noGrp="1"/>
          </p:cNvSpPr>
          <p:nvPr>
            <p:ph type="body" idx="2"/>
          </p:nvPr>
        </p:nvSpPr>
        <p:spPr>
          <a:xfrm>
            <a:off x="359998" y="1836000"/>
            <a:ext cx="3995978" cy="2947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Formatages problématiques - quand le style nuit à l'accessibilité</a:t>
            </a:r>
            <a:endParaRPr/>
          </a:p>
          <a:p>
            <a:pPr marL="171450" lvl="0" indent="-171450" algn="l" rtl="0">
              <a:lnSpc>
                <a:spcPct val="100000"/>
              </a:lnSpc>
              <a:spcBef>
                <a:spcPts val="800"/>
              </a:spcBef>
              <a:spcAft>
                <a:spcPts val="0"/>
              </a:spcAft>
              <a:buClr>
                <a:schemeClr val="dk1"/>
              </a:buClr>
              <a:buSzPts val="1000"/>
              <a:buFont typeface="Arial"/>
              <a:buChar char="•"/>
            </a:pPr>
            <a:r>
              <a:rPr lang="fr-FR"/>
              <a:t>Les caractères spéciaux ne sont accessibles aux personnes utilisant un lecteur d'écran, </a:t>
            </a:r>
            <a:endParaRPr/>
          </a:p>
          <a:p>
            <a:pPr marL="171450" lvl="0" indent="-171450" algn="l" rtl="0">
              <a:lnSpc>
                <a:spcPct val="100000"/>
              </a:lnSpc>
              <a:spcBef>
                <a:spcPts val="600"/>
              </a:spcBef>
              <a:spcAft>
                <a:spcPts val="0"/>
              </a:spcAft>
              <a:buClr>
                <a:schemeClr val="dk1"/>
              </a:buClr>
              <a:buSzPts val="1000"/>
              <a:buFont typeface="Arial"/>
              <a:buChar char="•"/>
            </a:pPr>
            <a:r>
              <a:rPr lang="fr-FR"/>
              <a:t>Les caractères spéciaux ne peuvent pas être traduits</a:t>
            </a:r>
            <a:endParaRPr/>
          </a:p>
          <a:p>
            <a:pPr marL="0" lvl="0" indent="0" algn="l" rtl="0">
              <a:lnSpc>
                <a:spcPct val="100000"/>
              </a:lnSpc>
              <a:spcBef>
                <a:spcPts val="900"/>
              </a:spcBef>
              <a:spcAft>
                <a:spcPts val="0"/>
              </a:spcAft>
              <a:buClr>
                <a:schemeClr val="dk1"/>
              </a:buClr>
              <a:buSzPts val="1000"/>
              <a:buNone/>
            </a:pPr>
            <a:r>
              <a:rPr lang="fr-FR"/>
              <a:t>En savoir plus sur :</a:t>
            </a:r>
            <a:endParaRPr/>
          </a:p>
          <a:p>
            <a:pPr marL="171450" lvl="0" indent="-171450" algn="l" rtl="0">
              <a:lnSpc>
                <a:spcPct val="100000"/>
              </a:lnSpc>
              <a:spcBef>
                <a:spcPts val="1100"/>
              </a:spcBef>
              <a:spcAft>
                <a:spcPts val="0"/>
              </a:spcAft>
              <a:buClr>
                <a:schemeClr val="dk2"/>
              </a:buClr>
              <a:buSzPts val="1000"/>
              <a:buFont typeface="Arial"/>
              <a:buChar char="•"/>
            </a:pPr>
            <a:r>
              <a:rPr lang="fr-FR" b="1">
                <a:solidFill>
                  <a:schemeClr val="dk2"/>
                </a:solidFill>
              </a:rPr>
              <a:t>Le détournement des caractères Unicode, fléau pour l’accessibilité du web  </a:t>
            </a:r>
            <a:r>
              <a:rPr lang="fr-FR" u="sng">
                <a:solidFill>
                  <a:schemeClr val="hlink"/>
                </a:solidFill>
                <a:hlinkClick r:id="rId3"/>
              </a:rPr>
              <a:t>https://www.lalutineduweb.fr/detournement-unicode-emojis-accessibilite/</a:t>
            </a:r>
            <a:endParaRPr/>
          </a:p>
          <a:p>
            <a:pPr marL="171450" lvl="0" indent="-171450" algn="l" rtl="0">
              <a:lnSpc>
                <a:spcPct val="100000"/>
              </a:lnSpc>
              <a:spcBef>
                <a:spcPts val="1100"/>
              </a:spcBef>
              <a:spcAft>
                <a:spcPts val="0"/>
              </a:spcAft>
              <a:buClr>
                <a:schemeClr val="dk2"/>
              </a:buClr>
              <a:buSzPts val="1000"/>
              <a:buFont typeface="Arial"/>
              <a:buChar char="•"/>
            </a:pPr>
            <a:r>
              <a:rPr lang="fr-FR" b="1">
                <a:solidFill>
                  <a:schemeClr val="dk2"/>
                </a:solidFill>
              </a:rPr>
              <a:t>Faux gras, faux italique et fausses colonnes </a:t>
            </a:r>
            <a:r>
              <a:rPr lang="fr-FR"/>
              <a:t>: </a:t>
            </a:r>
            <a:r>
              <a:rPr lang="fr-FR" b="1">
                <a:solidFill>
                  <a:schemeClr val="dk2"/>
                </a:solidFill>
              </a:rPr>
              <a:t>quels problèmes pour l’accessibilité ? </a:t>
            </a:r>
            <a:r>
              <a:rPr lang="fr-FR" u="sng">
                <a:solidFill>
                  <a:schemeClr val="hlink"/>
                </a:solidFill>
                <a:hlinkClick r:id="rId4"/>
              </a:rPr>
              <a:t>https://access42.net/caracteres-unicode-reseaux-sociaux-accessibilite/</a:t>
            </a:r>
            <a:endParaRPr/>
          </a:p>
          <a:p>
            <a:pPr marL="0" lvl="0" indent="0" algn="l" rtl="0">
              <a:lnSpc>
                <a:spcPct val="100000"/>
              </a:lnSpc>
              <a:spcBef>
                <a:spcPts val="500"/>
              </a:spcBef>
              <a:spcAft>
                <a:spcPts val="0"/>
              </a:spcAft>
              <a:buClr>
                <a:schemeClr val="dk1"/>
              </a:buClr>
              <a:buSzPts val="1050"/>
              <a:buNone/>
            </a:pPr>
            <a:endParaRPr/>
          </a:p>
        </p:txBody>
      </p:sp>
      <p:sp>
        <p:nvSpPr>
          <p:cNvPr id="2387" name="Google Shape;2387;p198"/>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À ne pas faire</a:t>
            </a:r>
            <a:endParaRPr/>
          </a:p>
          <a:p>
            <a:pPr marL="171450" lvl="0" indent="-171450" algn="l" rtl="0">
              <a:lnSpc>
                <a:spcPct val="100000"/>
              </a:lnSpc>
              <a:spcBef>
                <a:spcPts val="1100"/>
              </a:spcBef>
              <a:spcAft>
                <a:spcPts val="0"/>
              </a:spcAft>
              <a:buClr>
                <a:schemeClr val="dk1"/>
              </a:buClr>
              <a:buSzPts val="1000"/>
              <a:buFont typeface="Arial"/>
              <a:buChar char="•"/>
            </a:pPr>
            <a:r>
              <a:rPr lang="fr-FR"/>
              <a:t>𝐓𝐞𝐱𝐭𝐞 𝐞𝐧 𝐟𝐚𝐮𝐱 𝐠𝐫𝐚𝐬</a:t>
            </a:r>
            <a:endParaRPr/>
          </a:p>
          <a:p>
            <a:pPr marL="171450" lvl="0" indent="-171450" algn="l" rtl="0">
              <a:lnSpc>
                <a:spcPct val="100000"/>
              </a:lnSpc>
              <a:spcBef>
                <a:spcPts val="1100"/>
              </a:spcBef>
              <a:spcAft>
                <a:spcPts val="0"/>
              </a:spcAft>
              <a:buClr>
                <a:schemeClr val="dk1"/>
              </a:buClr>
              <a:buSzPts val="1000"/>
              <a:buFont typeface="Arial"/>
              <a:buChar char="•"/>
            </a:pPr>
            <a:r>
              <a:rPr lang="fr-FR"/>
              <a:t>𝑇𝑒𝑥𝑡𝑒 𝑒𝑛 𝑓𝑎𝑢𝑥 𝑖𝑡𝑎𝑙𝑖𝑞𝑢𝑒</a:t>
            </a:r>
            <a:endParaRPr/>
          </a:p>
          <a:p>
            <a:pPr marL="171450" lvl="0" indent="-171450" algn="l" rtl="0">
              <a:lnSpc>
                <a:spcPct val="100000"/>
              </a:lnSpc>
              <a:spcBef>
                <a:spcPts val="1100"/>
              </a:spcBef>
              <a:spcAft>
                <a:spcPts val="0"/>
              </a:spcAft>
              <a:buClr>
                <a:schemeClr val="dk1"/>
              </a:buClr>
              <a:buSzPts val="1000"/>
              <a:buFont typeface="Arial"/>
              <a:buChar char="•"/>
            </a:pPr>
            <a:r>
              <a:rPr lang="fr-FR"/>
              <a:t>𝑻𝒆𝒙𝒕𝒆𝒔 𝒆𝒏 𝒇𝒂𝒖𝒙 𝒈𝒓𝒂𝒔/𝒊𝒕𝒂𝒍𝒊𝒒𝒖𝒆</a:t>
            </a:r>
            <a:endParaRPr/>
          </a:p>
          <a:p>
            <a:pPr marL="171450" lvl="0" indent="-171450" algn="l" rtl="0">
              <a:lnSpc>
                <a:spcPct val="100000"/>
              </a:lnSpc>
              <a:spcBef>
                <a:spcPts val="1100"/>
              </a:spcBef>
              <a:spcAft>
                <a:spcPts val="0"/>
              </a:spcAft>
              <a:buClr>
                <a:schemeClr val="dk1"/>
              </a:buClr>
              <a:buSzPts val="1000"/>
              <a:buFont typeface="Arial"/>
              <a:buChar char="•"/>
            </a:pPr>
            <a:r>
              <a:rPr lang="fr-FR"/>
              <a:t>𝘛𝘦𝘹𝘵𝘦𝘴 𝘦𝘯 𝘧𝘢𝘶𝘹 𝘪𝘵𝘢𝘭𝘪𝘲𝘶𝘦</a:t>
            </a:r>
            <a:endParaRPr/>
          </a:p>
          <a:p>
            <a:pPr marL="171450" lvl="0" indent="-171450" algn="l" rtl="0">
              <a:lnSpc>
                <a:spcPct val="100000"/>
              </a:lnSpc>
              <a:spcBef>
                <a:spcPts val="1100"/>
              </a:spcBef>
              <a:spcAft>
                <a:spcPts val="0"/>
              </a:spcAft>
              <a:buClr>
                <a:schemeClr val="dk1"/>
              </a:buClr>
              <a:buSzPts val="1000"/>
              <a:buFont typeface="Arial"/>
              <a:buChar char="•"/>
            </a:pPr>
            <a:r>
              <a:rPr lang="fr-FR"/>
              <a:t>𝕿𝖊𝖝𝖙𝖊 𝖊𝖓 𝖌𝖔𝖙𝖍𝖎𝖖𝖚𝖊</a:t>
            </a:r>
            <a:endParaRPr/>
          </a:p>
          <a:p>
            <a:pPr marL="171450" lvl="0" indent="-171450" algn="l" rtl="0">
              <a:lnSpc>
                <a:spcPct val="100000"/>
              </a:lnSpc>
              <a:spcBef>
                <a:spcPts val="1100"/>
              </a:spcBef>
              <a:spcAft>
                <a:spcPts val="0"/>
              </a:spcAft>
              <a:buClr>
                <a:schemeClr val="dk1"/>
              </a:buClr>
              <a:buSzPts val="1000"/>
              <a:buFont typeface="Arial"/>
              <a:buChar char="•"/>
            </a:pPr>
            <a:r>
              <a:rPr lang="fr-FR"/>
              <a:t>🅣🅔🅧🅣🅔 🅔🅝 🅑🅤🅛🅛🅔🅢</a:t>
            </a:r>
            <a:endParaRPr/>
          </a:p>
          <a:p>
            <a:pPr marL="171450" lvl="0" indent="-171450" algn="l" rtl="0">
              <a:lnSpc>
                <a:spcPct val="100000"/>
              </a:lnSpc>
              <a:spcBef>
                <a:spcPts val="1100"/>
              </a:spcBef>
              <a:spcAft>
                <a:spcPts val="0"/>
              </a:spcAft>
              <a:buClr>
                <a:schemeClr val="dk1"/>
              </a:buClr>
              <a:buSzPts val="1000"/>
              <a:buFont typeface="Arial"/>
              <a:buChar char="•"/>
            </a:pPr>
            <a:r>
              <a:rPr lang="fr-FR"/>
              <a:t>𝒯ℯ𝓍𝓉ℯ ℯ𝓃 𝓈𝒸𝓇𝒾𝓅𝓉</a:t>
            </a:r>
            <a:endParaRPr/>
          </a:p>
          <a:p>
            <a:pPr marL="0" lvl="0" indent="0" algn="l" rtl="0">
              <a:lnSpc>
                <a:spcPct val="100000"/>
              </a:lnSpc>
              <a:spcBef>
                <a:spcPts val="1100"/>
              </a:spcBef>
              <a:spcAft>
                <a:spcPts val="0"/>
              </a:spcAft>
              <a:buClr>
                <a:schemeClr val="dk1"/>
              </a:buClr>
              <a:buSzPts val="1050"/>
              <a:buNone/>
            </a:pPr>
            <a:endParaRPr/>
          </a:p>
        </p:txBody>
      </p:sp>
      <p:sp>
        <p:nvSpPr>
          <p:cNvPr id="2388" name="Google Shape;2388;p198"/>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Les caractères spéciaux sont à proscrire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393"/>
        <p:cNvGrpSpPr/>
        <p:nvPr/>
      </p:nvGrpSpPr>
      <p:grpSpPr>
        <a:xfrm>
          <a:off x="0" y="0"/>
          <a:ext cx="0" cy="0"/>
          <a:chOff x="0" y="0"/>
          <a:chExt cx="0" cy="0"/>
        </a:xfrm>
      </p:grpSpPr>
      <p:sp>
        <p:nvSpPr>
          <p:cNvPr id="2394" name="Google Shape;2394;p199"/>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395" name="Google Shape;2395;p199"/>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51</a:t>
            </a:fld>
            <a:endParaRPr/>
          </a:p>
        </p:txBody>
      </p:sp>
      <p:sp>
        <p:nvSpPr>
          <p:cNvPr id="2396" name="Google Shape;2396;p199"/>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397" name="Google Shape;2397;p199"/>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Les outils natifs des réseaux :</a:t>
            </a:r>
            <a:endParaRPr/>
          </a:p>
          <a:p>
            <a:pPr marL="171450" lvl="0" indent="-171450" algn="l" rtl="0">
              <a:lnSpc>
                <a:spcPct val="100000"/>
              </a:lnSpc>
              <a:spcBef>
                <a:spcPts val="1100"/>
              </a:spcBef>
              <a:spcAft>
                <a:spcPts val="0"/>
              </a:spcAft>
              <a:buClr>
                <a:schemeClr val="dk1"/>
              </a:buClr>
              <a:buSzPts val="1000"/>
              <a:buFont typeface="Arial"/>
              <a:buChar char="•"/>
            </a:pPr>
            <a:r>
              <a:rPr lang="fr-FR"/>
              <a:t>Pas d'outils de mise en forme complexe</a:t>
            </a:r>
            <a:endParaRPr/>
          </a:p>
          <a:p>
            <a:pPr marL="171450" lvl="0" indent="-171450" algn="l" rtl="0">
              <a:lnSpc>
                <a:spcPct val="100000"/>
              </a:lnSpc>
              <a:spcBef>
                <a:spcPts val="1100"/>
              </a:spcBef>
              <a:spcAft>
                <a:spcPts val="0"/>
              </a:spcAft>
              <a:buClr>
                <a:schemeClr val="dk1"/>
              </a:buClr>
              <a:buSzPts val="1000"/>
              <a:buFont typeface="Arial"/>
              <a:buChar char="•"/>
            </a:pPr>
            <a:r>
              <a:rPr lang="fr-FR"/>
              <a:t>Retours à la ligne simples</a:t>
            </a:r>
            <a:endParaRPr/>
          </a:p>
          <a:p>
            <a:pPr marL="171450" lvl="0" indent="-171450" algn="l" rtl="0">
              <a:lnSpc>
                <a:spcPct val="100000"/>
              </a:lnSpc>
              <a:spcBef>
                <a:spcPts val="1100"/>
              </a:spcBef>
              <a:spcAft>
                <a:spcPts val="0"/>
              </a:spcAft>
              <a:buClr>
                <a:schemeClr val="dk1"/>
              </a:buClr>
              <a:buSzPts val="1000"/>
              <a:buFont typeface="Arial"/>
              <a:buChar char="•"/>
            </a:pPr>
            <a:r>
              <a:rPr lang="fr-FR"/>
              <a:t>Paragraphes courts</a:t>
            </a:r>
            <a:endParaRPr/>
          </a:p>
          <a:p>
            <a:pPr marL="171450" lvl="0" indent="-171450" algn="l" rtl="0">
              <a:lnSpc>
                <a:spcPct val="100000"/>
              </a:lnSpc>
              <a:spcBef>
                <a:spcPts val="1100"/>
              </a:spcBef>
              <a:spcAft>
                <a:spcPts val="0"/>
              </a:spcAft>
              <a:buClr>
                <a:schemeClr val="dk1"/>
              </a:buClr>
              <a:buSzPts val="1000"/>
              <a:buFont typeface="Arial"/>
              <a:buChar char="•"/>
            </a:pPr>
            <a:r>
              <a:rPr lang="fr-FR"/>
              <a:t>Les textes en minuscule sont plus faciles à lire</a:t>
            </a:r>
            <a:endParaRPr/>
          </a:p>
          <a:p>
            <a:pPr marL="171450" lvl="0" indent="-171450" algn="l" rtl="0">
              <a:lnSpc>
                <a:spcPct val="100000"/>
              </a:lnSpc>
              <a:spcBef>
                <a:spcPts val="1100"/>
              </a:spcBef>
              <a:spcAft>
                <a:spcPts val="0"/>
              </a:spcAft>
              <a:buClr>
                <a:schemeClr val="dk1"/>
              </a:buClr>
              <a:buSzPts val="1000"/>
              <a:buFont typeface="Arial"/>
              <a:buChar char="•"/>
            </a:pPr>
            <a:r>
              <a:rPr lang="fr-FR"/>
              <a:t>LES LONGS TEXTES EN MAJUSCULE SONT PLUS DIFFICILES À LIRE</a:t>
            </a:r>
            <a:endParaRPr/>
          </a:p>
          <a:p>
            <a:pPr marL="171450" lvl="0" indent="-171450" algn="l" rtl="0">
              <a:lnSpc>
                <a:spcPct val="100000"/>
              </a:lnSpc>
              <a:spcBef>
                <a:spcPts val="1100"/>
              </a:spcBef>
              <a:spcAft>
                <a:spcPts val="0"/>
              </a:spcAft>
              <a:buClr>
                <a:schemeClr val="dk1"/>
              </a:buClr>
              <a:buSzPts val="1000"/>
              <a:buFont typeface="Arial"/>
              <a:buChar char="•"/>
            </a:pPr>
            <a:r>
              <a:rPr lang="fr-FR"/>
              <a:t>Garder les accents sur les majuscules</a:t>
            </a:r>
            <a:endParaRPr/>
          </a:p>
          <a:p>
            <a:pPr marL="171450" lvl="0" indent="-104775" algn="l" rtl="0">
              <a:lnSpc>
                <a:spcPct val="100000"/>
              </a:lnSpc>
              <a:spcBef>
                <a:spcPts val="1100"/>
              </a:spcBef>
              <a:spcAft>
                <a:spcPts val="0"/>
              </a:spcAft>
              <a:buClr>
                <a:schemeClr val="dk1"/>
              </a:buClr>
              <a:buSzPts val="1050"/>
              <a:buFont typeface="Arial"/>
              <a:buNone/>
            </a:pPr>
            <a:endParaRPr/>
          </a:p>
        </p:txBody>
      </p:sp>
      <p:sp>
        <p:nvSpPr>
          <p:cNvPr id="2398" name="Google Shape;2398;p199"/>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Pour une meilleure lisibilité :</a:t>
            </a:r>
            <a:endParaRPr/>
          </a:p>
          <a:p>
            <a:pPr marL="171450" lvl="0" indent="-171450" algn="l" rtl="0">
              <a:lnSpc>
                <a:spcPct val="100000"/>
              </a:lnSpc>
              <a:spcBef>
                <a:spcPts val="1100"/>
              </a:spcBef>
              <a:spcAft>
                <a:spcPts val="0"/>
              </a:spcAft>
              <a:buClr>
                <a:schemeClr val="dk1"/>
              </a:buClr>
              <a:buSzPts val="1000"/>
              <a:buFont typeface="Arial"/>
              <a:buChar char="•"/>
            </a:pPr>
            <a:r>
              <a:rPr lang="fr-FR"/>
              <a:t>Une idée par paragraphe</a:t>
            </a:r>
            <a:endParaRPr/>
          </a:p>
          <a:p>
            <a:pPr marL="171450" lvl="0" indent="-171450" algn="l" rtl="0">
              <a:lnSpc>
                <a:spcPct val="100000"/>
              </a:lnSpc>
              <a:spcBef>
                <a:spcPts val="1100"/>
              </a:spcBef>
              <a:spcAft>
                <a:spcPts val="0"/>
              </a:spcAft>
              <a:buClr>
                <a:schemeClr val="dk1"/>
              </a:buClr>
              <a:buSzPts val="1000"/>
              <a:buFont typeface="Arial"/>
              <a:buChar char="•"/>
            </a:pPr>
            <a:r>
              <a:rPr lang="fr-FR"/>
              <a:t>Espacements cohérents</a:t>
            </a:r>
            <a:endParaRPr/>
          </a:p>
          <a:p>
            <a:pPr marL="171450" lvl="0" indent="-171450" algn="l" rtl="0">
              <a:lnSpc>
                <a:spcPct val="100000"/>
              </a:lnSpc>
              <a:spcBef>
                <a:spcPts val="1100"/>
              </a:spcBef>
              <a:spcAft>
                <a:spcPts val="0"/>
              </a:spcAft>
              <a:buClr>
                <a:schemeClr val="dk1"/>
              </a:buClr>
              <a:buSzPts val="1000"/>
              <a:buFont typeface="Arial"/>
              <a:buChar char="•"/>
            </a:pPr>
            <a:r>
              <a:rPr lang="fr-FR"/>
              <a:t>Points clés en début de message</a:t>
            </a:r>
            <a:endParaRPr/>
          </a:p>
          <a:p>
            <a:pPr marL="0" lvl="0" indent="0" algn="l" rtl="0">
              <a:lnSpc>
                <a:spcPct val="100000"/>
              </a:lnSpc>
              <a:spcBef>
                <a:spcPts val="500"/>
              </a:spcBef>
              <a:spcAft>
                <a:spcPts val="0"/>
              </a:spcAft>
              <a:buClr>
                <a:schemeClr val="dk1"/>
              </a:buClr>
              <a:buSzPts val="1050"/>
              <a:buNone/>
            </a:pPr>
            <a:endParaRPr/>
          </a:p>
        </p:txBody>
      </p:sp>
      <p:sp>
        <p:nvSpPr>
          <p:cNvPr id="2399" name="Google Shape;2399;p199"/>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Structure des paragraphes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404"/>
        <p:cNvGrpSpPr/>
        <p:nvPr/>
      </p:nvGrpSpPr>
      <p:grpSpPr>
        <a:xfrm>
          <a:off x="0" y="0"/>
          <a:ext cx="0" cy="0"/>
          <a:chOff x="0" y="0"/>
          <a:chExt cx="0" cy="0"/>
        </a:xfrm>
      </p:grpSpPr>
      <p:sp>
        <p:nvSpPr>
          <p:cNvPr id="2405" name="Google Shape;2405;p200"/>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406" name="Google Shape;2406;p200"/>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52</a:t>
            </a:fld>
            <a:endParaRPr/>
          </a:p>
        </p:txBody>
      </p:sp>
      <p:sp>
        <p:nvSpPr>
          <p:cNvPr id="2407" name="Google Shape;2407;p200"/>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408" name="Google Shape;2408;p200"/>
          <p:cNvSpPr txBox="1">
            <a:spLocks noGrp="1"/>
          </p:cNvSpPr>
          <p:nvPr>
            <p:ph type="body" idx="2"/>
          </p:nvPr>
        </p:nvSpPr>
        <p:spPr>
          <a:xfrm>
            <a:off x="359998" y="1707654"/>
            <a:ext cx="3995978" cy="2947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000"/>
              <a:buNone/>
            </a:pPr>
            <a:r>
              <a:rPr lang="fr-FR"/>
              <a:t>Les outils qui sont mis à notre disposition par les logiciels, comme dans </a:t>
            </a:r>
            <a:r>
              <a:rPr lang="fr-FR" b="1"/>
              <a:t>Word</a:t>
            </a:r>
            <a:r>
              <a:rPr lang="fr-FR"/>
              <a:t> par exemple, créent du </a:t>
            </a:r>
            <a:r>
              <a:rPr lang="fr-FR" b="1"/>
              <a:t>code accessible </a:t>
            </a:r>
            <a:r>
              <a:rPr lang="fr-FR"/>
              <a:t>pour les logiciels d'assistance vocale.</a:t>
            </a:r>
            <a:endParaRPr/>
          </a:p>
          <a:p>
            <a:pPr marL="0" lvl="0" indent="0" algn="l" rtl="0">
              <a:lnSpc>
                <a:spcPct val="200000"/>
              </a:lnSpc>
              <a:spcBef>
                <a:spcPts val="500"/>
              </a:spcBef>
              <a:spcAft>
                <a:spcPts val="0"/>
              </a:spcAft>
              <a:buClr>
                <a:schemeClr val="dk2"/>
              </a:buClr>
              <a:buSzPts val="1000"/>
              <a:buNone/>
            </a:pPr>
            <a:r>
              <a:rPr lang="fr-FR" b="1">
                <a:solidFill>
                  <a:schemeClr val="dk2"/>
                </a:solidFill>
              </a:rPr>
              <a:t>Exemple de liste</a:t>
            </a:r>
            <a:endParaRPr/>
          </a:p>
          <a:p>
            <a:pPr marL="171450" lvl="0" indent="-171450" algn="l" rtl="0">
              <a:lnSpc>
                <a:spcPct val="100000"/>
              </a:lnSpc>
              <a:spcBef>
                <a:spcPts val="500"/>
              </a:spcBef>
              <a:spcAft>
                <a:spcPts val="0"/>
              </a:spcAft>
              <a:buClr>
                <a:schemeClr val="dk1"/>
              </a:buClr>
              <a:buSzPts val="1000"/>
              <a:buFont typeface="Arial"/>
              <a:buChar char="•"/>
            </a:pPr>
            <a:r>
              <a:rPr lang="fr-FR"/>
              <a:t>﻿﻿Premier point</a:t>
            </a:r>
            <a:endParaRPr/>
          </a:p>
          <a:p>
            <a:pPr marL="171450" lvl="0" indent="-171450" algn="l" rtl="0">
              <a:lnSpc>
                <a:spcPct val="100000"/>
              </a:lnSpc>
              <a:spcBef>
                <a:spcPts val="500"/>
              </a:spcBef>
              <a:spcAft>
                <a:spcPts val="0"/>
              </a:spcAft>
              <a:buClr>
                <a:schemeClr val="dk1"/>
              </a:buClr>
              <a:buSzPts val="1000"/>
              <a:buFont typeface="Arial"/>
              <a:buChar char="•"/>
            </a:pPr>
            <a:r>
              <a:rPr lang="fr-FR"/>
              <a:t>﻿﻿Deuxième point</a:t>
            </a:r>
            <a:endParaRPr/>
          </a:p>
          <a:p>
            <a:pPr marL="171450" lvl="0" indent="-171450" algn="l" rtl="0">
              <a:lnSpc>
                <a:spcPct val="100000"/>
              </a:lnSpc>
              <a:spcBef>
                <a:spcPts val="500"/>
              </a:spcBef>
              <a:spcAft>
                <a:spcPts val="0"/>
              </a:spcAft>
              <a:buClr>
                <a:schemeClr val="dk1"/>
              </a:buClr>
              <a:buSzPts val="1000"/>
              <a:buFont typeface="Arial"/>
              <a:buChar char="•"/>
            </a:pPr>
            <a:r>
              <a:rPr lang="fr-FR"/>
              <a:t>﻿﻿Troisième point</a:t>
            </a:r>
            <a:endParaRPr/>
          </a:p>
          <a:p>
            <a:pPr marL="0" lvl="0" indent="0" algn="l" rtl="0">
              <a:lnSpc>
                <a:spcPct val="200000"/>
              </a:lnSpc>
              <a:spcBef>
                <a:spcPts val="500"/>
              </a:spcBef>
              <a:spcAft>
                <a:spcPts val="0"/>
              </a:spcAft>
              <a:buClr>
                <a:schemeClr val="dk2"/>
              </a:buClr>
              <a:buSzPts val="1000"/>
              <a:buNone/>
            </a:pPr>
            <a:r>
              <a:rPr lang="fr-FR" b="1">
                <a:solidFill>
                  <a:schemeClr val="dk2"/>
                </a:solidFill>
              </a:rPr>
              <a:t>Lu par les lecteurs d’écran</a:t>
            </a:r>
            <a:endParaRPr/>
          </a:p>
          <a:p>
            <a:pPr marL="0" lvl="0" indent="0" algn="l" rtl="0">
              <a:lnSpc>
                <a:spcPct val="100000"/>
              </a:lnSpc>
              <a:spcBef>
                <a:spcPts val="500"/>
              </a:spcBef>
              <a:spcAft>
                <a:spcPts val="0"/>
              </a:spcAft>
              <a:buClr>
                <a:schemeClr val="dk1"/>
              </a:buClr>
              <a:buSzPts val="1000"/>
              <a:buNone/>
            </a:pPr>
            <a:r>
              <a:rPr lang="fr-FR"/>
              <a:t>Liste de 3 éléments</a:t>
            </a:r>
            <a:endParaRPr/>
          </a:p>
          <a:p>
            <a:pPr marL="171450" lvl="0" indent="-171450" algn="l" rtl="0">
              <a:lnSpc>
                <a:spcPct val="100000"/>
              </a:lnSpc>
              <a:spcBef>
                <a:spcPts val="500"/>
              </a:spcBef>
              <a:spcAft>
                <a:spcPts val="0"/>
              </a:spcAft>
              <a:buClr>
                <a:schemeClr val="dk1"/>
              </a:buClr>
              <a:buSzPts val="1000"/>
              <a:buFont typeface="Arial"/>
              <a:buChar char="•"/>
            </a:pPr>
            <a:r>
              <a:rPr lang="fr-FR"/>
              <a:t>Puce « Premier point »</a:t>
            </a:r>
            <a:endParaRPr/>
          </a:p>
          <a:p>
            <a:pPr marL="171450" lvl="0" indent="-171450" algn="l" rtl="0">
              <a:lnSpc>
                <a:spcPct val="100000"/>
              </a:lnSpc>
              <a:spcBef>
                <a:spcPts val="500"/>
              </a:spcBef>
              <a:spcAft>
                <a:spcPts val="0"/>
              </a:spcAft>
              <a:buClr>
                <a:schemeClr val="dk1"/>
              </a:buClr>
              <a:buSzPts val="1000"/>
              <a:buFont typeface="Arial"/>
              <a:buChar char="•"/>
            </a:pPr>
            <a:r>
              <a:rPr lang="fr-FR"/>
              <a:t>Puce « Deuxième point »</a:t>
            </a:r>
            <a:endParaRPr/>
          </a:p>
          <a:p>
            <a:pPr marL="171450" lvl="0" indent="-171450" algn="l" rtl="0">
              <a:lnSpc>
                <a:spcPct val="100000"/>
              </a:lnSpc>
              <a:spcBef>
                <a:spcPts val="500"/>
              </a:spcBef>
              <a:spcAft>
                <a:spcPts val="0"/>
              </a:spcAft>
              <a:buClr>
                <a:schemeClr val="dk1"/>
              </a:buClr>
              <a:buSzPts val="1000"/>
              <a:buFont typeface="Arial"/>
              <a:buChar char="•"/>
            </a:pPr>
            <a:r>
              <a:rPr lang="fr-FR"/>
              <a:t>Puce « Troisième point »</a:t>
            </a:r>
            <a:endParaRPr/>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50"/>
              <a:buNone/>
            </a:pPr>
            <a:endParaRPr/>
          </a:p>
        </p:txBody>
      </p:sp>
      <p:sp>
        <p:nvSpPr>
          <p:cNvPr id="2409" name="Google Shape;2409;p200"/>
          <p:cNvSpPr txBox="1">
            <a:spLocks noGrp="1"/>
          </p:cNvSpPr>
          <p:nvPr>
            <p:ph type="body" idx="3"/>
          </p:nvPr>
        </p:nvSpPr>
        <p:spPr>
          <a:xfrm>
            <a:off x="4788023" y="1707654"/>
            <a:ext cx="3995977"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000"/>
              <a:buNone/>
            </a:pPr>
            <a:r>
              <a:rPr lang="fr-FR"/>
              <a:t>Screen écran de la barre typographique de Word</a:t>
            </a:r>
            <a:endParaRPr/>
          </a:p>
        </p:txBody>
      </p:sp>
      <p:sp>
        <p:nvSpPr>
          <p:cNvPr id="2410" name="Google Shape;2410;p200"/>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Les outils natifs des traitements de texte</a:t>
            </a:r>
            <a:endParaRPr/>
          </a:p>
        </p:txBody>
      </p:sp>
      <p:pic>
        <p:nvPicPr>
          <p:cNvPr id="2411" name="Google Shape;2411;p200"/>
          <p:cNvPicPr preferRelativeResize="0"/>
          <p:nvPr/>
        </p:nvPicPr>
        <p:blipFill rotWithShape="1">
          <a:blip r:embed="rId3">
            <a:alphaModFix/>
          </a:blip>
          <a:srcRect/>
          <a:stretch/>
        </p:blipFill>
        <p:spPr>
          <a:xfrm>
            <a:off x="4788023" y="2251075"/>
            <a:ext cx="3984272" cy="121766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416"/>
        <p:cNvGrpSpPr/>
        <p:nvPr/>
      </p:nvGrpSpPr>
      <p:grpSpPr>
        <a:xfrm>
          <a:off x="0" y="0"/>
          <a:ext cx="0" cy="0"/>
          <a:chOff x="0" y="0"/>
          <a:chExt cx="0" cy="0"/>
        </a:xfrm>
      </p:grpSpPr>
      <p:sp>
        <p:nvSpPr>
          <p:cNvPr id="2417" name="Google Shape;2417;p201"/>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418" name="Google Shape;2418;p201"/>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53</a:t>
            </a:fld>
            <a:endParaRPr/>
          </a:p>
        </p:txBody>
      </p:sp>
      <p:sp>
        <p:nvSpPr>
          <p:cNvPr id="2419" name="Google Shape;2419;p201"/>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420" name="Google Shape;2420;p201"/>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150000"/>
              </a:lnSpc>
              <a:spcBef>
                <a:spcPts val="0"/>
              </a:spcBef>
              <a:spcAft>
                <a:spcPts val="0"/>
              </a:spcAft>
              <a:buClr>
                <a:schemeClr val="dk1"/>
              </a:buClr>
              <a:buSzPts val="1000"/>
              <a:buNone/>
            </a:pPr>
            <a:r>
              <a:rPr lang="fr-FR">
                <a:latin typeface="Arial"/>
                <a:ea typeface="Arial"/>
                <a:cs typeface="Arial"/>
                <a:sym typeface="Arial"/>
              </a:rPr>
              <a:t>Lorsque l’on crée un poste sur le réseau, on ne retrouve pas ces outils de mise en page.</a:t>
            </a:r>
            <a:endParaRPr/>
          </a:p>
          <a:p>
            <a:pPr marL="0" lvl="0" indent="0" algn="l" rtl="0">
              <a:lnSpc>
                <a:spcPct val="150000"/>
              </a:lnSpc>
              <a:spcBef>
                <a:spcPts val="500"/>
              </a:spcBef>
              <a:spcAft>
                <a:spcPts val="0"/>
              </a:spcAft>
              <a:buClr>
                <a:schemeClr val="dk1"/>
              </a:buClr>
              <a:buSzPts val="1000"/>
              <a:buNone/>
            </a:pPr>
            <a:r>
              <a:rPr lang="fr-FR" b="1">
                <a:latin typeface="Arial"/>
                <a:ea typeface="Arial"/>
                <a:cs typeface="Arial"/>
                <a:sym typeface="Arial"/>
              </a:rPr>
              <a:t>Pas d'outil </a:t>
            </a:r>
            <a:r>
              <a:rPr lang="fr-FR">
                <a:latin typeface="Arial"/>
                <a:ea typeface="Arial"/>
                <a:cs typeface="Arial"/>
                <a:sym typeface="Arial"/>
              </a:rPr>
              <a:t>pour mettre le texte en </a:t>
            </a:r>
            <a:r>
              <a:rPr lang="fr-FR" b="1">
                <a:latin typeface="Arial"/>
                <a:ea typeface="Arial"/>
                <a:cs typeface="Arial"/>
                <a:sym typeface="Arial"/>
              </a:rPr>
              <a:t>gras</a:t>
            </a:r>
            <a:r>
              <a:rPr lang="fr-FR">
                <a:latin typeface="Arial"/>
                <a:ea typeface="Arial"/>
                <a:cs typeface="Arial"/>
                <a:sym typeface="Arial"/>
              </a:rPr>
              <a:t>, ni pour créer des </a:t>
            </a:r>
            <a:r>
              <a:rPr lang="fr-FR" b="1">
                <a:latin typeface="Arial"/>
                <a:ea typeface="Arial"/>
                <a:cs typeface="Arial"/>
                <a:sym typeface="Arial"/>
              </a:rPr>
              <a:t>listes</a:t>
            </a:r>
            <a:r>
              <a:rPr lang="fr-FR">
                <a:latin typeface="Arial"/>
                <a:ea typeface="Arial"/>
                <a:cs typeface="Arial"/>
                <a:sym typeface="Arial"/>
              </a:rPr>
              <a:t>, etc.</a:t>
            </a:r>
            <a:endParaRPr/>
          </a:p>
          <a:p>
            <a:pPr marL="0" lvl="0" indent="0" algn="l" rtl="0">
              <a:lnSpc>
                <a:spcPct val="150000"/>
              </a:lnSpc>
              <a:spcBef>
                <a:spcPts val="500"/>
              </a:spcBef>
              <a:spcAft>
                <a:spcPts val="0"/>
              </a:spcAft>
              <a:buClr>
                <a:schemeClr val="dk1"/>
              </a:buClr>
              <a:buSzPts val="1050"/>
              <a:buNone/>
            </a:pPr>
            <a:endParaRPr>
              <a:latin typeface="Arial"/>
              <a:ea typeface="Arial"/>
              <a:cs typeface="Arial"/>
              <a:sym typeface="Arial"/>
            </a:endParaRPr>
          </a:p>
          <a:p>
            <a:pPr marL="171450" lvl="0" indent="-171450" algn="l" rtl="0">
              <a:lnSpc>
                <a:spcPct val="100000"/>
              </a:lnSpc>
              <a:spcBef>
                <a:spcPts val="500"/>
              </a:spcBef>
              <a:spcAft>
                <a:spcPts val="0"/>
              </a:spcAft>
              <a:buClr>
                <a:schemeClr val="dk1"/>
              </a:buClr>
              <a:buSzPts val="1000"/>
              <a:buFont typeface="Arial"/>
              <a:buChar char="•"/>
            </a:pPr>
            <a:r>
              <a:rPr lang="fr-FR"/>
              <a:t>Interface de saisie Instagram</a:t>
            </a:r>
            <a:endParaRPr/>
          </a:p>
          <a:p>
            <a:pPr marL="171450" lvl="0" indent="-171450" algn="l" rtl="0">
              <a:lnSpc>
                <a:spcPct val="100000"/>
              </a:lnSpc>
              <a:spcBef>
                <a:spcPts val="500"/>
              </a:spcBef>
              <a:spcAft>
                <a:spcPts val="0"/>
              </a:spcAft>
              <a:buClr>
                <a:schemeClr val="dk1"/>
              </a:buClr>
              <a:buSzPts val="1000"/>
              <a:buFont typeface="Arial"/>
              <a:buChar char="•"/>
            </a:pPr>
            <a:r>
              <a:rPr lang="fr-FR"/>
              <a:t>Interface de saisie Linkedin</a:t>
            </a:r>
            <a:endParaRPr/>
          </a:p>
          <a:p>
            <a:pPr marL="171450" lvl="0" indent="-171450" algn="l" rtl="0">
              <a:lnSpc>
                <a:spcPct val="100000"/>
              </a:lnSpc>
              <a:spcBef>
                <a:spcPts val="500"/>
              </a:spcBef>
              <a:spcAft>
                <a:spcPts val="0"/>
              </a:spcAft>
              <a:buClr>
                <a:schemeClr val="dk1"/>
              </a:buClr>
              <a:buSzPts val="1000"/>
              <a:buFont typeface="Arial"/>
              <a:buChar char="•"/>
            </a:pPr>
            <a:r>
              <a:rPr lang="fr-FR"/>
              <a:t>Interface de saisie X twitter</a:t>
            </a:r>
            <a:endParaRPr/>
          </a:p>
          <a:p>
            <a:pPr marL="171450" lvl="0" indent="-171450" algn="l" rtl="0">
              <a:lnSpc>
                <a:spcPct val="100000"/>
              </a:lnSpc>
              <a:spcBef>
                <a:spcPts val="500"/>
              </a:spcBef>
              <a:spcAft>
                <a:spcPts val="0"/>
              </a:spcAft>
              <a:buClr>
                <a:schemeClr val="dk1"/>
              </a:buClr>
              <a:buSzPts val="1000"/>
              <a:buFont typeface="Arial"/>
              <a:buChar char="•"/>
            </a:pPr>
            <a:r>
              <a:rPr lang="fr-FR"/>
              <a:t>Interface de saisie d'un post Facebook</a:t>
            </a:r>
            <a:endParaRPr/>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00"/>
              <a:buNone/>
            </a:pPr>
            <a:br>
              <a:rPr lang="fr-FR"/>
            </a:br>
            <a:endParaRPr/>
          </a:p>
        </p:txBody>
      </p:sp>
      <p:sp>
        <p:nvSpPr>
          <p:cNvPr id="2421" name="Google Shape;2421;p201"/>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2400"/>
              <a:buFont typeface="Arial"/>
              <a:buNone/>
            </a:pPr>
            <a:r>
              <a:rPr lang="fr-FR" sz="2400" b="1">
                <a:solidFill>
                  <a:schemeClr val="dk2"/>
                </a:solidFill>
                <a:latin typeface="Arial"/>
                <a:ea typeface="Arial"/>
                <a:cs typeface="Arial"/>
                <a:sym typeface="Arial"/>
              </a:rPr>
              <a:t>Les outils sur les réseaux sociaux</a:t>
            </a:r>
            <a:br>
              <a:rPr lang="fr-FR" sz="2400" b="1">
                <a:solidFill>
                  <a:schemeClr val="dk2"/>
                </a:solidFill>
                <a:latin typeface="Arial"/>
                <a:ea typeface="Arial"/>
                <a:cs typeface="Arial"/>
                <a:sym typeface="Arial"/>
              </a:rPr>
            </a:br>
            <a:endParaRPr sz="2400"/>
          </a:p>
        </p:txBody>
      </p:sp>
      <p:sp>
        <p:nvSpPr>
          <p:cNvPr id="2422" name="Google Shape;2422;p201"/>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Pas d’outils typographiques</a:t>
            </a:r>
            <a:endParaRPr/>
          </a:p>
        </p:txBody>
      </p:sp>
      <p:pic>
        <p:nvPicPr>
          <p:cNvPr id="2423" name="Google Shape;2423;p201" descr="Interface de saisie d'un post X twitter"/>
          <p:cNvPicPr preferRelativeResize="0"/>
          <p:nvPr/>
        </p:nvPicPr>
        <p:blipFill rotWithShape="1">
          <a:blip r:embed="rId3">
            <a:alphaModFix/>
          </a:blip>
          <a:srcRect/>
          <a:stretch/>
        </p:blipFill>
        <p:spPr>
          <a:xfrm>
            <a:off x="4749851" y="3342370"/>
            <a:ext cx="2204202" cy="1082166"/>
          </a:xfrm>
          <a:prstGeom prst="rect">
            <a:avLst/>
          </a:prstGeom>
          <a:noFill/>
          <a:ln>
            <a:noFill/>
          </a:ln>
        </p:spPr>
      </p:pic>
      <p:pic>
        <p:nvPicPr>
          <p:cNvPr id="2424" name="Google Shape;2424;p201" descr="Interface de saisie d'un post Instagram"/>
          <p:cNvPicPr preferRelativeResize="0"/>
          <p:nvPr/>
        </p:nvPicPr>
        <p:blipFill rotWithShape="1">
          <a:blip r:embed="rId4">
            <a:alphaModFix/>
          </a:blip>
          <a:srcRect/>
          <a:stretch/>
        </p:blipFill>
        <p:spPr>
          <a:xfrm>
            <a:off x="5508104" y="1964844"/>
            <a:ext cx="1430896" cy="1259453"/>
          </a:xfrm>
          <a:prstGeom prst="rect">
            <a:avLst/>
          </a:prstGeom>
          <a:noFill/>
          <a:ln>
            <a:noFill/>
          </a:ln>
        </p:spPr>
      </p:pic>
      <p:pic>
        <p:nvPicPr>
          <p:cNvPr id="2425" name="Google Shape;2425;p201" descr="Interface de saisie d'un post Linkedin"/>
          <p:cNvPicPr preferRelativeResize="0"/>
          <p:nvPr/>
        </p:nvPicPr>
        <p:blipFill rotWithShape="1">
          <a:blip r:embed="rId5">
            <a:alphaModFix/>
          </a:blip>
          <a:srcRect/>
          <a:stretch/>
        </p:blipFill>
        <p:spPr>
          <a:xfrm>
            <a:off x="7024764" y="1933284"/>
            <a:ext cx="1674395" cy="1347684"/>
          </a:xfrm>
          <a:prstGeom prst="rect">
            <a:avLst/>
          </a:prstGeom>
          <a:noFill/>
          <a:ln>
            <a:noFill/>
          </a:ln>
        </p:spPr>
      </p:pic>
      <p:pic>
        <p:nvPicPr>
          <p:cNvPr id="2426" name="Google Shape;2426;p201" descr="Interface de saisie d'un post Facebook"/>
          <p:cNvPicPr preferRelativeResize="0"/>
          <p:nvPr/>
        </p:nvPicPr>
        <p:blipFill rotWithShape="1">
          <a:blip r:embed="rId6">
            <a:alphaModFix/>
          </a:blip>
          <a:srcRect/>
          <a:stretch/>
        </p:blipFill>
        <p:spPr>
          <a:xfrm>
            <a:off x="6988863" y="3378252"/>
            <a:ext cx="1760326" cy="106273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431"/>
        <p:cNvGrpSpPr/>
        <p:nvPr/>
      </p:nvGrpSpPr>
      <p:grpSpPr>
        <a:xfrm>
          <a:off x="0" y="0"/>
          <a:ext cx="0" cy="0"/>
          <a:chOff x="0" y="0"/>
          <a:chExt cx="0" cy="0"/>
        </a:xfrm>
      </p:grpSpPr>
      <p:sp>
        <p:nvSpPr>
          <p:cNvPr id="2432" name="Google Shape;2432;p202"/>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433" name="Google Shape;2433;p202"/>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54</a:t>
            </a:fld>
            <a:endParaRPr/>
          </a:p>
        </p:txBody>
      </p:sp>
      <p:sp>
        <p:nvSpPr>
          <p:cNvPr id="2434" name="Google Shape;2434;p202"/>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435" name="Google Shape;2435;p202"/>
          <p:cNvSpPr txBox="1">
            <a:spLocks noGrp="1"/>
          </p:cNvSpPr>
          <p:nvPr>
            <p:ph type="body" idx="2"/>
          </p:nvPr>
        </p:nvSpPr>
        <p:spPr>
          <a:xfrm>
            <a:off x="359999"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Post LinkedIn de Julie Higounet</a:t>
            </a:r>
            <a:endParaRPr/>
          </a:p>
          <a:p>
            <a:pPr marL="0" lvl="0" indent="0" algn="l" rtl="0">
              <a:lnSpc>
                <a:spcPct val="100000"/>
              </a:lnSpc>
              <a:spcBef>
                <a:spcPts val="500"/>
              </a:spcBef>
              <a:spcAft>
                <a:spcPts val="0"/>
              </a:spcAft>
              <a:buClr>
                <a:schemeClr val="dk1"/>
              </a:buClr>
              <a:buSzPts val="1000"/>
              <a:buNone/>
            </a:pPr>
            <a:r>
              <a:rPr lang="fr-FR" u="sng">
                <a:solidFill>
                  <a:schemeClr val="hlink"/>
                </a:solidFill>
                <a:hlinkClick r:id="rId3"/>
              </a:rPr>
              <a:t>https://www.linkedin.com/posts/higounetjulie_education-developpementprofessionnel-formation-activity-7255796294944788480-TNkx</a:t>
            </a:r>
            <a:endParaRPr/>
          </a:p>
          <a:p>
            <a:pPr marL="171450" lvl="0" indent="-171450" algn="l" rtl="0">
              <a:lnSpc>
                <a:spcPct val="100000"/>
              </a:lnSpc>
              <a:spcBef>
                <a:spcPts val="500"/>
              </a:spcBef>
              <a:spcAft>
                <a:spcPts val="0"/>
              </a:spcAft>
              <a:buClr>
                <a:schemeClr val="dk1"/>
              </a:buClr>
              <a:buSzPts val="1000"/>
              <a:buFont typeface="Arial"/>
              <a:buChar char="•"/>
            </a:pPr>
            <a:r>
              <a:rPr lang="fr-FR"/>
              <a:t>La première phrase du post n’est pas lue par les lecteurs d’écran.</a:t>
            </a:r>
            <a:endParaRPr/>
          </a:p>
          <a:p>
            <a:pPr marL="171450" lvl="0" indent="-171450" algn="l" rtl="0">
              <a:lnSpc>
                <a:spcPct val="100000"/>
              </a:lnSpc>
              <a:spcBef>
                <a:spcPts val="500"/>
              </a:spcBef>
              <a:spcAft>
                <a:spcPts val="0"/>
              </a:spcAft>
              <a:buClr>
                <a:schemeClr val="dk1"/>
              </a:buClr>
              <a:buSzPts val="1000"/>
              <a:buFont typeface="Arial"/>
              <a:buChar char="•"/>
            </a:pPr>
            <a:r>
              <a:rPr lang="fr-FR"/>
              <a:t>Planifier séquences et activités avec l’IA !</a:t>
            </a:r>
            <a:endParaRPr/>
          </a:p>
          <a:p>
            <a:pPr marL="171450" lvl="0" indent="-171450" algn="l" rtl="0">
              <a:lnSpc>
                <a:spcPct val="100000"/>
              </a:lnSpc>
              <a:spcBef>
                <a:spcPts val="500"/>
              </a:spcBef>
              <a:spcAft>
                <a:spcPts val="0"/>
              </a:spcAft>
              <a:buClr>
                <a:schemeClr val="dk1"/>
              </a:buClr>
              <a:buSzPts val="1000"/>
              <a:buFont typeface="Arial"/>
              <a:buChar char="•"/>
            </a:pPr>
            <a:r>
              <a:rPr lang="fr-FR" b="0" i="0">
                <a:latin typeface="Arial"/>
                <a:ea typeface="Arial"/>
                <a:cs typeface="Arial"/>
                <a:sym typeface="Arial"/>
              </a:rPr>
              <a:t>ℙ𝕝𝕒𝕟𝕚𝕗𝕚𝕖𝕣 𝕤𝕖́𝕢𝕦𝕖𝕟𝕔𝕖𝕤 𝕖𝕥 𝕒𝕔𝕥𝕚𝕧𝕚𝕥𝕖́𝕤 𝕒𝕧𝕖𝕔 𝕝'𝕀𝔸 ! </a:t>
            </a:r>
            <a:endParaRPr/>
          </a:p>
          <a:p>
            <a:pPr marL="0" lvl="0" indent="0" algn="l" rtl="0">
              <a:lnSpc>
                <a:spcPct val="100000"/>
              </a:lnSpc>
              <a:spcBef>
                <a:spcPts val="500"/>
              </a:spcBef>
              <a:spcAft>
                <a:spcPts val="0"/>
              </a:spcAft>
              <a:buClr>
                <a:schemeClr val="dk1"/>
              </a:buClr>
              <a:buSzPts val="1050"/>
              <a:buNone/>
            </a:pPr>
            <a:endParaRPr/>
          </a:p>
        </p:txBody>
      </p:sp>
      <p:sp>
        <p:nvSpPr>
          <p:cNvPr id="2436" name="Google Shape;2436;p202"/>
          <p:cNvSpPr txBox="1">
            <a:spLocks noGrp="1"/>
          </p:cNvSpPr>
          <p:nvPr>
            <p:ph type="body" idx="4"/>
          </p:nvPr>
        </p:nvSpPr>
        <p:spPr>
          <a:xfrm>
            <a:off x="6264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Restitution par Voice Over</a:t>
            </a:r>
            <a:endParaRPr/>
          </a:p>
          <a:p>
            <a:pPr marL="171450" lvl="0" indent="-171450" algn="l" rtl="0">
              <a:lnSpc>
                <a:spcPct val="100000"/>
              </a:lnSpc>
              <a:spcBef>
                <a:spcPts val="500"/>
              </a:spcBef>
              <a:spcAft>
                <a:spcPts val="0"/>
              </a:spcAft>
              <a:buClr>
                <a:schemeClr val="dk1"/>
              </a:buClr>
              <a:buSzPts val="1000"/>
              <a:buFont typeface="Arial"/>
              <a:buChar char="•"/>
            </a:pPr>
            <a:r>
              <a:rPr lang="fr-FR" u="sng">
                <a:solidFill>
                  <a:schemeClr val="hlink"/>
                </a:solidFill>
                <a:hlinkClick r:id="rId4"/>
              </a:rPr>
              <a:t>https://www.youtube.com/watch?v=CX9nmK44TiM</a:t>
            </a:r>
            <a:endParaRPr/>
          </a:p>
          <a:p>
            <a:pPr marL="0" lvl="0" indent="0" algn="l" rtl="0">
              <a:lnSpc>
                <a:spcPct val="100000"/>
              </a:lnSpc>
              <a:spcBef>
                <a:spcPts val="500"/>
              </a:spcBef>
              <a:spcAft>
                <a:spcPts val="0"/>
              </a:spcAft>
              <a:buClr>
                <a:schemeClr val="dk1"/>
              </a:buClr>
              <a:buSzPts val="1050"/>
              <a:buNone/>
            </a:pPr>
            <a:endParaRPr/>
          </a:p>
        </p:txBody>
      </p:sp>
      <p:sp>
        <p:nvSpPr>
          <p:cNvPr id="2437" name="Google Shape;2437;p202"/>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Cas d'utilisation problématique - 1</a:t>
            </a:r>
            <a:endParaRPr/>
          </a:p>
        </p:txBody>
      </p:sp>
      <p:sp>
        <p:nvSpPr>
          <p:cNvPr id="2438" name="Google Shape;2438;p202"/>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Exemple réel : cas 1</a:t>
            </a:r>
            <a:endParaRPr/>
          </a:p>
        </p:txBody>
      </p:sp>
      <p:pic>
        <p:nvPicPr>
          <p:cNvPr id="2439" name="Google Shape;2439;p202"/>
          <p:cNvPicPr preferRelativeResize="0"/>
          <p:nvPr/>
        </p:nvPicPr>
        <p:blipFill rotWithShape="1">
          <a:blip r:embed="rId5">
            <a:alphaModFix/>
          </a:blip>
          <a:srcRect/>
          <a:stretch/>
        </p:blipFill>
        <p:spPr>
          <a:xfrm>
            <a:off x="3321485" y="1836000"/>
            <a:ext cx="2501028" cy="2317056"/>
          </a:xfrm>
          <a:prstGeom prst="rect">
            <a:avLst/>
          </a:prstGeom>
          <a:noFill/>
          <a:ln>
            <a:noFill/>
          </a:ln>
        </p:spPr>
      </p:pic>
      <p:pic>
        <p:nvPicPr>
          <p:cNvPr id="2440" name="Google Shape;2440;p202" descr="Julie - caractère ascii non lu par la synthèse vocale Voice Over"/>
          <p:cNvPicPr preferRelativeResize="0"/>
          <p:nvPr/>
        </p:nvPicPr>
        <p:blipFill rotWithShape="1">
          <a:blip r:embed="rId6">
            <a:alphaModFix/>
          </a:blip>
          <a:srcRect/>
          <a:stretch/>
        </p:blipFill>
        <p:spPr>
          <a:xfrm>
            <a:off x="6215038" y="2643614"/>
            <a:ext cx="2540000" cy="1435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40"/>
                                        </p:tgtEl>
                                        <p:attrNameLst>
                                          <p:attrName>style.visibility</p:attrName>
                                        </p:attrNameLst>
                                      </p:cBhvr>
                                      <p:to>
                                        <p:strVal val="visible"/>
                                      </p:to>
                                    </p:set>
                                    <p:animEffect transition="in" filter="fade">
                                      <p:cBhvr>
                                        <p:cTn id="7" dur="1"/>
                                        <p:tgtEl>
                                          <p:spTgt spid="2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445"/>
        <p:cNvGrpSpPr/>
        <p:nvPr/>
      </p:nvGrpSpPr>
      <p:grpSpPr>
        <a:xfrm>
          <a:off x="0" y="0"/>
          <a:ext cx="0" cy="0"/>
          <a:chOff x="0" y="0"/>
          <a:chExt cx="0" cy="0"/>
        </a:xfrm>
      </p:grpSpPr>
      <p:sp>
        <p:nvSpPr>
          <p:cNvPr id="2446" name="Google Shape;2446;p203"/>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447" name="Google Shape;2447;p203"/>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55</a:t>
            </a:fld>
            <a:endParaRPr/>
          </a:p>
        </p:txBody>
      </p:sp>
      <p:sp>
        <p:nvSpPr>
          <p:cNvPr id="2448" name="Google Shape;2448;p203"/>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449" name="Google Shape;2449;p203"/>
          <p:cNvSpPr txBox="1">
            <a:spLocks noGrp="1"/>
          </p:cNvSpPr>
          <p:nvPr>
            <p:ph type="body" idx="2"/>
          </p:nvPr>
        </p:nvSpPr>
        <p:spPr>
          <a:xfrm>
            <a:off x="359998" y="1836000"/>
            <a:ext cx="2699833" cy="2947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Publication </a:t>
            </a:r>
            <a:r>
              <a:rPr lang="fr-FR" b="1" i="0">
                <a:solidFill>
                  <a:schemeClr val="dk2"/>
                </a:solidFill>
              </a:rPr>
              <a:t>Instagram de la marque Orly</a:t>
            </a:r>
            <a:endParaRPr b="1">
              <a:solidFill>
                <a:schemeClr val="dk2"/>
              </a:solidFill>
            </a:endParaRPr>
          </a:p>
          <a:p>
            <a:pPr marL="0" lvl="0" indent="0" algn="l" rtl="0">
              <a:lnSpc>
                <a:spcPct val="100000"/>
              </a:lnSpc>
              <a:spcBef>
                <a:spcPts val="1100"/>
              </a:spcBef>
              <a:spcAft>
                <a:spcPts val="0"/>
              </a:spcAft>
              <a:buClr>
                <a:schemeClr val="dk1"/>
              </a:buClr>
              <a:buSzPts val="1000"/>
              <a:buNone/>
            </a:pPr>
            <a:r>
              <a:rPr lang="fr-FR" b="1" i="0"/>
              <a:t>Contexte :</a:t>
            </a:r>
            <a:r>
              <a:rPr lang="fr-FR" b="0" i="0"/>
              <a:t> Publication Instagram d'Orly utilisant des caractères Unicode stylisés</a:t>
            </a:r>
            <a:endParaRPr/>
          </a:p>
          <a:p>
            <a:pPr marL="0" lvl="0" indent="0" algn="l" rtl="0">
              <a:lnSpc>
                <a:spcPct val="100000"/>
              </a:lnSpc>
              <a:spcBef>
                <a:spcPts val="500"/>
              </a:spcBef>
              <a:spcAft>
                <a:spcPts val="0"/>
              </a:spcAft>
              <a:buClr>
                <a:schemeClr val="dk1"/>
              </a:buClr>
              <a:buSzPts val="1000"/>
              <a:buNone/>
            </a:pPr>
            <a:r>
              <a:rPr lang="fr-FR" b="1" i="0"/>
              <a:t>Technique utilisée :</a:t>
            </a:r>
            <a:r>
              <a:rPr lang="fr-FR" b="0" i="0"/>
              <a:t> Caractères Unicode alternatifs pour "IN LUCK" et "CLOVER AND OVER"</a:t>
            </a:r>
            <a:endParaRPr/>
          </a:p>
          <a:p>
            <a:pPr marL="0" lvl="0" indent="0" algn="l" rtl="0">
              <a:lnSpc>
                <a:spcPct val="100000"/>
              </a:lnSpc>
              <a:spcBef>
                <a:spcPts val="500"/>
              </a:spcBef>
              <a:spcAft>
                <a:spcPts val="0"/>
              </a:spcAft>
              <a:buClr>
                <a:schemeClr val="dk1"/>
              </a:buClr>
              <a:buSzPts val="1000"/>
              <a:buNone/>
            </a:pPr>
            <a:r>
              <a:rPr lang="fr-FR" b="1" i="0"/>
              <a:t>Impact négatif :</a:t>
            </a:r>
            <a:r>
              <a:rPr lang="fr-FR" b="0" i="0"/>
              <a:t> Texte inaccessible aux lecteurs d'écran</a:t>
            </a:r>
            <a:endParaRPr/>
          </a:p>
          <a:p>
            <a:pPr marL="0" lvl="0" indent="0" algn="l" rtl="0">
              <a:lnSpc>
                <a:spcPct val="100000"/>
              </a:lnSpc>
              <a:spcBef>
                <a:spcPts val="500"/>
              </a:spcBef>
              <a:spcAft>
                <a:spcPts val="0"/>
              </a:spcAft>
              <a:buClr>
                <a:schemeClr val="dk1"/>
              </a:buClr>
              <a:buSzPts val="1000"/>
              <a:buNone/>
            </a:pPr>
            <a:r>
              <a:rPr lang="fr-FR" b="1" i="0"/>
              <a:t>Recommandation :</a:t>
            </a:r>
            <a:r>
              <a:rPr lang="fr-FR" b="0" i="0"/>
              <a:t> Privilégier les options de mise en forme natives de la plateforme</a:t>
            </a:r>
            <a:endParaRPr b="0" i="0"/>
          </a:p>
          <a:p>
            <a:pPr marL="0" lvl="0" indent="0" algn="l" rtl="0">
              <a:lnSpc>
                <a:spcPct val="100000"/>
              </a:lnSpc>
              <a:spcBef>
                <a:spcPts val="500"/>
              </a:spcBef>
              <a:spcAft>
                <a:spcPts val="0"/>
              </a:spcAft>
              <a:buClr>
                <a:schemeClr val="dk1"/>
              </a:buClr>
              <a:buSzPts val="1000"/>
              <a:buNone/>
            </a:pPr>
            <a:r>
              <a:rPr lang="fr-FR" b="1"/>
              <a:t>Lien vers le post :</a:t>
            </a:r>
            <a:endParaRPr b="1" i="0"/>
          </a:p>
          <a:p>
            <a:pPr marL="0" lvl="0" indent="0" algn="l" rtl="0">
              <a:lnSpc>
                <a:spcPct val="100000"/>
              </a:lnSpc>
              <a:spcBef>
                <a:spcPts val="500"/>
              </a:spcBef>
              <a:spcAft>
                <a:spcPts val="0"/>
              </a:spcAft>
              <a:buClr>
                <a:schemeClr val="dk1"/>
              </a:buClr>
              <a:buSzPts val="1000"/>
              <a:buNone/>
            </a:pPr>
            <a:r>
              <a:rPr lang="fr-FR" u="sng">
                <a:solidFill>
                  <a:schemeClr val="hlink"/>
                </a:solidFill>
                <a:hlinkClick r:id="rId3"/>
              </a:rPr>
              <a:t>https://www.instagram.com/p/CaFgT00O7lF/</a:t>
            </a:r>
            <a:endParaRPr/>
          </a:p>
          <a:p>
            <a:pPr marL="0" lvl="0" indent="0" algn="l" rtl="0">
              <a:lnSpc>
                <a:spcPct val="100000"/>
              </a:lnSpc>
              <a:spcBef>
                <a:spcPts val="500"/>
              </a:spcBef>
              <a:spcAft>
                <a:spcPts val="0"/>
              </a:spcAft>
              <a:buClr>
                <a:schemeClr val="dk1"/>
              </a:buClr>
              <a:buSzPts val="1050"/>
              <a:buNone/>
            </a:pPr>
            <a:endParaRPr b="0" i="0"/>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50"/>
              <a:buNone/>
            </a:pPr>
            <a:endParaRPr/>
          </a:p>
        </p:txBody>
      </p:sp>
      <p:sp>
        <p:nvSpPr>
          <p:cNvPr id="2450" name="Google Shape;2450;p203"/>
          <p:cNvSpPr txBox="1">
            <a:spLocks noGrp="1"/>
          </p:cNvSpPr>
          <p:nvPr>
            <p:ph type="body" idx="4"/>
          </p:nvPr>
        </p:nvSpPr>
        <p:spPr>
          <a:xfrm>
            <a:off x="6264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La traduction des mots en faux texte n’est pas possible.</a:t>
            </a:r>
            <a:endParaRPr/>
          </a:p>
          <a:p>
            <a:pPr marL="171450" lvl="0" indent="-171450" algn="l" rtl="0">
              <a:lnSpc>
                <a:spcPct val="100000"/>
              </a:lnSpc>
              <a:spcBef>
                <a:spcPts val="500"/>
              </a:spcBef>
              <a:spcAft>
                <a:spcPts val="0"/>
              </a:spcAft>
              <a:buClr>
                <a:schemeClr val="dk1"/>
              </a:buClr>
              <a:buSzPts val="1000"/>
              <a:buFont typeface="Arial"/>
              <a:buChar char="•"/>
            </a:pPr>
            <a:r>
              <a:rPr lang="fr-FR"/>
              <a:t>Ils sont mal restitués par la synthèse vocale.</a:t>
            </a:r>
            <a:endParaRPr/>
          </a:p>
          <a:p>
            <a:pPr marL="171450" lvl="0" indent="-171450" algn="l" rtl="0">
              <a:lnSpc>
                <a:spcPct val="100000"/>
              </a:lnSpc>
              <a:spcBef>
                <a:spcPts val="500"/>
              </a:spcBef>
              <a:spcAft>
                <a:spcPts val="0"/>
              </a:spcAft>
              <a:buClr>
                <a:schemeClr val="dk1"/>
              </a:buClr>
              <a:buSzPts val="1000"/>
              <a:buFont typeface="Arial"/>
              <a:buChar char="•"/>
            </a:pPr>
            <a:r>
              <a:rPr lang="fr-FR"/>
              <a:t>Cf </a:t>
            </a:r>
            <a:r>
              <a:rPr lang="fr-FR" u="sng">
                <a:solidFill>
                  <a:schemeClr val="hlink"/>
                </a:solidFill>
                <a:hlinkClick r:id="rId4"/>
              </a:rPr>
              <a:t>https://youtu.be/n7MAKhdwfmQ</a:t>
            </a:r>
            <a:endParaRPr/>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50"/>
              <a:buNone/>
            </a:pPr>
            <a:endParaRPr/>
          </a:p>
        </p:txBody>
      </p:sp>
      <p:sp>
        <p:nvSpPr>
          <p:cNvPr id="2451" name="Google Shape;2451;p203"/>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Cas d'utilisation problématique - 2</a:t>
            </a:r>
            <a:endParaRPr/>
          </a:p>
        </p:txBody>
      </p:sp>
      <p:sp>
        <p:nvSpPr>
          <p:cNvPr id="2452" name="Google Shape;2452;p203"/>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Exemple réel : cas 2 - caractères Unicode stylisés</a:t>
            </a:r>
            <a:endParaRPr/>
          </a:p>
        </p:txBody>
      </p:sp>
      <p:pic>
        <p:nvPicPr>
          <p:cNvPr id="2453" name="Google Shape;2453;p203" descr="Capture d'écran du post Instagram de la marque Orly. Cf lien en colonne 1"/>
          <p:cNvPicPr preferRelativeResize="0"/>
          <p:nvPr/>
        </p:nvPicPr>
        <p:blipFill rotWithShape="1">
          <a:blip r:embed="rId5">
            <a:alphaModFix/>
          </a:blip>
          <a:srcRect/>
          <a:stretch/>
        </p:blipFill>
        <p:spPr>
          <a:xfrm>
            <a:off x="3311999" y="2039171"/>
            <a:ext cx="2504489" cy="1612699"/>
          </a:xfrm>
          <a:prstGeom prst="rect">
            <a:avLst/>
          </a:prstGeom>
          <a:noFill/>
          <a:ln>
            <a:noFill/>
          </a:ln>
        </p:spPr>
      </p:pic>
      <p:pic>
        <p:nvPicPr>
          <p:cNvPr id="2454" name="Google Shape;2454;p203" descr="Marque Orly - traduction impossible du faux texte ascii"/>
          <p:cNvPicPr preferRelativeResize="0"/>
          <p:nvPr/>
        </p:nvPicPr>
        <p:blipFill rotWithShape="1">
          <a:blip r:embed="rId6">
            <a:alphaModFix/>
          </a:blip>
          <a:srcRect/>
          <a:stretch/>
        </p:blipFill>
        <p:spPr>
          <a:xfrm>
            <a:off x="6344000" y="2934320"/>
            <a:ext cx="2540000" cy="1435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54"/>
                                        </p:tgtEl>
                                        <p:attrNameLst>
                                          <p:attrName>style.visibility</p:attrName>
                                        </p:attrNameLst>
                                      </p:cBhvr>
                                      <p:to>
                                        <p:strVal val="visible"/>
                                      </p:to>
                                    </p:set>
                                    <p:animEffect transition="in" filter="fade">
                                      <p:cBhvr>
                                        <p:cTn id="7" dur="1"/>
                                        <p:tgtEl>
                                          <p:spTgt spid="2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459"/>
        <p:cNvGrpSpPr/>
        <p:nvPr/>
      </p:nvGrpSpPr>
      <p:grpSpPr>
        <a:xfrm>
          <a:off x="0" y="0"/>
          <a:ext cx="0" cy="0"/>
          <a:chOff x="0" y="0"/>
          <a:chExt cx="0" cy="0"/>
        </a:xfrm>
      </p:grpSpPr>
      <p:sp>
        <p:nvSpPr>
          <p:cNvPr id="2460" name="Google Shape;2460;p204"/>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461" name="Google Shape;2461;p204"/>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56</a:t>
            </a:fld>
            <a:endParaRPr/>
          </a:p>
        </p:txBody>
      </p:sp>
      <p:sp>
        <p:nvSpPr>
          <p:cNvPr id="2462" name="Google Shape;2462;p204"/>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463" name="Google Shape;2463;p204"/>
          <p:cNvSpPr txBox="1">
            <a:spLocks noGrp="1"/>
          </p:cNvSpPr>
          <p:nvPr>
            <p:ph type="body" idx="2"/>
          </p:nvPr>
        </p:nvSpPr>
        <p:spPr>
          <a:xfrm>
            <a:off x="359999"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Post LinkedIn pour inciter à lire le livre technopolitique d’Asma Mhalla</a:t>
            </a:r>
            <a:endParaRPr/>
          </a:p>
          <a:p>
            <a:pPr marL="171450" lvl="0" indent="-171450" algn="l" rtl="0">
              <a:lnSpc>
                <a:spcPct val="100000"/>
              </a:lnSpc>
              <a:spcBef>
                <a:spcPts val="1100"/>
              </a:spcBef>
              <a:spcAft>
                <a:spcPts val="0"/>
              </a:spcAft>
              <a:buClr>
                <a:schemeClr val="dk1"/>
              </a:buClr>
              <a:buSzPts val="1000"/>
              <a:buFont typeface="Arial"/>
              <a:buChar char="•"/>
            </a:pPr>
            <a:r>
              <a:rPr lang="fr-FR"/>
              <a:t>Le titre du livre n’est pas restitué</a:t>
            </a:r>
            <a:endParaRPr/>
          </a:p>
          <a:p>
            <a:pPr marL="171450" lvl="0" indent="-171450" algn="l" rtl="0">
              <a:lnSpc>
                <a:spcPct val="100000"/>
              </a:lnSpc>
              <a:spcBef>
                <a:spcPts val="500"/>
              </a:spcBef>
              <a:spcAft>
                <a:spcPts val="0"/>
              </a:spcAft>
              <a:buClr>
                <a:schemeClr val="dk1"/>
              </a:buClr>
              <a:buSzPts val="1000"/>
              <a:buFont typeface="Arial"/>
              <a:buChar char="•"/>
            </a:pPr>
            <a:r>
              <a:rPr lang="fr-FR"/>
              <a:t>L’image de couverture du livre n’a pas d’alternative</a:t>
            </a:r>
            <a:endParaRPr/>
          </a:p>
          <a:p>
            <a:pPr marL="171450" lvl="0" indent="-171450" algn="l" rtl="0">
              <a:lnSpc>
                <a:spcPct val="100000"/>
              </a:lnSpc>
              <a:spcBef>
                <a:spcPts val="500"/>
              </a:spcBef>
              <a:spcAft>
                <a:spcPts val="0"/>
              </a:spcAft>
              <a:buClr>
                <a:schemeClr val="dk1"/>
              </a:buClr>
              <a:buSzPts val="1000"/>
              <a:buFont typeface="Arial"/>
              <a:buChar char="•"/>
            </a:pPr>
            <a:r>
              <a:rPr lang="fr-FR"/>
              <a:t>&lt;img width="600" src="#" alt="Aperçu de l’image"&gt;</a:t>
            </a:r>
            <a:endParaRPr/>
          </a:p>
          <a:p>
            <a:pPr marL="171450" lvl="0" indent="-171450" algn="l" rtl="0">
              <a:lnSpc>
                <a:spcPct val="100000"/>
              </a:lnSpc>
              <a:spcBef>
                <a:spcPts val="500"/>
              </a:spcBef>
              <a:spcAft>
                <a:spcPts val="0"/>
              </a:spcAft>
              <a:buClr>
                <a:schemeClr val="dk1"/>
              </a:buClr>
              <a:buSzPts val="1000"/>
              <a:buFont typeface="Arial"/>
              <a:buChar char="•"/>
            </a:pPr>
            <a:r>
              <a:rPr lang="fr-FR"/>
              <a:t>Le lecteur d’écran ne sait donc pas quel livre acheté.</a:t>
            </a:r>
            <a:endParaRPr/>
          </a:p>
          <a:p>
            <a:pPr marL="0" lvl="0" indent="0" algn="l" rtl="0">
              <a:lnSpc>
                <a:spcPct val="100000"/>
              </a:lnSpc>
              <a:spcBef>
                <a:spcPts val="500"/>
              </a:spcBef>
              <a:spcAft>
                <a:spcPts val="0"/>
              </a:spcAft>
              <a:buClr>
                <a:schemeClr val="dk1"/>
              </a:buClr>
              <a:buSzPts val="1000"/>
              <a:buNone/>
            </a:pPr>
            <a:r>
              <a:rPr lang="fr-FR" u="sng">
                <a:solidFill>
                  <a:schemeClr val="hlink"/>
                </a:solidFill>
                <a:hlinkClick r:id="rId3"/>
              </a:rPr>
              <a:t>https://www.linkedin.com/posts/st-digital-fighter_technopolitique-culturenumaezrique-identitaezdigitale-activity-7256203849114284032-NOvC/</a:t>
            </a:r>
            <a:endParaRPr/>
          </a:p>
          <a:p>
            <a:pPr marL="0" lvl="0" indent="0" algn="l" rtl="0">
              <a:lnSpc>
                <a:spcPct val="100000"/>
              </a:lnSpc>
              <a:spcBef>
                <a:spcPts val="500"/>
              </a:spcBef>
              <a:spcAft>
                <a:spcPts val="0"/>
              </a:spcAft>
              <a:buClr>
                <a:schemeClr val="dk1"/>
              </a:buClr>
              <a:buSzPts val="1050"/>
              <a:buNone/>
            </a:pPr>
            <a:endParaRPr/>
          </a:p>
        </p:txBody>
      </p:sp>
      <p:sp>
        <p:nvSpPr>
          <p:cNvPr id="2464" name="Google Shape;2464;p204"/>
          <p:cNvSpPr txBox="1">
            <a:spLocks noGrp="1"/>
          </p:cNvSpPr>
          <p:nvPr>
            <p:ph type="body" idx="4"/>
          </p:nvPr>
        </p:nvSpPr>
        <p:spPr>
          <a:xfrm>
            <a:off x="6264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000"/>
              <a:buNone/>
            </a:pPr>
            <a:r>
              <a:rPr lang="fr-FR"/>
              <a:t>Le titre du livre pourtant répété deux fois dans le poste n’est pas restitué par Voice Over.</a:t>
            </a:r>
            <a:endParaRPr/>
          </a:p>
          <a:p>
            <a:pPr marL="0" lvl="0" indent="0" algn="l" rtl="0">
              <a:lnSpc>
                <a:spcPct val="100000"/>
              </a:lnSpc>
              <a:spcBef>
                <a:spcPts val="500"/>
              </a:spcBef>
              <a:spcAft>
                <a:spcPts val="0"/>
              </a:spcAft>
              <a:buClr>
                <a:schemeClr val="dk1"/>
              </a:buClr>
              <a:buSzPts val="1050"/>
              <a:buNone/>
            </a:pPr>
            <a:endParaRPr/>
          </a:p>
        </p:txBody>
      </p:sp>
      <p:sp>
        <p:nvSpPr>
          <p:cNvPr id="2465" name="Google Shape;2465;p204"/>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b="1"/>
              <a:t>Exemples concrets d'utilisation problématique</a:t>
            </a:r>
            <a:br>
              <a:rPr lang="fr-FR" sz="2400" b="1"/>
            </a:br>
            <a:endParaRPr sz="2400"/>
          </a:p>
        </p:txBody>
      </p:sp>
      <p:sp>
        <p:nvSpPr>
          <p:cNvPr id="2466" name="Google Shape;2466;p204"/>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Exemple réel : cas 3 - caractères Unicode non restitués et pas d’alternative à l’image de couverture</a:t>
            </a:r>
            <a:endParaRPr/>
          </a:p>
        </p:txBody>
      </p:sp>
      <p:pic>
        <p:nvPicPr>
          <p:cNvPr id="2467" name="Google Shape;2467;p204" descr="Recommandation d'un livre qui n'est n'est pas nommé par le lecteur d'écran Technopolitique A Mhalla"/>
          <p:cNvPicPr preferRelativeResize="0"/>
          <p:nvPr/>
        </p:nvPicPr>
        <p:blipFill rotWithShape="1">
          <a:blip r:embed="rId4">
            <a:alphaModFix/>
          </a:blip>
          <a:srcRect/>
          <a:stretch/>
        </p:blipFill>
        <p:spPr>
          <a:xfrm>
            <a:off x="6218466" y="2625727"/>
            <a:ext cx="2540000" cy="1435100"/>
          </a:xfrm>
          <a:prstGeom prst="rect">
            <a:avLst/>
          </a:prstGeom>
          <a:noFill/>
          <a:ln>
            <a:noFill/>
          </a:ln>
        </p:spPr>
      </p:pic>
      <p:pic>
        <p:nvPicPr>
          <p:cNvPr id="2468" name="Google Shape;2468;p204"/>
          <p:cNvPicPr preferRelativeResize="0"/>
          <p:nvPr/>
        </p:nvPicPr>
        <p:blipFill rotWithShape="1">
          <a:blip r:embed="rId5">
            <a:alphaModFix/>
          </a:blip>
          <a:srcRect/>
          <a:stretch/>
        </p:blipFill>
        <p:spPr>
          <a:xfrm>
            <a:off x="3416037" y="1803357"/>
            <a:ext cx="2410430" cy="29286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67"/>
                                        </p:tgtEl>
                                        <p:attrNameLst>
                                          <p:attrName>style.visibility</p:attrName>
                                        </p:attrNameLst>
                                      </p:cBhvr>
                                      <p:to>
                                        <p:strVal val="visible"/>
                                      </p:to>
                                    </p:set>
                                    <p:animEffect transition="in" filter="fade">
                                      <p:cBhvr>
                                        <p:cTn id="7" dur="1"/>
                                        <p:tgtEl>
                                          <p:spTgt spid="2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472"/>
        <p:cNvGrpSpPr/>
        <p:nvPr/>
      </p:nvGrpSpPr>
      <p:grpSpPr>
        <a:xfrm>
          <a:off x="0" y="0"/>
          <a:ext cx="0" cy="0"/>
          <a:chOff x="0" y="0"/>
          <a:chExt cx="0" cy="0"/>
        </a:xfrm>
      </p:grpSpPr>
      <p:sp>
        <p:nvSpPr>
          <p:cNvPr id="2473" name="Google Shape;2473;p205"/>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474" name="Google Shape;2474;p205"/>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57</a:t>
            </a:fld>
            <a:endParaRPr/>
          </a:p>
        </p:txBody>
      </p:sp>
      <p:sp>
        <p:nvSpPr>
          <p:cNvPr id="2475" name="Google Shape;2475;p205"/>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476" name="Google Shape;2476;p205"/>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Pour mettre en valeur un post</a:t>
            </a:r>
            <a:endParaRPr/>
          </a:p>
          <a:p>
            <a:pPr marL="171450" lvl="0" indent="-171450" algn="l" rtl="0">
              <a:lnSpc>
                <a:spcPct val="100000"/>
              </a:lnSpc>
              <a:spcBef>
                <a:spcPts val="500"/>
              </a:spcBef>
              <a:spcAft>
                <a:spcPts val="0"/>
              </a:spcAft>
              <a:buClr>
                <a:schemeClr val="dk1"/>
              </a:buClr>
              <a:buSzPts val="1000"/>
              <a:buFont typeface="Arial"/>
              <a:buChar char="•"/>
            </a:pPr>
            <a:r>
              <a:rPr lang="fr-FR"/>
              <a:t>Structure claire du message</a:t>
            </a:r>
            <a:endParaRPr/>
          </a:p>
          <a:p>
            <a:pPr marL="171450" lvl="0" indent="-171450" algn="l" rtl="0">
              <a:lnSpc>
                <a:spcPct val="100000"/>
              </a:lnSpc>
              <a:spcBef>
                <a:spcPts val="500"/>
              </a:spcBef>
              <a:spcAft>
                <a:spcPts val="0"/>
              </a:spcAft>
              <a:buClr>
                <a:schemeClr val="dk1"/>
              </a:buClr>
              <a:buSzPts val="1000"/>
              <a:buFont typeface="Arial"/>
              <a:buChar char="•"/>
            </a:pPr>
            <a:r>
              <a:rPr lang="fr-FR"/>
              <a:t>Points clés en début de paragraphe</a:t>
            </a:r>
            <a:endParaRPr/>
          </a:p>
          <a:p>
            <a:pPr marL="171450" lvl="0" indent="-171450" algn="l" rtl="0">
              <a:lnSpc>
                <a:spcPct val="100000"/>
              </a:lnSpc>
              <a:spcBef>
                <a:spcPts val="500"/>
              </a:spcBef>
              <a:spcAft>
                <a:spcPts val="0"/>
              </a:spcAft>
              <a:buClr>
                <a:schemeClr val="dk1"/>
              </a:buClr>
              <a:buSzPts val="1000"/>
              <a:buFont typeface="Arial"/>
              <a:buChar char="•"/>
            </a:pPr>
            <a:r>
              <a:rPr lang="fr-FR"/>
              <a:t>Listes simples avec tirets</a:t>
            </a:r>
            <a:endParaRPr/>
          </a:p>
          <a:p>
            <a:pPr marL="0" lvl="0" indent="0" algn="l" rtl="0">
              <a:lnSpc>
                <a:spcPct val="200000"/>
              </a:lnSpc>
              <a:spcBef>
                <a:spcPts val="500"/>
              </a:spcBef>
              <a:spcAft>
                <a:spcPts val="0"/>
              </a:spcAft>
              <a:buClr>
                <a:schemeClr val="dk2"/>
              </a:buClr>
              <a:buSzPts val="1000"/>
              <a:buNone/>
            </a:pPr>
            <a:r>
              <a:rPr lang="fr-FR" b="1">
                <a:solidFill>
                  <a:schemeClr val="dk2"/>
                </a:solidFill>
              </a:rPr>
              <a:t>Pour le style d’un post</a:t>
            </a:r>
            <a:endParaRPr/>
          </a:p>
          <a:p>
            <a:pPr marL="171450" lvl="0" indent="-171450" algn="l" rtl="0">
              <a:lnSpc>
                <a:spcPct val="100000"/>
              </a:lnSpc>
              <a:spcBef>
                <a:spcPts val="500"/>
              </a:spcBef>
              <a:spcAft>
                <a:spcPts val="0"/>
              </a:spcAft>
              <a:buClr>
                <a:schemeClr val="dk1"/>
              </a:buClr>
              <a:buSzPts val="1000"/>
              <a:buFont typeface="Arial"/>
              <a:buChar char="•"/>
            </a:pPr>
            <a:r>
              <a:rPr lang="fr-FR"/>
              <a:t>Images avec texte alternatif</a:t>
            </a:r>
            <a:endParaRPr/>
          </a:p>
          <a:p>
            <a:pPr marL="171450" lvl="0" indent="-171450" algn="l" rtl="0">
              <a:lnSpc>
                <a:spcPct val="100000"/>
              </a:lnSpc>
              <a:spcBef>
                <a:spcPts val="500"/>
              </a:spcBef>
              <a:spcAft>
                <a:spcPts val="0"/>
              </a:spcAft>
              <a:buClr>
                <a:schemeClr val="dk1"/>
              </a:buClr>
              <a:buSzPts val="1000"/>
              <a:buFont typeface="Arial"/>
              <a:buChar char="•"/>
            </a:pPr>
            <a:r>
              <a:rPr lang="fr-FR"/>
              <a:t>Mise en page native</a:t>
            </a:r>
            <a:endParaRPr/>
          </a:p>
          <a:p>
            <a:pPr marL="171450" lvl="0" indent="-171450" algn="l" rtl="0">
              <a:lnSpc>
                <a:spcPct val="100000"/>
              </a:lnSpc>
              <a:spcBef>
                <a:spcPts val="500"/>
              </a:spcBef>
              <a:spcAft>
                <a:spcPts val="0"/>
              </a:spcAft>
              <a:buClr>
                <a:schemeClr val="dk1"/>
              </a:buClr>
              <a:buSzPts val="1000"/>
              <a:buFont typeface="Arial"/>
              <a:buChar char="•"/>
            </a:pPr>
            <a:r>
              <a:rPr lang="fr-FR"/>
              <a:t>Emojis en fin de message</a:t>
            </a:r>
            <a:endParaRPr/>
          </a:p>
          <a:p>
            <a:pPr marL="0" lvl="0" indent="0" algn="l" rtl="0">
              <a:lnSpc>
                <a:spcPct val="100000"/>
              </a:lnSpc>
              <a:spcBef>
                <a:spcPts val="500"/>
              </a:spcBef>
              <a:spcAft>
                <a:spcPts val="0"/>
              </a:spcAft>
              <a:buClr>
                <a:schemeClr val="dk1"/>
              </a:buClr>
              <a:buSzPts val="1050"/>
              <a:buNone/>
            </a:pPr>
            <a:endParaRPr/>
          </a:p>
        </p:txBody>
      </p:sp>
      <p:sp>
        <p:nvSpPr>
          <p:cNvPr id="2477" name="Google Shape;2477;p205"/>
          <p:cNvSpPr txBox="1">
            <a:spLocks noGrp="1"/>
          </p:cNvSpPr>
          <p:nvPr>
            <p:ph type="body" idx="3"/>
          </p:nvPr>
        </p:nvSpPr>
        <p:spPr>
          <a:xfrm>
            <a:off x="4788023" y="1836000"/>
            <a:ext cx="3995977"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Pour l'impact visuel d’un post</a:t>
            </a:r>
            <a:endParaRPr/>
          </a:p>
          <a:p>
            <a:pPr marL="171450" lvl="0" indent="-171450" algn="l" rtl="0">
              <a:lnSpc>
                <a:spcPct val="100000"/>
              </a:lnSpc>
              <a:spcBef>
                <a:spcPts val="500"/>
              </a:spcBef>
              <a:spcAft>
                <a:spcPts val="0"/>
              </a:spcAft>
              <a:buClr>
                <a:schemeClr val="dk1"/>
              </a:buClr>
              <a:buSzPts val="1000"/>
              <a:buFont typeface="Arial"/>
              <a:buChar char="•"/>
            </a:pPr>
            <a:r>
              <a:rPr lang="fr-FR"/>
              <a:t>Qualité du contenu</a:t>
            </a:r>
            <a:endParaRPr/>
          </a:p>
          <a:p>
            <a:pPr marL="171450" lvl="0" indent="-171450" algn="l" rtl="0">
              <a:lnSpc>
                <a:spcPct val="100000"/>
              </a:lnSpc>
              <a:spcBef>
                <a:spcPts val="500"/>
              </a:spcBef>
              <a:spcAft>
                <a:spcPts val="0"/>
              </a:spcAft>
              <a:buClr>
                <a:schemeClr val="dk1"/>
              </a:buClr>
              <a:buSzPts val="1000"/>
              <a:buFont typeface="Arial"/>
              <a:buChar char="•"/>
            </a:pPr>
            <a:r>
              <a:rPr lang="fr-FR"/>
              <a:t>Images professionnelles</a:t>
            </a:r>
            <a:endParaRPr/>
          </a:p>
          <a:p>
            <a:pPr marL="171450" lvl="0" indent="-171450" algn="l" rtl="0">
              <a:lnSpc>
                <a:spcPct val="100000"/>
              </a:lnSpc>
              <a:spcBef>
                <a:spcPts val="500"/>
              </a:spcBef>
              <a:spcAft>
                <a:spcPts val="0"/>
              </a:spcAft>
              <a:buClr>
                <a:schemeClr val="dk1"/>
              </a:buClr>
              <a:buSzPts val="1000"/>
              <a:buFont typeface="Arial"/>
              <a:buChar char="•"/>
            </a:pPr>
            <a:r>
              <a:rPr lang="fr-FR"/>
              <a:t>Design sobre et efficace</a:t>
            </a:r>
            <a:endParaRPr/>
          </a:p>
          <a:p>
            <a:pPr marL="0" lvl="0" indent="0" algn="l" rtl="0">
              <a:lnSpc>
                <a:spcPct val="100000"/>
              </a:lnSpc>
              <a:spcBef>
                <a:spcPts val="2300"/>
              </a:spcBef>
              <a:spcAft>
                <a:spcPts val="0"/>
              </a:spcAft>
              <a:buClr>
                <a:schemeClr val="dk1"/>
              </a:buClr>
              <a:buSzPts val="1000"/>
              <a:buNone/>
            </a:pPr>
            <a:r>
              <a:rPr lang="fr-FR"/>
              <a:t>L'élégance d'une publication réside dans sa </a:t>
            </a:r>
            <a:r>
              <a:rPr lang="fr-FR" b="1"/>
              <a:t>clarté, sa sobriété </a:t>
            </a:r>
            <a:r>
              <a:rPr lang="fr-FR"/>
              <a:t>et son </a:t>
            </a:r>
            <a:r>
              <a:rPr lang="fr-FR" b="1"/>
              <a:t>accessibilité.</a:t>
            </a:r>
            <a:endParaRPr/>
          </a:p>
          <a:p>
            <a:pPr marL="0" lvl="0" indent="0" algn="l" rtl="0">
              <a:lnSpc>
                <a:spcPct val="100000"/>
              </a:lnSpc>
              <a:spcBef>
                <a:spcPts val="500"/>
              </a:spcBef>
              <a:spcAft>
                <a:spcPts val="0"/>
              </a:spcAft>
              <a:buClr>
                <a:schemeClr val="dk1"/>
              </a:buClr>
              <a:buSzPts val="1050"/>
              <a:buNone/>
            </a:pPr>
            <a:endParaRPr/>
          </a:p>
          <a:p>
            <a:pPr marL="0" lvl="0" indent="0" algn="l" rtl="0">
              <a:lnSpc>
                <a:spcPct val="100000"/>
              </a:lnSpc>
              <a:spcBef>
                <a:spcPts val="500"/>
              </a:spcBef>
              <a:spcAft>
                <a:spcPts val="0"/>
              </a:spcAft>
              <a:buClr>
                <a:schemeClr val="dk1"/>
              </a:buClr>
              <a:buSzPts val="1050"/>
              <a:buNone/>
            </a:pPr>
            <a:endParaRPr/>
          </a:p>
        </p:txBody>
      </p:sp>
      <p:sp>
        <p:nvSpPr>
          <p:cNvPr id="2478" name="Google Shape;2478;p205"/>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Solutions alternatives</a:t>
            </a:r>
            <a:endParaRPr/>
          </a:p>
        </p:txBody>
      </p:sp>
      <p:sp>
        <p:nvSpPr>
          <p:cNvPr id="2479" name="Google Shape;2479;p205"/>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Comment créer un impact visuel accessible sur les réseaux sociaux ?</a:t>
            </a:r>
            <a:endParaRPr/>
          </a:p>
          <a:p>
            <a:pPr marL="0" lvl="0" indent="0" algn="l" rtl="0">
              <a:lnSpc>
                <a:spcPct val="100000"/>
              </a:lnSpc>
              <a:spcBef>
                <a:spcPts val="500"/>
              </a:spcBef>
              <a:spcAft>
                <a:spcPts val="0"/>
              </a:spcAft>
              <a:buClr>
                <a:srgbClr val="595959"/>
              </a:buClr>
              <a:buSzPts val="1100"/>
              <a:buNone/>
            </a:pP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484"/>
        <p:cNvGrpSpPr/>
        <p:nvPr/>
      </p:nvGrpSpPr>
      <p:grpSpPr>
        <a:xfrm>
          <a:off x="0" y="0"/>
          <a:ext cx="0" cy="0"/>
          <a:chOff x="0" y="0"/>
          <a:chExt cx="0" cy="0"/>
        </a:xfrm>
      </p:grpSpPr>
      <p:sp>
        <p:nvSpPr>
          <p:cNvPr id="2485" name="Google Shape;2485;p206"/>
          <p:cNvSpPr txBox="1">
            <a:spLocks noGrp="1"/>
          </p:cNvSpPr>
          <p:nvPr>
            <p:ph type="title"/>
          </p:nvPr>
        </p:nvSpPr>
        <p:spPr>
          <a:xfrm>
            <a:off x="0" y="0"/>
            <a:ext cx="180000" cy="1800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100"/>
              <a:buFont typeface="Arial"/>
              <a:buNone/>
            </a:pPr>
            <a:endParaRPr/>
          </a:p>
        </p:txBody>
      </p:sp>
      <p:sp>
        <p:nvSpPr>
          <p:cNvPr id="2486" name="Google Shape;2486;p206"/>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58</a:t>
            </a:fld>
            <a:endParaRPr/>
          </a:p>
        </p:txBody>
      </p:sp>
      <p:sp>
        <p:nvSpPr>
          <p:cNvPr id="2487" name="Google Shape;2487;p206"/>
          <p:cNvSpPr txBox="1">
            <a:spLocks noGrp="1"/>
          </p:cNvSpPr>
          <p:nvPr>
            <p:ph type="body" idx="1"/>
          </p:nvPr>
        </p:nvSpPr>
        <p:spPr>
          <a:xfrm>
            <a:off x="360000" y="2346046"/>
            <a:ext cx="8424000" cy="1181646"/>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200"/>
              <a:buNone/>
            </a:pPr>
            <a:r>
              <a:rPr lang="fr-FR"/>
              <a:t>Stratégies pour une communication inclusive</a:t>
            </a:r>
            <a:endParaRPr/>
          </a:p>
        </p:txBody>
      </p:sp>
      <p:sp>
        <p:nvSpPr>
          <p:cNvPr id="2488" name="Google Shape;2488;p206"/>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489" name="Google Shape;2489;p206"/>
          <p:cNvSpPr txBox="1">
            <a:spLocks noGrp="1"/>
          </p:cNvSpPr>
          <p:nvPr>
            <p:ph type="body" idx="2"/>
          </p:nvPr>
        </p:nvSpPr>
        <p:spPr>
          <a:xfrm>
            <a:off x="360363" y="3579861"/>
            <a:ext cx="8423275" cy="100801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Intégrer l'accessibilité dans votre workflow</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494"/>
        <p:cNvGrpSpPr/>
        <p:nvPr/>
      </p:nvGrpSpPr>
      <p:grpSpPr>
        <a:xfrm>
          <a:off x="0" y="0"/>
          <a:ext cx="0" cy="0"/>
          <a:chOff x="0" y="0"/>
          <a:chExt cx="0" cy="0"/>
        </a:xfrm>
      </p:grpSpPr>
      <p:sp>
        <p:nvSpPr>
          <p:cNvPr id="2495" name="Google Shape;2495;p207"/>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496" name="Google Shape;2496;p207"/>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59</a:t>
            </a:fld>
            <a:endParaRPr/>
          </a:p>
        </p:txBody>
      </p:sp>
      <p:sp>
        <p:nvSpPr>
          <p:cNvPr id="2497" name="Google Shape;2497;p207"/>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498" name="Google Shape;2498;p207"/>
          <p:cNvSpPr txBox="1">
            <a:spLocks noGrp="1"/>
          </p:cNvSpPr>
          <p:nvPr>
            <p:ph type="body" idx="2"/>
          </p:nvPr>
        </p:nvSpPr>
        <p:spPr>
          <a:xfrm>
            <a:off x="359999"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Médias</a:t>
            </a:r>
            <a:endParaRPr/>
          </a:p>
          <a:p>
            <a:pPr marL="171450" lvl="0" indent="-171450" algn="l" rtl="0">
              <a:lnSpc>
                <a:spcPct val="100000"/>
              </a:lnSpc>
              <a:spcBef>
                <a:spcPts val="1100"/>
              </a:spcBef>
              <a:spcAft>
                <a:spcPts val="0"/>
              </a:spcAft>
              <a:buClr>
                <a:schemeClr val="dk1"/>
              </a:buClr>
              <a:buSzPts val="1000"/>
              <a:buFont typeface="Arial"/>
              <a:buChar char="•"/>
            </a:pPr>
            <a:r>
              <a:rPr lang="fr-FR"/>
              <a:t>Textes alternatifs pertinents</a:t>
            </a:r>
            <a:endParaRPr/>
          </a:p>
          <a:p>
            <a:pPr marL="171450" lvl="0" indent="-171450" algn="l" rtl="0">
              <a:lnSpc>
                <a:spcPct val="100000"/>
              </a:lnSpc>
              <a:spcBef>
                <a:spcPts val="1100"/>
              </a:spcBef>
              <a:spcAft>
                <a:spcPts val="0"/>
              </a:spcAft>
              <a:buClr>
                <a:schemeClr val="dk1"/>
              </a:buClr>
              <a:buSzPts val="1000"/>
              <a:buFont typeface="Arial"/>
              <a:buChar char="•"/>
            </a:pPr>
            <a:r>
              <a:rPr lang="fr-FR"/>
              <a:t>Contrastes vérifiés</a:t>
            </a:r>
            <a:endParaRPr/>
          </a:p>
          <a:p>
            <a:pPr marL="171450" lvl="0" indent="-171450" algn="l" rtl="0">
              <a:lnSpc>
                <a:spcPct val="100000"/>
              </a:lnSpc>
              <a:spcBef>
                <a:spcPts val="1100"/>
              </a:spcBef>
              <a:spcAft>
                <a:spcPts val="0"/>
              </a:spcAft>
              <a:buClr>
                <a:schemeClr val="dk1"/>
              </a:buClr>
              <a:buSzPts val="1000"/>
              <a:buFont typeface="Arial"/>
              <a:buChar char="•"/>
            </a:pPr>
            <a:r>
              <a:rPr lang="fr-FR"/>
              <a:t>Sous-titres pour les vidéos</a:t>
            </a:r>
            <a:endParaRPr/>
          </a:p>
          <a:p>
            <a:pPr marL="171450" lvl="0" indent="-171450" algn="l" rtl="0">
              <a:lnSpc>
                <a:spcPct val="100000"/>
              </a:lnSpc>
              <a:spcBef>
                <a:spcPts val="1100"/>
              </a:spcBef>
              <a:spcAft>
                <a:spcPts val="0"/>
              </a:spcAft>
              <a:buClr>
                <a:schemeClr val="dk1"/>
              </a:buClr>
              <a:buSzPts val="1000"/>
              <a:buFont typeface="Arial"/>
              <a:buChar char="•"/>
            </a:pPr>
            <a:r>
              <a:rPr lang="fr-FR"/>
              <a:t>Descriptions des infographies</a:t>
            </a:r>
            <a:endParaRPr/>
          </a:p>
          <a:p>
            <a:pPr marL="0" lvl="0" indent="0" algn="l" rtl="0">
              <a:lnSpc>
                <a:spcPct val="100000"/>
              </a:lnSpc>
              <a:spcBef>
                <a:spcPts val="1700"/>
              </a:spcBef>
              <a:spcAft>
                <a:spcPts val="0"/>
              </a:spcAft>
              <a:buClr>
                <a:schemeClr val="dk2"/>
              </a:buClr>
              <a:buSzPts val="1000"/>
              <a:buNone/>
            </a:pPr>
            <a:r>
              <a:rPr lang="fr-FR" b="1">
                <a:solidFill>
                  <a:schemeClr val="dk2"/>
                </a:solidFill>
              </a:rPr>
              <a:t>Outils recommandés</a:t>
            </a:r>
            <a:endParaRPr/>
          </a:p>
          <a:p>
            <a:pPr marL="171450" lvl="0" indent="-171450" algn="l" rtl="0">
              <a:lnSpc>
                <a:spcPct val="100000"/>
              </a:lnSpc>
              <a:spcBef>
                <a:spcPts val="1100"/>
              </a:spcBef>
              <a:spcAft>
                <a:spcPts val="0"/>
              </a:spcAft>
              <a:buClr>
                <a:schemeClr val="dk1"/>
              </a:buClr>
              <a:buSzPts val="1000"/>
              <a:buFont typeface="Arial"/>
              <a:buChar char="•"/>
            </a:pPr>
            <a:r>
              <a:rPr lang="fr-FR"/>
              <a:t>Color Contrast Analyzer</a:t>
            </a:r>
            <a:endParaRPr/>
          </a:p>
        </p:txBody>
      </p:sp>
      <p:sp>
        <p:nvSpPr>
          <p:cNvPr id="2499" name="Google Shape;2499;p207"/>
          <p:cNvSpPr txBox="1">
            <a:spLocks noGrp="1"/>
          </p:cNvSpPr>
          <p:nvPr>
            <p:ph type="body" idx="3"/>
          </p:nvPr>
        </p:nvSpPr>
        <p:spPr>
          <a:xfrm>
            <a:off x="3312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Texte</a:t>
            </a:r>
            <a:endParaRPr/>
          </a:p>
          <a:p>
            <a:pPr marL="171450" lvl="0" indent="-171450" algn="l" rtl="0">
              <a:lnSpc>
                <a:spcPct val="100000"/>
              </a:lnSpc>
              <a:spcBef>
                <a:spcPts val="1100"/>
              </a:spcBef>
              <a:spcAft>
                <a:spcPts val="0"/>
              </a:spcAft>
              <a:buClr>
                <a:schemeClr val="dk1"/>
              </a:buClr>
              <a:buSzPts val="1000"/>
              <a:buFont typeface="Arial"/>
              <a:buChar char="•"/>
            </a:pPr>
            <a:r>
              <a:rPr lang="fr-FR"/>
              <a:t>Structure claire</a:t>
            </a:r>
            <a:endParaRPr/>
          </a:p>
          <a:p>
            <a:pPr marL="171450" lvl="0" indent="-171450" algn="l" rtl="0">
              <a:lnSpc>
                <a:spcPct val="100000"/>
              </a:lnSpc>
              <a:spcBef>
                <a:spcPts val="1100"/>
              </a:spcBef>
              <a:spcAft>
                <a:spcPts val="0"/>
              </a:spcAft>
              <a:buClr>
                <a:schemeClr val="dk1"/>
              </a:buClr>
              <a:buSzPts val="1000"/>
              <a:buFont typeface="Arial"/>
              <a:buChar char="•"/>
            </a:pPr>
            <a:r>
              <a:rPr lang="fr-FR"/>
              <a:t>Émojis en fin de message</a:t>
            </a:r>
            <a:endParaRPr/>
          </a:p>
          <a:p>
            <a:pPr marL="171450" lvl="0" indent="-171450" algn="l" rtl="0">
              <a:lnSpc>
                <a:spcPct val="100000"/>
              </a:lnSpc>
              <a:spcBef>
                <a:spcPts val="1100"/>
              </a:spcBef>
              <a:spcAft>
                <a:spcPts val="0"/>
              </a:spcAft>
              <a:buClr>
                <a:schemeClr val="dk1"/>
              </a:buClr>
              <a:buSzPts val="1000"/>
              <a:buFont typeface="Arial"/>
              <a:buChar char="•"/>
            </a:pPr>
            <a:r>
              <a:rPr lang="fr-FR"/>
              <a:t>Hashtags en CamelCase</a:t>
            </a:r>
            <a:endParaRPr/>
          </a:p>
          <a:p>
            <a:pPr marL="171450" lvl="0" indent="-171450" algn="l" rtl="0">
              <a:lnSpc>
                <a:spcPct val="100000"/>
              </a:lnSpc>
              <a:spcBef>
                <a:spcPts val="1100"/>
              </a:spcBef>
              <a:spcAft>
                <a:spcPts val="0"/>
              </a:spcAft>
              <a:buClr>
                <a:schemeClr val="dk1"/>
              </a:buClr>
              <a:buSzPts val="1000"/>
              <a:buFont typeface="Arial"/>
              <a:buChar char="•"/>
            </a:pPr>
            <a:r>
              <a:rPr lang="fr-FR"/>
              <a:t>Police lisible</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Vérification émojis</a:t>
            </a:r>
            <a:endParaRPr/>
          </a:p>
          <a:p>
            <a:pPr marL="171450" lvl="0" indent="-171450" algn="l" rtl="0">
              <a:lnSpc>
                <a:spcPct val="100000"/>
              </a:lnSpc>
              <a:spcBef>
                <a:spcPts val="1100"/>
              </a:spcBef>
              <a:spcAft>
                <a:spcPts val="0"/>
              </a:spcAft>
              <a:buClr>
                <a:schemeClr val="dk1"/>
              </a:buClr>
              <a:buSzPts val="1000"/>
              <a:buFont typeface="Arial"/>
              <a:buChar char="•"/>
            </a:pPr>
            <a:r>
              <a:rPr lang="fr-FR"/>
              <a:t>Emojipedia : </a:t>
            </a:r>
            <a:r>
              <a:rPr lang="fr-FR" u="sng">
                <a:solidFill>
                  <a:schemeClr val="hlink"/>
                </a:solidFill>
                <a:hlinkClick r:id="rId3"/>
              </a:rPr>
              <a:t>https://emojipedia.org/fr/</a:t>
            </a:r>
            <a:endParaRPr/>
          </a:p>
          <a:p>
            <a:pPr marL="171450" lvl="0" indent="-171450" algn="l" rtl="0">
              <a:lnSpc>
                <a:spcPct val="100000"/>
              </a:lnSpc>
              <a:spcBef>
                <a:spcPts val="1100"/>
              </a:spcBef>
              <a:spcAft>
                <a:spcPts val="0"/>
              </a:spcAft>
              <a:buClr>
                <a:schemeClr val="dk1"/>
              </a:buClr>
              <a:buSzPts val="1000"/>
              <a:buFont typeface="Arial"/>
              <a:buChar char="•"/>
            </a:pPr>
            <a:r>
              <a:rPr lang="fr-FR"/>
              <a:t>EmojiTerra : </a:t>
            </a:r>
            <a:r>
              <a:rPr lang="fr-FR" u="sng">
                <a:solidFill>
                  <a:schemeClr val="hlink"/>
                </a:solidFill>
                <a:hlinkClick r:id="rId4"/>
              </a:rPr>
              <a:t>https://emojiterra.com/fr/</a:t>
            </a:r>
            <a:endParaRPr/>
          </a:p>
        </p:txBody>
      </p:sp>
      <p:sp>
        <p:nvSpPr>
          <p:cNvPr id="2500" name="Google Shape;2500;p207"/>
          <p:cNvSpPr txBox="1">
            <a:spLocks noGrp="1"/>
          </p:cNvSpPr>
          <p:nvPr>
            <p:ph type="body" idx="4"/>
          </p:nvPr>
        </p:nvSpPr>
        <p:spPr>
          <a:xfrm>
            <a:off x="6264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Process</a:t>
            </a:r>
            <a:endParaRPr/>
          </a:p>
          <a:p>
            <a:pPr marL="171450" lvl="0" indent="-171450" algn="l" rtl="0">
              <a:lnSpc>
                <a:spcPct val="100000"/>
              </a:lnSpc>
              <a:spcBef>
                <a:spcPts val="1100"/>
              </a:spcBef>
              <a:spcAft>
                <a:spcPts val="0"/>
              </a:spcAft>
              <a:buClr>
                <a:schemeClr val="dk1"/>
              </a:buClr>
              <a:buSzPts val="1000"/>
              <a:buFont typeface="Arial"/>
              <a:buChar char="•"/>
            </a:pPr>
            <a:r>
              <a:rPr lang="fr-FR"/>
              <a:t>Test avec lecteur d'écran</a:t>
            </a:r>
            <a:endParaRPr/>
          </a:p>
          <a:p>
            <a:pPr marL="171450" lvl="0" indent="-171450" algn="l" rtl="0">
              <a:lnSpc>
                <a:spcPct val="100000"/>
              </a:lnSpc>
              <a:spcBef>
                <a:spcPts val="1100"/>
              </a:spcBef>
              <a:spcAft>
                <a:spcPts val="0"/>
              </a:spcAft>
              <a:buClr>
                <a:schemeClr val="dk1"/>
              </a:buClr>
              <a:buSzPts val="1000"/>
              <a:buFont typeface="Arial"/>
              <a:buChar char="•"/>
            </a:pPr>
            <a:r>
              <a:rPr lang="fr-FR"/>
              <a:t>Vérification des contrastes</a:t>
            </a:r>
            <a:endParaRPr/>
          </a:p>
          <a:p>
            <a:pPr marL="171450" lvl="0" indent="-171450" algn="l" rtl="0">
              <a:lnSpc>
                <a:spcPct val="100000"/>
              </a:lnSpc>
              <a:spcBef>
                <a:spcPts val="1100"/>
              </a:spcBef>
              <a:spcAft>
                <a:spcPts val="0"/>
              </a:spcAft>
              <a:buClr>
                <a:schemeClr val="dk1"/>
              </a:buClr>
              <a:buSzPts val="1000"/>
              <a:buFont typeface="Arial"/>
              <a:buChar char="•"/>
            </a:pPr>
            <a:r>
              <a:rPr lang="fr-FR"/>
              <a:t>Relecture globale</a:t>
            </a:r>
            <a:endParaRPr/>
          </a:p>
          <a:p>
            <a:pPr marL="0" lvl="0" indent="0" algn="l" rtl="0">
              <a:lnSpc>
                <a:spcPct val="100000"/>
              </a:lnSpc>
              <a:spcBef>
                <a:spcPts val="1700"/>
              </a:spcBef>
              <a:spcAft>
                <a:spcPts val="0"/>
              </a:spcAft>
              <a:buClr>
                <a:schemeClr val="dk2"/>
              </a:buClr>
              <a:buSzPts val="1000"/>
              <a:buNone/>
            </a:pPr>
            <a:r>
              <a:rPr lang="fr-FR" b="1">
                <a:solidFill>
                  <a:schemeClr val="dk2"/>
                </a:solidFill>
              </a:rPr>
              <a:t>Lecteurs d'écran</a:t>
            </a:r>
            <a:endParaRPr/>
          </a:p>
          <a:p>
            <a:pPr marL="171450" lvl="0" indent="-171450" algn="l" rtl="0">
              <a:lnSpc>
                <a:spcPct val="100000"/>
              </a:lnSpc>
              <a:spcBef>
                <a:spcPts val="1100"/>
              </a:spcBef>
              <a:spcAft>
                <a:spcPts val="0"/>
              </a:spcAft>
              <a:buClr>
                <a:schemeClr val="dk1"/>
              </a:buClr>
              <a:buSzPts val="1000"/>
              <a:buFont typeface="Arial"/>
              <a:buChar char="•"/>
            </a:pPr>
            <a:r>
              <a:rPr lang="fr-FR"/>
              <a:t>NVDA (Windows, gratuit)</a:t>
            </a:r>
            <a:endParaRPr/>
          </a:p>
          <a:p>
            <a:pPr marL="171450" lvl="0" indent="-171450" algn="l" rtl="0">
              <a:lnSpc>
                <a:spcPct val="100000"/>
              </a:lnSpc>
              <a:spcBef>
                <a:spcPts val="1100"/>
              </a:spcBef>
              <a:spcAft>
                <a:spcPts val="0"/>
              </a:spcAft>
              <a:buClr>
                <a:schemeClr val="dk1"/>
              </a:buClr>
              <a:buSzPts val="1000"/>
              <a:buFont typeface="Arial"/>
              <a:buChar char="•"/>
            </a:pPr>
            <a:r>
              <a:rPr lang="fr-FR"/>
              <a:t>VoiceOver (Mac, intégré)</a:t>
            </a:r>
            <a:endParaRPr/>
          </a:p>
        </p:txBody>
      </p:sp>
      <p:sp>
        <p:nvSpPr>
          <p:cNvPr id="2501" name="Google Shape;2501;p207"/>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Check-list d'accessibilité pour les réseaux sociaux</a:t>
            </a:r>
            <a:endParaRPr/>
          </a:p>
        </p:txBody>
      </p:sp>
      <p:sp>
        <p:nvSpPr>
          <p:cNvPr id="2502" name="Google Shape;2502;p207"/>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Votre check-list quotidienne – en résumé</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506"/>
        <p:cNvGrpSpPr/>
        <p:nvPr/>
      </p:nvGrpSpPr>
      <p:grpSpPr>
        <a:xfrm>
          <a:off x="0" y="0"/>
          <a:ext cx="0" cy="0"/>
          <a:chOff x="0" y="0"/>
          <a:chExt cx="0" cy="0"/>
        </a:xfrm>
      </p:grpSpPr>
      <p:sp>
        <p:nvSpPr>
          <p:cNvPr id="2507" name="Google Shape;2507;p208"/>
          <p:cNvSpPr txBox="1">
            <a:spLocks noGrp="1"/>
          </p:cNvSpPr>
          <p:nvPr>
            <p:ph type="body" idx="1"/>
          </p:nvPr>
        </p:nvSpPr>
        <p:spPr>
          <a:xfrm>
            <a:off x="359998" y="1836000"/>
            <a:ext cx="2520000" cy="2574000"/>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0"/>
              </a:spcBef>
              <a:spcAft>
                <a:spcPts val="0"/>
              </a:spcAft>
              <a:buClr>
                <a:schemeClr val="dk1"/>
              </a:buClr>
              <a:buSzPts val="1000"/>
              <a:buFont typeface="Arial"/>
              <a:buChar char="•"/>
            </a:pPr>
            <a:r>
              <a:rPr lang="fr-FR" b="0"/>
              <a:t>Chaque emoji possède une transcription spécifique qui est lue intégralement, ce qui peut interrompre la fluidité.</a:t>
            </a:r>
            <a:endParaRPr/>
          </a:p>
          <a:p>
            <a:pPr marL="171450" lvl="0" indent="-171450" algn="l" rtl="0">
              <a:lnSpc>
                <a:spcPct val="100000"/>
              </a:lnSpc>
              <a:spcBef>
                <a:spcPts val="1200"/>
              </a:spcBef>
              <a:spcAft>
                <a:spcPts val="0"/>
              </a:spcAft>
              <a:buClr>
                <a:schemeClr val="dk1"/>
              </a:buClr>
              <a:buSzPts val="1000"/>
              <a:buFont typeface="Arial"/>
              <a:buChar char="•"/>
            </a:pPr>
            <a:r>
              <a:rPr lang="fr-FR" b="0"/>
              <a:t>Les liens (externes, hashtags et mentions) sont identifiés oralement, mais leur emplacement et leur contexte impactent la compréhension.</a:t>
            </a:r>
            <a:endParaRPr/>
          </a:p>
        </p:txBody>
      </p:sp>
      <p:sp>
        <p:nvSpPr>
          <p:cNvPr id="2508" name="Google Shape;2508;p208"/>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509" name="Google Shape;2509;p208"/>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60</a:t>
            </a:fld>
            <a:endParaRPr/>
          </a:p>
        </p:txBody>
      </p:sp>
      <p:sp>
        <p:nvSpPr>
          <p:cNvPr id="2510" name="Google Shape;2510;p208"/>
          <p:cNvSpPr txBox="1">
            <a:spLocks noGrp="1"/>
          </p:cNvSpPr>
          <p:nvPr>
            <p:ph type="body" idx="2"/>
          </p:nvPr>
        </p:nvSpPr>
        <p:spPr>
          <a:xfrm>
            <a:off x="3312000" y="1836000"/>
            <a:ext cx="2520000" cy="2574000"/>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0"/>
              </a:spcBef>
              <a:spcAft>
                <a:spcPts val="0"/>
              </a:spcAft>
              <a:buClr>
                <a:schemeClr val="dk1"/>
              </a:buClr>
              <a:buSzPts val="1000"/>
              <a:buFont typeface="Arial"/>
              <a:buChar char="•"/>
            </a:pPr>
            <a:r>
              <a:rPr lang="fr-FR" b="0"/>
              <a:t>Les sauts de ligne sont parfois retranscrits, affectant le rythme de lecture.</a:t>
            </a:r>
            <a:endParaRPr/>
          </a:p>
          <a:p>
            <a:pPr marL="171450" lvl="0" indent="-171450" algn="l" rtl="0">
              <a:lnSpc>
                <a:spcPct val="100000"/>
              </a:lnSpc>
              <a:spcBef>
                <a:spcPts val="1200"/>
              </a:spcBef>
              <a:spcAft>
                <a:spcPts val="0"/>
              </a:spcAft>
              <a:buClr>
                <a:schemeClr val="dk1"/>
              </a:buClr>
              <a:buSzPts val="1000"/>
              <a:buFont typeface="Arial"/>
              <a:buChar char="•"/>
            </a:pPr>
            <a:r>
              <a:rPr lang="fr-FR" b="0"/>
              <a:t>Les hashtags sans CamelCase sont lus comme un mot unique, rendant leur sens ambigu.</a:t>
            </a:r>
            <a:endParaRPr/>
          </a:p>
        </p:txBody>
      </p:sp>
      <p:sp>
        <p:nvSpPr>
          <p:cNvPr id="2511" name="Google Shape;2511;p208"/>
          <p:cNvSpPr txBox="1">
            <a:spLocks noGrp="1"/>
          </p:cNvSpPr>
          <p:nvPr>
            <p:ph type="body" idx="3"/>
          </p:nvPr>
        </p:nvSpPr>
        <p:spPr>
          <a:xfrm>
            <a:off x="6263999" y="1836000"/>
            <a:ext cx="2520000" cy="2574000"/>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0"/>
              </a:spcBef>
              <a:spcAft>
                <a:spcPts val="0"/>
              </a:spcAft>
              <a:buClr>
                <a:schemeClr val="dk1"/>
              </a:buClr>
              <a:buSzPts val="1000"/>
              <a:buFont typeface="Arial"/>
              <a:buChar char="•"/>
            </a:pPr>
            <a:r>
              <a:rPr lang="fr-FR" b="0"/>
              <a:t>Les caractères unicodes, comme ceux générés par "InstaFont", ne sont pas reconnus, provoquant des omissions importantes dans le message. </a:t>
            </a:r>
            <a:endParaRPr/>
          </a:p>
          <a:p>
            <a:pPr marL="171450" lvl="0" indent="-171450" algn="l" rtl="0">
              <a:lnSpc>
                <a:spcPct val="100000"/>
              </a:lnSpc>
              <a:spcBef>
                <a:spcPts val="1200"/>
              </a:spcBef>
              <a:spcAft>
                <a:spcPts val="0"/>
              </a:spcAft>
              <a:buClr>
                <a:schemeClr val="dk1"/>
              </a:buClr>
              <a:buSzPts val="1000"/>
              <a:buFont typeface="Arial"/>
              <a:buChar char="•"/>
            </a:pPr>
            <a:r>
              <a:rPr lang="fr-FR" b="0"/>
              <a:t>Exemple </a:t>
            </a:r>
            <a:r>
              <a:rPr lang="fr-FR" b="0" u="sng">
                <a:solidFill>
                  <a:schemeClr val="hlink"/>
                </a:solidFill>
                <a:hlinkClick r:id="rId3"/>
              </a:rPr>
              <a:t>https://instafonts.io/</a:t>
            </a:r>
            <a:endParaRPr b="0"/>
          </a:p>
          <a:p>
            <a:pPr marL="0" lvl="0" indent="0" algn="l" rtl="0">
              <a:lnSpc>
                <a:spcPct val="100000"/>
              </a:lnSpc>
              <a:spcBef>
                <a:spcPts val="1200"/>
              </a:spcBef>
              <a:spcAft>
                <a:spcPts val="0"/>
              </a:spcAft>
              <a:buClr>
                <a:schemeClr val="dk1"/>
              </a:buClr>
              <a:buSzPts val="1050"/>
              <a:buNone/>
            </a:pPr>
            <a:endParaRPr b="0"/>
          </a:p>
        </p:txBody>
      </p:sp>
      <p:sp>
        <p:nvSpPr>
          <p:cNvPr id="2512" name="Google Shape;2512;p208"/>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A retenir</a:t>
            </a:r>
            <a:endParaRPr/>
          </a:p>
        </p:txBody>
      </p:sp>
      <p:sp>
        <p:nvSpPr>
          <p:cNvPr id="2513" name="Google Shape;2513;p208"/>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Ce qui est retranscrit par le lecteur d'écran</a:t>
            </a:r>
            <a:endParaRPr/>
          </a:p>
        </p:txBody>
      </p:sp>
      <p:sp>
        <p:nvSpPr>
          <p:cNvPr id="2514" name="Google Shape;2514;p208"/>
          <p:cNvSpPr txBox="1">
            <a:spLocks noGrp="1"/>
          </p:cNvSpPr>
          <p:nvPr>
            <p:ph type="body" idx="5"/>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518"/>
        <p:cNvGrpSpPr/>
        <p:nvPr/>
      </p:nvGrpSpPr>
      <p:grpSpPr>
        <a:xfrm>
          <a:off x="0" y="0"/>
          <a:ext cx="0" cy="0"/>
          <a:chOff x="0" y="0"/>
          <a:chExt cx="0" cy="0"/>
        </a:xfrm>
      </p:grpSpPr>
      <p:sp>
        <p:nvSpPr>
          <p:cNvPr id="2519" name="Google Shape;2519;p209"/>
          <p:cNvSpPr txBox="1">
            <a:spLocks noGrp="1"/>
          </p:cNvSpPr>
          <p:nvPr>
            <p:ph type="body" idx="1"/>
          </p:nvPr>
        </p:nvSpPr>
        <p:spPr>
          <a:xfrm>
            <a:off x="359998"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a:solidFill>
                  <a:schemeClr val="dk2"/>
                </a:solidFill>
              </a:rPr>
              <a:t>1. Limiter l’utilisation des émojis</a:t>
            </a:r>
            <a:endParaRPr/>
          </a:p>
          <a:p>
            <a:pPr marL="171450" lvl="0" indent="-171450" algn="l" rtl="0">
              <a:lnSpc>
                <a:spcPct val="100000"/>
              </a:lnSpc>
              <a:spcBef>
                <a:spcPts val="1200"/>
              </a:spcBef>
              <a:spcAft>
                <a:spcPts val="0"/>
              </a:spcAft>
              <a:buClr>
                <a:schemeClr val="dk1"/>
              </a:buClr>
              <a:buSzPts val="1000"/>
              <a:buFont typeface="Arial"/>
              <a:buChar char="•"/>
            </a:pPr>
            <a:r>
              <a:rPr lang="fr-FR" b="0"/>
              <a:t>Éviter de surcharger une publication avec des émojis, en particulier comme puces dans des listes. Cela peut alourdir ou rendre le contenu incompréhensible.</a:t>
            </a:r>
            <a:endParaRPr/>
          </a:p>
          <a:p>
            <a:pPr marL="0" lvl="0" indent="0" algn="l" rtl="0">
              <a:lnSpc>
                <a:spcPct val="100000"/>
              </a:lnSpc>
              <a:spcBef>
                <a:spcPts val="1200"/>
              </a:spcBef>
              <a:spcAft>
                <a:spcPts val="0"/>
              </a:spcAft>
              <a:buClr>
                <a:schemeClr val="dk2"/>
              </a:buClr>
              <a:buSzPts val="1000"/>
              <a:buNone/>
            </a:pPr>
            <a:r>
              <a:rPr lang="fr-FR">
                <a:solidFill>
                  <a:schemeClr val="dk2"/>
                </a:solidFill>
              </a:rPr>
              <a:t>2. Vérification des émojis</a:t>
            </a:r>
            <a:endParaRPr/>
          </a:p>
          <a:p>
            <a:pPr marL="171450" lvl="0" indent="-171450" algn="l" rtl="0">
              <a:lnSpc>
                <a:spcPct val="100000"/>
              </a:lnSpc>
              <a:spcBef>
                <a:spcPts val="1200"/>
              </a:spcBef>
              <a:spcAft>
                <a:spcPts val="0"/>
              </a:spcAft>
              <a:buClr>
                <a:schemeClr val="dk1"/>
              </a:buClr>
              <a:buSzPts val="1000"/>
              <a:buFont typeface="Arial"/>
              <a:buChar char="•"/>
            </a:pPr>
            <a:r>
              <a:rPr lang="fr-FR" b="0"/>
              <a:t>Toujours vérifier la signification des émojis sur des outils comme Emojipedia pour éviter des erreurs embarrassantes ou des malentendus.</a:t>
            </a:r>
            <a:endParaRPr/>
          </a:p>
        </p:txBody>
      </p:sp>
      <p:sp>
        <p:nvSpPr>
          <p:cNvPr id="2520" name="Google Shape;2520;p209"/>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521" name="Google Shape;2521;p209"/>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61</a:t>
            </a:fld>
            <a:endParaRPr/>
          </a:p>
        </p:txBody>
      </p:sp>
      <p:sp>
        <p:nvSpPr>
          <p:cNvPr id="2522" name="Google Shape;2522;p209"/>
          <p:cNvSpPr txBox="1">
            <a:spLocks noGrp="1"/>
          </p:cNvSpPr>
          <p:nvPr>
            <p:ph type="body" idx="2"/>
          </p:nvPr>
        </p:nvSpPr>
        <p:spPr>
          <a:xfrm>
            <a:off x="3312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a:solidFill>
                  <a:schemeClr val="dk2"/>
                </a:solidFill>
              </a:rPr>
              <a:t>3. Gestion des liens</a:t>
            </a:r>
            <a:endParaRPr/>
          </a:p>
          <a:p>
            <a:pPr marL="171450" lvl="0" indent="-171450" algn="l" rtl="0">
              <a:lnSpc>
                <a:spcPct val="100000"/>
              </a:lnSpc>
              <a:spcBef>
                <a:spcPts val="1200"/>
              </a:spcBef>
              <a:spcAft>
                <a:spcPts val="0"/>
              </a:spcAft>
              <a:buClr>
                <a:schemeClr val="dk1"/>
              </a:buClr>
              <a:buSzPts val="1000"/>
              <a:buFont typeface="Arial"/>
              <a:buChar char="•"/>
            </a:pPr>
            <a:r>
              <a:rPr lang="fr-FR" b="0"/>
              <a:t>Limiter le nombre de liens dans un texte et les positionner de préférence en dehors des phrases pour une meilleure lisibilité et compréhension par les lecteurs d’écran.</a:t>
            </a:r>
            <a:endParaRPr/>
          </a:p>
          <a:p>
            <a:pPr marL="0" lvl="0" indent="0" algn="l" rtl="0">
              <a:lnSpc>
                <a:spcPct val="100000"/>
              </a:lnSpc>
              <a:spcBef>
                <a:spcPts val="1200"/>
              </a:spcBef>
              <a:spcAft>
                <a:spcPts val="0"/>
              </a:spcAft>
              <a:buClr>
                <a:schemeClr val="dk2"/>
              </a:buClr>
              <a:buSzPts val="1000"/>
              <a:buNone/>
            </a:pPr>
            <a:r>
              <a:rPr lang="fr-FR">
                <a:solidFill>
                  <a:schemeClr val="dk2"/>
                </a:solidFill>
              </a:rPr>
              <a:t>4. Utilisation du CamelCase pour les hashtags</a:t>
            </a:r>
            <a:endParaRPr/>
          </a:p>
          <a:p>
            <a:pPr marL="171450" lvl="0" indent="-171450" algn="l" rtl="0">
              <a:lnSpc>
                <a:spcPct val="100000"/>
              </a:lnSpc>
              <a:spcBef>
                <a:spcPts val="1200"/>
              </a:spcBef>
              <a:spcAft>
                <a:spcPts val="0"/>
              </a:spcAft>
              <a:buClr>
                <a:schemeClr val="dk1"/>
              </a:buClr>
              <a:buSzPts val="1000"/>
              <a:buFont typeface="Arial"/>
              <a:buChar char="•"/>
            </a:pPr>
            <a:r>
              <a:rPr lang="fr-FR" b="0"/>
              <a:t>Pour une clarté optimale, formater les hashtags en CamelCase (ex. : #RéseauxSociaux plutôt que #réseauxsociaux).</a:t>
            </a:r>
            <a:endParaRPr/>
          </a:p>
        </p:txBody>
      </p:sp>
      <p:sp>
        <p:nvSpPr>
          <p:cNvPr id="2523" name="Google Shape;2523;p209"/>
          <p:cNvSpPr txBox="1">
            <a:spLocks noGrp="1"/>
          </p:cNvSpPr>
          <p:nvPr>
            <p:ph type="body" idx="3"/>
          </p:nvPr>
        </p:nvSpPr>
        <p:spPr>
          <a:xfrm>
            <a:off x="6263999"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a:solidFill>
                  <a:schemeClr val="dk2"/>
                </a:solidFill>
              </a:rPr>
              <a:t>5. Éviter les caractères spéciaux et les faux styles</a:t>
            </a:r>
            <a:endParaRPr/>
          </a:p>
          <a:p>
            <a:pPr marL="171450" lvl="0" indent="-171450" algn="l" rtl="0">
              <a:lnSpc>
                <a:spcPct val="100000"/>
              </a:lnSpc>
              <a:spcBef>
                <a:spcPts val="1200"/>
              </a:spcBef>
              <a:spcAft>
                <a:spcPts val="0"/>
              </a:spcAft>
              <a:buClr>
                <a:schemeClr val="dk1"/>
              </a:buClr>
              <a:buSzPts val="1000"/>
              <a:buFont typeface="Arial"/>
              <a:buChar char="•"/>
            </a:pPr>
            <a:r>
              <a:rPr lang="fr-FR" b="0"/>
              <a:t>Ne pas utiliser des outils comme "InstaFont" qui créent du texte en faux gras, italique ou stylisé, car ces caractères ne sont pas accessibles pour les lecteurs d’écran.</a:t>
            </a:r>
            <a:endParaRPr/>
          </a:p>
          <a:p>
            <a:pPr marL="0" lvl="0" indent="0" algn="l" rtl="0">
              <a:lnSpc>
                <a:spcPct val="100000"/>
              </a:lnSpc>
              <a:spcBef>
                <a:spcPts val="1200"/>
              </a:spcBef>
              <a:spcAft>
                <a:spcPts val="0"/>
              </a:spcAft>
              <a:buClr>
                <a:schemeClr val="dk2"/>
              </a:buClr>
              <a:buSzPts val="1000"/>
              <a:buNone/>
            </a:pPr>
            <a:r>
              <a:rPr lang="fr-FR">
                <a:solidFill>
                  <a:schemeClr val="dk2"/>
                </a:solidFill>
              </a:rPr>
              <a:t>6. Importance de la ponctuation</a:t>
            </a:r>
            <a:endParaRPr/>
          </a:p>
          <a:p>
            <a:pPr marL="171450" lvl="0" indent="-171450" algn="l" rtl="0">
              <a:lnSpc>
                <a:spcPct val="100000"/>
              </a:lnSpc>
              <a:spcBef>
                <a:spcPts val="1200"/>
              </a:spcBef>
              <a:spcAft>
                <a:spcPts val="0"/>
              </a:spcAft>
              <a:buClr>
                <a:schemeClr val="dk1"/>
              </a:buClr>
              <a:buSzPts val="1000"/>
              <a:buFont typeface="Arial"/>
              <a:buChar char="•"/>
            </a:pPr>
            <a:r>
              <a:rPr lang="fr-FR" b="0"/>
              <a:t>Adopter une ponctuation claire et précise pour fluidifier la lecture des publications, rendant le contenu plus agréable à écouter via un lecteur d’écran.</a:t>
            </a:r>
            <a:endParaRPr/>
          </a:p>
        </p:txBody>
      </p:sp>
      <p:sp>
        <p:nvSpPr>
          <p:cNvPr id="2524" name="Google Shape;2524;p209"/>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Guide des bonnes pratiques</a:t>
            </a:r>
            <a:endParaRPr/>
          </a:p>
        </p:txBody>
      </p:sp>
      <p:sp>
        <p:nvSpPr>
          <p:cNvPr id="2525" name="Google Shape;2525;p209"/>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Apprendre à utiliser vos outils pour mettre en place le texte alternatif des images (Linkedin, X/Twitter…)</a:t>
            </a:r>
            <a:endParaRPr/>
          </a:p>
        </p:txBody>
      </p:sp>
      <p:sp>
        <p:nvSpPr>
          <p:cNvPr id="2526" name="Google Shape;2526;p209"/>
          <p:cNvSpPr txBox="1">
            <a:spLocks noGrp="1"/>
          </p:cNvSpPr>
          <p:nvPr>
            <p:ph type="body" idx="5"/>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531"/>
        <p:cNvGrpSpPr/>
        <p:nvPr/>
      </p:nvGrpSpPr>
      <p:grpSpPr>
        <a:xfrm>
          <a:off x="0" y="0"/>
          <a:ext cx="0" cy="0"/>
          <a:chOff x="0" y="0"/>
          <a:chExt cx="0" cy="0"/>
        </a:xfrm>
      </p:grpSpPr>
      <p:sp>
        <p:nvSpPr>
          <p:cNvPr id="2532" name="Google Shape;2532;p210"/>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533" name="Google Shape;2533;p210"/>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62</a:t>
            </a:fld>
            <a:endParaRPr/>
          </a:p>
        </p:txBody>
      </p:sp>
      <p:sp>
        <p:nvSpPr>
          <p:cNvPr id="2534" name="Google Shape;2534;p210"/>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535" name="Google Shape;2535;p210"/>
          <p:cNvSpPr txBox="1">
            <a:spLocks noGrp="1"/>
          </p:cNvSpPr>
          <p:nvPr>
            <p:ph type="body" idx="2"/>
          </p:nvPr>
        </p:nvSpPr>
        <p:spPr>
          <a:xfrm>
            <a:off x="359998" y="1836000"/>
            <a:ext cx="3995978" cy="2574000"/>
          </a:xfrm>
          <a:prstGeom prst="rect">
            <a:avLst/>
          </a:prstGeom>
          <a:noFill/>
          <a:ln>
            <a:noFill/>
          </a:ln>
        </p:spPr>
        <p:txBody>
          <a:bodyPr spcFirstLastPara="1" wrap="square" lIns="0" tIns="0" rIns="0" bIns="0" anchor="t" anchorCtr="0">
            <a:noAutofit/>
          </a:bodyPr>
          <a:lstStyle/>
          <a:p>
            <a:pPr marL="0" lvl="0" indent="0" algn="l" rtl="0">
              <a:lnSpc>
                <a:spcPct val="200000"/>
              </a:lnSpc>
              <a:spcBef>
                <a:spcPts val="0"/>
              </a:spcBef>
              <a:spcAft>
                <a:spcPts val="0"/>
              </a:spcAft>
              <a:buClr>
                <a:schemeClr val="dk2"/>
              </a:buClr>
              <a:buSzPts val="1000"/>
              <a:buNone/>
            </a:pPr>
            <a:r>
              <a:rPr lang="fr-FR" b="1">
                <a:solidFill>
                  <a:schemeClr val="dk2"/>
                </a:solidFill>
              </a:rPr>
              <a:t>Actions immédiates :</a:t>
            </a:r>
            <a:endParaRPr/>
          </a:p>
          <a:p>
            <a:pPr marL="171450" lvl="0" indent="-171450" algn="l" rtl="0">
              <a:lnSpc>
                <a:spcPct val="150000"/>
              </a:lnSpc>
              <a:spcBef>
                <a:spcPts val="500"/>
              </a:spcBef>
              <a:spcAft>
                <a:spcPts val="0"/>
              </a:spcAft>
              <a:buClr>
                <a:schemeClr val="dk1"/>
              </a:buClr>
              <a:buSzPts val="1000"/>
              <a:buFont typeface="Arial"/>
              <a:buChar char="•"/>
            </a:pPr>
            <a:r>
              <a:rPr lang="fr-FR"/>
              <a:t>Audit de vos publications récentes</a:t>
            </a:r>
            <a:endParaRPr/>
          </a:p>
          <a:p>
            <a:pPr marL="0" lvl="0" indent="0" algn="l" rtl="0">
              <a:lnSpc>
                <a:spcPct val="200000"/>
              </a:lnSpc>
              <a:spcBef>
                <a:spcPts val="500"/>
              </a:spcBef>
              <a:spcAft>
                <a:spcPts val="0"/>
              </a:spcAft>
              <a:buClr>
                <a:schemeClr val="dk2"/>
              </a:buClr>
              <a:buSzPts val="1000"/>
              <a:buNone/>
            </a:pPr>
            <a:r>
              <a:rPr lang="fr-FR" b="1">
                <a:solidFill>
                  <a:schemeClr val="dk2"/>
                </a:solidFill>
              </a:rPr>
              <a:t>Actions à court terme :</a:t>
            </a:r>
            <a:endParaRPr/>
          </a:p>
          <a:p>
            <a:pPr marL="171450" lvl="0" indent="-171450" algn="l" rtl="0">
              <a:lnSpc>
                <a:spcPct val="150000"/>
              </a:lnSpc>
              <a:spcBef>
                <a:spcPts val="500"/>
              </a:spcBef>
              <a:spcAft>
                <a:spcPts val="0"/>
              </a:spcAft>
              <a:buClr>
                <a:schemeClr val="dk1"/>
              </a:buClr>
              <a:buSzPts val="1000"/>
              <a:buFont typeface="Arial"/>
              <a:buChar char="•"/>
            </a:pPr>
            <a:r>
              <a:rPr lang="fr-FR"/>
              <a:t>Formation de l'équipe</a:t>
            </a:r>
            <a:endParaRPr/>
          </a:p>
          <a:p>
            <a:pPr marL="171450" lvl="0" indent="-171450" algn="l" rtl="0">
              <a:lnSpc>
                <a:spcPct val="150000"/>
              </a:lnSpc>
              <a:spcBef>
                <a:spcPts val="500"/>
              </a:spcBef>
              <a:spcAft>
                <a:spcPts val="0"/>
              </a:spcAft>
              <a:buClr>
                <a:schemeClr val="dk1"/>
              </a:buClr>
              <a:buSzPts val="1000"/>
              <a:buFont typeface="Arial"/>
              <a:buChar char="•"/>
            </a:pPr>
            <a:r>
              <a:rPr lang="fr-FR"/>
              <a:t>Mise en place du workflow</a:t>
            </a:r>
            <a:endParaRPr/>
          </a:p>
          <a:p>
            <a:pPr marL="0" lvl="0" indent="0" algn="l" rtl="0">
              <a:lnSpc>
                <a:spcPct val="200000"/>
              </a:lnSpc>
              <a:spcBef>
                <a:spcPts val="500"/>
              </a:spcBef>
              <a:spcAft>
                <a:spcPts val="0"/>
              </a:spcAft>
              <a:buClr>
                <a:schemeClr val="dk2"/>
              </a:buClr>
              <a:buSzPts val="1000"/>
              <a:buNone/>
            </a:pPr>
            <a:r>
              <a:rPr lang="fr-FR" b="1">
                <a:solidFill>
                  <a:schemeClr val="dk2"/>
                </a:solidFill>
              </a:rPr>
              <a:t>Actions à long terme :</a:t>
            </a:r>
            <a:endParaRPr/>
          </a:p>
          <a:p>
            <a:pPr marL="171450" lvl="0" indent="-171450" algn="l" rtl="0">
              <a:lnSpc>
                <a:spcPct val="150000"/>
              </a:lnSpc>
              <a:spcBef>
                <a:spcPts val="500"/>
              </a:spcBef>
              <a:spcAft>
                <a:spcPts val="0"/>
              </a:spcAft>
              <a:buClr>
                <a:schemeClr val="dk1"/>
              </a:buClr>
              <a:buSzPts val="1000"/>
              <a:buFont typeface="Arial"/>
              <a:buChar char="•"/>
            </a:pPr>
            <a:r>
              <a:rPr lang="fr-FR"/>
              <a:t>Documentation des bonnes pratiques</a:t>
            </a:r>
            <a:endParaRPr/>
          </a:p>
          <a:p>
            <a:pPr marL="171450" lvl="0" indent="-171450" algn="l" rtl="0">
              <a:lnSpc>
                <a:spcPct val="150000"/>
              </a:lnSpc>
              <a:spcBef>
                <a:spcPts val="500"/>
              </a:spcBef>
              <a:spcAft>
                <a:spcPts val="0"/>
              </a:spcAft>
              <a:buClr>
                <a:schemeClr val="dk1"/>
              </a:buClr>
              <a:buSzPts val="1000"/>
              <a:buFont typeface="Arial"/>
              <a:buChar char="•"/>
            </a:pPr>
            <a:r>
              <a:rPr lang="fr-FR"/>
              <a:t>Veille et amélioration continue</a:t>
            </a:r>
            <a:endParaRPr/>
          </a:p>
          <a:p>
            <a:pPr marL="0" lvl="0" indent="0" algn="l" rtl="0">
              <a:lnSpc>
                <a:spcPct val="100000"/>
              </a:lnSpc>
              <a:spcBef>
                <a:spcPts val="500"/>
              </a:spcBef>
              <a:spcAft>
                <a:spcPts val="0"/>
              </a:spcAft>
              <a:buClr>
                <a:schemeClr val="dk1"/>
              </a:buClr>
              <a:buSzPts val="1050"/>
              <a:buNone/>
            </a:pPr>
            <a:endParaRPr/>
          </a:p>
        </p:txBody>
      </p:sp>
      <p:sp>
        <p:nvSpPr>
          <p:cNvPr id="2536" name="Google Shape;2536;p210"/>
          <p:cNvSpPr txBox="1">
            <a:spLocks noGrp="1"/>
          </p:cNvSpPr>
          <p:nvPr>
            <p:ph type="body" idx="3"/>
          </p:nvPr>
        </p:nvSpPr>
        <p:spPr>
          <a:xfrm>
            <a:off x="4788023" y="1836000"/>
            <a:ext cx="3995977" cy="2823982"/>
          </a:xfrm>
          <a:prstGeom prst="rect">
            <a:avLst/>
          </a:prstGeom>
          <a:noFill/>
          <a:ln>
            <a:noFill/>
          </a:ln>
        </p:spPr>
        <p:txBody>
          <a:bodyPr spcFirstLastPara="1" wrap="square" lIns="0" tIns="0" rIns="0" bIns="0" anchor="t" anchorCtr="0">
            <a:noAutofit/>
          </a:bodyPr>
          <a:lstStyle/>
          <a:p>
            <a:pPr marL="0" lvl="0" indent="0" algn="l" rtl="0">
              <a:lnSpc>
                <a:spcPct val="150000"/>
              </a:lnSpc>
              <a:spcBef>
                <a:spcPts val="0"/>
              </a:spcBef>
              <a:spcAft>
                <a:spcPts val="0"/>
              </a:spcAft>
              <a:buClr>
                <a:schemeClr val="dk1"/>
              </a:buClr>
              <a:buSzPts val="1000"/>
              <a:buNone/>
            </a:pPr>
            <a:r>
              <a:rPr lang="fr-FR" b="1"/>
              <a:t>L'accessibilité n'est pas une destination, c'est un voyage vers l'amélioration continue.</a:t>
            </a:r>
            <a:endParaRPr/>
          </a:p>
          <a:p>
            <a:pPr marL="0" lvl="0" indent="0" algn="l" rtl="0">
              <a:lnSpc>
                <a:spcPct val="100000"/>
              </a:lnSpc>
              <a:spcBef>
                <a:spcPts val="500"/>
              </a:spcBef>
              <a:spcAft>
                <a:spcPts val="0"/>
              </a:spcAft>
              <a:buClr>
                <a:schemeClr val="dk1"/>
              </a:buClr>
              <a:buSzPts val="1050"/>
              <a:buNone/>
            </a:pPr>
            <a:endParaRPr/>
          </a:p>
        </p:txBody>
      </p:sp>
      <p:sp>
        <p:nvSpPr>
          <p:cNvPr id="2537" name="Google Shape;2537;p210"/>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Plan d'action</a:t>
            </a:r>
            <a:endParaRPr/>
          </a:p>
        </p:txBody>
      </p:sp>
      <p:sp>
        <p:nvSpPr>
          <p:cNvPr id="2538" name="Google Shape;2538;p210"/>
          <p:cNvSpPr txBox="1">
            <a:spLocks noGrp="1"/>
          </p:cNvSpPr>
          <p:nvPr>
            <p:ph type="body" idx="4"/>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Mettre en place l'accessibilité sur vos réseaux sociaux</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543"/>
        <p:cNvGrpSpPr/>
        <p:nvPr/>
      </p:nvGrpSpPr>
      <p:grpSpPr>
        <a:xfrm>
          <a:off x="0" y="0"/>
          <a:ext cx="0" cy="0"/>
          <a:chOff x="0" y="0"/>
          <a:chExt cx="0" cy="0"/>
        </a:xfrm>
      </p:grpSpPr>
      <p:sp>
        <p:nvSpPr>
          <p:cNvPr id="2544" name="Google Shape;2544;p211"/>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545" name="Google Shape;2545;p211"/>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63</a:t>
            </a:fld>
            <a:endParaRPr/>
          </a:p>
        </p:txBody>
      </p:sp>
      <p:sp>
        <p:nvSpPr>
          <p:cNvPr id="2546" name="Google Shape;2546;p211"/>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547" name="Google Shape;2547;p211"/>
          <p:cNvSpPr txBox="1">
            <a:spLocks noGrp="1"/>
          </p:cNvSpPr>
          <p:nvPr>
            <p:ph type="body" idx="2"/>
          </p:nvPr>
        </p:nvSpPr>
        <p:spPr>
          <a:xfrm>
            <a:off x="359999"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Webinaires BetaGouv - Communiquer sur les réseaux sociaux</a:t>
            </a:r>
            <a:endParaRPr/>
          </a:p>
          <a:p>
            <a:pPr marL="171450" lvl="0" indent="-171450" algn="l" rtl="0">
              <a:lnSpc>
                <a:spcPct val="100000"/>
              </a:lnSpc>
              <a:spcBef>
                <a:spcPts val="1100"/>
              </a:spcBef>
              <a:spcAft>
                <a:spcPts val="0"/>
              </a:spcAft>
              <a:buClr>
                <a:schemeClr val="dk1"/>
              </a:buClr>
              <a:buSzPts val="1000"/>
              <a:buFont typeface="Arial"/>
              <a:buChar char="•"/>
            </a:pPr>
            <a:r>
              <a:rPr lang="fr-FR" u="sng">
                <a:solidFill>
                  <a:schemeClr val="hlink"/>
                </a:solidFill>
                <a:hlinkClick r:id="rId3"/>
              </a:rPr>
              <a:t>https://bbb-dinum-scalelite.visio.education.fr/playback/presentation/2.3/87785ffa751d94980ff8dab4007b2daa8de53178-1701183207348</a:t>
            </a:r>
            <a:endParaRPr/>
          </a:p>
          <a:p>
            <a:pPr marL="0" lvl="0" indent="0" algn="l" rtl="0">
              <a:lnSpc>
                <a:spcPct val="100000"/>
              </a:lnSpc>
              <a:spcBef>
                <a:spcPts val="1100"/>
              </a:spcBef>
              <a:spcAft>
                <a:spcPts val="0"/>
              </a:spcAft>
              <a:buClr>
                <a:schemeClr val="dk2"/>
              </a:buClr>
              <a:buSzPts val="1000"/>
              <a:buNone/>
            </a:pPr>
            <a:r>
              <a:rPr lang="fr-FR" b="1">
                <a:solidFill>
                  <a:schemeClr val="dk2"/>
                </a:solidFill>
              </a:rPr>
              <a:t>Support de présentation</a:t>
            </a:r>
            <a:endParaRPr/>
          </a:p>
          <a:p>
            <a:pPr marL="171450" lvl="0" indent="-171450" algn="l" rtl="0">
              <a:lnSpc>
                <a:spcPct val="100000"/>
              </a:lnSpc>
              <a:spcBef>
                <a:spcPts val="1100"/>
              </a:spcBef>
              <a:spcAft>
                <a:spcPts val="0"/>
              </a:spcAft>
              <a:buClr>
                <a:schemeClr val="dk1"/>
              </a:buClr>
              <a:buSzPts val="1000"/>
              <a:buFont typeface="Arial"/>
              <a:buChar char="•"/>
            </a:pPr>
            <a:r>
              <a:rPr lang="fr-FR" u="sng">
                <a:solidFill>
                  <a:schemeClr val="hlink"/>
                </a:solidFill>
                <a:hlinkClick r:id="rId4"/>
              </a:rPr>
              <a:t>https://docs.google.com/presentation/d/1fbZAeCPMs9B0zoUdDGZbAR_kFtnXaurYqV0QdUjLMXo/edit#slide=id.p</a:t>
            </a:r>
            <a:endParaRPr/>
          </a:p>
          <a:p>
            <a:pPr marL="171450" lvl="0" indent="-104775" algn="l" rtl="0">
              <a:lnSpc>
                <a:spcPct val="100000"/>
              </a:lnSpc>
              <a:spcBef>
                <a:spcPts val="1100"/>
              </a:spcBef>
              <a:spcAft>
                <a:spcPts val="0"/>
              </a:spcAft>
              <a:buClr>
                <a:schemeClr val="dk1"/>
              </a:buClr>
              <a:buSzPts val="1050"/>
              <a:buFont typeface="Arial"/>
              <a:buNone/>
            </a:pPr>
            <a:endParaRPr/>
          </a:p>
        </p:txBody>
      </p:sp>
      <p:sp>
        <p:nvSpPr>
          <p:cNvPr id="2548" name="Google Shape;2548;p211"/>
          <p:cNvSpPr txBox="1">
            <a:spLocks noGrp="1"/>
          </p:cNvSpPr>
          <p:nvPr>
            <p:ph type="body" idx="3"/>
          </p:nvPr>
        </p:nvSpPr>
        <p:spPr>
          <a:xfrm>
            <a:off x="3312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Webinaire - Passe Muraille 2024 - Réaliser des publications accessibles sur les réseaux sociaux :</a:t>
            </a:r>
            <a:endParaRPr/>
          </a:p>
          <a:p>
            <a:pPr marL="171450" lvl="0" indent="-171450" algn="l" rtl="0">
              <a:lnSpc>
                <a:spcPct val="100000"/>
              </a:lnSpc>
              <a:spcBef>
                <a:spcPts val="1100"/>
              </a:spcBef>
              <a:spcAft>
                <a:spcPts val="0"/>
              </a:spcAft>
              <a:buClr>
                <a:schemeClr val="dk2"/>
              </a:buClr>
              <a:buSzPts val="1000"/>
              <a:buFont typeface="Arial"/>
              <a:buChar char="•"/>
            </a:pPr>
            <a:r>
              <a:rPr lang="fr-FR" u="sng">
                <a:solidFill>
                  <a:schemeClr val="dk2"/>
                </a:solidFill>
                <a:hlinkClick r:id="rId5">
                  <a:extLst>
                    <a:ext uri="{A12FA001-AC4F-418D-AE19-62706E023703}">
                      <ahyp:hlinkClr xmlns:ahyp="http://schemas.microsoft.com/office/drawing/2018/hyperlinkcolor" val="tx"/>
                    </a:ext>
                  </a:extLst>
                </a:hlinkClick>
              </a:rPr>
              <a:t>https://www.youtube.com/watch?v=glbhi7uaRG0</a:t>
            </a:r>
            <a:endParaRPr>
              <a:solidFill>
                <a:schemeClr val="dk2"/>
              </a:solidFill>
            </a:endParaRPr>
          </a:p>
          <a:p>
            <a:pPr marL="0" lvl="0" indent="0" algn="l" rtl="0">
              <a:lnSpc>
                <a:spcPct val="100000"/>
              </a:lnSpc>
              <a:spcBef>
                <a:spcPts val="1100"/>
              </a:spcBef>
              <a:spcAft>
                <a:spcPts val="0"/>
              </a:spcAft>
              <a:buClr>
                <a:schemeClr val="dk1"/>
              </a:buClr>
              <a:buSzPts val="1050"/>
              <a:buNone/>
            </a:pPr>
            <a:endParaRPr>
              <a:solidFill>
                <a:schemeClr val="dk2"/>
              </a:solidFill>
            </a:endParaRPr>
          </a:p>
          <a:p>
            <a:pPr marL="171450" lvl="0" indent="-104775" algn="l" rtl="0">
              <a:lnSpc>
                <a:spcPct val="100000"/>
              </a:lnSpc>
              <a:spcBef>
                <a:spcPts val="1100"/>
              </a:spcBef>
              <a:spcAft>
                <a:spcPts val="0"/>
              </a:spcAft>
              <a:buClr>
                <a:schemeClr val="dk1"/>
              </a:buClr>
              <a:buSzPts val="1050"/>
              <a:buFont typeface="Arial"/>
              <a:buNone/>
            </a:pPr>
            <a:endParaRPr b="1">
              <a:solidFill>
                <a:schemeClr val="dk2"/>
              </a:solidFill>
            </a:endParaRPr>
          </a:p>
        </p:txBody>
      </p:sp>
      <p:sp>
        <p:nvSpPr>
          <p:cNvPr id="2549" name="Google Shape;2549;p211"/>
          <p:cNvSpPr txBox="1">
            <a:spLocks noGrp="1"/>
          </p:cNvSpPr>
          <p:nvPr>
            <p:ph type="body" idx="4"/>
          </p:nvPr>
        </p:nvSpPr>
        <p:spPr>
          <a:xfrm>
            <a:off x="6264000" y="1836000"/>
            <a:ext cx="2520000" cy="2574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2"/>
              </a:buClr>
              <a:buSzPts val="1000"/>
              <a:buNone/>
            </a:pPr>
            <a:r>
              <a:rPr lang="fr-FR" b="1">
                <a:solidFill>
                  <a:schemeClr val="dk2"/>
                </a:solidFill>
              </a:rPr>
              <a:t>Webinaire - Passe Muraille 2024 -  Handicap et réseaux sociaux, révolution sociale en ligne</a:t>
            </a:r>
            <a:endParaRPr/>
          </a:p>
          <a:p>
            <a:pPr marL="171450" lvl="0" indent="-171450" algn="l" rtl="0">
              <a:lnSpc>
                <a:spcPct val="100000"/>
              </a:lnSpc>
              <a:spcBef>
                <a:spcPts val="1100"/>
              </a:spcBef>
              <a:spcAft>
                <a:spcPts val="0"/>
              </a:spcAft>
              <a:buClr>
                <a:schemeClr val="dk1"/>
              </a:buClr>
              <a:buSzPts val="1000"/>
              <a:buFont typeface="Arial"/>
              <a:buChar char="•"/>
            </a:pPr>
            <a:r>
              <a:rPr lang="fr-FR" u="sng">
                <a:solidFill>
                  <a:schemeClr val="hlink"/>
                </a:solidFill>
                <a:hlinkClick r:id="rId6"/>
              </a:rPr>
              <a:t>https://www.youtube.com/watch?v=nRVCUmojJoo&amp;t=3750s</a:t>
            </a:r>
            <a:endParaRPr/>
          </a:p>
          <a:p>
            <a:pPr marL="0" lvl="0" indent="0" algn="l" rtl="0">
              <a:lnSpc>
                <a:spcPct val="100000"/>
              </a:lnSpc>
              <a:spcBef>
                <a:spcPts val="1100"/>
              </a:spcBef>
              <a:spcAft>
                <a:spcPts val="0"/>
              </a:spcAft>
              <a:buClr>
                <a:schemeClr val="dk1"/>
              </a:buClr>
              <a:buSzPts val="1050"/>
              <a:buNone/>
            </a:pPr>
            <a:endParaRPr/>
          </a:p>
          <a:p>
            <a:pPr marL="0" lvl="0" indent="0" algn="l" rtl="0">
              <a:lnSpc>
                <a:spcPct val="100000"/>
              </a:lnSpc>
              <a:spcBef>
                <a:spcPts val="1100"/>
              </a:spcBef>
              <a:spcAft>
                <a:spcPts val="0"/>
              </a:spcAft>
              <a:buClr>
                <a:schemeClr val="dk1"/>
              </a:buClr>
              <a:buSzPts val="1050"/>
              <a:buNone/>
            </a:pPr>
            <a:endParaRPr/>
          </a:p>
        </p:txBody>
      </p:sp>
      <p:sp>
        <p:nvSpPr>
          <p:cNvPr id="2550" name="Google Shape;2550;p211"/>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Ressources et webinaires</a:t>
            </a:r>
            <a:endParaRPr/>
          </a:p>
        </p:txBody>
      </p:sp>
      <p:sp>
        <p:nvSpPr>
          <p:cNvPr id="2551" name="Google Shape;2551;p211"/>
          <p:cNvSpPr txBox="1">
            <a:spLocks noGrp="1"/>
          </p:cNvSpPr>
          <p:nvPr>
            <p:ph type="body" idx="5"/>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Webinaires</a:t>
            </a:r>
            <a:endParaRPr/>
          </a:p>
        </p:txBody>
      </p:sp>
      <p:pic>
        <p:nvPicPr>
          <p:cNvPr id="2552" name="Google Shape;2552;p211" descr="Handicap et réseaux sociaux, révolution sociale en ligne"/>
          <p:cNvPicPr preferRelativeResize="0"/>
          <p:nvPr/>
        </p:nvPicPr>
        <p:blipFill rotWithShape="1">
          <a:blip r:embed="rId7">
            <a:alphaModFix/>
          </a:blip>
          <a:srcRect/>
          <a:stretch/>
        </p:blipFill>
        <p:spPr>
          <a:xfrm>
            <a:off x="6243638" y="3004150"/>
            <a:ext cx="2540000" cy="1435100"/>
          </a:xfrm>
          <a:prstGeom prst="rect">
            <a:avLst/>
          </a:prstGeom>
          <a:noFill/>
          <a:ln>
            <a:noFill/>
          </a:ln>
        </p:spPr>
      </p:pic>
      <p:pic>
        <p:nvPicPr>
          <p:cNvPr id="2553" name="Google Shape;2553;p211" descr="Réaliser des publications accessibles sur les réseaux sociaux"/>
          <p:cNvPicPr preferRelativeResize="0"/>
          <p:nvPr/>
        </p:nvPicPr>
        <p:blipFill rotWithShape="1">
          <a:blip r:embed="rId8">
            <a:alphaModFix/>
          </a:blip>
          <a:srcRect/>
          <a:stretch/>
        </p:blipFill>
        <p:spPr>
          <a:xfrm>
            <a:off x="3487638" y="3004150"/>
            <a:ext cx="2540000" cy="1435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52"/>
                                        </p:tgtEl>
                                        <p:attrNameLst>
                                          <p:attrName>style.visibility</p:attrName>
                                        </p:attrNameLst>
                                      </p:cBhvr>
                                      <p:to>
                                        <p:strVal val="visible"/>
                                      </p:to>
                                    </p:set>
                                    <p:animEffect transition="in" filter="fade">
                                      <p:cBhvr>
                                        <p:cTn id="7" dur="1"/>
                                        <p:tgtEl>
                                          <p:spTgt spid="25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53"/>
                                        </p:tgtEl>
                                        <p:attrNameLst>
                                          <p:attrName>style.visibility</p:attrName>
                                        </p:attrNameLst>
                                      </p:cBhvr>
                                      <p:to>
                                        <p:strVal val="visible"/>
                                      </p:to>
                                    </p:set>
                                    <p:animEffect transition="in" filter="fade">
                                      <p:cBhvr>
                                        <p:cTn id="12" dur="1"/>
                                        <p:tgtEl>
                                          <p:spTgt spid="2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558"/>
        <p:cNvGrpSpPr/>
        <p:nvPr/>
      </p:nvGrpSpPr>
      <p:grpSpPr>
        <a:xfrm>
          <a:off x="0" y="0"/>
          <a:ext cx="0" cy="0"/>
          <a:chOff x="0" y="0"/>
          <a:chExt cx="0" cy="0"/>
        </a:xfrm>
      </p:grpSpPr>
      <p:sp>
        <p:nvSpPr>
          <p:cNvPr id="2559" name="Google Shape;2559;p212"/>
          <p:cNvSpPr txBox="1">
            <a:spLocks noGrp="1"/>
          </p:cNvSpPr>
          <p:nvPr>
            <p:ph type="ftr" idx="11"/>
          </p:nvPr>
        </p:nvSpPr>
        <p:spPr>
          <a:xfrm>
            <a:off x="360000" y="4783500"/>
            <a:ext cx="5904000" cy="360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FR"/>
              <a:t>Institut de la Gestion publique et du Développement économique</a:t>
            </a:r>
            <a:endParaRPr/>
          </a:p>
        </p:txBody>
      </p:sp>
      <p:sp>
        <p:nvSpPr>
          <p:cNvPr id="2560" name="Google Shape;2560;p212"/>
          <p:cNvSpPr txBox="1">
            <a:spLocks noGrp="1"/>
          </p:cNvSpPr>
          <p:nvPr>
            <p:ph type="sldNum" idx="12"/>
          </p:nvPr>
        </p:nvSpPr>
        <p:spPr>
          <a:xfrm>
            <a:off x="6264000" y="4783500"/>
            <a:ext cx="1350000" cy="360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fr-FR"/>
              <a:t>64</a:t>
            </a:fld>
            <a:endParaRPr/>
          </a:p>
        </p:txBody>
      </p:sp>
      <p:sp>
        <p:nvSpPr>
          <p:cNvPr id="2561" name="Google Shape;2561;p212"/>
          <p:cNvSpPr txBox="1">
            <a:spLocks noGrp="1"/>
          </p:cNvSpPr>
          <p:nvPr>
            <p:ph type="body" idx="1"/>
          </p:nvPr>
        </p:nvSpPr>
        <p:spPr>
          <a:xfrm>
            <a:off x="3312000" y="180000"/>
            <a:ext cx="5472000" cy="3600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chemeClr val="dk1"/>
              </a:buClr>
              <a:buSzPts val="700"/>
              <a:buFont typeface="Arial"/>
              <a:buNone/>
            </a:pPr>
            <a:r>
              <a:rPr lang="fr-FR"/>
              <a:t>Améliorer l'accessibilité numérique de vos publications sur les réseaux sociaux</a:t>
            </a:r>
            <a:endParaRPr/>
          </a:p>
          <a:p>
            <a:pPr marL="0" lvl="0" indent="0" algn="r" rtl="0">
              <a:lnSpc>
                <a:spcPct val="100000"/>
              </a:lnSpc>
              <a:spcBef>
                <a:spcPts val="0"/>
              </a:spcBef>
              <a:spcAft>
                <a:spcPts val="0"/>
              </a:spcAft>
              <a:buClr>
                <a:schemeClr val="dk1"/>
              </a:buClr>
              <a:buSzPts val="750"/>
              <a:buFont typeface="Arial"/>
              <a:buNone/>
            </a:pPr>
            <a:endParaRPr/>
          </a:p>
        </p:txBody>
      </p:sp>
      <p:sp>
        <p:nvSpPr>
          <p:cNvPr id="2562" name="Google Shape;2562;p212"/>
          <p:cNvSpPr txBox="1">
            <a:spLocks noGrp="1"/>
          </p:cNvSpPr>
          <p:nvPr>
            <p:ph type="body" idx="2"/>
          </p:nvPr>
        </p:nvSpPr>
        <p:spPr>
          <a:xfrm>
            <a:off x="359998" y="1836000"/>
            <a:ext cx="8423275" cy="2895990"/>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0"/>
              </a:spcBef>
              <a:spcAft>
                <a:spcPts val="0"/>
              </a:spcAft>
              <a:buClr>
                <a:schemeClr val="dk1"/>
              </a:buClr>
              <a:buSzPts val="1000"/>
              <a:buFont typeface="Arial"/>
              <a:buChar char="•"/>
            </a:pPr>
            <a:r>
              <a:rPr lang="fr-FR"/>
              <a:t>Carrousels LinkedIn avec Canva : peut-on les rendre accessibles ? </a:t>
            </a:r>
            <a:r>
              <a:rPr lang="fr-FR" u="sng">
                <a:solidFill>
                  <a:schemeClr val="hlink"/>
                </a:solidFill>
                <a:hlinkClick r:id="rId3"/>
              </a:rPr>
              <a:t>https://access42.net/carrousels-linkedin-canva-accessibilite/</a:t>
            </a:r>
            <a:endParaRPr/>
          </a:p>
          <a:p>
            <a:pPr marL="171450" lvl="0" indent="-171450" algn="l" rtl="0">
              <a:lnSpc>
                <a:spcPct val="100000"/>
              </a:lnSpc>
              <a:spcBef>
                <a:spcPts val="1100"/>
              </a:spcBef>
              <a:spcAft>
                <a:spcPts val="0"/>
              </a:spcAft>
              <a:buClr>
                <a:schemeClr val="dk1"/>
              </a:buClr>
              <a:buSzPts val="1000"/>
              <a:buFont typeface="Arial"/>
              <a:buChar char="•"/>
            </a:pPr>
            <a:r>
              <a:rPr lang="fr-FR"/>
              <a:t>Comment rendre accessibles les vidéos, podcasts et autres contenus sonores sur les réseaux sociaux ? </a:t>
            </a:r>
            <a:r>
              <a:rPr lang="fr-FR" u="sng">
                <a:solidFill>
                  <a:schemeClr val="hlink"/>
                </a:solidFill>
                <a:hlinkClick r:id="rId4"/>
              </a:rPr>
              <a:t>https://access42.net/video-audio-accessibilite-reseaux-sociaux/</a:t>
            </a:r>
            <a:endParaRPr/>
          </a:p>
          <a:p>
            <a:pPr marL="171450" lvl="0" indent="-171450" algn="l" rtl="0">
              <a:lnSpc>
                <a:spcPct val="100000"/>
              </a:lnSpc>
              <a:spcBef>
                <a:spcPts val="1100"/>
              </a:spcBef>
              <a:spcAft>
                <a:spcPts val="0"/>
              </a:spcAft>
              <a:buClr>
                <a:schemeClr val="dk1"/>
              </a:buClr>
              <a:buSzPts val="1000"/>
              <a:buFont typeface="Arial"/>
              <a:buChar char="•"/>
            </a:pPr>
            <a:r>
              <a:rPr lang="fr-FR"/>
              <a:t>Comment publier des images accessibles sur les réseaux sociaux ? : </a:t>
            </a:r>
            <a:r>
              <a:rPr lang="fr-FR" u="sng">
                <a:solidFill>
                  <a:schemeClr val="hlink"/>
                </a:solidFill>
                <a:hlinkClick r:id="rId5"/>
              </a:rPr>
              <a:t>https://access42.net/tag/reseaux-sociaux-accessibilite/</a:t>
            </a:r>
            <a:endParaRPr/>
          </a:p>
          <a:p>
            <a:pPr marL="171450" lvl="0" indent="-171450" algn="l" rtl="0">
              <a:lnSpc>
                <a:spcPct val="100000"/>
              </a:lnSpc>
              <a:spcBef>
                <a:spcPts val="1100"/>
              </a:spcBef>
              <a:spcAft>
                <a:spcPts val="0"/>
              </a:spcAft>
              <a:buClr>
                <a:schemeClr val="dk1"/>
              </a:buClr>
              <a:buSzPts val="1000"/>
              <a:buFont typeface="Arial"/>
              <a:buChar char="•"/>
            </a:pPr>
            <a:r>
              <a:rPr lang="fr-FR"/>
              <a:t>Faux gras, faux italique et fausses colonnes : quels problèmes pour l’accessibilité ? </a:t>
            </a:r>
            <a:r>
              <a:rPr lang="fr-FR" u="sng">
                <a:solidFill>
                  <a:schemeClr val="hlink"/>
                </a:solidFill>
                <a:hlinkClick r:id="rId5"/>
              </a:rPr>
              <a:t>https://access42.net/tag/reseaux-sociaux-accessibilite/</a:t>
            </a:r>
            <a:endParaRPr/>
          </a:p>
          <a:p>
            <a:pPr marL="171450" lvl="0" indent="-171450" algn="l" rtl="0">
              <a:lnSpc>
                <a:spcPct val="100000"/>
              </a:lnSpc>
              <a:spcBef>
                <a:spcPts val="1100"/>
              </a:spcBef>
              <a:spcAft>
                <a:spcPts val="0"/>
              </a:spcAft>
              <a:buClr>
                <a:schemeClr val="dk1"/>
              </a:buClr>
              <a:buSzPts val="1000"/>
              <a:buFont typeface="Arial"/>
              <a:buChar char="•"/>
            </a:pPr>
            <a:r>
              <a:rPr lang="fr-FR"/>
              <a:t>Comment utiliser les hashtags de manière accessible ? </a:t>
            </a:r>
            <a:r>
              <a:rPr lang="fr-FR" u="sng">
                <a:solidFill>
                  <a:schemeClr val="hlink"/>
                </a:solidFill>
                <a:hlinkClick r:id="rId6"/>
              </a:rPr>
              <a:t>https://access42.net/hashtags-accessibles/</a:t>
            </a:r>
            <a:endParaRPr/>
          </a:p>
          <a:p>
            <a:pPr marL="171450" lvl="0" indent="-171450" algn="l" rtl="0">
              <a:lnSpc>
                <a:spcPct val="100000"/>
              </a:lnSpc>
              <a:spcBef>
                <a:spcPts val="1100"/>
              </a:spcBef>
              <a:spcAft>
                <a:spcPts val="0"/>
              </a:spcAft>
              <a:buClr>
                <a:schemeClr val="dk1"/>
              </a:buClr>
              <a:buSzPts val="1000"/>
              <a:buFont typeface="Arial"/>
              <a:buChar char="•"/>
            </a:pPr>
            <a:r>
              <a:rPr lang="fr-FR"/>
              <a:t>Réseaux sociaux et accessibilité : comment rendre les émojis accessibles ? </a:t>
            </a:r>
            <a:r>
              <a:rPr lang="fr-FR" u="sng">
                <a:solidFill>
                  <a:schemeClr val="hlink"/>
                </a:solidFill>
                <a:hlinkClick r:id="rId7"/>
              </a:rPr>
              <a:t>https://access42.net/reseaux-sociaux-accessibilite-emojis-accessibles/</a:t>
            </a:r>
            <a:endParaRPr/>
          </a:p>
          <a:p>
            <a:pPr marL="171450" lvl="0" indent="-171450" algn="l" rtl="0">
              <a:lnSpc>
                <a:spcPct val="100000"/>
              </a:lnSpc>
              <a:spcBef>
                <a:spcPts val="1100"/>
              </a:spcBef>
              <a:spcAft>
                <a:spcPts val="0"/>
              </a:spcAft>
              <a:buClr>
                <a:schemeClr val="dk1"/>
              </a:buClr>
              <a:buSzPts val="1000"/>
              <a:buFont typeface="Arial"/>
              <a:buChar char="•"/>
            </a:pPr>
            <a:r>
              <a:rPr lang="fr-FR"/>
              <a:t>Atelier Paris Web 2024 - Action ! Améliorez l’accessibilité de vos contenus sur les réseaux sociaux - Coryse Quibel </a:t>
            </a:r>
            <a:r>
              <a:rPr lang="fr-FR" u="sng">
                <a:solidFill>
                  <a:schemeClr val="hlink"/>
                </a:solidFill>
                <a:hlinkClick r:id="rId8"/>
              </a:rPr>
              <a:t>https://fr.slides.access42.net/pw2024/</a:t>
            </a:r>
            <a:endParaRPr/>
          </a:p>
          <a:p>
            <a:pPr marL="0" lvl="0" indent="0" algn="l" rtl="0">
              <a:lnSpc>
                <a:spcPct val="100000"/>
              </a:lnSpc>
              <a:spcBef>
                <a:spcPts val="500"/>
              </a:spcBef>
              <a:spcAft>
                <a:spcPts val="0"/>
              </a:spcAft>
              <a:buClr>
                <a:schemeClr val="dk1"/>
              </a:buClr>
              <a:buSzPts val="1050"/>
              <a:buNone/>
            </a:pPr>
            <a:endParaRPr/>
          </a:p>
        </p:txBody>
      </p:sp>
      <p:sp>
        <p:nvSpPr>
          <p:cNvPr id="2563" name="Google Shape;2563;p212"/>
          <p:cNvSpPr txBox="1">
            <a:spLocks noGrp="1"/>
          </p:cNvSpPr>
          <p:nvPr>
            <p:ph type="title"/>
          </p:nvPr>
        </p:nvSpPr>
        <p:spPr>
          <a:xfrm>
            <a:off x="359999" y="900000"/>
            <a:ext cx="8424000" cy="44761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Arial"/>
              <a:buNone/>
            </a:pPr>
            <a:r>
              <a:rPr lang="fr-FR" sz="2400"/>
              <a:t>Articles et liens utiles</a:t>
            </a:r>
            <a:endParaRPr/>
          </a:p>
        </p:txBody>
      </p:sp>
      <p:sp>
        <p:nvSpPr>
          <p:cNvPr id="2564" name="Google Shape;2564;p212"/>
          <p:cNvSpPr txBox="1">
            <a:spLocks noGrp="1"/>
          </p:cNvSpPr>
          <p:nvPr>
            <p:ph type="body" idx="3"/>
          </p:nvPr>
        </p:nvSpPr>
        <p:spPr>
          <a:xfrm>
            <a:off x="360363" y="1419225"/>
            <a:ext cx="8423275" cy="2889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595959"/>
              </a:buClr>
              <a:buSzPts val="1100"/>
              <a:buNone/>
            </a:pPr>
            <a:r>
              <a:rPr lang="fr-FR"/>
              <a:t>Série sur les réseaux sociaux et l'accessiblité d'access42</a:t>
            </a:r>
            <a:endParaRPr/>
          </a:p>
          <a:p>
            <a:pPr marL="0" lvl="0" indent="0" algn="l" rtl="0">
              <a:lnSpc>
                <a:spcPct val="100000"/>
              </a:lnSpc>
              <a:spcBef>
                <a:spcPts val="500"/>
              </a:spcBef>
              <a:spcAft>
                <a:spcPts val="0"/>
              </a:spcAft>
              <a:buClr>
                <a:srgbClr val="595959"/>
              </a:buClr>
              <a:buSzPts val="1100"/>
              <a:buNone/>
            </a:pPr>
            <a:endParaRPr/>
          </a:p>
        </p:txBody>
      </p:sp>
    </p:spTree>
  </p:cSld>
  <p:clrMapOvr>
    <a:masterClrMapping/>
  </p:clrMapOvr>
</p:sld>
</file>

<file path=ppt/theme/theme1.xml><?xml version="1.0" encoding="utf-8"?>
<a:theme xmlns:a="http://schemas.openxmlformats.org/drawingml/2006/main" name="GOUVERNEMENT">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6180</Words>
  <Application>Microsoft Macintosh PowerPoint</Application>
  <PresentationFormat>Affichage à l'écran (16:9)</PresentationFormat>
  <Paragraphs>990</Paragraphs>
  <Slides>64</Slides>
  <Notes>64</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64</vt:i4>
      </vt:variant>
    </vt:vector>
  </HeadingPairs>
  <TitlesOfParts>
    <vt:vector size="67" baseType="lpstr">
      <vt:lpstr>Helvetica Neue</vt:lpstr>
      <vt:lpstr>Arial</vt:lpstr>
      <vt:lpstr>GOUVERNEMENT</vt:lpstr>
      <vt:lpstr>Présentation PowerPoint</vt:lpstr>
      <vt:lpstr>Objectifs de la séquence</vt:lpstr>
      <vt:lpstr>Plan de la séquence</vt:lpstr>
      <vt:lpstr>Public cible et prérequis</vt:lpstr>
      <vt:lpstr>Un peu de contexte et chiffres clés</vt:lpstr>
      <vt:lpstr>Impact humain et impact business</vt:lpstr>
      <vt:lpstr>Présentation PowerPoint</vt:lpstr>
      <vt:lpstr>Mise en situation – Tweet de l’OMS</vt:lpstr>
      <vt:lpstr>Mise en situation – Tweet de l’OMS – capture écran</vt:lpstr>
      <vt:lpstr>Analyse interactive des problèmes</vt:lpstr>
      <vt:lpstr>Démonstration des problèmes</vt:lpstr>
      <vt:lpstr>Version accessible du tweet de l’OMS</vt:lpstr>
      <vt:lpstr>Mise en situation – Tweet de l’OMS - 2</vt:lpstr>
      <vt:lpstr>Autre exemple de restitution</vt:lpstr>
      <vt:lpstr>Exemple du post sur Dune avec que des émojis</vt:lpstr>
      <vt:lpstr>Présentation PowerPoint</vt:lpstr>
      <vt:lpstr>Introduction aux médias</vt:lpstr>
      <vt:lpstr>Vidéos et sous-titrage</vt:lpstr>
      <vt:lpstr>Sous-titrage des vidéos par plateforme</vt:lpstr>
      <vt:lpstr>Les images</vt:lpstr>
      <vt:lpstr>Spécificités des images sur les réseaux sociaux</vt:lpstr>
      <vt:lpstr>Rédiger un bon texte alternatif</vt:lpstr>
      <vt:lpstr>Différence texte ALT vs Description</vt:lpstr>
      <vt:lpstr>Cas particuliers - Infographies</vt:lpstr>
      <vt:lpstr>Contraste et lisibilité</vt:lpstr>
      <vt:lpstr>Instructions LinkedIn - 1</vt:lpstr>
      <vt:lpstr>Instructions LinkedIn - 2</vt:lpstr>
      <vt:lpstr>Instructions Facebook - 1</vt:lpstr>
      <vt:lpstr>Instructions Facebook - 2</vt:lpstr>
      <vt:lpstr>Instructions Instagram - 1</vt:lpstr>
      <vt:lpstr>Instructions Instagram - 2</vt:lpstr>
      <vt:lpstr>Instructions X - (Twitter) - 1</vt:lpstr>
      <vt:lpstr>X - (Twitter) - Processus d'ajout d'alt text</vt:lpstr>
      <vt:lpstr>Canva</vt:lpstr>
      <vt:lpstr>Check-list des alternatives des images sur les RS</vt:lpstr>
      <vt:lpstr>Présentation PowerPoint</vt:lpstr>
      <vt:lpstr>Emojis : limiter leurs usages </vt:lpstr>
      <vt:lpstr>Emojis – faire et ne pas faire</vt:lpstr>
      <vt:lpstr>Emojis – Check-list</vt:lpstr>
      <vt:lpstr>Hashtags accessibles</vt:lpstr>
      <vt:lpstr>Format et placement des hashtags</vt:lpstr>
      <vt:lpstr>L'incident #susanalbumparty </vt:lpstr>
      <vt:lpstr>Liens accessibles</vt:lpstr>
      <vt:lpstr>GIFs animés et leurs problèmes</vt:lpstr>
      <vt:lpstr>Écriture inclusive et accessibilité</vt:lpstr>
      <vt:lpstr>Présentation PowerPoint</vt:lpstr>
      <vt:lpstr>Choix des polices</vt:lpstr>
      <vt:lpstr>Polices et lisibilité</vt:lpstr>
      <vt:lpstr>Contrastes et lisibilité</vt:lpstr>
      <vt:lpstr>Les caractères spéciaux sont à proscrire</vt:lpstr>
      <vt:lpstr>Structure des paragraphes</vt:lpstr>
      <vt:lpstr>Les outils natifs des traitements de texte</vt:lpstr>
      <vt:lpstr>Les outils sur les réseaux sociaux </vt:lpstr>
      <vt:lpstr>Cas d'utilisation problématique - 1</vt:lpstr>
      <vt:lpstr>Cas d'utilisation problématique - 2</vt:lpstr>
      <vt:lpstr>Exemples concrets d'utilisation problématique </vt:lpstr>
      <vt:lpstr>Solutions alternatives</vt:lpstr>
      <vt:lpstr>Présentation PowerPoint</vt:lpstr>
      <vt:lpstr>Check-list d'accessibilité pour les réseaux sociaux</vt:lpstr>
      <vt:lpstr>A retenir</vt:lpstr>
      <vt:lpstr>Guide des bonnes pratiques</vt:lpstr>
      <vt:lpstr>Plan d'action</vt:lpstr>
      <vt:lpstr>Ressources et webinaires</vt:lpstr>
      <vt:lpstr>Articles et liens utiles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Alexandra Guiderdoni</dc:creator>
  <cp:lastModifiedBy>alex</cp:lastModifiedBy>
  <cp:revision>1</cp:revision>
  <dcterms:created xsi:type="dcterms:W3CDTF">2024-10-17T22:54:25Z</dcterms:created>
  <dcterms:modified xsi:type="dcterms:W3CDTF">2026-04-22T14:33:17Z</dcterms:modified>
</cp:coreProperties>
</file>