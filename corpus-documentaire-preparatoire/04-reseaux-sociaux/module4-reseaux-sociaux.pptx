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Ne rien dire.</a:t>
            </a:r>
          </a:p>
          <a:p>
            <a:r>
              <a:rPr lang="fr-FR"/>
              <a:t>Distribuer la consigne, laisser 2 minutes en silence.</a:t>
            </a:r>
          </a:p>
          <a:p>
            <a:r>
              <a:rPr lang="fr-FR"/>
              <a:t>Certains stagiaires vont identifier les émojis, d'autres le contraste, d'autres rien.</a:t>
            </a:r>
          </a:p>
          <a:p>
            <a:r>
              <a:rPr lang="fr-FR"/>
              <a:t>C'est exactement l'objectif : révéler que le problème n'est pas évident visuellement.</a:t>
            </a:r>
          </a:p>
          <a:p>
            <a:r>
              <a:rPr lang="fr-FR"/>
              <a:t>Recueillir les réponses à l'oral avant de passer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à voix haute la colonne de droite avec le ton d'un lecteur d'écran - monotone, sans pause.</a:t>
            </a:r>
          </a:p>
          <a:p>
            <a:r>
              <a:rPr lang="fr-FR"/>
              <a:t>Silence après la lecture.</a:t>
            </a:r>
          </a:p>
          <a:p>
            <a:r>
              <a:rPr lang="fr-FR"/>
              <a:t>Laisser l'absurdité s'installer.</a:t>
            </a:r>
          </a:p>
          <a:p>
            <a:r>
              <a:rPr lang="fr-FR"/>
              <a:t>L'effet de surprise est la meilleure colle mémorielle ici.</a:t>
            </a:r>
          </a:p>
          <a:p>
            <a:r>
              <a:rPr lang="fr-FR"/>
              <a:t>Ne pas commenter immédiatement - poser la question : 'Qui aurait pensé à ça en publiant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Insister : aucune information perdue.</a:t>
            </a:r>
          </a:p>
          <a:p>
            <a:r>
              <a:rPr lang="fr-FR"/>
              <a:t>Le message est même plus clair pour tout le monde.</a:t>
            </a:r>
          </a:p>
          <a:p>
            <a:r>
              <a:rPr lang="fr-FR"/>
              <a:t>L'accessibilité améliore la qualité pour tous, pas seulement pour les personnes handicapées.</a:t>
            </a:r>
          </a:p>
          <a:p>
            <a:r>
              <a:rPr lang="fr-FR"/>
              <a:t>Question à poser : 'Combien de temps faut-il pour faire ces 3 modifications ?' - Réponse 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Post à préparer avant la session : un post LinkedIn ou Twitter avec 5-6 émojis en série et un hashtag sans CamelCase.</a:t>
            </a:r>
          </a:p>
          <a:p>
            <a:r>
              <a:rPr lang="fr-FR"/>
              <a:t>L'effet est immédiatement compréhensible.</a:t>
            </a:r>
          </a:p>
          <a:p>
            <a:r>
              <a:rPr lang="fr-FR"/>
              <a:t>NVDA : Ctrl+Alt+N pour démarrer, Insert+Q pour quitter.</a:t>
            </a:r>
          </a:p>
          <a:p>
            <a:r>
              <a:rPr lang="fr-FR"/>
              <a:t>Si NVDA n'est pas disponible, utiliser Narrateur Windows (Win+Ctrl+Entrée).</a:t>
            </a:r>
          </a:p>
          <a:p>
            <a:r>
              <a:rPr lang="fr-FR"/>
              <a:t>Durée de la démo : 5 minutes max.</a:t>
            </a:r>
          </a:p>
          <a:p>
            <a:r>
              <a:rPr lang="fr-FR"/>
              <a:t>Laisser ensuite 5 minutes aux stagiaires pour tester eux-mêmes sur leur propre PC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slide sert de boussole pour tout le module.</a:t>
            </a:r>
          </a:p>
          <a:p>
            <a:r>
              <a:rPr lang="fr-FR"/>
              <a:t>Y revenir à la fin.</a:t>
            </a:r>
          </a:p>
          <a:p>
            <a:r>
              <a:rPr lang="fr-FR"/>
              <a:t>Chaque réflexe sera détaillé dans les slides suivantes.</a:t>
            </a:r>
          </a:p>
          <a:p>
            <a:r>
              <a:rPr lang="fr-FR"/>
              <a:t>Le message clé : 4 actions, 2 minutes par publication, zéro compétence technique requise.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L'analogie du sous-titre fonctionne très bien - tout le monde comprend immédiatement.</a:t>
            </a:r>
          </a:p>
          <a:p>
            <a:r>
              <a:rPr lang="fr-FR"/>
              <a:t>Insister sur le fait que ça bénéficie AUSSI au référencement : argument qui convainc les agents qui ne sont pas sensibles à l'accessibilité pure.</a:t>
            </a:r>
          </a:p>
          <a:p>
            <a:r>
              <a:rPr lang="fr-FR"/>
              <a:t>Montrer rapidement où trouver le champ alt text sur LinkedIn (le plus utilisé en contexte pro).</a:t>
            </a:r>
          </a:p>
          <a:p>
            <a:r>
              <a:rPr lang="fr-FR"/>
              <a:t>Ne pas aller dans le détail de toutes les plateformes ici - ça sera dans le tableau comparatif.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 règle d'or : décrire ce qui est utile pour comprendre le message, pas ce qui est visible.</a:t>
            </a:r>
          </a:p>
          <a:p>
            <a:r>
              <a:rPr lang="fr-FR"/>
              <a:t>Une photo de groupe sans texte = "Équipe de 5 agents en réunion de travail".</a:t>
            </a:r>
          </a:p>
          <a:p>
            <a:r>
              <a:rPr lang="fr-FR"/>
              <a:t>Une infographie avec des chiffres = décrire les chiffres clés dans l'alt text OU dire que le détail est dans le texte du post.</a:t>
            </a:r>
          </a:p>
          <a:p>
            <a:r>
              <a:rPr lang="fr-FR"/>
              <a:t>Recueillir 1-2 exemples à l'oral avant de passer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Ne pas lire le tableau ligne par ligne - il sert de mémo à imprimer ou photographier.</a:t>
            </a:r>
          </a:p>
          <a:p>
            <a:r>
              <a:rPr lang="fr-FR"/>
              <a:t>Insister : sur X/Twitter il faut le faire AVANT de publier, on ne peut pas l'ajouter après.</a:t>
            </a:r>
          </a:p>
          <a:p>
            <a:r>
              <a:rPr lang="fr-FR"/>
              <a:t>Sur LinkedIn c'est possible après coup, donc pas d'excuse.</a:t>
            </a:r>
          </a:p>
          <a:p>
            <a:r>
              <a:rPr lang="fr-FR"/>
              <a:t>Un mémo PDF plus complet sera distribué 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 règle du test : retirer l'émoji et voir si le message tient.</a:t>
            </a:r>
          </a:p>
          <a:p>
            <a:r>
              <a:rPr lang="fr-FR"/>
              <a:t>Exemple : 'Rejoignez-nous mardi prochain !' vs 'Rejoignez-nous mardi prochain !📅' - le calendrier ne porte pas de sens supplémentaire ici, c'est décoratif.</a:t>
            </a:r>
          </a:p>
          <a:p>
            <a:r>
              <a:rPr lang="fr-FR"/>
              <a:t>Mais '🚨 Fermeture exceptionnelle' : l'émoji alerte sert vraiment de signal.</a:t>
            </a:r>
          </a:p>
          <a:p>
            <a:r>
              <a:rPr lang="fr-FR"/>
              <a:t>Dans ce cas il faut écrire 'ALERTE - Fermeture exceptionnelle' et mettre l'émoji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la colonne de droite à voix haute, d'une seule traite, sans intonation.</a:t>
            </a:r>
          </a:p>
          <a:p>
            <a:r>
              <a:rPr lang="fr-FR"/>
              <a:t>L'effet est immédiat.</a:t>
            </a:r>
          </a:p>
          <a:p>
            <a:r>
              <a:rPr lang="fr-FR"/>
              <a:t>Puis lire la version accessible : nette et compréhensible.</a:t>
            </a:r>
          </a:p>
          <a:p>
            <a:r>
              <a:rPr lang="fr-FR"/>
              <a:t>Question à poser : 'Combien de temps pour corriger ce post ?' - 30 secondes.</a:t>
            </a:r>
          </a:p>
          <a:p>
            <a:r>
              <a:rPr lang="fr-FR"/>
              <a:t>L'information est la même, la lisibilité est incomparablement meilleure.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L'anecdote Susan Boyle : en 2012 le label de Susan Boyle a lancé le hashtag #susanalbumparty pour son album.</a:t>
            </a:r>
          </a:p>
          <a:p>
            <a:r>
              <a:rPr lang="fr-FR"/>
              <a:t>Sans CamelCase, le lecteur d'écran (et les humains !) lisaient quelque chose de très différent.</a:t>
            </a:r>
          </a:p>
          <a:p>
            <a:r>
              <a:rPr lang="fr-FR"/>
              <a:t>Depuis, le CamelCase est la norme sur toutes les plateformes.</a:t>
            </a:r>
          </a:p>
          <a:p>
            <a:r>
              <a:rPr lang="fr-FR"/>
              <a:t>C'est une des rares règles d'accessibilité qui est aussi devenue la norme éditoriale standard - bon exemple que l'accessibilité améliore la communication pour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Montrer en direct sur un smartphone : aller sur InstaFont, taper 'Bonjour', copier le résultat 'faux gras', le coller dans un post test, puis activer TalkBack (Android) ou VoiceOver (iPhone) pour écouter.</a:t>
            </a:r>
          </a:p>
          <a:p>
            <a:r>
              <a:rPr lang="fr-FR"/>
              <a:t>L'effet est immédiat.</a:t>
            </a:r>
          </a:p>
          <a:p>
            <a:r>
              <a:rPr lang="fr-FR"/>
              <a:t>La règle Opquast 14 est une référence AQW (Assurance Qualité Web) qui couvre aussi le SEO et la lisibilité IA - argument fort pour les agents qui ne sont pas encore convaincus par l'argument accessibilité seul.</a:t>
            </a:r>
          </a:p>
          <a:p>
            <a:r>
              <a:rPr lang="fr-FR"/>
              <a:t>Solution simple : utiliser le gras natif de la plateforme (LinkedIn, Facebook permettent le formatage natif).</a:t>
            </a:r>
          </a:p>
          <a:p>
            <a:r>
              <a:rPr lang="fr-FR"/>
              <a:t>Sinon, écrire en texte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Sujet sensible à traiter avec neutralité - ne pas prendre position sur le fond idéologique, uniquement sur la technicité d'accessibilité.</a:t>
            </a:r>
          </a:p>
          <a:p>
            <a:r>
              <a:rPr lang="fr-FR"/>
              <a:t>Le message clé : l'accessibilité et l'inclusion ne s'opposent pas.</a:t>
            </a:r>
          </a:p>
          <a:p>
            <a:r>
              <a:rPr lang="fr-FR"/>
              <a:t>Le point médian pose un problème technique réel (lecteur d'écran) indépendamment de toute position politique.</a:t>
            </a:r>
          </a:p>
          <a:p>
            <a:r>
              <a:rPr lang="fr-FR"/>
              <a:t>La DGLFLF et la DINUM sont des références institutionnelles solides pour les agents qui auraient des doutes sur la légitimité de la recommandation.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Quiz à main levée - poser chaque question, laisser les réponses s'exprimer avant de révéler.</a:t>
            </a:r>
          </a:p>
          <a:p>
            <a:r>
              <a:rPr lang="fr-FR"/>
              <a:t>Ne pas lire les réponses inscrites sur les cartes pendant la question.</a:t>
            </a:r>
          </a:p>
          <a:p>
            <a:r>
              <a:rPr lang="fr-FR"/>
              <a:t>Interleaving (R14 neuropédagogie) : les 4 questions couvrent les 4 réflexes du module, pas uniquement le dernier thème.</a:t>
            </a:r>
          </a:p>
          <a:p>
            <a:r>
              <a:rPr lang="fr-FR"/>
              <a:t>Si des stagiaires se trompent sur Q3 (alt vide) : c'est normal, c'est le point le plus contre-intuitif.</a:t>
            </a:r>
          </a:p>
          <a:p>
            <a:r>
              <a:rPr lang="fr-FR"/>
              <a:t>Prendre 1 minute pour expliquer la distinction image décorative vs informative.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Clôture du module.</a:t>
            </a:r>
          </a:p>
          <a:p>
            <a:r>
              <a:rPr lang="fr-FR"/>
              <a:t>Laisser 2 minutes aux stagiaires pour noter leur engagement personnel (1 seul geste concret pour demain).</a:t>
            </a:r>
          </a:p>
          <a:p>
            <a:r>
              <a:rPr lang="fr-FR"/>
              <a:t>La restitution orale de ces engagements crée une responsabilisation sociale (R24 neuropédagogie - plan d'action + pair learning).</a:t>
            </a:r>
          </a:p>
          <a:p>
            <a:r>
              <a:rPr lang="fr-FR"/>
              <a:t>Annoncer : un mémo PDF 'Réseaux sociaux accessibles' sera envoyé par mail après la formation avec les 4 réflexes et le tableau des plateformes.</a:t>
            </a:r>
          </a:p>
          <a:p>
            <a:r>
              <a:rPr lang="fr-FR"/>
              <a:t>Remercier les stagiaires pour leur participation et leur attention sur un sujet qui impacte directement les millions d'usagers de leurs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checklists.opquast.com/fr/qualite-numerique/les-contenus-ne-detournent-pas-de-caracteres-pour-simuler-une-mise-en-forme-visuelle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Regardez ce tweet - qu'est-ce qui ne va pas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Tweet publié par l'OMS en 2020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Protégez-vous de la #COVID19 :
Lavez-vous les 👐 avec 1 désinfectant à base d'alcool, du 🧼 &amp; de l'💦.
Quand vous toussez ou 🤧 couvrez votre 👄 &amp; le 👃🏻 dans le pli du coude ou mouchoir.
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info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En binôme - 2 minutes</a:t>
            </a:r>
          </a:p>
        </p:txBody>
      </p:sp>
      <p:sp>
        <p:nvSpPr>
          <p:cNvPr id="15" name="DSFR-alert-info-body"/>
          <p:cNvSpPr txBox="1"/>
          <p:nvPr/>
        </p:nvSpPr>
        <p:spPr>
          <a:xfrm>
            <a:off x="6469379" y="2606039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Identifiez le maximum de problèmes d'accessibilité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Ne lisez pas le tweet à voix haute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Notez ce qui vous gêne ou vous surprend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Ce que vous voyez ≠ ce qui est lu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vous voyez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Lavez-vous les 👐 avec du 🧼 &amp; de l'💦.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Quand vous toussez ou 🤧 couvrez votre 👄.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1965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NVDA lit à voix haute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Lavez-vous les mains ouvertes avec du savon et éclaboussures de sueur.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Quand vous toussez ou visage qui éternue couvrez votre bouche.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Évitez de toucher les yeux grand ouverts, le nez et la bouche.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2976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43891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Chaque émoji a un nom officiel lu intégralement. Il interrompt le flux de lecture.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2976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 changements, 0 perte de sens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Version originale - problématique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Lavez-vous les 👐 avec 1 désinfectant à base d'alcool, du 🧼 &amp; de l'💦.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Quand vous toussez ou 🤧 couvrez votre 👄 &amp; le 👃🏻.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Version accessible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Protégez-vous du #COVID19 - trois gestes essentiels :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1. Lavez-vous régulièrement les mains avec du savon et de l'eau 🧼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2. Quand vous toussez, couvrez-vous avec le pli du coude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3. Évitez de toucher votre visage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251960"/>
            <a:ext cx="5390388" cy="1965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lert-success-titre"/>
          <p:cNvSpPr txBox="1"/>
          <p:nvPr/>
        </p:nvSpPr>
        <p:spPr>
          <a:xfrm>
            <a:off x="704088" y="434340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Les 3 changements</a:t>
            </a:r>
          </a:p>
        </p:txBody>
      </p:sp>
      <p:sp>
        <p:nvSpPr>
          <p:cNvPr id="19" name="DSFR-alert-success-body"/>
          <p:cNvSpPr txBox="1"/>
          <p:nvPr/>
        </p:nvSpPr>
        <p:spPr>
          <a:xfrm>
            <a:off x="704088" y="4754880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Émojis réduits à 1, placé en fin de phrase - le message tient sans eux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Structure numérotée - navigation facile pour tous les utilisateurs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Hashtag conservé mais seul, séparé du texte informatif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25196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Démonstration NVDA - le lecteur d'écran en direct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Démonstration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Ouvrir le post problématique préparé (avec émojis en série)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Activer NVDA : Ctrl+Alt+N - une voix démarre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Naviguer sur le texte : flèches ou Tab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Écouter la restitution - ne pas regarder l'écran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160520"/>
            <a:ext cx="11155680" cy="1143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info-titre"/>
          <p:cNvSpPr txBox="1"/>
          <p:nvPr/>
        </p:nvSpPr>
        <p:spPr>
          <a:xfrm>
            <a:off x="704088" y="42519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 les stagiaires pendant la démo</a:t>
            </a:r>
          </a:p>
        </p:txBody>
      </p:sp>
      <p:sp>
        <p:nvSpPr>
          <p:cNvPr id="22" name="DSFR-alert-info-body"/>
          <p:cNvSpPr txBox="1"/>
          <p:nvPr/>
        </p:nvSpPr>
        <p:spPr>
          <a:xfrm>
            <a:off x="704088" y="46634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Fermez les yeux ou regardez ailleurs - écoutez uniquement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Notez le premier mot qui vous vient à l'écoute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1605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4 réflexes avant chaque publication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Vue synthétique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2174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Texte alternatif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9372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Décrire chaque image en 1 à 2 phrases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Mentionner « Image décorative » si elle ne porte pas de sens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2174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Émojis sobres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246120"/>
            <a:ext cx="5097779" cy="9372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1 ou 2 maximum, en fin de message uniquement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Le texte doit avoir du sens sans eux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549140"/>
            <a:ext cx="5390388" cy="22174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52349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Hashtags CamelCase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692140"/>
            <a:ext cx="5097779" cy="9372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#ServicePublic pas #servicepublic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Rassembler en fin de post, 2 à 3 maximum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4549140"/>
            <a:ext cx="5390388" cy="22174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card-titre"/>
          <p:cNvSpPr txBox="1"/>
          <p:nvPr/>
        </p:nvSpPr>
        <p:spPr>
          <a:xfrm>
            <a:off x="6469379" y="52349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Texte natif</a:t>
            </a:r>
          </a:p>
        </p:txBody>
      </p:sp>
      <p:sp>
        <p:nvSpPr>
          <p:cNvPr id="27" name="DSFR-card-contenu"/>
          <p:cNvSpPr txBox="1"/>
          <p:nvPr/>
        </p:nvSpPr>
        <p:spPr>
          <a:xfrm>
            <a:off x="6469379" y="5692140"/>
            <a:ext cx="5097779" cy="9372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Jamais de faux gras ou faux italique (InstaFont...)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Les caractères Unicode stylisés sont illisibles par les lecteurs d'écran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704088" y="468630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5" name="DSFR-card-numero"/>
          <p:cNvSpPr/>
          <p:nvPr/>
        </p:nvSpPr>
        <p:spPr>
          <a:xfrm>
            <a:off x="6469379" y="468630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2174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2174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549140"/>
            <a:ext cx="73152" cy="22174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4549140"/>
            <a:ext cx="73152" cy="22174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 texte alternatif : votre sous-titre d'image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L'alt text, c'est comme un sous-titre pour votre image : il dit ce qu'elle montre à ceux qui ne peuvent pas la voir.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429000"/>
            <a:ext cx="5390388" cy="27889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52044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Qui en bénéficie ?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931920"/>
            <a:ext cx="514350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Personnes aveugles ou malvoyantes (lecteur d'écran lit l'alt text)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Connexion lente ou image non chargée (le texte s'affiche à la place)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Moteurs de recherche (Google indexe les images via l'alt text)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Intelligences artificielles et outils d'analyse d'image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Toute personne dans un contexte défavorable (mauvaise luminosité, etc.)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3429000"/>
            <a:ext cx="5390388" cy="2788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6469379" y="352044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Concrètement sur les réseaux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6469379" y="3931920"/>
            <a:ext cx="514350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LinkedIn : Modifier → Ajouter du texte alternatif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Facebook : Modifier l'image → Texte alternatif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Twitter/X : intégré au formulaire de publication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Instagram : Paramètres avancés → Texte alternatif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Canva : Clic droit sur l'image → Texte alternatif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429000"/>
            <a:ext cx="73152" cy="2788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3429000"/>
            <a:ext cx="73152" cy="2788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Comment rédiger un bon texte alternatif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3774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éviter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"image.jpg" - nom de fichier, aucun sens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"Photo" - trop vague, aucune information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"Image de la réunion du 12 mars 2026" - date inutile sans contexte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"Voir l'image ci-dessous" - redondant, ne décrit rien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5831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qui fonctionne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9888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"Trois agents discutent autour d'une table, documents ouverts"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"Logo DINUM - bleu avec texte blanc"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"Graphique : le taux d'accessibilité passe de 45 à 78 % entre 2023 et 2025"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"Infographie : 4 étapes pour publier un post accessible (texte ci-dessous)"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91947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01091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Exercice en binôme (7 min) : rédigez l'alt text pour 3 images que vous avez publiées récemment sur vos réseaux professionnels.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3774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5831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91947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Alt text : où le trouver sur chaque plateforme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0"/>
                <a:gridCol w="2743200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Plateforme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Accès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Moment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LinkedIn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Modifier la publication &gt; modifier l'image &gt; Ajouter du texte alternatif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À la publication ou après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Facebook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Modifier la photo &gt; Texte alternatif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À la publication ou après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X (Twitter)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Ajouter une description (icône Accessibilité sous l'image)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Avant publication uniquement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Instagram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Paramètres avancés &gt; Accessibilité &gt; Écrire le texte alternatif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Avant publication uniquement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Canva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Clic droit sur l'image &gt; Texte alternatif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Pendant la création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5074920"/>
            <a:ext cx="11155680" cy="1143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success-titre"/>
          <p:cNvSpPr txBox="1"/>
          <p:nvPr/>
        </p:nvSpPr>
        <p:spPr>
          <a:xfrm>
            <a:off x="704088" y="51663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Astuce : activez-le par défaut</a:t>
            </a:r>
          </a:p>
        </p:txBody>
      </p:sp>
      <p:sp>
        <p:nvSpPr>
          <p:cNvPr id="12" name="DSFR-alert-success-body"/>
          <p:cNvSpPr txBox="1"/>
          <p:nvPr/>
        </p:nvSpPr>
        <p:spPr>
          <a:xfrm>
            <a:off x="704088" y="55778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LinkedIn et Instagram proposent un rappel si vous oubliez l'alt text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X : paramètre Accessibilité dans les réglages de compte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50749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Émojis : 3 règles simples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Emojis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lecteur d'écran lit le nom officiel de chaque émoji. En série, c'est incompréhensible.</a:t>
            </a:r>
          </a:p>
        </p:txBody>
      </p:sp>
      <p:sp>
        <p:nvSpPr>
          <p:cNvPr id="11" name="DSFR-stepper-pastille-1"/>
          <p:cNvSpPr/>
          <p:nvPr/>
        </p:nvSpPr>
        <p:spPr>
          <a:xfrm>
            <a:off x="1926335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stepper-texte-1"/>
          <p:cNvSpPr txBox="1"/>
          <p:nvPr/>
        </p:nvSpPr>
        <p:spPr>
          <a:xfrm>
            <a:off x="475488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1 ou 2 émojis par post maximum - au-delà, le sens se perd à l'écoute</a:t>
            </a:r>
          </a:p>
        </p:txBody>
      </p:sp>
      <p:sp>
        <p:nvSpPr>
          <p:cNvPr id="14" name="DSFR-stepper-pastille-2"/>
          <p:cNvSpPr/>
          <p:nvPr/>
        </p:nvSpPr>
        <p:spPr>
          <a:xfrm>
            <a:off x="5769863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6" name="DSFR-stepper-texte-2"/>
          <p:cNvSpPr txBox="1"/>
          <p:nvPr/>
        </p:nvSpPr>
        <p:spPr>
          <a:xfrm>
            <a:off x="4319015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En fin de message uniquement - jamais en milieu de phrase</a:t>
            </a:r>
          </a:p>
        </p:txBody>
      </p:sp>
      <p:sp>
        <p:nvSpPr>
          <p:cNvPr id="17" name="DSFR-stepper-pastille-3"/>
          <p:cNvSpPr/>
          <p:nvPr/>
        </p:nvSpPr>
        <p:spPr>
          <a:xfrm>
            <a:off x="9613391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8" name="DSFR-stepper-texte-3"/>
          <p:cNvSpPr txBox="1"/>
          <p:nvPr/>
        </p:nvSpPr>
        <p:spPr>
          <a:xfrm>
            <a:off x="8162543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Le texte doit avoir du sens sans eux - testez en retirant l'émoji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869180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info-titre"/>
          <p:cNvSpPr txBox="1"/>
          <p:nvPr/>
        </p:nvSpPr>
        <p:spPr>
          <a:xfrm>
            <a:off x="704088" y="496062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Test rapide avant publication</a:t>
            </a:r>
          </a:p>
        </p:txBody>
      </p:sp>
      <p:sp>
        <p:nvSpPr>
          <p:cNvPr id="22" name="DSFR-alert-info-body"/>
          <p:cNvSpPr txBox="1"/>
          <p:nvPr/>
        </p:nvSpPr>
        <p:spPr>
          <a:xfrm>
            <a:off x="704088" y="537210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Retirez tous les émojis du texte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message est-il toujours clair et complet ? Si oui : bon signe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Si non : l'émoji porte du sens - remplacez-le par le mot correspondant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1-decoratif" descr=""/>
          <p:cNvSpPr/>
          <p:nvPr/>
        </p:nvSpPr>
        <p:spPr>
          <a:xfrm>
            <a:off x="2566416" y="352501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2-decoratif" descr=""/>
          <p:cNvSpPr/>
          <p:nvPr/>
        </p:nvSpPr>
        <p:spPr>
          <a:xfrm>
            <a:off x="6409944" y="352501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86918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Ce que ça donne avec trop d'émojis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Emojis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Post original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🎉🎉 Rejoignez-nous 📅 mardi 10 juin 🏢 salle B3 pour notre atelier 💻 sur l'accessibilité 🧠 numérique 👏👏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5831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NVDA lit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19888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Visage qui fête quelque chose. Visage qui fête quelque chose. Rejoignez-nous. Calendrier spirale. mardi 10 juin. Bâtiment de bureau. salle B3 pour notre atelier. Ordinateur portable. sur l'accessibilité. Cerveau. numérique. Mains qui applaudissent, peau claire. Mains qui applaudissent, peau claire.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91947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01091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Version accessible : 'Rejoignez-nous mardi 10 juin, salle B3, pour notre atelier sur l'accessibilité numérique. 💻'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5831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91947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Hashtags : le CamelCase qui change tout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Hashtags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5831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Pourquoi le CamelCase ?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9888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#ServicePublic : le lecteur d'écran lit 'Service Public' - correct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#servicepublic : lu 'servicepublic' - un seul mot sans sens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#SERVICEPUBLIC : lu lettre par lettre S-E-R-V-I-C-E-P-U-B-L-I-C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 majuscule en début de chaque mot = découpage naturel pour le lecteur d'écran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règles pour les hashtags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6469379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CamelCase obligatoire : #AccessibilitéNumerique pas #accessibilitenumerique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En fin de post, regroupés - jamais insérés dans la phrase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 à 3 maximum - au-delà on perd le sens et l'engagement baisse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91947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01091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#SusanAlbumParty (2012) : sans CamelCase, lu 'Susan album party'. Avec majuscules, ça aurait été encore plus clair - et moins... ambigu.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5831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91947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Faux gras et caractères Unicode : le piège invisible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Texte 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788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problème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InstaFont, LingoJam... proposent du 'faux gras' et 'faux italique'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Exemple : 𝕻𝕸𝕨𝕳 𝕬𝕮𝕪𝕴 (rendu visuel identique à du gras)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Ces caractères sont des symboles mathématiques, pas du texte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NVDA les lit : 'MATHEMATICAL BOLD CAPITAL B, O, N, J, O, U, R'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Ou les ignore complètement - le message disparaît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19659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Triple impact négatif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Accessibilité : incompréhensible pour les lecteurs d'écran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SEO : Google n'indexe pas ces caractères comme du texte normal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IA générative : les outils d'analyse et de traduction échouent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01731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10875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Règle qualité web : Opquast règle 14 - caractères détournés. La mise en forme appartient au CSS, pas au contenu.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788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01731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Écriture inclusive : ce qui est accessible et ce qui ne l'est pas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Texte 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stratégies accessibles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Doublon explicite : 'les agents et les agentes' - clair à l'oral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Féminin-masculin : 'les citoyennes et citoyens' - lu correctement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Formulation épicène : 'les personnes concernées', 'l'équipe' - neutre et fluide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788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éviter : le point médian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agent.e.s : le point médian est lu 'point' par les lecteurs d'écran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NVDA lit : 'agent point e point s' - incompréhensible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DGLFLF (2021) : le point médian est déconseillé dans les communications officielles pour des raisons de lisibilité et d'accessibilité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 DINUM et le RGAA vont dans le même sens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01731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10875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L'objectif : une communication qui inclut tout le monde ET que tout le monde peut comprendre - sans choix à faire.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788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01731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: vrai ou faux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Quiz de clôture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8402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 ou 2 émojis par post, en fin de message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5600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VRAI - au-delà de 2, l'écoute devient incompréhensible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18402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#publicservice est aussi accessible que #PublicService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246120"/>
            <a:ext cx="5097779" cy="5600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FAUX - sans CamelCase le lecteur lit un seul mot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169663"/>
            <a:ext cx="5390388" cy="18402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48554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Un alt text vide est toujours une erreur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312664"/>
            <a:ext cx="5097779" cy="5600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FAUX - une image décorative peut avoir un alt vide (ou 'Image décorative')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4169663"/>
            <a:ext cx="5390388" cy="18402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card-titre"/>
          <p:cNvSpPr txBox="1"/>
          <p:nvPr/>
        </p:nvSpPr>
        <p:spPr>
          <a:xfrm>
            <a:off x="6469379" y="48554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faux gras InstaFont est lu comme du gras par NVDA</a:t>
            </a:r>
          </a:p>
        </p:txBody>
      </p:sp>
      <p:sp>
        <p:nvSpPr>
          <p:cNvPr id="27" name="DSFR-card-contenu"/>
          <p:cNvSpPr txBox="1"/>
          <p:nvPr/>
        </p:nvSpPr>
        <p:spPr>
          <a:xfrm>
            <a:off x="6469379" y="5312664"/>
            <a:ext cx="5097779" cy="5600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FAUX - les caractères Unicode sont lus lettre par lettre ou ignorés</a:t>
            </a:r>
          </a:p>
        </p:txBody>
      </p:sp>
      <p:sp>
        <p:nvSpPr>
          <p:cNvPr id="29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4 réflexes = 4 questions. Vous avez toutes les réponses depuis le début du module.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704088" y="4306824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5" name="DSFR-card-numero"/>
          <p:cNvSpPr/>
          <p:nvPr/>
        </p:nvSpPr>
        <p:spPr>
          <a:xfrm>
            <a:off x="6469379" y="4306824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8402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18402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169663"/>
            <a:ext cx="73152" cy="18402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4169663"/>
            <a:ext cx="73152" cy="18402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Que faites-vous demain matin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Plan d'action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926335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Avant votre prochain post : activez l'alt text sur votre plateforme principale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5769863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4319015" y="2834640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Relisez votre dernière publication : comptez les émojis et testez le texte sans eux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961339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5" name="DSFR-stepper-texte-3"/>
          <p:cNvSpPr txBox="1"/>
          <p:nvPr/>
        </p:nvSpPr>
        <p:spPr>
          <a:xfrm>
            <a:off x="8162543" y="2834640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Vérifiez vos 3 derniers hashtags : sont-ils en CamelCase ?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251960"/>
            <a:ext cx="5390388" cy="1965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lert-success-titre"/>
          <p:cNvSpPr txBox="1"/>
          <p:nvPr/>
        </p:nvSpPr>
        <p:spPr>
          <a:xfrm>
            <a:off x="704088" y="434340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Dans 7 jours</a:t>
            </a:r>
          </a:p>
        </p:txBody>
      </p:sp>
      <p:sp>
        <p:nvSpPr>
          <p:cNvPr id="19" name="DSFR-alert-success-body"/>
          <p:cNvSpPr txBox="1"/>
          <p:nvPr/>
        </p:nvSpPr>
        <p:spPr>
          <a:xfrm>
            <a:off x="704088" y="4754880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Publiez un post en appliquant les 4 réflexes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Vérifiez que vos collègues de direction savent où trouver l'alt text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Partagez ce mémo à votre équipe de communication</a:t>
            </a:r>
          </a:p>
        </p:txBody>
      </p:sp>
      <p:sp>
        <p:nvSpPr>
          <p:cNvPr id="21" name="DSFR-box"/>
          <p:cNvSpPr/>
          <p:nvPr/>
        </p:nvSpPr>
        <p:spPr>
          <a:xfrm>
            <a:off x="6313931" y="3840480"/>
            <a:ext cx="5390388" cy="23774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lert-info-titre"/>
          <p:cNvSpPr txBox="1"/>
          <p:nvPr/>
        </p:nvSpPr>
        <p:spPr>
          <a:xfrm>
            <a:off x="6469379" y="39319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4 réflexes, 2 minutes, 0 compétence technique requise</a:t>
            </a:r>
          </a:p>
        </p:txBody>
      </p:sp>
      <p:sp>
        <p:nvSpPr>
          <p:cNvPr id="23" name="DSFR-alert-info-body"/>
          <p:cNvSpPr txBox="1"/>
          <p:nvPr/>
        </p:nvSpPr>
        <p:spPr>
          <a:xfrm>
            <a:off x="6469379" y="4343400"/>
            <a:ext cx="514350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Alt text : 1 phrase qui décrit l'image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Émojis : 1 ou 2, en fin de message, texte sensé sans eux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Hashtags : CamelCase, en fin de post, 2 à 3 max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Texte : jamais de faux gras ou faux italique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566416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6409944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25196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6240779" y="3840480"/>
            <a:ext cx="73152" cy="23774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4 - Accessibilité réseaux sociaux</dc:title>
  <dc:subject>Formation 102638 IGPDE - Module réseaux sociaux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