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544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Demander : « Lequel choisissez-vous ? » (R9)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Révéler : la différence est invisible à l'oeil, structurelle uniquement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Sources : 15 % = OMS (2011, confirmé 2023) ; 80 % = DREES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Vous produisez déjà des documents Word — il s'agit d'utiliser les bonnes fonctionnalités »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On avance pilier par pilier, du plus structurant au plus fin » (R4)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Le pilier Structure = 60 % de l'effort » (R11)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1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Imaginez lire un livre de 50 pages sans table des matières » (R7)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Exercice binôme : « Ouvrez un document, Maj+F1, cliquez sur une liste » (R17)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Distinguer les deux types : mise en page (organisation) vs données (en-têtes nécessaires)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Répéter en tant que ligne d'en-tête » : invisible visuellement, capital pour les TA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Source daltonisme : Colour Blind Awareness, population masculine européenne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Règle simple : « imprimez en noir et blanc — l'info est-elle compréhensible ? »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Test mental : « Si je remplace l'image par le texte alt, le document reste compréhensible ? »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Objet flottant = objet invisible pour le lecteur d'écran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Zones de texte : les éviter si possible, sinon aligner sur le texte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Un utilisateur de lecteur d'écran navigue de lien en lien » (R7)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Le filigrane « CONFIDENTIEL » est invisible pour 15 % des lecteurs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Si vous hésitez sur un GIF animé : remplacez-le par une image statique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La plupart des documents contiennent au moins un anglicisme à baliser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Ces 5 vérifications prennent 2 minutes (R12 — WIIFM)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Analogie : « Le correcteur orthographique attrape les fautes, pas le style » (R7)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Sophie est le héros, le document inaccessible est le conflit (R6 — storytelling)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En 7 étapes et 10 minutes, Sophie a rendu son document accessible »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Combien de ces étapes faites-vous déjà ? » (R25 — métacognition)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Faire compter individuellement puis partager (R14 — récupération active)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Parcourir chaque erreur et rappeler le pilier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Si vous ne retenez qu'une chose : les styles de titre » (R2 — primauté)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Distribuer en version imprimée ou numérique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Imprimez-la, collez-la à côté de votre écran » (R26)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1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Chaque participant choisit SON premier réflexe (R24 — plan d'action)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3 réflexes, 30 secondes chacun, 90 % des problèmes couverts »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lang="fr-FR" sz="4000" b="1" cap="all"/>
            </a:lvl1pPr>
          </a:lstStyle>
          <a:p>
            <a:r>
              <a:rPr lang="fr-FR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lang="fr-FR"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lang="fr-FR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fr-FR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fr-FR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fr-FR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fr-FR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fr-FR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fr-FR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lang="fr-FR" sz="2800"/>
            </a:lvl1pPr>
            <a:lvl2pPr>
              <a:defRPr lang="fr-FR" sz="2400"/>
            </a:lvl2pPr>
            <a:lvl3pPr>
              <a:defRPr lang="fr-FR" sz="2000"/>
            </a:lvl3pPr>
            <a:lvl4pPr>
              <a:defRPr lang="fr-FR" sz="1800"/>
            </a:lvl4pPr>
            <a:lvl5pPr>
              <a:defRPr lang="fr-FR" sz="1800"/>
            </a:lvl5pPr>
            <a:lvl6pPr>
              <a:defRPr lang="fr-FR" sz="1800"/>
            </a:lvl6pPr>
            <a:lvl7pPr>
              <a:defRPr lang="fr-FR" sz="1800"/>
            </a:lvl7pPr>
            <a:lvl8pPr>
              <a:defRPr lang="fr-FR" sz="1800"/>
            </a:lvl8pPr>
            <a:lvl9pPr>
              <a:defRPr lang="fr-FR"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lang="fr-FR" sz="2800"/>
            </a:lvl1pPr>
            <a:lvl2pPr>
              <a:defRPr lang="fr-FR" sz="2400"/>
            </a:lvl2pPr>
            <a:lvl3pPr>
              <a:defRPr lang="fr-FR" sz="2000"/>
            </a:lvl3pPr>
            <a:lvl4pPr>
              <a:defRPr lang="fr-FR" sz="1800"/>
            </a:lvl4pPr>
            <a:lvl5pPr>
              <a:defRPr lang="fr-FR" sz="1800"/>
            </a:lvl5pPr>
            <a:lvl6pPr>
              <a:defRPr lang="fr-FR" sz="1800"/>
            </a:lvl6pPr>
            <a:lvl7pPr>
              <a:defRPr lang="fr-FR" sz="1800"/>
            </a:lvl7pPr>
            <a:lvl8pPr>
              <a:defRPr lang="fr-FR" sz="1800"/>
            </a:lvl8pPr>
            <a:lvl9pPr>
              <a:defRPr lang="fr-FR"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fr-FR"/>
            </a:lvl1pPr>
          </a:lstStyle>
          <a:p>
            <a:r>
              <a:rPr lang="fr-FR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lang="fr-FR" sz="2400" b="1"/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lang="fr-FR" sz="2400"/>
            </a:lvl1pPr>
            <a:lvl2pPr>
              <a:defRPr lang="fr-FR" sz="2000"/>
            </a:lvl2pPr>
            <a:lvl3pPr>
              <a:defRPr lang="fr-FR" sz="1800"/>
            </a:lvl3pPr>
            <a:lvl4pPr>
              <a:defRPr lang="fr-FR" sz="1600"/>
            </a:lvl4pPr>
            <a:lvl5pPr>
              <a:defRPr lang="fr-FR" sz="1600"/>
            </a:lvl5pPr>
            <a:lvl6pPr>
              <a:defRPr lang="fr-FR" sz="1600"/>
            </a:lvl6pPr>
            <a:lvl7pPr>
              <a:defRPr lang="fr-FR" sz="1600"/>
            </a:lvl7pPr>
            <a:lvl8pPr>
              <a:defRPr lang="fr-FR" sz="1600"/>
            </a:lvl8pPr>
            <a:lvl9pPr>
              <a:defRPr lang="fr-FR"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lang="fr-FR" sz="2400" b="1"/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lang="fr-FR" sz="2400"/>
            </a:lvl1pPr>
            <a:lvl2pPr>
              <a:defRPr lang="fr-FR" sz="2000"/>
            </a:lvl2pPr>
            <a:lvl3pPr>
              <a:defRPr lang="fr-FR" sz="1800"/>
            </a:lvl3pPr>
            <a:lvl4pPr>
              <a:defRPr lang="fr-FR" sz="1600"/>
            </a:lvl4pPr>
            <a:lvl5pPr>
              <a:defRPr lang="fr-FR" sz="1600"/>
            </a:lvl5pPr>
            <a:lvl6pPr>
              <a:defRPr lang="fr-FR" sz="1600"/>
            </a:lvl6pPr>
            <a:lvl7pPr>
              <a:defRPr lang="fr-FR" sz="1600"/>
            </a:lvl7pPr>
            <a:lvl8pPr>
              <a:defRPr lang="fr-FR" sz="1600"/>
            </a:lvl8pPr>
            <a:lvl9pPr>
              <a:defRPr lang="fr-FR"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 algn="l">
              <a:defRPr lang="fr-FR" sz="2800" b="1">
                <a:solidFill>
                  <a:srgbClr val="000091"/>
                </a:solidFill>
                <a:latin typeface="Marianne"/>
              </a:defRPr>
            </a:pPr>
            <a:r>
              <a:rPr lang="fr-FR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lang="fr-FR" sz="2000" b="1"/>
            </a:lvl1pPr>
          </a:lstStyle>
          <a:p>
            <a:r>
              <a:rPr lang="fr-FR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lang="fr-FR" sz="3200"/>
            </a:lvl1pPr>
            <a:lvl2pPr>
              <a:defRPr lang="fr-FR" sz="2800"/>
            </a:lvl2pPr>
            <a:lvl3pPr>
              <a:defRPr lang="fr-FR" sz="2400"/>
            </a:lvl3pPr>
            <a:lvl4pPr>
              <a:defRPr lang="fr-FR" sz="2000"/>
            </a:lvl4pPr>
            <a:lvl5pPr>
              <a:defRPr lang="fr-FR" sz="2000"/>
            </a:lvl5pPr>
            <a:lvl6pPr>
              <a:defRPr lang="fr-FR" sz="2000"/>
            </a:lvl6pPr>
            <a:lvl7pPr>
              <a:defRPr lang="fr-FR" sz="2000"/>
            </a:lvl7pPr>
            <a:lvl8pPr>
              <a:defRPr lang="fr-FR" sz="2000"/>
            </a:lvl8pPr>
            <a:lvl9pPr>
              <a:defRPr lang="fr-FR"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lang="fr-FR" sz="1400"/>
            </a:lvl1pPr>
            <a:lvl2pPr marL="457200" indent="0">
              <a:buNone/>
              <a:defRPr lang="fr-FR" sz="1200"/>
            </a:lvl2pPr>
            <a:lvl3pPr marL="914400" indent="0">
              <a:buNone/>
              <a:defRPr lang="fr-FR" sz="1000"/>
            </a:lvl3pPr>
            <a:lvl4pPr marL="1371600" indent="0">
              <a:buNone/>
              <a:defRPr lang="fr-FR" sz="900"/>
            </a:lvl4pPr>
            <a:lvl5pPr marL="1828800" indent="0">
              <a:buNone/>
              <a:defRPr lang="fr-FR" sz="900"/>
            </a:lvl5pPr>
            <a:lvl6pPr marL="2286000" indent="0">
              <a:buNone/>
              <a:defRPr lang="fr-FR" sz="900"/>
            </a:lvl6pPr>
            <a:lvl7pPr marL="2743200" indent="0">
              <a:buNone/>
              <a:defRPr lang="fr-FR" sz="900"/>
            </a:lvl7pPr>
            <a:lvl8pPr marL="3200400" indent="0">
              <a:buNone/>
              <a:defRPr lang="fr-FR" sz="900"/>
            </a:lvl8pPr>
            <a:lvl9pPr marL="3657600" indent="0">
              <a:buNone/>
              <a:defRPr lang="fr-FR"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lang="fr-FR" sz="2000" b="1"/>
            </a:lvl1pPr>
          </a:lstStyle>
          <a:p>
            <a:r>
              <a:rPr lang="fr-FR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lang="fr-FR" sz="3200"/>
            </a:lvl1pPr>
            <a:lvl2pPr marL="457200" indent="0">
              <a:buNone/>
              <a:defRPr lang="fr-FR" sz="2800"/>
            </a:lvl2pPr>
            <a:lvl3pPr marL="914400" indent="0">
              <a:buNone/>
              <a:defRPr lang="fr-FR" sz="2400"/>
            </a:lvl3pPr>
            <a:lvl4pPr marL="1371600" indent="0">
              <a:buNone/>
              <a:defRPr lang="fr-FR" sz="2000"/>
            </a:lvl4pPr>
            <a:lvl5pPr marL="1828800" indent="0">
              <a:buNone/>
              <a:defRPr lang="fr-FR" sz="2000"/>
            </a:lvl5pPr>
            <a:lvl6pPr marL="2286000" indent="0">
              <a:buNone/>
              <a:defRPr lang="fr-FR" sz="2000"/>
            </a:lvl6pPr>
            <a:lvl7pPr marL="2743200" indent="0">
              <a:buNone/>
              <a:defRPr lang="fr-FR" sz="2000"/>
            </a:lvl7pPr>
            <a:lvl8pPr marL="3200400" indent="0">
              <a:buNone/>
              <a:defRPr lang="fr-FR" sz="2000"/>
            </a:lvl8pPr>
            <a:lvl9pPr marL="3657600" indent="0">
              <a:buNone/>
              <a:defRPr lang="fr-FR"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lang="fr-FR" sz="1400"/>
            </a:lvl1pPr>
            <a:lvl2pPr marL="457200" indent="0">
              <a:buNone/>
              <a:defRPr lang="fr-FR" sz="1200"/>
            </a:lvl2pPr>
            <a:lvl3pPr marL="914400" indent="0">
              <a:buNone/>
              <a:defRPr lang="fr-FR" sz="1000"/>
            </a:lvl3pPr>
            <a:lvl4pPr marL="1371600" indent="0">
              <a:buNone/>
              <a:defRPr lang="fr-FR" sz="900"/>
            </a:lvl4pPr>
            <a:lvl5pPr marL="1828800" indent="0">
              <a:buNone/>
              <a:defRPr lang="fr-FR" sz="900"/>
            </a:lvl5pPr>
            <a:lvl6pPr marL="2286000" indent="0">
              <a:buNone/>
              <a:defRPr lang="fr-FR" sz="900"/>
            </a:lvl6pPr>
            <a:lvl7pPr marL="2743200" indent="0">
              <a:buNone/>
              <a:defRPr lang="fr-FR" sz="900"/>
            </a:lvl7pPr>
            <a:lvl8pPr marL="3200400" indent="0">
              <a:buNone/>
              <a:defRPr lang="fr-FR" sz="900"/>
            </a:lvl8pPr>
            <a:lvl9pPr marL="3657600" indent="0">
              <a:buNone/>
              <a:defRPr lang="fr-FR"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F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fr-F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lang="fr-FR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fr-FR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fr-FR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fr-FR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fr-FR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fr-FR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fr-FR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fr-FR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fr-FR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fr-FR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Rendre un document Word accessible</a:t>
            </a:r>
          </a:p>
        </p:txBody>
      </p:sp>
      <p:sp>
        <p:nvSpPr>
          <p:cNvPr id="5" name="Highlight"/>
          <p:cNvSpPr txBox="1"/>
          <p:nvPr/>
        </p:nvSpPr>
        <p:spPr>
          <a:xfrm>
            <a:off x="841248" y="1536192"/>
            <a:ext cx="10652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lang="fr-FR" sz="18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22 critères en 5 piliers — version essentielle (~30 min)</a:t>
            </a:r>
          </a:p>
        </p:txBody>
      </p:sp>
      <p:sp>
        <p:nvSpPr>
          <p:cNvPr id="7" name="Alerte"/>
          <p:cNvSpPr/>
          <p:nvPr/>
        </p:nvSpPr>
        <p:spPr>
          <a:xfrm>
            <a:off x="685800" y="2468880"/>
            <a:ext cx="5262372" cy="137160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Document A — inaccessible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Titres en gras manuellement, image sans texte alt,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tableau fusionné, nom « Document1.docx »</a:t>
            </a:r>
          </a:p>
        </p:txBody>
      </p:sp>
      <p:sp>
        <p:nvSpPr>
          <p:cNvPr id="9" name="Alerte"/>
          <p:cNvSpPr/>
          <p:nvPr/>
        </p:nvSpPr>
        <p:spPr>
          <a:xfrm>
            <a:off x="6323076" y="2468880"/>
            <a:ext cx="5262372" cy="1371600"/>
          </a:xfrm>
          <a:prstGeom prst="rect">
            <a:avLst/>
          </a:prstGeom>
          <a:solidFill>
            <a:srgbClr val="B8F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Document B — accessible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Styles Titre 1/2, description fonctionnelle,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tableau simple avec en-tête, nom descriptif</a:t>
            </a:r>
          </a:p>
        </p:txBody>
      </p:sp>
      <p:sp>
        <p:nvSpPr>
          <p:cNvPr id="11" name="Highlight"/>
          <p:cNvSpPr txBox="1"/>
          <p:nvPr/>
        </p:nvSpPr>
        <p:spPr>
          <a:xfrm>
            <a:off x="841248" y="4187952"/>
            <a:ext cx="10652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lang="fr-FR" sz="18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Visuellement identiques — seul le B est lisible par un lecteur d'écran.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1/15</a:t>
            </a:r>
          </a:p>
        </p:txBody>
      </p:sp>
      <p:sp>
        <p:nvSpPr>
          <p:cNvPr id="4" name="Highlight accent décoratif"/>
          <p:cNvSpPr/>
          <p:nvPr/>
        </p:nvSpPr>
        <p:spPr>
          <a:xfrm>
            <a:off x="612648" y="1463040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6" name="Accent décoratif"/>
          <p:cNvSpPr/>
          <p:nvPr/>
        </p:nvSpPr>
        <p:spPr>
          <a:xfrm>
            <a:off x="612648" y="2468880"/>
            <a:ext cx="73152" cy="1371600"/>
          </a:xfrm>
          <a:prstGeom prst="rect">
            <a:avLst/>
          </a:prstGeom>
          <a:solidFill>
            <a:srgbClr val="CE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8" name="Accent décoratif"/>
          <p:cNvSpPr/>
          <p:nvPr/>
        </p:nvSpPr>
        <p:spPr>
          <a:xfrm>
            <a:off x="6249924" y="2468880"/>
            <a:ext cx="73152" cy="1371600"/>
          </a:xfrm>
          <a:prstGeom prst="rect">
            <a:avLst/>
          </a:prstGeom>
          <a:solidFill>
            <a:srgbClr val="18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10" name="Highlight accent décoratif"/>
          <p:cNvSpPr/>
          <p:nvPr/>
        </p:nvSpPr>
        <p:spPr>
          <a:xfrm>
            <a:off x="612648" y="4114800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Pourquoi ça vous concerne</a:t>
            </a:r>
          </a:p>
        </p:txBody>
      </p:sp>
      <p:sp>
        <p:nvSpPr>
          <p:cNvPr id="4" name="KPI valeur"/>
          <p:cNvSpPr/>
          <p:nvPr/>
        </p:nvSpPr>
        <p:spPr>
          <a:xfrm>
            <a:off x="612648" y="1280160"/>
            <a:ext cx="3456432" cy="822959"/>
          </a:xfrm>
          <a:prstGeom prst="round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lang="fr-FR" sz="3200" b="1">
                <a:solidFill>
                  <a:srgbClr val="FFFFFF"/>
                </a:solidFill>
                <a:latin typeface="Marianne"/>
              </a:defRPr>
            </a:pPr>
            <a:r>
              <a:rPr lang="fr-FR" b="1">
                <a:solidFill>
                  <a:srgbClr val="FFFFFF"/>
                </a:solidFill>
                <a:latin typeface="Marianne"/>
              </a:rPr>
              <a:t>15 %</a:t>
            </a:r>
          </a:p>
        </p:txBody>
      </p:sp>
      <p:sp>
        <p:nvSpPr>
          <p:cNvPr id="6" name="KPI valeur"/>
          <p:cNvSpPr/>
          <p:nvPr/>
        </p:nvSpPr>
        <p:spPr>
          <a:xfrm>
            <a:off x="4370831" y="1280160"/>
            <a:ext cx="3456432" cy="822959"/>
          </a:xfrm>
          <a:prstGeom prst="round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lang="fr-FR" sz="3200" b="1">
                <a:solidFill>
                  <a:srgbClr val="FFFFFF"/>
                </a:solidFill>
                <a:latin typeface="Marianne"/>
              </a:defRPr>
            </a:pPr>
            <a:r>
              <a:rPr lang="fr-FR" b="1">
                <a:solidFill>
                  <a:srgbClr val="FFFFFF"/>
                </a:solidFill>
                <a:latin typeface="Marianne"/>
              </a:rPr>
              <a:t>80 %</a:t>
            </a:r>
          </a:p>
        </p:txBody>
      </p:sp>
      <p:sp>
        <p:nvSpPr>
          <p:cNvPr id="8" name="KPI valeur"/>
          <p:cNvSpPr/>
          <p:nvPr/>
        </p:nvSpPr>
        <p:spPr>
          <a:xfrm>
            <a:off x="8129015" y="1280160"/>
            <a:ext cx="3456432" cy="822959"/>
          </a:xfrm>
          <a:prstGeom prst="round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lang="fr-FR" sz="3200" b="1">
                <a:solidFill>
                  <a:srgbClr val="FFFFFF"/>
                </a:solidFill>
                <a:latin typeface="Marianne"/>
              </a:defRPr>
            </a:pPr>
            <a:r>
              <a:rPr lang="fr-FR" b="1">
                <a:solidFill>
                  <a:srgbClr val="FFFFFF"/>
                </a:solidFill>
                <a:latin typeface="Marianne"/>
              </a:rPr>
              <a:t>0</a:t>
            </a:r>
          </a:p>
        </p:txBody>
      </p:sp>
      <p:sp>
        <p:nvSpPr>
          <p:cNvPr id="5" name="KPI label"/>
          <p:cNvSpPr/>
          <p:nvPr/>
        </p:nvSpPr>
        <p:spPr>
          <a:xfrm>
            <a:off x="612648" y="2157984"/>
            <a:ext cx="3456432" cy="548640"/>
          </a:xfrm>
          <a:prstGeom prst="roundRect">
            <a:avLst/>
          </a:prstGeom>
          <a:solidFill>
            <a:srgbClr val="E3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de la population</a:t>
            </a:r>
            <a:br/>
            <a:r>
              <a:rPr lang="fr-FR">
                <a:solidFill/>
                <a:latin typeface="Marianne"/>
              </a:rPr>
              <a:t>en situation de handicap</a:t>
            </a:r>
          </a:p>
        </p:txBody>
      </p:sp>
      <p:sp>
        <p:nvSpPr>
          <p:cNvPr id="7" name="KPI label"/>
          <p:cNvSpPr/>
          <p:nvPr/>
        </p:nvSpPr>
        <p:spPr>
          <a:xfrm>
            <a:off x="4370831" y="2157984"/>
            <a:ext cx="3456432" cy="548640"/>
          </a:xfrm>
          <a:prstGeom prst="roundRect">
            <a:avLst/>
          </a:prstGeom>
          <a:solidFill>
            <a:srgbClr val="E3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des handicaps</a:t>
            </a:r>
            <a:br/>
            <a:r>
              <a:rPr lang="fr-FR">
                <a:solidFill/>
                <a:latin typeface="Marianne"/>
              </a:rPr>
              <a:t>sont invisibles</a:t>
            </a:r>
          </a:p>
        </p:txBody>
      </p:sp>
      <p:sp>
        <p:nvSpPr>
          <p:cNvPr id="9" name="KPI label"/>
          <p:cNvSpPr/>
          <p:nvPr/>
        </p:nvSpPr>
        <p:spPr>
          <a:xfrm>
            <a:off x="8129015" y="2157984"/>
            <a:ext cx="3456432" cy="548640"/>
          </a:xfrm>
          <a:prstGeom prst="roundRect">
            <a:avLst/>
          </a:prstGeom>
          <a:solidFill>
            <a:srgbClr val="E3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ligne de code</a:t>
            </a:r>
            <a:br/>
            <a:r>
              <a:rPr lang="fr-FR">
                <a:solidFill/>
                <a:latin typeface="Marianne"/>
              </a:rPr>
              <a:t>nécessaire</a:t>
            </a:r>
          </a:p>
        </p:txBody>
      </p:sp>
      <p:sp>
        <p:nvSpPr>
          <p:cNvPr id="11" name="Alerte"/>
          <p:cNvSpPr/>
          <p:nvPr/>
        </p:nvSpPr>
        <p:spPr>
          <a:xfrm>
            <a:off x="685800" y="3017520"/>
            <a:ext cx="10899648" cy="109728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Périmètre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Format .docx obligatoire (pas .doc ni .docm)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Hors périmètre : macros, documents protégés, formulaires Word</a:t>
            </a:r>
          </a:p>
        </p:txBody>
      </p:sp>
      <p:sp>
        <p:nvSpPr>
          <p:cNvPr id="13" name="Highlight"/>
          <p:cNvSpPr txBox="1"/>
          <p:nvPr/>
        </p:nvSpPr>
        <p:spPr>
          <a:xfrm>
            <a:off x="841248" y="4462272"/>
            <a:ext cx="10652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lang="fr-FR" sz="18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L'accessibilité Word est 100 % éditoriale : pas de code, juste les bons réflexes dans le ruban.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2/15</a:t>
            </a:r>
          </a:p>
        </p:txBody>
      </p:sp>
      <p:sp>
        <p:nvSpPr>
          <p:cNvPr id="10" name="Accent décoratif"/>
          <p:cNvSpPr/>
          <p:nvPr/>
        </p:nvSpPr>
        <p:spPr>
          <a:xfrm>
            <a:off x="612648" y="3017520"/>
            <a:ext cx="73152" cy="1097280"/>
          </a:xfrm>
          <a:prstGeom prst="rect">
            <a:avLst/>
          </a:prstGeom>
          <a:solidFill>
            <a:srgbClr val="006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12" name="Highlight accent décoratif"/>
          <p:cNvSpPr/>
          <p:nvPr/>
        </p:nvSpPr>
        <p:spPr>
          <a:xfrm>
            <a:off x="612648" y="4389120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5 piliers, 22 critères</a:t>
            </a:r>
          </a:p>
        </p:txBody>
      </p:sp>
      <p:sp>
        <p:nvSpPr>
          <p:cNvPr id="5" name="Carte"/>
          <p:cNvSpPr/>
          <p:nvPr/>
        </p:nvSpPr>
        <p:spPr>
          <a:xfrm>
            <a:off x="667512" y="1280160"/>
            <a:ext cx="1898294" cy="256032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37160" rtlCol="0" anchor="ctr"/>
          <a:lstStyle/>
          <a:p>
            <a:pPr algn="ctr">
              <a:spcAft>
                <a:spcPts val="800"/>
              </a:spcAft>
              <a:defRPr lang="fr-FR" sz="1600" b="1">
                <a:solidFill>
                  <a:srgbClr val="000091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Structure</a:t>
            </a:r>
          </a:p>
          <a:p>
            <a:pPr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Titres, listes,</a:t>
            </a:r>
            <a:br/>
            <a:r>
              <a:rPr lang="fr-FR">
                <a:solidFill/>
                <a:latin typeface="Marianne"/>
              </a:rPr>
              <a:t>colonnes, tableaux</a:t>
            </a:r>
            <a:br/>
            <a:br/>
            <a:r>
              <a:rPr lang="fr-FR">
                <a:solidFill/>
                <a:latin typeface="Marianne"/>
              </a:rPr>
              <a:t>6 critères</a:t>
            </a:r>
          </a:p>
        </p:txBody>
      </p:sp>
      <p:sp>
        <p:nvSpPr>
          <p:cNvPr id="7" name="Carte"/>
          <p:cNvSpPr/>
          <p:nvPr/>
        </p:nvSpPr>
        <p:spPr>
          <a:xfrm>
            <a:off x="2922422" y="1280160"/>
            <a:ext cx="1898294" cy="256032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37160" rtlCol="0" anchor="ctr"/>
          <a:lstStyle/>
          <a:p>
            <a:pPr algn="ctr">
              <a:spcAft>
                <a:spcPts val="800"/>
              </a:spcAft>
              <a:defRPr lang="fr-FR" sz="1600" b="1">
                <a:solidFill>
                  <a:srgbClr val="000091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Couleurs</a:t>
            </a:r>
          </a:p>
          <a:p>
            <a:pPr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Contraste et</a:t>
            </a:r>
            <a:br/>
            <a:r>
              <a:rPr lang="fr-FR">
                <a:solidFill/>
                <a:latin typeface="Marianne"/>
              </a:rPr>
              <a:t>signification</a:t>
            </a:r>
            <a:br/>
            <a:br/>
            <a:r>
              <a:rPr lang="fr-FR">
                <a:solidFill/>
                <a:latin typeface="Marianne"/>
              </a:rPr>
              <a:t>2 critères</a:t>
            </a:r>
          </a:p>
        </p:txBody>
      </p:sp>
      <p:sp>
        <p:nvSpPr>
          <p:cNvPr id="9" name="Carte"/>
          <p:cNvSpPr/>
          <p:nvPr/>
        </p:nvSpPr>
        <p:spPr>
          <a:xfrm>
            <a:off x="5177332" y="1280160"/>
            <a:ext cx="1898294" cy="256032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37160" rtlCol="0" anchor="ctr"/>
          <a:lstStyle/>
          <a:p>
            <a:pPr algn="ctr">
              <a:spcAft>
                <a:spcPts val="800"/>
              </a:spcAft>
              <a:defRPr lang="fr-FR" sz="1600" b="1">
                <a:solidFill>
                  <a:srgbClr val="000091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Contenus</a:t>
            </a:r>
          </a:p>
          <a:p>
            <a:pPr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Images, liens,</a:t>
            </a:r>
            <a:br/>
            <a:r>
              <a:rPr lang="fr-FR">
                <a:solidFill/>
                <a:latin typeface="Marianne"/>
              </a:rPr>
              <a:t>zones de texte</a:t>
            </a:r>
            <a:br/>
            <a:br/>
            <a:r>
              <a:rPr lang="fr-FR">
                <a:solidFill/>
                <a:latin typeface="Marianne"/>
              </a:rPr>
              <a:t>5 critères</a:t>
            </a:r>
          </a:p>
        </p:txBody>
      </p:sp>
      <p:sp>
        <p:nvSpPr>
          <p:cNvPr id="11" name="Carte"/>
          <p:cNvSpPr/>
          <p:nvPr/>
        </p:nvSpPr>
        <p:spPr>
          <a:xfrm>
            <a:off x="7432243" y="1280160"/>
            <a:ext cx="1898294" cy="256032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37160" rtlCol="0" anchor="ctr"/>
          <a:lstStyle/>
          <a:p>
            <a:pPr algn="ctr">
              <a:spcAft>
                <a:spcPts val="800"/>
              </a:spcAft>
              <a:defRPr lang="fr-FR" sz="1600" b="1">
                <a:solidFill>
                  <a:srgbClr val="000091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Langue</a:t>
            </a:r>
            <a:br/>
            <a:r>
              <a:rPr lang="fr-FR">
                <a:solidFill/>
                <a:latin typeface="Marianne"/>
              </a:rPr>
              <a:t>et médias</a:t>
            </a:r>
          </a:p>
          <a:p>
            <a:pPr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Balisage, médias,</a:t>
            </a:r>
            <a:br/>
            <a:r>
              <a:rPr lang="fr-FR">
                <a:solidFill/>
                <a:latin typeface="Marianne"/>
              </a:rPr>
              <a:t>clignotement</a:t>
            </a:r>
            <a:br/>
            <a:br/>
            <a:r>
              <a:rPr lang="fr-FR">
                <a:solidFill/>
                <a:latin typeface="Marianne"/>
              </a:rPr>
              <a:t>4 critères</a:t>
            </a:r>
          </a:p>
        </p:txBody>
      </p:sp>
      <p:sp>
        <p:nvSpPr>
          <p:cNvPr id="13" name="Carte"/>
          <p:cNvSpPr/>
          <p:nvPr/>
        </p:nvSpPr>
        <p:spPr>
          <a:xfrm>
            <a:off x="9687153" y="1280160"/>
            <a:ext cx="1898294" cy="256032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37160" rtlCol="0" anchor="ctr"/>
          <a:lstStyle/>
          <a:p>
            <a:pPr algn="ctr">
              <a:spcAft>
                <a:spcPts val="800"/>
              </a:spcAft>
              <a:defRPr lang="fr-FR" sz="1600" b="1">
                <a:solidFill>
                  <a:srgbClr val="000091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Finalisation</a:t>
            </a:r>
          </a:p>
          <a:p>
            <a:pPr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Propriétés, nom,</a:t>
            </a:r>
            <a:br/>
            <a:r>
              <a:rPr lang="fr-FR">
                <a:solidFill/>
                <a:latin typeface="Marianne"/>
              </a:rPr>
              <a:t>vérificateur</a:t>
            </a:r>
            <a:br/>
            <a:br/>
            <a:r>
              <a:rPr lang="fr-FR">
                <a:solidFill/>
                <a:latin typeface="Marianne"/>
              </a:rPr>
              <a:t>5 critères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3/15</a:t>
            </a:r>
          </a:p>
        </p:txBody>
      </p:sp>
      <p:sp>
        <p:nvSpPr>
          <p:cNvPr id="4" name="Accent carte décoratif"/>
          <p:cNvSpPr/>
          <p:nvPr/>
        </p:nvSpPr>
        <p:spPr>
          <a:xfrm>
            <a:off x="612648" y="1280160"/>
            <a:ext cx="54864" cy="25603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6" name="Accent carte décoratif"/>
          <p:cNvSpPr/>
          <p:nvPr/>
        </p:nvSpPr>
        <p:spPr>
          <a:xfrm>
            <a:off x="2867558" y="1280160"/>
            <a:ext cx="54864" cy="25603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8" name="Accent carte décoratif"/>
          <p:cNvSpPr/>
          <p:nvPr/>
        </p:nvSpPr>
        <p:spPr>
          <a:xfrm>
            <a:off x="5122468" y="1280160"/>
            <a:ext cx="54864" cy="25603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10" name="Accent carte décoratif"/>
          <p:cNvSpPr/>
          <p:nvPr/>
        </p:nvSpPr>
        <p:spPr>
          <a:xfrm>
            <a:off x="7377379" y="1280160"/>
            <a:ext cx="54864" cy="25603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12" name="Accent carte décoratif"/>
          <p:cNvSpPr/>
          <p:nvPr/>
        </p:nvSpPr>
        <p:spPr>
          <a:xfrm>
            <a:off x="9632289" y="1280160"/>
            <a:ext cx="54864" cy="25603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Pilier 1 — Structure du texte</a:t>
            </a:r>
          </a:p>
        </p:txBody>
      </p:sp>
      <p:graphicFrame>
        <p:nvGraphicFramePr>
          <p:cNvPr id="4" name="Tableau"/>
          <p:cNvGraphicFramePr>
            <a:graphicFrameLocks noGrp="1"/>
          </p:cNvGraphicFramePr>
          <p:nvPr/>
        </p:nvGraphicFramePr>
        <p:xfrm>
          <a:off x="612648" y="1280160"/>
          <a:ext cx="10972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Besoin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Fonctionnalité intégrée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Piège courant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Titres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Accueil &gt; Styles &gt; Titre 1, 2, 3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Texte en gras manuellement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Listes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Accueil &gt; Puces / Numérotation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Tirets ou chiffres manuels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Colonnes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Mise en page &gt; Colonnes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Tabulations ou espaces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Saut de page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Insertion &gt; Saut de page (Ctrl+Entrée)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Retours chariot (Entrée x15)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685800" y="3291839"/>
            <a:ext cx="10899648" cy="164592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Vérification express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Titres : Ctrl+F &gt; onglet Titres — tous les titres doivent y apparaître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Listes : Maj+F1 — « Puces et numérotation » doit apparaître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Colonnes : Maj+F1 — « Colonnes » doit apparaître sous « Section »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4/15</a:t>
            </a:r>
          </a:p>
        </p:txBody>
      </p:sp>
      <p:sp>
        <p:nvSpPr>
          <p:cNvPr id="5" name="Accent décoratif"/>
          <p:cNvSpPr/>
          <p:nvPr/>
        </p:nvSpPr>
        <p:spPr>
          <a:xfrm>
            <a:off x="612648" y="3291839"/>
            <a:ext cx="73152" cy="16459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Tableaux de mise en page et de données</a:t>
            </a:r>
          </a:p>
        </p:txBody>
      </p:sp>
      <p:sp>
        <p:nvSpPr>
          <p:cNvPr id="5" name="Callout"/>
          <p:cNvSpPr/>
          <p:nvPr/>
        </p:nvSpPr>
        <p:spPr>
          <a:xfrm>
            <a:off x="685800" y="1280160"/>
            <a:ext cx="5262372" cy="201168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Tableau de mise en page (pas d'en-têtes)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Insertion &gt; Tableau &gt; remplir gauche à droite, haut en bas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Vérifier : Tab parcourt les cellules dans l'ordre visuel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Habillage du texte = « Aucun » (clic droit &gt; Propriétés &gt; Tableau)</a:t>
            </a:r>
          </a:p>
        </p:txBody>
      </p:sp>
      <p:sp>
        <p:nvSpPr>
          <p:cNvPr id="7" name="Callout"/>
          <p:cNvSpPr/>
          <p:nvPr/>
        </p:nvSpPr>
        <p:spPr>
          <a:xfrm>
            <a:off x="6323076" y="1280160"/>
            <a:ext cx="5262372" cy="201168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Tableau de données (en-têtes obligatoires)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Insertion &gt; Tableau — jamais d'image de tableau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Pas de cellules fusionnées ni divisées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1re ligne &gt; clic droit &gt; Propriétés &gt; Ligne &gt; Répéter en tant que ligne d'en-tête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Habillage du texte = « Aucun »</a:t>
            </a:r>
          </a:p>
        </p:txBody>
      </p:sp>
      <p:sp>
        <p:nvSpPr>
          <p:cNvPr id="9" name="Alerte"/>
          <p:cNvSpPr/>
          <p:nvPr/>
        </p:nvSpPr>
        <p:spPr>
          <a:xfrm>
            <a:off x="685800" y="3566160"/>
            <a:ext cx="10899648" cy="109728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Limitation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Les tableaux complexes (multi-niveaux, cellules fusionnées) ne peuvent pas être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rendus accessibles dans Word — convertir en PDF accessible.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5/15</a:t>
            </a:r>
          </a:p>
        </p:txBody>
      </p:sp>
      <p:sp>
        <p:nvSpPr>
          <p:cNvPr id="4" name="Accent décoratif"/>
          <p:cNvSpPr/>
          <p:nvPr/>
        </p:nvSpPr>
        <p:spPr>
          <a:xfrm>
            <a:off x="612648" y="1280160"/>
            <a:ext cx="73152" cy="201168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6" name="Accent décoratif"/>
          <p:cNvSpPr/>
          <p:nvPr/>
        </p:nvSpPr>
        <p:spPr>
          <a:xfrm>
            <a:off x="6249924" y="1280160"/>
            <a:ext cx="73152" cy="201168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8" name="Accent décoratif"/>
          <p:cNvSpPr/>
          <p:nvPr/>
        </p:nvSpPr>
        <p:spPr>
          <a:xfrm>
            <a:off x="612648" y="3566160"/>
            <a:ext cx="73152" cy="1097280"/>
          </a:xfrm>
          <a:prstGeom prst="rect">
            <a:avLst/>
          </a:prstGeom>
          <a:solidFill>
            <a:srgbClr val="B3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Pilier 2 — Couleurs et contraste</a:t>
            </a:r>
          </a:p>
        </p:txBody>
      </p:sp>
      <p:graphicFrame>
        <p:nvGraphicFramePr>
          <p:cNvPr id="4" name="Tableau"/>
          <p:cNvGraphicFramePr>
            <a:graphicFrameLocks noGrp="1"/>
          </p:cNvGraphicFramePr>
          <p:nvPr/>
        </p:nvGraphicFramePr>
        <p:xfrm>
          <a:off x="612648" y="1280160"/>
          <a:ext cx="1097280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Type de texte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Ratio minimum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Outil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Standard (&lt; 14 pt gras)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4,5:1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Colour Contrast Analyser (CCA)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Grande taille (&gt;= 14 pt gras / &gt;= 18 pt)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3:1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Pipette premier plan + arrière-plan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Alerte"/>
          <p:cNvSpPr/>
          <p:nvPr/>
        </p:nvSpPr>
        <p:spPr>
          <a:xfrm>
            <a:off x="685800" y="2596896"/>
            <a:ext cx="5262372" cy="137160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Inaccessible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Statut en rouge/vert/jaune uniquement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Un daltonien voit 3 couleurs identiques</a:t>
            </a:r>
          </a:p>
        </p:txBody>
      </p:sp>
      <p:sp>
        <p:nvSpPr>
          <p:cNvPr id="8" name="Alerte"/>
          <p:cNvSpPr/>
          <p:nvPr/>
        </p:nvSpPr>
        <p:spPr>
          <a:xfrm>
            <a:off x="6323076" y="2596896"/>
            <a:ext cx="5262372" cy="1371600"/>
          </a:xfrm>
          <a:prstGeom prst="rect">
            <a:avLst/>
          </a:prstGeom>
          <a:solidFill>
            <a:srgbClr val="B8F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Accessible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Statut en texte : « En retard / Terminé / En cours »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La couleur renforce, le texte porte le sens</a:t>
            </a:r>
          </a:p>
        </p:txBody>
      </p:sp>
      <p:sp>
        <p:nvSpPr>
          <p:cNvPr id="10" name="Highlight"/>
          <p:cNvSpPr txBox="1"/>
          <p:nvPr/>
        </p:nvSpPr>
        <p:spPr>
          <a:xfrm>
            <a:off x="841248" y="4315968"/>
            <a:ext cx="10652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lang="fr-FR" sz="18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Texte noir sur fond blanc = toujours conforme. 8 % des hommes sont daltoniens.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6/15</a:t>
            </a:r>
          </a:p>
        </p:txBody>
      </p:sp>
      <p:sp>
        <p:nvSpPr>
          <p:cNvPr id="5" name="Accent décoratif"/>
          <p:cNvSpPr/>
          <p:nvPr/>
        </p:nvSpPr>
        <p:spPr>
          <a:xfrm>
            <a:off x="612648" y="2596896"/>
            <a:ext cx="73152" cy="1371600"/>
          </a:xfrm>
          <a:prstGeom prst="rect">
            <a:avLst/>
          </a:prstGeom>
          <a:solidFill>
            <a:srgbClr val="CE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7" name="Accent décoratif"/>
          <p:cNvSpPr/>
          <p:nvPr/>
        </p:nvSpPr>
        <p:spPr>
          <a:xfrm>
            <a:off x="6249924" y="2596896"/>
            <a:ext cx="73152" cy="1371600"/>
          </a:xfrm>
          <a:prstGeom prst="rect">
            <a:avLst/>
          </a:prstGeom>
          <a:solidFill>
            <a:srgbClr val="18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9" name="Highlight accent décoratif"/>
          <p:cNvSpPr/>
          <p:nvPr/>
        </p:nvSpPr>
        <p:spPr>
          <a:xfrm>
            <a:off x="612648" y="4242816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Pilier 3 — Images et objets</a:t>
            </a:r>
          </a:p>
        </p:txBody>
      </p:sp>
      <p:sp>
        <p:nvSpPr>
          <p:cNvPr id="6" name="Étape 1"/>
          <p:cNvSpPr txBox="1"/>
          <p:nvPr/>
        </p:nvSpPr>
        <p:spPr>
          <a:xfrm>
            <a:off x="612648" y="1892807"/>
            <a:ext cx="3456432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Image significative :</a:t>
            </a:r>
            <a:br/>
            <a:r>
              <a:rPr lang="fr-FR">
                <a:solidFill/>
                <a:latin typeface="Marianne"/>
              </a:rPr>
              <a:t>clic droit &gt; Texte de</a:t>
            </a:r>
            <a:br/>
            <a:r>
              <a:rPr lang="fr-FR">
                <a:solidFill/>
                <a:latin typeface="Marianne"/>
              </a:rPr>
              <a:t>remplacement &gt;</a:t>
            </a:r>
            <a:br/>
            <a:r>
              <a:rPr lang="fr-FR">
                <a:solidFill/>
                <a:latin typeface="Marianne"/>
              </a:rPr>
              <a:t>décrire la FONCTION</a:t>
            </a:r>
          </a:p>
        </p:txBody>
      </p:sp>
      <p:sp>
        <p:nvSpPr>
          <p:cNvPr id="9" name="Étape 2"/>
          <p:cNvSpPr txBox="1"/>
          <p:nvPr/>
        </p:nvSpPr>
        <p:spPr>
          <a:xfrm>
            <a:off x="4370831" y="1892807"/>
            <a:ext cx="3456432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Image décorative :</a:t>
            </a:r>
            <a:br/>
            <a:r>
              <a:rPr lang="fr-FR">
                <a:solidFill/>
                <a:latin typeface="Marianne"/>
              </a:rPr>
              <a:t>espaces vides dans</a:t>
            </a:r>
            <a:br/>
            <a:r>
              <a:rPr lang="fr-FR">
                <a:solidFill/>
                <a:latin typeface="Marianne"/>
              </a:rPr>
              <a:t>le champ Description</a:t>
            </a:r>
            <a:br/>
            <a:r>
              <a:rPr lang="fr-FR">
                <a:solidFill/>
                <a:latin typeface="Marianne"/>
              </a:rPr>
              <a:t>(ou « Marquer décoratif »)</a:t>
            </a:r>
          </a:p>
        </p:txBody>
      </p:sp>
      <p:sp>
        <p:nvSpPr>
          <p:cNvPr id="11" name="Étape 3"/>
          <p:cNvSpPr txBox="1"/>
          <p:nvPr/>
        </p:nvSpPr>
        <p:spPr>
          <a:xfrm>
            <a:off x="8129015" y="1892807"/>
            <a:ext cx="3456432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Tout objet :</a:t>
            </a:r>
            <a:br/>
            <a:r>
              <a:rPr lang="fr-FR">
                <a:solidFill/>
                <a:latin typeface="Marianne"/>
              </a:rPr>
              <a:t>aligner sur le texte</a:t>
            </a:r>
            <a:br/>
            <a:r>
              <a:rPr lang="fr-FR">
                <a:solidFill/>
                <a:latin typeface="Marianne"/>
              </a:rPr>
              <a:t>(Format &gt; Position)</a:t>
            </a:r>
            <a:br/>
            <a:r>
              <a:rPr lang="fr-FR">
                <a:solidFill/>
                <a:latin typeface="Marianne"/>
              </a:rPr>
              <a:t>Sinon = invisible</a:t>
            </a:r>
          </a:p>
        </p:txBody>
      </p:sp>
      <p:sp>
        <p:nvSpPr>
          <p:cNvPr id="13" name="Alerte"/>
          <p:cNvSpPr/>
          <p:nvPr/>
        </p:nvSpPr>
        <p:spPr>
          <a:xfrm>
            <a:off x="685800" y="4114800"/>
            <a:ext cx="5262372" cy="82296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Mauvais texte alt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"Photo d'un graphique en barres colorées"</a:t>
            </a:r>
          </a:p>
        </p:txBody>
      </p:sp>
      <p:sp>
        <p:nvSpPr>
          <p:cNvPr id="15" name="Alerte"/>
          <p:cNvSpPr/>
          <p:nvPr/>
        </p:nvSpPr>
        <p:spPr>
          <a:xfrm>
            <a:off x="6323076" y="4114800"/>
            <a:ext cx="5262372" cy="822960"/>
          </a:xfrm>
          <a:prstGeom prst="rect">
            <a:avLst/>
          </a:prstGeom>
          <a:solidFill>
            <a:srgbClr val="B8F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Bon texte alt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"Chiffre d'affaires 2020-2024 : hausse de 15 % à 23 %"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7/15</a:t>
            </a:r>
          </a:p>
        </p:txBody>
      </p:sp>
      <p:sp>
        <p:nvSpPr>
          <p:cNvPr id="4" name="Étape 1 pastille décoratif"/>
          <p:cNvSpPr/>
          <p:nvPr/>
        </p:nvSpPr>
        <p:spPr>
          <a:xfrm>
            <a:off x="2089404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lang="fr-FR" sz="2000" b="1">
                <a:solidFill>
                  <a:srgbClr val="FFFFFF"/>
                </a:solidFill>
                <a:latin typeface="Marianne"/>
              </a:defRPr>
            </a:pPr>
            <a:r>
              <a:rPr lang="fr-FR" sz="2000" b="1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7" name="Étape 2 pastille décoratif"/>
          <p:cNvSpPr/>
          <p:nvPr/>
        </p:nvSpPr>
        <p:spPr>
          <a:xfrm>
            <a:off x="5847587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lang="fr-FR" sz="2000" b="1">
                <a:solidFill>
                  <a:srgbClr val="FFFFFF"/>
                </a:solidFill>
                <a:latin typeface="Marianne"/>
              </a:defRPr>
            </a:pPr>
            <a:r>
              <a:rPr lang="fr-FR" sz="2000" b="1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0" name="Étape 3 pastille décoratif"/>
          <p:cNvSpPr/>
          <p:nvPr/>
        </p:nvSpPr>
        <p:spPr>
          <a:xfrm>
            <a:off x="9605772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lang="fr-FR" sz="2000" b="1">
                <a:solidFill>
                  <a:srgbClr val="FFFFFF"/>
                </a:solidFill>
                <a:latin typeface="Marianne"/>
              </a:defRPr>
            </a:pPr>
            <a:r>
              <a:rPr lang="fr-FR" sz="2000" b="1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5" name="Trait décoratif"/>
          <p:cNvSpPr/>
          <p:nvPr/>
        </p:nvSpPr>
        <p:spPr>
          <a:xfrm>
            <a:off x="2638044" y="1517904"/>
            <a:ext cx="3163823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8" name="Trait décoratif"/>
          <p:cNvSpPr/>
          <p:nvPr/>
        </p:nvSpPr>
        <p:spPr>
          <a:xfrm>
            <a:off x="6396227" y="1517904"/>
            <a:ext cx="3163823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12" name="Accent décoratif"/>
          <p:cNvSpPr/>
          <p:nvPr/>
        </p:nvSpPr>
        <p:spPr>
          <a:xfrm>
            <a:off x="612648" y="4114800"/>
            <a:ext cx="73152" cy="822960"/>
          </a:xfrm>
          <a:prstGeom prst="rect">
            <a:avLst/>
          </a:prstGeom>
          <a:solidFill>
            <a:srgbClr val="CE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14" name="Accent décoratif"/>
          <p:cNvSpPr/>
          <p:nvPr/>
        </p:nvSpPr>
        <p:spPr>
          <a:xfrm>
            <a:off x="6249924" y="4114800"/>
            <a:ext cx="73152" cy="822960"/>
          </a:xfrm>
          <a:prstGeom prst="rect">
            <a:avLst/>
          </a:prstGeom>
          <a:solidFill>
            <a:srgbClr val="18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Liens et informations essentielles</a:t>
            </a:r>
          </a:p>
        </p:txBody>
      </p:sp>
      <p:sp>
        <p:nvSpPr>
          <p:cNvPr id="5" name="Alerte"/>
          <p:cNvSpPr/>
          <p:nvPr/>
        </p:nvSpPr>
        <p:spPr>
          <a:xfrm>
            <a:off x="685800" y="1280160"/>
            <a:ext cx="5262372" cy="109728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Liens inaccessibles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"Cliquez ici", "En savoir plus", URL brute</a:t>
            </a:r>
          </a:p>
        </p:txBody>
      </p:sp>
      <p:sp>
        <p:nvSpPr>
          <p:cNvPr id="7" name="Alerte"/>
          <p:cNvSpPr/>
          <p:nvPr/>
        </p:nvSpPr>
        <p:spPr>
          <a:xfrm>
            <a:off x="6323076" y="1280160"/>
            <a:ext cx="5262372" cy="1097280"/>
          </a:xfrm>
          <a:prstGeom prst="rect">
            <a:avLst/>
          </a:prstGeom>
          <a:solidFill>
            <a:srgbClr val="B8F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Liens accessibles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"Consulter le guide d'accessibilité Word"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Méthode : sélectionner le texte &gt; Ctrl+K &gt; coller l'URL</a:t>
            </a:r>
          </a:p>
        </p:txBody>
      </p:sp>
      <p:sp>
        <p:nvSpPr>
          <p:cNvPr id="9" name="Callout"/>
          <p:cNvSpPr/>
          <p:nvPr/>
        </p:nvSpPr>
        <p:spPr>
          <a:xfrm>
            <a:off x="685800" y="2651760"/>
            <a:ext cx="10899648" cy="182880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En-têtes, pieds de page, filigranes : invisibles pour les TA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Les technologies d'assistance ne lisent pas ces zones automatiquement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Si l'information est essentielle (« CONFIDENTIEL », date limite),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la reproduire dans le corps du document, idéalement au début</a:t>
            </a:r>
          </a:p>
        </p:txBody>
      </p:sp>
      <p:sp>
        <p:nvSpPr>
          <p:cNvPr id="11" name="Highlight"/>
          <p:cNvSpPr txBox="1"/>
          <p:nvPr/>
        </p:nvSpPr>
        <p:spPr>
          <a:xfrm>
            <a:off x="841248" y="4828032"/>
            <a:ext cx="10652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lang="fr-FR" sz="18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Supprimer le dernier caractère du texte d'un lien supprime le lien entier — attention.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8/15</a:t>
            </a:r>
          </a:p>
        </p:txBody>
      </p:sp>
      <p:sp>
        <p:nvSpPr>
          <p:cNvPr id="4" name="Accent décoratif"/>
          <p:cNvSpPr/>
          <p:nvPr/>
        </p:nvSpPr>
        <p:spPr>
          <a:xfrm>
            <a:off x="612648" y="1280160"/>
            <a:ext cx="73152" cy="1097280"/>
          </a:xfrm>
          <a:prstGeom prst="rect">
            <a:avLst/>
          </a:prstGeom>
          <a:solidFill>
            <a:srgbClr val="CE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6" name="Accent décoratif"/>
          <p:cNvSpPr/>
          <p:nvPr/>
        </p:nvSpPr>
        <p:spPr>
          <a:xfrm>
            <a:off x="6249924" y="1280160"/>
            <a:ext cx="73152" cy="1097280"/>
          </a:xfrm>
          <a:prstGeom prst="rect">
            <a:avLst/>
          </a:prstGeom>
          <a:solidFill>
            <a:srgbClr val="18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8" name="Accent décoratif"/>
          <p:cNvSpPr/>
          <p:nvPr/>
        </p:nvSpPr>
        <p:spPr>
          <a:xfrm>
            <a:off x="612648" y="2651760"/>
            <a:ext cx="73152" cy="18288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10" name="Highlight accent décoratif"/>
          <p:cNvSpPr/>
          <p:nvPr/>
        </p:nvSpPr>
        <p:spPr>
          <a:xfrm>
            <a:off x="612648" y="4754880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Pilier 4 — Langue, médias, clignotement</a:t>
            </a:r>
          </a:p>
        </p:txBody>
      </p:sp>
      <p:sp>
        <p:nvSpPr>
          <p:cNvPr id="5" name="Callout"/>
          <p:cNvSpPr/>
          <p:nvPr/>
        </p:nvSpPr>
        <p:spPr>
          <a:xfrm>
            <a:off x="685800" y="1280160"/>
            <a:ext cx="5262372" cy="201168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Balisage de langue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Langue principale : Fichier &gt; Options &gt; Langue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Passage étranger : sélectionner &gt; Révision &gt; Langue &gt; Définir la langue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Sans balisage, "meeting" est prononcé "mé-é-ting" par le lecteur d'écran</a:t>
            </a:r>
          </a:p>
        </p:txBody>
      </p:sp>
      <p:graphicFrame>
        <p:nvGraphicFramePr>
          <p:cNvPr id="6" name="Tableau"/>
          <p:cNvGraphicFramePr>
            <a:graphicFrameLocks noGrp="1"/>
          </p:cNvGraphicFramePr>
          <p:nvPr/>
        </p:nvGraphicFramePr>
        <p:xfrm>
          <a:off x="6249924" y="1280160"/>
          <a:ext cx="5335524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9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Média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Alternative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Audio seul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Transcription textuelle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Vidéo seule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Description textuelle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Audio + vidéo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Sous-titres + description audio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Alerte"/>
          <p:cNvSpPr/>
          <p:nvPr/>
        </p:nvSpPr>
        <p:spPr>
          <a:xfrm>
            <a:off x="685800" y="3657600"/>
            <a:ext cx="10899648" cy="118872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Objets clignotants : interdit absolu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GIF avec flashs, animations &gt; 3 Hz = risque de crise d'épilepsie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Un seul objet clignotant = document non accessible, sans exception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9/15</a:t>
            </a:r>
          </a:p>
        </p:txBody>
      </p:sp>
      <p:sp>
        <p:nvSpPr>
          <p:cNvPr id="4" name="Accent décoratif"/>
          <p:cNvSpPr/>
          <p:nvPr/>
        </p:nvSpPr>
        <p:spPr>
          <a:xfrm>
            <a:off x="612648" y="1280160"/>
            <a:ext cx="73152" cy="201168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7" name="Accent décoratif"/>
          <p:cNvSpPr/>
          <p:nvPr/>
        </p:nvSpPr>
        <p:spPr>
          <a:xfrm>
            <a:off x="612648" y="3657600"/>
            <a:ext cx="73152" cy="1188720"/>
          </a:xfrm>
          <a:prstGeom prst="rect">
            <a:avLst/>
          </a:prstGeom>
          <a:solidFill>
            <a:srgbClr val="CE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Pilier 5 — Finalisation</a:t>
            </a:r>
          </a:p>
        </p:txBody>
      </p:sp>
      <p:sp>
        <p:nvSpPr>
          <p:cNvPr id="6" name="Étape 1"/>
          <p:cNvSpPr txBox="1"/>
          <p:nvPr/>
        </p:nvSpPr>
        <p:spPr>
          <a:xfrm>
            <a:off x="612648" y="1892807"/>
            <a:ext cx="1953158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Propriétés :</a:t>
            </a:r>
            <a:br/>
            <a:r>
              <a:rPr lang="fr-FR">
                <a:solidFill/>
                <a:latin typeface="Marianne"/>
              </a:rPr>
              <a:t>Fichier &gt; Informations</a:t>
            </a:r>
            <a:br/>
            <a:r>
              <a:rPr lang="fr-FR">
                <a:solidFill/>
                <a:latin typeface="Marianne"/>
              </a:rPr>
              <a:t>&gt; Titre, Auteur</a:t>
            </a:r>
          </a:p>
        </p:txBody>
      </p:sp>
      <p:sp>
        <p:nvSpPr>
          <p:cNvPr id="9" name="Étape 2"/>
          <p:cNvSpPr txBox="1"/>
          <p:nvPr/>
        </p:nvSpPr>
        <p:spPr>
          <a:xfrm>
            <a:off x="2867558" y="1892807"/>
            <a:ext cx="1953158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Nom de fichier :</a:t>
            </a:r>
            <a:br/>
            <a:r>
              <a:rPr lang="fr-FR">
                <a:solidFill/>
                <a:latin typeface="Marianne"/>
              </a:rPr>
              <a:t>descriptif + .docx</a:t>
            </a:r>
          </a:p>
        </p:txBody>
      </p:sp>
      <p:sp>
        <p:nvSpPr>
          <p:cNvPr id="12" name="Étape 3"/>
          <p:cNvSpPr txBox="1"/>
          <p:nvPr/>
        </p:nvSpPr>
        <p:spPr>
          <a:xfrm>
            <a:off x="5122468" y="1892807"/>
            <a:ext cx="1953158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Protection :</a:t>
            </a:r>
            <a:br/>
            <a:r>
              <a:rPr lang="fr-FR">
                <a:solidFill/>
                <a:latin typeface="Marianne"/>
              </a:rPr>
              <a:t>aucune restriction</a:t>
            </a:r>
          </a:p>
        </p:txBody>
      </p:sp>
      <p:sp>
        <p:nvSpPr>
          <p:cNvPr id="15" name="Étape 4"/>
          <p:cNvSpPr txBox="1"/>
          <p:nvPr/>
        </p:nvSpPr>
        <p:spPr>
          <a:xfrm>
            <a:off x="7377379" y="1892807"/>
            <a:ext cx="1953158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Formulaires :</a:t>
            </a:r>
            <a:br/>
            <a:r>
              <a:rPr lang="fr-FR">
                <a:solidFill/>
                <a:latin typeface="Marianne"/>
              </a:rPr>
              <a:t>aucun champ Word</a:t>
            </a:r>
          </a:p>
        </p:txBody>
      </p:sp>
      <p:sp>
        <p:nvSpPr>
          <p:cNvPr id="17" name="Étape 5"/>
          <p:cNvSpPr txBox="1"/>
          <p:nvPr/>
        </p:nvSpPr>
        <p:spPr>
          <a:xfrm>
            <a:off x="9632289" y="1892807"/>
            <a:ext cx="1953158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Vérificateur :</a:t>
            </a:r>
            <a:br/>
            <a:r>
              <a:rPr lang="fr-FR">
                <a:solidFill/>
                <a:latin typeface="Marianne"/>
              </a:rPr>
              <a:t>Fichier &gt; Vérifier</a:t>
            </a:r>
            <a:br/>
            <a:r>
              <a:rPr lang="fr-FR">
                <a:solidFill/>
                <a:latin typeface="Marianne"/>
              </a:rPr>
              <a:t>l'accessibilité</a:t>
            </a:r>
          </a:p>
        </p:txBody>
      </p:sp>
      <p:sp>
        <p:nvSpPr>
          <p:cNvPr id="19" name="Alerte"/>
          <p:cNvSpPr/>
          <p:nvPr/>
        </p:nvSpPr>
        <p:spPr>
          <a:xfrm>
            <a:off x="685800" y="3840480"/>
            <a:ext cx="5262372" cy="1097280"/>
          </a:xfrm>
          <a:prstGeom prst="rect">
            <a:avLst/>
          </a:prstGeom>
          <a:solidFill>
            <a:srgbClr val="B8F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Le vérificateur détecte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Texte alt manquant, objets non alignés, titres absents, tableaux sans en-tête</a:t>
            </a:r>
          </a:p>
        </p:txBody>
      </p:sp>
      <p:sp>
        <p:nvSpPr>
          <p:cNvPr id="21" name="Alerte"/>
          <p:cNvSpPr/>
          <p:nvPr/>
        </p:nvSpPr>
        <p:spPr>
          <a:xfrm>
            <a:off x="6323076" y="3840480"/>
            <a:ext cx="5262372" cy="109728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Il ne détecte PAS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Qualité du texte alt, noms de liens, couleur porteuse de sens, langue</a:t>
            </a:r>
          </a:p>
        </p:txBody>
      </p:sp>
      <p:sp>
        <p:nvSpPr>
          <p:cNvPr id="23" name="Highlight"/>
          <p:cNvSpPr txBox="1"/>
          <p:nvPr/>
        </p:nvSpPr>
        <p:spPr>
          <a:xfrm>
            <a:off x="841248" y="5285232"/>
            <a:ext cx="10652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lang="fr-FR" sz="18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Le vérificateur est un premier filtre, pas un certificat de conformité.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10/15</a:t>
            </a:r>
          </a:p>
        </p:txBody>
      </p:sp>
      <p:sp>
        <p:nvSpPr>
          <p:cNvPr id="4" name="Étape 1 pastille décoratif"/>
          <p:cNvSpPr/>
          <p:nvPr/>
        </p:nvSpPr>
        <p:spPr>
          <a:xfrm>
            <a:off x="1337767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lang="fr-FR" sz="2000" b="1">
                <a:solidFill>
                  <a:srgbClr val="FFFFFF"/>
                </a:solidFill>
                <a:latin typeface="Marianne"/>
              </a:defRPr>
            </a:pPr>
            <a:r>
              <a:rPr lang="fr-FR" sz="2000" b="1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7" name="Étape 2 pastille décoratif"/>
          <p:cNvSpPr/>
          <p:nvPr/>
        </p:nvSpPr>
        <p:spPr>
          <a:xfrm>
            <a:off x="3592677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lang="fr-FR" sz="2000" b="1">
                <a:solidFill>
                  <a:srgbClr val="FFFFFF"/>
                </a:solidFill>
                <a:latin typeface="Marianne"/>
              </a:defRPr>
            </a:pPr>
            <a:r>
              <a:rPr lang="fr-FR" sz="2000" b="1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0" name="Étape 3 pastille décoratif"/>
          <p:cNvSpPr/>
          <p:nvPr/>
        </p:nvSpPr>
        <p:spPr>
          <a:xfrm>
            <a:off x="5847588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lang="fr-FR" sz="2000" b="1">
                <a:solidFill>
                  <a:srgbClr val="FFFFFF"/>
                </a:solidFill>
                <a:latin typeface="Marianne"/>
              </a:defRPr>
            </a:pPr>
            <a:r>
              <a:rPr lang="fr-FR" sz="2000" b="1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13" name="Étape 4 pastille décoratif"/>
          <p:cNvSpPr/>
          <p:nvPr/>
        </p:nvSpPr>
        <p:spPr>
          <a:xfrm>
            <a:off x="8102498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lang="fr-FR" sz="2000" b="1">
                <a:solidFill>
                  <a:srgbClr val="FFFFFF"/>
                </a:solidFill>
                <a:latin typeface="Marianne"/>
              </a:defRPr>
            </a:pPr>
            <a:r>
              <a:rPr lang="fr-FR" sz="2000" b="1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16" name="Étape 5 pastille décoratif"/>
          <p:cNvSpPr/>
          <p:nvPr/>
        </p:nvSpPr>
        <p:spPr>
          <a:xfrm>
            <a:off x="10357408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lang="fr-FR" sz="2000" b="1">
                <a:solidFill>
                  <a:srgbClr val="FFFFFF"/>
                </a:solidFill>
                <a:latin typeface="Marianne"/>
              </a:defRPr>
            </a:pPr>
            <a:r>
              <a:rPr lang="fr-FR" sz="2000" b="1">
                <a:solidFill>
                  <a:srgbClr val="FFFFFF"/>
                </a:solidFill>
                <a:latin typeface="Marianne"/>
              </a:rPr>
              <a:t>5</a:t>
            </a:r>
          </a:p>
        </p:txBody>
      </p:sp>
      <p:sp>
        <p:nvSpPr>
          <p:cNvPr id="5" name="Trait décoratif"/>
          <p:cNvSpPr/>
          <p:nvPr/>
        </p:nvSpPr>
        <p:spPr>
          <a:xfrm>
            <a:off x="1886407" y="1517904"/>
            <a:ext cx="166055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8" name="Trait décoratif"/>
          <p:cNvSpPr/>
          <p:nvPr/>
        </p:nvSpPr>
        <p:spPr>
          <a:xfrm>
            <a:off x="4141317" y="1517904"/>
            <a:ext cx="166055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11" name="Trait décoratif"/>
          <p:cNvSpPr/>
          <p:nvPr/>
        </p:nvSpPr>
        <p:spPr>
          <a:xfrm>
            <a:off x="6396228" y="1517904"/>
            <a:ext cx="166055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14" name="Trait décoratif"/>
          <p:cNvSpPr/>
          <p:nvPr/>
        </p:nvSpPr>
        <p:spPr>
          <a:xfrm>
            <a:off x="8651138" y="1517904"/>
            <a:ext cx="166055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18" name="Accent décoratif"/>
          <p:cNvSpPr/>
          <p:nvPr/>
        </p:nvSpPr>
        <p:spPr>
          <a:xfrm>
            <a:off x="612648" y="3840480"/>
            <a:ext cx="73152" cy="1097280"/>
          </a:xfrm>
          <a:prstGeom prst="rect">
            <a:avLst/>
          </a:prstGeom>
          <a:solidFill>
            <a:srgbClr val="18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20" name="Accent décoratif"/>
          <p:cNvSpPr/>
          <p:nvPr/>
        </p:nvSpPr>
        <p:spPr>
          <a:xfrm>
            <a:off x="6249924" y="3840480"/>
            <a:ext cx="73152" cy="1097280"/>
          </a:xfrm>
          <a:prstGeom prst="rect">
            <a:avLst/>
          </a:prstGeom>
          <a:solidFill>
            <a:srgbClr val="B3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22" name="Highlight accent décoratif"/>
          <p:cNvSpPr/>
          <p:nvPr/>
        </p:nvSpPr>
        <p:spPr>
          <a:xfrm>
            <a:off x="612648" y="5212080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Étude de cas : un document de A à Z</a:t>
            </a:r>
          </a:p>
        </p:txBody>
      </p:sp>
      <p:sp>
        <p:nvSpPr>
          <p:cNvPr id="5" name="Callout"/>
          <p:cNvSpPr/>
          <p:nvPr/>
        </p:nvSpPr>
        <p:spPr>
          <a:xfrm>
            <a:off x="685800" y="1280160"/>
            <a:ext cx="10899648" cy="109728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Sophie doit publier un compte rendu de réunion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3 niveaux de titres, 2 tableaux, 1 organigramme, 1 lien, filigrane « CONFIDENTIEL »</a:t>
            </a:r>
          </a:p>
        </p:txBody>
      </p:sp>
      <p:graphicFrame>
        <p:nvGraphicFramePr>
          <p:cNvPr id="6" name="Tableau"/>
          <p:cNvGraphicFramePr>
            <a:graphicFrameLocks noGrp="1"/>
          </p:cNvGraphicFramePr>
          <p:nvPr/>
        </p:nvGraphicFramePr>
        <p:xfrm>
          <a:off x="612648" y="2651760"/>
          <a:ext cx="109728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Étape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Action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Pilier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1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Applique Titre 1, 2, 3 via Accueil &gt; Styles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Structure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Identifie la ligne d'en-tête de chaque tableau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3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Texte alt fonctionnel sur l'organigramme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Contenus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Renomme « cliquez ici » en description claire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Contenus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5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Ajoute « CONFIDENTIEL » au début du document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Contenus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Renseigne Titre et Auteur dans Fichier &gt; Informations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Finalisation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7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Lance le vérificateur, corrige les 2 erreurs restantes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Finalisation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11/15</a:t>
            </a:r>
          </a:p>
        </p:txBody>
      </p:sp>
      <p:sp>
        <p:nvSpPr>
          <p:cNvPr id="4" name="Accent décoratif"/>
          <p:cNvSpPr/>
          <p:nvPr/>
        </p:nvSpPr>
        <p:spPr>
          <a:xfrm>
            <a:off x="612648" y="1280160"/>
            <a:ext cx="73152" cy="109728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Quiz : trouvez les 5 erreurs</a:t>
            </a:r>
          </a:p>
        </p:txBody>
      </p:sp>
      <p:sp>
        <p:nvSpPr>
          <p:cNvPr id="5" name="Callout"/>
          <p:cNvSpPr/>
          <p:nvPr/>
        </p:nvSpPr>
        <p:spPr>
          <a:xfrm>
            <a:off x="685800" y="1280160"/>
            <a:ext cx="10899648" cy="292608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Un document Word contient :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1. Un titre « Introduction » mis en gras Arial 16 (sans style)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2. Un tableau de 3 colonnes sans « Répéter en tant que ligne d'en-tête »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3. Un lien « cliquez ici pour le formulaire »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4. Un filigrane « PROJET » sans mention dans le corps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5. Une photo de l'équipe sans texte alternatif</a:t>
            </a:r>
          </a:p>
        </p:txBody>
      </p:sp>
      <p:sp>
        <p:nvSpPr>
          <p:cNvPr id="7" name="Highlight"/>
          <p:cNvSpPr txBox="1"/>
          <p:nvPr/>
        </p:nvSpPr>
        <p:spPr>
          <a:xfrm>
            <a:off x="841248" y="4553712"/>
            <a:ext cx="10652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lang="fr-FR" sz="18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Réponse : 5 erreurs, une par point. Si vous les avez toutes, vous maîtrisez les 5 piliers.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12/15</a:t>
            </a:r>
          </a:p>
        </p:txBody>
      </p:sp>
      <p:sp>
        <p:nvSpPr>
          <p:cNvPr id="4" name="Accent décoratif"/>
          <p:cNvSpPr/>
          <p:nvPr/>
        </p:nvSpPr>
        <p:spPr>
          <a:xfrm>
            <a:off x="612648" y="1280160"/>
            <a:ext cx="73152" cy="292608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6" name="Highlight accent décoratif"/>
          <p:cNvSpPr/>
          <p:nvPr/>
        </p:nvSpPr>
        <p:spPr>
          <a:xfrm>
            <a:off x="612648" y="4480560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Par où commencer ?</a:t>
            </a:r>
          </a:p>
        </p:txBody>
      </p:sp>
      <p:graphicFrame>
        <p:nvGraphicFramePr>
          <p:cNvPr id="4" name="Tableau"/>
          <p:cNvGraphicFramePr>
            <a:graphicFrameLocks noGrp="1"/>
          </p:cNvGraphicFramePr>
          <p:nvPr/>
        </p:nvGraphicFramePr>
        <p:xfrm>
          <a:off x="612648" y="1280160"/>
          <a:ext cx="1097280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endParaRPr/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Effort faible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Effort modéré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Impact fort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Styles de titre</a:t>
                      </a:r>
                    </a:p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Listes intégrées</a:t>
                      </a:r>
                    </a:p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Nom descriptif</a:t>
                      </a:r>
                    </a:p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Propriétés du document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Texte alternatif</a:t>
                      </a:r>
                    </a:p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Liens descriptifs</a:t>
                      </a:r>
                    </a:p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Tableaux avec en-têtes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Impact modéré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Sauts de page</a:t>
                      </a:r>
                    </a:p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Colonnes intégrées</a:t>
                      </a:r>
                    </a:p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Langue des passages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Contraste couleurs</a:t>
                      </a:r>
                    </a:p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Alignement objets</a:t>
                      </a:r>
                    </a:p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Zones de texte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Highlight"/>
          <p:cNvSpPr txBox="1"/>
          <p:nvPr/>
        </p:nvSpPr>
        <p:spPr>
          <a:xfrm>
            <a:off x="769620" y="3931920"/>
            <a:ext cx="10652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lang="fr-FR" sz="18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Commencez par le quadrant haut-gauche : 4 actions à effort faible, impact maximal.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13/15</a:t>
            </a:r>
          </a:p>
        </p:txBody>
      </p:sp>
      <p:sp>
        <p:nvSpPr>
          <p:cNvPr id="5" name="Highlight accent décoratif"/>
          <p:cNvSpPr/>
          <p:nvPr/>
        </p:nvSpPr>
        <p:spPr>
          <a:xfrm>
            <a:off x="566928" y="3767329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Checklist : vos 21 critères</a:t>
            </a:r>
          </a:p>
        </p:txBody>
      </p:sp>
      <p:sp>
        <p:nvSpPr>
          <p:cNvPr id="4" name="Encadré"/>
          <p:cNvSpPr/>
          <p:nvPr/>
        </p:nvSpPr>
        <p:spPr>
          <a:xfrm>
            <a:off x="612648" y="1280160"/>
            <a:ext cx="5335524" cy="4572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91440" rtlCol="0" anchor="ctr"/>
          <a:lstStyle/>
          <a:p>
            <a:pPr algn="ctr">
              <a:spcAft>
                <a:spcPts val="400"/>
              </a:spcAft>
              <a:defRPr lang="fr-FR" sz="1500" b="1">
                <a:solidFill>
                  <a:srgbClr val="000091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Structure et couleurs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1. Fichier .docx + nom descriptif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2. Document non protégé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3. Titres avec styles intégrés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4. Hiérarchie cohérente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5. Listes avec Puces/Numérotation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6. Colonnes intégrées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7. Sauts de page propres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8. Tableaux mise en page OK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9. Tableaux données + en-têtes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10. Contraste &gt;= 4,5:1 / 3:1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11. Couleur doublée en texte</a:t>
            </a:r>
          </a:p>
        </p:txBody>
      </p:sp>
      <p:sp>
        <p:nvSpPr>
          <p:cNvPr id="5" name="Encadré"/>
          <p:cNvSpPr/>
          <p:nvPr/>
        </p:nvSpPr>
        <p:spPr>
          <a:xfrm>
            <a:off x="6249924" y="1280160"/>
            <a:ext cx="5335524" cy="4572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91440" rtlCol="0" anchor="ctr"/>
          <a:lstStyle/>
          <a:p>
            <a:pPr algn="ctr">
              <a:spcAft>
                <a:spcPts val="400"/>
              </a:spcAft>
              <a:defRPr lang="fr-FR" sz="1500" b="1">
                <a:solidFill>
                  <a:srgbClr val="000091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Contenus, langue, finalisation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12. Texte alt sur images/objets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13. Objets alignés sur le texte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14. Liens descriptifs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15. Infos essentielles dans le corps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16. Langue des passages balisée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17. Médias avec alternatives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18. Aucun objet clignotant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19. Propriétés renseignées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20. Aucun formulaire Word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21. Vérificateur sans erreur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Demain à 9h</a:t>
            </a:r>
          </a:p>
        </p:txBody>
      </p:sp>
      <p:sp>
        <p:nvSpPr>
          <p:cNvPr id="5" name="Highlight"/>
          <p:cNvSpPr txBox="1"/>
          <p:nvPr/>
        </p:nvSpPr>
        <p:spPr>
          <a:xfrm>
            <a:off x="841248" y="1353312"/>
            <a:ext cx="106527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lang="fr-FR" sz="18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Quelle est la première chose que vous ferez sur votre prochain document Word ?</a:t>
            </a:r>
          </a:p>
        </p:txBody>
      </p:sp>
      <p:sp>
        <p:nvSpPr>
          <p:cNvPr id="7" name="Carte"/>
          <p:cNvSpPr/>
          <p:nvPr/>
        </p:nvSpPr>
        <p:spPr>
          <a:xfrm>
            <a:off x="667512" y="2468880"/>
            <a:ext cx="3401568" cy="27432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37160" rtlCol="0" anchor="ctr"/>
          <a:lstStyle/>
          <a:p>
            <a:pPr algn="ctr">
              <a:spcAft>
                <a:spcPts val="800"/>
              </a:spcAft>
              <a:defRPr lang="fr-FR" sz="1600" b="1">
                <a:solidFill>
                  <a:srgbClr val="000091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Réflexe 1</a:t>
            </a:r>
          </a:p>
          <a:p>
            <a:pPr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Ctrl+F &gt; onglet Titres</a:t>
            </a:r>
            <a:br/>
            <a:br/>
            <a:r>
              <a:rPr lang="fr-FR">
                <a:solidFill/>
                <a:latin typeface="Marianne"/>
              </a:rPr>
              <a:t>Vérifier que tous les titres</a:t>
            </a:r>
            <a:br/>
            <a:r>
              <a:rPr lang="fr-FR">
                <a:solidFill/>
                <a:latin typeface="Marianne"/>
              </a:rPr>
              <a:t>apparaissent dans le volet</a:t>
            </a:r>
            <a:br/>
            <a:r>
              <a:rPr lang="fr-FR">
                <a:solidFill/>
                <a:latin typeface="Marianne"/>
              </a:rPr>
              <a:t>de navigation</a:t>
            </a:r>
          </a:p>
        </p:txBody>
      </p:sp>
      <p:sp>
        <p:nvSpPr>
          <p:cNvPr id="9" name="Carte"/>
          <p:cNvSpPr/>
          <p:nvPr/>
        </p:nvSpPr>
        <p:spPr>
          <a:xfrm>
            <a:off x="4425695" y="2468880"/>
            <a:ext cx="3401568" cy="27432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37160" rtlCol="0" anchor="ctr"/>
          <a:lstStyle/>
          <a:p>
            <a:pPr algn="ctr">
              <a:spcAft>
                <a:spcPts val="800"/>
              </a:spcAft>
              <a:defRPr lang="fr-FR" sz="1600" b="1">
                <a:solidFill>
                  <a:srgbClr val="000091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Réflexe 2</a:t>
            </a:r>
          </a:p>
          <a:p>
            <a:pPr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Clic droit &gt; Texte</a:t>
            </a:r>
            <a:br/>
            <a:r>
              <a:rPr lang="fr-FR">
                <a:solidFill/>
                <a:latin typeface="Marianne"/>
              </a:rPr>
              <a:t>de remplacement</a:t>
            </a:r>
            <a:br/>
            <a:br/>
            <a:r>
              <a:rPr lang="fr-FR">
                <a:solidFill/>
                <a:latin typeface="Marianne"/>
              </a:rPr>
              <a:t>Décrire la fonction</a:t>
            </a:r>
            <a:br/>
            <a:r>
              <a:rPr lang="fr-FR">
                <a:solidFill/>
                <a:latin typeface="Marianne"/>
              </a:rPr>
              <a:t>de chaque image</a:t>
            </a:r>
          </a:p>
        </p:txBody>
      </p:sp>
      <p:sp>
        <p:nvSpPr>
          <p:cNvPr id="11" name="Carte"/>
          <p:cNvSpPr/>
          <p:nvPr/>
        </p:nvSpPr>
        <p:spPr>
          <a:xfrm>
            <a:off x="8183879" y="2468880"/>
            <a:ext cx="3401568" cy="27432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37160" rtlCol="0" anchor="ctr"/>
          <a:lstStyle/>
          <a:p>
            <a:pPr algn="ctr">
              <a:spcAft>
                <a:spcPts val="800"/>
              </a:spcAft>
              <a:defRPr lang="fr-FR" sz="1600" b="1">
                <a:solidFill>
                  <a:srgbClr val="000091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Réflexe 3</a:t>
            </a:r>
          </a:p>
          <a:p>
            <a:pPr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Fichier &gt; Vérifier</a:t>
            </a:r>
            <a:br/>
            <a:r>
              <a:rPr lang="fr-FR">
                <a:solidFill/>
                <a:latin typeface="Marianne"/>
              </a:rPr>
              <a:t>l'accessibilité</a:t>
            </a:r>
            <a:br/>
            <a:br/>
            <a:r>
              <a:rPr lang="fr-FR">
                <a:solidFill/>
                <a:latin typeface="Marianne"/>
              </a:rPr>
              <a:t>Corriger les erreurs</a:t>
            </a:r>
            <a:br/>
            <a:r>
              <a:rPr lang="fr-FR">
                <a:solidFill/>
                <a:latin typeface="Marianne"/>
              </a:rPr>
              <a:t>avant d'envoyer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15/15</a:t>
            </a:r>
          </a:p>
        </p:txBody>
      </p:sp>
      <p:sp>
        <p:nvSpPr>
          <p:cNvPr id="4" name="Highlight accent décoratif"/>
          <p:cNvSpPr/>
          <p:nvPr/>
        </p:nvSpPr>
        <p:spPr>
          <a:xfrm>
            <a:off x="612648" y="1280160"/>
            <a:ext cx="91440" cy="9144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6" name="Accent carte décoratif"/>
          <p:cNvSpPr/>
          <p:nvPr/>
        </p:nvSpPr>
        <p:spPr>
          <a:xfrm>
            <a:off x="612648" y="2468880"/>
            <a:ext cx="54864" cy="27432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8" name="Accent carte décoratif"/>
          <p:cNvSpPr/>
          <p:nvPr/>
        </p:nvSpPr>
        <p:spPr>
          <a:xfrm>
            <a:off x="4370831" y="2468880"/>
            <a:ext cx="54864" cy="27432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10" name="Accent carte décoratif"/>
          <p:cNvSpPr/>
          <p:nvPr/>
        </p:nvSpPr>
        <p:spPr>
          <a:xfrm>
            <a:off x="8129015" y="2468880"/>
            <a:ext cx="54864" cy="27432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2009</Words>
  <Application>Microsoft Macintosh PowerPoint</Application>
  <PresentationFormat>Grand écran</PresentationFormat>
  <Paragraphs>282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Marianne</vt:lpstr>
      <vt:lpstr>Office Theme</vt:lpstr>
      <vt:lpstr>Rendre un document Word accessible</vt:lpstr>
      <vt:lpstr>Pourquoi ça vous concerne</vt:lpstr>
      <vt:lpstr>5 piliers, 22 critères</vt:lpstr>
      <vt:lpstr>Pilier 1 — Structure du texte</vt:lpstr>
      <vt:lpstr>Tableaux de mise en page et de données</vt:lpstr>
      <vt:lpstr>Pilier 2 — Couleurs et contraste</vt:lpstr>
      <vt:lpstr>Pilier 3 — Images et objets</vt:lpstr>
      <vt:lpstr>Liens et informations essentielles</vt:lpstr>
      <vt:lpstr>Pilier 4 — Langue, médias, clignotement</vt:lpstr>
      <vt:lpstr>Pilier 5 — Finalisation</vt:lpstr>
      <vt:lpstr>Étude de cas : un document de A à Z</vt:lpstr>
      <vt:lpstr>Quiz : trouvez les 5 erreurs</vt:lpstr>
      <vt:lpstr>Par où commencer ?</vt:lpstr>
      <vt:lpstr>Checklist : vos 21 critères</vt:lpstr>
      <vt:lpstr>Demain à 9h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Rendre un document Word accessible — version essentielle</dc:title>
  <dc:subject>Formation accessibilité Word — 22 critères, 15 slides</dc:subject>
  <dc:creator>Alex</dc:creator>
  <cp:keywords/>
  <dc:description>generated using python-pptx</dc:description>
  <cp:lastModifiedBy>alex</cp:lastModifiedBy>
  <cp:revision>2</cp:revision>
  <dcterms:created xsi:type="dcterms:W3CDTF">2013-01-27T09:14:16Z</dcterms:created>
  <dcterms:modified xsi:type="dcterms:W3CDTF">2026-04-02T21:17:37Z</dcterms:modified>
  <cp:category/>
  <dc:language>fr-FR</dc:language>
</cp:coreProperties>
</file>